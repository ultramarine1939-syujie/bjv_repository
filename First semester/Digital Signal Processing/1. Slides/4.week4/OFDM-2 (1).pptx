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54"/>
  </p:notesMasterIdLst>
  <p:sldIdLst>
    <p:sldId id="339" r:id="rId5"/>
    <p:sldId id="342" r:id="rId6"/>
    <p:sldId id="343" r:id="rId7"/>
    <p:sldId id="341" r:id="rId8"/>
    <p:sldId id="344" r:id="rId9"/>
    <p:sldId id="345" r:id="rId10"/>
    <p:sldId id="346" r:id="rId11"/>
    <p:sldId id="347" r:id="rId12"/>
    <p:sldId id="348" r:id="rId13"/>
    <p:sldId id="349" r:id="rId14"/>
    <p:sldId id="350" r:id="rId15"/>
    <p:sldId id="351" r:id="rId16"/>
    <p:sldId id="352" r:id="rId17"/>
    <p:sldId id="353" r:id="rId18"/>
    <p:sldId id="354" r:id="rId19"/>
    <p:sldId id="355" r:id="rId20"/>
    <p:sldId id="357" r:id="rId21"/>
    <p:sldId id="361" r:id="rId22"/>
    <p:sldId id="362" r:id="rId23"/>
    <p:sldId id="358" r:id="rId24"/>
    <p:sldId id="359" r:id="rId25"/>
    <p:sldId id="363" r:id="rId26"/>
    <p:sldId id="364" r:id="rId27"/>
    <p:sldId id="365" r:id="rId28"/>
    <p:sldId id="366" r:id="rId29"/>
    <p:sldId id="367" r:id="rId30"/>
    <p:sldId id="368" r:id="rId31"/>
    <p:sldId id="340" r:id="rId32"/>
    <p:sldId id="369" r:id="rId33"/>
    <p:sldId id="371" r:id="rId34"/>
    <p:sldId id="370" r:id="rId35"/>
    <p:sldId id="372" r:id="rId36"/>
    <p:sldId id="373" r:id="rId37"/>
    <p:sldId id="380" r:id="rId38"/>
    <p:sldId id="381" r:id="rId39"/>
    <p:sldId id="382" r:id="rId40"/>
    <p:sldId id="383" r:id="rId41"/>
    <p:sldId id="384" r:id="rId42"/>
    <p:sldId id="385" r:id="rId43"/>
    <p:sldId id="386" r:id="rId44"/>
    <p:sldId id="387" r:id="rId45"/>
    <p:sldId id="388" r:id="rId46"/>
    <p:sldId id="389" r:id="rId47"/>
    <p:sldId id="375" r:id="rId48"/>
    <p:sldId id="390" r:id="rId49"/>
    <p:sldId id="391" r:id="rId50"/>
    <p:sldId id="392" r:id="rId51"/>
    <p:sldId id="393" r:id="rId52"/>
    <p:sldId id="379" r:id="rId5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85549" autoAdjust="0"/>
  </p:normalViewPr>
  <p:slideViewPr>
    <p:cSldViewPr snapToGrid="0">
      <p:cViewPr varScale="1">
        <p:scale>
          <a:sx n="54" d="100"/>
          <a:sy n="54" d="100"/>
        </p:scale>
        <p:origin x="158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tableStyles" Target="tableStyle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6A2B23-253C-4CB3-BBBB-82EDD4515B2E}" type="datetimeFigureOut">
              <a:rPr lang="en-US" smtClean="0"/>
              <a:t>11/9/2025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31E985-387E-4400-B108-EA1B51C5B9E2}" type="slidenum">
              <a:rPr lang="en-US" smtClean="0"/>
              <a:t>‹#›</a:t>
            </a:fld>
            <a:endParaRPr lang="en-US"/>
          </a:p>
        </p:txBody>
      </p:sp>
    </p:spTree>
    <p:extLst>
      <p:ext uri="{BB962C8B-B14F-4D97-AF65-F5344CB8AC3E}">
        <p14:creationId xmlns:p14="http://schemas.microsoft.com/office/powerpoint/2010/main" val="26853594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lide Image Placeholder 1"/>
          <p:cNvSpPr>
            <a:spLocks noGrp="1" noRot="1" noChangeAspect="1" noTextEdit="1"/>
          </p:cNvSpPr>
          <p:nvPr>
            <p:ph type="sldImg"/>
          </p:nvPr>
        </p:nvSpPr>
        <p:spPr bwMode="auto">
          <a:noFill/>
          <a:ln>
            <a:solidFill>
              <a:srgbClr val="000000"/>
            </a:solidFill>
            <a:miter lim="800000"/>
            <a:headEnd/>
            <a:tailEnd/>
          </a:ln>
        </p:spPr>
      </p:sp>
      <p:sp>
        <p:nvSpPr>
          <p:cNvPr id="15362"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charset="-128"/>
            </a:endParaRPr>
          </a:p>
        </p:txBody>
      </p:sp>
      <p:sp>
        <p:nvSpPr>
          <p:cNvPr id="15363" name="Slide Number Placeholder 3"/>
          <p:cNvSpPr>
            <a:spLocks noGrp="1"/>
          </p:cNvSpPr>
          <p:nvPr>
            <p:ph type="sldNum" sz="quarter" idx="5"/>
          </p:nvPr>
        </p:nvSpPr>
        <p:spPr bwMode="auto">
          <a:noFill/>
          <a:ln>
            <a:miter lim="800000"/>
            <a:headEnd/>
            <a:tailEnd/>
          </a:ln>
        </p:spPr>
        <p:txBody>
          <a:bodyPr/>
          <a:lstStyle/>
          <a:p>
            <a:fld id="{347E1331-397A-4A4B-A652-1EAF84AD9D1F}" type="slidenum">
              <a:rPr lang="en-US"/>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31E985-387E-4400-B108-EA1B51C5B9E2}" type="slidenum">
              <a:rPr lang="en-US" smtClean="0"/>
              <a:t>2</a:t>
            </a:fld>
            <a:endParaRPr lang="en-US"/>
          </a:p>
        </p:txBody>
      </p:sp>
    </p:spTree>
    <p:extLst>
      <p:ext uri="{BB962C8B-B14F-4D97-AF65-F5344CB8AC3E}">
        <p14:creationId xmlns:p14="http://schemas.microsoft.com/office/powerpoint/2010/main" val="17683989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baseline="0" dirty="0">
                <a:latin typeface="Times New Roman" panose="02020603050405020304" pitchFamily="18" charset="0"/>
              </a:rPr>
              <a:t>In order to understand an ISI effect of the multipath channel, we consider the illustrative examples for the discrete-time channel , where two impulse responses with different lengths are shown along with their frequency responses. Figure b illustrates an ISI effect of the multipath channel over two consecutive OFDM symbols. Let </a:t>
            </a:r>
            <a:r>
              <a:rPr lang="en-US" sz="1800" b="0" i="1" u="none" strike="noStrike" baseline="0" dirty="0" err="1">
                <a:latin typeface="Times New Roman" panose="02020603050405020304" pitchFamily="18" charset="0"/>
              </a:rPr>
              <a:t>T</a:t>
            </a:r>
            <a:r>
              <a:rPr lang="en-US" sz="1800" b="0" i="1" u="none" strike="noStrike" baseline="-25000" dirty="0" err="1">
                <a:latin typeface="Times New Roman" panose="02020603050405020304" pitchFamily="18" charset="0"/>
              </a:rPr>
              <a:t>sub</a:t>
            </a:r>
            <a:r>
              <a:rPr lang="en-US" sz="1800" b="0" i="1" u="none" strike="noStrike" baseline="0" dirty="0">
                <a:latin typeface="Times New Roman" panose="02020603050405020304" pitchFamily="18" charset="0"/>
              </a:rPr>
              <a:t> </a:t>
            </a:r>
            <a:r>
              <a:rPr lang="en-US" sz="1800" b="0" i="0" u="none" strike="noStrike" baseline="0" dirty="0">
                <a:latin typeface="Times New Roman" panose="02020603050405020304" pitchFamily="18" charset="0"/>
              </a:rPr>
              <a:t>denote the duration of the effective OFDM symbol without guard interval. Since </a:t>
            </a:r>
            <a:r>
              <a:rPr lang="en-US" sz="1800" b="0" i="1" u="none" strike="noStrike" baseline="0" dirty="0">
                <a:latin typeface="Times New Roman" panose="02020603050405020304" pitchFamily="18" charset="0"/>
              </a:rPr>
              <a:t>W </a:t>
            </a:r>
            <a:r>
              <a:rPr lang="en-US" sz="1800" b="0" i="0" u="none" strike="noStrike" baseline="0" dirty="0">
                <a:latin typeface="Arial Narrow" panose="020B0606020202030204" pitchFamily="34" charset="0"/>
              </a:rPr>
              <a:t>= </a:t>
            </a:r>
            <a:r>
              <a:rPr lang="en-US" sz="1800" b="0" i="0" u="none" strike="noStrike" baseline="0" dirty="0">
                <a:latin typeface="Times New Roman" panose="02020603050405020304" pitchFamily="18" charset="0"/>
              </a:rPr>
              <a:t>1</a:t>
            </a:r>
            <a:r>
              <a:rPr lang="en-US" sz="1800" b="0" i="0" u="none" strike="noStrike" baseline="0" dirty="0">
                <a:latin typeface="Calibri" panose="020F0502020204030204" pitchFamily="34" charset="0"/>
              </a:rPr>
              <a:t>/</a:t>
            </a:r>
            <a:r>
              <a:rPr lang="en-US" sz="1800" b="0" i="1" u="none" strike="noStrike" baseline="0" dirty="0">
                <a:latin typeface="Times New Roman" panose="02020603050405020304" pitchFamily="18" charset="0"/>
              </a:rPr>
              <a:t>T</a:t>
            </a:r>
            <a:r>
              <a:rPr lang="en-US" sz="1800" b="0" i="1" u="none" strike="noStrike" baseline="-25000" dirty="0">
                <a:latin typeface="Times New Roman" panose="02020603050405020304" pitchFamily="18" charset="0"/>
              </a:rPr>
              <a:t>s</a:t>
            </a:r>
            <a:r>
              <a:rPr lang="en-US" sz="1800" b="0" i="1" u="none" strike="noStrike" baseline="0" dirty="0">
                <a:latin typeface="Times New Roman" panose="02020603050405020304" pitchFamily="18" charset="0"/>
              </a:rPr>
              <a:t> </a:t>
            </a:r>
            <a:r>
              <a:rPr lang="en-US" sz="1800" b="0" i="0" u="none" strike="noStrike" baseline="0" dirty="0">
                <a:latin typeface="Times New Roman" panose="02020603050405020304" pitchFamily="18" charset="0"/>
              </a:rPr>
              <a:t>and thus, </a:t>
            </a:r>
            <a:r>
              <a:rPr lang="en-US" sz="1800" b="0" i="0" u="none" strike="noStrike" baseline="0" dirty="0" err="1">
                <a:latin typeface="Calibri" panose="020F0502020204030204" pitchFamily="34" charset="0"/>
              </a:rPr>
              <a:t>D</a:t>
            </a:r>
            <a:r>
              <a:rPr lang="en-US" sz="1800" b="0" i="1" u="none" strike="noStrike" baseline="0" dirty="0" err="1">
                <a:latin typeface="Times New Roman" panose="02020603050405020304" pitchFamily="18" charset="0"/>
              </a:rPr>
              <a:t>f</a:t>
            </a:r>
            <a:r>
              <a:rPr lang="en-US" sz="1800" b="0" i="1" u="none" strike="noStrike" baseline="0" dirty="0">
                <a:latin typeface="Times New Roman" panose="02020603050405020304" pitchFamily="18" charset="0"/>
              </a:rPr>
              <a:t> </a:t>
            </a:r>
            <a:r>
              <a:rPr lang="en-US" sz="1800" b="0" i="0" u="none" strike="noStrike" baseline="0" dirty="0">
                <a:latin typeface="Arial Narrow" panose="020B0606020202030204" pitchFamily="34" charset="0"/>
              </a:rPr>
              <a:t>= </a:t>
            </a:r>
            <a:r>
              <a:rPr lang="en-US" sz="1800" b="0" i="1" u="none" strike="noStrike" baseline="0" dirty="0">
                <a:latin typeface="Times New Roman" panose="02020603050405020304" pitchFamily="18" charset="0"/>
              </a:rPr>
              <a:t>W</a:t>
            </a:r>
            <a:r>
              <a:rPr lang="en-US" sz="1800" b="0" i="0" u="none" strike="noStrike" baseline="0" dirty="0">
                <a:latin typeface="Calibri" panose="020F0502020204030204" pitchFamily="34" charset="0"/>
              </a:rPr>
              <a:t>/</a:t>
            </a:r>
            <a:r>
              <a:rPr lang="en-US" sz="1800" b="0" i="1" u="none" strike="noStrike" baseline="0" dirty="0">
                <a:latin typeface="Times New Roman" panose="02020603050405020304" pitchFamily="18" charset="0"/>
              </a:rPr>
              <a:t>N </a:t>
            </a:r>
            <a:r>
              <a:rPr lang="en-US" sz="1800" b="0" i="0" u="none" strike="noStrike" baseline="0" dirty="0">
                <a:latin typeface="Arial Narrow" panose="020B0606020202030204" pitchFamily="34" charset="0"/>
              </a:rPr>
              <a:t>= </a:t>
            </a:r>
            <a:r>
              <a:rPr lang="en-US" sz="1800" b="0" i="0" u="none" strike="noStrike" baseline="0" dirty="0">
                <a:latin typeface="Times New Roman" panose="02020603050405020304" pitchFamily="18" charset="0"/>
              </a:rPr>
              <a:t>1</a:t>
            </a:r>
            <a:r>
              <a:rPr lang="en-US" sz="1800" b="0" i="0" u="none" strike="noStrike" baseline="0" dirty="0">
                <a:latin typeface="Calibri" panose="020F0502020204030204" pitchFamily="34" charset="0"/>
              </a:rPr>
              <a:t>=</a:t>
            </a:r>
            <a:r>
              <a:rPr lang="en-US" sz="1800" b="0" i="1" u="none" strike="noStrike" baseline="0" dirty="0">
                <a:latin typeface="Times New Roman" panose="02020603050405020304" pitchFamily="18" charset="0"/>
              </a:rPr>
              <a:t>NT</a:t>
            </a:r>
            <a:r>
              <a:rPr lang="en-US" sz="1800" b="0" i="1" u="none" strike="noStrike" baseline="-25000" dirty="0">
                <a:latin typeface="Times New Roman" panose="02020603050405020304" pitchFamily="18" charset="0"/>
              </a:rPr>
              <a:t>s</a:t>
            </a:r>
            <a:r>
              <a:rPr lang="en-US" sz="1800" b="0" i="0" u="none" strike="noStrike" baseline="0" dirty="0">
                <a:latin typeface="Arial Narrow" panose="020B0606020202030204" pitchFamily="34" charset="0"/>
              </a:rPr>
              <a:t> </a:t>
            </a:r>
            <a:r>
              <a:rPr lang="en-US" sz="1800" b="0" i="0" u="none" strike="noStrike" baseline="0" dirty="0">
                <a:latin typeface="Times New Roman" panose="02020603050405020304" pitchFamily="18" charset="0"/>
              </a:rPr>
              <a:t>and </a:t>
            </a:r>
            <a:r>
              <a:rPr lang="en-US" sz="1800" b="0" i="1" u="none" strike="noStrike" baseline="0" dirty="0" err="1">
                <a:latin typeface="Times New Roman" panose="02020603050405020304" pitchFamily="18" charset="0"/>
              </a:rPr>
              <a:t>T</a:t>
            </a:r>
            <a:r>
              <a:rPr lang="en-US" sz="1800" b="0" i="1" u="none" strike="noStrike" baseline="-25000" dirty="0" err="1">
                <a:latin typeface="Times New Roman" panose="02020603050405020304" pitchFamily="18" charset="0"/>
              </a:rPr>
              <a:t>sub</a:t>
            </a:r>
            <a:r>
              <a:rPr lang="en-US" sz="1800" b="0" i="1" u="none" strike="noStrike" baseline="0" dirty="0">
                <a:latin typeface="Times New Roman" panose="02020603050405020304" pitchFamily="18" charset="0"/>
              </a:rPr>
              <a:t> </a:t>
            </a:r>
            <a:r>
              <a:rPr lang="en-US" sz="1800" b="0" i="0" u="none" strike="noStrike" baseline="0" dirty="0">
                <a:latin typeface="Arial Narrow" panose="020B0606020202030204" pitchFamily="34" charset="0"/>
              </a:rPr>
              <a:t>=</a:t>
            </a:r>
            <a:r>
              <a:rPr lang="en-US" sz="1800" b="0" i="1" u="none" strike="noStrike" baseline="0" dirty="0">
                <a:latin typeface="Times New Roman" panose="02020603050405020304" pitchFamily="18" charset="0"/>
              </a:rPr>
              <a:t>NT</a:t>
            </a:r>
            <a:r>
              <a:rPr lang="en-US" sz="1800" b="0" i="1" u="none" strike="noStrike" baseline="-25000" dirty="0">
                <a:latin typeface="Times New Roman" panose="02020603050405020304" pitchFamily="18" charset="0"/>
              </a:rPr>
              <a:t>s</a:t>
            </a:r>
            <a:r>
              <a:rPr lang="en-US" sz="1800" b="0" i="1" u="none" strike="noStrike" baseline="0" dirty="0">
                <a:latin typeface="Times New Roman" panose="02020603050405020304" pitchFamily="18" charset="0"/>
              </a:rPr>
              <a:t> </a:t>
            </a:r>
            <a:r>
              <a:rPr lang="en-US" sz="1800" b="0" i="0" u="none" strike="noStrike" baseline="0" dirty="0">
                <a:latin typeface="Arial Narrow" panose="020B0606020202030204" pitchFamily="34" charset="0"/>
              </a:rPr>
              <a:t>= </a:t>
            </a:r>
            <a:r>
              <a:rPr lang="en-US" sz="1800" b="0" i="0" u="none" strike="noStrike" baseline="0" dirty="0">
                <a:latin typeface="Times New Roman" panose="02020603050405020304" pitchFamily="18" charset="0"/>
              </a:rPr>
              <a:t>1</a:t>
            </a:r>
            <a:r>
              <a:rPr lang="en-US" sz="1800" b="0" i="0" u="none" strike="noStrike" baseline="0" dirty="0">
                <a:latin typeface="Calibri" panose="020F0502020204030204" pitchFamily="34" charset="0"/>
              </a:rPr>
              <a:t>=</a:t>
            </a:r>
            <a:r>
              <a:rPr lang="en-US" sz="1800" b="0" i="0" u="none" strike="noStrike" baseline="0" dirty="0" err="1">
                <a:latin typeface="Calibri" panose="020F0502020204030204" pitchFamily="34" charset="0"/>
              </a:rPr>
              <a:t>D</a:t>
            </a:r>
            <a:r>
              <a:rPr lang="en-US" sz="1800" b="0" i="1" u="none" strike="noStrike" baseline="0" dirty="0" err="1">
                <a:latin typeface="Times New Roman" panose="02020603050405020304" pitchFamily="18" charset="0"/>
              </a:rPr>
              <a:t>f</a:t>
            </a:r>
            <a:r>
              <a:rPr lang="en-US" sz="1800" b="0" i="1" u="none" strike="noStrike" baseline="0" dirty="0">
                <a:latin typeface="Times New Roman" panose="02020603050405020304" pitchFamily="18" charset="0"/>
              </a:rPr>
              <a:t> </a:t>
            </a:r>
            <a:r>
              <a:rPr lang="en-US" sz="1800" b="0" i="0" u="none" strike="noStrike" baseline="0" dirty="0">
                <a:latin typeface="Times New Roman" panose="02020603050405020304" pitchFamily="18" charset="0"/>
              </a:rPr>
              <a:t>. By extending the symbol duration by </a:t>
            </a:r>
            <a:r>
              <a:rPr lang="en-US" sz="1800" b="0" i="1" u="none" strike="noStrike" baseline="0" dirty="0">
                <a:latin typeface="Times New Roman" panose="02020603050405020304" pitchFamily="18" charset="0"/>
              </a:rPr>
              <a:t>N </a:t>
            </a:r>
            <a:r>
              <a:rPr lang="en-US" sz="1800" b="0" i="0" u="none" strike="noStrike" baseline="0" dirty="0">
                <a:latin typeface="Times New Roman" panose="02020603050405020304" pitchFamily="18" charset="0"/>
              </a:rPr>
              <a:t>times (i.e., </a:t>
            </a:r>
            <a:r>
              <a:rPr lang="en-US" sz="1800" b="0" i="1" u="none" strike="noStrike" baseline="0" dirty="0" err="1">
                <a:latin typeface="Times New Roman" panose="02020603050405020304" pitchFamily="18" charset="0"/>
              </a:rPr>
              <a:t>T</a:t>
            </a:r>
            <a:r>
              <a:rPr lang="en-US" sz="1800" b="0" i="1" u="none" strike="noStrike" baseline="-25000" dirty="0" err="1">
                <a:latin typeface="Times New Roman" panose="02020603050405020304" pitchFamily="18" charset="0"/>
              </a:rPr>
              <a:t>sub</a:t>
            </a:r>
            <a:r>
              <a:rPr lang="en-US" sz="1800" b="0" i="1" u="none" strike="noStrike" baseline="0" dirty="0">
                <a:latin typeface="Times New Roman" panose="02020603050405020304" pitchFamily="18" charset="0"/>
              </a:rPr>
              <a:t> = NT</a:t>
            </a:r>
            <a:r>
              <a:rPr lang="en-US" sz="1800" b="0" i="1" u="none" strike="noStrike" baseline="-25000" dirty="0">
                <a:latin typeface="Times New Roman" panose="02020603050405020304" pitchFamily="18" charset="0"/>
              </a:rPr>
              <a:t>s</a:t>
            </a:r>
            <a:r>
              <a:rPr lang="en-US" sz="1800" b="0" i="0" u="none" strike="noStrike" baseline="0" dirty="0">
                <a:latin typeface="Times New Roman" panose="02020603050405020304" pitchFamily="18" charset="0"/>
              </a:rPr>
              <a:t>), the effect of the multipath fading channel is greatly reduced on the OFDM symbol.                  </a:t>
            </a:r>
          </a:p>
          <a:p>
            <a:endParaRPr lang="en-US" dirty="0"/>
          </a:p>
        </p:txBody>
      </p:sp>
      <p:sp>
        <p:nvSpPr>
          <p:cNvPr id="4" name="Slide Number Placeholder 3"/>
          <p:cNvSpPr>
            <a:spLocks noGrp="1"/>
          </p:cNvSpPr>
          <p:nvPr>
            <p:ph type="sldNum" sz="quarter" idx="5"/>
          </p:nvPr>
        </p:nvSpPr>
        <p:spPr/>
        <p:txBody>
          <a:bodyPr/>
          <a:lstStyle/>
          <a:p>
            <a:fld id="{9D31E985-387E-4400-B108-EA1B51C5B9E2}" type="slidenum">
              <a:rPr lang="en-US" smtClean="0"/>
              <a:t>14</a:t>
            </a:fld>
            <a:endParaRPr lang="en-US"/>
          </a:p>
        </p:txBody>
      </p:sp>
    </p:spTree>
    <p:extLst>
      <p:ext uri="{BB962C8B-B14F-4D97-AF65-F5344CB8AC3E}">
        <p14:creationId xmlns:p14="http://schemas.microsoft.com/office/powerpoint/2010/main" val="18660437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378860F-9BD5-42E1-91FE-31F6B999C27B}"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C943F1-416A-4DD9-B254-68C50F22A07F}" type="slidenum">
              <a:rPr lang="en-US" smtClean="0"/>
              <a:t>‹#›</a:t>
            </a:fld>
            <a:endParaRPr lang="en-US"/>
          </a:p>
        </p:txBody>
      </p:sp>
    </p:spTree>
    <p:extLst>
      <p:ext uri="{BB962C8B-B14F-4D97-AF65-F5344CB8AC3E}">
        <p14:creationId xmlns:p14="http://schemas.microsoft.com/office/powerpoint/2010/main" val="16551326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78860F-9BD5-42E1-91FE-31F6B999C27B}"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C943F1-416A-4DD9-B254-68C50F22A07F}" type="slidenum">
              <a:rPr lang="en-US" smtClean="0"/>
              <a:t>‹#›</a:t>
            </a:fld>
            <a:endParaRPr lang="en-US"/>
          </a:p>
        </p:txBody>
      </p:sp>
    </p:spTree>
    <p:extLst>
      <p:ext uri="{BB962C8B-B14F-4D97-AF65-F5344CB8AC3E}">
        <p14:creationId xmlns:p14="http://schemas.microsoft.com/office/powerpoint/2010/main" val="39440586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378860F-9BD5-42E1-91FE-31F6B999C27B}"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C943F1-416A-4DD9-B254-68C50F22A07F}" type="slidenum">
              <a:rPr lang="en-US" smtClean="0"/>
              <a:t>‹#›</a:t>
            </a:fld>
            <a:endParaRPr lang="en-US"/>
          </a:p>
        </p:txBody>
      </p:sp>
    </p:spTree>
    <p:extLst>
      <p:ext uri="{BB962C8B-B14F-4D97-AF65-F5344CB8AC3E}">
        <p14:creationId xmlns:p14="http://schemas.microsoft.com/office/powerpoint/2010/main" val="35672304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378860F-9BD5-42E1-91FE-31F6B999C27B}"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C943F1-416A-4DD9-B254-68C50F22A07F}" type="slidenum">
              <a:rPr lang="en-US" smtClean="0"/>
              <a:t>‹#›</a:t>
            </a:fld>
            <a:endParaRPr lang="en-US"/>
          </a:p>
        </p:txBody>
      </p:sp>
    </p:spTree>
    <p:extLst>
      <p:ext uri="{BB962C8B-B14F-4D97-AF65-F5344CB8AC3E}">
        <p14:creationId xmlns:p14="http://schemas.microsoft.com/office/powerpoint/2010/main" val="13347956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378860F-9BD5-42E1-91FE-31F6B999C27B}" type="datetimeFigureOut">
              <a:rPr lang="en-US" smtClean="0"/>
              <a:t>11/9/2025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C943F1-416A-4DD9-B254-68C50F22A07F}" type="slidenum">
              <a:rPr lang="en-US" smtClean="0"/>
              <a:t>‹#›</a:t>
            </a:fld>
            <a:endParaRPr lang="en-US"/>
          </a:p>
        </p:txBody>
      </p:sp>
    </p:spTree>
    <p:extLst>
      <p:ext uri="{BB962C8B-B14F-4D97-AF65-F5344CB8AC3E}">
        <p14:creationId xmlns:p14="http://schemas.microsoft.com/office/powerpoint/2010/main" val="30809266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378860F-9BD5-42E1-91FE-31F6B999C27B}" type="datetimeFigureOut">
              <a:rPr lang="en-US" smtClean="0"/>
              <a:t>11/9/2025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C943F1-416A-4DD9-B254-68C50F22A07F}" type="slidenum">
              <a:rPr lang="en-US" smtClean="0"/>
              <a:t>‹#›</a:t>
            </a:fld>
            <a:endParaRPr lang="en-US"/>
          </a:p>
        </p:txBody>
      </p:sp>
    </p:spTree>
    <p:extLst>
      <p:ext uri="{BB962C8B-B14F-4D97-AF65-F5344CB8AC3E}">
        <p14:creationId xmlns:p14="http://schemas.microsoft.com/office/powerpoint/2010/main" val="23377240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78860F-9BD5-42E1-91FE-31F6B999C27B}" type="datetimeFigureOut">
              <a:rPr lang="en-US" smtClean="0"/>
              <a:t>11/9/2025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AC943F1-416A-4DD9-B254-68C50F22A07F}" type="slidenum">
              <a:rPr lang="en-US" smtClean="0"/>
              <a:t>‹#›</a:t>
            </a:fld>
            <a:endParaRPr lang="en-US"/>
          </a:p>
        </p:txBody>
      </p:sp>
    </p:spTree>
    <p:extLst>
      <p:ext uri="{BB962C8B-B14F-4D97-AF65-F5344CB8AC3E}">
        <p14:creationId xmlns:p14="http://schemas.microsoft.com/office/powerpoint/2010/main" val="28586130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378860F-9BD5-42E1-91FE-31F6B999C27B}"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C943F1-416A-4DD9-B254-68C50F22A07F}" type="slidenum">
              <a:rPr lang="en-US" smtClean="0"/>
              <a:t>‹#›</a:t>
            </a:fld>
            <a:endParaRPr lang="en-US"/>
          </a:p>
        </p:txBody>
      </p:sp>
    </p:spTree>
    <p:extLst>
      <p:ext uri="{BB962C8B-B14F-4D97-AF65-F5344CB8AC3E}">
        <p14:creationId xmlns:p14="http://schemas.microsoft.com/office/powerpoint/2010/main" val="13560590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378860F-9BD5-42E1-91FE-31F6B999C27B}"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C943F1-416A-4DD9-B254-68C50F22A07F}" type="slidenum">
              <a:rPr lang="en-US" smtClean="0"/>
              <a:t>‹#›</a:t>
            </a:fld>
            <a:endParaRPr lang="en-US"/>
          </a:p>
        </p:txBody>
      </p:sp>
    </p:spTree>
    <p:extLst>
      <p:ext uri="{BB962C8B-B14F-4D97-AF65-F5344CB8AC3E}">
        <p14:creationId xmlns:p14="http://schemas.microsoft.com/office/powerpoint/2010/main" val="12960778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78860F-9BD5-42E1-91FE-31F6B999C27B}"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C943F1-416A-4DD9-B254-68C50F22A07F}" type="slidenum">
              <a:rPr lang="en-US" smtClean="0"/>
              <a:t>‹#›</a:t>
            </a:fld>
            <a:endParaRPr lang="en-US"/>
          </a:p>
        </p:txBody>
      </p:sp>
    </p:spTree>
    <p:extLst>
      <p:ext uri="{BB962C8B-B14F-4D97-AF65-F5344CB8AC3E}">
        <p14:creationId xmlns:p14="http://schemas.microsoft.com/office/powerpoint/2010/main" val="40145802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78860F-9BD5-42E1-91FE-31F6B999C27B}"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C943F1-416A-4DD9-B254-68C50F22A07F}" type="slidenum">
              <a:rPr lang="en-US" smtClean="0"/>
              <a:t>‹#›</a:t>
            </a:fld>
            <a:endParaRPr lang="en-US"/>
          </a:p>
        </p:txBody>
      </p:sp>
    </p:spTree>
    <p:extLst>
      <p:ext uri="{BB962C8B-B14F-4D97-AF65-F5344CB8AC3E}">
        <p14:creationId xmlns:p14="http://schemas.microsoft.com/office/powerpoint/2010/main" val="17155699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78860F-9BD5-42E1-91FE-31F6B999C27B}" type="datetimeFigureOut">
              <a:rPr lang="en-US" smtClean="0"/>
              <a:t>11/9/2025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C943F1-416A-4DD9-B254-68C50F22A07F}" type="slidenum">
              <a:rPr lang="en-US" smtClean="0"/>
              <a:t>‹#›</a:t>
            </a:fld>
            <a:endParaRPr lang="en-US"/>
          </a:p>
        </p:txBody>
      </p:sp>
    </p:spTree>
    <p:extLst>
      <p:ext uri="{BB962C8B-B14F-4D97-AF65-F5344CB8AC3E}">
        <p14:creationId xmlns:p14="http://schemas.microsoft.com/office/powerpoint/2010/main" val="11354686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hyperlink" Target="mailto:i.chatzigeorgiou@lancaster.ac.uk" TargetMode="Externa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emf"/><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emf"/><Relationship Id="rId4" Type="http://schemas.openxmlformats.org/officeDocument/2006/relationships/image" Target="../media/image4.emf"/></Relationships>
</file>

<file path=ppt/slides/_rels/slide3.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Layout" Target="../slideLayouts/slideLayout2.xml"/><Relationship Id="rId4" Type="http://schemas.openxmlformats.org/officeDocument/2006/relationships/image" Target="../media/image11.e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emf"/><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emf"/><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emf"/><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32.emf"/><Relationship Id="rId1" Type="http://schemas.openxmlformats.org/officeDocument/2006/relationships/slideLayout" Target="../slideLayouts/slideLayout2.xml"/><Relationship Id="rId4" Type="http://schemas.openxmlformats.org/officeDocument/2006/relationships/image" Target="../media/image34.emf"/></Relationships>
</file>

<file path=ppt/slides/_rels/slide14.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38.emf"/><Relationship Id="rId5" Type="http://schemas.openxmlformats.org/officeDocument/2006/relationships/image" Target="../media/image37.emf"/><Relationship Id="rId4" Type="http://schemas.openxmlformats.org/officeDocument/2006/relationships/image" Target="../media/image36.emf"/></Relationships>
</file>

<file path=ppt/slides/_rels/slide15.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image" Target="../media/image39.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image" Target="../media/image41.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3.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4.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5.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48.emf"/><Relationship Id="rId4" Type="http://schemas.openxmlformats.org/officeDocument/2006/relationships/image" Target="../media/image47.emf"/></Relationships>
</file>

<file path=ppt/slides/_rels/slide21.xml.rels><?xml version="1.0" encoding="UTF-8" standalone="yes"?>
<Relationships xmlns="http://schemas.openxmlformats.org/package/2006/relationships"><Relationship Id="rId2" Type="http://schemas.openxmlformats.org/officeDocument/2006/relationships/image" Target="../media/image49.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0.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image" Target="../media/image51.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4.emf"/><Relationship Id="rId2" Type="http://schemas.openxmlformats.org/officeDocument/2006/relationships/image" Target="../media/image53.emf"/><Relationship Id="rId1" Type="http://schemas.openxmlformats.org/officeDocument/2006/relationships/slideLayout" Target="../slideLayouts/slideLayout2.xml"/><Relationship Id="rId5" Type="http://schemas.openxmlformats.org/officeDocument/2006/relationships/image" Target="../media/image56.emf"/><Relationship Id="rId4" Type="http://schemas.openxmlformats.org/officeDocument/2006/relationships/image" Target="../media/image55.emf"/></Relationships>
</file>

<file path=ppt/slides/_rels/slide25.xml.rels><?xml version="1.0" encoding="UTF-8" standalone="yes"?>
<Relationships xmlns="http://schemas.openxmlformats.org/package/2006/relationships"><Relationship Id="rId2" Type="http://schemas.openxmlformats.org/officeDocument/2006/relationships/image" Target="../media/image57.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8.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9.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4.emf"/><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2" descr="SSC-slide-2"/>
          <p:cNvPicPr>
            <a:picLocks noChangeAspect="1" noChangeArrowheads="1"/>
          </p:cNvPicPr>
          <p:nvPr/>
        </p:nvPicPr>
        <p:blipFill>
          <a:blip r:embed="rId3" cstate="print"/>
          <a:srcRect/>
          <a:stretch>
            <a:fillRect/>
          </a:stretch>
        </p:blipFill>
        <p:spPr bwMode="auto">
          <a:xfrm>
            <a:off x="0" y="0"/>
            <a:ext cx="9144000" cy="6858000"/>
          </a:xfrm>
          <a:prstGeom prst="rect">
            <a:avLst/>
          </a:prstGeom>
          <a:noFill/>
          <a:ln w="9525">
            <a:noFill/>
            <a:miter lim="800000"/>
            <a:headEnd/>
            <a:tailEnd/>
          </a:ln>
        </p:spPr>
      </p:pic>
      <p:sp>
        <p:nvSpPr>
          <p:cNvPr id="11" name="Text Box 9"/>
          <p:cNvSpPr txBox="1">
            <a:spLocks noChangeArrowheads="1"/>
          </p:cNvSpPr>
          <p:nvPr/>
        </p:nvSpPr>
        <p:spPr bwMode="auto">
          <a:xfrm>
            <a:off x="1821912" y="4403909"/>
            <a:ext cx="4697322" cy="738664"/>
          </a:xfrm>
          <a:prstGeom prst="rect">
            <a:avLst/>
          </a:prstGeom>
          <a:noFill/>
          <a:ln w="9525">
            <a:noFill/>
            <a:miter lim="800000"/>
            <a:headEnd/>
            <a:tailEnd/>
          </a:ln>
        </p:spPr>
        <p:txBody>
          <a:bodyPr wrap="square" lIns="91440" tIns="45720" rIns="91440" bIns="45720" anchor="t">
            <a:spAutoFit/>
          </a:bodyPr>
          <a:lstStyle/>
          <a:p>
            <a:pPr eaLnBrk="1" hangingPunct="1">
              <a:spcBef>
                <a:spcPts val="0"/>
              </a:spcBef>
              <a:buClr>
                <a:schemeClr val="tx1"/>
              </a:buClr>
            </a:pPr>
            <a:r>
              <a:rPr lang="en-US" dirty="0">
                <a:latin typeface="Arial"/>
                <a:ea typeface="ヒラギノ角ゴ Pro W3"/>
                <a:cs typeface="Arial"/>
              </a:rPr>
              <a:t>Dr Muhammad Abrar (Dr. MAB)</a:t>
            </a:r>
            <a:endParaRPr lang="en-US" dirty="0"/>
          </a:p>
          <a:p>
            <a:pPr eaLnBrk="1" hangingPunct="1">
              <a:spcBef>
                <a:spcPts val="0"/>
              </a:spcBef>
              <a:buClr>
                <a:schemeClr val="tx1"/>
              </a:buClr>
            </a:pPr>
            <a:r>
              <a:rPr lang="en-GB" sz="1800" dirty="0">
                <a:solidFill>
                  <a:srgbClr val="000000"/>
                </a:solidFill>
                <a:latin typeface="Arial"/>
                <a:ea typeface="ヒラギノ角ゴ Pro W3"/>
                <a:cs typeface="ヒラギノ角ゴ Pro W3" charset="0"/>
                <a:hlinkClick r:id="rId4">
                  <a:extLst>
                    <a:ext uri="{A12FA001-AC4F-418D-AE19-62706E023703}">
                      <ahyp:hlinkClr xmlns:ahyp="http://schemas.microsoft.com/office/drawing/2018/hyperlinkcolor" val="tx"/>
                    </a:ext>
                  </a:extLst>
                </a:hlinkClick>
              </a:rPr>
              <a:t>m.</a:t>
            </a:r>
            <a:r>
              <a:rPr lang="en-GB" sz="1800" dirty="0">
                <a:solidFill>
                  <a:srgbClr val="000000"/>
                </a:solidFill>
                <a:latin typeface="Arial"/>
                <a:ea typeface="ヒラギノ角ゴ Pro W3"/>
                <a:cs typeface="ヒラギノ角ゴ Pro W3" charset="0"/>
                <a:hlinkClick r:id="rId4"/>
              </a:rPr>
              <a:t>abrar</a:t>
            </a:r>
            <a:r>
              <a:rPr lang="en-GB" sz="1800" dirty="0">
                <a:solidFill>
                  <a:srgbClr val="000000"/>
                </a:solidFill>
                <a:latin typeface="Arial"/>
                <a:ea typeface="ヒラギノ角ゴ Pro W3"/>
                <a:cs typeface="ヒラギノ角ゴ Pro W3" charset="0"/>
                <a:hlinkClick r:id="rId4">
                  <a:extLst>
                    <a:ext uri="{A12FA001-AC4F-418D-AE19-62706E023703}">
                      <ahyp:hlinkClr xmlns:ahyp="http://schemas.microsoft.com/office/drawing/2018/hyperlinkcolor" val="tx"/>
                    </a:ext>
                  </a:extLst>
                </a:hlinkClick>
              </a:rPr>
              <a:t>@lancaster.ac.uk</a:t>
            </a:r>
            <a:endParaRPr lang="en-US" sz="1800" dirty="0">
              <a:latin typeface="Arial"/>
              <a:ea typeface="ヒラギノ角ゴ Pro W3"/>
              <a:hlinkClick r:id="rId4">
                <a:extLst>
                  <a:ext uri="{A12FA001-AC4F-418D-AE19-62706E023703}">
                    <ahyp:hlinkClr xmlns:ahyp="http://schemas.microsoft.com/office/drawing/2018/hyperlinkcolor" val="tx"/>
                  </a:ext>
                </a:extLst>
              </a:hlinkClick>
            </a:endParaRPr>
          </a:p>
        </p:txBody>
      </p:sp>
      <p:sp>
        <p:nvSpPr>
          <p:cNvPr id="12" name="Title 1"/>
          <p:cNvSpPr>
            <a:spLocks noGrp="1"/>
          </p:cNvSpPr>
          <p:nvPr>
            <p:ph type="title"/>
          </p:nvPr>
        </p:nvSpPr>
        <p:spPr>
          <a:xfrm>
            <a:off x="1908175" y="1893316"/>
            <a:ext cx="5976194" cy="1967732"/>
          </a:xfrm>
        </p:spPr>
        <p:txBody>
          <a:bodyPr/>
          <a:lstStyle/>
          <a:p>
            <a:pPr algn="l"/>
            <a:r>
              <a:rPr lang="en-US" altLang="en-US" b="1" dirty="0"/>
              <a:t>OFDM</a:t>
            </a:r>
            <a:br>
              <a:rPr lang="en-US" sz="1800" b="0" i="0" u="none" strike="noStrike" baseline="0" dirty="0">
                <a:solidFill>
                  <a:srgbClr val="000000"/>
                </a:solidFill>
                <a:latin typeface="Verdana" panose="020B0604030504040204" pitchFamily="34" charset="0"/>
              </a:rPr>
            </a:br>
            <a:r>
              <a:rPr lang="en-US" sz="1800" b="0" i="0" u="none" strike="noStrike" baseline="0" dirty="0">
                <a:solidFill>
                  <a:srgbClr val="000000"/>
                </a:solidFill>
                <a:latin typeface="Verdana" panose="020B0604030504040204" pitchFamily="34" charset="0"/>
              </a:rPr>
              <a:t>Theory and Architecture</a:t>
            </a:r>
            <a:br>
              <a:rPr lang="en-US" sz="1800" b="0" i="0" u="none" strike="noStrike" baseline="0" dirty="0">
                <a:solidFill>
                  <a:srgbClr val="000000"/>
                </a:solidFill>
                <a:latin typeface="Verdana" panose="020B0604030504040204" pitchFamily="34" charset="0"/>
              </a:rPr>
            </a:br>
            <a:endParaRPr lang="en-US" sz="3600" b="1" dirty="0">
              <a:solidFill>
                <a:schemeClr val="accent5">
                  <a:lumMod val="25000"/>
                </a:schemeClr>
              </a:solidFill>
              <a:latin typeface="Myriad Pro" charset="0"/>
            </a:endParaRPr>
          </a:p>
        </p:txBody>
      </p:sp>
      <p:sp>
        <p:nvSpPr>
          <p:cNvPr id="13" name="TextBox 3"/>
          <p:cNvSpPr txBox="1">
            <a:spLocks noChangeArrowheads="1"/>
          </p:cNvSpPr>
          <p:nvPr/>
        </p:nvSpPr>
        <p:spPr bwMode="auto">
          <a:xfrm>
            <a:off x="1908175" y="549275"/>
            <a:ext cx="4163319" cy="1031051"/>
          </a:xfrm>
          <a:prstGeom prst="rect">
            <a:avLst/>
          </a:prstGeom>
          <a:noFill/>
          <a:ln w="9525">
            <a:noFill/>
            <a:miter lim="800000"/>
            <a:headEnd/>
            <a:tailEnd/>
          </a:ln>
        </p:spPr>
        <p:txBody>
          <a:bodyPr wrap="none" lIns="91440" tIns="45720" rIns="91440" bIns="45720" anchor="t">
            <a:spAutoFit/>
          </a:bodyPr>
          <a:lstStyle/>
          <a:p>
            <a:pPr>
              <a:spcBef>
                <a:spcPts val="600"/>
              </a:spcBef>
            </a:pPr>
            <a:r>
              <a:rPr lang="en-US" sz="2800" dirty="0">
                <a:latin typeface="Arial"/>
                <a:ea typeface="ヒラギノ角ゴ Pro W3"/>
                <a:cs typeface="Arial"/>
              </a:rPr>
              <a:t>CNSCC.405</a:t>
            </a:r>
            <a:endParaRPr lang="en-US" dirty="0">
              <a:cs typeface="Arial" pitchFamily="34" charset="0"/>
            </a:endParaRPr>
          </a:p>
          <a:p>
            <a:pPr>
              <a:spcBef>
                <a:spcPts val="600"/>
              </a:spcBef>
            </a:pPr>
            <a:r>
              <a:rPr lang="en-US" sz="2800" dirty="0">
                <a:latin typeface="Arial"/>
                <a:ea typeface="ヒラギノ角ゴ Pro W3"/>
                <a:cs typeface="Arial"/>
              </a:rPr>
              <a:t>Digital Signal Processing</a:t>
            </a:r>
            <a:endParaRPr lang="en-US" dirty="0">
              <a:cs typeface="Arial"/>
            </a:endParaRPr>
          </a:p>
        </p:txBody>
      </p:sp>
      <p:grpSp>
        <p:nvGrpSpPr>
          <p:cNvPr id="2" name="Group 1"/>
          <p:cNvGrpSpPr/>
          <p:nvPr/>
        </p:nvGrpSpPr>
        <p:grpSpPr>
          <a:xfrm>
            <a:off x="203200" y="194733"/>
            <a:ext cx="1312334" cy="821267"/>
            <a:chOff x="203200" y="194733"/>
            <a:chExt cx="1312334" cy="821267"/>
          </a:xfrm>
        </p:grpSpPr>
        <p:sp>
          <p:nvSpPr>
            <p:cNvPr id="16" name="Rectangle 15"/>
            <p:cNvSpPr/>
            <p:nvPr userDrawn="1"/>
          </p:nvSpPr>
          <p:spPr bwMode="auto">
            <a:xfrm>
              <a:off x="203200" y="194733"/>
              <a:ext cx="1312334" cy="821267"/>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0800000" scaled="1"/>
              <a:tileRect/>
            </a:gradFill>
            <a:ln w="19050"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a:ln>
                  <a:noFill/>
                </a:ln>
                <a:solidFill>
                  <a:schemeClr val="tx1"/>
                </a:solidFill>
                <a:effectLst/>
                <a:latin typeface="Arial" pitchFamily="34" charset="0"/>
                <a:ea typeface="ヒラギノ角ゴ Pro W3" charset="-128"/>
              </a:endParaRPr>
            </a:p>
          </p:txBody>
        </p:sp>
        <p:pic>
          <p:nvPicPr>
            <p:cNvPr id="17" name="Picture 2" descr="\\lancs\homes\05\chatzige\My Desktop\bg-logo.png"/>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310480" y="456159"/>
              <a:ext cx="1082502" cy="338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mc:AlternateContent xmlns:mc="http://schemas.openxmlformats.org/markup-compatibility/2006" xmlns:p14="http://schemas.microsoft.com/office/powerpoint/2010/main">
    <mc:Choice Requires="p14">
      <p:transition spd="slow" p14:dur="2000" advTm="35928"/>
    </mc:Choice>
    <mc:Fallback xmlns="">
      <p:transition spd="slow" advTm="35928"/>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62ADB-DFAA-D7E4-0900-1B78DC8D898C}"/>
              </a:ext>
            </a:extLst>
          </p:cNvPr>
          <p:cNvSpPr>
            <a:spLocks noGrp="1"/>
          </p:cNvSpPr>
          <p:nvPr>
            <p:ph type="title"/>
          </p:nvPr>
        </p:nvSpPr>
        <p:spPr>
          <a:xfrm>
            <a:off x="628650" y="365127"/>
            <a:ext cx="7886700" cy="538388"/>
          </a:xfrm>
        </p:spPr>
        <p:txBody>
          <a:bodyPr>
            <a:normAutofit fontScale="90000"/>
          </a:bodyPr>
          <a:lstStyle/>
          <a:p>
            <a:r>
              <a:rPr lang="en-US" sz="3600" b="1" i="0" u="none" strike="noStrike" baseline="0" dirty="0">
                <a:latin typeface="AdvP44C052"/>
              </a:rPr>
              <a:t>Orthogonality</a:t>
            </a:r>
            <a:endParaRPr lang="en-US" sz="3600" b="1" dirty="0"/>
          </a:p>
        </p:txBody>
      </p:sp>
      <p:pic>
        <p:nvPicPr>
          <p:cNvPr id="12" name="Picture 11">
            <a:extLst>
              <a:ext uri="{FF2B5EF4-FFF2-40B4-BE49-F238E27FC236}">
                <a16:creationId xmlns:a16="http://schemas.microsoft.com/office/drawing/2014/main" id="{36D61254-CACA-27E2-0EFA-77CA1136B475}"/>
              </a:ext>
            </a:extLst>
          </p:cNvPr>
          <p:cNvPicPr>
            <a:picLocks noChangeAspect="1"/>
          </p:cNvPicPr>
          <p:nvPr/>
        </p:nvPicPr>
        <p:blipFill>
          <a:blip r:embed="rId3"/>
          <a:stretch>
            <a:fillRect/>
          </a:stretch>
        </p:blipFill>
        <p:spPr>
          <a:xfrm>
            <a:off x="142875" y="2834471"/>
            <a:ext cx="8858250" cy="1390650"/>
          </a:xfrm>
          <a:prstGeom prst="rect">
            <a:avLst/>
          </a:prstGeom>
        </p:spPr>
      </p:pic>
      <p:pic>
        <p:nvPicPr>
          <p:cNvPr id="20" name="Picture 19">
            <a:extLst>
              <a:ext uri="{FF2B5EF4-FFF2-40B4-BE49-F238E27FC236}">
                <a16:creationId xmlns:a16="http://schemas.microsoft.com/office/drawing/2014/main" id="{9362B45E-A09B-2CC3-15F6-173D721387C8}"/>
              </a:ext>
            </a:extLst>
          </p:cNvPr>
          <p:cNvPicPr>
            <a:picLocks noChangeAspect="1"/>
          </p:cNvPicPr>
          <p:nvPr/>
        </p:nvPicPr>
        <p:blipFill>
          <a:blip r:embed="rId4"/>
          <a:stretch>
            <a:fillRect/>
          </a:stretch>
        </p:blipFill>
        <p:spPr>
          <a:xfrm>
            <a:off x="1267599" y="4372659"/>
            <a:ext cx="4037349" cy="1268881"/>
          </a:xfrm>
          <a:prstGeom prst="rect">
            <a:avLst/>
          </a:prstGeom>
        </p:spPr>
      </p:pic>
      <p:pic>
        <p:nvPicPr>
          <p:cNvPr id="22" name="Picture 21">
            <a:extLst>
              <a:ext uri="{FF2B5EF4-FFF2-40B4-BE49-F238E27FC236}">
                <a16:creationId xmlns:a16="http://schemas.microsoft.com/office/drawing/2014/main" id="{B491EC84-B766-B02D-FE92-546B9F5C9CCC}"/>
              </a:ext>
            </a:extLst>
          </p:cNvPr>
          <p:cNvPicPr>
            <a:picLocks noChangeAspect="1"/>
          </p:cNvPicPr>
          <p:nvPr/>
        </p:nvPicPr>
        <p:blipFill>
          <a:blip r:embed="rId5"/>
          <a:stretch>
            <a:fillRect/>
          </a:stretch>
        </p:blipFill>
        <p:spPr>
          <a:xfrm>
            <a:off x="3298073" y="5522110"/>
            <a:ext cx="5380563" cy="1117921"/>
          </a:xfrm>
          <a:prstGeom prst="rect">
            <a:avLst/>
          </a:prstGeom>
        </p:spPr>
      </p:pic>
      <p:sp>
        <p:nvSpPr>
          <p:cNvPr id="24" name="TextBox 23">
            <a:extLst>
              <a:ext uri="{FF2B5EF4-FFF2-40B4-BE49-F238E27FC236}">
                <a16:creationId xmlns:a16="http://schemas.microsoft.com/office/drawing/2014/main" id="{37E737D7-58A8-23C6-CE43-CB72F1007833}"/>
              </a:ext>
            </a:extLst>
          </p:cNvPr>
          <p:cNvSpPr txBox="1"/>
          <p:nvPr/>
        </p:nvSpPr>
        <p:spPr>
          <a:xfrm>
            <a:off x="8450036" y="5641540"/>
            <a:ext cx="457200" cy="369332"/>
          </a:xfrm>
          <a:prstGeom prst="rect">
            <a:avLst/>
          </a:prstGeom>
          <a:noFill/>
        </p:spPr>
        <p:txBody>
          <a:bodyPr wrap="square" rtlCol="0">
            <a:spAutoFit/>
          </a:bodyPr>
          <a:lstStyle/>
          <a:p>
            <a:r>
              <a:rPr lang="en-US" dirty="0"/>
              <a:t>(1)</a:t>
            </a:r>
          </a:p>
        </p:txBody>
      </p:sp>
      <p:sp>
        <p:nvSpPr>
          <p:cNvPr id="4" name="TextBox 3">
            <a:extLst>
              <a:ext uri="{FF2B5EF4-FFF2-40B4-BE49-F238E27FC236}">
                <a16:creationId xmlns:a16="http://schemas.microsoft.com/office/drawing/2014/main" id="{D9275A0F-8574-BD8E-C4EB-A78A2FFF89F5}"/>
              </a:ext>
            </a:extLst>
          </p:cNvPr>
          <p:cNvSpPr txBox="1"/>
          <p:nvPr/>
        </p:nvSpPr>
        <p:spPr>
          <a:xfrm>
            <a:off x="726621" y="942349"/>
            <a:ext cx="5119307" cy="400110"/>
          </a:xfrm>
          <a:prstGeom prst="rect">
            <a:avLst/>
          </a:prstGeom>
          <a:noFill/>
        </p:spPr>
        <p:txBody>
          <a:bodyPr wrap="square">
            <a:spAutoFit/>
          </a:bodyPr>
          <a:lstStyle/>
          <a:p>
            <a:r>
              <a:rPr lang="en-US" sz="2000" b="0" i="0" u="none" strike="noStrike" baseline="0" dirty="0">
                <a:latin typeface="Arial" panose="020B0604020202020204" pitchFamily="34" charset="0"/>
                <a:cs typeface="Arial" panose="020B0604020202020204" pitchFamily="34" charset="0"/>
              </a:rPr>
              <a:t>Consider the complex exponential signals</a:t>
            </a:r>
            <a:endParaRPr lang="en-US" sz="200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50AB8C2C-0BAC-3CBE-403B-5CC820906C48}"/>
              </a:ext>
            </a:extLst>
          </p:cNvPr>
          <p:cNvPicPr>
            <a:picLocks noChangeAspect="1"/>
          </p:cNvPicPr>
          <p:nvPr/>
        </p:nvPicPr>
        <p:blipFill>
          <a:blip r:embed="rId6"/>
          <a:stretch>
            <a:fillRect/>
          </a:stretch>
        </p:blipFill>
        <p:spPr>
          <a:xfrm>
            <a:off x="5988354" y="817097"/>
            <a:ext cx="1771650" cy="628650"/>
          </a:xfrm>
          <a:prstGeom prst="rect">
            <a:avLst/>
          </a:prstGeom>
        </p:spPr>
      </p:pic>
      <p:grpSp>
        <p:nvGrpSpPr>
          <p:cNvPr id="28" name="Group 27">
            <a:extLst>
              <a:ext uri="{FF2B5EF4-FFF2-40B4-BE49-F238E27FC236}">
                <a16:creationId xmlns:a16="http://schemas.microsoft.com/office/drawing/2014/main" id="{56B8DED0-C778-7258-690C-3D8EBCE41756}"/>
              </a:ext>
            </a:extLst>
          </p:cNvPr>
          <p:cNvGrpSpPr/>
          <p:nvPr/>
        </p:nvGrpSpPr>
        <p:grpSpPr>
          <a:xfrm>
            <a:off x="726622" y="1463220"/>
            <a:ext cx="7212669" cy="420553"/>
            <a:chOff x="726622" y="1463220"/>
            <a:chExt cx="7212669" cy="420553"/>
          </a:xfrm>
        </p:grpSpPr>
        <p:sp>
          <p:nvSpPr>
            <p:cNvPr id="9" name="TextBox 8">
              <a:extLst>
                <a:ext uri="{FF2B5EF4-FFF2-40B4-BE49-F238E27FC236}">
                  <a16:creationId xmlns:a16="http://schemas.microsoft.com/office/drawing/2014/main" id="{DD2E52A1-972F-7867-6BAA-4B472A19A4DE}"/>
                </a:ext>
              </a:extLst>
            </p:cNvPr>
            <p:cNvSpPr txBox="1"/>
            <p:nvPr/>
          </p:nvSpPr>
          <p:spPr>
            <a:xfrm>
              <a:off x="726622" y="1466319"/>
              <a:ext cx="2930978" cy="400110"/>
            </a:xfrm>
            <a:prstGeom prst="rect">
              <a:avLst/>
            </a:prstGeom>
            <a:noFill/>
          </p:spPr>
          <p:txBody>
            <a:bodyPr wrap="square">
              <a:spAutoFit/>
            </a:bodyPr>
            <a:lstStyle/>
            <a:p>
              <a:r>
                <a:rPr lang="en-US" sz="2000" dirty="0">
                  <a:latin typeface="Arial" panose="020B0604020202020204" pitchFamily="34" charset="0"/>
                  <a:cs typeface="Arial" panose="020B0604020202020204" pitchFamily="34" charset="0"/>
                </a:rPr>
                <a:t>D</a:t>
              </a:r>
              <a:r>
                <a:rPr lang="en-US" sz="2000" b="0" i="0" u="none" strike="noStrike" baseline="0" dirty="0">
                  <a:latin typeface="Arial" panose="020B0604020202020204" pitchFamily="34" charset="0"/>
                  <a:cs typeface="Arial" panose="020B0604020202020204" pitchFamily="34" charset="0"/>
                </a:rPr>
                <a:t>ifferent subcarriers at </a:t>
              </a:r>
              <a:endParaRPr lang="en-US" sz="2000" dirty="0">
                <a:latin typeface="Arial" panose="020B0604020202020204" pitchFamily="34" charset="0"/>
                <a:cs typeface="Arial" panose="020B0604020202020204" pitchFamily="34" charset="0"/>
              </a:endParaRPr>
            </a:p>
          </p:txBody>
        </p:sp>
        <p:pic>
          <p:nvPicPr>
            <p:cNvPr id="14" name="Picture 13">
              <a:extLst>
                <a:ext uri="{FF2B5EF4-FFF2-40B4-BE49-F238E27FC236}">
                  <a16:creationId xmlns:a16="http://schemas.microsoft.com/office/drawing/2014/main" id="{8FE6D2A8-F573-C8FF-9761-30508823F6CD}"/>
                </a:ext>
              </a:extLst>
            </p:cNvPr>
            <p:cNvPicPr>
              <a:picLocks noChangeAspect="1"/>
            </p:cNvPicPr>
            <p:nvPr/>
          </p:nvPicPr>
          <p:blipFill>
            <a:blip r:embed="rId7"/>
            <a:stretch>
              <a:fillRect/>
            </a:stretch>
          </p:blipFill>
          <p:spPr>
            <a:xfrm>
              <a:off x="3477359" y="1490234"/>
              <a:ext cx="1498922" cy="393539"/>
            </a:xfrm>
            <a:prstGeom prst="rect">
              <a:avLst/>
            </a:prstGeom>
          </p:spPr>
        </p:pic>
        <p:pic>
          <p:nvPicPr>
            <p:cNvPr id="18" name="Picture 17">
              <a:extLst>
                <a:ext uri="{FF2B5EF4-FFF2-40B4-BE49-F238E27FC236}">
                  <a16:creationId xmlns:a16="http://schemas.microsoft.com/office/drawing/2014/main" id="{E70639BC-7D85-D3FD-3015-28F2369A82F9}"/>
                </a:ext>
              </a:extLst>
            </p:cNvPr>
            <p:cNvPicPr>
              <a:picLocks noChangeAspect="1"/>
            </p:cNvPicPr>
            <p:nvPr/>
          </p:nvPicPr>
          <p:blipFill>
            <a:blip r:embed="rId8"/>
            <a:stretch>
              <a:fillRect/>
            </a:stretch>
          </p:blipFill>
          <p:spPr>
            <a:xfrm>
              <a:off x="6167641" y="1463220"/>
              <a:ext cx="1771650" cy="396638"/>
            </a:xfrm>
            <a:prstGeom prst="rect">
              <a:avLst/>
            </a:prstGeom>
          </p:spPr>
        </p:pic>
        <p:sp>
          <p:nvSpPr>
            <p:cNvPr id="21" name="TextBox 20">
              <a:extLst>
                <a:ext uri="{FF2B5EF4-FFF2-40B4-BE49-F238E27FC236}">
                  <a16:creationId xmlns:a16="http://schemas.microsoft.com/office/drawing/2014/main" id="{771B5967-82BC-67A2-3CF5-7BDE2A54666C}"/>
                </a:ext>
              </a:extLst>
            </p:cNvPr>
            <p:cNvSpPr txBox="1"/>
            <p:nvPr/>
          </p:nvSpPr>
          <p:spPr>
            <a:xfrm>
              <a:off x="5065924" y="1477465"/>
              <a:ext cx="1012073" cy="400110"/>
            </a:xfrm>
            <a:prstGeom prst="rect">
              <a:avLst/>
            </a:prstGeom>
            <a:noFill/>
          </p:spPr>
          <p:txBody>
            <a:bodyPr wrap="square">
              <a:spAutoFit/>
            </a:bodyPr>
            <a:lstStyle/>
            <a:p>
              <a:r>
                <a:rPr lang="en-US" sz="2000" b="0" i="0" u="none" strike="noStrike" baseline="0" dirty="0">
                  <a:latin typeface="Arial" panose="020B0604020202020204" pitchFamily="34" charset="0"/>
                  <a:cs typeface="Arial" panose="020B0604020202020204" pitchFamily="34" charset="0"/>
                </a:rPr>
                <a:t>where</a:t>
              </a:r>
              <a:endParaRPr lang="en-US" sz="2000" dirty="0">
                <a:latin typeface="Arial" panose="020B0604020202020204" pitchFamily="34" charset="0"/>
                <a:cs typeface="Arial" panose="020B0604020202020204" pitchFamily="34" charset="0"/>
              </a:endParaRPr>
            </a:p>
          </p:txBody>
        </p:sp>
      </p:grpSp>
      <p:sp>
        <p:nvSpPr>
          <p:cNvPr id="27" name="TextBox 26">
            <a:extLst>
              <a:ext uri="{FF2B5EF4-FFF2-40B4-BE49-F238E27FC236}">
                <a16:creationId xmlns:a16="http://schemas.microsoft.com/office/drawing/2014/main" id="{1C67C5B6-BBAE-A12C-5A9D-F55F300832E5}"/>
              </a:ext>
            </a:extLst>
          </p:cNvPr>
          <p:cNvSpPr txBox="1"/>
          <p:nvPr/>
        </p:nvSpPr>
        <p:spPr>
          <a:xfrm>
            <a:off x="726622" y="2100816"/>
            <a:ext cx="7952014" cy="707886"/>
          </a:xfrm>
          <a:prstGeom prst="rect">
            <a:avLst/>
          </a:prstGeom>
          <a:noFill/>
        </p:spPr>
        <p:txBody>
          <a:bodyPr wrap="square">
            <a:spAutoFit/>
          </a:bodyPr>
          <a:lstStyle/>
          <a:p>
            <a:pPr algn="l"/>
            <a:r>
              <a:rPr lang="en-US" sz="2000" b="0" i="0" u="none" strike="noStrike" baseline="0" dirty="0">
                <a:latin typeface="Arial" panose="020B0604020202020204" pitchFamily="34" charset="0"/>
                <a:cs typeface="Arial" panose="020B0604020202020204" pitchFamily="34" charset="0"/>
              </a:rPr>
              <a:t>These signals are defined to be orthogonal if the integral of the products for their common (fundamental) period is zero, that is,</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14022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B4157EF-EFA8-FB86-3356-AAAD67C6A0AA}"/>
              </a:ext>
            </a:extLst>
          </p:cNvPr>
          <p:cNvPicPr>
            <a:picLocks noChangeAspect="1"/>
          </p:cNvPicPr>
          <p:nvPr/>
        </p:nvPicPr>
        <p:blipFill>
          <a:blip r:embed="rId2"/>
          <a:stretch>
            <a:fillRect/>
          </a:stretch>
        </p:blipFill>
        <p:spPr>
          <a:xfrm>
            <a:off x="437503" y="2230269"/>
            <a:ext cx="8641181" cy="3111537"/>
          </a:xfrm>
          <a:prstGeom prst="rect">
            <a:avLst/>
          </a:prstGeom>
        </p:spPr>
      </p:pic>
      <p:sp>
        <p:nvSpPr>
          <p:cNvPr id="11" name="Title 1">
            <a:extLst>
              <a:ext uri="{FF2B5EF4-FFF2-40B4-BE49-F238E27FC236}">
                <a16:creationId xmlns:a16="http://schemas.microsoft.com/office/drawing/2014/main" id="{EA1CB6F2-2692-4E5A-F94D-92D7CC5C8462}"/>
              </a:ext>
            </a:extLst>
          </p:cNvPr>
          <p:cNvSpPr>
            <a:spLocks noGrp="1"/>
          </p:cNvSpPr>
          <p:nvPr>
            <p:ph type="title"/>
          </p:nvPr>
        </p:nvSpPr>
        <p:spPr>
          <a:xfrm>
            <a:off x="628650" y="365125"/>
            <a:ext cx="7886700" cy="625475"/>
          </a:xfrm>
        </p:spPr>
        <p:txBody>
          <a:bodyPr>
            <a:normAutofit/>
          </a:bodyPr>
          <a:lstStyle/>
          <a:p>
            <a:r>
              <a:rPr lang="en-US" sz="3600" b="1" i="0" u="none" strike="noStrike" baseline="0" dirty="0">
                <a:latin typeface="AdvP44C052"/>
              </a:rPr>
              <a:t>Orthogonality</a:t>
            </a:r>
            <a:endParaRPr lang="en-US" sz="3600" b="1" dirty="0"/>
          </a:p>
        </p:txBody>
      </p:sp>
      <p:sp>
        <p:nvSpPr>
          <p:cNvPr id="13" name="TextBox 12">
            <a:extLst>
              <a:ext uri="{FF2B5EF4-FFF2-40B4-BE49-F238E27FC236}">
                <a16:creationId xmlns:a16="http://schemas.microsoft.com/office/drawing/2014/main" id="{14F0F3EC-51A6-C460-E069-6DDF06D8A128}"/>
              </a:ext>
            </a:extLst>
          </p:cNvPr>
          <p:cNvSpPr txBox="1"/>
          <p:nvPr/>
        </p:nvSpPr>
        <p:spPr>
          <a:xfrm>
            <a:off x="386443" y="5669267"/>
            <a:ext cx="8371114" cy="707886"/>
          </a:xfrm>
          <a:prstGeom prst="rect">
            <a:avLst/>
          </a:prstGeom>
          <a:noFill/>
        </p:spPr>
        <p:txBody>
          <a:bodyPr wrap="square">
            <a:spAutoFit/>
          </a:bodyPr>
          <a:lstStyle/>
          <a:p>
            <a:r>
              <a:rPr lang="en-US" sz="2000" b="0" i="0" u="none" strike="noStrike" baseline="0" dirty="0">
                <a:latin typeface="Times New Roman" panose="02020603050405020304" pitchFamily="18" charset="0"/>
              </a:rPr>
              <a:t>The above orthogonality is an essential condition for the OFDM signal to be ICI-free.</a:t>
            </a:r>
          </a:p>
        </p:txBody>
      </p:sp>
      <p:sp>
        <p:nvSpPr>
          <p:cNvPr id="15" name="TextBox 14">
            <a:extLst>
              <a:ext uri="{FF2B5EF4-FFF2-40B4-BE49-F238E27FC236}">
                <a16:creationId xmlns:a16="http://schemas.microsoft.com/office/drawing/2014/main" id="{0B041CF1-5860-719B-8522-C7AC7474247B}"/>
              </a:ext>
            </a:extLst>
          </p:cNvPr>
          <p:cNvSpPr txBox="1"/>
          <p:nvPr/>
        </p:nvSpPr>
        <p:spPr>
          <a:xfrm>
            <a:off x="8477250" y="4549732"/>
            <a:ext cx="457200" cy="369332"/>
          </a:xfrm>
          <a:prstGeom prst="rect">
            <a:avLst/>
          </a:prstGeom>
          <a:noFill/>
        </p:spPr>
        <p:txBody>
          <a:bodyPr wrap="square" rtlCol="0">
            <a:spAutoFit/>
          </a:bodyPr>
          <a:lstStyle/>
          <a:p>
            <a:r>
              <a:rPr lang="en-US" dirty="0"/>
              <a:t>(2)</a:t>
            </a:r>
          </a:p>
        </p:txBody>
      </p:sp>
      <p:pic>
        <p:nvPicPr>
          <p:cNvPr id="5" name="Picture 4">
            <a:extLst>
              <a:ext uri="{FF2B5EF4-FFF2-40B4-BE49-F238E27FC236}">
                <a16:creationId xmlns:a16="http://schemas.microsoft.com/office/drawing/2014/main" id="{9735A233-7CAF-5CFF-FF2D-D0C0757F527A}"/>
              </a:ext>
            </a:extLst>
          </p:cNvPr>
          <p:cNvPicPr>
            <a:picLocks noChangeAspect="1"/>
          </p:cNvPicPr>
          <p:nvPr/>
        </p:nvPicPr>
        <p:blipFill>
          <a:blip r:embed="rId3"/>
          <a:stretch>
            <a:fillRect/>
          </a:stretch>
        </p:blipFill>
        <p:spPr>
          <a:xfrm>
            <a:off x="3589532" y="1701336"/>
            <a:ext cx="2413322" cy="341453"/>
          </a:xfrm>
          <a:prstGeom prst="rect">
            <a:avLst/>
          </a:prstGeom>
        </p:spPr>
      </p:pic>
      <p:pic>
        <p:nvPicPr>
          <p:cNvPr id="9" name="Picture 8">
            <a:extLst>
              <a:ext uri="{FF2B5EF4-FFF2-40B4-BE49-F238E27FC236}">
                <a16:creationId xmlns:a16="http://schemas.microsoft.com/office/drawing/2014/main" id="{3BA4ECED-2659-8A82-D3F3-BD6D3FB8B6B4}"/>
              </a:ext>
            </a:extLst>
          </p:cNvPr>
          <p:cNvPicPr>
            <a:picLocks noChangeAspect="1"/>
          </p:cNvPicPr>
          <p:nvPr/>
        </p:nvPicPr>
        <p:blipFill>
          <a:blip r:embed="rId4"/>
          <a:stretch>
            <a:fillRect/>
          </a:stretch>
        </p:blipFill>
        <p:spPr>
          <a:xfrm>
            <a:off x="6078879" y="1659615"/>
            <a:ext cx="2436471" cy="364603"/>
          </a:xfrm>
          <a:prstGeom prst="rect">
            <a:avLst/>
          </a:prstGeom>
        </p:spPr>
      </p:pic>
      <p:sp>
        <p:nvSpPr>
          <p:cNvPr id="16" name="TextBox 15">
            <a:extLst>
              <a:ext uri="{FF2B5EF4-FFF2-40B4-BE49-F238E27FC236}">
                <a16:creationId xmlns:a16="http://schemas.microsoft.com/office/drawing/2014/main" id="{5F349690-4D72-824C-F149-BA0F36B5A59D}"/>
              </a:ext>
            </a:extLst>
          </p:cNvPr>
          <p:cNvSpPr txBox="1"/>
          <p:nvPr/>
        </p:nvSpPr>
        <p:spPr>
          <a:xfrm>
            <a:off x="666750" y="964104"/>
            <a:ext cx="4572000" cy="707886"/>
          </a:xfrm>
          <a:prstGeom prst="rect">
            <a:avLst/>
          </a:prstGeom>
          <a:noFill/>
        </p:spPr>
        <p:txBody>
          <a:bodyPr wrap="square">
            <a:spAutoFit/>
          </a:bodyPr>
          <a:lstStyle/>
          <a:p>
            <a:r>
              <a:rPr lang="en-US" sz="2000" b="0" i="0" u="none" strike="noStrike" baseline="0" dirty="0">
                <a:latin typeface="Arial" panose="020B0604020202020204" pitchFamily="34" charset="0"/>
                <a:cs typeface="Arial" panose="020B0604020202020204" pitchFamily="34" charset="0"/>
              </a:rPr>
              <a:t>Taking the discrete samples with the sampling instances at</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03035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156D4-826E-D491-C51D-C94395BA2AEA}"/>
              </a:ext>
            </a:extLst>
          </p:cNvPr>
          <p:cNvSpPr>
            <a:spLocks noGrp="1"/>
          </p:cNvSpPr>
          <p:nvPr>
            <p:ph type="title"/>
          </p:nvPr>
        </p:nvSpPr>
        <p:spPr>
          <a:xfrm>
            <a:off x="664028" y="2498726"/>
            <a:ext cx="8403771" cy="592817"/>
          </a:xfrm>
        </p:spPr>
        <p:txBody>
          <a:bodyPr>
            <a:normAutofit/>
          </a:bodyPr>
          <a:lstStyle/>
          <a:p>
            <a:r>
              <a:rPr lang="en-US" sz="3600" b="1" i="0" u="none" strike="noStrike" baseline="0" dirty="0">
                <a:latin typeface="Arial" panose="020B0604020202020204" pitchFamily="34" charset="0"/>
                <a:cs typeface="Arial" panose="020B0604020202020204" pitchFamily="34" charset="0"/>
              </a:rPr>
              <a:t>OFDM Modulation and Demodulation</a:t>
            </a:r>
            <a:endParaRPr lang="en-US" sz="36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746601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BCB2C-D762-2BC0-9264-B7E83FC64DD7}"/>
              </a:ext>
            </a:extLst>
          </p:cNvPr>
          <p:cNvSpPr>
            <a:spLocks noGrp="1"/>
          </p:cNvSpPr>
          <p:nvPr>
            <p:ph type="title"/>
          </p:nvPr>
        </p:nvSpPr>
        <p:spPr>
          <a:xfrm>
            <a:off x="628650" y="365126"/>
            <a:ext cx="7886700" cy="603703"/>
          </a:xfrm>
        </p:spPr>
        <p:txBody>
          <a:bodyPr>
            <a:normAutofit/>
          </a:bodyPr>
          <a:lstStyle/>
          <a:p>
            <a:r>
              <a:rPr lang="en-US" sz="3600" b="0" i="0" u="none" strike="noStrike" baseline="0" dirty="0">
                <a:latin typeface="Arial" panose="020B0604020202020204" pitchFamily="34" charset="0"/>
                <a:cs typeface="Arial" panose="020B0604020202020204" pitchFamily="34" charset="0"/>
              </a:rPr>
              <a:t>OFDM signal</a:t>
            </a:r>
            <a:endParaRPr lang="en-US" sz="3600" dirty="0"/>
          </a:p>
        </p:txBody>
      </p:sp>
      <p:sp>
        <p:nvSpPr>
          <p:cNvPr id="3" name="Content Placeholder 2">
            <a:extLst>
              <a:ext uri="{FF2B5EF4-FFF2-40B4-BE49-F238E27FC236}">
                <a16:creationId xmlns:a16="http://schemas.microsoft.com/office/drawing/2014/main" id="{58D97DA7-2E73-5A16-9914-21E3FC15F982}"/>
              </a:ext>
            </a:extLst>
          </p:cNvPr>
          <p:cNvSpPr>
            <a:spLocks noGrp="1"/>
          </p:cNvSpPr>
          <p:nvPr>
            <p:ph idx="1"/>
          </p:nvPr>
        </p:nvSpPr>
        <p:spPr>
          <a:xfrm>
            <a:off x="628650" y="1253331"/>
            <a:ext cx="7886700" cy="1783783"/>
          </a:xfrm>
        </p:spPr>
        <p:txBody>
          <a:bodyPr>
            <a:normAutofit/>
          </a:bodyPr>
          <a:lstStyle/>
          <a:p>
            <a:pPr algn="l"/>
            <a:r>
              <a:rPr lang="en-US" sz="2000" b="0" i="0" u="none" strike="noStrike" baseline="0" dirty="0">
                <a:latin typeface="Arial" panose="020B0604020202020204" pitchFamily="34" charset="0"/>
                <a:cs typeface="Arial" panose="020B0604020202020204" pitchFamily="34" charset="0"/>
              </a:rPr>
              <a:t>OFDM transmitter maps the message bits into a sequence of PSK or QAM symbols which will be subsequently converted into N parallel streams.</a:t>
            </a:r>
          </a:p>
          <a:p>
            <a:pPr algn="l"/>
            <a:r>
              <a:rPr lang="en-US" sz="2000" dirty="0">
                <a:latin typeface="Arial" panose="020B0604020202020204" pitchFamily="34" charset="0"/>
                <a:cs typeface="Arial" panose="020B0604020202020204" pitchFamily="34" charset="0"/>
              </a:rPr>
              <a:t>Each of N symbols from serial-to-parallel (S/P) conversion is carried out by the different subcarrier.</a:t>
            </a:r>
          </a:p>
        </p:txBody>
      </p:sp>
      <p:grpSp>
        <p:nvGrpSpPr>
          <p:cNvPr id="4" name="Group 3">
            <a:extLst>
              <a:ext uri="{FF2B5EF4-FFF2-40B4-BE49-F238E27FC236}">
                <a16:creationId xmlns:a16="http://schemas.microsoft.com/office/drawing/2014/main" id="{66684E8E-9553-2FE2-2426-70454CFCB1A7}"/>
              </a:ext>
            </a:extLst>
          </p:cNvPr>
          <p:cNvGrpSpPr/>
          <p:nvPr/>
        </p:nvGrpSpPr>
        <p:grpSpPr>
          <a:xfrm>
            <a:off x="435429" y="2954906"/>
            <a:ext cx="8534400" cy="830997"/>
            <a:chOff x="435429" y="2954906"/>
            <a:chExt cx="8534400" cy="830997"/>
          </a:xfrm>
        </p:grpSpPr>
        <p:sp>
          <p:nvSpPr>
            <p:cNvPr id="5" name="TextBox 4">
              <a:extLst>
                <a:ext uri="{FF2B5EF4-FFF2-40B4-BE49-F238E27FC236}">
                  <a16:creationId xmlns:a16="http://schemas.microsoft.com/office/drawing/2014/main" id="{9BC39F62-5CDD-B0D9-645C-3094C643B4C2}"/>
                </a:ext>
              </a:extLst>
            </p:cNvPr>
            <p:cNvSpPr txBox="1"/>
            <p:nvPr/>
          </p:nvSpPr>
          <p:spPr>
            <a:xfrm>
              <a:off x="435429" y="2954906"/>
              <a:ext cx="8534400" cy="830997"/>
            </a:xfrm>
            <a:prstGeom prst="rect">
              <a:avLst/>
            </a:prstGeom>
            <a:noFill/>
          </p:spPr>
          <p:txBody>
            <a:bodyPr wrap="square">
              <a:spAutoFit/>
            </a:bodyPr>
            <a:lstStyle/>
            <a:p>
              <a:pPr algn="l"/>
              <a:r>
                <a:rPr lang="en-US" sz="2400" b="0" i="0" u="none" strike="noStrike" baseline="0" dirty="0">
                  <a:latin typeface="Arial" panose="020B0604020202020204" pitchFamily="34" charset="0"/>
                  <a:cs typeface="Arial" panose="020B0604020202020204" pitchFamily="34" charset="0"/>
                </a:rPr>
                <a:t>Let               denote the </a:t>
              </a:r>
              <a:r>
                <a:rPr lang="en-US" sz="2400" b="0" i="1" u="none" strike="noStrike" baseline="0" dirty="0">
                  <a:latin typeface="Arial" panose="020B0604020202020204" pitchFamily="34" charset="0"/>
                  <a:cs typeface="Arial" panose="020B0604020202020204" pitchFamily="34" charset="0"/>
                </a:rPr>
                <a:t>l</a:t>
              </a:r>
              <a:r>
                <a:rPr lang="en-US" sz="2400" b="0" i="0" u="none" strike="noStrike" baseline="-25000" dirty="0">
                  <a:latin typeface="Arial" panose="020B0604020202020204" pitchFamily="34" charset="0"/>
                  <a:cs typeface="Arial" panose="020B0604020202020204" pitchFamily="34" charset="0"/>
                </a:rPr>
                <a:t>th</a:t>
              </a:r>
              <a:r>
                <a:rPr lang="en-US" sz="2400" b="0" i="0" u="none" strike="noStrike" baseline="0" dirty="0">
                  <a:latin typeface="Arial" panose="020B0604020202020204" pitchFamily="34" charset="0"/>
                  <a:cs typeface="Arial" panose="020B0604020202020204" pitchFamily="34" charset="0"/>
                </a:rPr>
                <a:t> OFDM signal at the kth subcarrier, which is given as</a:t>
              </a:r>
              <a:endParaRPr lang="en-US" sz="2400"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6AF9847C-617B-7710-0F06-C7BE583FE14A}"/>
                </a:ext>
              </a:extLst>
            </p:cNvPr>
            <p:cNvPicPr>
              <a:picLocks noChangeAspect="1"/>
            </p:cNvPicPr>
            <p:nvPr/>
          </p:nvPicPr>
          <p:blipFill>
            <a:blip r:embed="rId2"/>
            <a:stretch>
              <a:fillRect/>
            </a:stretch>
          </p:blipFill>
          <p:spPr>
            <a:xfrm>
              <a:off x="1132795" y="2965846"/>
              <a:ext cx="1000125" cy="466725"/>
            </a:xfrm>
            <a:prstGeom prst="rect">
              <a:avLst/>
            </a:prstGeom>
          </p:spPr>
        </p:pic>
      </p:grpSp>
      <p:pic>
        <p:nvPicPr>
          <p:cNvPr id="9" name="Picture 8">
            <a:extLst>
              <a:ext uri="{FF2B5EF4-FFF2-40B4-BE49-F238E27FC236}">
                <a16:creationId xmlns:a16="http://schemas.microsoft.com/office/drawing/2014/main" id="{43E9FFD0-B27A-058C-70FA-68EBC5017665}"/>
              </a:ext>
            </a:extLst>
          </p:cNvPr>
          <p:cNvPicPr>
            <a:picLocks noChangeAspect="1"/>
          </p:cNvPicPr>
          <p:nvPr/>
        </p:nvPicPr>
        <p:blipFill>
          <a:blip r:embed="rId3"/>
          <a:stretch>
            <a:fillRect/>
          </a:stretch>
        </p:blipFill>
        <p:spPr>
          <a:xfrm>
            <a:off x="944175" y="4033932"/>
            <a:ext cx="7516907" cy="1453546"/>
          </a:xfrm>
          <a:prstGeom prst="rect">
            <a:avLst/>
          </a:prstGeom>
        </p:spPr>
      </p:pic>
    </p:spTree>
    <p:extLst>
      <p:ext uri="{BB962C8B-B14F-4D97-AF65-F5344CB8AC3E}">
        <p14:creationId xmlns:p14="http://schemas.microsoft.com/office/powerpoint/2010/main" val="28631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980F3-0D98-A6C6-9826-3B0BC315F052}"/>
              </a:ext>
            </a:extLst>
          </p:cNvPr>
          <p:cNvSpPr>
            <a:spLocks noGrp="1"/>
          </p:cNvSpPr>
          <p:nvPr>
            <p:ph type="title"/>
          </p:nvPr>
        </p:nvSpPr>
        <p:spPr>
          <a:xfrm>
            <a:off x="628650" y="365126"/>
            <a:ext cx="7886700" cy="315911"/>
          </a:xfrm>
        </p:spPr>
        <p:txBody>
          <a:bodyPr>
            <a:normAutofit fontScale="90000"/>
          </a:bodyPr>
          <a:lstStyle/>
          <a:p>
            <a:r>
              <a:rPr lang="en-US" sz="4400" b="0" i="0" u="none" strike="noStrike" baseline="0" dirty="0">
                <a:latin typeface="Arial" panose="020B0604020202020204" pitchFamily="34" charset="0"/>
                <a:cs typeface="Arial" panose="020B0604020202020204" pitchFamily="34" charset="0"/>
              </a:rPr>
              <a:t>OFDM signal</a:t>
            </a:r>
            <a:endParaRPr lang="en-US" dirty="0"/>
          </a:p>
        </p:txBody>
      </p:sp>
      <p:sp>
        <p:nvSpPr>
          <p:cNvPr id="3" name="Content Placeholder 2">
            <a:extLst>
              <a:ext uri="{FF2B5EF4-FFF2-40B4-BE49-F238E27FC236}">
                <a16:creationId xmlns:a16="http://schemas.microsoft.com/office/drawing/2014/main" id="{1DE29EB6-64AF-FC04-4BC1-C90722B50681}"/>
              </a:ext>
            </a:extLst>
          </p:cNvPr>
          <p:cNvSpPr>
            <a:spLocks noGrp="1"/>
          </p:cNvSpPr>
          <p:nvPr>
            <p:ph idx="1"/>
          </p:nvPr>
        </p:nvSpPr>
        <p:spPr>
          <a:xfrm>
            <a:off x="628650" y="1023257"/>
            <a:ext cx="7886700" cy="816430"/>
          </a:xfrm>
        </p:spPr>
        <p:txBody>
          <a:bodyPr/>
          <a:lstStyle/>
          <a:p>
            <a:r>
              <a:rPr lang="en-US" sz="2000" b="0" i="0" u="none" strike="noStrike" baseline="0" dirty="0">
                <a:latin typeface="Times New Roman" panose="02020603050405020304" pitchFamily="18" charset="0"/>
              </a:rPr>
              <a:t>Then the passband and baseband OFDM signals in the continuous-time domain can be expressed respectively as</a:t>
            </a:r>
          </a:p>
          <a:p>
            <a:endParaRPr lang="en-US" dirty="0"/>
          </a:p>
        </p:txBody>
      </p:sp>
      <p:pic>
        <p:nvPicPr>
          <p:cNvPr id="5" name="Picture 4">
            <a:extLst>
              <a:ext uri="{FF2B5EF4-FFF2-40B4-BE49-F238E27FC236}">
                <a16:creationId xmlns:a16="http://schemas.microsoft.com/office/drawing/2014/main" id="{51F04CEF-43D2-337A-389A-BB0075654150}"/>
              </a:ext>
            </a:extLst>
          </p:cNvPr>
          <p:cNvPicPr>
            <a:picLocks noChangeAspect="1"/>
          </p:cNvPicPr>
          <p:nvPr/>
        </p:nvPicPr>
        <p:blipFill>
          <a:blip r:embed="rId2"/>
          <a:stretch>
            <a:fillRect/>
          </a:stretch>
        </p:blipFill>
        <p:spPr>
          <a:xfrm>
            <a:off x="1166695" y="1951576"/>
            <a:ext cx="6810609" cy="1401226"/>
          </a:xfrm>
          <a:prstGeom prst="rect">
            <a:avLst/>
          </a:prstGeom>
        </p:spPr>
      </p:pic>
      <p:pic>
        <p:nvPicPr>
          <p:cNvPr id="7" name="Picture 6">
            <a:extLst>
              <a:ext uri="{FF2B5EF4-FFF2-40B4-BE49-F238E27FC236}">
                <a16:creationId xmlns:a16="http://schemas.microsoft.com/office/drawing/2014/main" id="{E5A59CA7-0096-4C8D-C19F-6059506E87E6}"/>
              </a:ext>
            </a:extLst>
          </p:cNvPr>
          <p:cNvPicPr>
            <a:picLocks noChangeAspect="1"/>
          </p:cNvPicPr>
          <p:nvPr/>
        </p:nvPicPr>
        <p:blipFill>
          <a:blip r:embed="rId3"/>
          <a:stretch>
            <a:fillRect/>
          </a:stretch>
        </p:blipFill>
        <p:spPr>
          <a:xfrm>
            <a:off x="1681360" y="4135495"/>
            <a:ext cx="5307269" cy="1562695"/>
          </a:xfrm>
          <a:prstGeom prst="rect">
            <a:avLst/>
          </a:prstGeom>
        </p:spPr>
      </p:pic>
      <p:sp>
        <p:nvSpPr>
          <p:cNvPr id="9" name="TextBox 8">
            <a:extLst>
              <a:ext uri="{FF2B5EF4-FFF2-40B4-BE49-F238E27FC236}">
                <a16:creationId xmlns:a16="http://schemas.microsoft.com/office/drawing/2014/main" id="{40FCB569-0506-A0DF-7E42-D40109B96326}"/>
              </a:ext>
            </a:extLst>
          </p:cNvPr>
          <p:cNvSpPr txBox="1"/>
          <p:nvPr/>
        </p:nvSpPr>
        <p:spPr>
          <a:xfrm>
            <a:off x="1426029" y="3504145"/>
            <a:ext cx="4572000" cy="369332"/>
          </a:xfrm>
          <a:prstGeom prst="rect">
            <a:avLst/>
          </a:prstGeom>
          <a:noFill/>
        </p:spPr>
        <p:txBody>
          <a:bodyPr wrap="square">
            <a:spAutoFit/>
          </a:bodyPr>
          <a:lstStyle/>
          <a:p>
            <a:r>
              <a:rPr lang="en-US" dirty="0">
                <a:latin typeface="Times New Roman" panose="02020603050405020304" pitchFamily="18" charset="0"/>
              </a:rPr>
              <a:t>and</a:t>
            </a:r>
            <a:endParaRPr lang="en-US" dirty="0"/>
          </a:p>
        </p:txBody>
      </p:sp>
      <p:sp>
        <p:nvSpPr>
          <p:cNvPr id="10" name="TextBox 9">
            <a:extLst>
              <a:ext uri="{FF2B5EF4-FFF2-40B4-BE49-F238E27FC236}">
                <a16:creationId xmlns:a16="http://schemas.microsoft.com/office/drawing/2014/main" id="{A09F39AD-538C-507E-1E71-F39489549C92}"/>
              </a:ext>
            </a:extLst>
          </p:cNvPr>
          <p:cNvSpPr txBox="1"/>
          <p:nvPr/>
        </p:nvSpPr>
        <p:spPr>
          <a:xfrm>
            <a:off x="8286750" y="4833648"/>
            <a:ext cx="457200" cy="369332"/>
          </a:xfrm>
          <a:prstGeom prst="rect">
            <a:avLst/>
          </a:prstGeom>
          <a:noFill/>
        </p:spPr>
        <p:txBody>
          <a:bodyPr wrap="square" rtlCol="0">
            <a:spAutoFit/>
          </a:bodyPr>
          <a:lstStyle/>
          <a:p>
            <a:r>
              <a:rPr lang="en-US" dirty="0"/>
              <a:t>(3)</a:t>
            </a:r>
          </a:p>
        </p:txBody>
      </p:sp>
    </p:spTree>
    <p:extLst>
      <p:ext uri="{BB962C8B-B14F-4D97-AF65-F5344CB8AC3E}">
        <p14:creationId xmlns:p14="http://schemas.microsoft.com/office/powerpoint/2010/main" val="1966894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9" grpId="0"/>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5459A-1988-2113-F545-D3110E08FA82}"/>
              </a:ext>
            </a:extLst>
          </p:cNvPr>
          <p:cNvSpPr>
            <a:spLocks noGrp="1"/>
          </p:cNvSpPr>
          <p:nvPr>
            <p:ph type="title"/>
          </p:nvPr>
        </p:nvSpPr>
        <p:spPr>
          <a:xfrm>
            <a:off x="628650" y="365127"/>
            <a:ext cx="7886700" cy="930274"/>
          </a:xfrm>
        </p:spPr>
        <p:txBody>
          <a:bodyPr/>
          <a:lstStyle/>
          <a:p>
            <a:r>
              <a:rPr lang="en-US" sz="4400" b="0" i="0" u="none" strike="noStrike" baseline="0" dirty="0">
                <a:latin typeface="Arial" panose="020B0604020202020204" pitchFamily="34" charset="0"/>
                <a:cs typeface="Arial" panose="020B0604020202020204" pitchFamily="34" charset="0"/>
              </a:rPr>
              <a:t>OFDM signal</a:t>
            </a:r>
            <a:endParaRPr lang="en-US" dirty="0"/>
          </a:p>
        </p:txBody>
      </p:sp>
      <p:pic>
        <p:nvPicPr>
          <p:cNvPr id="11" name="Picture 10">
            <a:extLst>
              <a:ext uri="{FF2B5EF4-FFF2-40B4-BE49-F238E27FC236}">
                <a16:creationId xmlns:a16="http://schemas.microsoft.com/office/drawing/2014/main" id="{72A3A5E5-D1B4-B380-2D84-A485701AEC95}"/>
              </a:ext>
            </a:extLst>
          </p:cNvPr>
          <p:cNvPicPr>
            <a:picLocks noChangeAspect="1"/>
          </p:cNvPicPr>
          <p:nvPr/>
        </p:nvPicPr>
        <p:blipFill>
          <a:blip r:embed="rId2"/>
          <a:stretch>
            <a:fillRect/>
          </a:stretch>
        </p:blipFill>
        <p:spPr>
          <a:xfrm>
            <a:off x="488478" y="2737688"/>
            <a:ext cx="7673085" cy="1099595"/>
          </a:xfrm>
          <a:prstGeom prst="rect">
            <a:avLst/>
          </a:prstGeom>
        </p:spPr>
      </p:pic>
      <p:sp>
        <p:nvSpPr>
          <p:cNvPr id="13" name="TextBox 12">
            <a:extLst>
              <a:ext uri="{FF2B5EF4-FFF2-40B4-BE49-F238E27FC236}">
                <a16:creationId xmlns:a16="http://schemas.microsoft.com/office/drawing/2014/main" id="{5F4C1F5F-6EEB-2AD5-13A6-0D63C18782E8}"/>
              </a:ext>
            </a:extLst>
          </p:cNvPr>
          <p:cNvSpPr txBox="1"/>
          <p:nvPr/>
        </p:nvSpPr>
        <p:spPr>
          <a:xfrm>
            <a:off x="545628" y="3990717"/>
            <a:ext cx="8165665" cy="369332"/>
          </a:xfrm>
          <a:prstGeom prst="rect">
            <a:avLst/>
          </a:prstGeom>
          <a:noFill/>
        </p:spPr>
        <p:txBody>
          <a:bodyPr wrap="square">
            <a:spAutoFit/>
          </a:bodyPr>
          <a:lstStyle/>
          <a:p>
            <a:r>
              <a:rPr lang="en-US" sz="1800" b="0" i="0" u="none" strike="noStrike" baseline="0" dirty="0">
                <a:latin typeface="Times New Roman" panose="02020603050405020304" pitchFamily="18" charset="0"/>
              </a:rPr>
              <a:t>Equation (4) turns out to be the </a:t>
            </a:r>
            <a:r>
              <a:rPr lang="en-US" sz="1800" b="0" i="1" u="none" strike="noStrike" baseline="0" dirty="0">
                <a:latin typeface="Times New Roman" panose="02020603050405020304" pitchFamily="18" charset="0"/>
              </a:rPr>
              <a:t>N</a:t>
            </a:r>
            <a:r>
              <a:rPr lang="en-US" sz="1800" b="0" i="0" u="none" strike="noStrike" baseline="0" dirty="0">
                <a:latin typeface="Times New Roman" panose="02020603050405020304" pitchFamily="18" charset="0"/>
              </a:rPr>
              <a:t>-point IDFT of PSK or QAM data symbols</a:t>
            </a:r>
          </a:p>
        </p:txBody>
      </p:sp>
      <p:sp>
        <p:nvSpPr>
          <p:cNvPr id="14" name="TextBox 13">
            <a:extLst>
              <a:ext uri="{FF2B5EF4-FFF2-40B4-BE49-F238E27FC236}">
                <a16:creationId xmlns:a16="http://schemas.microsoft.com/office/drawing/2014/main" id="{6CE2881D-DC28-CCBA-31C0-F289B13714F9}"/>
              </a:ext>
            </a:extLst>
          </p:cNvPr>
          <p:cNvSpPr txBox="1"/>
          <p:nvPr/>
        </p:nvSpPr>
        <p:spPr>
          <a:xfrm>
            <a:off x="7840436" y="3102819"/>
            <a:ext cx="457200" cy="369332"/>
          </a:xfrm>
          <a:prstGeom prst="rect">
            <a:avLst/>
          </a:prstGeom>
          <a:noFill/>
        </p:spPr>
        <p:txBody>
          <a:bodyPr wrap="square" rtlCol="0">
            <a:spAutoFit/>
          </a:bodyPr>
          <a:lstStyle/>
          <a:p>
            <a:r>
              <a:rPr lang="en-US" dirty="0"/>
              <a:t>(4)</a:t>
            </a:r>
          </a:p>
        </p:txBody>
      </p:sp>
      <p:sp>
        <p:nvSpPr>
          <p:cNvPr id="16" name="TextBox 15">
            <a:extLst>
              <a:ext uri="{FF2B5EF4-FFF2-40B4-BE49-F238E27FC236}">
                <a16:creationId xmlns:a16="http://schemas.microsoft.com/office/drawing/2014/main" id="{360F0A4A-933C-506E-8F22-F4E6FE9B5CAF}"/>
              </a:ext>
            </a:extLst>
          </p:cNvPr>
          <p:cNvSpPr txBox="1"/>
          <p:nvPr/>
        </p:nvSpPr>
        <p:spPr>
          <a:xfrm>
            <a:off x="628651" y="4405296"/>
            <a:ext cx="8082642" cy="646331"/>
          </a:xfrm>
          <a:prstGeom prst="rect">
            <a:avLst/>
          </a:prstGeom>
          <a:noFill/>
        </p:spPr>
        <p:txBody>
          <a:bodyPr wrap="square">
            <a:spAutoFit/>
          </a:bodyPr>
          <a:lstStyle/>
          <a:p>
            <a:pPr algn="l"/>
            <a:r>
              <a:rPr lang="en-US" dirty="0">
                <a:latin typeface="Times New Roman" panose="02020603050405020304" pitchFamily="18" charset="0"/>
              </a:rPr>
              <a:t>and can be computed efficiently by using the IFFT (Inverse Fast Fourier Transform) algorithm.</a:t>
            </a:r>
          </a:p>
        </p:txBody>
      </p:sp>
      <p:pic>
        <p:nvPicPr>
          <p:cNvPr id="18" name="Picture 17">
            <a:extLst>
              <a:ext uri="{FF2B5EF4-FFF2-40B4-BE49-F238E27FC236}">
                <a16:creationId xmlns:a16="http://schemas.microsoft.com/office/drawing/2014/main" id="{CAC5A046-EDB9-E4B4-D2F6-16F58CD6400A}"/>
              </a:ext>
            </a:extLst>
          </p:cNvPr>
          <p:cNvPicPr>
            <a:picLocks noChangeAspect="1"/>
          </p:cNvPicPr>
          <p:nvPr/>
        </p:nvPicPr>
        <p:blipFill>
          <a:blip r:embed="rId3"/>
          <a:stretch>
            <a:fillRect/>
          </a:stretch>
        </p:blipFill>
        <p:spPr>
          <a:xfrm>
            <a:off x="7643472" y="3937505"/>
            <a:ext cx="1308328" cy="475756"/>
          </a:xfrm>
          <a:prstGeom prst="rect">
            <a:avLst/>
          </a:prstGeom>
        </p:spPr>
      </p:pic>
      <p:pic>
        <p:nvPicPr>
          <p:cNvPr id="22" name="Picture 21">
            <a:extLst>
              <a:ext uri="{FF2B5EF4-FFF2-40B4-BE49-F238E27FC236}">
                <a16:creationId xmlns:a16="http://schemas.microsoft.com/office/drawing/2014/main" id="{C9FAA9CF-19CD-389E-985E-F0B7667186C0}"/>
              </a:ext>
            </a:extLst>
          </p:cNvPr>
          <p:cNvPicPr>
            <a:picLocks noChangeAspect="1"/>
          </p:cNvPicPr>
          <p:nvPr/>
        </p:nvPicPr>
        <p:blipFill>
          <a:blip r:embed="rId4"/>
          <a:stretch>
            <a:fillRect/>
          </a:stretch>
        </p:blipFill>
        <p:spPr>
          <a:xfrm>
            <a:off x="216353" y="1412027"/>
            <a:ext cx="8711293" cy="1002802"/>
          </a:xfrm>
          <a:prstGeom prst="rect">
            <a:avLst/>
          </a:prstGeom>
        </p:spPr>
      </p:pic>
      <p:sp>
        <p:nvSpPr>
          <p:cNvPr id="24" name="TextBox 23">
            <a:extLst>
              <a:ext uri="{FF2B5EF4-FFF2-40B4-BE49-F238E27FC236}">
                <a16:creationId xmlns:a16="http://schemas.microsoft.com/office/drawing/2014/main" id="{8F5C0329-3E8E-6B2D-18F4-27B44271BF2A}"/>
              </a:ext>
            </a:extLst>
          </p:cNvPr>
          <p:cNvSpPr txBox="1"/>
          <p:nvPr/>
        </p:nvSpPr>
        <p:spPr>
          <a:xfrm>
            <a:off x="5453744" y="1459721"/>
            <a:ext cx="522514" cy="369332"/>
          </a:xfrm>
          <a:prstGeom prst="rect">
            <a:avLst/>
          </a:prstGeom>
          <a:noFill/>
        </p:spPr>
        <p:txBody>
          <a:bodyPr wrap="square">
            <a:spAutoFit/>
          </a:bodyPr>
          <a:lstStyle/>
          <a:p>
            <a:r>
              <a:rPr lang="en-US" sz="1800" b="0" i="0" u="none" strike="noStrike" baseline="0" dirty="0">
                <a:latin typeface="Times New Roman" panose="02020603050405020304" pitchFamily="18" charset="0"/>
              </a:rPr>
              <a:t>(3)</a:t>
            </a:r>
            <a:endParaRPr lang="en-US" dirty="0"/>
          </a:p>
        </p:txBody>
      </p:sp>
    </p:spTree>
    <p:extLst>
      <p:ext uri="{BB962C8B-B14F-4D97-AF65-F5344CB8AC3E}">
        <p14:creationId xmlns:p14="http://schemas.microsoft.com/office/powerpoint/2010/main" val="41339073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50B5FD0-BD70-E825-4304-76EEF6C72B66}"/>
              </a:ext>
            </a:extLst>
          </p:cNvPr>
          <p:cNvGrpSpPr/>
          <p:nvPr/>
        </p:nvGrpSpPr>
        <p:grpSpPr>
          <a:xfrm>
            <a:off x="325849" y="1178166"/>
            <a:ext cx="8287473" cy="903624"/>
            <a:chOff x="325849" y="1178166"/>
            <a:chExt cx="8287473" cy="903624"/>
          </a:xfrm>
        </p:grpSpPr>
        <p:sp>
          <p:nvSpPr>
            <p:cNvPr id="5" name="TextBox 4">
              <a:extLst>
                <a:ext uri="{FF2B5EF4-FFF2-40B4-BE49-F238E27FC236}">
                  <a16:creationId xmlns:a16="http://schemas.microsoft.com/office/drawing/2014/main" id="{34F22202-DF5E-00FF-CEB0-C513031772CB}"/>
                </a:ext>
              </a:extLst>
            </p:cNvPr>
            <p:cNvSpPr txBox="1"/>
            <p:nvPr/>
          </p:nvSpPr>
          <p:spPr>
            <a:xfrm>
              <a:off x="325849" y="1712458"/>
              <a:ext cx="7655379" cy="369332"/>
            </a:xfrm>
            <a:prstGeom prst="rect">
              <a:avLst/>
            </a:prstGeom>
            <a:noFill/>
          </p:spPr>
          <p:txBody>
            <a:bodyPr wrap="square">
              <a:spAutoFit/>
            </a:bodyPr>
            <a:lstStyle/>
            <a:p>
              <a:r>
                <a:rPr lang="en-US" sz="1800" b="0" i="0" u="none" strike="noStrike" baseline="0" dirty="0">
                  <a:latin typeface="AdvP41153C"/>
                </a:rPr>
                <a:t>the orthogonality among the subcarriers in Equation (1) as follows:</a:t>
              </a:r>
              <a:endParaRPr lang="en-US" dirty="0"/>
            </a:p>
          </p:txBody>
        </p:sp>
        <p:pic>
          <p:nvPicPr>
            <p:cNvPr id="6" name="Picture 5">
              <a:extLst>
                <a:ext uri="{FF2B5EF4-FFF2-40B4-BE49-F238E27FC236}">
                  <a16:creationId xmlns:a16="http://schemas.microsoft.com/office/drawing/2014/main" id="{601D0134-5F9D-17A7-54B7-D6F530808862}"/>
                </a:ext>
              </a:extLst>
            </p:cNvPr>
            <p:cNvPicPr>
              <a:picLocks noChangeAspect="1"/>
            </p:cNvPicPr>
            <p:nvPr/>
          </p:nvPicPr>
          <p:blipFill>
            <a:blip r:embed="rId2"/>
            <a:stretch>
              <a:fillRect/>
            </a:stretch>
          </p:blipFill>
          <p:spPr>
            <a:xfrm>
              <a:off x="325849" y="1178166"/>
              <a:ext cx="8287473" cy="578734"/>
            </a:xfrm>
            <a:prstGeom prst="rect">
              <a:avLst/>
            </a:prstGeom>
          </p:spPr>
        </p:pic>
      </p:grpSp>
      <p:pic>
        <p:nvPicPr>
          <p:cNvPr id="9" name="Picture 8">
            <a:extLst>
              <a:ext uri="{FF2B5EF4-FFF2-40B4-BE49-F238E27FC236}">
                <a16:creationId xmlns:a16="http://schemas.microsoft.com/office/drawing/2014/main" id="{8F5187A2-D156-A6B1-E4AE-4983A4CF3AD0}"/>
              </a:ext>
            </a:extLst>
          </p:cNvPr>
          <p:cNvPicPr>
            <a:picLocks noChangeAspect="1"/>
          </p:cNvPicPr>
          <p:nvPr/>
        </p:nvPicPr>
        <p:blipFill>
          <a:blip r:embed="rId3"/>
          <a:stretch>
            <a:fillRect/>
          </a:stretch>
        </p:blipFill>
        <p:spPr>
          <a:xfrm>
            <a:off x="325849" y="2422553"/>
            <a:ext cx="8307268" cy="3335989"/>
          </a:xfrm>
          <a:prstGeom prst="rect">
            <a:avLst/>
          </a:prstGeom>
        </p:spPr>
      </p:pic>
      <p:sp>
        <p:nvSpPr>
          <p:cNvPr id="10" name="TextBox 9">
            <a:extLst>
              <a:ext uri="{FF2B5EF4-FFF2-40B4-BE49-F238E27FC236}">
                <a16:creationId xmlns:a16="http://schemas.microsoft.com/office/drawing/2014/main" id="{F7538D5B-CB53-D6CB-7945-E7864C573D95}"/>
              </a:ext>
            </a:extLst>
          </p:cNvPr>
          <p:cNvSpPr txBox="1"/>
          <p:nvPr/>
        </p:nvSpPr>
        <p:spPr>
          <a:xfrm>
            <a:off x="8175917" y="5310502"/>
            <a:ext cx="457200" cy="369332"/>
          </a:xfrm>
          <a:prstGeom prst="rect">
            <a:avLst/>
          </a:prstGeom>
          <a:noFill/>
        </p:spPr>
        <p:txBody>
          <a:bodyPr wrap="square" rtlCol="0">
            <a:spAutoFit/>
          </a:bodyPr>
          <a:lstStyle/>
          <a:p>
            <a:r>
              <a:rPr lang="en-US" dirty="0"/>
              <a:t>(5)</a:t>
            </a:r>
          </a:p>
        </p:txBody>
      </p:sp>
      <p:sp>
        <p:nvSpPr>
          <p:cNvPr id="12" name="TextBox 11">
            <a:extLst>
              <a:ext uri="{FF2B5EF4-FFF2-40B4-BE49-F238E27FC236}">
                <a16:creationId xmlns:a16="http://schemas.microsoft.com/office/drawing/2014/main" id="{C35E8DE1-8E85-AB41-1E5E-CD54AE633AC5}"/>
              </a:ext>
            </a:extLst>
          </p:cNvPr>
          <p:cNvSpPr txBox="1"/>
          <p:nvPr/>
        </p:nvSpPr>
        <p:spPr>
          <a:xfrm>
            <a:off x="1023256" y="5846542"/>
            <a:ext cx="7794173" cy="400110"/>
          </a:xfrm>
          <a:prstGeom prst="rect">
            <a:avLst/>
          </a:prstGeom>
          <a:noFill/>
        </p:spPr>
        <p:txBody>
          <a:bodyPr wrap="square">
            <a:spAutoFit/>
          </a:bodyPr>
          <a:lstStyle/>
          <a:p>
            <a:r>
              <a:rPr lang="en-US" sz="2000" b="0" i="0" u="none" strike="noStrike" baseline="0" dirty="0">
                <a:latin typeface="Arial" panose="020B0604020202020204" pitchFamily="34" charset="0"/>
                <a:cs typeface="Arial" panose="020B0604020202020204" pitchFamily="34" charset="0"/>
              </a:rPr>
              <a:t>where the effects of channel and noise are not taken into account</a:t>
            </a:r>
            <a:endParaRPr lang="en-US" sz="2000" dirty="0">
              <a:latin typeface="Arial" panose="020B0604020202020204" pitchFamily="34" charset="0"/>
              <a:cs typeface="Arial" panose="020B0604020202020204" pitchFamily="34" charset="0"/>
            </a:endParaRPr>
          </a:p>
        </p:txBody>
      </p:sp>
      <p:sp>
        <p:nvSpPr>
          <p:cNvPr id="13" name="Title 1">
            <a:extLst>
              <a:ext uri="{FF2B5EF4-FFF2-40B4-BE49-F238E27FC236}">
                <a16:creationId xmlns:a16="http://schemas.microsoft.com/office/drawing/2014/main" id="{CEA3E946-B882-C92C-698F-BDADE2525C2D}"/>
              </a:ext>
            </a:extLst>
          </p:cNvPr>
          <p:cNvSpPr>
            <a:spLocks noGrp="1"/>
          </p:cNvSpPr>
          <p:nvPr>
            <p:ph type="title"/>
          </p:nvPr>
        </p:nvSpPr>
        <p:spPr>
          <a:xfrm>
            <a:off x="628650" y="365125"/>
            <a:ext cx="7886700" cy="579438"/>
          </a:xfrm>
        </p:spPr>
        <p:txBody>
          <a:bodyPr>
            <a:normAutofit fontScale="90000"/>
          </a:bodyPr>
          <a:lstStyle/>
          <a:p>
            <a:r>
              <a:rPr lang="en-US" sz="4400" b="0" i="0" u="none" strike="noStrike" baseline="0" dirty="0">
                <a:latin typeface="Arial" panose="020B0604020202020204" pitchFamily="34" charset="0"/>
                <a:cs typeface="Arial" panose="020B0604020202020204" pitchFamily="34" charset="0"/>
              </a:rPr>
              <a:t>OFDM signal</a:t>
            </a:r>
            <a:endParaRPr lang="en-US" dirty="0"/>
          </a:p>
        </p:txBody>
      </p:sp>
    </p:spTree>
    <p:extLst>
      <p:ext uri="{BB962C8B-B14F-4D97-AF65-F5344CB8AC3E}">
        <p14:creationId xmlns:p14="http://schemas.microsoft.com/office/powerpoint/2010/main" val="38324270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FD0214A-631B-BE2E-2502-8CDE4AD7FEC9}"/>
              </a:ext>
            </a:extLst>
          </p:cNvPr>
          <p:cNvPicPr>
            <a:picLocks noChangeAspect="1"/>
          </p:cNvPicPr>
          <p:nvPr/>
        </p:nvPicPr>
        <p:blipFill>
          <a:blip r:embed="rId2"/>
          <a:stretch>
            <a:fillRect/>
          </a:stretch>
        </p:blipFill>
        <p:spPr>
          <a:xfrm>
            <a:off x="5105400" y="1711100"/>
            <a:ext cx="2891518" cy="394298"/>
          </a:xfrm>
          <a:prstGeom prst="rect">
            <a:avLst/>
          </a:prstGeom>
        </p:spPr>
      </p:pic>
      <p:sp>
        <p:nvSpPr>
          <p:cNvPr id="13" name="TextBox 12">
            <a:extLst>
              <a:ext uri="{FF2B5EF4-FFF2-40B4-BE49-F238E27FC236}">
                <a16:creationId xmlns:a16="http://schemas.microsoft.com/office/drawing/2014/main" id="{AC7E542A-B1A6-E39A-4162-E6B7FE167DC6}"/>
              </a:ext>
            </a:extLst>
          </p:cNvPr>
          <p:cNvSpPr txBox="1"/>
          <p:nvPr/>
        </p:nvSpPr>
        <p:spPr>
          <a:xfrm>
            <a:off x="3305175" y="1383669"/>
            <a:ext cx="4572000" cy="707886"/>
          </a:xfrm>
          <a:prstGeom prst="rect">
            <a:avLst/>
          </a:prstGeom>
          <a:noFill/>
        </p:spPr>
        <p:txBody>
          <a:bodyPr wrap="square">
            <a:spAutoFit/>
          </a:bodyPr>
          <a:lstStyle/>
          <a:p>
            <a:pPr algn="l"/>
            <a:r>
              <a:rPr lang="en-US" sz="2000" b="0" i="0" u="none" strike="noStrike" baseline="0" dirty="0">
                <a:latin typeface="Arial" panose="020B0604020202020204" pitchFamily="34" charset="0"/>
                <a:cs typeface="Arial" panose="020B0604020202020204" pitchFamily="34" charset="0"/>
              </a:rPr>
              <a:t>be the sample values of the received OFDM symbol</a:t>
            </a:r>
            <a:endParaRPr lang="en-US" sz="2000"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334551F3-69D9-C52E-E8F5-73A4A787D093}"/>
              </a:ext>
            </a:extLst>
          </p:cNvPr>
          <p:cNvSpPr txBox="1"/>
          <p:nvPr/>
        </p:nvSpPr>
        <p:spPr>
          <a:xfrm>
            <a:off x="857251" y="2164796"/>
            <a:ext cx="7886700" cy="707886"/>
          </a:xfrm>
          <a:prstGeom prst="rect">
            <a:avLst/>
          </a:prstGeom>
          <a:noFill/>
        </p:spPr>
        <p:txBody>
          <a:bodyPr wrap="square">
            <a:spAutoFit/>
          </a:bodyPr>
          <a:lstStyle/>
          <a:p>
            <a:pPr algn="l"/>
            <a:r>
              <a:rPr lang="en-US" sz="2000" b="0" i="0" u="none" strike="noStrike" baseline="0" dirty="0">
                <a:latin typeface="Arial" panose="020B0604020202020204" pitchFamily="34" charset="0"/>
                <a:cs typeface="Arial" panose="020B0604020202020204" pitchFamily="34" charset="0"/>
              </a:rPr>
              <a:t>Then, the integration in the modulation process of Equation (5) can be represented in the discrete time as follows:</a:t>
            </a:r>
            <a:endParaRPr lang="en-US" sz="2000" dirty="0">
              <a:latin typeface="Arial" panose="020B0604020202020204" pitchFamily="34" charset="0"/>
              <a:cs typeface="Arial" panose="020B0604020202020204" pitchFamily="34" charset="0"/>
            </a:endParaRPr>
          </a:p>
        </p:txBody>
      </p:sp>
      <p:pic>
        <p:nvPicPr>
          <p:cNvPr id="17" name="Picture 16">
            <a:extLst>
              <a:ext uri="{FF2B5EF4-FFF2-40B4-BE49-F238E27FC236}">
                <a16:creationId xmlns:a16="http://schemas.microsoft.com/office/drawing/2014/main" id="{EF766223-C5BE-5080-889F-4C58FA94B84C}"/>
              </a:ext>
            </a:extLst>
          </p:cNvPr>
          <p:cNvPicPr>
            <a:picLocks noChangeAspect="1"/>
          </p:cNvPicPr>
          <p:nvPr/>
        </p:nvPicPr>
        <p:blipFill>
          <a:blip r:embed="rId3"/>
          <a:stretch>
            <a:fillRect/>
          </a:stretch>
        </p:blipFill>
        <p:spPr>
          <a:xfrm>
            <a:off x="1543051" y="2829138"/>
            <a:ext cx="6334124" cy="3366925"/>
          </a:xfrm>
          <a:prstGeom prst="rect">
            <a:avLst/>
          </a:prstGeom>
        </p:spPr>
      </p:pic>
      <p:sp>
        <p:nvSpPr>
          <p:cNvPr id="19" name="TextBox 18">
            <a:extLst>
              <a:ext uri="{FF2B5EF4-FFF2-40B4-BE49-F238E27FC236}">
                <a16:creationId xmlns:a16="http://schemas.microsoft.com/office/drawing/2014/main" id="{76F58DE4-7EF9-31AA-F458-116466E2ABE9}"/>
              </a:ext>
            </a:extLst>
          </p:cNvPr>
          <p:cNvSpPr txBox="1"/>
          <p:nvPr/>
        </p:nvSpPr>
        <p:spPr>
          <a:xfrm>
            <a:off x="370115" y="6169708"/>
            <a:ext cx="8923566" cy="646331"/>
          </a:xfrm>
          <a:prstGeom prst="rect">
            <a:avLst/>
          </a:prstGeom>
          <a:noFill/>
        </p:spPr>
        <p:txBody>
          <a:bodyPr wrap="square">
            <a:spAutoFit/>
          </a:bodyPr>
          <a:lstStyle/>
          <a:p>
            <a:r>
              <a:rPr lang="en-US" sz="1800" b="0" i="0" u="none" strike="noStrike" baseline="0" dirty="0">
                <a:latin typeface="Times New Roman" panose="02020603050405020304" pitchFamily="18" charset="0"/>
              </a:rPr>
              <a:t>Equation (</a:t>
            </a:r>
            <a:r>
              <a:rPr lang="en-US" dirty="0">
                <a:latin typeface="Times New Roman" panose="02020603050405020304" pitchFamily="18" charset="0"/>
              </a:rPr>
              <a:t>6</a:t>
            </a:r>
            <a:r>
              <a:rPr lang="en-US" sz="1800" b="0" i="0" u="none" strike="noStrike" baseline="0" dirty="0">
                <a:latin typeface="Times New Roman" panose="02020603050405020304" pitchFamily="18" charset="0"/>
              </a:rPr>
              <a:t>) is the </a:t>
            </a:r>
            <a:r>
              <a:rPr lang="en-US" sz="1800" b="0" i="1" u="none" strike="noStrike" baseline="0" dirty="0">
                <a:latin typeface="Times New Roman" panose="02020603050405020304" pitchFamily="18" charset="0"/>
              </a:rPr>
              <a:t>N</a:t>
            </a:r>
            <a:r>
              <a:rPr lang="en-US" sz="1800" b="0" i="0" u="none" strike="noStrike" baseline="0" dirty="0">
                <a:latin typeface="Times New Roman" panose="02020603050405020304" pitchFamily="18" charset="0"/>
              </a:rPr>
              <a:t>-point DFT of                          and can be computed efficiently by using the FFT</a:t>
            </a:r>
          </a:p>
        </p:txBody>
      </p:sp>
      <p:sp>
        <p:nvSpPr>
          <p:cNvPr id="20" name="TextBox 19">
            <a:extLst>
              <a:ext uri="{FF2B5EF4-FFF2-40B4-BE49-F238E27FC236}">
                <a16:creationId xmlns:a16="http://schemas.microsoft.com/office/drawing/2014/main" id="{69CBCC8E-5960-0200-52F3-FC83B7B86665}"/>
              </a:ext>
            </a:extLst>
          </p:cNvPr>
          <p:cNvSpPr txBox="1"/>
          <p:nvPr/>
        </p:nvSpPr>
        <p:spPr>
          <a:xfrm>
            <a:off x="8175917" y="5310502"/>
            <a:ext cx="457200" cy="369332"/>
          </a:xfrm>
          <a:prstGeom prst="rect">
            <a:avLst/>
          </a:prstGeom>
          <a:noFill/>
        </p:spPr>
        <p:txBody>
          <a:bodyPr wrap="square" rtlCol="0">
            <a:spAutoFit/>
          </a:bodyPr>
          <a:lstStyle/>
          <a:p>
            <a:r>
              <a:rPr lang="en-US" dirty="0"/>
              <a:t>(6)</a:t>
            </a:r>
          </a:p>
        </p:txBody>
      </p:sp>
      <p:pic>
        <p:nvPicPr>
          <p:cNvPr id="23" name="Picture 22">
            <a:extLst>
              <a:ext uri="{FF2B5EF4-FFF2-40B4-BE49-F238E27FC236}">
                <a16:creationId xmlns:a16="http://schemas.microsoft.com/office/drawing/2014/main" id="{46C3BDA2-A18F-BC0E-4452-E4C5DE2A1FCE}"/>
              </a:ext>
            </a:extLst>
          </p:cNvPr>
          <p:cNvPicPr>
            <a:picLocks noChangeAspect="1"/>
          </p:cNvPicPr>
          <p:nvPr/>
        </p:nvPicPr>
        <p:blipFill>
          <a:blip r:embed="rId4"/>
          <a:stretch>
            <a:fillRect/>
          </a:stretch>
        </p:blipFill>
        <p:spPr>
          <a:xfrm>
            <a:off x="1266825" y="1320373"/>
            <a:ext cx="1609725" cy="647700"/>
          </a:xfrm>
          <a:prstGeom prst="rect">
            <a:avLst/>
          </a:prstGeom>
        </p:spPr>
      </p:pic>
      <p:pic>
        <p:nvPicPr>
          <p:cNvPr id="25" name="Picture 24">
            <a:extLst>
              <a:ext uri="{FF2B5EF4-FFF2-40B4-BE49-F238E27FC236}">
                <a16:creationId xmlns:a16="http://schemas.microsoft.com/office/drawing/2014/main" id="{D929C976-CAFF-C64C-5D04-739AB40B6A15}"/>
              </a:ext>
            </a:extLst>
          </p:cNvPr>
          <p:cNvPicPr>
            <a:picLocks noChangeAspect="1"/>
          </p:cNvPicPr>
          <p:nvPr/>
        </p:nvPicPr>
        <p:blipFill>
          <a:blip r:embed="rId4"/>
          <a:stretch>
            <a:fillRect/>
          </a:stretch>
        </p:blipFill>
        <p:spPr>
          <a:xfrm>
            <a:off x="3756251" y="6060010"/>
            <a:ext cx="1338263" cy="538473"/>
          </a:xfrm>
          <a:prstGeom prst="rect">
            <a:avLst/>
          </a:prstGeom>
        </p:spPr>
      </p:pic>
      <p:sp>
        <p:nvSpPr>
          <p:cNvPr id="26" name="Title 1">
            <a:extLst>
              <a:ext uri="{FF2B5EF4-FFF2-40B4-BE49-F238E27FC236}">
                <a16:creationId xmlns:a16="http://schemas.microsoft.com/office/drawing/2014/main" id="{04B93F7E-9165-8FE6-6B84-23F29A9532E3}"/>
              </a:ext>
            </a:extLst>
          </p:cNvPr>
          <p:cNvSpPr>
            <a:spLocks noGrp="1"/>
          </p:cNvSpPr>
          <p:nvPr>
            <p:ph type="title"/>
          </p:nvPr>
        </p:nvSpPr>
        <p:spPr>
          <a:xfrm>
            <a:off x="628650" y="365127"/>
            <a:ext cx="7886700" cy="930274"/>
          </a:xfrm>
        </p:spPr>
        <p:txBody>
          <a:bodyPr/>
          <a:lstStyle/>
          <a:p>
            <a:r>
              <a:rPr lang="en-US" sz="4400" b="0" i="0" u="none" strike="noStrike" baseline="0" dirty="0">
                <a:latin typeface="Arial" panose="020B0604020202020204" pitchFamily="34" charset="0"/>
                <a:cs typeface="Arial" panose="020B0604020202020204" pitchFamily="34" charset="0"/>
              </a:rPr>
              <a:t>OFDM signal</a:t>
            </a:r>
            <a:endParaRPr lang="en-US" dirty="0"/>
          </a:p>
        </p:txBody>
      </p:sp>
    </p:spTree>
    <p:extLst>
      <p:ext uri="{BB962C8B-B14F-4D97-AF65-F5344CB8AC3E}">
        <p14:creationId xmlns:p14="http://schemas.microsoft.com/office/powerpoint/2010/main" val="3292976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D3DAE-5316-043D-4963-1AEF09BF44CD}"/>
              </a:ext>
            </a:extLst>
          </p:cNvPr>
          <p:cNvSpPr>
            <a:spLocks noGrp="1"/>
          </p:cNvSpPr>
          <p:nvPr>
            <p:ph type="title"/>
          </p:nvPr>
        </p:nvSpPr>
        <p:spPr>
          <a:xfrm>
            <a:off x="628650" y="506644"/>
            <a:ext cx="7886700" cy="222703"/>
          </a:xfrm>
        </p:spPr>
        <p:txBody>
          <a:bodyPr>
            <a:noAutofit/>
          </a:bodyPr>
          <a:lstStyle/>
          <a:p>
            <a:r>
              <a:rPr lang="en-US" sz="3600" dirty="0">
                <a:latin typeface="Arial" panose="020B0604020202020204" pitchFamily="34" charset="0"/>
                <a:cs typeface="Arial" panose="020B0604020202020204" pitchFamily="34" charset="0"/>
              </a:rPr>
              <a:t>B</a:t>
            </a:r>
            <a:r>
              <a:rPr lang="en-US" sz="3600" b="0" i="0" u="none" strike="noStrike" baseline="0" dirty="0">
                <a:latin typeface="Arial" panose="020B0604020202020204" pitchFamily="34" charset="0"/>
                <a:cs typeface="Arial" panose="020B0604020202020204" pitchFamily="34" charset="0"/>
              </a:rPr>
              <a:t>lock diagram of OFDM modulation and demodulation: N = 6</a:t>
            </a:r>
            <a:endParaRPr lang="en-US" sz="36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855F5532-67F3-D4DA-F7D8-8CB68ECB12BD}"/>
              </a:ext>
            </a:extLst>
          </p:cNvPr>
          <p:cNvPicPr>
            <a:picLocks noChangeAspect="1"/>
          </p:cNvPicPr>
          <p:nvPr/>
        </p:nvPicPr>
        <p:blipFill>
          <a:blip r:embed="rId2"/>
          <a:stretch>
            <a:fillRect/>
          </a:stretch>
        </p:blipFill>
        <p:spPr>
          <a:xfrm>
            <a:off x="17082" y="1099458"/>
            <a:ext cx="9083374" cy="3547800"/>
          </a:xfrm>
          <a:prstGeom prst="rect">
            <a:avLst/>
          </a:prstGeom>
        </p:spPr>
      </p:pic>
      <p:pic>
        <p:nvPicPr>
          <p:cNvPr id="7" name="Picture 6">
            <a:extLst>
              <a:ext uri="{FF2B5EF4-FFF2-40B4-BE49-F238E27FC236}">
                <a16:creationId xmlns:a16="http://schemas.microsoft.com/office/drawing/2014/main" id="{07AF04B7-B5AD-B1BA-00CB-4F7A56D12234}"/>
              </a:ext>
            </a:extLst>
          </p:cNvPr>
          <p:cNvPicPr>
            <a:picLocks noChangeAspect="1"/>
          </p:cNvPicPr>
          <p:nvPr/>
        </p:nvPicPr>
        <p:blipFill>
          <a:blip r:embed="rId3"/>
          <a:stretch>
            <a:fillRect/>
          </a:stretch>
        </p:blipFill>
        <p:spPr>
          <a:xfrm>
            <a:off x="1682739" y="4549286"/>
            <a:ext cx="6340032" cy="2168171"/>
          </a:xfrm>
          <a:prstGeom prst="rect">
            <a:avLst/>
          </a:prstGeom>
        </p:spPr>
      </p:pic>
    </p:spTree>
    <p:extLst>
      <p:ext uri="{BB962C8B-B14F-4D97-AF65-F5344CB8AC3E}">
        <p14:creationId xmlns:p14="http://schemas.microsoft.com/office/powerpoint/2010/main" val="3125274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2904F-FD5D-4BC2-597D-8D82B9C0F2AA}"/>
              </a:ext>
            </a:extLst>
          </p:cNvPr>
          <p:cNvSpPr>
            <a:spLocks noGrp="1"/>
          </p:cNvSpPr>
          <p:nvPr>
            <p:ph type="title"/>
          </p:nvPr>
        </p:nvSpPr>
        <p:spPr>
          <a:xfrm>
            <a:off x="628650" y="495759"/>
            <a:ext cx="7886700" cy="233588"/>
          </a:xfrm>
        </p:spPr>
        <p:txBody>
          <a:bodyPr>
            <a:noAutofit/>
          </a:bodyPr>
          <a:lstStyle/>
          <a:p>
            <a:r>
              <a:rPr lang="en-US" sz="3600" b="0" i="0" u="none" strike="noStrike" baseline="0" dirty="0">
                <a:latin typeface="Arial" panose="020B0604020202020204" pitchFamily="34" charset="0"/>
                <a:cs typeface="Arial" panose="020B0604020202020204" pitchFamily="34" charset="0"/>
              </a:rPr>
              <a:t>Block diagram of transmitter and receiver in an OFDM system.ar</a:t>
            </a:r>
            <a:endParaRPr lang="en-US" sz="36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F5C23635-F51A-84D8-AD6A-E99A1A330E72}"/>
              </a:ext>
            </a:extLst>
          </p:cNvPr>
          <p:cNvPicPr>
            <a:picLocks noChangeAspect="1"/>
          </p:cNvPicPr>
          <p:nvPr/>
        </p:nvPicPr>
        <p:blipFill>
          <a:blip r:embed="rId2"/>
          <a:stretch>
            <a:fillRect/>
          </a:stretch>
        </p:blipFill>
        <p:spPr>
          <a:xfrm>
            <a:off x="-4" y="1602412"/>
            <a:ext cx="9144000" cy="3979743"/>
          </a:xfrm>
          <a:prstGeom prst="rect">
            <a:avLst/>
          </a:prstGeom>
        </p:spPr>
      </p:pic>
    </p:spTree>
    <p:extLst>
      <p:ext uri="{BB962C8B-B14F-4D97-AF65-F5344CB8AC3E}">
        <p14:creationId xmlns:p14="http://schemas.microsoft.com/office/powerpoint/2010/main" val="23258440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CCB62-2E03-0146-AFB9-1BB9562436D3}"/>
              </a:ext>
            </a:extLst>
          </p:cNvPr>
          <p:cNvSpPr>
            <a:spLocks noGrp="1"/>
          </p:cNvSpPr>
          <p:nvPr>
            <p:ph type="title"/>
          </p:nvPr>
        </p:nvSpPr>
        <p:spPr>
          <a:xfrm>
            <a:off x="628650" y="103869"/>
            <a:ext cx="7886700" cy="1325563"/>
          </a:xfrm>
        </p:spPr>
        <p:txBody>
          <a:bodyPr>
            <a:normAutofit/>
          </a:bodyPr>
          <a:lstStyle/>
          <a:p>
            <a:r>
              <a:rPr lang="en-US" sz="3600" b="0" i="0" u="none" strike="noStrike" baseline="0" dirty="0">
                <a:latin typeface="Arial" panose="020B0604020202020204" pitchFamily="34" charset="0"/>
                <a:cs typeface="Arial" panose="020B0604020202020204" pitchFamily="34" charset="0"/>
              </a:rPr>
              <a:t>Effect of Multipath Channel on OFDM Symbols</a:t>
            </a:r>
            <a:endParaRPr lang="en-US" sz="360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5AAEA5CE-E58A-4290-5975-F238F8F1CEAC}"/>
              </a:ext>
            </a:extLst>
          </p:cNvPr>
          <p:cNvSpPr txBox="1"/>
          <p:nvPr/>
        </p:nvSpPr>
        <p:spPr>
          <a:xfrm>
            <a:off x="729343" y="1429432"/>
            <a:ext cx="4572000" cy="400110"/>
          </a:xfrm>
          <a:prstGeom prst="rect">
            <a:avLst/>
          </a:prstGeom>
          <a:noFill/>
        </p:spPr>
        <p:txBody>
          <a:bodyPr wrap="square">
            <a:spAutoFit/>
          </a:bodyPr>
          <a:lstStyle/>
          <a:p>
            <a:r>
              <a:rPr lang="en-US" sz="2000" b="0" i="0" u="none" strike="noStrike" baseline="0" dirty="0">
                <a:latin typeface="Times New Roman" panose="02020603050405020304" pitchFamily="18" charset="0"/>
              </a:rPr>
              <a:t>Consider the </a:t>
            </a:r>
            <a:r>
              <a:rPr lang="en-US" sz="2000" b="0" i="1" u="none" strike="noStrike" baseline="0" dirty="0">
                <a:latin typeface="Times New Roman" panose="02020603050405020304" pitchFamily="18" charset="0"/>
              </a:rPr>
              <a:t>l</a:t>
            </a:r>
            <a:r>
              <a:rPr lang="en-US" sz="2000" b="0" i="0" u="none" strike="noStrike" baseline="0" dirty="0">
                <a:latin typeface="Times New Roman" panose="02020603050405020304" pitchFamily="18" charset="0"/>
              </a:rPr>
              <a:t>th OFDM signal,</a:t>
            </a:r>
          </a:p>
        </p:txBody>
      </p:sp>
      <p:pic>
        <p:nvPicPr>
          <p:cNvPr id="15" name="Picture 14">
            <a:extLst>
              <a:ext uri="{FF2B5EF4-FFF2-40B4-BE49-F238E27FC236}">
                <a16:creationId xmlns:a16="http://schemas.microsoft.com/office/drawing/2014/main" id="{8550BE8C-2C17-7F33-1B55-77C841CA68F8}"/>
              </a:ext>
            </a:extLst>
          </p:cNvPr>
          <p:cNvPicPr>
            <a:picLocks noChangeAspect="1"/>
          </p:cNvPicPr>
          <p:nvPr/>
        </p:nvPicPr>
        <p:blipFill>
          <a:blip r:embed="rId2"/>
          <a:stretch>
            <a:fillRect/>
          </a:stretch>
        </p:blipFill>
        <p:spPr>
          <a:xfrm>
            <a:off x="5301343" y="2918371"/>
            <a:ext cx="3090027" cy="513934"/>
          </a:xfrm>
          <a:prstGeom prst="rect">
            <a:avLst/>
          </a:prstGeom>
        </p:spPr>
      </p:pic>
      <p:sp>
        <p:nvSpPr>
          <p:cNvPr id="17" name="TextBox 16">
            <a:extLst>
              <a:ext uri="{FF2B5EF4-FFF2-40B4-BE49-F238E27FC236}">
                <a16:creationId xmlns:a16="http://schemas.microsoft.com/office/drawing/2014/main" id="{2FA756FC-8144-EF12-BB07-42C0254E03F9}"/>
              </a:ext>
            </a:extLst>
          </p:cNvPr>
          <p:cNvSpPr txBox="1"/>
          <p:nvPr/>
        </p:nvSpPr>
        <p:spPr>
          <a:xfrm>
            <a:off x="0" y="3803040"/>
            <a:ext cx="8800034" cy="400110"/>
          </a:xfrm>
          <a:prstGeom prst="rect">
            <a:avLst/>
          </a:prstGeom>
          <a:noFill/>
        </p:spPr>
        <p:txBody>
          <a:bodyPr wrap="square">
            <a:spAutoFit/>
          </a:bodyPr>
          <a:lstStyle/>
          <a:p>
            <a:pPr marR="1090" algn="r"/>
            <a:r>
              <a:rPr lang="en-US" sz="2000" b="0" i="0" u="none" strike="noStrike" baseline="0" dirty="0">
                <a:latin typeface="Times New Roman" panose="02020603050405020304" pitchFamily="18" charset="0"/>
              </a:rPr>
              <a:t>   For the channel with an impulse response of         	the received signal is given as</a:t>
            </a:r>
          </a:p>
        </p:txBody>
      </p:sp>
      <p:pic>
        <p:nvPicPr>
          <p:cNvPr id="19" name="Picture 18">
            <a:extLst>
              <a:ext uri="{FF2B5EF4-FFF2-40B4-BE49-F238E27FC236}">
                <a16:creationId xmlns:a16="http://schemas.microsoft.com/office/drawing/2014/main" id="{63928D27-52D1-A61A-FF0F-8B36CA762B87}"/>
              </a:ext>
            </a:extLst>
          </p:cNvPr>
          <p:cNvPicPr>
            <a:picLocks noChangeAspect="1"/>
          </p:cNvPicPr>
          <p:nvPr/>
        </p:nvPicPr>
        <p:blipFill>
          <a:blip r:embed="rId3"/>
          <a:stretch>
            <a:fillRect/>
          </a:stretch>
        </p:blipFill>
        <p:spPr>
          <a:xfrm>
            <a:off x="4920343" y="3848276"/>
            <a:ext cx="696686" cy="365760"/>
          </a:xfrm>
          <a:prstGeom prst="rect">
            <a:avLst/>
          </a:prstGeom>
        </p:spPr>
      </p:pic>
      <p:pic>
        <p:nvPicPr>
          <p:cNvPr id="21" name="Picture 20">
            <a:extLst>
              <a:ext uri="{FF2B5EF4-FFF2-40B4-BE49-F238E27FC236}">
                <a16:creationId xmlns:a16="http://schemas.microsoft.com/office/drawing/2014/main" id="{BADE3905-2AFB-36D6-BAA7-8CA7056CB4A6}"/>
              </a:ext>
            </a:extLst>
          </p:cNvPr>
          <p:cNvPicPr>
            <a:picLocks noChangeAspect="1"/>
          </p:cNvPicPr>
          <p:nvPr/>
        </p:nvPicPr>
        <p:blipFill>
          <a:blip r:embed="rId4"/>
          <a:stretch>
            <a:fillRect/>
          </a:stretch>
        </p:blipFill>
        <p:spPr>
          <a:xfrm>
            <a:off x="476250" y="4373563"/>
            <a:ext cx="8191500" cy="1066800"/>
          </a:xfrm>
          <a:prstGeom prst="rect">
            <a:avLst/>
          </a:prstGeom>
        </p:spPr>
      </p:pic>
      <p:pic>
        <p:nvPicPr>
          <p:cNvPr id="25" name="Picture 24">
            <a:extLst>
              <a:ext uri="{FF2B5EF4-FFF2-40B4-BE49-F238E27FC236}">
                <a16:creationId xmlns:a16="http://schemas.microsoft.com/office/drawing/2014/main" id="{632A3C74-775F-F15B-5E69-BE8033C39B45}"/>
              </a:ext>
            </a:extLst>
          </p:cNvPr>
          <p:cNvPicPr>
            <a:picLocks noChangeAspect="1"/>
          </p:cNvPicPr>
          <p:nvPr/>
        </p:nvPicPr>
        <p:blipFill>
          <a:blip r:embed="rId5"/>
          <a:stretch>
            <a:fillRect/>
          </a:stretch>
        </p:blipFill>
        <p:spPr>
          <a:xfrm>
            <a:off x="867611" y="1934940"/>
            <a:ext cx="6307396" cy="874096"/>
          </a:xfrm>
          <a:prstGeom prst="rect">
            <a:avLst/>
          </a:prstGeom>
        </p:spPr>
      </p:pic>
      <p:pic>
        <p:nvPicPr>
          <p:cNvPr id="27" name="Picture 26">
            <a:extLst>
              <a:ext uri="{FF2B5EF4-FFF2-40B4-BE49-F238E27FC236}">
                <a16:creationId xmlns:a16="http://schemas.microsoft.com/office/drawing/2014/main" id="{2ADA73F2-6AEC-F0E2-377D-DD8E2117BBF3}"/>
              </a:ext>
            </a:extLst>
          </p:cNvPr>
          <p:cNvPicPr>
            <a:picLocks noChangeAspect="1"/>
          </p:cNvPicPr>
          <p:nvPr/>
        </p:nvPicPr>
        <p:blipFill>
          <a:blip r:embed="rId6"/>
          <a:stretch>
            <a:fillRect/>
          </a:stretch>
        </p:blipFill>
        <p:spPr>
          <a:xfrm>
            <a:off x="4920343" y="5723029"/>
            <a:ext cx="3619500" cy="638175"/>
          </a:xfrm>
          <a:prstGeom prst="rect">
            <a:avLst/>
          </a:prstGeom>
        </p:spPr>
      </p:pic>
      <p:sp>
        <p:nvSpPr>
          <p:cNvPr id="29" name="TextBox 28">
            <a:extLst>
              <a:ext uri="{FF2B5EF4-FFF2-40B4-BE49-F238E27FC236}">
                <a16:creationId xmlns:a16="http://schemas.microsoft.com/office/drawing/2014/main" id="{2AAE8BF8-F684-5AED-31D0-96EFB6A6E6D2}"/>
              </a:ext>
            </a:extLst>
          </p:cNvPr>
          <p:cNvSpPr txBox="1"/>
          <p:nvPr/>
        </p:nvSpPr>
        <p:spPr>
          <a:xfrm>
            <a:off x="3690257" y="5243902"/>
            <a:ext cx="881743" cy="369332"/>
          </a:xfrm>
          <a:prstGeom prst="rect">
            <a:avLst/>
          </a:prstGeom>
          <a:noFill/>
        </p:spPr>
        <p:txBody>
          <a:bodyPr wrap="square">
            <a:spAutoFit/>
          </a:bodyPr>
          <a:lstStyle/>
          <a:p>
            <a:r>
              <a:rPr lang="en-US" sz="1800" b="0" i="0" u="none" strike="noStrike" baseline="0" dirty="0">
                <a:latin typeface="AdvP41153C"/>
              </a:rPr>
              <a:t>AWGN</a:t>
            </a:r>
            <a:endParaRPr lang="en-US" dirty="0"/>
          </a:p>
        </p:txBody>
      </p:sp>
      <p:sp>
        <p:nvSpPr>
          <p:cNvPr id="31" name="TextBox 30">
            <a:extLst>
              <a:ext uri="{FF2B5EF4-FFF2-40B4-BE49-F238E27FC236}">
                <a16:creationId xmlns:a16="http://schemas.microsoft.com/office/drawing/2014/main" id="{5FA09F7A-E039-1A35-C945-584DFF54CB90}"/>
              </a:ext>
            </a:extLst>
          </p:cNvPr>
          <p:cNvSpPr txBox="1"/>
          <p:nvPr/>
        </p:nvSpPr>
        <p:spPr>
          <a:xfrm>
            <a:off x="8439150" y="5617632"/>
            <a:ext cx="457200" cy="369332"/>
          </a:xfrm>
          <a:prstGeom prst="rect">
            <a:avLst/>
          </a:prstGeom>
          <a:noFill/>
        </p:spPr>
        <p:txBody>
          <a:bodyPr wrap="square" rtlCol="0">
            <a:spAutoFit/>
          </a:bodyPr>
          <a:lstStyle/>
          <a:p>
            <a:r>
              <a:rPr lang="en-US" dirty="0"/>
              <a:t>(7)</a:t>
            </a:r>
          </a:p>
        </p:txBody>
      </p:sp>
    </p:spTree>
    <p:extLst>
      <p:ext uri="{BB962C8B-B14F-4D97-AF65-F5344CB8AC3E}">
        <p14:creationId xmlns:p14="http://schemas.microsoft.com/office/powerpoint/2010/main" val="1148190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7" grpId="0"/>
      <p:bldP spid="2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44CD052-D531-37A2-8A73-CC184D15AC8F}"/>
              </a:ext>
            </a:extLst>
          </p:cNvPr>
          <p:cNvSpPr txBox="1"/>
          <p:nvPr/>
        </p:nvSpPr>
        <p:spPr>
          <a:xfrm>
            <a:off x="628650" y="1397521"/>
            <a:ext cx="7886700" cy="707886"/>
          </a:xfrm>
          <a:prstGeom prst="rect">
            <a:avLst/>
          </a:prstGeom>
          <a:noFill/>
        </p:spPr>
        <p:txBody>
          <a:bodyPr wrap="square">
            <a:spAutoFit/>
          </a:bodyPr>
          <a:lstStyle/>
          <a:p>
            <a:pPr algn="l"/>
            <a:r>
              <a:rPr lang="en-US" sz="2000" b="0" i="0" u="none" strike="noStrike" baseline="0" dirty="0">
                <a:latin typeface="AdvP41153C"/>
              </a:rPr>
              <a:t>Taking the samples of Equation (</a:t>
            </a:r>
            <a:r>
              <a:rPr lang="en-US" sz="2000" dirty="0">
                <a:latin typeface="AdvP41153C"/>
              </a:rPr>
              <a:t>7</a:t>
            </a:r>
            <a:r>
              <a:rPr lang="en-US" sz="2000" b="0" i="0" u="none" strike="noStrike" baseline="0" dirty="0">
                <a:latin typeface="AdvP41153C"/>
              </a:rPr>
              <a:t>) at                               Equation (</a:t>
            </a:r>
            <a:r>
              <a:rPr lang="en-US" sz="2000" dirty="0">
                <a:latin typeface="AdvP41153C"/>
              </a:rPr>
              <a:t>7</a:t>
            </a:r>
            <a:r>
              <a:rPr lang="en-US" sz="2000" b="0" i="0" u="none" strike="noStrike" baseline="0" dirty="0">
                <a:latin typeface="AdvP41153C"/>
              </a:rPr>
              <a:t>) can be represented in a discrete time as follows:</a:t>
            </a:r>
            <a:endParaRPr lang="en-US" sz="2000" dirty="0"/>
          </a:p>
        </p:txBody>
      </p:sp>
      <p:pic>
        <p:nvPicPr>
          <p:cNvPr id="11" name="Picture 10">
            <a:extLst>
              <a:ext uri="{FF2B5EF4-FFF2-40B4-BE49-F238E27FC236}">
                <a16:creationId xmlns:a16="http://schemas.microsoft.com/office/drawing/2014/main" id="{C5050083-7C41-2E92-37BB-BAA01391D8A6}"/>
              </a:ext>
            </a:extLst>
          </p:cNvPr>
          <p:cNvPicPr>
            <a:picLocks noChangeAspect="1"/>
          </p:cNvPicPr>
          <p:nvPr/>
        </p:nvPicPr>
        <p:blipFill>
          <a:blip r:embed="rId2"/>
          <a:stretch>
            <a:fillRect/>
          </a:stretch>
        </p:blipFill>
        <p:spPr>
          <a:xfrm>
            <a:off x="4659086" y="1498546"/>
            <a:ext cx="1582012" cy="290775"/>
          </a:xfrm>
          <a:prstGeom prst="rect">
            <a:avLst/>
          </a:prstGeom>
        </p:spPr>
      </p:pic>
      <p:pic>
        <p:nvPicPr>
          <p:cNvPr id="15" name="Picture 14">
            <a:extLst>
              <a:ext uri="{FF2B5EF4-FFF2-40B4-BE49-F238E27FC236}">
                <a16:creationId xmlns:a16="http://schemas.microsoft.com/office/drawing/2014/main" id="{EAC8EE48-C65B-3616-6C50-B6EEFE330AEC}"/>
              </a:ext>
            </a:extLst>
          </p:cNvPr>
          <p:cNvPicPr>
            <a:picLocks noChangeAspect="1"/>
          </p:cNvPicPr>
          <p:nvPr/>
        </p:nvPicPr>
        <p:blipFill>
          <a:blip r:embed="rId3"/>
          <a:stretch>
            <a:fillRect/>
          </a:stretch>
        </p:blipFill>
        <p:spPr>
          <a:xfrm>
            <a:off x="628650" y="2503715"/>
            <a:ext cx="7830933" cy="1193021"/>
          </a:xfrm>
          <a:prstGeom prst="rect">
            <a:avLst/>
          </a:prstGeom>
        </p:spPr>
      </p:pic>
      <p:pic>
        <p:nvPicPr>
          <p:cNvPr id="17" name="Picture 16">
            <a:extLst>
              <a:ext uri="{FF2B5EF4-FFF2-40B4-BE49-F238E27FC236}">
                <a16:creationId xmlns:a16="http://schemas.microsoft.com/office/drawing/2014/main" id="{0E055F70-853E-6DA1-2BB4-52C386032ACE}"/>
              </a:ext>
            </a:extLst>
          </p:cNvPr>
          <p:cNvPicPr>
            <a:picLocks noChangeAspect="1"/>
          </p:cNvPicPr>
          <p:nvPr/>
        </p:nvPicPr>
        <p:blipFill>
          <a:blip r:embed="rId4"/>
          <a:stretch>
            <a:fillRect/>
          </a:stretch>
        </p:blipFill>
        <p:spPr>
          <a:xfrm>
            <a:off x="628650" y="3845233"/>
            <a:ext cx="6852213" cy="335666"/>
          </a:xfrm>
          <a:prstGeom prst="rect">
            <a:avLst/>
          </a:prstGeom>
        </p:spPr>
      </p:pic>
      <p:sp>
        <p:nvSpPr>
          <p:cNvPr id="18" name="Title 1">
            <a:extLst>
              <a:ext uri="{FF2B5EF4-FFF2-40B4-BE49-F238E27FC236}">
                <a16:creationId xmlns:a16="http://schemas.microsoft.com/office/drawing/2014/main" id="{34C9FDCE-BD39-34B1-7025-29544FD2EFB0}"/>
              </a:ext>
            </a:extLst>
          </p:cNvPr>
          <p:cNvSpPr>
            <a:spLocks noGrp="1"/>
          </p:cNvSpPr>
          <p:nvPr>
            <p:ph type="title"/>
          </p:nvPr>
        </p:nvSpPr>
        <p:spPr>
          <a:xfrm>
            <a:off x="628650" y="0"/>
            <a:ext cx="7886700" cy="1325563"/>
          </a:xfrm>
        </p:spPr>
        <p:txBody>
          <a:bodyPr>
            <a:normAutofit/>
          </a:bodyPr>
          <a:lstStyle/>
          <a:p>
            <a:r>
              <a:rPr lang="en-US" sz="3600" b="0" i="0" u="none" strike="noStrike" baseline="0" dirty="0">
                <a:latin typeface="Arial" panose="020B0604020202020204" pitchFamily="34" charset="0"/>
                <a:cs typeface="Arial" panose="020B0604020202020204" pitchFamily="34" charset="0"/>
              </a:rPr>
              <a:t>Effect of Multipath Channel on OFDM Symbols</a:t>
            </a:r>
            <a:endParaRPr lang="en-US" sz="3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04195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1E6A4-781F-0823-D34A-672AFF558075}"/>
              </a:ext>
            </a:extLst>
          </p:cNvPr>
          <p:cNvSpPr>
            <a:spLocks noGrp="1"/>
          </p:cNvSpPr>
          <p:nvPr>
            <p:ph type="title"/>
          </p:nvPr>
        </p:nvSpPr>
        <p:spPr>
          <a:xfrm>
            <a:off x="628650" y="180096"/>
            <a:ext cx="7886700" cy="603703"/>
          </a:xfrm>
        </p:spPr>
        <p:txBody>
          <a:bodyPr>
            <a:normAutofit fontScale="90000"/>
          </a:bodyPr>
          <a:lstStyle/>
          <a:p>
            <a:r>
              <a:rPr lang="en-US" sz="3600" dirty="0">
                <a:latin typeface="Arial" panose="020B0604020202020204" pitchFamily="34" charset="0"/>
                <a:cs typeface="Arial" panose="020B0604020202020204" pitchFamily="34" charset="0"/>
              </a:rPr>
              <a:t>E</a:t>
            </a:r>
            <a:r>
              <a:rPr lang="en-US" sz="3600" b="0" i="0" u="none" strike="noStrike" baseline="0" dirty="0">
                <a:latin typeface="Arial" panose="020B0604020202020204" pitchFamily="34" charset="0"/>
                <a:cs typeface="Arial" panose="020B0604020202020204" pitchFamily="34" charset="0"/>
              </a:rPr>
              <a:t>xamples for the discrete-time channel</a:t>
            </a:r>
            <a:endParaRPr lang="en-US" sz="36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74410FEE-74B8-2DEF-5885-6EE6243B8132}"/>
              </a:ext>
            </a:extLst>
          </p:cNvPr>
          <p:cNvPicPr>
            <a:picLocks noChangeAspect="1"/>
          </p:cNvPicPr>
          <p:nvPr/>
        </p:nvPicPr>
        <p:blipFill>
          <a:blip r:embed="rId3"/>
          <a:stretch>
            <a:fillRect/>
          </a:stretch>
        </p:blipFill>
        <p:spPr>
          <a:xfrm>
            <a:off x="636608" y="1003005"/>
            <a:ext cx="3935392" cy="1869311"/>
          </a:xfrm>
          <a:prstGeom prst="rect">
            <a:avLst/>
          </a:prstGeom>
        </p:spPr>
      </p:pic>
      <p:pic>
        <p:nvPicPr>
          <p:cNvPr id="9" name="Picture 8">
            <a:extLst>
              <a:ext uri="{FF2B5EF4-FFF2-40B4-BE49-F238E27FC236}">
                <a16:creationId xmlns:a16="http://schemas.microsoft.com/office/drawing/2014/main" id="{1FE3D81B-8727-BDE6-5229-C30239411C0E}"/>
              </a:ext>
            </a:extLst>
          </p:cNvPr>
          <p:cNvPicPr>
            <a:picLocks noChangeAspect="1"/>
          </p:cNvPicPr>
          <p:nvPr/>
        </p:nvPicPr>
        <p:blipFill>
          <a:blip r:embed="rId4"/>
          <a:stretch>
            <a:fillRect/>
          </a:stretch>
        </p:blipFill>
        <p:spPr>
          <a:xfrm>
            <a:off x="4872941" y="1003005"/>
            <a:ext cx="3634451" cy="1961909"/>
          </a:xfrm>
          <a:prstGeom prst="rect">
            <a:avLst/>
          </a:prstGeom>
        </p:spPr>
      </p:pic>
      <p:pic>
        <p:nvPicPr>
          <p:cNvPr id="11" name="Picture 10">
            <a:extLst>
              <a:ext uri="{FF2B5EF4-FFF2-40B4-BE49-F238E27FC236}">
                <a16:creationId xmlns:a16="http://schemas.microsoft.com/office/drawing/2014/main" id="{D51BCF96-E94F-64EB-648C-6C269503D772}"/>
              </a:ext>
            </a:extLst>
          </p:cNvPr>
          <p:cNvPicPr>
            <a:picLocks noChangeAspect="1"/>
          </p:cNvPicPr>
          <p:nvPr/>
        </p:nvPicPr>
        <p:blipFill>
          <a:blip r:embed="rId5"/>
          <a:stretch>
            <a:fillRect/>
          </a:stretch>
        </p:blipFill>
        <p:spPr>
          <a:xfrm>
            <a:off x="431295" y="3377193"/>
            <a:ext cx="3796496" cy="2563792"/>
          </a:xfrm>
          <a:prstGeom prst="rect">
            <a:avLst/>
          </a:prstGeom>
        </p:spPr>
      </p:pic>
      <p:pic>
        <p:nvPicPr>
          <p:cNvPr id="13" name="Picture 12">
            <a:extLst>
              <a:ext uri="{FF2B5EF4-FFF2-40B4-BE49-F238E27FC236}">
                <a16:creationId xmlns:a16="http://schemas.microsoft.com/office/drawing/2014/main" id="{0C254AE3-071A-68C7-ED23-77480E7526B8}"/>
              </a:ext>
            </a:extLst>
          </p:cNvPr>
          <p:cNvPicPr>
            <a:picLocks noChangeAspect="1"/>
          </p:cNvPicPr>
          <p:nvPr/>
        </p:nvPicPr>
        <p:blipFill>
          <a:blip r:embed="rId6"/>
          <a:stretch>
            <a:fillRect/>
          </a:stretch>
        </p:blipFill>
        <p:spPr>
          <a:xfrm>
            <a:off x="4701939" y="3419357"/>
            <a:ext cx="3680749" cy="2523281"/>
          </a:xfrm>
          <a:prstGeom prst="rect">
            <a:avLst/>
          </a:prstGeom>
        </p:spPr>
      </p:pic>
      <p:sp>
        <p:nvSpPr>
          <p:cNvPr id="15" name="TextBox 14">
            <a:extLst>
              <a:ext uri="{FF2B5EF4-FFF2-40B4-BE49-F238E27FC236}">
                <a16:creationId xmlns:a16="http://schemas.microsoft.com/office/drawing/2014/main" id="{C1A95C74-6FBC-4A6D-AD73-110F5C7959C1}"/>
              </a:ext>
            </a:extLst>
          </p:cNvPr>
          <p:cNvSpPr txBox="1"/>
          <p:nvPr/>
        </p:nvSpPr>
        <p:spPr>
          <a:xfrm>
            <a:off x="544286" y="6015313"/>
            <a:ext cx="8406699" cy="707886"/>
          </a:xfrm>
          <a:prstGeom prst="rect">
            <a:avLst/>
          </a:prstGeom>
          <a:noFill/>
        </p:spPr>
        <p:txBody>
          <a:bodyPr wrap="square">
            <a:spAutoFit/>
          </a:bodyPr>
          <a:lstStyle/>
          <a:p>
            <a:pPr algn="l"/>
            <a:r>
              <a:rPr lang="en-US" sz="2000" dirty="0">
                <a:latin typeface="Arial" panose="020B0604020202020204" pitchFamily="34" charset="0"/>
                <a:cs typeface="Arial" panose="020B0604020202020204" pitchFamily="34" charset="0"/>
              </a:rPr>
              <a:t>T</a:t>
            </a:r>
            <a:r>
              <a:rPr lang="en-US" sz="2000" b="0" i="0" u="none" strike="noStrike" baseline="0" dirty="0">
                <a:latin typeface="Arial" panose="020B0604020202020204" pitchFamily="34" charset="0"/>
                <a:cs typeface="Arial" panose="020B0604020202020204" pitchFamily="34" charset="0"/>
              </a:rPr>
              <a:t>wo impulse responses with different lengths are shown along with their frequency responses.</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75320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0EF28-E65B-1FD7-C646-A7F4B5901865}"/>
              </a:ext>
            </a:extLst>
          </p:cNvPr>
          <p:cNvSpPr>
            <a:spLocks noGrp="1"/>
          </p:cNvSpPr>
          <p:nvPr>
            <p:ph type="title"/>
          </p:nvPr>
        </p:nvSpPr>
        <p:spPr>
          <a:xfrm>
            <a:off x="628650" y="278043"/>
            <a:ext cx="7886700" cy="538388"/>
          </a:xfrm>
        </p:spPr>
        <p:txBody>
          <a:bodyPr>
            <a:noAutofit/>
          </a:bodyPr>
          <a:lstStyle/>
          <a:p>
            <a:r>
              <a:rPr lang="en-US" sz="3600" b="0" i="0" u="none" strike="noStrike" baseline="0" dirty="0">
                <a:latin typeface="Arial" panose="020B0604020202020204" pitchFamily="34" charset="0"/>
                <a:cs typeface="Arial" panose="020B0604020202020204" pitchFamily="34" charset="0"/>
              </a:rPr>
              <a:t>Effect of a multipath channel on the received signal without guard interval</a:t>
            </a:r>
            <a:endParaRPr lang="en-US" sz="36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8A9DA08A-D1E0-9D77-CF75-3A5DDB6D01E2}"/>
              </a:ext>
            </a:extLst>
          </p:cNvPr>
          <p:cNvPicPr>
            <a:picLocks noChangeAspect="1"/>
          </p:cNvPicPr>
          <p:nvPr/>
        </p:nvPicPr>
        <p:blipFill>
          <a:blip r:embed="rId2"/>
          <a:stretch>
            <a:fillRect/>
          </a:stretch>
        </p:blipFill>
        <p:spPr>
          <a:xfrm>
            <a:off x="4418638" y="1045033"/>
            <a:ext cx="4305782" cy="1221129"/>
          </a:xfrm>
          <a:prstGeom prst="rect">
            <a:avLst/>
          </a:prstGeom>
        </p:spPr>
      </p:pic>
      <p:pic>
        <p:nvPicPr>
          <p:cNvPr id="7" name="Picture 6">
            <a:extLst>
              <a:ext uri="{FF2B5EF4-FFF2-40B4-BE49-F238E27FC236}">
                <a16:creationId xmlns:a16="http://schemas.microsoft.com/office/drawing/2014/main" id="{5B80372A-C777-1E40-FF27-076CE39A70B9}"/>
              </a:ext>
            </a:extLst>
          </p:cNvPr>
          <p:cNvPicPr>
            <a:picLocks noChangeAspect="1"/>
          </p:cNvPicPr>
          <p:nvPr/>
        </p:nvPicPr>
        <p:blipFill>
          <a:blip r:embed="rId3"/>
          <a:stretch>
            <a:fillRect/>
          </a:stretch>
        </p:blipFill>
        <p:spPr>
          <a:xfrm>
            <a:off x="4418638" y="2367577"/>
            <a:ext cx="4421529" cy="4299995"/>
          </a:xfrm>
          <a:prstGeom prst="rect">
            <a:avLst/>
          </a:prstGeom>
        </p:spPr>
      </p:pic>
      <p:sp>
        <p:nvSpPr>
          <p:cNvPr id="9" name="TextBox 8">
            <a:extLst>
              <a:ext uri="{FF2B5EF4-FFF2-40B4-BE49-F238E27FC236}">
                <a16:creationId xmlns:a16="http://schemas.microsoft.com/office/drawing/2014/main" id="{369576E2-74D5-AC7E-744E-535854D37D51}"/>
              </a:ext>
            </a:extLst>
          </p:cNvPr>
          <p:cNvSpPr txBox="1"/>
          <p:nvPr/>
        </p:nvSpPr>
        <p:spPr>
          <a:xfrm>
            <a:off x="459440" y="1347373"/>
            <a:ext cx="4305782" cy="1015663"/>
          </a:xfrm>
          <a:prstGeom prst="rect">
            <a:avLst/>
          </a:prstGeom>
          <a:noFill/>
        </p:spPr>
        <p:txBody>
          <a:bodyPr wrap="square">
            <a:spAutoFit/>
          </a:bodyPr>
          <a:lstStyle/>
          <a:p>
            <a:pPr algn="l"/>
            <a:r>
              <a:rPr lang="en-US" sz="2000" b="0" i="0" u="none" strike="noStrike" baseline="0" dirty="0">
                <a:latin typeface="Arial" panose="020B0604020202020204" pitchFamily="34" charset="0"/>
                <a:cs typeface="Arial" panose="020B0604020202020204" pitchFamily="34" charset="0"/>
              </a:rPr>
              <a:t>ISI effect of the multipath channel over two consecutive OFDM symbols</a:t>
            </a:r>
            <a:endParaRPr lang="en-US" sz="2000"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3FB26105-9270-B5EC-7804-41D05BA54C85}"/>
              </a:ext>
            </a:extLst>
          </p:cNvPr>
          <p:cNvSpPr txBox="1"/>
          <p:nvPr/>
        </p:nvSpPr>
        <p:spPr>
          <a:xfrm>
            <a:off x="459440" y="2448251"/>
            <a:ext cx="3690256" cy="4093428"/>
          </a:xfrm>
          <a:prstGeom prst="rect">
            <a:avLst/>
          </a:prstGeom>
          <a:noFill/>
        </p:spPr>
        <p:txBody>
          <a:bodyPr wrap="square">
            <a:spAutoFit/>
          </a:bodyPr>
          <a:lstStyle/>
          <a:p>
            <a:r>
              <a:rPr lang="en-US" sz="2000" b="0" i="0" u="none" strike="noStrike" baseline="0" dirty="0">
                <a:latin typeface="Arial" panose="020B0604020202020204" pitchFamily="34" charset="0"/>
                <a:cs typeface="Arial" panose="020B0604020202020204" pitchFamily="34" charset="0"/>
              </a:rPr>
              <a:t>The OFDM guard interval can be inserted in two different ways. </a:t>
            </a:r>
          </a:p>
          <a:p>
            <a:endParaRPr lang="en-US" sz="2000" b="0" i="0" u="none" strike="noStrike" baseline="0" dirty="0">
              <a:latin typeface="Arial" panose="020B0604020202020204" pitchFamily="34" charset="0"/>
              <a:cs typeface="Arial" panose="020B0604020202020204" pitchFamily="34" charset="0"/>
            </a:endParaRPr>
          </a:p>
          <a:p>
            <a:r>
              <a:rPr lang="en-US" sz="2000" b="0" i="0" u="none" strike="noStrike" baseline="0" dirty="0">
                <a:latin typeface="Arial" panose="020B0604020202020204" pitchFamily="34" charset="0"/>
                <a:cs typeface="Arial" panose="020B0604020202020204" pitchFamily="34" charset="0"/>
              </a:rPr>
              <a:t>One is the zero padding (ZP) that pads the guard interval with zeros. </a:t>
            </a:r>
          </a:p>
          <a:p>
            <a:endParaRPr lang="en-US" sz="2000" b="0" i="0" u="none" strike="noStrike" baseline="0" dirty="0">
              <a:latin typeface="Arial" panose="020B0604020202020204" pitchFamily="34" charset="0"/>
              <a:cs typeface="Arial" panose="020B0604020202020204" pitchFamily="34" charset="0"/>
            </a:endParaRPr>
          </a:p>
          <a:p>
            <a:r>
              <a:rPr lang="en-US" sz="2000" b="0" i="0" u="none" strike="noStrike" baseline="0" dirty="0">
                <a:latin typeface="Arial" panose="020B0604020202020204" pitchFamily="34" charset="0"/>
                <a:cs typeface="Arial" panose="020B0604020202020204" pitchFamily="34" charset="0"/>
              </a:rPr>
              <a:t>The other is the cyclic extension of the OFDM symbol (for some continuity) with CP (cyclic prefix) or CS (cyclic suffix).</a:t>
            </a:r>
          </a:p>
        </p:txBody>
      </p:sp>
    </p:spTree>
    <p:extLst>
      <p:ext uri="{BB962C8B-B14F-4D97-AF65-F5344CB8AC3E}">
        <p14:creationId xmlns:p14="http://schemas.microsoft.com/office/powerpoint/2010/main" val="3827924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E0B34-574F-3FB7-9B35-458570BDBC91}"/>
              </a:ext>
            </a:extLst>
          </p:cNvPr>
          <p:cNvSpPr>
            <a:spLocks noGrp="1"/>
          </p:cNvSpPr>
          <p:nvPr>
            <p:ph type="title"/>
          </p:nvPr>
        </p:nvSpPr>
        <p:spPr>
          <a:xfrm>
            <a:off x="541564" y="169183"/>
            <a:ext cx="7886700" cy="669017"/>
          </a:xfrm>
        </p:spPr>
        <p:txBody>
          <a:bodyPr>
            <a:normAutofit/>
          </a:bodyPr>
          <a:lstStyle/>
          <a:p>
            <a:r>
              <a:rPr lang="en-US" sz="3600" b="1" i="0" u="none" strike="noStrike" baseline="0" dirty="0">
                <a:latin typeface="Arial" panose="020B0604020202020204" pitchFamily="34" charset="0"/>
                <a:cs typeface="Arial" panose="020B0604020202020204" pitchFamily="34" charset="0"/>
              </a:rPr>
              <a:t>Cyclic Prefix (CP)</a:t>
            </a:r>
            <a:endParaRPr lang="en-US" sz="3600" b="1"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352AE17E-6B21-70BE-79DA-8155B4FE0F01}"/>
              </a:ext>
            </a:extLst>
          </p:cNvPr>
          <p:cNvPicPr>
            <a:picLocks noChangeAspect="1"/>
          </p:cNvPicPr>
          <p:nvPr/>
        </p:nvPicPr>
        <p:blipFill>
          <a:blip r:embed="rId2"/>
          <a:stretch>
            <a:fillRect/>
          </a:stretch>
        </p:blipFill>
        <p:spPr>
          <a:xfrm>
            <a:off x="541564" y="1145893"/>
            <a:ext cx="4815068" cy="1823013"/>
          </a:xfrm>
          <a:prstGeom prst="rect">
            <a:avLst/>
          </a:prstGeom>
        </p:spPr>
      </p:pic>
      <p:pic>
        <p:nvPicPr>
          <p:cNvPr id="9" name="Picture 8">
            <a:extLst>
              <a:ext uri="{FF2B5EF4-FFF2-40B4-BE49-F238E27FC236}">
                <a16:creationId xmlns:a16="http://schemas.microsoft.com/office/drawing/2014/main" id="{BFA213ED-AA30-B8EE-6C3C-24A5DDC752B3}"/>
              </a:ext>
            </a:extLst>
          </p:cNvPr>
          <p:cNvPicPr>
            <a:picLocks noChangeAspect="1"/>
          </p:cNvPicPr>
          <p:nvPr/>
        </p:nvPicPr>
        <p:blipFill>
          <a:blip r:embed="rId3"/>
          <a:stretch>
            <a:fillRect/>
          </a:stretch>
        </p:blipFill>
        <p:spPr>
          <a:xfrm>
            <a:off x="541564" y="2968906"/>
            <a:ext cx="7569843" cy="3703899"/>
          </a:xfrm>
          <a:prstGeom prst="rect">
            <a:avLst/>
          </a:prstGeom>
        </p:spPr>
      </p:pic>
    </p:spTree>
    <p:extLst>
      <p:ext uri="{BB962C8B-B14F-4D97-AF65-F5344CB8AC3E}">
        <p14:creationId xmlns:p14="http://schemas.microsoft.com/office/powerpoint/2010/main" val="22302958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C7FC6F1-E080-A95E-C9B6-A53CAD51B4F7}"/>
              </a:ext>
            </a:extLst>
          </p:cNvPr>
          <p:cNvPicPr>
            <a:picLocks noChangeAspect="1"/>
          </p:cNvPicPr>
          <p:nvPr/>
        </p:nvPicPr>
        <p:blipFill>
          <a:blip r:embed="rId2"/>
          <a:stretch>
            <a:fillRect/>
          </a:stretch>
        </p:blipFill>
        <p:spPr>
          <a:xfrm>
            <a:off x="2554835" y="1338492"/>
            <a:ext cx="5979565" cy="5053526"/>
          </a:xfrm>
          <a:prstGeom prst="rect">
            <a:avLst/>
          </a:prstGeom>
        </p:spPr>
      </p:pic>
      <p:sp>
        <p:nvSpPr>
          <p:cNvPr id="7" name="TextBox 6">
            <a:extLst>
              <a:ext uri="{FF2B5EF4-FFF2-40B4-BE49-F238E27FC236}">
                <a16:creationId xmlns:a16="http://schemas.microsoft.com/office/drawing/2014/main" id="{C83D703B-5D99-BD75-1B4E-6555CBBF4092}"/>
              </a:ext>
            </a:extLst>
          </p:cNvPr>
          <p:cNvSpPr txBox="1"/>
          <p:nvPr/>
        </p:nvSpPr>
        <p:spPr>
          <a:xfrm>
            <a:off x="413657" y="465982"/>
            <a:ext cx="8490857" cy="1200329"/>
          </a:xfrm>
          <a:prstGeom prst="rect">
            <a:avLst/>
          </a:prstGeom>
          <a:noFill/>
        </p:spPr>
        <p:txBody>
          <a:bodyPr wrap="square">
            <a:spAutoFit/>
          </a:bodyPr>
          <a:lstStyle/>
          <a:p>
            <a:r>
              <a:rPr lang="en-US" sz="3600" b="0" i="0" u="none" strike="noStrike" baseline="0" dirty="0">
                <a:latin typeface="Arial" panose="020B0604020202020204" pitchFamily="34" charset="0"/>
                <a:cs typeface="Arial" panose="020B0604020202020204" pitchFamily="34" charset="0"/>
              </a:rPr>
              <a:t>ISI effect of a multipath channel for each subcarrier</a:t>
            </a:r>
            <a:endParaRPr lang="en-US" sz="3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604133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D30D9-AFB4-3970-BB47-BE95B451088B}"/>
              </a:ext>
            </a:extLst>
          </p:cNvPr>
          <p:cNvSpPr>
            <a:spLocks noGrp="1"/>
          </p:cNvSpPr>
          <p:nvPr>
            <p:ph type="title"/>
          </p:nvPr>
        </p:nvSpPr>
        <p:spPr>
          <a:xfrm>
            <a:off x="628650" y="365126"/>
            <a:ext cx="7886700" cy="581931"/>
          </a:xfrm>
        </p:spPr>
        <p:txBody>
          <a:bodyPr>
            <a:normAutofit fontScale="90000"/>
          </a:bodyPr>
          <a:lstStyle/>
          <a:p>
            <a:r>
              <a:rPr lang="en-US" sz="4400" b="0" i="0" u="none" strike="noStrike" baseline="0" dirty="0">
                <a:latin typeface="AdvP41153C"/>
              </a:rPr>
              <a:t>ISI effect of a multipath channel on OFDM symbols</a:t>
            </a:r>
            <a:endParaRPr lang="en-US" dirty="0"/>
          </a:p>
        </p:txBody>
      </p:sp>
      <p:pic>
        <p:nvPicPr>
          <p:cNvPr id="5" name="Picture 4">
            <a:extLst>
              <a:ext uri="{FF2B5EF4-FFF2-40B4-BE49-F238E27FC236}">
                <a16:creationId xmlns:a16="http://schemas.microsoft.com/office/drawing/2014/main" id="{0E2BD63C-DE30-75D3-66A0-67A8C8E99426}"/>
              </a:ext>
            </a:extLst>
          </p:cNvPr>
          <p:cNvPicPr>
            <a:picLocks noChangeAspect="1"/>
          </p:cNvPicPr>
          <p:nvPr/>
        </p:nvPicPr>
        <p:blipFill>
          <a:blip r:embed="rId2"/>
          <a:stretch>
            <a:fillRect/>
          </a:stretch>
        </p:blipFill>
        <p:spPr>
          <a:xfrm>
            <a:off x="1018572" y="1487347"/>
            <a:ext cx="7106856" cy="3883306"/>
          </a:xfrm>
          <a:prstGeom prst="rect">
            <a:avLst/>
          </a:prstGeom>
        </p:spPr>
      </p:pic>
      <p:sp>
        <p:nvSpPr>
          <p:cNvPr id="7" name="TextBox 6">
            <a:extLst>
              <a:ext uri="{FF2B5EF4-FFF2-40B4-BE49-F238E27FC236}">
                <a16:creationId xmlns:a16="http://schemas.microsoft.com/office/drawing/2014/main" id="{725050E0-353A-1AA4-E456-3970354F9E79}"/>
              </a:ext>
            </a:extLst>
          </p:cNvPr>
          <p:cNvSpPr txBox="1"/>
          <p:nvPr/>
        </p:nvSpPr>
        <p:spPr>
          <a:xfrm>
            <a:off x="628650" y="5370653"/>
            <a:ext cx="7886700" cy="646331"/>
          </a:xfrm>
          <a:prstGeom prst="rect">
            <a:avLst/>
          </a:prstGeom>
          <a:noFill/>
        </p:spPr>
        <p:txBody>
          <a:bodyPr wrap="square">
            <a:spAutoFit/>
          </a:bodyPr>
          <a:lstStyle/>
          <a:p>
            <a:pPr algn="l"/>
            <a:r>
              <a:rPr lang="en-US" sz="1800" b="0" i="0" u="none" strike="noStrike" baseline="0" dirty="0">
                <a:latin typeface="AdvP41153C"/>
              </a:rPr>
              <a:t>ISI effect of a multipath channel on OFDM symbols with CP length shorter than the</a:t>
            </a:r>
          </a:p>
          <a:p>
            <a:pPr algn="l"/>
            <a:r>
              <a:rPr lang="en-US" sz="1800" b="0" i="0" u="none" strike="noStrike" baseline="0" dirty="0">
                <a:latin typeface="AdvP41153C"/>
              </a:rPr>
              <a:t>maximum delay of the channel.</a:t>
            </a:r>
            <a:endParaRPr lang="en-US" dirty="0"/>
          </a:p>
        </p:txBody>
      </p:sp>
    </p:spTree>
    <p:extLst>
      <p:ext uri="{BB962C8B-B14F-4D97-AF65-F5344CB8AC3E}">
        <p14:creationId xmlns:p14="http://schemas.microsoft.com/office/powerpoint/2010/main" val="12643055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ADF59A2-3CE3-C1A5-FA7D-212778B782BA}"/>
              </a:ext>
            </a:extLst>
          </p:cNvPr>
          <p:cNvPicPr>
            <a:picLocks noChangeAspect="1"/>
          </p:cNvPicPr>
          <p:nvPr/>
        </p:nvPicPr>
        <p:blipFill>
          <a:blip r:embed="rId2"/>
          <a:stretch>
            <a:fillRect/>
          </a:stretch>
        </p:blipFill>
        <p:spPr>
          <a:xfrm>
            <a:off x="1014593" y="1471334"/>
            <a:ext cx="7114814" cy="4219552"/>
          </a:xfrm>
          <a:prstGeom prst="rect">
            <a:avLst/>
          </a:prstGeom>
        </p:spPr>
      </p:pic>
      <p:sp>
        <p:nvSpPr>
          <p:cNvPr id="7" name="TextBox 6">
            <a:extLst>
              <a:ext uri="{FF2B5EF4-FFF2-40B4-BE49-F238E27FC236}">
                <a16:creationId xmlns:a16="http://schemas.microsoft.com/office/drawing/2014/main" id="{7F81A3BF-7EF4-62D7-644F-93A685D331CB}"/>
              </a:ext>
            </a:extLst>
          </p:cNvPr>
          <p:cNvSpPr txBox="1"/>
          <p:nvPr/>
        </p:nvSpPr>
        <p:spPr>
          <a:xfrm>
            <a:off x="925286" y="5857836"/>
            <a:ext cx="7590064" cy="369332"/>
          </a:xfrm>
          <a:prstGeom prst="rect">
            <a:avLst/>
          </a:prstGeom>
          <a:noFill/>
        </p:spPr>
        <p:txBody>
          <a:bodyPr wrap="square">
            <a:spAutoFit/>
          </a:bodyPr>
          <a:lstStyle/>
          <a:p>
            <a:pPr algn="ctr"/>
            <a:r>
              <a:rPr lang="en-US" sz="1800" b="0" i="0" u="none" strike="noStrike" baseline="0" dirty="0">
                <a:latin typeface="AdvP41153C"/>
              </a:rPr>
              <a:t>ISI/ICI effect depending on the FFT window start point</a:t>
            </a:r>
            <a:endParaRPr lang="en-US" dirty="0"/>
          </a:p>
        </p:txBody>
      </p:sp>
      <p:sp>
        <p:nvSpPr>
          <p:cNvPr id="8" name="Title 7">
            <a:extLst>
              <a:ext uri="{FF2B5EF4-FFF2-40B4-BE49-F238E27FC236}">
                <a16:creationId xmlns:a16="http://schemas.microsoft.com/office/drawing/2014/main" id="{79AF93B4-2603-233E-39CD-EB4ADD5AA235}"/>
              </a:ext>
            </a:extLst>
          </p:cNvPr>
          <p:cNvSpPr txBox="1">
            <a:spLocks noGrp="1"/>
          </p:cNvSpPr>
          <p:nvPr>
            <p:ph type="title"/>
          </p:nvPr>
        </p:nvSpPr>
        <p:spPr>
          <a:xfrm>
            <a:off x="628650" y="214855"/>
            <a:ext cx="7886700" cy="1089529"/>
          </a:xfrm>
          <a:prstGeom prst="rect">
            <a:avLst/>
          </a:prstGeom>
          <a:noFill/>
        </p:spPr>
        <p:txBody>
          <a:bodyPr wrap="square">
            <a:spAutoFit/>
          </a:bodyPr>
          <a:lstStyle/>
          <a:p>
            <a:pPr algn="ctr"/>
            <a:r>
              <a:rPr lang="en-US" sz="3600" b="0" i="0" u="none" strike="noStrike" baseline="0" dirty="0">
                <a:latin typeface="Arial" panose="020B0604020202020204" pitchFamily="34" charset="0"/>
                <a:cs typeface="Arial" panose="020B0604020202020204" pitchFamily="34" charset="0"/>
              </a:rPr>
              <a:t>ISI/ICI effect depending on the FFT window start point</a:t>
            </a:r>
            <a:endParaRPr lang="en-US" sz="3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881553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0126E7C-7B17-B010-3844-51C25968C174}"/>
              </a:ext>
            </a:extLst>
          </p:cNvPr>
          <p:cNvSpPr txBox="1"/>
          <p:nvPr/>
        </p:nvSpPr>
        <p:spPr>
          <a:xfrm>
            <a:off x="515711" y="1061668"/>
            <a:ext cx="8112578" cy="1200329"/>
          </a:xfrm>
          <a:prstGeom prst="rect">
            <a:avLst/>
          </a:prstGeom>
          <a:noFill/>
        </p:spPr>
        <p:txBody>
          <a:bodyPr wrap="square">
            <a:spAutoFit/>
          </a:bodyPr>
          <a:lstStyle/>
          <a:p>
            <a:pPr algn="l"/>
            <a:r>
              <a:rPr lang="en-US" sz="1800" b="0" i="0" u="none" strike="noStrike" baseline="0" dirty="0">
                <a:latin typeface="AdvP41153C"/>
              </a:rPr>
              <a:t>Now we suppose that the CP length is set not shorter than the maximum delay of the channel and the FFT window start point of an OFDM symbol is determined within its CP interval (i.e., unaffected by the previous symbol). Then the OFDM receiver takes the FFT of the received samples </a:t>
            </a:r>
            <a:r>
              <a:rPr lang="en-US" dirty="0">
                <a:latin typeface="AdvP4C4E74"/>
              </a:rPr>
              <a:t>                 </a:t>
            </a:r>
            <a:r>
              <a:rPr lang="en-US" sz="800" b="0" i="0" u="none" strike="noStrike" baseline="0" dirty="0">
                <a:latin typeface="AdvP41153C"/>
              </a:rPr>
              <a:t> </a:t>
            </a:r>
            <a:r>
              <a:rPr lang="en-US" sz="1800" b="0" i="0" u="none" strike="noStrike" baseline="0" dirty="0">
                <a:latin typeface="AdvP41153C"/>
              </a:rPr>
              <a:t>to yield</a:t>
            </a:r>
            <a:endParaRPr lang="en-US" dirty="0"/>
          </a:p>
        </p:txBody>
      </p:sp>
      <p:pic>
        <p:nvPicPr>
          <p:cNvPr id="6" name="Picture 5">
            <a:extLst>
              <a:ext uri="{FF2B5EF4-FFF2-40B4-BE49-F238E27FC236}">
                <a16:creationId xmlns:a16="http://schemas.microsoft.com/office/drawing/2014/main" id="{226E7FFE-EF85-C423-34F5-5CF0514B7DEC}"/>
              </a:ext>
            </a:extLst>
          </p:cNvPr>
          <p:cNvPicPr>
            <a:picLocks noChangeAspect="1"/>
          </p:cNvPicPr>
          <p:nvPr/>
        </p:nvPicPr>
        <p:blipFill>
          <a:blip r:embed="rId2"/>
          <a:stretch>
            <a:fillRect/>
          </a:stretch>
        </p:blipFill>
        <p:spPr>
          <a:xfrm>
            <a:off x="3658278" y="1934784"/>
            <a:ext cx="739549" cy="297571"/>
          </a:xfrm>
          <a:prstGeom prst="rect">
            <a:avLst/>
          </a:prstGeom>
        </p:spPr>
      </p:pic>
      <p:pic>
        <p:nvPicPr>
          <p:cNvPr id="8" name="Picture 7">
            <a:extLst>
              <a:ext uri="{FF2B5EF4-FFF2-40B4-BE49-F238E27FC236}">
                <a16:creationId xmlns:a16="http://schemas.microsoft.com/office/drawing/2014/main" id="{C34E7738-FC6A-D80A-B46B-5028CB08ABC7}"/>
              </a:ext>
            </a:extLst>
          </p:cNvPr>
          <p:cNvPicPr>
            <a:picLocks noChangeAspect="1"/>
          </p:cNvPicPr>
          <p:nvPr/>
        </p:nvPicPr>
        <p:blipFill>
          <a:blip r:embed="rId3"/>
          <a:stretch>
            <a:fillRect/>
          </a:stretch>
        </p:blipFill>
        <p:spPr>
          <a:xfrm>
            <a:off x="515711" y="2392312"/>
            <a:ext cx="5499766" cy="1920971"/>
          </a:xfrm>
          <a:prstGeom prst="rect">
            <a:avLst/>
          </a:prstGeom>
        </p:spPr>
      </p:pic>
      <p:pic>
        <p:nvPicPr>
          <p:cNvPr id="10" name="Picture 9">
            <a:extLst>
              <a:ext uri="{FF2B5EF4-FFF2-40B4-BE49-F238E27FC236}">
                <a16:creationId xmlns:a16="http://schemas.microsoft.com/office/drawing/2014/main" id="{CEB18CAB-1A1A-1F25-237B-74564AA1E6B3}"/>
              </a:ext>
            </a:extLst>
          </p:cNvPr>
          <p:cNvPicPr>
            <a:picLocks noChangeAspect="1"/>
          </p:cNvPicPr>
          <p:nvPr/>
        </p:nvPicPr>
        <p:blipFill>
          <a:blip r:embed="rId4"/>
          <a:stretch>
            <a:fillRect/>
          </a:stretch>
        </p:blipFill>
        <p:spPr>
          <a:xfrm>
            <a:off x="1007134" y="4400054"/>
            <a:ext cx="6759615" cy="1666754"/>
          </a:xfrm>
          <a:prstGeom prst="rect">
            <a:avLst/>
          </a:prstGeom>
        </p:spPr>
      </p:pic>
      <p:pic>
        <p:nvPicPr>
          <p:cNvPr id="12" name="Picture 11">
            <a:extLst>
              <a:ext uri="{FF2B5EF4-FFF2-40B4-BE49-F238E27FC236}">
                <a16:creationId xmlns:a16="http://schemas.microsoft.com/office/drawing/2014/main" id="{38BA616D-A6B8-93DA-F0D0-4473667D76FE}"/>
              </a:ext>
            </a:extLst>
          </p:cNvPr>
          <p:cNvPicPr>
            <a:picLocks noChangeAspect="1"/>
          </p:cNvPicPr>
          <p:nvPr/>
        </p:nvPicPr>
        <p:blipFill>
          <a:blip r:embed="rId5"/>
          <a:stretch>
            <a:fillRect/>
          </a:stretch>
        </p:blipFill>
        <p:spPr>
          <a:xfrm>
            <a:off x="1205418" y="6226765"/>
            <a:ext cx="2291787" cy="486137"/>
          </a:xfrm>
          <a:prstGeom prst="rect">
            <a:avLst/>
          </a:prstGeom>
        </p:spPr>
      </p:pic>
      <p:sp>
        <p:nvSpPr>
          <p:cNvPr id="13" name="Title 1">
            <a:extLst>
              <a:ext uri="{FF2B5EF4-FFF2-40B4-BE49-F238E27FC236}">
                <a16:creationId xmlns:a16="http://schemas.microsoft.com/office/drawing/2014/main" id="{098063DB-AB8A-5CEF-1353-E5B1A009859C}"/>
              </a:ext>
            </a:extLst>
          </p:cNvPr>
          <p:cNvSpPr>
            <a:spLocks noGrp="1"/>
          </p:cNvSpPr>
          <p:nvPr>
            <p:ph type="title"/>
          </p:nvPr>
        </p:nvSpPr>
        <p:spPr>
          <a:xfrm>
            <a:off x="628650" y="365125"/>
            <a:ext cx="7886700" cy="579438"/>
          </a:xfrm>
        </p:spPr>
        <p:txBody>
          <a:bodyPr>
            <a:normAutofit fontScale="90000"/>
          </a:bodyPr>
          <a:lstStyle/>
          <a:p>
            <a:r>
              <a:rPr lang="en-US" sz="4400" b="0" i="0" u="none" strike="noStrike" baseline="0" dirty="0">
                <a:latin typeface="Arial" panose="020B0604020202020204" pitchFamily="34" charset="0"/>
                <a:cs typeface="Arial" panose="020B0604020202020204" pitchFamily="34" charset="0"/>
              </a:rPr>
              <a:t>OFDM signal-Receiver</a:t>
            </a:r>
            <a:endParaRPr lang="en-US" dirty="0"/>
          </a:p>
        </p:txBody>
      </p:sp>
    </p:spTree>
    <p:extLst>
      <p:ext uri="{BB962C8B-B14F-4D97-AF65-F5344CB8AC3E}">
        <p14:creationId xmlns:p14="http://schemas.microsoft.com/office/powerpoint/2010/main" val="32404288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BA9B5-2A44-FA1A-DABB-CD2E085A902A}"/>
              </a:ext>
            </a:extLst>
          </p:cNvPr>
          <p:cNvSpPr>
            <a:spLocks noGrp="1"/>
          </p:cNvSpPr>
          <p:nvPr>
            <p:ph type="title"/>
          </p:nvPr>
        </p:nvSpPr>
        <p:spPr>
          <a:xfrm>
            <a:off x="628650" y="365127"/>
            <a:ext cx="7886700" cy="625474"/>
          </a:xfrm>
        </p:spPr>
        <p:txBody>
          <a:bodyPr>
            <a:noAutofit/>
          </a:bodyPr>
          <a:lstStyle/>
          <a:p>
            <a:r>
              <a:rPr lang="en-US" sz="3600" b="0" i="0" u="none" strike="noStrike" baseline="0" dirty="0">
                <a:latin typeface="Arial" panose="020B0604020202020204" pitchFamily="34" charset="0"/>
                <a:cs typeface="Arial" panose="020B0604020202020204" pitchFamily="34" charset="0"/>
              </a:rPr>
              <a:t>Frequency-domain equivalent model of OFDM system</a:t>
            </a:r>
            <a:endParaRPr lang="en-US" sz="36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2597D684-83FE-2089-AB48-996B877F911F}"/>
              </a:ext>
            </a:extLst>
          </p:cNvPr>
          <p:cNvPicPr>
            <a:picLocks noChangeAspect="1"/>
          </p:cNvPicPr>
          <p:nvPr/>
        </p:nvPicPr>
        <p:blipFill>
          <a:blip r:embed="rId2"/>
          <a:stretch>
            <a:fillRect/>
          </a:stretch>
        </p:blipFill>
        <p:spPr>
          <a:xfrm>
            <a:off x="2060431" y="1330598"/>
            <a:ext cx="5023137" cy="5335180"/>
          </a:xfrm>
          <a:prstGeom prst="rect">
            <a:avLst/>
          </a:prstGeom>
        </p:spPr>
      </p:pic>
    </p:spTree>
    <p:extLst>
      <p:ext uri="{BB962C8B-B14F-4D97-AF65-F5344CB8AC3E}">
        <p14:creationId xmlns:p14="http://schemas.microsoft.com/office/powerpoint/2010/main" val="7503858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B5210-3587-7D6F-B8A8-1E259DBBD581}"/>
              </a:ext>
            </a:extLst>
          </p:cNvPr>
          <p:cNvSpPr>
            <a:spLocks noGrp="1"/>
          </p:cNvSpPr>
          <p:nvPr>
            <p:ph type="title"/>
          </p:nvPr>
        </p:nvSpPr>
        <p:spPr>
          <a:xfrm>
            <a:off x="628650" y="365126"/>
            <a:ext cx="7886700" cy="723445"/>
          </a:xfrm>
        </p:spPr>
        <p:txBody>
          <a:bodyPr>
            <a:normAutofit/>
          </a:bodyPr>
          <a:lstStyle/>
          <a:p>
            <a:r>
              <a:rPr lang="en-US" sz="3600" b="1" i="0" u="none" strike="noStrike" baseline="0" dirty="0">
                <a:latin typeface="Arial" panose="020B0604020202020204" pitchFamily="34" charset="0"/>
                <a:cs typeface="Arial" panose="020B0604020202020204" pitchFamily="34" charset="0"/>
              </a:rPr>
              <a:t>Cyclic Suffix (CS)</a:t>
            </a:r>
            <a:endParaRPr lang="en-US" sz="3600" b="1"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20880F0F-5B01-1B54-19DB-BDCDC488B7F9}"/>
              </a:ext>
            </a:extLst>
          </p:cNvPr>
          <p:cNvPicPr>
            <a:picLocks noChangeAspect="1"/>
          </p:cNvPicPr>
          <p:nvPr/>
        </p:nvPicPr>
        <p:blipFill>
          <a:blip r:embed="rId2"/>
          <a:stretch>
            <a:fillRect/>
          </a:stretch>
        </p:blipFill>
        <p:spPr>
          <a:xfrm>
            <a:off x="628650" y="1117971"/>
            <a:ext cx="7563367" cy="2311029"/>
          </a:xfrm>
          <a:prstGeom prst="rect">
            <a:avLst/>
          </a:prstGeom>
        </p:spPr>
      </p:pic>
      <p:sp>
        <p:nvSpPr>
          <p:cNvPr id="7" name="TextBox 6">
            <a:extLst>
              <a:ext uri="{FF2B5EF4-FFF2-40B4-BE49-F238E27FC236}">
                <a16:creationId xmlns:a16="http://schemas.microsoft.com/office/drawing/2014/main" id="{DF6DD0F1-C133-092A-477D-38E3087ABD77}"/>
              </a:ext>
            </a:extLst>
          </p:cNvPr>
          <p:cNvSpPr txBox="1"/>
          <p:nvPr/>
        </p:nvSpPr>
        <p:spPr>
          <a:xfrm>
            <a:off x="4958443" y="2885888"/>
            <a:ext cx="3886200" cy="369332"/>
          </a:xfrm>
          <a:prstGeom prst="rect">
            <a:avLst/>
          </a:prstGeom>
          <a:noFill/>
        </p:spPr>
        <p:txBody>
          <a:bodyPr wrap="square">
            <a:spAutoFit/>
          </a:bodyPr>
          <a:lstStyle/>
          <a:p>
            <a:r>
              <a:rPr lang="en-US" sz="1800" b="0" i="0" u="none" strike="noStrike" baseline="0" dirty="0">
                <a:latin typeface="AdvP41153C"/>
              </a:rPr>
              <a:t>OFDM symbol with both CP and CS.</a:t>
            </a:r>
            <a:endParaRPr lang="en-US" dirty="0"/>
          </a:p>
        </p:txBody>
      </p:sp>
      <p:sp>
        <p:nvSpPr>
          <p:cNvPr id="9" name="TextBox 8">
            <a:extLst>
              <a:ext uri="{FF2B5EF4-FFF2-40B4-BE49-F238E27FC236}">
                <a16:creationId xmlns:a16="http://schemas.microsoft.com/office/drawing/2014/main" id="{852AA700-3648-12ED-6658-8F2BBBD43379}"/>
              </a:ext>
            </a:extLst>
          </p:cNvPr>
          <p:cNvSpPr txBox="1"/>
          <p:nvPr/>
        </p:nvSpPr>
        <p:spPr>
          <a:xfrm>
            <a:off x="5336721" y="4016437"/>
            <a:ext cx="3298372" cy="2554545"/>
          </a:xfrm>
          <a:prstGeom prst="rect">
            <a:avLst/>
          </a:prstGeom>
          <a:noFill/>
        </p:spPr>
        <p:txBody>
          <a:bodyPr wrap="square">
            <a:spAutoFit/>
          </a:bodyPr>
          <a:lstStyle/>
          <a:p>
            <a:pPr algn="l"/>
            <a:r>
              <a:rPr lang="en-US" sz="2000" dirty="0">
                <a:latin typeface="Arial" panose="020B0604020202020204" pitchFamily="34" charset="0"/>
                <a:cs typeface="Arial" panose="020B0604020202020204" pitchFamily="34" charset="0"/>
              </a:rPr>
              <a:t>T</a:t>
            </a:r>
            <a:r>
              <a:rPr lang="en-US" sz="2000" b="0" i="0" u="none" strike="noStrike" baseline="0" dirty="0">
                <a:latin typeface="Arial" panose="020B0604020202020204" pitchFamily="34" charset="0"/>
                <a:cs typeface="Arial" panose="020B0604020202020204" pitchFamily="34" charset="0"/>
              </a:rPr>
              <a:t>he length of CP is set to cover the time dispersion of the channel, while the length of CS is set according to the difference between the upstream transmit time and downstream receive time.</a:t>
            </a:r>
            <a:endParaRPr lang="en-US" sz="2000"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B7441363-935B-ED4C-15B6-A3D13F673B27}"/>
              </a:ext>
            </a:extLst>
          </p:cNvPr>
          <p:cNvSpPr txBox="1"/>
          <p:nvPr/>
        </p:nvSpPr>
        <p:spPr>
          <a:xfrm>
            <a:off x="348343" y="3636611"/>
            <a:ext cx="4757057" cy="1323439"/>
          </a:xfrm>
          <a:prstGeom prst="rect">
            <a:avLst/>
          </a:prstGeom>
          <a:noFill/>
        </p:spPr>
        <p:txBody>
          <a:bodyPr wrap="square">
            <a:spAutoFit/>
          </a:bodyPr>
          <a:lstStyle/>
          <a:p>
            <a:pPr algn="l"/>
            <a:r>
              <a:rPr lang="en-US" sz="2000" b="0" i="0" u="none" strike="noStrike" baseline="0" dirty="0">
                <a:latin typeface="Arial" panose="020B0604020202020204" pitchFamily="34" charset="0"/>
                <a:cs typeface="Arial" panose="020B0604020202020204" pitchFamily="34" charset="0"/>
              </a:rPr>
              <a:t>CS is used to prevent the interference between upstream and downstream, </a:t>
            </a:r>
          </a:p>
          <a:p>
            <a:pPr algn="l"/>
            <a:r>
              <a:rPr lang="en-US" sz="2000" b="0" i="0" u="none" strike="noStrike" baseline="0" dirty="0">
                <a:latin typeface="Arial" panose="020B0604020202020204" pitchFamily="34" charset="0"/>
                <a:cs typeface="Arial" panose="020B0604020202020204" pitchFamily="34" charset="0"/>
              </a:rPr>
              <a:t>used as the guard interval for frequency hopping or RF convergence, and so on.</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50676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B1D3C-D632-B854-2E73-C4FDCA9513FC}"/>
              </a:ext>
            </a:extLst>
          </p:cNvPr>
          <p:cNvSpPr>
            <a:spLocks noGrp="1"/>
          </p:cNvSpPr>
          <p:nvPr>
            <p:ph type="title"/>
          </p:nvPr>
        </p:nvSpPr>
        <p:spPr>
          <a:xfrm>
            <a:off x="628650" y="365127"/>
            <a:ext cx="7886700" cy="538388"/>
          </a:xfrm>
        </p:spPr>
        <p:txBody>
          <a:bodyPr>
            <a:normAutofit fontScale="90000"/>
          </a:bodyPr>
          <a:lstStyle/>
          <a:p>
            <a:r>
              <a:rPr lang="en-US" sz="3600" b="1" i="0" u="none" strike="noStrike" baseline="0" dirty="0">
                <a:latin typeface="Arial" panose="020B0604020202020204" pitchFamily="34" charset="0"/>
                <a:cs typeface="Arial" panose="020B0604020202020204" pitchFamily="34" charset="0"/>
              </a:rPr>
              <a:t>Zero Padding (ZP)</a:t>
            </a:r>
            <a:endParaRPr lang="en-US" sz="3600" b="1"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78EB33D3-5509-CA76-481D-52D7C822B7E4}"/>
              </a:ext>
            </a:extLst>
          </p:cNvPr>
          <p:cNvPicPr>
            <a:picLocks noChangeAspect="1"/>
          </p:cNvPicPr>
          <p:nvPr/>
        </p:nvPicPr>
        <p:blipFill>
          <a:blip r:embed="rId2"/>
          <a:stretch>
            <a:fillRect/>
          </a:stretch>
        </p:blipFill>
        <p:spPr>
          <a:xfrm>
            <a:off x="501984" y="1498212"/>
            <a:ext cx="5310988" cy="1930788"/>
          </a:xfrm>
          <a:prstGeom prst="rect">
            <a:avLst/>
          </a:prstGeom>
        </p:spPr>
      </p:pic>
      <p:pic>
        <p:nvPicPr>
          <p:cNvPr id="7" name="Picture 6">
            <a:extLst>
              <a:ext uri="{FF2B5EF4-FFF2-40B4-BE49-F238E27FC236}">
                <a16:creationId xmlns:a16="http://schemas.microsoft.com/office/drawing/2014/main" id="{D199A514-7B07-8087-6807-B9E492E7B99F}"/>
              </a:ext>
            </a:extLst>
          </p:cNvPr>
          <p:cNvPicPr>
            <a:picLocks noChangeAspect="1"/>
          </p:cNvPicPr>
          <p:nvPr/>
        </p:nvPicPr>
        <p:blipFill>
          <a:blip r:embed="rId3"/>
          <a:stretch>
            <a:fillRect/>
          </a:stretch>
        </p:blipFill>
        <p:spPr>
          <a:xfrm>
            <a:off x="3603659" y="1217271"/>
            <a:ext cx="5212529" cy="4813415"/>
          </a:xfrm>
          <a:prstGeom prst="rect">
            <a:avLst/>
          </a:prstGeom>
        </p:spPr>
      </p:pic>
      <p:sp>
        <p:nvSpPr>
          <p:cNvPr id="9" name="TextBox 8">
            <a:extLst>
              <a:ext uri="{FF2B5EF4-FFF2-40B4-BE49-F238E27FC236}">
                <a16:creationId xmlns:a16="http://schemas.microsoft.com/office/drawing/2014/main" id="{E2D45E6D-6587-68ED-A49A-0E5AE3C5FB00}"/>
              </a:ext>
            </a:extLst>
          </p:cNvPr>
          <p:cNvSpPr txBox="1"/>
          <p:nvPr/>
        </p:nvSpPr>
        <p:spPr>
          <a:xfrm>
            <a:off x="4931228" y="283001"/>
            <a:ext cx="4572000" cy="646331"/>
          </a:xfrm>
          <a:prstGeom prst="rect">
            <a:avLst/>
          </a:prstGeom>
          <a:noFill/>
        </p:spPr>
        <p:txBody>
          <a:bodyPr wrap="square">
            <a:spAutoFit/>
          </a:bodyPr>
          <a:lstStyle/>
          <a:p>
            <a:r>
              <a:rPr lang="en-US" sz="1800" b="0" i="0" u="none" strike="noStrike" baseline="0" dirty="0">
                <a:latin typeface="AdvP41153C"/>
              </a:rPr>
              <a:t>Effect of a multipath channel on OFDM symbols with ZP.</a:t>
            </a:r>
            <a:endParaRPr lang="en-US" dirty="0"/>
          </a:p>
        </p:txBody>
      </p:sp>
    </p:spTree>
    <p:extLst>
      <p:ext uri="{BB962C8B-B14F-4D97-AF65-F5344CB8AC3E}">
        <p14:creationId xmlns:p14="http://schemas.microsoft.com/office/powerpoint/2010/main" val="3784071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DA18E-41B9-6067-B72D-456EE140AFCE}"/>
              </a:ext>
            </a:extLst>
          </p:cNvPr>
          <p:cNvSpPr>
            <a:spLocks noGrp="1"/>
          </p:cNvSpPr>
          <p:nvPr>
            <p:ph type="title"/>
          </p:nvPr>
        </p:nvSpPr>
        <p:spPr>
          <a:xfrm>
            <a:off x="628650" y="365127"/>
            <a:ext cx="7886700" cy="777874"/>
          </a:xfrm>
        </p:spPr>
        <p:txBody>
          <a:bodyPr>
            <a:normAutofit/>
          </a:bodyPr>
          <a:lstStyle/>
          <a:p>
            <a:r>
              <a:rPr lang="en-US" sz="3600" b="1" i="0" u="none" strike="noStrike" baseline="0" dirty="0">
                <a:latin typeface="Arial" panose="020B0604020202020204" pitchFamily="34" charset="0"/>
                <a:cs typeface="Arial" panose="020B0604020202020204" pitchFamily="34" charset="0"/>
              </a:rPr>
              <a:t>BER of OFDM Scheme</a:t>
            </a:r>
            <a:endParaRPr lang="en-US" sz="3600"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7D2B56C0-20BF-3C47-EB77-7CA429DEB187}"/>
              </a:ext>
            </a:extLst>
          </p:cNvPr>
          <p:cNvSpPr txBox="1"/>
          <p:nvPr/>
        </p:nvSpPr>
        <p:spPr>
          <a:xfrm>
            <a:off x="794656" y="1143001"/>
            <a:ext cx="7968343" cy="707886"/>
          </a:xfrm>
          <a:prstGeom prst="rect">
            <a:avLst/>
          </a:prstGeom>
          <a:noFill/>
        </p:spPr>
        <p:txBody>
          <a:bodyPr wrap="square">
            <a:spAutoFit/>
          </a:bodyPr>
          <a:lstStyle/>
          <a:p>
            <a:pPr algn="l"/>
            <a:r>
              <a:rPr lang="en-US" sz="2000" b="0" i="0" u="none" strike="noStrike" baseline="0" dirty="0">
                <a:latin typeface="Arial" panose="020B0604020202020204" pitchFamily="34" charset="0"/>
                <a:cs typeface="Arial" panose="020B0604020202020204" pitchFamily="34" charset="0"/>
              </a:rPr>
              <a:t>The analytical BER expressions for M-</a:t>
            </a:r>
            <a:r>
              <a:rPr lang="en-US" sz="2000" b="0" i="0" u="none" strike="noStrike" baseline="0" dirty="0" err="1">
                <a:latin typeface="Arial" panose="020B0604020202020204" pitchFamily="34" charset="0"/>
                <a:cs typeface="Arial" panose="020B0604020202020204" pitchFamily="34" charset="0"/>
              </a:rPr>
              <a:t>ary</a:t>
            </a:r>
            <a:r>
              <a:rPr lang="en-US" sz="2000" b="0" i="0" u="none" strike="noStrike" baseline="0" dirty="0">
                <a:latin typeface="Arial" panose="020B0604020202020204" pitchFamily="34" charset="0"/>
                <a:cs typeface="Arial" panose="020B0604020202020204" pitchFamily="34" charset="0"/>
              </a:rPr>
              <a:t> QAM signaling in AWGN and Rayleigh channels are respectively given as</a:t>
            </a:r>
            <a:endParaRPr lang="en-US" sz="2000"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DA20E0FE-7189-5BE6-8A24-EEBFFDFEB359}"/>
              </a:ext>
            </a:extLst>
          </p:cNvPr>
          <p:cNvPicPr>
            <a:picLocks noChangeAspect="1"/>
          </p:cNvPicPr>
          <p:nvPr/>
        </p:nvPicPr>
        <p:blipFill>
          <a:blip r:embed="rId2"/>
          <a:stretch>
            <a:fillRect/>
          </a:stretch>
        </p:blipFill>
        <p:spPr>
          <a:xfrm>
            <a:off x="794656" y="2181734"/>
            <a:ext cx="7120498" cy="894053"/>
          </a:xfrm>
          <a:prstGeom prst="rect">
            <a:avLst/>
          </a:prstGeom>
        </p:spPr>
      </p:pic>
      <p:pic>
        <p:nvPicPr>
          <p:cNvPr id="13" name="Picture 12">
            <a:extLst>
              <a:ext uri="{FF2B5EF4-FFF2-40B4-BE49-F238E27FC236}">
                <a16:creationId xmlns:a16="http://schemas.microsoft.com/office/drawing/2014/main" id="{37B64BB2-2F48-62E2-C33D-921C0E88B831}"/>
              </a:ext>
            </a:extLst>
          </p:cNvPr>
          <p:cNvPicPr>
            <a:picLocks noChangeAspect="1"/>
          </p:cNvPicPr>
          <p:nvPr/>
        </p:nvPicPr>
        <p:blipFill>
          <a:blip r:embed="rId3"/>
          <a:stretch>
            <a:fillRect/>
          </a:stretch>
        </p:blipFill>
        <p:spPr>
          <a:xfrm>
            <a:off x="190500" y="3591655"/>
            <a:ext cx="8762999" cy="1095375"/>
          </a:xfrm>
          <a:prstGeom prst="rect">
            <a:avLst/>
          </a:prstGeom>
        </p:spPr>
      </p:pic>
      <p:pic>
        <p:nvPicPr>
          <p:cNvPr id="17" name="Picture 16">
            <a:extLst>
              <a:ext uri="{FF2B5EF4-FFF2-40B4-BE49-F238E27FC236}">
                <a16:creationId xmlns:a16="http://schemas.microsoft.com/office/drawing/2014/main" id="{E25EE890-C784-DC0E-D907-BB4B094BDF98}"/>
              </a:ext>
            </a:extLst>
          </p:cNvPr>
          <p:cNvPicPr>
            <a:picLocks noChangeAspect="1"/>
          </p:cNvPicPr>
          <p:nvPr/>
        </p:nvPicPr>
        <p:blipFill>
          <a:blip r:embed="rId4"/>
          <a:stretch>
            <a:fillRect/>
          </a:stretch>
        </p:blipFill>
        <p:spPr>
          <a:xfrm>
            <a:off x="628650" y="4693752"/>
            <a:ext cx="7870745" cy="568644"/>
          </a:xfrm>
          <a:prstGeom prst="rect">
            <a:avLst/>
          </a:prstGeom>
        </p:spPr>
      </p:pic>
      <p:sp>
        <p:nvSpPr>
          <p:cNvPr id="19" name="TextBox 18">
            <a:extLst>
              <a:ext uri="{FF2B5EF4-FFF2-40B4-BE49-F238E27FC236}">
                <a16:creationId xmlns:a16="http://schemas.microsoft.com/office/drawing/2014/main" id="{9A0C77ED-5469-7E0B-7FFE-F8DB35875B1D}"/>
              </a:ext>
            </a:extLst>
          </p:cNvPr>
          <p:cNvSpPr txBox="1"/>
          <p:nvPr/>
        </p:nvSpPr>
        <p:spPr>
          <a:xfrm>
            <a:off x="794656" y="5391833"/>
            <a:ext cx="4572000" cy="707886"/>
          </a:xfrm>
          <a:prstGeom prst="rect">
            <a:avLst/>
          </a:prstGeom>
          <a:noFill/>
        </p:spPr>
        <p:txBody>
          <a:bodyPr wrap="square">
            <a:spAutoFit/>
          </a:bodyPr>
          <a:lstStyle/>
          <a:p>
            <a:pPr algn="l"/>
            <a:r>
              <a:rPr lang="en-US" sz="2000" b="0" i="0" u="none" strike="noStrike" baseline="0" dirty="0">
                <a:latin typeface="Arial" panose="020B0604020202020204" pitchFamily="34" charset="0"/>
                <a:cs typeface="Arial" panose="020B0604020202020204" pitchFamily="34" charset="0"/>
              </a:rPr>
              <a:t>while Q</a:t>
            </a:r>
            <a:r>
              <a:rPr lang="en-US" sz="2000" dirty="0">
                <a:latin typeface="Arial" panose="020B0604020202020204" pitchFamily="34" charset="0"/>
                <a:cs typeface="Arial" panose="020B0604020202020204" pitchFamily="34" charset="0"/>
              </a:rPr>
              <a:t>(.)</a:t>
            </a:r>
            <a:r>
              <a:rPr lang="en-US" sz="2000" b="0" i="0" u="none" strike="noStrike" baseline="0" dirty="0">
                <a:latin typeface="Arial" panose="020B0604020202020204" pitchFamily="34" charset="0"/>
                <a:cs typeface="Arial" panose="020B0604020202020204" pitchFamily="34" charset="0"/>
              </a:rPr>
              <a:t> is the standard Q-function defined as</a:t>
            </a:r>
            <a:endParaRPr lang="en-US" sz="2000" dirty="0">
              <a:latin typeface="Arial" panose="020B0604020202020204" pitchFamily="34" charset="0"/>
              <a:cs typeface="Arial" panose="020B0604020202020204" pitchFamily="34" charset="0"/>
            </a:endParaRPr>
          </a:p>
        </p:txBody>
      </p:sp>
      <p:pic>
        <p:nvPicPr>
          <p:cNvPr id="21" name="Picture 20">
            <a:extLst>
              <a:ext uri="{FF2B5EF4-FFF2-40B4-BE49-F238E27FC236}">
                <a16:creationId xmlns:a16="http://schemas.microsoft.com/office/drawing/2014/main" id="{D0A64E46-21BE-8AA6-5BEA-D1776F7B3192}"/>
              </a:ext>
            </a:extLst>
          </p:cNvPr>
          <p:cNvPicPr>
            <a:picLocks noChangeAspect="1"/>
          </p:cNvPicPr>
          <p:nvPr/>
        </p:nvPicPr>
        <p:blipFill>
          <a:blip r:embed="rId5"/>
          <a:stretch>
            <a:fillRect/>
          </a:stretch>
        </p:blipFill>
        <p:spPr>
          <a:xfrm>
            <a:off x="5103197" y="5774811"/>
            <a:ext cx="3659802" cy="931144"/>
          </a:xfrm>
          <a:prstGeom prst="rect">
            <a:avLst/>
          </a:prstGeom>
        </p:spPr>
      </p:pic>
      <p:sp>
        <p:nvSpPr>
          <p:cNvPr id="23" name="TextBox 22">
            <a:extLst>
              <a:ext uri="{FF2B5EF4-FFF2-40B4-BE49-F238E27FC236}">
                <a16:creationId xmlns:a16="http://schemas.microsoft.com/office/drawing/2014/main" id="{28E7B46E-F738-E3F1-D694-FEEFCC29A1C5}"/>
              </a:ext>
            </a:extLst>
          </p:cNvPr>
          <p:cNvSpPr txBox="1"/>
          <p:nvPr/>
        </p:nvSpPr>
        <p:spPr>
          <a:xfrm>
            <a:off x="190500" y="6473634"/>
            <a:ext cx="4991100" cy="276999"/>
          </a:xfrm>
          <a:prstGeom prst="rect">
            <a:avLst/>
          </a:prstGeom>
          <a:noFill/>
        </p:spPr>
        <p:txBody>
          <a:bodyPr wrap="square">
            <a:spAutoFit/>
          </a:bodyPr>
          <a:lstStyle/>
          <a:p>
            <a:r>
              <a:rPr lang="en-US" sz="1200" b="0" i="0" u="none" strike="noStrike" baseline="0" dirty="0">
                <a:latin typeface="AdvP41153C"/>
              </a:rPr>
              <a:t>Ref: </a:t>
            </a:r>
            <a:r>
              <a:rPr lang="en-US" sz="1200" b="0" i="0" u="none" strike="noStrike" baseline="0" dirty="0" err="1">
                <a:latin typeface="AdvP41153C"/>
              </a:rPr>
              <a:t>Proakis</a:t>
            </a:r>
            <a:r>
              <a:rPr lang="en-US" sz="1200" b="0" i="0" u="none" strike="noStrike" baseline="0" dirty="0">
                <a:latin typeface="AdvP41153C"/>
              </a:rPr>
              <a:t>, J.G. (2008) </a:t>
            </a:r>
            <a:r>
              <a:rPr lang="en-US" sz="1200" b="0" i="0" u="none" strike="noStrike" baseline="0" dirty="0">
                <a:latin typeface="AdvP3D1FEB"/>
              </a:rPr>
              <a:t>Digital Communications 5/E</a:t>
            </a:r>
            <a:r>
              <a:rPr lang="en-US" sz="1200" b="0" i="0" u="none" strike="noStrike" baseline="0" dirty="0">
                <a:latin typeface="AdvP41153C"/>
              </a:rPr>
              <a:t>, McGraw-Hill, New York.</a:t>
            </a:r>
            <a:endParaRPr lang="en-US" sz="1200" dirty="0"/>
          </a:p>
        </p:txBody>
      </p:sp>
    </p:spTree>
    <p:extLst>
      <p:ext uri="{BB962C8B-B14F-4D97-AF65-F5344CB8AC3E}">
        <p14:creationId xmlns:p14="http://schemas.microsoft.com/office/powerpoint/2010/main" val="28916818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60B8F-9E65-6255-9FA7-13FB479122FB}"/>
              </a:ext>
            </a:extLst>
          </p:cNvPr>
          <p:cNvSpPr>
            <a:spLocks noGrp="1"/>
          </p:cNvSpPr>
          <p:nvPr>
            <p:ph type="title"/>
          </p:nvPr>
        </p:nvSpPr>
        <p:spPr>
          <a:xfrm>
            <a:off x="628650" y="0"/>
            <a:ext cx="7886700" cy="1325563"/>
          </a:xfrm>
        </p:spPr>
        <p:txBody>
          <a:bodyPr>
            <a:normAutofit/>
          </a:bodyPr>
          <a:lstStyle/>
          <a:p>
            <a:r>
              <a:rPr lang="en-US" sz="3600" b="1" dirty="0">
                <a:latin typeface="Arial" panose="020B0604020202020204" pitchFamily="34" charset="0"/>
                <a:cs typeface="Arial" panose="020B0604020202020204" pitchFamily="34" charset="0"/>
              </a:rPr>
              <a:t>Note:</a:t>
            </a:r>
          </a:p>
        </p:txBody>
      </p:sp>
      <p:sp>
        <p:nvSpPr>
          <p:cNvPr id="5" name="TextBox 4">
            <a:extLst>
              <a:ext uri="{FF2B5EF4-FFF2-40B4-BE49-F238E27FC236}">
                <a16:creationId xmlns:a16="http://schemas.microsoft.com/office/drawing/2014/main" id="{4CBC43E9-3219-E835-4DA6-47A9E1D27919}"/>
              </a:ext>
            </a:extLst>
          </p:cNvPr>
          <p:cNvSpPr txBox="1"/>
          <p:nvPr/>
        </p:nvSpPr>
        <p:spPr>
          <a:xfrm>
            <a:off x="628650" y="1917450"/>
            <a:ext cx="7886699" cy="1015663"/>
          </a:xfrm>
          <a:prstGeom prst="rect">
            <a:avLst/>
          </a:prstGeom>
          <a:noFill/>
        </p:spPr>
        <p:txBody>
          <a:bodyPr wrap="square">
            <a:spAutoFit/>
          </a:bodyPr>
          <a:lstStyle/>
          <a:p>
            <a:pPr algn="l"/>
            <a:r>
              <a:rPr lang="en-US" sz="2000" b="0" i="0" u="none" strike="noStrike" baseline="0" dirty="0">
                <a:latin typeface="AdvP41153C"/>
              </a:rPr>
              <a:t>if </a:t>
            </a:r>
            <a:r>
              <a:rPr lang="en-US" sz="2000" b="0" i="0" u="none" strike="noStrike" baseline="0" dirty="0">
                <a:latin typeface="AdvP3D1FEB"/>
              </a:rPr>
              <a:t>N</a:t>
            </a:r>
            <a:r>
              <a:rPr lang="en-US" sz="2000" b="0" i="0" u="none" strike="noStrike" baseline="-25000" dirty="0">
                <a:latin typeface="AdvP3D1FEB"/>
              </a:rPr>
              <a:t>used</a:t>
            </a:r>
            <a:r>
              <a:rPr lang="en-US" sz="2000" b="0" i="0" u="none" strike="noStrike" baseline="0" dirty="0">
                <a:latin typeface="AdvP3D1FEB"/>
              </a:rPr>
              <a:t> </a:t>
            </a:r>
            <a:r>
              <a:rPr lang="en-US" sz="2000" b="0" i="0" u="none" strike="noStrike" baseline="0" dirty="0">
                <a:latin typeface="AdvP41153C"/>
              </a:rPr>
              <a:t>subcarriers out of total </a:t>
            </a:r>
            <a:r>
              <a:rPr lang="en-US" sz="2000" b="0" i="1" u="none" strike="noStrike" baseline="0" dirty="0">
                <a:latin typeface="AdvP3D1FEB"/>
              </a:rPr>
              <a:t>N</a:t>
            </a:r>
            <a:r>
              <a:rPr lang="en-US" sz="2000" b="0" i="0" u="none" strike="noStrike" baseline="0" dirty="0">
                <a:latin typeface="AdvP3D1FEB"/>
              </a:rPr>
              <a:t> </a:t>
            </a:r>
            <a:r>
              <a:rPr lang="en-US" sz="2000" b="0" i="0" u="none" strike="noStrike" baseline="0" dirty="0">
                <a:latin typeface="AdvP41153C"/>
              </a:rPr>
              <a:t>(FFT size) subcarriers (except </a:t>
            </a:r>
            <a:r>
              <a:rPr lang="en-US" sz="2000" b="0" i="1" u="none" strike="noStrike" baseline="0" dirty="0">
                <a:latin typeface="AdvP3D1FEB"/>
              </a:rPr>
              <a:t>N</a:t>
            </a:r>
            <a:r>
              <a:rPr lang="en-US" sz="2000" b="0" i="0" u="none" strike="noStrike" baseline="-25000" dirty="0">
                <a:latin typeface="AdvP3D1FEB"/>
              </a:rPr>
              <a:t>vc</a:t>
            </a:r>
            <a:r>
              <a:rPr lang="en-US" sz="2000" b="0" i="0" u="none" strike="noStrike" baseline="0" dirty="0">
                <a:latin typeface="AdvP3D1FEB"/>
              </a:rPr>
              <a:t> </a:t>
            </a:r>
            <a:r>
              <a:rPr lang="en-US" sz="2000" dirty="0">
                <a:latin typeface="AdvP4C4E74"/>
              </a:rPr>
              <a:t>=</a:t>
            </a:r>
            <a:r>
              <a:rPr lang="en-US" sz="2000" b="0" i="0" u="none" strike="noStrike" baseline="0" dirty="0">
                <a:latin typeface="AdvP4C4E74"/>
              </a:rPr>
              <a:t> </a:t>
            </a:r>
            <a:r>
              <a:rPr lang="en-US" sz="2000" b="0" i="1" u="none" strike="noStrike" baseline="0" dirty="0">
                <a:latin typeface="AdvP4C4E74"/>
              </a:rPr>
              <a:t>N</a:t>
            </a:r>
            <a:r>
              <a:rPr lang="en-US" sz="2000" b="0" i="0" u="none" strike="noStrike" baseline="0" dirty="0">
                <a:latin typeface="AdvP4C4E74"/>
              </a:rPr>
              <a:t> - </a:t>
            </a:r>
            <a:r>
              <a:rPr lang="en-US" sz="2000" b="0" i="1" u="none" strike="noStrike" baseline="0" dirty="0">
                <a:latin typeface="AdvP3D1FEB"/>
              </a:rPr>
              <a:t>N</a:t>
            </a:r>
            <a:r>
              <a:rPr lang="en-US" sz="2000" b="0" i="0" u="none" strike="noStrike" baseline="-25000" dirty="0">
                <a:latin typeface="AdvP3D1FEB"/>
              </a:rPr>
              <a:t>nused</a:t>
            </a:r>
            <a:r>
              <a:rPr lang="en-US" sz="2000" b="0" i="0" u="none" strike="noStrike" baseline="0" dirty="0">
                <a:latin typeface="AdvP3D1FEB"/>
              </a:rPr>
              <a:t> </a:t>
            </a:r>
            <a:r>
              <a:rPr lang="en-US" sz="2000" b="0" i="0" u="none" strike="noStrike" baseline="0" dirty="0">
                <a:latin typeface="AdvP41153C"/>
              </a:rPr>
              <a:t>virtual subcarriers) are used for carrying data, the time-domain SNR, </a:t>
            </a:r>
            <a:r>
              <a:rPr lang="en-US" sz="2000" b="0" i="0" u="none" strike="noStrike" baseline="0" dirty="0">
                <a:latin typeface="AdvP3D1FEB"/>
              </a:rPr>
              <a:t>SNR</a:t>
            </a:r>
            <a:r>
              <a:rPr lang="en-US" sz="2000" b="0" i="0" u="none" strike="noStrike" baseline="-25000" dirty="0">
                <a:latin typeface="AdvP3D1FEB"/>
              </a:rPr>
              <a:t>t</a:t>
            </a:r>
            <a:r>
              <a:rPr lang="en-US" sz="2000" b="0" i="0" u="none" strike="noStrike" baseline="0" dirty="0">
                <a:latin typeface="AdvP41153C"/>
              </a:rPr>
              <a:t>, differs from the frequency-domain SNR, </a:t>
            </a:r>
            <a:r>
              <a:rPr lang="en-US" sz="2000" b="0" i="0" u="none" strike="noStrike" baseline="0" dirty="0">
                <a:latin typeface="AdvP3D1FEB"/>
              </a:rPr>
              <a:t>SNR</a:t>
            </a:r>
            <a:r>
              <a:rPr lang="en-US" sz="2000" b="0" i="0" u="none" strike="noStrike" baseline="-25000" dirty="0">
                <a:latin typeface="AdvP3D1FEB"/>
              </a:rPr>
              <a:t>f</a:t>
            </a:r>
            <a:r>
              <a:rPr lang="en-US" sz="2000" b="0" i="0" u="none" strike="noStrike" baseline="0" dirty="0">
                <a:latin typeface="AdvP3D1FEB"/>
              </a:rPr>
              <a:t> </a:t>
            </a:r>
            <a:r>
              <a:rPr lang="en-US" sz="2000" b="0" i="0" u="none" strike="noStrike" baseline="0" dirty="0">
                <a:latin typeface="AdvP41153C"/>
              </a:rPr>
              <a:t>, as follows:</a:t>
            </a:r>
            <a:endParaRPr lang="en-US" sz="2000" dirty="0"/>
          </a:p>
        </p:txBody>
      </p:sp>
      <p:pic>
        <p:nvPicPr>
          <p:cNvPr id="7" name="Picture 6">
            <a:extLst>
              <a:ext uri="{FF2B5EF4-FFF2-40B4-BE49-F238E27FC236}">
                <a16:creationId xmlns:a16="http://schemas.microsoft.com/office/drawing/2014/main" id="{2F307E87-3B9E-1CFE-9919-F465BD8276DC}"/>
              </a:ext>
            </a:extLst>
          </p:cNvPr>
          <p:cNvPicPr>
            <a:picLocks noChangeAspect="1"/>
          </p:cNvPicPr>
          <p:nvPr/>
        </p:nvPicPr>
        <p:blipFill>
          <a:blip r:embed="rId2"/>
          <a:stretch>
            <a:fillRect/>
          </a:stretch>
        </p:blipFill>
        <p:spPr>
          <a:xfrm>
            <a:off x="2051869" y="3295752"/>
            <a:ext cx="4764379" cy="1015663"/>
          </a:xfrm>
          <a:prstGeom prst="rect">
            <a:avLst/>
          </a:prstGeom>
        </p:spPr>
      </p:pic>
    </p:spTree>
    <p:extLst>
      <p:ext uri="{BB962C8B-B14F-4D97-AF65-F5344CB8AC3E}">
        <p14:creationId xmlns:p14="http://schemas.microsoft.com/office/powerpoint/2010/main" val="33934609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5EFC5-A8E2-13F0-5A43-B8DE06917EE0}"/>
              </a:ext>
            </a:extLst>
          </p:cNvPr>
          <p:cNvSpPr>
            <a:spLocks noGrp="1"/>
          </p:cNvSpPr>
          <p:nvPr>
            <p:ph type="title"/>
          </p:nvPr>
        </p:nvSpPr>
        <p:spPr>
          <a:xfrm>
            <a:off x="628650" y="259129"/>
            <a:ext cx="7886700" cy="639234"/>
          </a:xfrm>
        </p:spPr>
        <p:txBody>
          <a:bodyPr>
            <a:noAutofit/>
          </a:bodyPr>
          <a:lstStyle/>
          <a:p>
            <a:r>
              <a:rPr lang="en-US" sz="3600" b="0" i="0" u="none" strike="noStrike" baseline="0" dirty="0">
                <a:latin typeface="Arial" panose="020B0604020202020204" pitchFamily="34" charset="0"/>
                <a:cs typeface="Arial" panose="020B0604020202020204" pitchFamily="34" charset="0"/>
              </a:rPr>
              <a:t>BER performance for OFDM system with 16-QAM.</a:t>
            </a:r>
            <a:endParaRPr lang="en-US" sz="36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5431A2CC-5CEC-E25F-E778-C0D84D455278}"/>
              </a:ext>
            </a:extLst>
          </p:cNvPr>
          <p:cNvPicPr>
            <a:picLocks noChangeAspect="1"/>
          </p:cNvPicPr>
          <p:nvPr/>
        </p:nvPicPr>
        <p:blipFill>
          <a:blip r:embed="rId2"/>
          <a:stretch>
            <a:fillRect/>
          </a:stretch>
        </p:blipFill>
        <p:spPr>
          <a:xfrm>
            <a:off x="1545772" y="1004360"/>
            <a:ext cx="6379028" cy="5594511"/>
          </a:xfrm>
          <a:prstGeom prst="rect">
            <a:avLst/>
          </a:prstGeom>
        </p:spPr>
      </p:pic>
    </p:spTree>
    <p:extLst>
      <p:ext uri="{BB962C8B-B14F-4D97-AF65-F5344CB8AC3E}">
        <p14:creationId xmlns:p14="http://schemas.microsoft.com/office/powerpoint/2010/main" val="5853660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EAD1B75-D14A-86D2-AC62-DBD845964FC0}"/>
              </a:ext>
            </a:extLst>
          </p:cNvPr>
          <p:cNvPicPr>
            <a:picLocks noChangeAspect="1"/>
          </p:cNvPicPr>
          <p:nvPr/>
        </p:nvPicPr>
        <p:blipFill>
          <a:blip r:embed="rId2"/>
          <a:stretch>
            <a:fillRect/>
          </a:stretch>
        </p:blipFill>
        <p:spPr>
          <a:xfrm>
            <a:off x="1415143" y="1110343"/>
            <a:ext cx="6052457" cy="5526714"/>
          </a:xfrm>
          <a:prstGeom prst="rect">
            <a:avLst/>
          </a:prstGeom>
        </p:spPr>
      </p:pic>
      <p:sp>
        <p:nvSpPr>
          <p:cNvPr id="6" name="Title 1">
            <a:extLst>
              <a:ext uri="{FF2B5EF4-FFF2-40B4-BE49-F238E27FC236}">
                <a16:creationId xmlns:a16="http://schemas.microsoft.com/office/drawing/2014/main" id="{8323371B-924F-1BF0-9707-5FEA472BB1C1}"/>
              </a:ext>
            </a:extLst>
          </p:cNvPr>
          <p:cNvSpPr>
            <a:spLocks noGrp="1"/>
          </p:cNvSpPr>
          <p:nvPr>
            <p:ph type="title"/>
          </p:nvPr>
        </p:nvSpPr>
        <p:spPr>
          <a:xfrm>
            <a:off x="628650" y="365125"/>
            <a:ext cx="7886700" cy="744538"/>
          </a:xfrm>
        </p:spPr>
        <p:txBody>
          <a:bodyPr>
            <a:noAutofit/>
          </a:bodyPr>
          <a:lstStyle/>
          <a:p>
            <a:r>
              <a:rPr lang="en-US" sz="3600" b="0" i="0" u="none" strike="noStrike" baseline="0" dirty="0">
                <a:latin typeface="Arial" panose="020B0604020202020204" pitchFamily="34" charset="0"/>
                <a:cs typeface="Arial" panose="020B0604020202020204" pitchFamily="34" charset="0"/>
              </a:rPr>
              <a:t>BER performance for OFDM system with 16-QAM.</a:t>
            </a:r>
            <a:endParaRPr lang="en-US" sz="3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761912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6E517-DFE9-8B92-B691-543692019C1D}"/>
              </a:ext>
            </a:extLst>
          </p:cNvPr>
          <p:cNvSpPr>
            <a:spLocks noGrp="1"/>
          </p:cNvSpPr>
          <p:nvPr>
            <p:ph type="title"/>
          </p:nvPr>
        </p:nvSpPr>
        <p:spPr>
          <a:xfrm>
            <a:off x="413657" y="184805"/>
            <a:ext cx="8512629" cy="1505883"/>
          </a:xfrm>
        </p:spPr>
        <p:txBody>
          <a:bodyPr vert="horz" lIns="91440" tIns="45720" rIns="91440" bIns="45720" rtlCol="0" anchor="ctr">
            <a:normAutofit/>
          </a:bodyPr>
          <a:lstStyle/>
          <a:p>
            <a:r>
              <a:rPr lang="en-US" sz="3600" b="0" i="0" u="none" strike="noStrike" kern="1200" baseline="0" dirty="0">
                <a:solidFill>
                  <a:schemeClr val="tx1"/>
                </a:solidFill>
                <a:latin typeface="Arial" panose="020B0604020202020204" pitchFamily="34" charset="0"/>
                <a:cs typeface="Arial" panose="020B0604020202020204" pitchFamily="34" charset="0"/>
              </a:rPr>
              <a:t>Comparison between the single-carrier and </a:t>
            </a:r>
            <a:r>
              <a:rPr lang="en-US" sz="3600" dirty="0">
                <a:latin typeface="Arial" panose="020B0604020202020204" pitchFamily="34" charset="0"/>
                <a:cs typeface="Arial" panose="020B0604020202020204" pitchFamily="34" charset="0"/>
              </a:rPr>
              <a:t>multi-carrier transmission schemes</a:t>
            </a:r>
          </a:p>
        </p:txBody>
      </p:sp>
      <p:pic>
        <p:nvPicPr>
          <p:cNvPr id="9" name="Picture 8">
            <a:extLst>
              <a:ext uri="{FF2B5EF4-FFF2-40B4-BE49-F238E27FC236}">
                <a16:creationId xmlns:a16="http://schemas.microsoft.com/office/drawing/2014/main" id="{A03B7215-B894-09C2-0F1D-F3105B6B2AD2}"/>
              </a:ext>
            </a:extLst>
          </p:cNvPr>
          <p:cNvPicPr>
            <a:picLocks noChangeAspect="1"/>
          </p:cNvPicPr>
          <p:nvPr/>
        </p:nvPicPr>
        <p:blipFill>
          <a:blip r:embed="rId2"/>
          <a:stretch>
            <a:fillRect/>
          </a:stretch>
        </p:blipFill>
        <p:spPr>
          <a:xfrm>
            <a:off x="696947" y="1845426"/>
            <a:ext cx="7747816" cy="4450303"/>
          </a:xfrm>
          <a:prstGeom prst="rect">
            <a:avLst/>
          </a:prstGeom>
        </p:spPr>
      </p:pic>
      <p:pic>
        <p:nvPicPr>
          <p:cNvPr id="5" name="Picture 4">
            <a:extLst>
              <a:ext uri="{FF2B5EF4-FFF2-40B4-BE49-F238E27FC236}">
                <a16:creationId xmlns:a16="http://schemas.microsoft.com/office/drawing/2014/main" id="{9152CA3F-1CE4-6508-9EEE-7526332FE4EF}"/>
              </a:ext>
            </a:extLst>
          </p:cNvPr>
          <p:cNvPicPr>
            <a:picLocks noChangeAspect="1"/>
          </p:cNvPicPr>
          <p:nvPr/>
        </p:nvPicPr>
        <p:blipFill>
          <a:blip r:embed="rId3"/>
          <a:stretch>
            <a:fillRect/>
          </a:stretch>
        </p:blipFill>
        <p:spPr>
          <a:xfrm>
            <a:off x="4571987" y="3428994"/>
            <a:ext cx="25" cy="12"/>
          </a:xfrm>
          <a:prstGeom prst="rect">
            <a:avLst/>
          </a:prstGeom>
        </p:spPr>
      </p:pic>
    </p:spTree>
    <p:extLst>
      <p:ext uri="{BB962C8B-B14F-4D97-AF65-F5344CB8AC3E}">
        <p14:creationId xmlns:p14="http://schemas.microsoft.com/office/powerpoint/2010/main" val="9161853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FF2B7-B898-A136-5F87-68984D8FE983}"/>
              </a:ext>
            </a:extLst>
          </p:cNvPr>
          <p:cNvSpPr>
            <a:spLocks noGrp="1"/>
          </p:cNvSpPr>
          <p:nvPr>
            <p:ph type="title"/>
          </p:nvPr>
        </p:nvSpPr>
        <p:spPr>
          <a:xfrm>
            <a:off x="628650" y="190955"/>
            <a:ext cx="7886700" cy="952045"/>
          </a:xfrm>
        </p:spPr>
        <p:txBody>
          <a:bodyPr>
            <a:normAutofit fontScale="90000"/>
          </a:bodyPr>
          <a:lstStyle/>
          <a:p>
            <a:r>
              <a:rPr lang="en-US" sz="3600" b="0" i="0" u="none" strike="noStrike" baseline="0" dirty="0">
                <a:latin typeface="Arial" panose="020B0604020202020204" pitchFamily="34" charset="0"/>
                <a:cs typeface="Arial" panose="020B0604020202020204" pitchFamily="34" charset="0"/>
              </a:rPr>
              <a:t>OFDMA: Multiple Access Extensions of OFDM</a:t>
            </a:r>
            <a:endParaRPr lang="en-US" sz="3600"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707D58F6-A1C8-9F10-2984-27079E5FD3E8}"/>
              </a:ext>
            </a:extLst>
          </p:cNvPr>
          <p:cNvSpPr txBox="1"/>
          <p:nvPr/>
        </p:nvSpPr>
        <p:spPr>
          <a:xfrm>
            <a:off x="628650" y="1224954"/>
            <a:ext cx="8069036" cy="1938992"/>
          </a:xfrm>
          <a:prstGeom prst="rect">
            <a:avLst/>
          </a:prstGeom>
          <a:noFill/>
        </p:spPr>
        <p:txBody>
          <a:bodyPr wrap="square">
            <a:spAutoFit/>
          </a:bodyPr>
          <a:lstStyle/>
          <a:p>
            <a:pPr algn="l"/>
            <a:r>
              <a:rPr lang="en-US" sz="2000" b="0" i="0" u="none" strike="noStrike" baseline="0" dirty="0">
                <a:latin typeface="Arial" panose="020B0604020202020204" pitchFamily="34" charset="0"/>
                <a:cs typeface="Arial" panose="020B0604020202020204" pitchFamily="34" charset="0"/>
              </a:rPr>
              <a:t>In general, OFDM is a transmission technique in which all subcarriers are used for transmitting the symbols of a single user. </a:t>
            </a:r>
          </a:p>
          <a:p>
            <a:pPr algn="l"/>
            <a:endParaRPr lang="en-US" sz="2000" dirty="0">
              <a:latin typeface="Arial" panose="020B0604020202020204" pitchFamily="34" charset="0"/>
              <a:cs typeface="Arial" panose="020B0604020202020204" pitchFamily="34" charset="0"/>
            </a:endParaRPr>
          </a:p>
          <a:p>
            <a:pPr algn="l"/>
            <a:r>
              <a:rPr lang="en-US" sz="2000" b="0" i="0" u="none" strike="noStrike" baseline="0" dirty="0">
                <a:latin typeface="Arial" panose="020B0604020202020204" pitchFamily="34" charset="0"/>
                <a:cs typeface="Arial" panose="020B0604020202020204" pitchFamily="34" charset="0"/>
              </a:rPr>
              <a:t>In other words, OFDM is not a multiple access technique by itself, but it can be combined with existing multiple access techniques such as TDMA, FDMA,  and CDMA for a multi-user system</a:t>
            </a:r>
            <a:endParaRPr lang="en-US" sz="2000"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2EB60003-460A-B660-E3F9-05AE4C5443AC}"/>
              </a:ext>
            </a:extLst>
          </p:cNvPr>
          <p:cNvPicPr>
            <a:picLocks noChangeAspect="1"/>
          </p:cNvPicPr>
          <p:nvPr/>
        </p:nvPicPr>
        <p:blipFill>
          <a:blip r:embed="rId2"/>
          <a:stretch>
            <a:fillRect/>
          </a:stretch>
        </p:blipFill>
        <p:spPr>
          <a:xfrm>
            <a:off x="240848" y="3429000"/>
            <a:ext cx="8631011" cy="2901334"/>
          </a:xfrm>
          <a:prstGeom prst="rect">
            <a:avLst/>
          </a:prstGeom>
        </p:spPr>
      </p:pic>
      <p:sp>
        <p:nvSpPr>
          <p:cNvPr id="9" name="TextBox 8">
            <a:extLst>
              <a:ext uri="{FF2B5EF4-FFF2-40B4-BE49-F238E27FC236}">
                <a16:creationId xmlns:a16="http://schemas.microsoft.com/office/drawing/2014/main" id="{5A0C0640-C596-F9EF-BAA3-F2802C764CCA}"/>
              </a:ext>
            </a:extLst>
          </p:cNvPr>
          <p:cNvSpPr txBox="1"/>
          <p:nvPr/>
        </p:nvSpPr>
        <p:spPr>
          <a:xfrm>
            <a:off x="1774369" y="6297713"/>
            <a:ext cx="6923317" cy="369332"/>
          </a:xfrm>
          <a:prstGeom prst="rect">
            <a:avLst/>
          </a:prstGeom>
          <a:noFill/>
        </p:spPr>
        <p:txBody>
          <a:bodyPr wrap="square">
            <a:spAutoFit/>
          </a:bodyPr>
          <a:lstStyle/>
          <a:p>
            <a:r>
              <a:rPr lang="en-US" sz="1800" b="0" i="0" u="none" strike="noStrike" baseline="0" dirty="0">
                <a:latin typeface="AdvP41153C"/>
              </a:rPr>
              <a:t>Multiple access techniques used in OFDM systems</a:t>
            </a:r>
            <a:endParaRPr lang="en-US" dirty="0"/>
          </a:p>
        </p:txBody>
      </p:sp>
    </p:spTree>
    <p:extLst>
      <p:ext uri="{BB962C8B-B14F-4D97-AF65-F5344CB8AC3E}">
        <p14:creationId xmlns:p14="http://schemas.microsoft.com/office/powerpoint/2010/main" val="21785137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A994D5A-03D1-7453-2FF8-20FA927A3543}"/>
              </a:ext>
            </a:extLst>
          </p:cNvPr>
          <p:cNvPicPr>
            <a:picLocks noChangeAspect="1"/>
          </p:cNvPicPr>
          <p:nvPr/>
        </p:nvPicPr>
        <p:blipFill>
          <a:blip r:embed="rId2"/>
          <a:stretch>
            <a:fillRect/>
          </a:stretch>
        </p:blipFill>
        <p:spPr>
          <a:xfrm>
            <a:off x="2390094" y="844007"/>
            <a:ext cx="4363811" cy="3548508"/>
          </a:xfrm>
          <a:prstGeom prst="rect">
            <a:avLst/>
          </a:prstGeom>
        </p:spPr>
      </p:pic>
      <p:sp>
        <p:nvSpPr>
          <p:cNvPr id="2" name="Title 1">
            <a:extLst>
              <a:ext uri="{FF2B5EF4-FFF2-40B4-BE49-F238E27FC236}">
                <a16:creationId xmlns:a16="http://schemas.microsoft.com/office/drawing/2014/main" id="{85DF138E-8096-55A8-0A59-45D4D6EFEE40}"/>
              </a:ext>
            </a:extLst>
          </p:cNvPr>
          <p:cNvSpPr>
            <a:spLocks noGrp="1"/>
          </p:cNvSpPr>
          <p:nvPr>
            <p:ph type="title"/>
          </p:nvPr>
        </p:nvSpPr>
        <p:spPr>
          <a:xfrm>
            <a:off x="628649" y="191449"/>
            <a:ext cx="7886700" cy="690788"/>
          </a:xfrm>
        </p:spPr>
        <p:txBody>
          <a:bodyPr>
            <a:normAutofit/>
          </a:bodyPr>
          <a:lstStyle/>
          <a:p>
            <a:r>
              <a:rPr lang="en-US" sz="3600" b="0" i="1" u="none" strike="noStrike" baseline="0" dirty="0">
                <a:latin typeface="Arial" panose="020B0604020202020204" pitchFamily="34" charset="0"/>
                <a:cs typeface="Arial" panose="020B0604020202020204" pitchFamily="34" charset="0"/>
              </a:rPr>
              <a:t>Subcarrier Allocation</a:t>
            </a:r>
            <a:endParaRPr lang="en-US" sz="3600"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4604C655-82E5-91CE-4EE7-AF12F4B41BFC}"/>
              </a:ext>
            </a:extLst>
          </p:cNvPr>
          <p:cNvPicPr>
            <a:picLocks noChangeAspect="1"/>
          </p:cNvPicPr>
          <p:nvPr/>
        </p:nvPicPr>
        <p:blipFill>
          <a:blip r:embed="rId3"/>
          <a:stretch>
            <a:fillRect/>
          </a:stretch>
        </p:blipFill>
        <p:spPr>
          <a:xfrm>
            <a:off x="628650" y="4376555"/>
            <a:ext cx="8164335" cy="2289996"/>
          </a:xfrm>
          <a:prstGeom prst="rect">
            <a:avLst/>
          </a:prstGeom>
        </p:spPr>
      </p:pic>
    </p:spTree>
    <p:extLst>
      <p:ext uri="{BB962C8B-B14F-4D97-AF65-F5344CB8AC3E}">
        <p14:creationId xmlns:p14="http://schemas.microsoft.com/office/powerpoint/2010/main" val="7523114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60630-C96E-B720-CE5F-C20123A499F0}"/>
              </a:ext>
            </a:extLst>
          </p:cNvPr>
          <p:cNvSpPr>
            <a:spLocks noGrp="1"/>
          </p:cNvSpPr>
          <p:nvPr>
            <p:ph type="title"/>
          </p:nvPr>
        </p:nvSpPr>
        <p:spPr>
          <a:xfrm>
            <a:off x="628650" y="452215"/>
            <a:ext cx="7886700" cy="462188"/>
          </a:xfrm>
        </p:spPr>
        <p:txBody>
          <a:bodyPr>
            <a:noAutofit/>
          </a:bodyPr>
          <a:lstStyle/>
          <a:p>
            <a:r>
              <a:rPr lang="en-US" sz="3600" b="0" i="0" u="none" strike="noStrike" baseline="0" dirty="0">
                <a:latin typeface="Arial" panose="020B0604020202020204" pitchFamily="34" charset="0"/>
                <a:cs typeface="Arial" panose="020B0604020202020204" pitchFamily="34" charset="0"/>
              </a:rPr>
              <a:t>Multiple access techniques associated with OFDM: comparison</a:t>
            </a:r>
            <a:endParaRPr lang="en-US" sz="36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1B80220B-E32B-6B80-1CF3-38D6EC83CA40}"/>
              </a:ext>
            </a:extLst>
          </p:cNvPr>
          <p:cNvPicPr>
            <a:picLocks noChangeAspect="1"/>
          </p:cNvPicPr>
          <p:nvPr/>
        </p:nvPicPr>
        <p:blipFill>
          <a:blip r:embed="rId2"/>
          <a:stretch>
            <a:fillRect/>
          </a:stretch>
        </p:blipFill>
        <p:spPr>
          <a:xfrm>
            <a:off x="10886" y="1722821"/>
            <a:ext cx="9144000" cy="4326759"/>
          </a:xfrm>
          <a:prstGeom prst="rect">
            <a:avLst/>
          </a:prstGeom>
        </p:spPr>
      </p:pic>
    </p:spTree>
    <p:extLst>
      <p:ext uri="{BB962C8B-B14F-4D97-AF65-F5344CB8AC3E}">
        <p14:creationId xmlns:p14="http://schemas.microsoft.com/office/powerpoint/2010/main" val="34564850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45220-746C-934C-188B-5EC981F12890}"/>
              </a:ext>
            </a:extLst>
          </p:cNvPr>
          <p:cNvSpPr>
            <a:spLocks noGrp="1"/>
          </p:cNvSpPr>
          <p:nvPr>
            <p:ph type="title"/>
          </p:nvPr>
        </p:nvSpPr>
        <p:spPr>
          <a:xfrm>
            <a:off x="511628" y="310242"/>
            <a:ext cx="7886700" cy="370795"/>
          </a:xfrm>
        </p:spPr>
        <p:txBody>
          <a:bodyPr>
            <a:normAutofit fontScale="90000"/>
          </a:bodyPr>
          <a:lstStyle/>
          <a:p>
            <a:r>
              <a:rPr lang="en-US" sz="3600" b="1" i="0" dirty="0">
                <a:solidFill>
                  <a:srgbClr val="374151"/>
                </a:solidFill>
                <a:effectLst/>
                <a:latin typeface="Arial" panose="020B0604020202020204" pitchFamily="34" charset="0"/>
                <a:cs typeface="Arial" panose="020B0604020202020204" pitchFamily="34" charset="0"/>
              </a:rPr>
              <a:t>OFDM </a:t>
            </a:r>
            <a:r>
              <a:rPr lang="en-US" sz="4000" b="1" dirty="0">
                <a:solidFill>
                  <a:srgbClr val="374151"/>
                </a:solidFill>
                <a:latin typeface="Arial" panose="020B0604020202020204" pitchFamily="34" charset="0"/>
                <a:cs typeface="Arial" panose="020B0604020202020204" pitchFamily="34" charset="0"/>
              </a:rPr>
              <a:t>S</a:t>
            </a:r>
            <a:r>
              <a:rPr lang="en-US" sz="4000" b="1" i="0" dirty="0">
                <a:solidFill>
                  <a:srgbClr val="374151"/>
                </a:solidFill>
                <a:effectLst/>
                <a:latin typeface="Arial" panose="020B0604020202020204" pitchFamily="34" charset="0"/>
                <a:cs typeface="Arial" panose="020B0604020202020204" pitchFamily="34" charset="0"/>
              </a:rPr>
              <a:t>ystem</a:t>
            </a:r>
            <a:r>
              <a:rPr lang="en-US" sz="3600" b="1" i="0" dirty="0">
                <a:solidFill>
                  <a:srgbClr val="374151"/>
                </a:solidFill>
                <a:effectLst/>
                <a:latin typeface="Arial" panose="020B0604020202020204" pitchFamily="34" charset="0"/>
                <a:cs typeface="Arial" panose="020B0604020202020204" pitchFamily="34" charset="0"/>
              </a:rPr>
              <a:t> Design</a:t>
            </a:r>
            <a:endParaRPr lang="en-US" sz="3600"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0BE17933-9037-A580-C250-08AB5AD4B320}"/>
              </a:ext>
            </a:extLst>
          </p:cNvPr>
          <p:cNvSpPr>
            <a:spLocks noGrp="1"/>
          </p:cNvSpPr>
          <p:nvPr>
            <p:ph idx="1"/>
          </p:nvPr>
        </p:nvSpPr>
        <p:spPr>
          <a:xfrm>
            <a:off x="511628" y="932996"/>
            <a:ext cx="8218715" cy="4351338"/>
          </a:xfrm>
        </p:spPr>
        <p:txBody>
          <a:bodyPr>
            <a:noAutofit/>
          </a:bodyPr>
          <a:lstStyle/>
          <a:p>
            <a:pPr algn="l">
              <a:buFont typeface="+mj-lt"/>
              <a:buAutoNum type="arabicPeriod"/>
            </a:pPr>
            <a:r>
              <a:rPr lang="en-US" sz="2000" b="1" i="0" dirty="0">
                <a:solidFill>
                  <a:srgbClr val="374151"/>
                </a:solidFill>
                <a:effectLst/>
                <a:latin typeface="Arial" panose="020B0604020202020204" pitchFamily="34" charset="0"/>
                <a:cs typeface="Arial" panose="020B0604020202020204" pitchFamily="34" charset="0"/>
              </a:rPr>
              <a:t>Carrier frequency</a:t>
            </a:r>
            <a:r>
              <a:rPr lang="en-US" sz="2000" b="0" i="0" dirty="0">
                <a:solidFill>
                  <a:srgbClr val="374151"/>
                </a:solidFill>
                <a:effectLst/>
                <a:latin typeface="Arial" panose="020B0604020202020204" pitchFamily="34" charset="0"/>
                <a:cs typeface="Arial" panose="020B0604020202020204" pitchFamily="34" charset="0"/>
              </a:rPr>
              <a:t>: The frequency at which the signal is transmitted and received.</a:t>
            </a:r>
          </a:p>
          <a:p>
            <a:pPr algn="l">
              <a:buFont typeface="+mj-lt"/>
              <a:buAutoNum type="arabicPeriod"/>
            </a:pPr>
            <a:endParaRPr lang="en-US" sz="2000" b="0" i="0" dirty="0">
              <a:solidFill>
                <a:srgbClr val="374151"/>
              </a:solidFill>
              <a:effectLst/>
              <a:latin typeface="Arial" panose="020B0604020202020204" pitchFamily="34" charset="0"/>
              <a:cs typeface="Arial" panose="020B0604020202020204" pitchFamily="34" charset="0"/>
            </a:endParaRPr>
          </a:p>
          <a:p>
            <a:pPr algn="l">
              <a:buFont typeface="+mj-lt"/>
              <a:buAutoNum type="arabicPeriod"/>
            </a:pPr>
            <a:r>
              <a:rPr lang="en-US" sz="2000" b="1" i="0" dirty="0">
                <a:solidFill>
                  <a:srgbClr val="374151"/>
                </a:solidFill>
                <a:effectLst/>
                <a:latin typeface="Arial" panose="020B0604020202020204" pitchFamily="34" charset="0"/>
                <a:cs typeface="Arial" panose="020B0604020202020204" pitchFamily="34" charset="0"/>
              </a:rPr>
              <a:t>Channel bandwidth</a:t>
            </a:r>
            <a:r>
              <a:rPr lang="en-US" sz="2000" b="0" i="0" dirty="0">
                <a:solidFill>
                  <a:srgbClr val="374151"/>
                </a:solidFill>
                <a:effectLst/>
                <a:latin typeface="Arial" panose="020B0604020202020204" pitchFamily="34" charset="0"/>
                <a:cs typeface="Arial" panose="020B0604020202020204" pitchFamily="34" charset="0"/>
              </a:rPr>
              <a:t>: The bandwidth of the channel over which the signal is transmitted.</a:t>
            </a:r>
          </a:p>
          <a:p>
            <a:pPr algn="l">
              <a:buFont typeface="+mj-lt"/>
              <a:buAutoNum type="arabicPeriod"/>
            </a:pPr>
            <a:endParaRPr lang="en-US" sz="2000" b="0" i="0" dirty="0">
              <a:solidFill>
                <a:srgbClr val="374151"/>
              </a:solidFill>
              <a:effectLst/>
              <a:latin typeface="Arial" panose="020B0604020202020204" pitchFamily="34" charset="0"/>
              <a:cs typeface="Arial" panose="020B0604020202020204" pitchFamily="34" charset="0"/>
            </a:endParaRPr>
          </a:p>
          <a:p>
            <a:pPr algn="l">
              <a:buFont typeface="+mj-lt"/>
              <a:buAutoNum type="arabicPeriod"/>
            </a:pPr>
            <a:r>
              <a:rPr lang="en-US" sz="2000" b="1" i="0" dirty="0">
                <a:solidFill>
                  <a:srgbClr val="374151"/>
                </a:solidFill>
                <a:effectLst/>
                <a:latin typeface="Arial" panose="020B0604020202020204" pitchFamily="34" charset="0"/>
                <a:cs typeface="Arial" panose="020B0604020202020204" pitchFamily="34" charset="0"/>
              </a:rPr>
              <a:t>Subcarrier spacing</a:t>
            </a:r>
            <a:r>
              <a:rPr lang="en-US" sz="2000" b="0" i="0" dirty="0">
                <a:solidFill>
                  <a:srgbClr val="374151"/>
                </a:solidFill>
                <a:effectLst/>
                <a:latin typeface="Arial" panose="020B0604020202020204" pitchFamily="34" charset="0"/>
                <a:cs typeface="Arial" panose="020B0604020202020204" pitchFamily="34" charset="0"/>
              </a:rPr>
              <a:t>: The spacing between adjacent subcarriers in the frequency domain. This parameter affects the spectral efficiency of the OFDM system.</a:t>
            </a:r>
          </a:p>
          <a:p>
            <a:pPr algn="l">
              <a:buFont typeface="+mj-lt"/>
              <a:buAutoNum type="arabicPeriod"/>
            </a:pPr>
            <a:endParaRPr lang="en-US" sz="2000" b="0" i="0" dirty="0">
              <a:solidFill>
                <a:srgbClr val="374151"/>
              </a:solidFill>
              <a:effectLst/>
              <a:latin typeface="Arial" panose="020B0604020202020204" pitchFamily="34" charset="0"/>
              <a:cs typeface="Arial" panose="020B0604020202020204" pitchFamily="34" charset="0"/>
            </a:endParaRPr>
          </a:p>
          <a:p>
            <a:pPr algn="l">
              <a:buFont typeface="+mj-lt"/>
              <a:buAutoNum type="arabicPeriod"/>
            </a:pPr>
            <a:r>
              <a:rPr lang="en-US" sz="2000" b="1" i="0" dirty="0">
                <a:solidFill>
                  <a:srgbClr val="374151"/>
                </a:solidFill>
                <a:effectLst/>
                <a:latin typeface="Arial" panose="020B0604020202020204" pitchFamily="34" charset="0"/>
                <a:cs typeface="Arial" panose="020B0604020202020204" pitchFamily="34" charset="0"/>
              </a:rPr>
              <a:t>Guard interval</a:t>
            </a:r>
            <a:r>
              <a:rPr lang="en-US" sz="2000" b="0" i="0" dirty="0">
                <a:solidFill>
                  <a:srgbClr val="374151"/>
                </a:solidFill>
                <a:effectLst/>
                <a:latin typeface="Arial" panose="020B0604020202020204" pitchFamily="34" charset="0"/>
                <a:cs typeface="Arial" panose="020B0604020202020204" pitchFamily="34" charset="0"/>
              </a:rPr>
              <a:t>: The duration of the cyclic prefix or zero padding used to mitigate inter-symbol interference (ISI) and inter-carrier interference (ICI) caused by multipath propagation.</a:t>
            </a:r>
          </a:p>
          <a:p>
            <a:pPr algn="l">
              <a:buFont typeface="+mj-lt"/>
              <a:buAutoNum type="arabicPeriod"/>
            </a:pPr>
            <a:endParaRPr lang="en-US" sz="2000" b="0" i="0" dirty="0">
              <a:solidFill>
                <a:srgbClr val="374151"/>
              </a:solidFill>
              <a:effectLst/>
              <a:latin typeface="Arial" panose="020B0604020202020204" pitchFamily="34" charset="0"/>
              <a:cs typeface="Arial" panose="020B0604020202020204" pitchFamily="34" charset="0"/>
            </a:endParaRPr>
          </a:p>
          <a:p>
            <a:pPr algn="l">
              <a:buFont typeface="+mj-lt"/>
              <a:buAutoNum type="arabicPeriod"/>
            </a:pPr>
            <a:r>
              <a:rPr lang="en-US" sz="2000" b="1" i="0" dirty="0">
                <a:solidFill>
                  <a:srgbClr val="374151"/>
                </a:solidFill>
                <a:effectLst/>
                <a:latin typeface="Arial" panose="020B0604020202020204" pitchFamily="34" charset="0"/>
                <a:cs typeface="Arial" panose="020B0604020202020204" pitchFamily="34" charset="0"/>
              </a:rPr>
              <a:t>Number of subcarriers</a:t>
            </a:r>
            <a:r>
              <a:rPr lang="en-US" sz="2000" b="0" i="0" dirty="0">
                <a:solidFill>
                  <a:srgbClr val="374151"/>
                </a:solidFill>
                <a:effectLst/>
                <a:latin typeface="Arial" panose="020B0604020202020204" pitchFamily="34" charset="0"/>
                <a:cs typeface="Arial" panose="020B0604020202020204" pitchFamily="34" charset="0"/>
              </a:rPr>
              <a:t>: The total number of subcarriers used in the OFDM system. This parameter affects the granularity of the frequency-domain resource allocation.</a:t>
            </a:r>
          </a:p>
          <a:p>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36357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D475D-CF0B-5BE3-631F-F7CCFF7204A0}"/>
              </a:ext>
            </a:extLst>
          </p:cNvPr>
          <p:cNvSpPr>
            <a:spLocks noGrp="1"/>
          </p:cNvSpPr>
          <p:nvPr>
            <p:ph type="title"/>
          </p:nvPr>
        </p:nvSpPr>
        <p:spPr>
          <a:xfrm>
            <a:off x="628650" y="256269"/>
            <a:ext cx="7886700" cy="603703"/>
          </a:xfrm>
        </p:spPr>
        <p:txBody>
          <a:bodyPr>
            <a:normAutofit/>
          </a:bodyPr>
          <a:lstStyle/>
          <a:p>
            <a:r>
              <a:rPr lang="en-US" sz="3600" b="1" i="0" dirty="0">
                <a:solidFill>
                  <a:srgbClr val="374151"/>
                </a:solidFill>
                <a:effectLst/>
                <a:latin typeface="Arial" panose="020B0604020202020204" pitchFamily="34" charset="0"/>
                <a:cs typeface="Arial" panose="020B0604020202020204" pitchFamily="34" charset="0"/>
              </a:rPr>
              <a:t>OFDM </a:t>
            </a:r>
            <a:r>
              <a:rPr lang="en-US" sz="3600" b="1" dirty="0">
                <a:solidFill>
                  <a:srgbClr val="374151"/>
                </a:solidFill>
                <a:latin typeface="Arial" panose="020B0604020202020204" pitchFamily="34" charset="0"/>
                <a:cs typeface="Arial" panose="020B0604020202020204" pitchFamily="34" charset="0"/>
              </a:rPr>
              <a:t>S</a:t>
            </a:r>
            <a:r>
              <a:rPr lang="en-US" sz="3600" b="1" i="0" dirty="0">
                <a:solidFill>
                  <a:srgbClr val="374151"/>
                </a:solidFill>
                <a:effectLst/>
                <a:latin typeface="Arial" panose="020B0604020202020204" pitchFamily="34" charset="0"/>
                <a:cs typeface="Arial" panose="020B0604020202020204" pitchFamily="34" charset="0"/>
              </a:rPr>
              <a:t>ystem Design</a:t>
            </a:r>
            <a:endParaRPr lang="en-US" sz="3600" dirty="0"/>
          </a:p>
        </p:txBody>
      </p:sp>
      <p:sp>
        <p:nvSpPr>
          <p:cNvPr id="4" name="Content Placeholder 3">
            <a:extLst>
              <a:ext uri="{FF2B5EF4-FFF2-40B4-BE49-F238E27FC236}">
                <a16:creationId xmlns:a16="http://schemas.microsoft.com/office/drawing/2014/main" id="{9A84AF0A-540C-673E-2D5A-6252A33FAA39}"/>
              </a:ext>
            </a:extLst>
          </p:cNvPr>
          <p:cNvSpPr txBox="1">
            <a:spLocks noGrp="1"/>
          </p:cNvSpPr>
          <p:nvPr>
            <p:ph idx="1"/>
          </p:nvPr>
        </p:nvSpPr>
        <p:spPr>
          <a:xfrm>
            <a:off x="628650" y="1139825"/>
            <a:ext cx="7886700" cy="5314275"/>
          </a:xfrm>
          <a:prstGeom prst="rect">
            <a:avLst/>
          </a:prstGeom>
          <a:noFill/>
        </p:spPr>
        <p:txBody>
          <a:bodyPr wrap="square">
            <a:spAutoFit/>
          </a:bodyPr>
          <a:lstStyle/>
          <a:p>
            <a:pPr marL="0" indent="0" algn="l">
              <a:buNone/>
            </a:pPr>
            <a:r>
              <a:rPr lang="en-US" sz="2000" dirty="0">
                <a:solidFill>
                  <a:srgbClr val="374151"/>
                </a:solidFill>
                <a:latin typeface="Arial" panose="020B0604020202020204" pitchFamily="34" charset="0"/>
                <a:cs typeface="Arial" panose="020B0604020202020204" pitchFamily="34" charset="0"/>
              </a:rPr>
              <a:t>6</a:t>
            </a:r>
            <a:r>
              <a:rPr lang="en-US" sz="2000" b="0" i="0" dirty="0">
                <a:solidFill>
                  <a:srgbClr val="374151"/>
                </a:solidFill>
                <a:effectLst/>
                <a:latin typeface="Arial" panose="020B0604020202020204" pitchFamily="34" charset="0"/>
                <a:cs typeface="Arial" panose="020B0604020202020204" pitchFamily="34" charset="0"/>
              </a:rPr>
              <a:t>. </a:t>
            </a:r>
            <a:r>
              <a:rPr lang="en-US" sz="2000" b="1" i="0" dirty="0">
                <a:solidFill>
                  <a:srgbClr val="374151"/>
                </a:solidFill>
                <a:effectLst/>
                <a:latin typeface="Arial" panose="020B0604020202020204" pitchFamily="34" charset="0"/>
                <a:cs typeface="Arial" panose="020B0604020202020204" pitchFamily="34" charset="0"/>
              </a:rPr>
              <a:t>Modulation scheme</a:t>
            </a:r>
            <a:r>
              <a:rPr lang="en-US" sz="2000" b="0" i="0" dirty="0">
                <a:solidFill>
                  <a:srgbClr val="374151"/>
                </a:solidFill>
                <a:effectLst/>
                <a:latin typeface="Arial" panose="020B0604020202020204" pitchFamily="34" charset="0"/>
                <a:cs typeface="Arial" panose="020B0604020202020204" pitchFamily="34" charset="0"/>
              </a:rPr>
              <a:t>: The modulation scheme used to modulate each subcarrier. Common modulation schemes used in OFDM systems include QPSK, 16-QAM, and 64-QAM.</a:t>
            </a:r>
          </a:p>
          <a:p>
            <a:pPr marL="0" indent="0" algn="l">
              <a:buNone/>
            </a:pPr>
            <a:r>
              <a:rPr lang="en-US" sz="2000" dirty="0">
                <a:solidFill>
                  <a:srgbClr val="374151"/>
                </a:solidFill>
                <a:latin typeface="Arial" panose="020B0604020202020204" pitchFamily="34" charset="0"/>
                <a:cs typeface="Arial" panose="020B0604020202020204" pitchFamily="34" charset="0"/>
              </a:rPr>
              <a:t>7</a:t>
            </a:r>
            <a:r>
              <a:rPr lang="en-US" sz="2000" b="0" i="0" dirty="0">
                <a:solidFill>
                  <a:srgbClr val="374151"/>
                </a:solidFill>
                <a:effectLst/>
                <a:latin typeface="Arial" panose="020B0604020202020204" pitchFamily="34" charset="0"/>
                <a:cs typeface="Arial" panose="020B0604020202020204" pitchFamily="34" charset="0"/>
              </a:rPr>
              <a:t>. </a:t>
            </a:r>
            <a:r>
              <a:rPr lang="en-US" sz="2000" b="1" i="0" dirty="0">
                <a:solidFill>
                  <a:srgbClr val="374151"/>
                </a:solidFill>
                <a:effectLst/>
                <a:latin typeface="Arial" panose="020B0604020202020204" pitchFamily="34" charset="0"/>
                <a:cs typeface="Arial" panose="020B0604020202020204" pitchFamily="34" charset="0"/>
              </a:rPr>
              <a:t>Error correction coding</a:t>
            </a:r>
            <a:r>
              <a:rPr lang="en-US" sz="2000" b="0" i="0" dirty="0">
                <a:solidFill>
                  <a:srgbClr val="374151"/>
                </a:solidFill>
                <a:effectLst/>
                <a:latin typeface="Arial" panose="020B0604020202020204" pitchFamily="34" charset="0"/>
                <a:cs typeface="Arial" panose="020B0604020202020204" pitchFamily="34" charset="0"/>
              </a:rPr>
              <a:t>: The error correction coding scheme used to improve the reliability of the transmission. Common coding schemes used in OFDM systems include Reed-Solomon coding and convolutional coding.</a:t>
            </a:r>
          </a:p>
          <a:p>
            <a:pPr marL="0" indent="0" algn="l">
              <a:buNone/>
            </a:pPr>
            <a:r>
              <a:rPr lang="en-US" sz="2000" dirty="0">
                <a:solidFill>
                  <a:srgbClr val="374151"/>
                </a:solidFill>
                <a:latin typeface="Arial" panose="020B0604020202020204" pitchFamily="34" charset="0"/>
                <a:cs typeface="Arial" panose="020B0604020202020204" pitchFamily="34" charset="0"/>
              </a:rPr>
              <a:t>8</a:t>
            </a:r>
            <a:r>
              <a:rPr lang="en-US" sz="2000" b="0" i="0" dirty="0">
                <a:solidFill>
                  <a:srgbClr val="374151"/>
                </a:solidFill>
                <a:effectLst/>
                <a:latin typeface="Arial" panose="020B0604020202020204" pitchFamily="34" charset="0"/>
                <a:cs typeface="Arial" panose="020B0604020202020204" pitchFamily="34" charset="0"/>
              </a:rPr>
              <a:t>. </a:t>
            </a:r>
            <a:r>
              <a:rPr lang="en-US" sz="2000" b="1" i="0" dirty="0">
                <a:solidFill>
                  <a:srgbClr val="374151"/>
                </a:solidFill>
                <a:effectLst/>
                <a:latin typeface="Arial" panose="020B0604020202020204" pitchFamily="34" charset="0"/>
                <a:cs typeface="Arial" panose="020B0604020202020204" pitchFamily="34" charset="0"/>
              </a:rPr>
              <a:t>Channel estimation and equalization</a:t>
            </a:r>
            <a:r>
              <a:rPr lang="en-US" sz="2000" b="0" i="0" dirty="0">
                <a:solidFill>
                  <a:srgbClr val="374151"/>
                </a:solidFill>
                <a:effectLst/>
                <a:latin typeface="Arial" panose="020B0604020202020204" pitchFamily="34" charset="0"/>
                <a:cs typeface="Arial" panose="020B0604020202020204" pitchFamily="34" charset="0"/>
              </a:rPr>
              <a:t>: The methods used to estimate and equalize the channel frequency response at the receiver. Common methods include pilot symbols and training sequences.</a:t>
            </a:r>
          </a:p>
          <a:p>
            <a:pPr marL="0" indent="0" algn="l">
              <a:buNone/>
            </a:pPr>
            <a:r>
              <a:rPr lang="en-US" sz="2000" dirty="0">
                <a:solidFill>
                  <a:srgbClr val="374151"/>
                </a:solidFill>
                <a:latin typeface="Arial" panose="020B0604020202020204" pitchFamily="34" charset="0"/>
                <a:cs typeface="Arial" panose="020B0604020202020204" pitchFamily="34" charset="0"/>
              </a:rPr>
              <a:t>9</a:t>
            </a:r>
            <a:r>
              <a:rPr lang="en-US" sz="2000" b="0" i="0" dirty="0">
                <a:solidFill>
                  <a:srgbClr val="374151"/>
                </a:solidFill>
                <a:effectLst/>
                <a:latin typeface="Arial" panose="020B0604020202020204" pitchFamily="34" charset="0"/>
                <a:cs typeface="Arial" panose="020B0604020202020204" pitchFamily="34" charset="0"/>
              </a:rPr>
              <a:t>. </a:t>
            </a:r>
            <a:r>
              <a:rPr lang="en-US" sz="2000" b="1" i="0" dirty="0">
                <a:solidFill>
                  <a:srgbClr val="374151"/>
                </a:solidFill>
                <a:effectLst/>
                <a:latin typeface="Arial" panose="020B0604020202020204" pitchFamily="34" charset="0"/>
                <a:cs typeface="Arial" panose="020B0604020202020204" pitchFamily="34" charset="0"/>
              </a:rPr>
              <a:t>Power control</a:t>
            </a:r>
            <a:r>
              <a:rPr lang="en-US" sz="2000" b="0" i="0" dirty="0">
                <a:solidFill>
                  <a:srgbClr val="374151"/>
                </a:solidFill>
                <a:effectLst/>
                <a:latin typeface="Arial" panose="020B0604020202020204" pitchFamily="34" charset="0"/>
                <a:cs typeface="Arial" panose="020B0604020202020204" pitchFamily="34" charset="0"/>
              </a:rPr>
              <a:t>: The methods used to adjust the transmit power of the OFDM signal to ensure that the received signal has sufficient signal-to-noise ratio (SNR) for reliable detection.</a:t>
            </a:r>
          </a:p>
          <a:p>
            <a:pPr marL="0" indent="0" algn="l">
              <a:buNone/>
            </a:pPr>
            <a:r>
              <a:rPr lang="en-US" sz="2000" b="0" i="0" dirty="0">
                <a:solidFill>
                  <a:srgbClr val="374151"/>
                </a:solidFill>
                <a:effectLst/>
                <a:latin typeface="Arial" panose="020B0604020202020204" pitchFamily="34" charset="0"/>
                <a:cs typeface="Arial" panose="020B0604020202020204" pitchFamily="34" charset="0"/>
              </a:rPr>
              <a:t>10. </a:t>
            </a:r>
            <a:r>
              <a:rPr lang="en-US" sz="2000" b="1" i="0" dirty="0">
                <a:solidFill>
                  <a:srgbClr val="374151"/>
                </a:solidFill>
                <a:effectLst/>
                <a:latin typeface="Arial" panose="020B0604020202020204" pitchFamily="34" charset="0"/>
                <a:cs typeface="Arial" panose="020B0604020202020204" pitchFamily="34" charset="0"/>
              </a:rPr>
              <a:t>Receiver sensitivity</a:t>
            </a:r>
            <a:r>
              <a:rPr lang="en-US" sz="2000" b="0" i="0" dirty="0">
                <a:solidFill>
                  <a:srgbClr val="374151"/>
                </a:solidFill>
                <a:effectLst/>
                <a:latin typeface="Arial" panose="020B0604020202020204" pitchFamily="34" charset="0"/>
                <a:cs typeface="Arial" panose="020B0604020202020204" pitchFamily="34" charset="0"/>
              </a:rPr>
              <a:t>: The minimum detectable power level at the receiver. This parameter determines the maximum achievable distance of the OFDM system.</a:t>
            </a:r>
          </a:p>
        </p:txBody>
      </p:sp>
    </p:spTree>
    <p:extLst>
      <p:ext uri="{BB962C8B-B14F-4D97-AF65-F5344CB8AC3E}">
        <p14:creationId xmlns:p14="http://schemas.microsoft.com/office/powerpoint/2010/main" val="2864975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85EB1-0B47-91D2-0C84-31E904F8B5CD}"/>
              </a:ext>
            </a:extLst>
          </p:cNvPr>
          <p:cNvSpPr>
            <a:spLocks noGrp="1"/>
          </p:cNvSpPr>
          <p:nvPr>
            <p:ph type="title"/>
          </p:nvPr>
        </p:nvSpPr>
        <p:spPr>
          <a:xfrm>
            <a:off x="628650" y="365126"/>
            <a:ext cx="7886700" cy="608651"/>
          </a:xfrm>
        </p:spPr>
        <p:txBody>
          <a:bodyPr>
            <a:normAutofit fontScale="90000"/>
          </a:bodyPr>
          <a:lstStyle/>
          <a:p>
            <a:r>
              <a:rPr lang="en-US" sz="4000" b="1" dirty="0">
                <a:latin typeface="Times New Roman" panose="02020603050405020304" pitchFamily="18" charset="0"/>
                <a:cs typeface="Times New Roman" panose="02020603050405020304" pitchFamily="18" charset="0"/>
              </a:rPr>
              <a:t>Example</a:t>
            </a:r>
          </a:p>
        </p:txBody>
      </p:sp>
      <p:sp>
        <p:nvSpPr>
          <p:cNvPr id="3" name="Content Placeholder 2">
            <a:extLst>
              <a:ext uri="{FF2B5EF4-FFF2-40B4-BE49-F238E27FC236}">
                <a16:creationId xmlns:a16="http://schemas.microsoft.com/office/drawing/2014/main" id="{B7F7A01F-927A-F340-A7D7-77EC4C8AAF2C}"/>
              </a:ext>
            </a:extLst>
          </p:cNvPr>
          <p:cNvSpPr>
            <a:spLocks noGrp="1"/>
          </p:cNvSpPr>
          <p:nvPr>
            <p:ph idx="1"/>
          </p:nvPr>
        </p:nvSpPr>
        <p:spPr>
          <a:xfrm>
            <a:off x="498764" y="1082038"/>
            <a:ext cx="8300852" cy="1008019"/>
          </a:xfrm>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A new broadband wireless communication system uses OFDM with 1536 subcarriers over a 30 MHz bandwidth. The system operates in an urban environment where multipath reflections are common.</a:t>
            </a:r>
          </a:p>
        </p:txBody>
      </p:sp>
      <p:sp>
        <p:nvSpPr>
          <p:cNvPr id="5" name="TextBox 4">
            <a:extLst>
              <a:ext uri="{FF2B5EF4-FFF2-40B4-BE49-F238E27FC236}">
                <a16:creationId xmlns:a16="http://schemas.microsoft.com/office/drawing/2014/main" id="{852E1E57-4C82-FD1D-51AE-F6923F6FBF37}"/>
              </a:ext>
            </a:extLst>
          </p:cNvPr>
          <p:cNvSpPr txBox="1"/>
          <p:nvPr/>
        </p:nvSpPr>
        <p:spPr>
          <a:xfrm>
            <a:off x="421574" y="2090057"/>
            <a:ext cx="8300852" cy="4401205"/>
          </a:xfrm>
          <a:prstGeom prst="rect">
            <a:avLst/>
          </a:prstGeom>
          <a:noFill/>
        </p:spPr>
        <p:txBody>
          <a:bodyPr wrap="square">
            <a:spAutoFit/>
          </a:bodyPr>
          <a:lstStyle/>
          <a:p>
            <a:pPr>
              <a:buNone/>
            </a:pPr>
            <a:r>
              <a:rPr lang="en-US" sz="2000" b="1" dirty="0"/>
              <a:t>a)</a:t>
            </a:r>
            <a:r>
              <a:rPr lang="en-US" sz="2000" dirty="0"/>
              <a:t> Calculate the subcarrier spacing of the system and determine the useful OFDM symbol duration. </a:t>
            </a:r>
            <a:r>
              <a:rPr lang="en-US" sz="2000" i="1" dirty="0"/>
              <a:t>(4 marks)</a:t>
            </a:r>
            <a:endParaRPr lang="en-US" sz="2000" dirty="0"/>
          </a:p>
          <a:p>
            <a:pPr>
              <a:buNone/>
            </a:pPr>
            <a:r>
              <a:rPr lang="en-US" sz="2000" b="1" dirty="0"/>
              <a:t>b</a:t>
            </a:r>
            <a:r>
              <a:rPr lang="en-US" sz="2000" dirty="0"/>
              <a:t>) The system inserts a cyclic prefix (CP) equal to 1/6 of the useful symbol duration to suppress inter-symbol interference (ISI). Compute the CP duration and the total OFDM symbol duration (including CP). </a:t>
            </a:r>
            <a:r>
              <a:rPr lang="en-US" sz="2000" i="1" dirty="0"/>
              <a:t>(4 marks)</a:t>
            </a:r>
            <a:endParaRPr lang="en-US" sz="2000" dirty="0"/>
          </a:p>
          <a:p>
            <a:pPr>
              <a:buNone/>
            </a:pPr>
            <a:r>
              <a:rPr lang="en-US" sz="2000" b="1" dirty="0"/>
              <a:t>c</a:t>
            </a:r>
            <a:r>
              <a:rPr lang="en-US" sz="2000" dirty="0"/>
              <a:t>) The wireless channel has a maximum delay spread of 5 µs. Evaluate whether the chosen CP duration is sufficient to avoid ISI. Justify your answer with calculations. </a:t>
            </a:r>
            <a:r>
              <a:rPr lang="en-US" sz="2000" i="1" dirty="0"/>
              <a:t>(6 marks) </a:t>
            </a:r>
          </a:p>
          <a:p>
            <a:r>
              <a:rPr lang="en-US" sz="2000" b="1" dirty="0"/>
              <a:t>d)</a:t>
            </a:r>
            <a:r>
              <a:rPr lang="en-US" sz="2000" dirty="0"/>
              <a:t> Discuss how increasing the number of subcarriers in an OFDM system influences: </a:t>
            </a:r>
            <a:r>
              <a:rPr lang="en-US" sz="2000" i="1" dirty="0"/>
              <a:t>(6 marks)</a:t>
            </a:r>
            <a:endParaRPr lang="en-US" sz="2000" dirty="0"/>
          </a:p>
          <a:p>
            <a:r>
              <a:rPr lang="en-US" sz="2000" dirty="0"/>
              <a:t>Resistance to frequency-selective fading</a:t>
            </a:r>
          </a:p>
          <a:p>
            <a:r>
              <a:rPr lang="en-US" sz="2000" dirty="0"/>
              <a:t>Sensitivity to carrier frequency offset (CFO)</a:t>
            </a:r>
            <a:br>
              <a:rPr lang="en-US" sz="2000" dirty="0"/>
            </a:br>
            <a:r>
              <a:rPr lang="en-US" sz="2000" dirty="0"/>
              <a:t>Provide a concise explanation of both effects.</a:t>
            </a:r>
          </a:p>
          <a:p>
            <a:pPr>
              <a:buNone/>
            </a:pPr>
            <a:endParaRPr lang="en-US" sz="2000" dirty="0"/>
          </a:p>
        </p:txBody>
      </p:sp>
    </p:spTree>
    <p:extLst>
      <p:ext uri="{BB962C8B-B14F-4D97-AF65-F5344CB8AC3E}">
        <p14:creationId xmlns:p14="http://schemas.microsoft.com/office/powerpoint/2010/main" val="29534044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B7D5A-451A-C80A-688E-83F62B6548C1}"/>
              </a:ext>
            </a:extLst>
          </p:cNvPr>
          <p:cNvSpPr>
            <a:spLocks noGrp="1"/>
          </p:cNvSpPr>
          <p:nvPr>
            <p:ph type="title"/>
          </p:nvPr>
        </p:nvSpPr>
        <p:spPr/>
        <p:txBody>
          <a:bodyPr>
            <a:noAutofit/>
          </a:bodyPr>
          <a:lstStyle/>
          <a:p>
            <a:r>
              <a:rPr lang="en-US" sz="3200" b="1" dirty="0">
                <a:latin typeface="Times New Roman" panose="02020603050405020304" pitchFamily="18" charset="0"/>
                <a:cs typeface="Times New Roman" panose="02020603050405020304" pitchFamily="18" charset="0"/>
              </a:rPr>
              <a:t>(a) Calculate the subcarrier spacing of the system and determine the useful OFDM symbol duration. </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EE1F7B2-7A8C-C17D-83EA-1A24FB884E7A}"/>
                  </a:ext>
                </a:extLst>
              </p:cNvPr>
              <p:cNvSpPr>
                <a:spLocks noGrp="1"/>
              </p:cNvSpPr>
              <p:nvPr>
                <p:ph idx="1"/>
              </p:nvPr>
            </p:nvSpPr>
            <p:spPr>
              <a:xfrm>
                <a:off x="723652" y="2395641"/>
                <a:ext cx="7886700" cy="2912629"/>
              </a:xfrm>
            </p:spPr>
            <p:txBody>
              <a:bodyPr/>
              <a:lstStyle/>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l-GR" b="0" i="1" smtClean="0">
                          <a:latin typeface="Cambria Math" panose="02040503050406030204" pitchFamily="18" charset="0"/>
                        </a:rPr>
                        <m:t>𝛥</m:t>
                      </m:r>
                      <m:r>
                        <a:rPr lang="el-GR" b="0" i="1" smtClean="0">
                          <a:latin typeface="Cambria Math" panose="02040503050406030204" pitchFamily="18" charset="0"/>
                        </a:rPr>
                        <m:t>𝑓</m:t>
                      </m:r>
                      <m:r>
                        <a:rPr lang="el-GR" b="0" smtClean="0">
                          <a:latin typeface="Cambria Math" panose="02040503050406030204" pitchFamily="18" charset="0"/>
                        </a:rPr>
                        <m:t>=</m:t>
                      </m:r>
                      <m:f>
                        <m:fPr>
                          <m:ctrlPr>
                            <a:rPr lang="ar-SA" i="1"/>
                          </m:ctrlPr>
                        </m:fPr>
                        <m:num>
                          <m:r>
                            <a:rPr lang="ar-SA" b="0" i="1" smtClean="0">
                              <a:latin typeface="Cambria Math" panose="02040503050406030204" pitchFamily="18" charset="0"/>
                            </a:rPr>
                            <m:t>𝐵</m:t>
                          </m:r>
                        </m:num>
                        <m:den>
                          <m:r>
                            <a:rPr lang="ar-SA" b="0" i="1" smtClean="0">
                              <a:latin typeface="Cambria Math" panose="02040503050406030204" pitchFamily="18" charset="0"/>
                            </a:rPr>
                            <m:t>𝑁</m:t>
                          </m:r>
                        </m:den>
                      </m:f>
                      <m:r>
                        <a:rPr lang="ar-SA" b="0" smtClean="0">
                          <a:latin typeface="Cambria Math" panose="02040503050406030204" pitchFamily="18" charset="0"/>
                        </a:rPr>
                        <m:t>=</m:t>
                      </m:r>
                      <m:f>
                        <m:fPr>
                          <m:ctrlPr>
                            <a:rPr lang="ar-SA" i="1"/>
                          </m:ctrlPr>
                        </m:fPr>
                        <m:num>
                          <m:r>
                            <a:rPr lang="ar-SA" b="0" i="1" smtClean="0">
                              <a:latin typeface="Cambria Math" panose="02040503050406030204" pitchFamily="18" charset="0"/>
                            </a:rPr>
                            <m:t>30</m:t>
                          </m:r>
                          <m:r>
                            <m:rPr>
                              <m:nor/>
                            </m:rPr>
                            <a:rPr lang="ar-SA" i="1"/>
                            <m:t> </m:t>
                          </m:r>
                          <m:r>
                            <m:rPr>
                              <m:nor/>
                            </m:rPr>
                            <a:rPr lang="en-US" i="1"/>
                            <m:t>MHz</m:t>
                          </m:r>
                        </m:num>
                        <m:den>
                          <m:r>
                            <a:rPr lang="ar-SA" b="0" i="1" smtClean="0">
                              <a:latin typeface="Cambria Math" panose="02040503050406030204" pitchFamily="18" charset="0"/>
                            </a:rPr>
                            <m:t>1536</m:t>
                          </m:r>
                        </m:den>
                      </m:f>
                      <m:r>
                        <a:rPr lang="ar-SA" b="0" smtClean="0">
                          <a:latin typeface="Cambria Math" panose="02040503050406030204" pitchFamily="18" charset="0"/>
                        </a:rPr>
                        <m:t>=</m:t>
                      </m:r>
                      <m:r>
                        <a:rPr lang="ar-SA" b="0" i="1" smtClean="0">
                          <a:latin typeface="Cambria Math" panose="02040503050406030204" pitchFamily="18" charset="0"/>
                        </a:rPr>
                        <m:t>19</m:t>
                      </m:r>
                      <m:r>
                        <a:rPr lang="ar-SA" b="0" smtClean="0">
                          <a:latin typeface="Cambria Math" panose="02040503050406030204" pitchFamily="18" charset="0"/>
                        </a:rPr>
                        <m:t>.</m:t>
                      </m:r>
                      <m:r>
                        <a:rPr lang="ar-SA" b="0" i="1" smtClean="0">
                          <a:latin typeface="Cambria Math" panose="02040503050406030204" pitchFamily="18" charset="0"/>
                        </a:rPr>
                        <m:t>53125</m:t>
                      </m:r>
                      <m:r>
                        <m:rPr>
                          <m:nor/>
                        </m:rPr>
                        <a:rPr lang="ar-SA" i="1"/>
                        <m:t> </m:t>
                      </m:r>
                      <m:r>
                        <m:rPr>
                          <m:nor/>
                        </m:rPr>
                        <a:rPr lang="en-US" i="1"/>
                        <m:t>kHz</m:t>
                      </m:r>
                    </m:oMath>
                  </m:oMathPara>
                </a14:m>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ar-SA"/>
                          </m:ctrlPr>
                        </m:sSubPr>
                        <m:e>
                          <m:r>
                            <a:rPr lang="ar-SA" b="0" i="1" smtClean="0">
                              <a:latin typeface="Cambria Math" panose="02040503050406030204" pitchFamily="18" charset="0"/>
                            </a:rPr>
                            <m:t>𝑇</m:t>
                          </m:r>
                        </m:e>
                        <m:sub>
                          <m:r>
                            <a:rPr lang="ar-SA" b="0" i="1" smtClean="0">
                              <a:latin typeface="Cambria Math" panose="02040503050406030204" pitchFamily="18" charset="0"/>
                            </a:rPr>
                            <m:t>𝑢</m:t>
                          </m:r>
                        </m:sub>
                      </m:sSub>
                      <m:r>
                        <a:rPr lang="ar-SA" b="0" smtClean="0">
                          <a:latin typeface="Cambria Math" panose="02040503050406030204" pitchFamily="18" charset="0"/>
                        </a:rPr>
                        <m:t>=</m:t>
                      </m:r>
                      <m:f>
                        <m:fPr>
                          <m:ctrlPr>
                            <a:rPr lang="ar-SA" i="1"/>
                          </m:ctrlPr>
                        </m:fPr>
                        <m:num>
                          <m:r>
                            <a:rPr lang="ar-SA" b="0" i="1" smtClean="0">
                              <a:latin typeface="Cambria Math" panose="02040503050406030204" pitchFamily="18" charset="0"/>
                            </a:rPr>
                            <m:t>1</m:t>
                          </m:r>
                        </m:num>
                        <m:den>
                          <m:r>
                            <a:rPr lang="el-GR" b="0" i="1" smtClean="0">
                              <a:latin typeface="Cambria Math" panose="02040503050406030204" pitchFamily="18" charset="0"/>
                            </a:rPr>
                            <m:t>𝛥</m:t>
                          </m:r>
                          <m:r>
                            <a:rPr lang="el-GR" b="0" i="1" smtClean="0">
                              <a:latin typeface="Cambria Math" panose="02040503050406030204" pitchFamily="18" charset="0"/>
                            </a:rPr>
                            <m:t>𝑓</m:t>
                          </m:r>
                        </m:den>
                      </m:f>
                      <m:r>
                        <a:rPr lang="ar-SA" b="0" smtClean="0">
                          <a:latin typeface="Cambria Math" panose="02040503050406030204" pitchFamily="18" charset="0"/>
                        </a:rPr>
                        <m:t>=</m:t>
                      </m:r>
                      <m:f>
                        <m:fPr>
                          <m:ctrlPr>
                            <a:rPr lang="ar-SA" i="1"/>
                          </m:ctrlPr>
                        </m:fPr>
                        <m:num>
                          <m:r>
                            <a:rPr lang="ar-SA" b="0" i="1" smtClean="0">
                              <a:latin typeface="Cambria Math" panose="02040503050406030204" pitchFamily="18" charset="0"/>
                            </a:rPr>
                            <m:t>1</m:t>
                          </m:r>
                        </m:num>
                        <m:den>
                          <m:r>
                            <a:rPr lang="ar-SA" b="0" i="1" smtClean="0">
                              <a:latin typeface="Cambria Math" panose="02040503050406030204" pitchFamily="18" charset="0"/>
                            </a:rPr>
                            <m:t>19</m:t>
                          </m:r>
                          <m:r>
                            <a:rPr lang="ar-SA" b="0" smtClean="0">
                              <a:latin typeface="Cambria Math" panose="02040503050406030204" pitchFamily="18" charset="0"/>
                            </a:rPr>
                            <m:t>.</m:t>
                          </m:r>
                          <m:r>
                            <a:rPr lang="ar-SA" b="0" i="1" smtClean="0">
                              <a:latin typeface="Cambria Math" panose="02040503050406030204" pitchFamily="18" charset="0"/>
                            </a:rPr>
                            <m:t>53125</m:t>
                          </m:r>
                          <m:r>
                            <a:rPr lang="ar-SA" b="0" smtClean="0">
                              <a:latin typeface="Cambria Math" panose="02040503050406030204" pitchFamily="18" charset="0"/>
                            </a:rPr>
                            <m:t>×</m:t>
                          </m:r>
                          <m:sSup>
                            <m:sSupPr>
                              <m:ctrlPr>
                                <a:rPr lang="ar-SA" i="1"/>
                              </m:ctrlPr>
                            </m:sSupPr>
                            <m:e>
                              <m:r>
                                <a:rPr lang="ar-SA" b="0" i="1" smtClean="0">
                                  <a:latin typeface="Cambria Math" panose="02040503050406030204" pitchFamily="18" charset="0"/>
                                </a:rPr>
                                <m:t>10</m:t>
                              </m:r>
                            </m:e>
                            <m:sup>
                              <m:r>
                                <a:rPr lang="ar-SA" b="0" i="1" smtClean="0">
                                  <a:latin typeface="Cambria Math" panose="02040503050406030204" pitchFamily="18" charset="0"/>
                                </a:rPr>
                                <m:t>3</m:t>
                              </m:r>
                            </m:sup>
                          </m:sSup>
                        </m:den>
                      </m:f>
                      <m:r>
                        <a:rPr lang="ar-SA" b="0" smtClean="0">
                          <a:latin typeface="Cambria Math" panose="02040503050406030204" pitchFamily="18" charset="0"/>
                        </a:rPr>
                        <m:t>≈</m:t>
                      </m:r>
                      <m:r>
                        <a:rPr lang="ar-SA" b="0" i="1" smtClean="0">
                          <a:latin typeface="Cambria Math" panose="02040503050406030204" pitchFamily="18" charset="0"/>
                        </a:rPr>
                        <m:t>51</m:t>
                      </m:r>
                      <m:r>
                        <a:rPr lang="ar-SA" b="0" smtClean="0">
                          <a:latin typeface="Cambria Math" panose="02040503050406030204" pitchFamily="18" charset="0"/>
                        </a:rPr>
                        <m:t>.</m:t>
                      </m:r>
                      <m:r>
                        <a:rPr lang="ar-SA" b="0" i="1" smtClean="0">
                          <a:latin typeface="Cambria Math" panose="02040503050406030204" pitchFamily="18" charset="0"/>
                        </a:rPr>
                        <m:t>2</m:t>
                      </m:r>
                      <m:r>
                        <m:rPr>
                          <m:nor/>
                        </m:rPr>
                        <a:rPr lang="ar-SA" i="1"/>
                        <m:t> </m:t>
                      </m:r>
                      <m:r>
                        <a:rPr lang="ar-SA" b="0" i="1" smtClean="0">
                          <a:latin typeface="Cambria Math" panose="02040503050406030204" pitchFamily="18" charset="0"/>
                        </a:rPr>
                        <m:t>𝜇</m:t>
                      </m:r>
                      <m:r>
                        <m:rPr>
                          <m:nor/>
                        </m:rPr>
                        <a:rPr lang="en-US" i="1"/>
                        <m:t>s</m:t>
                      </m:r>
                    </m:oMath>
                  </m:oMathPara>
                </a14:m>
                <a:endParaRPr lang="en-US" dirty="0"/>
              </a:p>
              <a:p>
                <a:pPr marL="0" indent="0">
                  <a:buNone/>
                </a:pPr>
                <a:endParaRPr lang="en-US" dirty="0"/>
              </a:p>
            </p:txBody>
          </p:sp>
        </mc:Choice>
        <mc:Fallback>
          <p:sp>
            <p:nvSpPr>
              <p:cNvPr id="3" name="Content Placeholder 2">
                <a:extLst>
                  <a:ext uri="{FF2B5EF4-FFF2-40B4-BE49-F238E27FC236}">
                    <a16:creationId xmlns:a16="http://schemas.microsoft.com/office/drawing/2014/main" id="{DEE1F7B2-7A8C-C17D-83EA-1A24FB884E7A}"/>
                  </a:ext>
                </a:extLst>
              </p:cNvPr>
              <p:cNvSpPr>
                <a:spLocks noGrp="1" noRot="1" noChangeAspect="1" noMove="1" noResize="1" noEditPoints="1" noAdjustHandles="1" noChangeArrowheads="1" noChangeShapeType="1" noTextEdit="1"/>
              </p:cNvSpPr>
              <p:nvPr>
                <p:ph idx="1"/>
              </p:nvPr>
            </p:nvSpPr>
            <p:spPr>
              <a:xfrm>
                <a:off x="723652" y="2395641"/>
                <a:ext cx="7886700" cy="2912629"/>
              </a:xfr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7282342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CE2D9-75B7-B345-31A1-E7C4C11281A5}"/>
              </a:ext>
            </a:extLst>
          </p:cNvPr>
          <p:cNvSpPr>
            <a:spLocks noGrp="1"/>
          </p:cNvSpPr>
          <p:nvPr>
            <p:ph type="title"/>
          </p:nvPr>
        </p:nvSpPr>
        <p:spPr>
          <a:xfrm>
            <a:off x="628650" y="745136"/>
            <a:ext cx="7886700" cy="1325563"/>
          </a:xfrm>
        </p:spPr>
        <p:txBody>
          <a:bodyPr>
            <a:noAutofit/>
          </a:bodyPr>
          <a:lstStyle/>
          <a:p>
            <a:r>
              <a:rPr lang="en-US" sz="2800" b="1" dirty="0">
                <a:latin typeface="Times New Roman" panose="02020603050405020304" pitchFamily="18" charset="0"/>
                <a:cs typeface="Times New Roman" panose="02020603050405020304" pitchFamily="18" charset="0"/>
              </a:rPr>
              <a:t>b) The system inserts a cyclic prefix (CP) equal to 1/6 of the useful symbol duration to suppress ISI. Compute the CP duration and the total OFDM symbol duration (including CP). </a:t>
            </a:r>
            <a:br>
              <a:rPr lang="en-US" sz="2800" b="1" dirty="0">
                <a:latin typeface="Times New Roman" panose="02020603050405020304" pitchFamily="18" charset="0"/>
                <a:cs typeface="Times New Roman" panose="02020603050405020304" pitchFamily="18" charset="0"/>
              </a:rPr>
            </a:br>
            <a:endParaRPr lang="en-US" sz="2800" b="1"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BFEDBF1-D6C2-B8D0-D839-502F99040BC5}"/>
                  </a:ext>
                </a:extLst>
              </p:cNvPr>
              <p:cNvSpPr>
                <a:spLocks noGrp="1"/>
              </p:cNvSpPr>
              <p:nvPr>
                <p:ph idx="1"/>
              </p:nvPr>
            </p:nvSpPr>
            <p:spPr>
              <a:xfrm>
                <a:off x="747403" y="3036908"/>
                <a:ext cx="7886700" cy="2520744"/>
              </a:xfrm>
            </p:spPr>
            <p:txBody>
              <a:bodyPr/>
              <a:lstStyle/>
              <a:p>
                <a:pPr marL="0" indent="0">
                  <a:buNone/>
                </a:pPr>
                <a14:m>
                  <m:oMathPara xmlns:m="http://schemas.openxmlformats.org/officeDocument/2006/math">
                    <m:oMathParaPr>
                      <m:jc m:val="centerGroup"/>
                    </m:oMathParaPr>
                    <m:oMath xmlns:m="http://schemas.openxmlformats.org/officeDocument/2006/math">
                      <m:sSub>
                        <m:sSubPr>
                          <m:ctrlPr>
                            <a:rPr lang="ar-SA"/>
                          </m:ctrlPr>
                        </m:sSubPr>
                        <m:e>
                          <m:r>
                            <a:rPr lang="ar-SA" b="0" i="1"/>
                            <m:t>𝑇</m:t>
                          </m:r>
                        </m:e>
                        <m:sub>
                          <m:r>
                            <m:rPr>
                              <m:nor/>
                            </m:rPr>
                            <a:rPr lang="en-US" i="1"/>
                            <m:t>CP</m:t>
                          </m:r>
                        </m:sub>
                      </m:sSub>
                      <m:r>
                        <a:rPr lang="ar-SA" b="0"/>
                        <m:t>=</m:t>
                      </m:r>
                      <m:f>
                        <m:fPr>
                          <m:ctrlPr>
                            <a:rPr lang="ar-SA" i="1"/>
                          </m:ctrlPr>
                        </m:fPr>
                        <m:num>
                          <m:sSub>
                            <m:sSubPr>
                              <m:ctrlPr>
                                <a:rPr lang="ar-SA" i="1"/>
                              </m:ctrlPr>
                            </m:sSubPr>
                            <m:e>
                              <m:r>
                                <a:rPr lang="ar-SA" b="0" i="1"/>
                                <m:t>𝑇</m:t>
                              </m:r>
                            </m:e>
                            <m:sub>
                              <m:r>
                                <a:rPr lang="ar-SA" b="0" i="1"/>
                                <m:t>𝑢</m:t>
                              </m:r>
                            </m:sub>
                          </m:sSub>
                        </m:num>
                        <m:den>
                          <m:r>
                            <a:rPr lang="ar-SA" b="0" i="1"/>
                            <m:t>6</m:t>
                          </m:r>
                        </m:den>
                      </m:f>
                      <m:r>
                        <a:rPr lang="ar-SA" b="0"/>
                        <m:t>=</m:t>
                      </m:r>
                      <m:f>
                        <m:fPr>
                          <m:ctrlPr>
                            <a:rPr lang="ar-SA" i="1"/>
                          </m:ctrlPr>
                        </m:fPr>
                        <m:num>
                          <m:r>
                            <a:rPr lang="ar-SA" b="0" i="1"/>
                            <m:t>51</m:t>
                          </m:r>
                          <m:r>
                            <a:rPr lang="ar-SA" b="0"/>
                            <m:t>.</m:t>
                          </m:r>
                          <m:r>
                            <a:rPr lang="ar-SA" b="0" i="1"/>
                            <m:t>2</m:t>
                          </m:r>
                        </m:num>
                        <m:den>
                          <m:r>
                            <a:rPr lang="ar-SA" b="0" i="1"/>
                            <m:t>6</m:t>
                          </m:r>
                        </m:den>
                      </m:f>
                      <m:r>
                        <a:rPr lang="ar-SA" b="0"/>
                        <m:t>≈</m:t>
                      </m:r>
                      <m:r>
                        <a:rPr lang="ar-SA" b="0" i="1"/>
                        <m:t>8</m:t>
                      </m:r>
                      <m:r>
                        <a:rPr lang="ar-SA" b="0"/>
                        <m:t>.</m:t>
                      </m:r>
                      <m:r>
                        <a:rPr lang="ar-SA" b="0" i="1"/>
                        <m:t>533</m:t>
                      </m:r>
                      <m:r>
                        <m:rPr>
                          <m:nor/>
                        </m:rPr>
                        <a:rPr lang="ar-SA" i="1"/>
                        <m:t> </m:t>
                      </m:r>
                      <m:r>
                        <a:rPr lang="ar-SA" b="0" i="1"/>
                        <m:t>𝜇</m:t>
                      </m:r>
                      <m:r>
                        <m:rPr>
                          <m:nor/>
                        </m:rPr>
                        <a:rPr lang="en-US" i="1"/>
                        <m:t>s</m:t>
                      </m:r>
                    </m:oMath>
                  </m:oMathPara>
                </a14:m>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ar-SA"/>
                          </m:ctrlPr>
                        </m:sSubPr>
                        <m:e>
                          <m:r>
                            <a:rPr lang="ar-SA" b="0" i="1"/>
                            <m:t>𝑇</m:t>
                          </m:r>
                        </m:e>
                        <m:sub>
                          <m:r>
                            <a:rPr lang="ar-SA" b="0" i="1"/>
                            <m:t>𝑠</m:t>
                          </m:r>
                        </m:sub>
                      </m:sSub>
                      <m:r>
                        <a:rPr lang="ar-SA" b="0"/>
                        <m:t>=</m:t>
                      </m:r>
                      <m:sSub>
                        <m:sSubPr>
                          <m:ctrlPr>
                            <a:rPr lang="ar-SA" i="1"/>
                          </m:ctrlPr>
                        </m:sSubPr>
                        <m:e>
                          <m:r>
                            <a:rPr lang="ar-SA" b="0" i="1"/>
                            <m:t>𝑇</m:t>
                          </m:r>
                        </m:e>
                        <m:sub>
                          <m:r>
                            <a:rPr lang="ar-SA" b="0" i="1"/>
                            <m:t>𝑢</m:t>
                          </m:r>
                        </m:sub>
                      </m:sSub>
                      <m:r>
                        <a:rPr lang="ar-SA" b="0"/>
                        <m:t>+</m:t>
                      </m:r>
                      <m:sSub>
                        <m:sSubPr>
                          <m:ctrlPr>
                            <a:rPr lang="ar-SA" i="1"/>
                          </m:ctrlPr>
                        </m:sSubPr>
                        <m:e>
                          <m:r>
                            <a:rPr lang="ar-SA" b="0" i="1"/>
                            <m:t>𝑇</m:t>
                          </m:r>
                        </m:e>
                        <m:sub>
                          <m:r>
                            <m:rPr>
                              <m:nor/>
                            </m:rPr>
                            <a:rPr lang="en-US" i="1"/>
                            <m:t>CP</m:t>
                          </m:r>
                        </m:sub>
                      </m:sSub>
                      <m:r>
                        <a:rPr lang="ar-SA" b="0"/>
                        <m:t>=</m:t>
                      </m:r>
                      <m:r>
                        <a:rPr lang="ar-SA" b="0" i="1"/>
                        <m:t>51</m:t>
                      </m:r>
                      <m:r>
                        <a:rPr lang="ar-SA" b="0"/>
                        <m:t>.</m:t>
                      </m:r>
                      <m:r>
                        <a:rPr lang="ar-SA" b="0" i="1"/>
                        <m:t>2</m:t>
                      </m:r>
                      <m:r>
                        <a:rPr lang="ar-SA" b="0"/>
                        <m:t>+</m:t>
                      </m:r>
                      <m:r>
                        <a:rPr lang="ar-SA" b="0" i="1"/>
                        <m:t>8</m:t>
                      </m:r>
                      <m:r>
                        <a:rPr lang="ar-SA" b="0"/>
                        <m:t>.</m:t>
                      </m:r>
                      <m:r>
                        <a:rPr lang="ar-SA" b="0" i="1"/>
                        <m:t>533</m:t>
                      </m:r>
                      <m:r>
                        <a:rPr lang="ar-SA" b="0"/>
                        <m:t>≈</m:t>
                      </m:r>
                      <m:r>
                        <a:rPr lang="ar-SA" b="0" i="1"/>
                        <m:t>59</m:t>
                      </m:r>
                      <m:r>
                        <a:rPr lang="ar-SA" b="0"/>
                        <m:t>.</m:t>
                      </m:r>
                      <m:r>
                        <a:rPr lang="ar-SA" b="0" i="1"/>
                        <m:t>733</m:t>
                      </m:r>
                      <m:r>
                        <m:rPr>
                          <m:nor/>
                        </m:rPr>
                        <a:rPr lang="ar-SA" i="1"/>
                        <m:t> </m:t>
                      </m:r>
                      <m:r>
                        <a:rPr lang="ar-SA" b="0" i="1"/>
                        <m:t>𝜇</m:t>
                      </m:r>
                      <m:r>
                        <m:rPr>
                          <m:nor/>
                        </m:rPr>
                        <a:rPr lang="en-US" i="1"/>
                        <m:t>s</m:t>
                      </m:r>
                    </m:oMath>
                  </m:oMathPara>
                </a14:m>
                <a:endParaRPr lang="en-US" dirty="0"/>
              </a:p>
              <a:p>
                <a:pPr marL="0" indent="0">
                  <a:buNone/>
                </a:pPr>
                <a:endParaRPr lang="en-US" dirty="0"/>
              </a:p>
            </p:txBody>
          </p:sp>
        </mc:Choice>
        <mc:Fallback>
          <p:sp>
            <p:nvSpPr>
              <p:cNvPr id="3" name="Content Placeholder 2">
                <a:extLst>
                  <a:ext uri="{FF2B5EF4-FFF2-40B4-BE49-F238E27FC236}">
                    <a16:creationId xmlns:a16="http://schemas.microsoft.com/office/drawing/2014/main" id="{EBFEDBF1-D6C2-B8D0-D839-502F99040BC5}"/>
                  </a:ext>
                </a:extLst>
              </p:cNvPr>
              <p:cNvSpPr>
                <a:spLocks noGrp="1" noRot="1" noChangeAspect="1" noMove="1" noResize="1" noEditPoints="1" noAdjustHandles="1" noChangeArrowheads="1" noChangeShapeType="1" noTextEdit="1"/>
              </p:cNvSpPr>
              <p:nvPr>
                <p:ph idx="1"/>
              </p:nvPr>
            </p:nvSpPr>
            <p:spPr>
              <a:xfrm>
                <a:off x="747403" y="3036908"/>
                <a:ext cx="7886700" cy="2520744"/>
              </a:xfr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5816628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36397-F53A-9A9C-5092-0609157D2595}"/>
              </a:ext>
            </a:extLst>
          </p:cNvPr>
          <p:cNvSpPr>
            <a:spLocks noGrp="1"/>
          </p:cNvSpPr>
          <p:nvPr>
            <p:ph type="title"/>
          </p:nvPr>
        </p:nvSpPr>
        <p:spPr>
          <a:xfrm>
            <a:off x="628650" y="815973"/>
            <a:ext cx="7886700" cy="1325563"/>
          </a:xfrm>
        </p:spPr>
        <p:txBody>
          <a:bodyPr>
            <a:noAutofit/>
          </a:bodyPr>
          <a:lstStyle/>
          <a:p>
            <a:r>
              <a:rPr lang="en-US" sz="2800" b="1" dirty="0">
                <a:latin typeface="Times New Roman" panose="02020603050405020304" pitchFamily="18" charset="0"/>
                <a:cs typeface="Times New Roman" panose="02020603050405020304" pitchFamily="18" charset="0"/>
              </a:rPr>
              <a:t>(c) The wireless channel has a maximum delay spread of 5 µs. Evaluate whether the chosen CP duration is sufficient to avoid ISI. Justify your answer with calculations. </a:t>
            </a:r>
            <a:br>
              <a:rPr lang="en-US" sz="2800" b="1"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01CF4AE-0099-9BFE-4AFD-9D1C7ACB225A}"/>
                  </a:ext>
                </a:extLst>
              </p:cNvPr>
              <p:cNvSpPr>
                <a:spLocks noGrp="1"/>
              </p:cNvSpPr>
              <p:nvPr>
                <p:ph idx="1"/>
              </p:nvPr>
            </p:nvSpPr>
            <p:spPr>
              <a:xfrm>
                <a:off x="723653" y="2141536"/>
                <a:ext cx="7886700" cy="4351338"/>
              </a:xfrm>
            </p:spPr>
            <p:txBody>
              <a:bodyPr/>
              <a:lstStyle/>
              <a:p>
                <a:pPr marL="0" indent="0">
                  <a:buNone/>
                </a:pPr>
                <a:br>
                  <a:rPr lang="en-US" dirty="0">
                    <a:cs typeface="+mj-cs"/>
                  </a:rPr>
                </a:br>
                <a:r>
                  <a:rPr lang="en-US" dirty="0">
                    <a:cs typeface="+mj-cs"/>
                  </a:rPr>
                  <a:t>ISI is avoided if the CP ≥ maximum excess delay.</a:t>
                </a:r>
              </a:p>
              <a:p>
                <a:pPr marL="0" indent="0">
                  <a:buNone/>
                </a:pPr>
                <a:br>
                  <a:rPr lang="en-US" dirty="0">
                    <a:cs typeface="+mj-cs"/>
                  </a:rPr>
                </a:br>
                <a:r>
                  <a:rPr lang="en-US" dirty="0">
                    <a:cs typeface="+mj-cs"/>
                  </a:rPr>
                  <a:t>Here, </a:t>
                </a:r>
                <a14:m>
                  <m:oMath xmlns:m="http://schemas.openxmlformats.org/officeDocument/2006/math">
                    <m:sSub>
                      <m:sSubPr>
                        <m:ctrlPr>
                          <a:rPr lang="ar-SA">
                            <a:cs typeface="+mj-cs"/>
                          </a:rPr>
                        </m:ctrlPr>
                      </m:sSubPr>
                      <m:e>
                        <m:r>
                          <a:rPr lang="ar-SA" b="0" i="1">
                            <a:cs typeface="+mj-cs"/>
                          </a:rPr>
                          <m:t>𝑇</m:t>
                        </m:r>
                      </m:e>
                      <m:sub>
                        <m:r>
                          <m:rPr>
                            <m:nor/>
                          </m:rPr>
                          <a:rPr lang="en-US" i="1">
                            <a:cs typeface="+mj-cs"/>
                          </a:rPr>
                          <m:t>CP</m:t>
                        </m:r>
                      </m:sub>
                    </m:sSub>
                    <m:r>
                      <a:rPr lang="ar-SA" b="0">
                        <a:cs typeface="+mj-cs"/>
                      </a:rPr>
                      <m:t>≈</m:t>
                    </m:r>
                    <m:r>
                      <a:rPr lang="ar-SA" b="0" i="1">
                        <a:cs typeface="+mj-cs"/>
                      </a:rPr>
                      <m:t>8</m:t>
                    </m:r>
                    <m:r>
                      <a:rPr lang="ar-SA" b="0">
                        <a:cs typeface="+mj-cs"/>
                      </a:rPr>
                      <m:t>.</m:t>
                    </m:r>
                    <m:r>
                      <a:rPr lang="ar-SA" b="0" i="1">
                        <a:cs typeface="+mj-cs"/>
                      </a:rPr>
                      <m:t>533</m:t>
                    </m:r>
                    <m:r>
                      <m:rPr>
                        <m:nor/>
                      </m:rPr>
                      <a:rPr lang="ar-SA" i="1">
                        <a:cs typeface="+mj-cs"/>
                      </a:rPr>
                      <m:t> </m:t>
                    </m:r>
                    <m:r>
                      <a:rPr lang="ar-SA" b="0" i="1">
                        <a:cs typeface="+mj-cs"/>
                      </a:rPr>
                      <m:t>𝜇</m:t>
                    </m:r>
                    <m:r>
                      <m:rPr>
                        <m:nor/>
                      </m:rPr>
                      <a:rPr lang="en-US" i="1">
                        <a:cs typeface="+mj-cs"/>
                      </a:rPr>
                      <m:t>s</m:t>
                    </m:r>
                    <m:r>
                      <a:rPr lang="en-US" b="0">
                        <a:cs typeface="+mj-cs"/>
                      </a:rPr>
                      <m:t>&gt;</m:t>
                    </m:r>
                    <m:r>
                      <a:rPr lang="en-US" b="0" i="1">
                        <a:cs typeface="+mj-cs"/>
                      </a:rPr>
                      <m:t>5</m:t>
                    </m:r>
                    <m:r>
                      <m:rPr>
                        <m:nor/>
                      </m:rPr>
                      <a:rPr lang="en-US" i="1">
                        <a:cs typeface="+mj-cs"/>
                      </a:rPr>
                      <m:t> </m:t>
                    </m:r>
                    <m:r>
                      <a:rPr lang="en-US" b="0" i="1">
                        <a:cs typeface="+mj-cs"/>
                      </a:rPr>
                      <m:t>𝜇</m:t>
                    </m:r>
                    <m:r>
                      <m:rPr>
                        <m:nor/>
                      </m:rPr>
                      <a:rPr lang="en-US" i="1">
                        <a:cs typeface="+mj-cs"/>
                      </a:rPr>
                      <m:t>s</m:t>
                    </m:r>
                  </m:oMath>
                </a14:m>
                <a:r>
                  <a:rPr lang="en-US" dirty="0">
                    <a:cs typeface="+mj-cs"/>
                  </a:rPr>
                  <a:t>.</a:t>
                </a:r>
              </a:p>
              <a:p>
                <a:pPr marL="0" indent="0">
                  <a:buNone/>
                </a:pPr>
                <a:br>
                  <a:rPr lang="en-US" dirty="0">
                    <a:cs typeface="+mj-cs"/>
                  </a:rPr>
                </a:br>
                <a:r>
                  <a:rPr lang="en-US" dirty="0">
                    <a:cs typeface="+mj-cs"/>
                  </a:rPr>
                  <a:t>The CP is sufficient to absorb the multipath delay spread and eliminate ISI.</a:t>
                </a:r>
              </a:p>
            </p:txBody>
          </p:sp>
        </mc:Choice>
        <mc:Fallback>
          <p:sp>
            <p:nvSpPr>
              <p:cNvPr id="3" name="Content Placeholder 2">
                <a:extLst>
                  <a:ext uri="{FF2B5EF4-FFF2-40B4-BE49-F238E27FC236}">
                    <a16:creationId xmlns:a16="http://schemas.microsoft.com/office/drawing/2014/main" id="{F01CF4AE-0099-9BFE-4AFD-9D1C7ACB225A}"/>
                  </a:ext>
                </a:extLst>
              </p:cNvPr>
              <p:cNvSpPr>
                <a:spLocks noGrp="1" noRot="1" noChangeAspect="1" noMove="1" noResize="1" noEditPoints="1" noAdjustHandles="1" noChangeArrowheads="1" noChangeShapeType="1" noTextEdit="1"/>
              </p:cNvSpPr>
              <p:nvPr>
                <p:ph idx="1"/>
              </p:nvPr>
            </p:nvSpPr>
            <p:spPr>
              <a:xfrm>
                <a:off x="723653" y="2141536"/>
                <a:ext cx="7886700" cy="4351338"/>
              </a:xfrm>
              <a:blipFill>
                <a:blip r:embed="rId2"/>
                <a:stretch>
                  <a:fillRect l="-1624"/>
                </a:stretch>
              </a:blipFill>
            </p:spPr>
            <p:txBody>
              <a:bodyPr/>
              <a:lstStyle/>
              <a:p>
                <a:r>
                  <a:rPr lang="en-US">
                    <a:noFill/>
                  </a:rPr>
                  <a:t> </a:t>
                </a:r>
              </a:p>
            </p:txBody>
          </p:sp>
        </mc:Fallback>
      </mc:AlternateContent>
    </p:spTree>
    <p:extLst>
      <p:ext uri="{BB962C8B-B14F-4D97-AF65-F5344CB8AC3E}">
        <p14:creationId xmlns:p14="http://schemas.microsoft.com/office/powerpoint/2010/main" val="4534335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45229E1-8758-31FE-5E98-C116BAAC5FB3}"/>
              </a:ext>
            </a:extLst>
          </p:cNvPr>
          <p:cNvSpPr>
            <a:spLocks noGrp="1"/>
          </p:cNvSpPr>
          <p:nvPr>
            <p:ph type="title"/>
          </p:nvPr>
        </p:nvSpPr>
        <p:spPr>
          <a:xfrm>
            <a:off x="361827" y="367771"/>
            <a:ext cx="8502732" cy="1325563"/>
          </a:xfrm>
        </p:spPr>
        <p:txBody>
          <a:bodyPr>
            <a:noAutofit/>
          </a:bodyPr>
          <a:lstStyle/>
          <a:p>
            <a:r>
              <a:rPr lang="en-US" sz="2400" b="1" dirty="0">
                <a:latin typeface="Times New Roman" panose="02020603050405020304" pitchFamily="18" charset="0"/>
                <a:cs typeface="Times New Roman" panose="02020603050405020304" pitchFamily="18" charset="0"/>
              </a:rPr>
              <a:t>(d) Explain how increasing the number of subcarriers in an OFDM system improves its resistance to frequency-selective fading. Your answer should clearly relate subcarrier spacing, symbol duration, and </a:t>
            </a:r>
            <a:r>
              <a:rPr lang="en-US" sz="2400" b="1" dirty="0" err="1">
                <a:latin typeface="Times New Roman" panose="02020603050405020304" pitchFamily="18" charset="0"/>
                <a:cs typeface="Times New Roman" panose="02020603050405020304" pitchFamily="18" charset="0"/>
              </a:rPr>
              <a:t>equalisation</a:t>
            </a:r>
            <a:r>
              <a:rPr lang="en-US" sz="2400" b="1" dirty="0">
                <a:latin typeface="Times New Roman" panose="02020603050405020304" pitchFamily="18" charset="0"/>
                <a:cs typeface="Times New Roman" panose="02020603050405020304" pitchFamily="18" charset="0"/>
              </a:rPr>
              <a:t> complexity.</a:t>
            </a:r>
          </a:p>
        </p:txBody>
      </p:sp>
      <p:sp>
        <p:nvSpPr>
          <p:cNvPr id="9" name="Rectangle 2">
            <a:extLst>
              <a:ext uri="{FF2B5EF4-FFF2-40B4-BE49-F238E27FC236}">
                <a16:creationId xmlns:a16="http://schemas.microsoft.com/office/drawing/2014/main" id="{21343B33-723D-79B1-34C8-BD9BFC59023F}"/>
              </a:ext>
            </a:extLst>
          </p:cNvPr>
          <p:cNvSpPr>
            <a:spLocks noGrp="1" noChangeArrowheads="1"/>
          </p:cNvSpPr>
          <p:nvPr>
            <p:ph idx="1"/>
          </p:nvPr>
        </p:nvSpPr>
        <p:spPr bwMode="auto">
          <a:xfrm>
            <a:off x="599333" y="1693334"/>
            <a:ext cx="8182840" cy="50119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More subcarriers → smaller subcarrier spacing.</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Smaller spacing → longer OFDM symbol duration.</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Longer symbols make channel delay spread small compared to symbol time.</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Each subcarrier sees flat fading instead of frequency-selective fading.</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4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Equalisation</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becomes simple (1-tap per subcarrier) instead of a long adaptive filter.</a:t>
            </a:r>
          </a:p>
          <a:p>
            <a:pPr marL="0" indent="0" eaLnBrk="0" fontAlgn="base" hangingPunct="0">
              <a:lnSpc>
                <a:spcPct val="150000"/>
              </a:lnSpc>
              <a:spcBef>
                <a:spcPct val="0"/>
              </a:spcBef>
              <a:spcAft>
                <a:spcPct val="0"/>
              </a:spcAft>
              <a:buNone/>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OFDM system becomes more robust to multipath and ISI.</a:t>
            </a:r>
          </a:p>
        </p:txBody>
      </p:sp>
    </p:spTree>
    <p:extLst>
      <p:ext uri="{BB962C8B-B14F-4D97-AF65-F5344CB8AC3E}">
        <p14:creationId xmlns:p14="http://schemas.microsoft.com/office/powerpoint/2010/main" val="5193569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FC30C-8529-DB80-A9D5-B29AE73CEF60}"/>
              </a:ext>
            </a:extLst>
          </p:cNvPr>
          <p:cNvSpPr>
            <a:spLocks noGrp="1"/>
          </p:cNvSpPr>
          <p:nvPr>
            <p:ph type="title"/>
          </p:nvPr>
        </p:nvSpPr>
        <p:spPr>
          <a:xfrm>
            <a:off x="409699" y="175122"/>
            <a:ext cx="7886700" cy="584900"/>
          </a:xfrm>
        </p:spPr>
        <p:txBody>
          <a:bodyPr>
            <a:normAutofit fontScale="90000"/>
          </a:bodyPr>
          <a:lstStyle/>
          <a:p>
            <a:r>
              <a:rPr lang="en-US" sz="3600" b="1" dirty="0">
                <a:latin typeface="Times New Roman" panose="02020603050405020304" pitchFamily="18" charset="0"/>
                <a:cs typeface="Times New Roman" panose="02020603050405020304" pitchFamily="18" charset="0"/>
              </a:rPr>
              <a:t>Example</a:t>
            </a:r>
          </a:p>
        </p:txBody>
      </p:sp>
      <p:sp>
        <p:nvSpPr>
          <p:cNvPr id="3" name="Content Placeholder 2">
            <a:extLst>
              <a:ext uri="{FF2B5EF4-FFF2-40B4-BE49-F238E27FC236}">
                <a16:creationId xmlns:a16="http://schemas.microsoft.com/office/drawing/2014/main" id="{5F588A8C-ADB7-550F-B73F-A58C96204A43}"/>
              </a:ext>
            </a:extLst>
          </p:cNvPr>
          <p:cNvSpPr>
            <a:spLocks noGrp="1"/>
          </p:cNvSpPr>
          <p:nvPr>
            <p:ph idx="1"/>
          </p:nvPr>
        </p:nvSpPr>
        <p:spPr>
          <a:xfrm>
            <a:off x="409699" y="760022"/>
            <a:ext cx="8324602" cy="4351338"/>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A wireless system designer is evaluating whether to switch from a single-carrier QAM system to an OFDM-based approach due to performance issues caused by ISI in a rich multipath environment.</a:t>
            </a:r>
          </a:p>
          <a:p>
            <a:pPr marL="0" indent="0">
              <a:buNone/>
            </a:pPr>
            <a:r>
              <a:rPr lang="en-US" sz="2400" dirty="0">
                <a:latin typeface="Times New Roman" panose="02020603050405020304" pitchFamily="18" charset="0"/>
                <a:cs typeface="Times New Roman" panose="02020603050405020304" pitchFamily="18" charset="0"/>
              </a:rPr>
              <a:t>a) Explain why ISI occurs more severely in narrowband single-carrier transmission than in OFDM-based systems. </a:t>
            </a:r>
          </a:p>
          <a:p>
            <a:pPr marL="0" indent="0">
              <a:buNone/>
            </a:pPr>
            <a:r>
              <a:rPr lang="en-US" sz="2400" dirty="0">
                <a:latin typeface="Times New Roman" panose="02020603050405020304" pitchFamily="18" charset="0"/>
                <a:cs typeface="Times New Roman" panose="02020603050405020304" pitchFamily="18" charset="0"/>
              </a:rPr>
              <a:t>b) In the context of multipath wireless channels, analyze how symbol duration and channel delay spread jointly determine the severity of ISI in both single-carrier and OFDM systems.</a:t>
            </a:r>
          </a:p>
          <a:p>
            <a:pPr marL="0" indent="0">
              <a:buNone/>
            </a:pPr>
            <a:r>
              <a:rPr lang="en-US" sz="2400" dirty="0">
                <a:latin typeface="Times New Roman" panose="02020603050405020304" pitchFamily="18" charset="0"/>
                <a:cs typeface="Times New Roman" panose="02020603050405020304" pitchFamily="18" charset="0"/>
              </a:rPr>
              <a:t>c) In an OFDM system, null subcarriers are inserted at specific locations within the spectrum. State the purpose of these null subcarriers. Explain why they are placed at the band edges and at the DC subcarrier position.</a:t>
            </a:r>
          </a:p>
          <a:p>
            <a:pPr marL="0" indent="0">
              <a:buNone/>
            </a:pPr>
            <a:r>
              <a:rPr lang="en-US" sz="2400" dirty="0">
                <a:latin typeface="Times New Roman" panose="02020603050405020304" pitchFamily="18" charset="0"/>
                <a:cs typeface="Times New Roman" panose="02020603050405020304" pitchFamily="18" charset="0"/>
              </a:rPr>
              <a:t>d) Describe the specific effect on OFDM symbol detection when the receiver timing is misaligned and sampling occurs beyond the cyclic prefix in a multipath fading channel. Refer to ISI and the loss of subcarrier orthogonality in your response.</a:t>
            </a:r>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542890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520A4-B842-A329-A48F-D647AEB450DD}"/>
              </a:ext>
            </a:extLst>
          </p:cNvPr>
          <p:cNvSpPr>
            <a:spLocks noGrp="1"/>
          </p:cNvSpPr>
          <p:nvPr>
            <p:ph type="title"/>
          </p:nvPr>
        </p:nvSpPr>
        <p:spPr/>
        <p:txBody>
          <a:bodyPr>
            <a:noAutofit/>
          </a:bodyPr>
          <a:lstStyle/>
          <a:p>
            <a:r>
              <a:rPr lang="en-US" sz="2800" b="1" dirty="0">
                <a:latin typeface="Times New Roman" panose="02020603050405020304" pitchFamily="18" charset="0"/>
                <a:cs typeface="Times New Roman" panose="02020603050405020304" pitchFamily="18" charset="0"/>
              </a:rPr>
              <a:t>(a) Explain why ISI occurs more severely in narrowband single-carrier transmission than in OFDM-based systems. </a:t>
            </a:r>
            <a:br>
              <a:rPr lang="en-US" sz="2800" b="1"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739FC37-AE55-DF39-3437-7702D8E21E6C}"/>
              </a:ext>
            </a:extLst>
          </p:cNvPr>
          <p:cNvSpPr>
            <a:spLocks noGrp="1"/>
          </p:cNvSpPr>
          <p:nvPr>
            <p:ph idx="1"/>
          </p:nvPr>
        </p:nvSpPr>
        <p:spPr>
          <a:xfrm>
            <a:off x="628650" y="1560061"/>
            <a:ext cx="7886700" cy="5101996"/>
          </a:xfrm>
        </p:spPr>
        <p:txBody>
          <a:bodyPr>
            <a:normAutofit fontScale="70000" lnSpcReduction="20000"/>
          </a:bodyPr>
          <a:lstStyle/>
          <a:p>
            <a:pPr marL="0" indent="0">
              <a:lnSpc>
                <a:spcPct val="170000"/>
              </a:lnSpc>
              <a:buNone/>
            </a:pPr>
            <a:r>
              <a:rPr lang="en-US" dirty="0">
                <a:latin typeface="Times New Roman" panose="02020603050405020304" pitchFamily="18" charset="0"/>
                <a:cs typeface="Times New Roman" panose="02020603050405020304" pitchFamily="18" charset="0"/>
              </a:rPr>
              <a:t>ISI is worse in single-carrier systems because all the data is sent in one fast stream, so each symbol is very short in time. When the signal reflects from buildings or objects, the delayed copies of the signal arrive later and overlap with the next symbol, causing interference.</a:t>
            </a:r>
          </a:p>
          <a:p>
            <a:pPr marL="0" indent="0">
              <a:lnSpc>
                <a:spcPct val="170000"/>
              </a:lnSpc>
              <a:buNone/>
            </a:pPr>
            <a:r>
              <a:rPr lang="en-US" dirty="0">
                <a:latin typeface="Times New Roman" panose="02020603050405020304" pitchFamily="18" charset="0"/>
                <a:cs typeface="Times New Roman" panose="02020603050405020304" pitchFamily="18" charset="0"/>
              </a:rPr>
              <a:t>In OFDM, the data is split across many slow subcarriers,</a:t>
            </a:r>
          </a:p>
          <a:p>
            <a:pPr marL="0" indent="0">
              <a:lnSpc>
                <a:spcPct val="170000"/>
              </a:lnSpc>
              <a:buNone/>
            </a:pPr>
            <a:r>
              <a:rPr lang="en-US" dirty="0">
                <a:latin typeface="Times New Roman" panose="02020603050405020304" pitchFamily="18" charset="0"/>
                <a:cs typeface="Times New Roman" panose="02020603050405020304" pitchFamily="18" charset="0"/>
              </a:rPr>
              <a:t> which makes each symbol much longer in time. Because the symbols are longer, the delayed reflections usually fit inside the cyclic prefix, so they do not interfere with the next symbol. That is why OFDM suffers much less from ISI compared to single-carrier transmission.</a:t>
            </a:r>
          </a:p>
          <a:p>
            <a:pPr marL="0" indent="0">
              <a:lnSpc>
                <a:spcPct val="170000"/>
              </a:lnSpc>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34741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0EAAC-431A-9BA0-C1EA-8E99CD185853}"/>
              </a:ext>
            </a:extLst>
          </p:cNvPr>
          <p:cNvSpPr>
            <a:spLocks noGrp="1"/>
          </p:cNvSpPr>
          <p:nvPr>
            <p:ph type="title"/>
          </p:nvPr>
        </p:nvSpPr>
        <p:spPr>
          <a:xfrm>
            <a:off x="628650" y="500062"/>
            <a:ext cx="7886700" cy="1325563"/>
          </a:xfrm>
        </p:spPr>
        <p:txBody>
          <a:bodyPr>
            <a:noAutofit/>
          </a:bodyPr>
          <a:lstStyle/>
          <a:p>
            <a:r>
              <a:rPr lang="en-US" sz="2800" b="1" dirty="0">
                <a:latin typeface="Times New Roman" panose="02020603050405020304" pitchFamily="18" charset="0"/>
                <a:cs typeface="Times New Roman" panose="02020603050405020304" pitchFamily="18" charset="0"/>
              </a:rPr>
              <a:t>(b) In the context of multipath wireless channels, analyze how symbol duration and channel delay spread jointly determine the problem of ISI in both single-carrier and OFDM systems.</a:t>
            </a:r>
            <a:br>
              <a:rPr lang="en-US" sz="2800" b="1"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FE119C0-E2AD-3D3E-C7F5-EEB4AFD7AF11}"/>
              </a:ext>
            </a:extLst>
          </p:cNvPr>
          <p:cNvSpPr>
            <a:spLocks noGrp="1"/>
          </p:cNvSpPr>
          <p:nvPr>
            <p:ph idx="1"/>
          </p:nvPr>
        </p:nvSpPr>
        <p:spPr>
          <a:xfrm>
            <a:off x="628650" y="2027176"/>
            <a:ext cx="7886700" cy="4351338"/>
          </a:xfrm>
        </p:spPr>
        <p:txBody>
          <a:bodyPr>
            <a:normAutofit fontScale="77500" lnSpcReduction="20000"/>
          </a:bodyPr>
          <a:lstStyle/>
          <a:p>
            <a:pPr marL="0" indent="0">
              <a:buNone/>
            </a:pP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In wireless systems, the channel delay spread is how long delayed echoes of the signal take to arrive because of reflections. </a:t>
            </a:r>
          </a:p>
          <a:p>
            <a:pPr marL="0" indent="0">
              <a:buNone/>
            </a:pPr>
            <a:r>
              <a:rPr lang="en-US" dirty="0">
                <a:latin typeface="Times New Roman" panose="02020603050405020304" pitchFamily="18" charset="0"/>
                <a:cs typeface="Times New Roman" panose="02020603050405020304" pitchFamily="18" charset="0"/>
              </a:rPr>
              <a:t>The symbol duration is how long one bit or block of information lasts.</a:t>
            </a:r>
          </a:p>
          <a:p>
            <a:pPr marL="0" indent="0">
              <a:buNone/>
            </a:pPr>
            <a:r>
              <a:rPr lang="en-US" dirty="0">
                <a:latin typeface="Times New Roman" panose="02020603050405020304" pitchFamily="18" charset="0"/>
                <a:cs typeface="Times New Roman" panose="02020603050405020304" pitchFamily="18" charset="0"/>
              </a:rPr>
              <a:t>If the delay spread is longer than the symbol duration, then delayed echoes from the previous symbol will mix with the next one. This mixing causes Inter-Symbol Interference (ISI).</a:t>
            </a:r>
          </a:p>
          <a:p>
            <a:pPr marL="0" indent="0">
              <a:buNone/>
            </a:pPr>
            <a:r>
              <a:rPr lang="en-US" dirty="0">
                <a:latin typeface="Times New Roman" panose="02020603050405020304" pitchFamily="18" charset="0"/>
                <a:cs typeface="Times New Roman" panose="02020603050405020304" pitchFamily="18" charset="0"/>
              </a:rPr>
              <a:t>In single-carrier systems, symbols are short, so even small delay spreads can cause ISI.</a:t>
            </a:r>
          </a:p>
          <a:p>
            <a:pPr marL="0" indent="0">
              <a:buNone/>
            </a:pPr>
            <a:r>
              <a:rPr lang="en-US" dirty="0">
                <a:latin typeface="Times New Roman" panose="02020603050405020304" pitchFamily="18" charset="0"/>
                <a:cs typeface="Times New Roman" panose="02020603050405020304" pitchFamily="18" charset="0"/>
              </a:rPr>
              <a:t>In OFDM systems, symbols are made much longer by splitting data across many subcarriers. Because the symbol duration is long, echoes usually fit inside the cyclic prefix, so they don’t interfere with the next symbol.</a:t>
            </a:r>
          </a:p>
          <a:p>
            <a:pPr marL="0" indent="0">
              <a:buNone/>
            </a:pPr>
            <a:r>
              <a:rPr lang="en-US" dirty="0">
                <a:latin typeface="Times New Roman" panose="02020603050405020304" pitchFamily="18" charset="0"/>
                <a:cs typeface="Times New Roman" panose="02020603050405020304" pitchFamily="18" charset="0"/>
              </a:rPr>
              <a:t>ISI happens when delay spread &gt; symbol duration.</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88828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B9C9D-0713-BD96-3623-3005F247FE03}"/>
              </a:ext>
            </a:extLst>
          </p:cNvPr>
          <p:cNvSpPr>
            <a:spLocks noGrp="1"/>
          </p:cNvSpPr>
          <p:nvPr>
            <p:ph type="title"/>
          </p:nvPr>
        </p:nvSpPr>
        <p:spPr/>
        <p:txBody>
          <a:bodyPr>
            <a:noAutofit/>
          </a:bodyPr>
          <a:lstStyle/>
          <a:p>
            <a:r>
              <a:rPr lang="en-US" sz="2400" b="1" dirty="0">
                <a:latin typeface="Times New Roman" panose="02020603050405020304" pitchFamily="18" charset="0"/>
                <a:cs typeface="Times New Roman" panose="02020603050405020304" pitchFamily="18" charset="0"/>
              </a:rPr>
              <a:t>(c) In an OFDM system, null subcarriers are inserted at specific locations within the spectrum. State the purpose of these null subcarriers and explain why they are placed at the band edges and at the DC subcarrier position. </a:t>
            </a:r>
          </a:p>
        </p:txBody>
      </p:sp>
      <p:sp>
        <p:nvSpPr>
          <p:cNvPr id="4" name="Rectangle 1">
            <a:extLst>
              <a:ext uri="{FF2B5EF4-FFF2-40B4-BE49-F238E27FC236}">
                <a16:creationId xmlns:a16="http://schemas.microsoft.com/office/drawing/2014/main" id="{2397F0A1-835D-8F31-8B4E-C3156E2D483A}"/>
              </a:ext>
            </a:extLst>
          </p:cNvPr>
          <p:cNvSpPr>
            <a:spLocks noGrp="1" noChangeArrowheads="1"/>
          </p:cNvSpPr>
          <p:nvPr>
            <p:ph idx="1"/>
          </p:nvPr>
        </p:nvSpPr>
        <p:spPr bwMode="auto">
          <a:xfrm>
            <a:off x="628650" y="1634854"/>
            <a:ext cx="7886700"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ct val="0"/>
              </a:spcAft>
              <a:buNone/>
            </a:pPr>
            <a:r>
              <a:rPr lang="en-US" sz="2400" dirty="0">
                <a:latin typeface="Times New Roman" panose="02020603050405020304" pitchFamily="18" charset="0"/>
                <a:cs typeface="Times New Roman" panose="02020603050405020304" pitchFamily="18" charset="0"/>
              </a:rPr>
              <a:t>In an OFDM system, null subcarriers are intentionally left empty to improve the quality and reliability of the transmitted signal. They serve as guard bands that prevent interference with other channels and help keep the transmission within its allowed frequency limits. </a:t>
            </a:r>
          </a:p>
          <a:p>
            <a:pPr marL="0" indent="0" eaLnBrk="0" fontAlgn="base" hangingPunct="0">
              <a:lnSpc>
                <a:spcPct val="100000"/>
              </a:lnSpc>
              <a:spcBef>
                <a:spcPct val="0"/>
              </a:spcBef>
              <a:spcAft>
                <a:spcPct val="0"/>
              </a:spcAft>
              <a:buNone/>
            </a:pPr>
            <a:endParaRPr lang="en-US" sz="1200"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None/>
            </a:pPr>
            <a:r>
              <a:rPr lang="en-US" sz="2400" dirty="0">
                <a:latin typeface="Times New Roman" panose="02020603050405020304" pitchFamily="18" charset="0"/>
                <a:cs typeface="Times New Roman" panose="02020603050405020304" pitchFamily="18" charset="0"/>
              </a:rPr>
              <a:t>These null subcarriers are placed at the edges of the spectrum to reduce out-of-band emissions and protect neighboring frequency bands. Additionally, a null subcarrier is placed at the DC (zero-frequency) position to avoid issues caused by hardware imperfections, such as DC offset or leakage from the local oscillator. By leaving this central subcarrier unused, the system avoids distortion that could affect nearby data-carrying subcarriers.</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indent="0" eaLnBrk="0" fontAlgn="base" hangingPunct="0">
              <a:lnSpc>
                <a:spcPct val="100000"/>
              </a:lnSpc>
              <a:spcBef>
                <a:spcPct val="0"/>
              </a:spcBef>
              <a:spcAft>
                <a:spcPct val="0"/>
              </a:spcAft>
              <a:buNone/>
            </a:pPr>
            <a:endPar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71117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AA3A1-9A28-5B44-D104-EB0B8791D8D1}"/>
              </a:ext>
            </a:extLst>
          </p:cNvPr>
          <p:cNvSpPr>
            <a:spLocks noGrp="1"/>
          </p:cNvSpPr>
          <p:nvPr>
            <p:ph type="title"/>
          </p:nvPr>
        </p:nvSpPr>
        <p:spPr>
          <a:xfrm>
            <a:off x="628650" y="654442"/>
            <a:ext cx="7886700" cy="1325563"/>
          </a:xfrm>
        </p:spPr>
        <p:txBody>
          <a:bodyPr>
            <a:noAutofit/>
          </a:bodyPr>
          <a:lstStyle/>
          <a:p>
            <a:r>
              <a:rPr lang="en-US" sz="2400" b="1" dirty="0">
                <a:latin typeface="Times New Roman" panose="02020603050405020304" pitchFamily="18" charset="0"/>
                <a:cs typeface="Times New Roman" panose="02020603050405020304" pitchFamily="18" charset="0"/>
              </a:rPr>
              <a:t>(d) Describe the specific effect on OFDM symbol detection when the receiver timing is misaligned and sampling occurs beyond the cyclic prefix in a multipath fading channel. Refer to ISI and the loss of subcarrier orthogonality.</a:t>
            </a:r>
            <a:r>
              <a:rPr lang="en-US" sz="2400" b="1" i="1" dirty="0">
                <a:latin typeface="Times New Roman" panose="02020603050405020304" pitchFamily="18" charset="0"/>
                <a:cs typeface="Times New Roman" panose="02020603050405020304" pitchFamily="18" charset="0"/>
              </a:rPr>
              <a:t> </a:t>
            </a:r>
            <a:br>
              <a:rPr lang="en-US" sz="2400" b="1" dirty="0">
                <a:latin typeface="Times New Roman" panose="02020603050405020304" pitchFamily="18" charset="0"/>
                <a:cs typeface="Times New Roman" panose="02020603050405020304" pitchFamily="18" charset="0"/>
              </a:rPr>
            </a:br>
            <a:endParaRPr lang="en-US" sz="24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282A7F9-FE90-1D11-D491-C3A66EB883A7}"/>
              </a:ext>
            </a:extLst>
          </p:cNvPr>
          <p:cNvSpPr>
            <a:spLocks noGrp="1"/>
          </p:cNvSpPr>
          <p:nvPr>
            <p:ph idx="1"/>
          </p:nvPr>
        </p:nvSpPr>
        <p:spPr>
          <a:xfrm>
            <a:off x="628650" y="1980005"/>
            <a:ext cx="7886700" cy="4351338"/>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When the receiver timing is misaligned in an OFDM system and sampling starts beyond the cyclic prefix (CP), part of the delayed multipath signal from the previous symbol leaks into the useful part of the current symbol. This causes ISI because the tail end of the previous symbol overlaps with the current one. </a:t>
            </a:r>
          </a:p>
          <a:p>
            <a:pPr marL="0" indent="0">
              <a:buNone/>
            </a:pPr>
            <a:r>
              <a:rPr lang="en-US" sz="2400" dirty="0">
                <a:latin typeface="Times New Roman" panose="02020603050405020304" pitchFamily="18" charset="0"/>
                <a:cs typeface="Times New Roman" panose="02020603050405020304" pitchFamily="18" charset="0"/>
              </a:rPr>
              <a:t>Additionally, because the CP is no longer fully covering the channel’s delay spread, the received signal no longer represents a clean circular convolution, which is required for proper FFT processing. As a result, the orthogonality between subcarriers is lost, leading to ICI. Together, ISI and ICI distort the received symbols and make accurate symbol detection much harder, increasing the error rate.</a:t>
            </a:r>
          </a:p>
        </p:txBody>
      </p:sp>
    </p:spTree>
    <p:extLst>
      <p:ext uri="{BB962C8B-B14F-4D97-AF65-F5344CB8AC3E}">
        <p14:creationId xmlns:p14="http://schemas.microsoft.com/office/powerpoint/2010/main" val="30371848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E7516-FA42-A366-A256-02E1046AAD37}"/>
              </a:ext>
            </a:extLst>
          </p:cNvPr>
          <p:cNvSpPr>
            <a:spLocks noGrp="1"/>
          </p:cNvSpPr>
          <p:nvPr>
            <p:ph type="title"/>
          </p:nvPr>
        </p:nvSpPr>
        <p:spPr>
          <a:xfrm>
            <a:off x="628650" y="365127"/>
            <a:ext cx="7886700" cy="538388"/>
          </a:xfrm>
        </p:spPr>
        <p:txBody>
          <a:bodyPr>
            <a:noAutofit/>
          </a:bodyPr>
          <a:lstStyle/>
          <a:p>
            <a:r>
              <a:rPr lang="en-US" sz="3600" b="1" dirty="0">
                <a:latin typeface="Arial" panose="020B0604020202020204" pitchFamily="34" charset="0"/>
                <a:cs typeface="Arial" panose="020B0604020202020204" pitchFamily="34" charset="0"/>
              </a:rPr>
              <a:t>Example</a:t>
            </a:r>
          </a:p>
        </p:txBody>
      </p:sp>
      <p:sp>
        <p:nvSpPr>
          <p:cNvPr id="5" name="TextBox 4">
            <a:extLst>
              <a:ext uri="{FF2B5EF4-FFF2-40B4-BE49-F238E27FC236}">
                <a16:creationId xmlns:a16="http://schemas.microsoft.com/office/drawing/2014/main" id="{F70418E2-287A-688E-1337-C39336D543CC}"/>
              </a:ext>
            </a:extLst>
          </p:cNvPr>
          <p:cNvSpPr txBox="1"/>
          <p:nvPr/>
        </p:nvSpPr>
        <p:spPr>
          <a:xfrm>
            <a:off x="495300" y="1019966"/>
            <a:ext cx="8153400" cy="2323713"/>
          </a:xfrm>
          <a:prstGeom prst="rect">
            <a:avLst/>
          </a:prstGeom>
          <a:noFill/>
        </p:spPr>
        <p:txBody>
          <a:bodyPr wrap="square">
            <a:spAutoFit/>
          </a:bodyPr>
          <a:lstStyle/>
          <a:p>
            <a:pPr marL="0" marR="0">
              <a:spcBef>
                <a:spcPts val="1500"/>
              </a:spcBef>
              <a:spcAft>
                <a:spcPts val="1500"/>
              </a:spcAft>
            </a:pPr>
            <a:r>
              <a:rPr lang="en-US" sz="2000" dirty="0">
                <a:solidFill>
                  <a:srgbClr val="374151"/>
                </a:solidFill>
                <a:effectLst/>
                <a:latin typeface="Times New Roman" panose="02020603050405020304" pitchFamily="18" charset="0"/>
                <a:ea typeface="Times New Roman" panose="02020603050405020304" pitchFamily="18" charset="0"/>
                <a:cs typeface="Times New Roman" panose="02020603050405020304" pitchFamily="18" charset="0"/>
              </a:rPr>
              <a:t>Suppose we want to transmit a 2 Mbps data stream over a wireless channel using OFDM with a bandwidth of 10 </a:t>
            </a:r>
            <a:r>
              <a:rPr lang="en-US" sz="2000" dirty="0" err="1">
                <a:solidFill>
                  <a:srgbClr val="374151"/>
                </a:solidFill>
                <a:effectLst/>
                <a:latin typeface="Times New Roman" panose="02020603050405020304" pitchFamily="18" charset="0"/>
                <a:ea typeface="Times New Roman" panose="02020603050405020304" pitchFamily="18" charset="0"/>
                <a:cs typeface="Times New Roman" panose="02020603050405020304" pitchFamily="18" charset="0"/>
              </a:rPr>
              <a:t>MHz.</a:t>
            </a:r>
            <a:r>
              <a:rPr lang="en-US" sz="2000" dirty="0">
                <a:solidFill>
                  <a:srgbClr val="374151"/>
                </a:solidFill>
                <a:effectLst/>
                <a:latin typeface="Times New Roman" panose="02020603050405020304" pitchFamily="18" charset="0"/>
                <a:ea typeface="Times New Roman" panose="02020603050405020304" pitchFamily="18" charset="0"/>
                <a:cs typeface="Times New Roman" panose="02020603050405020304" pitchFamily="18" charset="0"/>
              </a:rPr>
              <a:t> The channel has a frequency response that varies randomly from subcarrier to subcarrier. We want to use a 1024-point FFT for the OFDM modulation. Assume 10% of the subcarriers for pilots and a guard interval of 25% of the symbol duration. </a:t>
            </a:r>
          </a:p>
          <a:p>
            <a:pPr marL="0" marR="0">
              <a:spcBef>
                <a:spcPts val="1500"/>
              </a:spcBef>
              <a:spcAft>
                <a:spcPts val="1500"/>
              </a:spcAft>
            </a:pPr>
            <a:r>
              <a:rPr lang="en-US" sz="2000" dirty="0">
                <a:solidFill>
                  <a:srgbClr val="374151"/>
                </a:solidFill>
                <a:effectLst/>
                <a:latin typeface="Times New Roman" panose="02020603050405020304" pitchFamily="18" charset="0"/>
                <a:ea typeface="Times New Roman" panose="02020603050405020304" pitchFamily="18" charset="0"/>
                <a:cs typeface="Times New Roman" panose="02020603050405020304" pitchFamily="18" charset="0"/>
              </a:rPr>
              <a:t>Calculate:</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716E1DD8-EA43-162B-BA00-024B555F0A90}"/>
              </a:ext>
            </a:extLst>
          </p:cNvPr>
          <p:cNvSpPr txBox="1"/>
          <p:nvPr/>
        </p:nvSpPr>
        <p:spPr>
          <a:xfrm>
            <a:off x="495300" y="3514322"/>
            <a:ext cx="7331529" cy="1631216"/>
          </a:xfrm>
          <a:prstGeom prst="rect">
            <a:avLst/>
          </a:prstGeom>
          <a:noFill/>
        </p:spPr>
        <p:txBody>
          <a:bodyPr wrap="square">
            <a:spAutoFit/>
          </a:bodyPr>
          <a:lstStyle/>
          <a:p>
            <a:pPr marL="342900" indent="-342900">
              <a:buFont typeface="+mj-lt"/>
              <a:buAutoNum type="arabicPeriod"/>
            </a:pPr>
            <a:r>
              <a:rPr lang="en-US" sz="2000" dirty="0">
                <a:solidFill>
                  <a:srgbClr val="374151"/>
                </a:solidFill>
                <a:latin typeface="Times New Roman" panose="02020603050405020304" pitchFamily="18" charset="0"/>
                <a:ea typeface="Times New Roman" panose="02020603050405020304" pitchFamily="18" charset="0"/>
                <a:cs typeface="Times New Roman" panose="02020603050405020304" pitchFamily="18" charset="0"/>
              </a:rPr>
              <a:t>No.</a:t>
            </a:r>
            <a:r>
              <a:rPr lang="en-US" sz="2000" dirty="0">
                <a:solidFill>
                  <a:srgbClr val="374151"/>
                </a:solidFill>
                <a:effectLst/>
                <a:latin typeface="Times New Roman" panose="02020603050405020304" pitchFamily="18" charset="0"/>
                <a:ea typeface="Times New Roman" panose="02020603050405020304" pitchFamily="18" charset="0"/>
                <a:cs typeface="Times New Roman" panose="02020603050405020304" pitchFamily="18" charset="0"/>
              </a:rPr>
              <a:t> of subcarriers</a:t>
            </a:r>
          </a:p>
          <a:p>
            <a:pPr marL="342900" indent="-342900">
              <a:buFont typeface="+mj-lt"/>
              <a:buAutoNum type="arabicPeriod"/>
            </a:pPr>
            <a:r>
              <a:rPr lang="en-US" sz="2000" dirty="0">
                <a:solidFill>
                  <a:srgbClr val="374151"/>
                </a:solidFill>
                <a:effectLst/>
                <a:latin typeface="Times New Roman" panose="02020603050405020304" pitchFamily="18" charset="0"/>
                <a:ea typeface="Times New Roman" panose="02020603050405020304" pitchFamily="18" charset="0"/>
                <a:cs typeface="Times New Roman" panose="02020603050405020304" pitchFamily="18" charset="0"/>
              </a:rPr>
              <a:t>Subcarrier spacing:</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0"/>
              </a:spcAft>
              <a:buFont typeface="+mj-lt"/>
              <a:buAutoNum type="arabicPeriod"/>
            </a:pPr>
            <a:r>
              <a:rPr lang="en-US" sz="2000" dirty="0">
                <a:solidFill>
                  <a:srgbClr val="374151"/>
                </a:solidFill>
                <a:latin typeface="Times New Roman" panose="02020603050405020304" pitchFamily="18" charset="0"/>
                <a:ea typeface="Calibri" panose="020F0502020204030204" pitchFamily="34" charset="0"/>
                <a:cs typeface="Times New Roman" panose="02020603050405020304" pitchFamily="18" charset="0"/>
              </a:rPr>
              <a:t>S</a:t>
            </a:r>
            <a:r>
              <a:rPr lang="en-US" sz="2000" dirty="0">
                <a:solidFill>
                  <a:srgbClr val="374151"/>
                </a:solidFill>
                <a:effectLst/>
                <a:latin typeface="Times New Roman" panose="02020603050405020304" pitchFamily="18" charset="0"/>
                <a:ea typeface="Calibri" panose="020F0502020204030204" pitchFamily="34" charset="0"/>
                <a:cs typeface="Times New Roman" panose="02020603050405020304" pitchFamily="18" charset="0"/>
              </a:rPr>
              <a:t>ymbol duration</a:t>
            </a:r>
            <a:endParaRPr lang="en-US" sz="2000" dirty="0">
              <a:solidFill>
                <a:srgbClr val="374151"/>
              </a:solidFill>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spcBef>
                <a:spcPts val="0"/>
              </a:spcBef>
              <a:spcAft>
                <a:spcPts val="0"/>
              </a:spcAft>
              <a:buFont typeface="+mj-lt"/>
              <a:buAutoNum type="arabicPeriod"/>
            </a:pPr>
            <a:r>
              <a:rPr lang="en-US" sz="2000" dirty="0">
                <a:solidFill>
                  <a:srgbClr val="374151"/>
                </a:solidFill>
                <a:latin typeface="Times New Roman" panose="02020603050405020304" pitchFamily="18" charset="0"/>
                <a:ea typeface="Calibri" panose="020F0502020204030204" pitchFamily="34" charset="0"/>
                <a:cs typeface="Times New Roman" panose="02020603050405020304" pitchFamily="18" charset="0"/>
              </a:rPr>
              <a:t>No.</a:t>
            </a:r>
            <a:r>
              <a:rPr lang="en-US" sz="2000" dirty="0">
                <a:solidFill>
                  <a:srgbClr val="374151"/>
                </a:solidFill>
                <a:effectLst/>
                <a:latin typeface="Times New Roman" panose="02020603050405020304" pitchFamily="18" charset="0"/>
                <a:ea typeface="Calibri" panose="020F0502020204030204" pitchFamily="34" charset="0"/>
                <a:cs typeface="Times New Roman" panose="02020603050405020304" pitchFamily="18" charset="0"/>
              </a:rPr>
              <a:t> of data bits per subcarrier</a:t>
            </a:r>
          </a:p>
          <a:p>
            <a:pPr marL="342900" marR="0" lvl="0" indent="-342900">
              <a:spcBef>
                <a:spcPts val="0"/>
              </a:spcBef>
              <a:spcAft>
                <a:spcPts val="0"/>
              </a:spcAft>
              <a:buFont typeface="+mj-lt"/>
              <a:buAutoNum type="arabicPeriod"/>
            </a:pP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98541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0997B95-11D1-00F1-697B-4552E43ACD13}"/>
                  </a:ext>
                </a:extLst>
              </p:cNvPr>
              <p:cNvSpPr>
                <a:spLocks noGrp="1"/>
              </p:cNvSpPr>
              <p:nvPr>
                <p:ph idx="1"/>
              </p:nvPr>
            </p:nvSpPr>
            <p:spPr/>
            <p:txBody>
              <a:bodyPr/>
              <a:lstStyle/>
              <a:p>
                <a:r>
                  <a:rPr lang="en-US" b="1" dirty="0"/>
                  <a:t>Given</a:t>
                </a:r>
              </a:p>
              <a:p>
                <a:r>
                  <a:rPr lang="en-US" dirty="0"/>
                  <a:t>Bandwidth </a:t>
                </a:r>
                <a14:m>
                  <m:oMath xmlns:m="http://schemas.openxmlformats.org/officeDocument/2006/math">
                    <m:r>
                      <a:rPr lang="en-US" i="1"/>
                      <m:t>𝐵</m:t>
                    </m:r>
                    <m:r>
                      <a:rPr lang="en-US"/>
                      <m:t>=</m:t>
                    </m:r>
                    <m:r>
                      <a:rPr lang="en-US"/>
                      <m:t>10</m:t>
                    </m:r>
                    <m:r>
                      <m:rPr>
                        <m:nor/>
                      </m:rPr>
                      <a:rPr lang="en-US" i="1"/>
                      <m:t> </m:t>
                    </m:r>
                    <m:r>
                      <m:rPr>
                        <m:nor/>
                      </m:rPr>
                      <a:rPr lang="en-US" i="1"/>
                      <m:t>MHz</m:t>
                    </m:r>
                  </m:oMath>
                </a14:m>
                <a:endParaRPr lang="en-US" dirty="0"/>
              </a:p>
              <a:p>
                <a:r>
                  <a:rPr lang="en-US" dirty="0"/>
                  <a:t>FFT size </a:t>
                </a:r>
                <a14:m>
                  <m:oMath xmlns:m="http://schemas.openxmlformats.org/officeDocument/2006/math">
                    <m:r>
                      <a:rPr lang="en-US" i="1"/>
                      <m:t>𝑁</m:t>
                    </m:r>
                    <m:r>
                      <a:rPr lang="en-US"/>
                      <m:t>=</m:t>
                    </m:r>
                    <m:r>
                      <a:rPr lang="en-US"/>
                      <m:t>1024</m:t>
                    </m:r>
                  </m:oMath>
                </a14:m>
                <a:endParaRPr lang="en-US" dirty="0"/>
              </a:p>
              <a:p>
                <a:r>
                  <a:rPr lang="en-US" dirty="0"/>
                  <a:t>Pilots = </a:t>
                </a:r>
                <a:r>
                  <a:rPr lang="en-US" b="1" dirty="0"/>
                  <a:t>10%</a:t>
                </a:r>
                <a:r>
                  <a:rPr lang="en-US" dirty="0"/>
                  <a:t> of subcarriers</a:t>
                </a:r>
              </a:p>
              <a:p>
                <a:r>
                  <a:rPr lang="en-US" dirty="0"/>
                  <a:t>Guard interval (CP) = </a:t>
                </a:r>
                <a:r>
                  <a:rPr lang="en-US" b="1" dirty="0"/>
                  <a:t>25%</a:t>
                </a:r>
                <a:r>
                  <a:rPr lang="en-US" dirty="0"/>
                  <a:t> of useful symbol duration</a:t>
                </a:r>
              </a:p>
              <a:p>
                <a:endParaRPr lang="en-US" dirty="0"/>
              </a:p>
            </p:txBody>
          </p:sp>
        </mc:Choice>
        <mc:Fallback>
          <p:sp>
            <p:nvSpPr>
              <p:cNvPr id="3" name="Content Placeholder 2">
                <a:extLst>
                  <a:ext uri="{FF2B5EF4-FFF2-40B4-BE49-F238E27FC236}">
                    <a16:creationId xmlns:a16="http://schemas.microsoft.com/office/drawing/2014/main" id="{30997B95-11D1-00F1-697B-4552E43ACD13}"/>
                  </a:ext>
                </a:extLst>
              </p:cNvPr>
              <p:cNvSpPr>
                <a:spLocks noGrp="1" noRot="1" noChangeAspect="1" noMove="1" noResize="1" noEditPoints="1" noAdjustHandles="1" noChangeArrowheads="1" noChangeShapeType="1" noTextEdit="1"/>
              </p:cNvSpPr>
              <p:nvPr>
                <p:ph idx="1"/>
              </p:nvPr>
            </p:nvSpPr>
            <p:spPr>
              <a:blipFill>
                <a:blip r:embed="rId2"/>
                <a:stretch>
                  <a:fillRect l="-1391" t="-2241" r="-1082"/>
                </a:stretch>
              </a:blipFill>
            </p:spPr>
            <p:txBody>
              <a:bodyPr/>
              <a:lstStyle/>
              <a:p>
                <a:r>
                  <a:rPr lang="en-US">
                    <a:noFill/>
                  </a:rPr>
                  <a:t> </a:t>
                </a:r>
              </a:p>
            </p:txBody>
          </p:sp>
        </mc:Fallback>
      </mc:AlternateContent>
    </p:spTree>
    <p:extLst>
      <p:ext uri="{BB962C8B-B14F-4D97-AF65-F5344CB8AC3E}">
        <p14:creationId xmlns:p14="http://schemas.microsoft.com/office/powerpoint/2010/main" val="274993798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16D5098-84D8-73FE-67BA-4EE0FA6468AB}"/>
                  </a:ext>
                </a:extLst>
              </p:cNvPr>
              <p:cNvSpPr>
                <a:spLocks noGrp="1"/>
              </p:cNvSpPr>
              <p:nvPr>
                <p:ph idx="1"/>
              </p:nvPr>
            </p:nvSpPr>
            <p:spPr>
              <a:xfrm>
                <a:off x="830530" y="554964"/>
                <a:ext cx="7886700" cy="5370822"/>
              </a:xfrm>
            </p:spPr>
            <p:txBody>
              <a:bodyPr>
                <a:normAutofit fontScale="92500" lnSpcReduction="10000"/>
              </a:bodyPr>
              <a:lstStyle/>
              <a:p>
                <a:pPr marL="514350" indent="-514350">
                  <a:buAutoNum type="arabicParenR"/>
                </a:pPr>
                <a:r>
                  <a:rPr lang="en-US" dirty="0"/>
                  <a:t>Number of subcarriers</a:t>
                </a:r>
              </a:p>
              <a:p>
                <a:pPr marL="514350" indent="-514350">
                  <a:buAutoNum type="arabicParenR"/>
                </a:pPr>
                <a:endParaRPr lang="en-US" dirty="0"/>
              </a:p>
              <a:p>
                <a:pPr marL="0" indent="0">
                  <a:buNone/>
                </a:pPr>
                <a:r>
                  <a:rPr lang="en-US" dirty="0"/>
                  <a:t>Total subcarriers: </a:t>
                </a:r>
                <a14:m>
                  <m:oMath xmlns:m="http://schemas.openxmlformats.org/officeDocument/2006/math">
                    <m:r>
                      <a:rPr lang="en-US" b="0" i="1" smtClean="0">
                        <a:latin typeface="Cambria Math" panose="02040503050406030204" pitchFamily="18" charset="0"/>
                      </a:rPr>
                      <m:t>𝑁</m:t>
                    </m:r>
                    <m:r>
                      <a:rPr lang="en-US" b="0" smtClean="0">
                        <a:latin typeface="Cambria Math" panose="02040503050406030204" pitchFamily="18" charset="0"/>
                      </a:rPr>
                      <m:t>=1024</m:t>
                    </m:r>
                  </m:oMath>
                </a14:m>
                <a:endParaRPr lang="en-US" dirty="0"/>
              </a:p>
              <a:p>
                <a:pPr marL="0" indent="0">
                  <a:buNone/>
                </a:pPr>
                <a:endParaRPr lang="en-US" dirty="0"/>
              </a:p>
              <a:p>
                <a:pPr marL="0" indent="0">
                  <a:buNone/>
                </a:pPr>
                <a:r>
                  <a:rPr lang="en-US" dirty="0"/>
                  <a:t>Pilot subcarriers (10%): </a:t>
                </a:r>
                <a14:m>
                  <m:oMath xmlns:m="http://schemas.openxmlformats.org/officeDocument/2006/math">
                    <m:r>
                      <a:rPr lang="en-US" b="0" smtClean="0">
                        <a:latin typeface="Cambria Math" panose="02040503050406030204" pitchFamily="18" charset="0"/>
                      </a:rPr>
                      <m:t>≈0.10×1024=102</m:t>
                    </m:r>
                  </m:oMath>
                </a14:m>
                <a:endParaRPr lang="en-US" dirty="0"/>
              </a:p>
              <a:p>
                <a:pPr marL="0" indent="0">
                  <a:buNone/>
                </a:pPr>
                <a:endParaRPr lang="en-US" dirty="0"/>
              </a:p>
              <a:p>
                <a:pPr marL="0" indent="0">
                  <a:buNone/>
                </a:pPr>
                <a:r>
                  <a:rPr lang="en-US" dirty="0"/>
                  <a:t>Data subcarriers: </a:t>
                </a:r>
                <a14:m>
                  <m:oMath xmlns:m="http://schemas.openxmlformats.org/officeDocument/2006/math">
                    <m:r>
                      <a:rPr lang="en-US" b="0" smtClean="0">
                        <a:latin typeface="Cambria Math" panose="02040503050406030204" pitchFamily="18" charset="0"/>
                      </a:rPr>
                      <m:t>≈1024−102=</m:t>
                    </m:r>
                    <m:r>
                      <a:rPr lang="en-US" b="0" i="1">
                        <a:latin typeface="Cambria Math" panose="02040503050406030204" pitchFamily="18" charset="0"/>
                      </a:rPr>
                      <m:t>922</m:t>
                    </m:r>
                  </m:oMath>
                </a14:m>
                <a:endParaRPr lang="en-US" dirty="0"/>
              </a:p>
              <a:p>
                <a:pPr marL="0" indent="0">
                  <a:buNone/>
                </a:pPr>
                <a:endParaRPr lang="en-US" dirty="0"/>
              </a:p>
              <a:p>
                <a:pPr marL="0" indent="0">
                  <a:buNone/>
                </a:pPr>
                <a:r>
                  <a:rPr lang="en-US" dirty="0"/>
                  <a:t>2) Subcarrier spacing</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m:rPr>
                          <m:sty m:val="p"/>
                        </m:rPr>
                        <a:rPr lang="el-GR" b="0" smtClean="0">
                          <a:latin typeface="Cambria Math" panose="02040503050406030204" pitchFamily="18" charset="0"/>
                        </a:rPr>
                        <m:t>Δ</m:t>
                      </m:r>
                      <m:r>
                        <a:rPr lang="el-GR" b="0" i="1" smtClean="0">
                          <a:latin typeface="Cambria Math" panose="02040503050406030204" pitchFamily="18" charset="0"/>
                        </a:rPr>
                        <m:t>𝑓</m:t>
                      </m:r>
                      <m:r>
                        <a:rPr lang="el-GR" b="0" smtClean="0">
                          <a:latin typeface="Cambria Math" panose="02040503050406030204" pitchFamily="18" charset="0"/>
                        </a:rPr>
                        <m:t>=</m:t>
                      </m:r>
                      <m:f>
                        <m:fPr>
                          <m:ctrlPr>
                            <a:rPr lang="ar-SA" i="1"/>
                          </m:ctrlPr>
                        </m:fPr>
                        <m:num>
                          <m:r>
                            <a:rPr lang="ar-SA" b="0" i="1" smtClean="0">
                              <a:latin typeface="Cambria Math" panose="02040503050406030204" pitchFamily="18" charset="0"/>
                            </a:rPr>
                            <m:t>𝐵</m:t>
                          </m:r>
                        </m:num>
                        <m:den>
                          <m:r>
                            <a:rPr lang="ar-SA" b="0" i="1" smtClean="0">
                              <a:latin typeface="Cambria Math" panose="02040503050406030204" pitchFamily="18" charset="0"/>
                            </a:rPr>
                            <m:t>𝑁</m:t>
                          </m:r>
                        </m:den>
                      </m:f>
                      <m:r>
                        <a:rPr lang="ar-SA" b="0" smtClean="0">
                          <a:latin typeface="Cambria Math" panose="02040503050406030204" pitchFamily="18" charset="0"/>
                        </a:rPr>
                        <m:t>=</m:t>
                      </m:r>
                      <m:f>
                        <m:fPr>
                          <m:ctrlPr>
                            <a:rPr lang="ar-SA" i="1"/>
                          </m:ctrlPr>
                        </m:fPr>
                        <m:num>
                          <m:r>
                            <a:rPr lang="ar-SA" b="0" smtClean="0">
                              <a:latin typeface="Cambria Math" panose="02040503050406030204" pitchFamily="18" charset="0"/>
                            </a:rPr>
                            <m:t>10</m:t>
                          </m:r>
                          <m:r>
                            <a:rPr lang="ar-SA" b="0" smtClean="0">
                              <a:latin typeface="Cambria Math" panose="02040503050406030204" pitchFamily="18" charset="0"/>
                            </a:rPr>
                            <m:t>×</m:t>
                          </m:r>
                          <m:sSup>
                            <m:sSupPr>
                              <m:ctrlPr>
                                <a:rPr lang="ar-SA" i="1"/>
                              </m:ctrlPr>
                            </m:sSupPr>
                            <m:e>
                              <m:r>
                                <a:rPr lang="ar-SA" b="0" smtClean="0">
                                  <a:latin typeface="Cambria Math" panose="02040503050406030204" pitchFamily="18" charset="0"/>
                                </a:rPr>
                                <m:t>10</m:t>
                              </m:r>
                            </m:e>
                            <m:sup>
                              <m:r>
                                <a:rPr lang="ar-SA" b="0" smtClean="0">
                                  <a:latin typeface="Cambria Math" panose="02040503050406030204" pitchFamily="18" charset="0"/>
                                </a:rPr>
                                <m:t>6</m:t>
                              </m:r>
                            </m:sup>
                          </m:sSup>
                        </m:num>
                        <m:den>
                          <m:r>
                            <a:rPr lang="ar-SA" b="0" smtClean="0">
                              <a:latin typeface="Cambria Math" panose="02040503050406030204" pitchFamily="18" charset="0"/>
                            </a:rPr>
                            <m:t>1024</m:t>
                          </m:r>
                        </m:den>
                      </m:f>
                      <m:r>
                        <a:rPr lang="ar-SA" b="0" smtClean="0">
                          <a:latin typeface="Cambria Math" panose="02040503050406030204" pitchFamily="18" charset="0"/>
                        </a:rPr>
                        <m:t>≈</m:t>
                      </m:r>
                      <m:r>
                        <a:rPr lang="ar-SA" b="0" i="1">
                          <a:latin typeface="Cambria Math" panose="02040503050406030204" pitchFamily="18" charset="0"/>
                        </a:rPr>
                        <m:t>9</m:t>
                      </m:r>
                      <m:r>
                        <a:rPr lang="ar-SA" b="0">
                          <a:latin typeface="Cambria Math" panose="02040503050406030204" pitchFamily="18" charset="0"/>
                        </a:rPr>
                        <m:t>,</m:t>
                      </m:r>
                      <m:r>
                        <a:rPr lang="ar-SA" b="0" i="1">
                          <a:latin typeface="Cambria Math" panose="02040503050406030204" pitchFamily="18" charset="0"/>
                        </a:rPr>
                        <m:t>765</m:t>
                      </m:r>
                      <m:r>
                        <a:rPr lang="ar-SA" b="0">
                          <a:latin typeface="Cambria Math" panose="02040503050406030204" pitchFamily="18" charset="0"/>
                        </a:rPr>
                        <m:t>.</m:t>
                      </m:r>
                      <m:r>
                        <a:rPr lang="ar-SA" b="0" i="1">
                          <a:latin typeface="Cambria Math" panose="02040503050406030204" pitchFamily="18" charset="0"/>
                        </a:rPr>
                        <m:t>625</m:t>
                      </m:r>
                      <m:r>
                        <m:rPr>
                          <m:nor/>
                        </m:rPr>
                        <a:rPr lang="ar-SA" i="1"/>
                        <m:t> </m:t>
                      </m:r>
                      <m:r>
                        <m:rPr>
                          <m:nor/>
                        </m:rPr>
                        <a:rPr lang="en-US" i="1"/>
                        <m:t>Hz</m:t>
                      </m:r>
                      <m:r>
                        <m:rPr>
                          <m:nor/>
                        </m:rPr>
                        <a:rPr lang="en-US" i="1"/>
                        <m:t> </m:t>
                      </m:r>
                      <m:d>
                        <m:dPr>
                          <m:ctrlPr>
                            <a:rPr lang="ar-SA" i="1"/>
                          </m:ctrlPr>
                        </m:dPr>
                        <m:e>
                          <m:r>
                            <a:rPr lang="ar-SA" b="0" smtClean="0">
                              <a:latin typeface="Cambria Math" panose="02040503050406030204" pitchFamily="18" charset="0"/>
                            </a:rPr>
                            <m:t>≈</m:t>
                          </m:r>
                          <m:r>
                            <a:rPr lang="ar-SA" b="0" smtClean="0">
                              <a:latin typeface="Cambria Math" panose="02040503050406030204" pitchFamily="18" charset="0"/>
                            </a:rPr>
                            <m:t>9</m:t>
                          </m:r>
                          <m:r>
                            <a:rPr lang="ar-SA" b="0" smtClean="0">
                              <a:latin typeface="Cambria Math" panose="02040503050406030204" pitchFamily="18" charset="0"/>
                            </a:rPr>
                            <m:t>.</m:t>
                          </m:r>
                          <m:r>
                            <a:rPr lang="ar-SA" b="0" smtClean="0">
                              <a:latin typeface="Cambria Math" panose="02040503050406030204" pitchFamily="18" charset="0"/>
                            </a:rPr>
                            <m:t>766</m:t>
                          </m:r>
                          <m:r>
                            <m:rPr>
                              <m:nor/>
                            </m:rPr>
                            <a:rPr lang="ar-SA" i="1"/>
                            <m:t> </m:t>
                          </m:r>
                          <m:r>
                            <m:rPr>
                              <m:nor/>
                            </m:rPr>
                            <a:rPr lang="en-US" i="1"/>
                            <m:t>kHz</m:t>
                          </m:r>
                        </m:e>
                      </m:d>
                    </m:oMath>
                  </m:oMathPara>
                </a14:m>
                <a:endParaRPr lang="ar-SA" dirty="0"/>
              </a:p>
              <a:p>
                <a:pPr marL="0" indent="0">
                  <a:buNone/>
                </a:pPr>
                <a:endParaRPr lang="en-US" dirty="0"/>
              </a:p>
            </p:txBody>
          </p:sp>
        </mc:Choice>
        <mc:Fallback>
          <p:sp>
            <p:nvSpPr>
              <p:cNvPr id="3" name="Content Placeholder 2">
                <a:extLst>
                  <a:ext uri="{FF2B5EF4-FFF2-40B4-BE49-F238E27FC236}">
                    <a16:creationId xmlns:a16="http://schemas.microsoft.com/office/drawing/2014/main" id="{916D5098-84D8-73FE-67BA-4EE0FA6468AB}"/>
                  </a:ext>
                </a:extLst>
              </p:cNvPr>
              <p:cNvSpPr>
                <a:spLocks noGrp="1" noRot="1" noChangeAspect="1" noMove="1" noResize="1" noEditPoints="1" noAdjustHandles="1" noChangeArrowheads="1" noChangeShapeType="1" noTextEdit="1"/>
              </p:cNvSpPr>
              <p:nvPr>
                <p:ph idx="1"/>
              </p:nvPr>
            </p:nvSpPr>
            <p:spPr>
              <a:xfrm>
                <a:off x="830530" y="554964"/>
                <a:ext cx="7886700" cy="5370822"/>
              </a:xfrm>
              <a:blipFill>
                <a:blip r:embed="rId2"/>
                <a:stretch>
                  <a:fillRect l="-1391" t="-2384"/>
                </a:stretch>
              </a:blipFill>
            </p:spPr>
            <p:txBody>
              <a:bodyPr/>
              <a:lstStyle/>
              <a:p>
                <a:r>
                  <a:rPr lang="en-US">
                    <a:noFill/>
                  </a:rPr>
                  <a:t> </a:t>
                </a:r>
              </a:p>
            </p:txBody>
          </p:sp>
        </mc:Fallback>
      </mc:AlternateContent>
    </p:spTree>
    <p:extLst>
      <p:ext uri="{BB962C8B-B14F-4D97-AF65-F5344CB8AC3E}">
        <p14:creationId xmlns:p14="http://schemas.microsoft.com/office/powerpoint/2010/main" val="8088818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E2D69F8-8FC3-DD92-D242-EAEA497227DB}"/>
                  </a:ext>
                </a:extLst>
              </p:cNvPr>
              <p:cNvSpPr>
                <a:spLocks noGrp="1"/>
              </p:cNvSpPr>
              <p:nvPr>
                <p:ph idx="1"/>
              </p:nvPr>
            </p:nvSpPr>
            <p:spPr/>
            <p:txBody>
              <a:bodyPr/>
              <a:lstStyle/>
              <a:p>
                <a:pPr marL="0" indent="0">
                  <a:buNone/>
                </a:pPr>
                <a:r>
                  <a:rPr lang="en-US" dirty="0"/>
                  <a:t>3) Symbol duration</a:t>
                </a:r>
              </a:p>
              <a:p>
                <a:pPr marL="0" indent="0">
                  <a:buNone/>
                </a:pPr>
                <a:r>
                  <a:rPr lang="en-US" dirty="0"/>
                  <a:t>Useful symbol time: </a:t>
                </a:r>
                <a14:m>
                  <m:oMath xmlns:m="http://schemas.openxmlformats.org/officeDocument/2006/math">
                    <m:sSub>
                      <m:sSubPr>
                        <m:ctrlPr>
                          <a:rPr lang="ar-SA"/>
                        </m:ctrlPr>
                      </m:sSubPr>
                      <m:e>
                        <m:r>
                          <a:rPr lang="ar-SA" b="0" i="1" smtClean="0">
                            <a:latin typeface="Cambria Math" panose="02040503050406030204" pitchFamily="18" charset="0"/>
                          </a:rPr>
                          <m:t>𝑇</m:t>
                        </m:r>
                      </m:e>
                      <m:sub>
                        <m:r>
                          <a:rPr lang="ar-SA" b="0" i="1" smtClean="0">
                            <a:latin typeface="Cambria Math" panose="02040503050406030204" pitchFamily="18" charset="0"/>
                          </a:rPr>
                          <m:t>𝑢</m:t>
                        </m:r>
                      </m:sub>
                    </m:sSub>
                    <m:r>
                      <a:rPr lang="ar-SA" b="0" smtClean="0">
                        <a:latin typeface="Cambria Math" panose="02040503050406030204" pitchFamily="18" charset="0"/>
                      </a:rPr>
                      <m:t>=</m:t>
                    </m:r>
                    <m:f>
                      <m:fPr>
                        <m:ctrlPr>
                          <a:rPr lang="ar-SA" i="1"/>
                        </m:ctrlPr>
                      </m:fPr>
                      <m:num>
                        <m:r>
                          <a:rPr lang="ar-SA" b="0" i="1" smtClean="0">
                            <a:latin typeface="Cambria Math" panose="02040503050406030204" pitchFamily="18" charset="0"/>
                          </a:rPr>
                          <m:t>1</m:t>
                        </m:r>
                      </m:num>
                      <m:den>
                        <m:r>
                          <a:rPr lang="el-GR" b="0" i="1" smtClean="0">
                            <a:latin typeface="Cambria Math" panose="02040503050406030204" pitchFamily="18" charset="0"/>
                          </a:rPr>
                          <m:t>𝛥</m:t>
                        </m:r>
                        <m:r>
                          <a:rPr lang="el-GR" b="0" i="1" smtClean="0">
                            <a:latin typeface="Cambria Math" panose="02040503050406030204" pitchFamily="18" charset="0"/>
                          </a:rPr>
                          <m:t>𝑓</m:t>
                        </m:r>
                      </m:den>
                    </m:f>
                    <m:r>
                      <a:rPr lang="ar-SA" b="0" smtClean="0">
                        <a:latin typeface="Cambria Math" panose="02040503050406030204" pitchFamily="18" charset="0"/>
                      </a:rPr>
                      <m:t>≈</m:t>
                    </m:r>
                    <m:f>
                      <m:fPr>
                        <m:ctrlPr>
                          <a:rPr lang="ar-SA" i="1"/>
                        </m:ctrlPr>
                      </m:fPr>
                      <m:num>
                        <m:r>
                          <a:rPr lang="ar-SA" b="0" i="1" smtClean="0">
                            <a:latin typeface="Cambria Math" panose="02040503050406030204" pitchFamily="18" charset="0"/>
                          </a:rPr>
                          <m:t>1</m:t>
                        </m:r>
                      </m:num>
                      <m:den>
                        <m:r>
                          <a:rPr lang="ar-SA" b="0" i="1" smtClean="0">
                            <a:latin typeface="Cambria Math" panose="02040503050406030204" pitchFamily="18" charset="0"/>
                          </a:rPr>
                          <m:t>9765</m:t>
                        </m:r>
                        <m:r>
                          <a:rPr lang="ar-SA" b="0" smtClean="0">
                            <a:latin typeface="Cambria Math" panose="02040503050406030204" pitchFamily="18" charset="0"/>
                          </a:rPr>
                          <m:t>.</m:t>
                        </m:r>
                        <m:r>
                          <a:rPr lang="ar-SA" b="0" i="1" smtClean="0">
                            <a:latin typeface="Cambria Math" panose="02040503050406030204" pitchFamily="18" charset="0"/>
                          </a:rPr>
                          <m:t>625</m:t>
                        </m:r>
                      </m:den>
                    </m:f>
                    <m:r>
                      <a:rPr lang="ar-SA" b="0" smtClean="0">
                        <a:latin typeface="Cambria Math" panose="02040503050406030204" pitchFamily="18" charset="0"/>
                      </a:rPr>
                      <m:t>≈</m:t>
                    </m:r>
                    <m:r>
                      <a:rPr lang="ar-SA" b="0" i="1" smtClean="0">
                        <a:latin typeface="Cambria Math" panose="02040503050406030204" pitchFamily="18" charset="0"/>
                      </a:rPr>
                      <m:t>102</m:t>
                    </m:r>
                    <m:r>
                      <a:rPr lang="ar-SA" b="0" smtClean="0">
                        <a:latin typeface="Cambria Math" panose="02040503050406030204" pitchFamily="18" charset="0"/>
                      </a:rPr>
                      <m:t>.</m:t>
                    </m:r>
                    <m:r>
                      <a:rPr lang="ar-SA" b="0" i="1" smtClean="0">
                        <a:latin typeface="Cambria Math" panose="02040503050406030204" pitchFamily="18" charset="0"/>
                      </a:rPr>
                      <m:t>4</m:t>
                    </m:r>
                    <m:r>
                      <m:rPr>
                        <m:nor/>
                      </m:rPr>
                      <a:rPr lang="ar-SA" i="1"/>
                      <m:t> </m:t>
                    </m:r>
                    <m:r>
                      <a:rPr lang="ar-SA" b="0" i="1" smtClean="0">
                        <a:latin typeface="Cambria Math" panose="02040503050406030204" pitchFamily="18" charset="0"/>
                      </a:rPr>
                      <m:t>𝜇</m:t>
                    </m:r>
                    <m:r>
                      <a:rPr lang="ar-SA" b="0" i="1" smtClean="0">
                        <a:latin typeface="Cambria Math" panose="02040503050406030204" pitchFamily="18" charset="0"/>
                      </a:rPr>
                      <m:t>𝑠</m:t>
                    </m:r>
                  </m:oMath>
                </a14:m>
                <a:endParaRPr lang="en-US" dirty="0"/>
              </a:p>
              <a:p>
                <a:pPr marL="0" indent="0">
                  <a:buNone/>
                </a:pPr>
                <a:endParaRPr lang="ar-SA" dirty="0"/>
              </a:p>
              <a:p>
                <a:pPr marL="0" indent="0">
                  <a:buNone/>
                </a:pPr>
                <a:r>
                  <a:rPr lang="en-US" dirty="0"/>
                  <a:t>CP (25% of </a:t>
                </a:r>
                <a14:m>
                  <m:oMath xmlns:m="http://schemas.openxmlformats.org/officeDocument/2006/math">
                    <m:sSub>
                      <m:sSubPr>
                        <m:ctrlPr>
                          <a:rPr lang="ar-SA"/>
                        </m:ctrlPr>
                      </m:sSubPr>
                      <m:e>
                        <m:r>
                          <a:rPr lang="ar-SA" b="0" i="1" smtClean="0">
                            <a:latin typeface="Cambria Math" panose="02040503050406030204" pitchFamily="18" charset="0"/>
                          </a:rPr>
                          <m:t>𝑇</m:t>
                        </m:r>
                      </m:e>
                      <m:sub>
                        <m:r>
                          <a:rPr lang="ar-SA" b="0" i="1" smtClean="0">
                            <a:latin typeface="Cambria Math" panose="02040503050406030204" pitchFamily="18" charset="0"/>
                          </a:rPr>
                          <m:t>𝑢</m:t>
                        </m:r>
                      </m:sub>
                    </m:sSub>
                  </m:oMath>
                </a14:m>
                <a:r>
                  <a:rPr lang="ar-SA" dirty="0"/>
                  <a:t>): </a:t>
                </a:r>
                <a14:m>
                  <m:oMath xmlns:m="http://schemas.openxmlformats.org/officeDocument/2006/math">
                    <m:sSub>
                      <m:sSubPr>
                        <m:ctrlPr>
                          <a:rPr lang="ar-SA"/>
                        </m:ctrlPr>
                      </m:sSubPr>
                      <m:e>
                        <m:r>
                          <a:rPr lang="ar-SA" b="0" i="1" smtClean="0">
                            <a:latin typeface="Cambria Math" panose="02040503050406030204" pitchFamily="18" charset="0"/>
                          </a:rPr>
                          <m:t>𝑇</m:t>
                        </m:r>
                      </m:e>
                      <m:sub>
                        <m:r>
                          <a:rPr lang="ar-SA" b="0" i="1" smtClean="0">
                            <a:latin typeface="Cambria Math" panose="02040503050406030204" pitchFamily="18" charset="0"/>
                          </a:rPr>
                          <m:t>𝐶𝑃</m:t>
                        </m:r>
                      </m:sub>
                    </m:sSub>
                    <m:r>
                      <a:rPr lang="ar-SA" b="0" smtClean="0">
                        <a:latin typeface="Cambria Math" panose="02040503050406030204" pitchFamily="18" charset="0"/>
                      </a:rPr>
                      <m:t>=</m:t>
                    </m:r>
                    <m:r>
                      <a:rPr lang="ar-SA" b="0" i="1" smtClean="0">
                        <a:latin typeface="Cambria Math" panose="02040503050406030204" pitchFamily="18" charset="0"/>
                      </a:rPr>
                      <m:t>0</m:t>
                    </m:r>
                    <m:r>
                      <a:rPr lang="ar-SA" b="0" smtClean="0">
                        <a:latin typeface="Cambria Math" panose="02040503050406030204" pitchFamily="18" charset="0"/>
                      </a:rPr>
                      <m:t>.</m:t>
                    </m:r>
                    <m:r>
                      <a:rPr lang="ar-SA" b="0" i="1" smtClean="0">
                        <a:latin typeface="Cambria Math" panose="02040503050406030204" pitchFamily="18" charset="0"/>
                      </a:rPr>
                      <m:t>25</m:t>
                    </m:r>
                    <m:r>
                      <m:rPr>
                        <m:nor/>
                      </m:rPr>
                      <a:rPr lang="ar-SA" i="1"/>
                      <m:t> </m:t>
                    </m:r>
                    <m:sSub>
                      <m:sSubPr>
                        <m:ctrlPr>
                          <a:rPr lang="ar-SA" i="1"/>
                        </m:ctrlPr>
                      </m:sSubPr>
                      <m:e>
                        <m:r>
                          <a:rPr lang="ar-SA" b="0" i="1" smtClean="0">
                            <a:latin typeface="Cambria Math" panose="02040503050406030204" pitchFamily="18" charset="0"/>
                          </a:rPr>
                          <m:t>𝑇</m:t>
                        </m:r>
                      </m:e>
                      <m:sub>
                        <m:r>
                          <a:rPr lang="ar-SA" b="0" i="1" smtClean="0">
                            <a:latin typeface="Cambria Math" panose="02040503050406030204" pitchFamily="18" charset="0"/>
                          </a:rPr>
                          <m:t>𝑢</m:t>
                        </m:r>
                      </m:sub>
                    </m:sSub>
                    <m:r>
                      <a:rPr lang="ar-SA" b="0" smtClean="0">
                        <a:latin typeface="Cambria Math" panose="02040503050406030204" pitchFamily="18" charset="0"/>
                      </a:rPr>
                      <m:t>≈</m:t>
                    </m:r>
                    <m:r>
                      <a:rPr lang="ar-SA" b="0" i="1" smtClean="0">
                        <a:latin typeface="Cambria Math" panose="02040503050406030204" pitchFamily="18" charset="0"/>
                      </a:rPr>
                      <m:t>25</m:t>
                    </m:r>
                    <m:r>
                      <a:rPr lang="ar-SA" b="0" smtClean="0">
                        <a:latin typeface="Cambria Math" panose="02040503050406030204" pitchFamily="18" charset="0"/>
                      </a:rPr>
                      <m:t>.</m:t>
                    </m:r>
                    <m:r>
                      <a:rPr lang="ar-SA" b="0" i="1" smtClean="0">
                        <a:latin typeface="Cambria Math" panose="02040503050406030204" pitchFamily="18" charset="0"/>
                      </a:rPr>
                      <m:t>6</m:t>
                    </m:r>
                    <m:r>
                      <m:rPr>
                        <m:nor/>
                      </m:rPr>
                      <a:rPr lang="ar-SA" i="1"/>
                      <m:t> </m:t>
                    </m:r>
                    <m:r>
                      <a:rPr lang="ar-SA" b="0" i="1" smtClean="0">
                        <a:latin typeface="Cambria Math" panose="02040503050406030204" pitchFamily="18" charset="0"/>
                      </a:rPr>
                      <m:t>𝜇</m:t>
                    </m:r>
                    <m:r>
                      <a:rPr lang="ar-SA" b="0" i="1" smtClean="0">
                        <a:latin typeface="Cambria Math" panose="02040503050406030204" pitchFamily="18" charset="0"/>
                      </a:rPr>
                      <m:t>𝑠</m:t>
                    </m:r>
                  </m:oMath>
                </a14:m>
                <a:endParaRPr lang="en-US" dirty="0"/>
              </a:p>
              <a:p>
                <a:pPr marL="0" indent="0">
                  <a:buNone/>
                </a:pPr>
                <a:endParaRPr lang="ar-SA" dirty="0"/>
              </a:p>
              <a:p>
                <a:pPr marL="0" indent="0">
                  <a:buNone/>
                </a:pPr>
                <a:r>
                  <a:rPr lang="en-US" dirty="0"/>
                  <a:t>Total symbol time: </a:t>
                </a:r>
                <a14:m>
                  <m:oMath xmlns:m="http://schemas.openxmlformats.org/officeDocument/2006/math">
                    <m:sSub>
                      <m:sSubPr>
                        <m:ctrlPr>
                          <a:rPr lang="ar-SA"/>
                        </m:ctrlPr>
                      </m:sSubPr>
                      <m:e>
                        <m:r>
                          <a:rPr lang="ar-SA" b="0" i="1" smtClean="0">
                            <a:latin typeface="Cambria Math" panose="02040503050406030204" pitchFamily="18" charset="0"/>
                          </a:rPr>
                          <m:t>𝑇</m:t>
                        </m:r>
                      </m:e>
                      <m:sub>
                        <m:r>
                          <a:rPr lang="ar-SA" b="0" i="1" smtClean="0">
                            <a:latin typeface="Cambria Math" panose="02040503050406030204" pitchFamily="18" charset="0"/>
                          </a:rPr>
                          <m:t>𝑠</m:t>
                        </m:r>
                      </m:sub>
                    </m:sSub>
                    <m:r>
                      <a:rPr lang="ar-SA" b="0" smtClean="0">
                        <a:latin typeface="Cambria Math" panose="02040503050406030204" pitchFamily="18" charset="0"/>
                      </a:rPr>
                      <m:t>=</m:t>
                    </m:r>
                    <m:sSub>
                      <m:sSubPr>
                        <m:ctrlPr>
                          <a:rPr lang="ar-SA" i="1"/>
                        </m:ctrlPr>
                      </m:sSubPr>
                      <m:e>
                        <m:r>
                          <a:rPr lang="ar-SA" b="0" i="1" smtClean="0">
                            <a:latin typeface="Cambria Math" panose="02040503050406030204" pitchFamily="18" charset="0"/>
                          </a:rPr>
                          <m:t>𝑇</m:t>
                        </m:r>
                      </m:e>
                      <m:sub>
                        <m:r>
                          <a:rPr lang="ar-SA" b="0" i="1" smtClean="0">
                            <a:latin typeface="Cambria Math" panose="02040503050406030204" pitchFamily="18" charset="0"/>
                          </a:rPr>
                          <m:t>𝑢</m:t>
                        </m:r>
                      </m:sub>
                    </m:sSub>
                    <m:r>
                      <a:rPr lang="ar-SA" b="0" smtClean="0">
                        <a:latin typeface="Cambria Math" panose="02040503050406030204" pitchFamily="18" charset="0"/>
                      </a:rPr>
                      <m:t>+</m:t>
                    </m:r>
                    <m:sSub>
                      <m:sSubPr>
                        <m:ctrlPr>
                          <a:rPr lang="ar-SA" i="1"/>
                        </m:ctrlPr>
                      </m:sSubPr>
                      <m:e>
                        <m:r>
                          <a:rPr lang="ar-SA" b="0" i="1" smtClean="0">
                            <a:latin typeface="Cambria Math" panose="02040503050406030204" pitchFamily="18" charset="0"/>
                          </a:rPr>
                          <m:t>𝑇</m:t>
                        </m:r>
                      </m:e>
                      <m:sub>
                        <m:r>
                          <a:rPr lang="ar-SA" b="0" i="1" smtClean="0">
                            <a:latin typeface="Cambria Math" panose="02040503050406030204" pitchFamily="18" charset="0"/>
                          </a:rPr>
                          <m:t>𝐶𝑃</m:t>
                        </m:r>
                      </m:sub>
                    </m:sSub>
                    <m:r>
                      <a:rPr lang="ar-SA" b="0" smtClean="0">
                        <a:latin typeface="Cambria Math" panose="02040503050406030204" pitchFamily="18" charset="0"/>
                      </a:rPr>
                      <m:t>≈</m:t>
                    </m:r>
                    <m:r>
                      <a:rPr lang="ar-SA" b="0" i="1" smtClean="0">
                        <a:latin typeface="Cambria Math" panose="02040503050406030204" pitchFamily="18" charset="0"/>
                      </a:rPr>
                      <m:t>128</m:t>
                    </m:r>
                    <m:r>
                      <m:rPr>
                        <m:nor/>
                      </m:rPr>
                      <a:rPr lang="ar-SA" i="1"/>
                      <m:t> </m:t>
                    </m:r>
                    <m:r>
                      <a:rPr lang="ar-SA" b="0" i="1" smtClean="0">
                        <a:latin typeface="Cambria Math" panose="02040503050406030204" pitchFamily="18" charset="0"/>
                      </a:rPr>
                      <m:t>𝜇</m:t>
                    </m:r>
                    <m:r>
                      <a:rPr lang="ar-SA" b="0" i="1" smtClean="0">
                        <a:latin typeface="Cambria Math" panose="02040503050406030204" pitchFamily="18" charset="0"/>
                      </a:rPr>
                      <m:t>𝑠</m:t>
                    </m:r>
                  </m:oMath>
                </a14:m>
                <a:endParaRPr lang="ar-SA" dirty="0"/>
              </a:p>
              <a:p>
                <a:pPr marL="0" indent="0">
                  <a:buNone/>
                </a:pPr>
                <a:endParaRPr lang="en-US" dirty="0"/>
              </a:p>
            </p:txBody>
          </p:sp>
        </mc:Choice>
        <mc:Fallback>
          <p:sp>
            <p:nvSpPr>
              <p:cNvPr id="3" name="Content Placeholder 2">
                <a:extLst>
                  <a:ext uri="{FF2B5EF4-FFF2-40B4-BE49-F238E27FC236}">
                    <a16:creationId xmlns:a16="http://schemas.microsoft.com/office/drawing/2014/main" id="{EE2D69F8-8FC3-DD92-D242-EAEA497227DB}"/>
                  </a:ext>
                </a:extLst>
              </p:cNvPr>
              <p:cNvSpPr>
                <a:spLocks noGrp="1" noRot="1" noChangeAspect="1" noMove="1" noResize="1" noEditPoints="1" noAdjustHandles="1" noChangeArrowheads="1" noChangeShapeType="1" noTextEdit="1"/>
              </p:cNvSpPr>
              <p:nvPr>
                <p:ph idx="1"/>
              </p:nvPr>
            </p:nvSpPr>
            <p:spPr>
              <a:blipFill>
                <a:blip r:embed="rId2"/>
                <a:stretch>
                  <a:fillRect l="-1546" t="-2241"/>
                </a:stretch>
              </a:blipFill>
            </p:spPr>
            <p:txBody>
              <a:bodyPr/>
              <a:lstStyle/>
              <a:p>
                <a:r>
                  <a:rPr lang="en-US">
                    <a:noFill/>
                  </a:rPr>
                  <a:t> </a:t>
                </a:r>
              </a:p>
            </p:txBody>
          </p:sp>
        </mc:Fallback>
      </mc:AlternateContent>
    </p:spTree>
    <p:extLst>
      <p:ext uri="{BB962C8B-B14F-4D97-AF65-F5344CB8AC3E}">
        <p14:creationId xmlns:p14="http://schemas.microsoft.com/office/powerpoint/2010/main" val="14897725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BF13C-0A7C-B908-E148-0C662AEFA67A}"/>
              </a:ext>
            </a:extLst>
          </p:cNvPr>
          <p:cNvSpPr>
            <a:spLocks noGrp="1"/>
          </p:cNvSpPr>
          <p:nvPr>
            <p:ph type="title"/>
          </p:nvPr>
        </p:nvSpPr>
        <p:spPr>
          <a:xfrm>
            <a:off x="628650" y="365126"/>
            <a:ext cx="7886700" cy="715529"/>
          </a:xfrm>
        </p:spPr>
        <p:txBody>
          <a:bodyPr>
            <a:noAutofit/>
          </a:bodyPr>
          <a:lstStyle/>
          <a:p>
            <a:r>
              <a:rPr lang="en-US" sz="2800" b="1" dirty="0"/>
              <a:t>4) Number of data bits per subcarrier</a:t>
            </a:r>
            <a:br>
              <a:rPr lang="en-US" sz="2800" b="1" dirty="0"/>
            </a:br>
            <a:endParaRPr lang="en-US" sz="2800"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FD051EA-0A00-98D4-9C41-4BDFC18A1901}"/>
                  </a:ext>
                </a:extLst>
              </p:cNvPr>
              <p:cNvSpPr>
                <a:spLocks noGrp="1"/>
              </p:cNvSpPr>
              <p:nvPr>
                <p:ph idx="1"/>
              </p:nvPr>
            </p:nvSpPr>
            <p:spPr>
              <a:xfrm>
                <a:off x="628650" y="902524"/>
                <a:ext cx="7886700" cy="5955475"/>
              </a:xfrm>
            </p:spPr>
            <p:txBody>
              <a:bodyPr>
                <a:noAutofit/>
              </a:bodyPr>
              <a:lstStyle/>
              <a:p>
                <a:pPr marL="0" indent="0">
                  <a:buNone/>
                </a:pPr>
                <a:r>
                  <a:rPr lang="en-US" sz="2200" dirty="0">
                    <a:cs typeface="+mj-cs"/>
                  </a:rPr>
                  <a:t>We want to transmit a 2 Mbps (2,000,000 bits/s) data stream using OFDM with:</a:t>
                </a:r>
              </a:p>
              <a:p>
                <a:pPr marL="0" indent="0">
                  <a:buNone/>
                </a:pPr>
                <a:r>
                  <a:rPr lang="en-US" sz="2200" dirty="0">
                    <a:cs typeface="+mj-cs"/>
                  </a:rPr>
                  <a:t>922 data subcarriers (after removing 10% pilots)</a:t>
                </a:r>
              </a:p>
              <a:p>
                <a:pPr marL="0" indent="0">
                  <a:buNone/>
                </a:pPr>
                <a:r>
                  <a:rPr lang="en-US" sz="2200" dirty="0">
                    <a:cs typeface="+mj-cs"/>
                  </a:rPr>
                  <a:t>OFDM symbol duration (including CP) of 128 </a:t>
                </a:r>
                <a:r>
                  <a:rPr lang="el-GR" sz="2200" dirty="0">
                    <a:cs typeface="+mj-cs"/>
                  </a:rPr>
                  <a:t>μ</a:t>
                </a:r>
                <a:r>
                  <a:rPr lang="en-US" sz="2200" dirty="0">
                    <a:cs typeface="+mj-cs"/>
                  </a:rPr>
                  <a:t>s</a:t>
                </a:r>
              </a:p>
              <a:p>
                <a:pPr marL="0" indent="0">
                  <a:buNone/>
                </a:pPr>
                <a:r>
                  <a:rPr lang="en-US" sz="2200" dirty="0">
                    <a:cs typeface="+mj-cs"/>
                  </a:rPr>
                  <a:t>OFDM symbol rate</a:t>
                </a:r>
              </a:p>
              <a:p>
                <a:pPr marL="0" indent="0">
                  <a:buNone/>
                </a:pPr>
                <a14:m>
                  <m:oMathPara xmlns:m="http://schemas.openxmlformats.org/officeDocument/2006/math">
                    <m:oMathParaPr>
                      <m:jc m:val="centerGroup"/>
                    </m:oMathParaPr>
                    <m:oMath xmlns:m="http://schemas.openxmlformats.org/officeDocument/2006/math">
                      <m:r>
                        <m:rPr>
                          <m:nor/>
                        </m:rPr>
                        <a:rPr lang="en-US" sz="2200">
                          <a:cs typeface="+mj-cs"/>
                        </a:rPr>
                        <m:t>Symbol</m:t>
                      </m:r>
                      <m:r>
                        <m:rPr>
                          <m:nor/>
                        </m:rPr>
                        <a:rPr lang="en-US" sz="2200" i="1">
                          <a:cs typeface="+mj-cs"/>
                        </a:rPr>
                        <m:t> </m:t>
                      </m:r>
                      <m:r>
                        <m:rPr>
                          <m:nor/>
                        </m:rPr>
                        <a:rPr lang="en-US" sz="2200" i="1">
                          <a:cs typeface="+mj-cs"/>
                        </a:rPr>
                        <m:t>rate</m:t>
                      </m:r>
                      <m:r>
                        <a:rPr lang="en-US" sz="2200" b="0" smtClean="0">
                          <a:latin typeface="Cambria Math" panose="02040503050406030204" pitchFamily="18" charset="0"/>
                          <a:cs typeface="+mj-cs"/>
                        </a:rPr>
                        <m:t>=</m:t>
                      </m:r>
                      <m:f>
                        <m:fPr>
                          <m:ctrlPr>
                            <a:rPr lang="ar-SA" sz="2200" i="1">
                              <a:cs typeface="+mj-cs"/>
                            </a:rPr>
                          </m:ctrlPr>
                        </m:fPr>
                        <m:num>
                          <m:r>
                            <a:rPr lang="ar-SA" sz="2200" b="0" i="1" smtClean="0">
                              <a:latin typeface="Cambria Math" panose="02040503050406030204" pitchFamily="18" charset="0"/>
                              <a:cs typeface="+mj-cs"/>
                            </a:rPr>
                            <m:t>1</m:t>
                          </m:r>
                        </m:num>
                        <m:den>
                          <m:sSub>
                            <m:sSubPr>
                              <m:ctrlPr>
                                <a:rPr lang="ar-SA" sz="2200" i="1">
                                  <a:cs typeface="+mj-cs"/>
                                </a:rPr>
                              </m:ctrlPr>
                            </m:sSubPr>
                            <m:e>
                              <m:r>
                                <a:rPr lang="ar-SA" sz="2200" b="0" i="1" smtClean="0">
                                  <a:latin typeface="Cambria Math" panose="02040503050406030204" pitchFamily="18" charset="0"/>
                                  <a:cs typeface="+mj-cs"/>
                                </a:rPr>
                                <m:t>𝑇</m:t>
                              </m:r>
                            </m:e>
                            <m:sub>
                              <m:r>
                                <a:rPr lang="ar-SA" sz="2200" b="0" i="1" smtClean="0">
                                  <a:latin typeface="Cambria Math" panose="02040503050406030204" pitchFamily="18" charset="0"/>
                                  <a:cs typeface="+mj-cs"/>
                                </a:rPr>
                                <m:t>𝑠</m:t>
                              </m:r>
                            </m:sub>
                          </m:sSub>
                        </m:den>
                      </m:f>
                      <m:r>
                        <a:rPr lang="ar-SA" sz="2200" b="0" smtClean="0">
                          <a:latin typeface="Cambria Math" panose="02040503050406030204" pitchFamily="18" charset="0"/>
                          <a:cs typeface="+mj-cs"/>
                        </a:rPr>
                        <m:t>=</m:t>
                      </m:r>
                      <m:f>
                        <m:fPr>
                          <m:ctrlPr>
                            <a:rPr lang="ar-SA" sz="2200" i="1">
                              <a:cs typeface="+mj-cs"/>
                            </a:rPr>
                          </m:ctrlPr>
                        </m:fPr>
                        <m:num>
                          <m:r>
                            <a:rPr lang="ar-SA" sz="2200" b="0" i="1" smtClean="0">
                              <a:latin typeface="Cambria Math" panose="02040503050406030204" pitchFamily="18" charset="0"/>
                              <a:cs typeface="+mj-cs"/>
                            </a:rPr>
                            <m:t>1</m:t>
                          </m:r>
                        </m:num>
                        <m:den>
                          <m:r>
                            <a:rPr lang="ar-SA" sz="2200" b="0" i="1" smtClean="0">
                              <a:latin typeface="Cambria Math" panose="02040503050406030204" pitchFamily="18" charset="0"/>
                              <a:cs typeface="+mj-cs"/>
                            </a:rPr>
                            <m:t>128</m:t>
                          </m:r>
                          <m:r>
                            <a:rPr lang="ar-SA" sz="2200" b="0" smtClean="0">
                              <a:latin typeface="Cambria Math" panose="02040503050406030204" pitchFamily="18" charset="0"/>
                              <a:cs typeface="+mj-cs"/>
                            </a:rPr>
                            <m:t>×</m:t>
                          </m:r>
                          <m:sSup>
                            <m:sSupPr>
                              <m:ctrlPr>
                                <a:rPr lang="ar-SA" sz="2200" i="1">
                                  <a:cs typeface="+mj-cs"/>
                                </a:rPr>
                              </m:ctrlPr>
                            </m:sSupPr>
                            <m:e>
                              <m:r>
                                <a:rPr lang="ar-SA" sz="2200" b="0" i="1" smtClean="0">
                                  <a:latin typeface="Cambria Math" panose="02040503050406030204" pitchFamily="18" charset="0"/>
                                  <a:cs typeface="+mj-cs"/>
                                </a:rPr>
                                <m:t>10</m:t>
                              </m:r>
                            </m:e>
                            <m:sup>
                              <m:r>
                                <a:rPr lang="ar-SA" sz="2200" b="0" smtClean="0">
                                  <a:latin typeface="Cambria Math" panose="02040503050406030204" pitchFamily="18" charset="0"/>
                                  <a:cs typeface="+mj-cs"/>
                                </a:rPr>
                                <m:t>−</m:t>
                              </m:r>
                              <m:r>
                                <a:rPr lang="ar-SA" sz="2200" b="0" i="1" smtClean="0">
                                  <a:latin typeface="Cambria Math" panose="02040503050406030204" pitchFamily="18" charset="0"/>
                                  <a:cs typeface="+mj-cs"/>
                                </a:rPr>
                                <m:t>6</m:t>
                              </m:r>
                            </m:sup>
                          </m:sSup>
                        </m:den>
                      </m:f>
                      <m:r>
                        <a:rPr lang="ar-SA" sz="2200" b="0" smtClean="0">
                          <a:latin typeface="Cambria Math" panose="02040503050406030204" pitchFamily="18" charset="0"/>
                          <a:cs typeface="+mj-cs"/>
                        </a:rPr>
                        <m:t>≈</m:t>
                      </m:r>
                      <m:r>
                        <a:rPr lang="ar-SA" sz="2200" b="0" i="1" smtClean="0">
                          <a:latin typeface="Cambria Math" panose="02040503050406030204" pitchFamily="18" charset="0"/>
                          <a:cs typeface="+mj-cs"/>
                        </a:rPr>
                        <m:t>7</m:t>
                      </m:r>
                      <m:r>
                        <a:rPr lang="ar-SA" sz="2200" b="0" smtClean="0">
                          <a:latin typeface="Cambria Math" panose="02040503050406030204" pitchFamily="18" charset="0"/>
                          <a:cs typeface="+mj-cs"/>
                        </a:rPr>
                        <m:t>,</m:t>
                      </m:r>
                      <m:r>
                        <a:rPr lang="ar-SA" sz="2200" b="0" i="1" smtClean="0">
                          <a:latin typeface="Cambria Math" panose="02040503050406030204" pitchFamily="18" charset="0"/>
                          <a:cs typeface="+mj-cs"/>
                        </a:rPr>
                        <m:t>812</m:t>
                      </m:r>
                      <m:r>
                        <a:rPr lang="ar-SA" sz="2200" b="0" smtClean="0">
                          <a:latin typeface="Cambria Math" panose="02040503050406030204" pitchFamily="18" charset="0"/>
                          <a:cs typeface="+mj-cs"/>
                        </a:rPr>
                        <m:t>.</m:t>
                      </m:r>
                      <m:r>
                        <a:rPr lang="ar-SA" sz="2200" b="0" i="1" smtClean="0">
                          <a:latin typeface="Cambria Math" panose="02040503050406030204" pitchFamily="18" charset="0"/>
                          <a:cs typeface="+mj-cs"/>
                        </a:rPr>
                        <m:t>5</m:t>
                      </m:r>
                      <m:r>
                        <m:rPr>
                          <m:nor/>
                        </m:rPr>
                        <a:rPr lang="ar-SA" sz="2200" i="1">
                          <a:cs typeface="+mj-cs"/>
                        </a:rPr>
                        <m:t> </m:t>
                      </m:r>
                      <m:r>
                        <m:rPr>
                          <m:nor/>
                        </m:rPr>
                        <a:rPr lang="en-US" sz="2200" i="1">
                          <a:cs typeface="+mj-cs"/>
                        </a:rPr>
                        <m:t>symbols</m:t>
                      </m:r>
                      <m:r>
                        <m:rPr>
                          <m:nor/>
                        </m:rPr>
                        <a:rPr lang="en-US" sz="2200" i="1">
                          <a:cs typeface="+mj-cs"/>
                        </a:rPr>
                        <m:t>/</m:t>
                      </m:r>
                      <m:r>
                        <m:rPr>
                          <m:nor/>
                        </m:rPr>
                        <a:rPr lang="en-US" sz="2200" i="1">
                          <a:cs typeface="+mj-cs"/>
                        </a:rPr>
                        <m:t>s</m:t>
                      </m:r>
                    </m:oMath>
                  </m:oMathPara>
                </a14:m>
                <a:endParaRPr lang="en-US" sz="2200" dirty="0">
                  <a:cs typeface="+mj-cs"/>
                </a:endParaRPr>
              </a:p>
              <a:p>
                <a:pPr marL="0" indent="0">
                  <a:buNone/>
                </a:pPr>
                <a:br>
                  <a:rPr lang="en-US" sz="2200" dirty="0">
                    <a:cs typeface="+mj-cs"/>
                  </a:rPr>
                </a:br>
                <a:r>
                  <a:rPr lang="en-US" sz="2200" dirty="0">
                    <a:cs typeface="+mj-cs"/>
                  </a:rPr>
                  <a:t>Total useful data bits per OFDM symbol</a:t>
                </a:r>
              </a:p>
              <a:p>
                <a:pPr marL="0" indent="0">
                  <a:buNone/>
                </a:pPr>
                <a14:m>
                  <m:oMathPara xmlns:m="http://schemas.openxmlformats.org/officeDocument/2006/math">
                    <m:oMathParaPr>
                      <m:jc m:val="centerGroup"/>
                    </m:oMathParaPr>
                    <m:oMath xmlns:m="http://schemas.openxmlformats.org/officeDocument/2006/math">
                      <m:r>
                        <m:rPr>
                          <m:nor/>
                        </m:rPr>
                        <a:rPr lang="en-US" sz="2200">
                          <a:cs typeface="+mj-cs"/>
                        </a:rPr>
                        <m:t>Bits</m:t>
                      </m:r>
                      <m:r>
                        <m:rPr>
                          <m:nor/>
                        </m:rPr>
                        <a:rPr lang="en-US" sz="2200" i="1">
                          <a:cs typeface="+mj-cs"/>
                        </a:rPr>
                        <m:t> </m:t>
                      </m:r>
                      <m:r>
                        <m:rPr>
                          <m:nor/>
                        </m:rPr>
                        <a:rPr lang="en-US" sz="2200" i="1">
                          <a:cs typeface="+mj-cs"/>
                        </a:rPr>
                        <m:t>per</m:t>
                      </m:r>
                      <m:r>
                        <m:rPr>
                          <m:nor/>
                        </m:rPr>
                        <a:rPr lang="en-US" sz="2200" i="1">
                          <a:cs typeface="+mj-cs"/>
                        </a:rPr>
                        <m:t> </m:t>
                      </m:r>
                      <m:r>
                        <m:rPr>
                          <m:nor/>
                        </m:rPr>
                        <a:rPr lang="en-US" sz="2200" i="1">
                          <a:cs typeface="+mj-cs"/>
                        </a:rPr>
                        <m:t>OFDM</m:t>
                      </m:r>
                      <m:r>
                        <m:rPr>
                          <m:nor/>
                        </m:rPr>
                        <a:rPr lang="en-US" sz="2200" i="1">
                          <a:cs typeface="+mj-cs"/>
                        </a:rPr>
                        <m:t> </m:t>
                      </m:r>
                      <m:r>
                        <m:rPr>
                          <m:nor/>
                        </m:rPr>
                        <a:rPr lang="en-US" sz="2200" i="1">
                          <a:cs typeface="+mj-cs"/>
                        </a:rPr>
                        <m:t>symbol</m:t>
                      </m:r>
                      <m:r>
                        <m:rPr>
                          <m:nor/>
                        </m:rPr>
                        <a:rPr lang="en-US" sz="2200" i="1">
                          <a:cs typeface="+mj-cs"/>
                        </a:rPr>
                        <m:t> </m:t>
                      </m:r>
                      <m:r>
                        <m:rPr>
                          <m:nor/>
                        </m:rPr>
                        <a:rPr lang="en-US" sz="2200" i="1">
                          <a:cs typeface="+mj-cs"/>
                        </a:rPr>
                        <m:t>needed</m:t>
                      </m:r>
                      <m:r>
                        <a:rPr lang="en-US" sz="2200" b="0" smtClean="0">
                          <a:latin typeface="Cambria Math" panose="02040503050406030204" pitchFamily="18" charset="0"/>
                          <a:cs typeface="+mj-cs"/>
                        </a:rPr>
                        <m:t>=</m:t>
                      </m:r>
                      <m:f>
                        <m:fPr>
                          <m:ctrlPr>
                            <a:rPr lang="ar-SA" sz="2200" i="1">
                              <a:cs typeface="+mj-cs"/>
                            </a:rPr>
                          </m:ctrlPr>
                        </m:fPr>
                        <m:num>
                          <m:r>
                            <a:rPr lang="ar-SA" sz="2200" b="0" i="1" smtClean="0">
                              <a:latin typeface="Cambria Math" panose="02040503050406030204" pitchFamily="18" charset="0"/>
                              <a:cs typeface="+mj-cs"/>
                            </a:rPr>
                            <m:t>2</m:t>
                          </m:r>
                          <m:r>
                            <a:rPr lang="ar-SA" sz="2200" b="0" smtClean="0">
                              <a:latin typeface="Cambria Math" panose="02040503050406030204" pitchFamily="18" charset="0"/>
                              <a:cs typeface="+mj-cs"/>
                            </a:rPr>
                            <m:t>,</m:t>
                          </m:r>
                          <m:r>
                            <a:rPr lang="ar-SA" sz="2200" b="0" i="1" smtClean="0">
                              <a:latin typeface="Cambria Math" panose="02040503050406030204" pitchFamily="18" charset="0"/>
                              <a:cs typeface="+mj-cs"/>
                            </a:rPr>
                            <m:t>000</m:t>
                          </m:r>
                          <m:r>
                            <a:rPr lang="ar-SA" sz="2200" b="0" smtClean="0">
                              <a:latin typeface="Cambria Math" panose="02040503050406030204" pitchFamily="18" charset="0"/>
                              <a:cs typeface="+mj-cs"/>
                            </a:rPr>
                            <m:t>,</m:t>
                          </m:r>
                          <m:r>
                            <a:rPr lang="ar-SA" sz="2200" b="0" i="1" smtClean="0">
                              <a:latin typeface="Cambria Math" panose="02040503050406030204" pitchFamily="18" charset="0"/>
                              <a:cs typeface="+mj-cs"/>
                            </a:rPr>
                            <m:t>000</m:t>
                          </m:r>
                        </m:num>
                        <m:den>
                          <m:r>
                            <a:rPr lang="ar-SA" sz="2200" b="0" i="1" smtClean="0">
                              <a:latin typeface="Cambria Math" panose="02040503050406030204" pitchFamily="18" charset="0"/>
                              <a:cs typeface="+mj-cs"/>
                            </a:rPr>
                            <m:t>7</m:t>
                          </m:r>
                          <m:r>
                            <a:rPr lang="ar-SA" sz="2200" b="0" smtClean="0">
                              <a:latin typeface="Cambria Math" panose="02040503050406030204" pitchFamily="18" charset="0"/>
                              <a:cs typeface="+mj-cs"/>
                            </a:rPr>
                            <m:t>,</m:t>
                          </m:r>
                          <m:r>
                            <a:rPr lang="ar-SA" sz="2200" b="0" i="1" smtClean="0">
                              <a:latin typeface="Cambria Math" panose="02040503050406030204" pitchFamily="18" charset="0"/>
                              <a:cs typeface="+mj-cs"/>
                            </a:rPr>
                            <m:t>812</m:t>
                          </m:r>
                          <m:r>
                            <a:rPr lang="ar-SA" sz="2200" b="0" smtClean="0">
                              <a:latin typeface="Cambria Math" panose="02040503050406030204" pitchFamily="18" charset="0"/>
                              <a:cs typeface="+mj-cs"/>
                            </a:rPr>
                            <m:t>.</m:t>
                          </m:r>
                          <m:r>
                            <a:rPr lang="ar-SA" sz="2200" b="0" i="1" smtClean="0">
                              <a:latin typeface="Cambria Math" panose="02040503050406030204" pitchFamily="18" charset="0"/>
                              <a:cs typeface="+mj-cs"/>
                            </a:rPr>
                            <m:t>5</m:t>
                          </m:r>
                        </m:den>
                      </m:f>
                      <m:r>
                        <a:rPr lang="ar-SA" sz="2200" b="0" smtClean="0">
                          <a:latin typeface="Cambria Math" panose="02040503050406030204" pitchFamily="18" charset="0"/>
                          <a:cs typeface="+mj-cs"/>
                        </a:rPr>
                        <m:t>≈</m:t>
                      </m:r>
                      <m:r>
                        <a:rPr lang="ar-SA" sz="2200" b="0" i="1" smtClean="0">
                          <a:latin typeface="Cambria Math" panose="02040503050406030204" pitchFamily="18" charset="0"/>
                          <a:cs typeface="+mj-cs"/>
                        </a:rPr>
                        <m:t>256</m:t>
                      </m:r>
                      <m:r>
                        <m:rPr>
                          <m:nor/>
                        </m:rPr>
                        <a:rPr lang="ar-SA" sz="2200" i="1">
                          <a:cs typeface="+mj-cs"/>
                        </a:rPr>
                        <m:t> </m:t>
                      </m:r>
                      <m:r>
                        <m:rPr>
                          <m:nor/>
                        </m:rPr>
                        <a:rPr lang="en-US" sz="2200" i="1">
                          <a:cs typeface="+mj-cs"/>
                        </a:rPr>
                        <m:t>bits</m:t>
                      </m:r>
                      <m:r>
                        <m:rPr>
                          <m:nor/>
                        </m:rPr>
                        <a:rPr lang="en-US" sz="2200" i="1">
                          <a:cs typeface="+mj-cs"/>
                        </a:rPr>
                        <m:t>/</m:t>
                      </m:r>
                      <m:r>
                        <m:rPr>
                          <m:nor/>
                        </m:rPr>
                        <a:rPr lang="en-US" sz="2200" i="1">
                          <a:cs typeface="+mj-cs"/>
                        </a:rPr>
                        <m:t>symbol</m:t>
                      </m:r>
                    </m:oMath>
                  </m:oMathPara>
                </a14:m>
                <a:endParaRPr lang="en-US" sz="2200" dirty="0">
                  <a:cs typeface="+mj-cs"/>
                </a:endParaRPr>
              </a:p>
              <a:p>
                <a:pPr marL="0" indent="0">
                  <a:buNone/>
                </a:pPr>
                <a:endParaRPr lang="en-US" sz="2200" dirty="0">
                  <a:cs typeface="+mj-cs"/>
                </a:endParaRPr>
              </a:p>
              <a:p>
                <a:pPr marL="0" indent="0">
                  <a:buNone/>
                </a:pPr>
                <a:r>
                  <a:rPr lang="en-US" sz="2200" dirty="0">
                    <a:cs typeface="+mj-cs"/>
                  </a:rPr>
                  <a:t>Bits per subcarrier</a:t>
                </a:r>
              </a:p>
              <a:p>
                <a:pPr marL="0" indent="0">
                  <a:buNone/>
                </a:pPr>
                <a14:m>
                  <m:oMathPara xmlns:m="http://schemas.openxmlformats.org/officeDocument/2006/math">
                    <m:oMathParaPr>
                      <m:jc m:val="centerGroup"/>
                    </m:oMathParaPr>
                    <m:oMath xmlns:m="http://schemas.openxmlformats.org/officeDocument/2006/math">
                      <m:r>
                        <m:rPr>
                          <m:nor/>
                        </m:rPr>
                        <a:rPr lang="en-US" sz="2200">
                          <a:cs typeface="+mj-cs"/>
                        </a:rPr>
                        <m:t>Bits</m:t>
                      </m:r>
                      <m:r>
                        <m:rPr>
                          <m:nor/>
                        </m:rPr>
                        <a:rPr lang="en-US" sz="2200" i="1">
                          <a:cs typeface="+mj-cs"/>
                        </a:rPr>
                        <m:t> </m:t>
                      </m:r>
                      <m:r>
                        <m:rPr>
                          <m:nor/>
                        </m:rPr>
                        <a:rPr lang="en-US" sz="2200" i="1">
                          <a:cs typeface="+mj-cs"/>
                        </a:rPr>
                        <m:t>per</m:t>
                      </m:r>
                      <m:r>
                        <m:rPr>
                          <m:nor/>
                        </m:rPr>
                        <a:rPr lang="en-US" sz="2200" i="1">
                          <a:cs typeface="+mj-cs"/>
                        </a:rPr>
                        <m:t> </m:t>
                      </m:r>
                      <m:r>
                        <m:rPr>
                          <m:nor/>
                        </m:rPr>
                        <a:rPr lang="en-US" sz="2200" i="1">
                          <a:cs typeface="+mj-cs"/>
                        </a:rPr>
                        <m:t>subcarrier</m:t>
                      </m:r>
                      <m:r>
                        <a:rPr lang="en-US" sz="2200" b="0" smtClean="0">
                          <a:latin typeface="Cambria Math" panose="02040503050406030204" pitchFamily="18" charset="0"/>
                          <a:cs typeface="+mj-cs"/>
                        </a:rPr>
                        <m:t>=</m:t>
                      </m:r>
                      <m:f>
                        <m:fPr>
                          <m:ctrlPr>
                            <a:rPr lang="ar-SA" sz="2200" i="1">
                              <a:cs typeface="+mj-cs"/>
                            </a:rPr>
                          </m:ctrlPr>
                        </m:fPr>
                        <m:num>
                          <m:r>
                            <a:rPr lang="ar-SA" sz="2200" b="0" i="1" smtClean="0">
                              <a:latin typeface="Cambria Math" panose="02040503050406030204" pitchFamily="18" charset="0"/>
                              <a:cs typeface="+mj-cs"/>
                            </a:rPr>
                            <m:t>256</m:t>
                          </m:r>
                        </m:num>
                        <m:den>
                          <m:r>
                            <a:rPr lang="ar-SA" sz="2200" b="0" i="1" smtClean="0">
                              <a:latin typeface="Cambria Math" panose="02040503050406030204" pitchFamily="18" charset="0"/>
                              <a:cs typeface="+mj-cs"/>
                            </a:rPr>
                            <m:t>922</m:t>
                          </m:r>
                        </m:den>
                      </m:f>
                      <m:r>
                        <a:rPr lang="ar-SA" sz="2200" b="0" smtClean="0">
                          <a:latin typeface="Cambria Math" panose="02040503050406030204" pitchFamily="18" charset="0"/>
                          <a:cs typeface="+mj-cs"/>
                        </a:rPr>
                        <m:t>≈</m:t>
                      </m:r>
                      <m:r>
                        <a:rPr lang="ar-SA" sz="2200" b="0" i="1" smtClean="0">
                          <a:latin typeface="Cambria Math" panose="02040503050406030204" pitchFamily="18" charset="0"/>
                          <a:cs typeface="+mj-cs"/>
                        </a:rPr>
                        <m:t>0</m:t>
                      </m:r>
                      <m:r>
                        <a:rPr lang="ar-SA" sz="2200" b="0" smtClean="0">
                          <a:latin typeface="Cambria Math" panose="02040503050406030204" pitchFamily="18" charset="0"/>
                          <a:cs typeface="+mj-cs"/>
                        </a:rPr>
                        <m:t>.</m:t>
                      </m:r>
                      <m:r>
                        <a:rPr lang="ar-SA" sz="2200" b="0" i="1" smtClean="0">
                          <a:latin typeface="Cambria Math" panose="02040503050406030204" pitchFamily="18" charset="0"/>
                          <a:cs typeface="+mj-cs"/>
                        </a:rPr>
                        <m:t>278</m:t>
                      </m:r>
                      <m:r>
                        <m:rPr>
                          <m:nor/>
                        </m:rPr>
                        <a:rPr lang="ar-SA" sz="2200" i="1">
                          <a:cs typeface="+mj-cs"/>
                        </a:rPr>
                        <m:t> </m:t>
                      </m:r>
                      <m:r>
                        <m:rPr>
                          <m:nor/>
                        </m:rPr>
                        <a:rPr lang="en-US" sz="2200" i="1">
                          <a:cs typeface="+mj-cs"/>
                        </a:rPr>
                        <m:t>bits</m:t>
                      </m:r>
                      <m:r>
                        <m:rPr>
                          <m:nor/>
                        </m:rPr>
                        <a:rPr lang="en-US" sz="2200" i="1">
                          <a:cs typeface="+mj-cs"/>
                        </a:rPr>
                        <m:t>/</m:t>
                      </m:r>
                      <m:r>
                        <m:rPr>
                          <m:nor/>
                        </m:rPr>
                        <a:rPr lang="en-US" sz="2200" i="1">
                          <a:cs typeface="+mj-cs"/>
                        </a:rPr>
                        <m:t>subcarrier</m:t>
                      </m:r>
                      <m:r>
                        <m:rPr>
                          <m:nor/>
                        </m:rPr>
                        <a:rPr lang="en-US" sz="2200" i="1">
                          <a:cs typeface="+mj-cs"/>
                        </a:rPr>
                        <m:t>/</m:t>
                      </m:r>
                      <m:r>
                        <m:rPr>
                          <m:nor/>
                        </m:rPr>
                        <a:rPr lang="en-US" sz="2200" i="1">
                          <a:cs typeface="+mj-cs"/>
                        </a:rPr>
                        <m:t>symbol</m:t>
                      </m:r>
                    </m:oMath>
                  </m:oMathPara>
                </a14:m>
                <a:endParaRPr lang="en-US" sz="2200" dirty="0">
                  <a:cs typeface="+mj-cs"/>
                </a:endParaRPr>
              </a:p>
              <a:p>
                <a:pPr marL="0" indent="0">
                  <a:buNone/>
                </a:pPr>
                <a:endParaRPr lang="en-US" sz="2200" dirty="0">
                  <a:cs typeface="+mj-cs"/>
                </a:endParaRPr>
              </a:p>
            </p:txBody>
          </p:sp>
        </mc:Choice>
        <mc:Fallback>
          <p:sp>
            <p:nvSpPr>
              <p:cNvPr id="3" name="Content Placeholder 2">
                <a:extLst>
                  <a:ext uri="{FF2B5EF4-FFF2-40B4-BE49-F238E27FC236}">
                    <a16:creationId xmlns:a16="http://schemas.microsoft.com/office/drawing/2014/main" id="{2FD051EA-0A00-98D4-9C41-4BDFC18A1901}"/>
                  </a:ext>
                </a:extLst>
              </p:cNvPr>
              <p:cNvSpPr>
                <a:spLocks noGrp="1" noRot="1" noChangeAspect="1" noMove="1" noResize="1" noEditPoints="1" noAdjustHandles="1" noChangeArrowheads="1" noChangeShapeType="1" noTextEdit="1"/>
              </p:cNvSpPr>
              <p:nvPr>
                <p:ph idx="1"/>
              </p:nvPr>
            </p:nvSpPr>
            <p:spPr>
              <a:xfrm>
                <a:off x="628650" y="902524"/>
                <a:ext cx="7886700" cy="5955475"/>
              </a:xfrm>
              <a:blipFill>
                <a:blip r:embed="rId2"/>
                <a:stretch>
                  <a:fillRect l="-1005" t="-1331"/>
                </a:stretch>
              </a:blipFill>
            </p:spPr>
            <p:txBody>
              <a:bodyPr/>
              <a:lstStyle/>
              <a:p>
                <a:r>
                  <a:rPr lang="en-US">
                    <a:noFill/>
                  </a:rPr>
                  <a:t> </a:t>
                </a:r>
              </a:p>
            </p:txBody>
          </p:sp>
        </mc:Fallback>
      </mc:AlternateContent>
    </p:spTree>
    <p:extLst>
      <p:ext uri="{BB962C8B-B14F-4D97-AF65-F5344CB8AC3E}">
        <p14:creationId xmlns:p14="http://schemas.microsoft.com/office/powerpoint/2010/main" val="29088264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B11ADD7-FE70-C7E7-022F-EE1666E84AFF}"/>
              </a:ext>
            </a:extLst>
          </p:cNvPr>
          <p:cNvSpPr txBox="1">
            <a:spLocks/>
          </p:cNvSpPr>
          <p:nvPr/>
        </p:nvSpPr>
        <p:spPr>
          <a:xfrm>
            <a:off x="628650" y="365127"/>
            <a:ext cx="7886700" cy="5383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dirty="0">
                <a:latin typeface="Arial" panose="020B0604020202020204" pitchFamily="34" charset="0"/>
                <a:cs typeface="Arial" panose="020B0604020202020204" pitchFamily="34" charset="0"/>
              </a:rPr>
              <a:t>Example-Homework</a:t>
            </a:r>
          </a:p>
        </p:txBody>
      </p:sp>
      <p:sp>
        <p:nvSpPr>
          <p:cNvPr id="8" name="TextBox 7">
            <a:extLst>
              <a:ext uri="{FF2B5EF4-FFF2-40B4-BE49-F238E27FC236}">
                <a16:creationId xmlns:a16="http://schemas.microsoft.com/office/drawing/2014/main" id="{A5C83DF9-50A3-A12E-8511-CD1DF2613F9C}"/>
              </a:ext>
            </a:extLst>
          </p:cNvPr>
          <p:cNvSpPr txBox="1"/>
          <p:nvPr/>
        </p:nvSpPr>
        <p:spPr>
          <a:xfrm>
            <a:off x="870857" y="1219199"/>
            <a:ext cx="7886700" cy="2811604"/>
          </a:xfrm>
          <a:prstGeom prst="rect">
            <a:avLst/>
          </a:prstGeom>
          <a:noFill/>
        </p:spPr>
        <p:txBody>
          <a:bodyPr wrap="square">
            <a:spAutoFit/>
          </a:bodyPr>
          <a:lstStyle/>
          <a:p>
            <a:pPr marL="0" marR="0">
              <a:lnSpc>
                <a:spcPct val="106000"/>
              </a:lnSpc>
              <a:spcBef>
                <a:spcPts val="1500"/>
              </a:spcBef>
              <a:spcAft>
                <a:spcPts val="1500"/>
              </a:spcAft>
            </a:pPr>
            <a:r>
              <a:rPr lang="en-US"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Suppose a WiMAX system with the following specifications:</a:t>
            </a:r>
            <a:endParaRPr lang="en-US" sz="1600" kern="15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6000"/>
              </a:lnSpc>
              <a:spcBef>
                <a:spcPts val="0"/>
              </a:spcBef>
              <a:spcAft>
                <a:spcPts val="0"/>
              </a:spcAft>
              <a:buSzPts val="1000"/>
              <a:buFont typeface="Wingdings" panose="05000000000000000000" pitchFamily="2" charset="2"/>
              <a:buChar char=""/>
            </a:pPr>
            <a:r>
              <a:rPr lang="en-US"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Carrier frequency: 2.5 GHz</a:t>
            </a:r>
            <a:endParaRPr lang="en-US" sz="1600" kern="150" dirty="0">
              <a:solidFill>
                <a:srgbClr val="374151"/>
              </a:solidFill>
              <a:effectLst/>
              <a:latin typeface="Symbol" panose="05050102010706020507" pitchFamily="18" charset="2"/>
              <a:ea typeface="Calibri" panose="020F0502020204030204" pitchFamily="34" charset="0"/>
              <a:cs typeface="Times New Roman" panose="02020603050405020304" pitchFamily="18" charset="0"/>
            </a:endParaRPr>
          </a:p>
          <a:p>
            <a:pPr marL="342900" marR="0" lvl="0" indent="-342900">
              <a:lnSpc>
                <a:spcPct val="106000"/>
              </a:lnSpc>
              <a:spcBef>
                <a:spcPts val="0"/>
              </a:spcBef>
              <a:spcAft>
                <a:spcPts val="0"/>
              </a:spcAft>
              <a:buSzPts val="1000"/>
              <a:buFont typeface="Wingdings" panose="05000000000000000000" pitchFamily="2" charset="2"/>
              <a:buChar char=""/>
            </a:pPr>
            <a:r>
              <a:rPr lang="en-US"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Channel bandwidth: 10 MHz</a:t>
            </a:r>
            <a:endParaRPr lang="en-US" sz="1600" kern="150" dirty="0">
              <a:solidFill>
                <a:srgbClr val="374151"/>
              </a:solidFill>
              <a:effectLst/>
              <a:latin typeface="Symbol" panose="05050102010706020507" pitchFamily="18" charset="2"/>
              <a:ea typeface="Calibri" panose="020F0502020204030204" pitchFamily="34" charset="0"/>
              <a:cs typeface="Times New Roman" panose="02020603050405020304" pitchFamily="18" charset="0"/>
            </a:endParaRPr>
          </a:p>
          <a:p>
            <a:pPr marL="342900" marR="0" lvl="0" indent="-342900">
              <a:lnSpc>
                <a:spcPct val="106000"/>
              </a:lnSpc>
              <a:spcBef>
                <a:spcPts val="0"/>
              </a:spcBef>
              <a:spcAft>
                <a:spcPts val="0"/>
              </a:spcAft>
              <a:buSzPts val="1000"/>
              <a:buFont typeface="Wingdings" panose="05000000000000000000" pitchFamily="2" charset="2"/>
              <a:buChar char=""/>
            </a:pPr>
            <a:r>
              <a:rPr lang="en-US"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OFDM modulation scheme: 256-QAM</a:t>
            </a:r>
            <a:endParaRPr lang="en-US" sz="1600" kern="150" dirty="0">
              <a:solidFill>
                <a:srgbClr val="374151"/>
              </a:solidFill>
              <a:effectLst/>
              <a:latin typeface="Symbol" panose="05050102010706020507" pitchFamily="18" charset="2"/>
              <a:ea typeface="Calibri" panose="020F0502020204030204" pitchFamily="34" charset="0"/>
              <a:cs typeface="Times New Roman" panose="02020603050405020304" pitchFamily="18" charset="0"/>
            </a:endParaRPr>
          </a:p>
          <a:p>
            <a:pPr marL="342900" marR="0" lvl="0" indent="-342900">
              <a:lnSpc>
                <a:spcPct val="106000"/>
              </a:lnSpc>
              <a:spcBef>
                <a:spcPts val="0"/>
              </a:spcBef>
              <a:spcAft>
                <a:spcPts val="0"/>
              </a:spcAft>
              <a:buSzPts val="1000"/>
              <a:buFont typeface="Wingdings" panose="05000000000000000000" pitchFamily="2" charset="2"/>
              <a:buChar char=""/>
            </a:pPr>
            <a:r>
              <a:rPr lang="en-US"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Subcarrier spacing: 10 kHz</a:t>
            </a:r>
            <a:endParaRPr lang="en-US" sz="1600" kern="150" dirty="0">
              <a:solidFill>
                <a:srgbClr val="374151"/>
              </a:solidFill>
              <a:effectLst/>
              <a:latin typeface="Symbol" panose="05050102010706020507" pitchFamily="18" charset="2"/>
              <a:ea typeface="Calibri" panose="020F0502020204030204" pitchFamily="34" charset="0"/>
              <a:cs typeface="Times New Roman" panose="02020603050405020304" pitchFamily="18" charset="0"/>
            </a:endParaRPr>
          </a:p>
          <a:p>
            <a:pPr marL="342900" marR="0" lvl="0" indent="-342900">
              <a:lnSpc>
                <a:spcPct val="106000"/>
              </a:lnSpc>
              <a:spcBef>
                <a:spcPts val="0"/>
              </a:spcBef>
              <a:spcAft>
                <a:spcPts val="0"/>
              </a:spcAft>
              <a:buSzPts val="1000"/>
              <a:buFont typeface="Wingdings" panose="05000000000000000000" pitchFamily="2" charset="2"/>
              <a:buChar char=""/>
            </a:pPr>
            <a:r>
              <a:rPr lang="en-US"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Cyclic prefix ratio: 1/4</a:t>
            </a:r>
            <a:endParaRPr lang="en-US" sz="1600" kern="150" dirty="0">
              <a:solidFill>
                <a:srgbClr val="374151"/>
              </a:solidFill>
              <a:effectLst/>
              <a:latin typeface="Symbol" panose="05050102010706020507" pitchFamily="18" charset="2"/>
              <a:ea typeface="Calibri" panose="020F0502020204030204" pitchFamily="34" charset="0"/>
              <a:cs typeface="Times New Roman" panose="02020603050405020304" pitchFamily="18" charset="0"/>
            </a:endParaRPr>
          </a:p>
          <a:p>
            <a:pPr marL="0" marR="0">
              <a:lnSpc>
                <a:spcPct val="106000"/>
              </a:lnSpc>
              <a:spcBef>
                <a:spcPts val="1500"/>
              </a:spcBef>
              <a:spcAft>
                <a:spcPts val="1500"/>
              </a:spcAft>
            </a:pPr>
            <a:r>
              <a:rPr lang="en-US"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Calculate the symbol rate, data rate, and maximum achievable throughput of the system.</a:t>
            </a:r>
            <a:endParaRPr lang="en-US" sz="1600" kern="150" dirty="0">
              <a:effectLst/>
              <a:latin typeface="Calibri" panose="020F050202020403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85C6E0F5-AF45-CCEB-7D26-A2B344B573C9}"/>
                  </a:ext>
                </a:extLst>
              </p:cNvPr>
              <p:cNvSpPr txBox="1"/>
              <p:nvPr/>
            </p:nvSpPr>
            <p:spPr>
              <a:xfrm>
                <a:off x="870857" y="4346487"/>
                <a:ext cx="4572000" cy="1754326"/>
              </a:xfrm>
              <a:prstGeom prst="rect">
                <a:avLst/>
              </a:prstGeom>
              <a:noFill/>
            </p:spPr>
            <p:txBody>
              <a:bodyPr wrap="square">
                <a:spAutoFit/>
              </a:bodyPr>
              <a:lstStyle/>
              <a:p>
                <a:pPr>
                  <a:buNone/>
                </a:pPr>
                <a:r>
                  <a:rPr lang="en-US" b="1" dirty="0"/>
                  <a:t>Symbol rate:</a:t>
                </a:r>
                <a:br>
                  <a:rPr lang="en-US" dirty="0"/>
                </a:br>
                <a14:m>
                  <m:oMathPara xmlns:m="http://schemas.openxmlformats.org/officeDocument/2006/math">
                    <m:oMathParaPr>
                      <m:jc m:val="centerGroup"/>
                    </m:oMathParaPr>
                    <m:oMath xmlns:m="http://schemas.openxmlformats.org/officeDocument/2006/math">
                      <m:sSub>
                        <m:sSubPr>
                          <m:ctrlPr>
                            <a:rPr lang="ar-SA" i="1">
                              <a:latin typeface="Cambria Math" panose="02040503050406030204" pitchFamily="18" charset="0"/>
                            </a:rPr>
                          </m:ctrlPr>
                        </m:sSubPr>
                        <m:e>
                          <m:r>
                            <a:rPr lang="ar-SA" i="1">
                              <a:latin typeface="Cambria Math" panose="02040503050406030204" pitchFamily="18" charset="0"/>
                            </a:rPr>
                            <m:t>𝑅</m:t>
                          </m:r>
                        </m:e>
                        <m:sub>
                          <m:r>
                            <a:rPr lang="ar-SA" i="1">
                              <a:latin typeface="Cambria Math" panose="02040503050406030204" pitchFamily="18" charset="0"/>
                            </a:rPr>
                            <m:t>𝑠</m:t>
                          </m:r>
                        </m:sub>
                      </m:sSub>
                      <m:r>
                        <a:rPr lang="ar-SA" i="0">
                          <a:latin typeface="Cambria Math" panose="02040503050406030204" pitchFamily="18" charset="0"/>
                        </a:rPr>
                        <m:t>=</m:t>
                      </m:r>
                      <m:r>
                        <a:rPr lang="ar-SA" i="0">
                          <a:latin typeface="Cambria Math" panose="02040503050406030204" pitchFamily="18" charset="0"/>
                        </a:rPr>
                        <m:t>8</m:t>
                      </m:r>
                      <m:r>
                        <a:rPr lang="ar-SA" i="0">
                          <a:latin typeface="Cambria Math" panose="02040503050406030204" pitchFamily="18" charset="0"/>
                        </a:rPr>
                        <m:t>,</m:t>
                      </m:r>
                      <m:r>
                        <a:rPr lang="ar-SA" i="0">
                          <a:latin typeface="Cambria Math" panose="02040503050406030204" pitchFamily="18" charset="0"/>
                        </a:rPr>
                        <m:t>000</m:t>
                      </m:r>
                      <m:r>
                        <m:rPr>
                          <m:nor/>
                        </m:rPr>
                        <a:rPr lang="ar-SA" b="0" i="1">
                          <a:latin typeface="Cambria Math" panose="02040503050406030204" pitchFamily="18" charset="0"/>
                        </a:rPr>
                        <m:t> </m:t>
                      </m:r>
                      <m:r>
                        <m:rPr>
                          <m:nor/>
                        </m:rPr>
                        <a:rPr lang="en-US" b="0" i="1">
                          <a:latin typeface="Cambria Math" panose="02040503050406030204" pitchFamily="18" charset="0"/>
                        </a:rPr>
                        <m:t>symbols</m:t>
                      </m:r>
                      <m:r>
                        <m:rPr>
                          <m:nor/>
                        </m:rPr>
                        <a:rPr lang="en-US" b="0" i="1">
                          <a:latin typeface="Cambria Math" panose="02040503050406030204" pitchFamily="18" charset="0"/>
                        </a:rPr>
                        <m:t>/</m:t>
                      </m:r>
                      <m:r>
                        <m:rPr>
                          <m:nor/>
                        </m:rPr>
                        <a:rPr lang="en-US" b="0" i="1">
                          <a:latin typeface="Cambria Math" panose="02040503050406030204" pitchFamily="18" charset="0"/>
                        </a:rPr>
                        <m:t>s</m:t>
                      </m:r>
                    </m:oMath>
                  </m:oMathPara>
                </a14:m>
                <a:endParaRPr lang="en-US" dirty="0"/>
              </a:p>
              <a:p>
                <a:pPr>
                  <a:buNone/>
                </a:pPr>
                <a:r>
                  <a:rPr lang="en-US" b="1" dirty="0"/>
                  <a:t>Data rate (gross PHY):</a:t>
                </a:r>
                <a:br>
                  <a:rPr lang="en-US" dirty="0"/>
                </a:b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𝑅</m:t>
                      </m:r>
                      <m:r>
                        <a:rPr lang="en-US" i="0">
                          <a:latin typeface="Cambria Math" panose="02040503050406030204" pitchFamily="18" charset="0"/>
                        </a:rPr>
                        <m:t>=</m:t>
                      </m:r>
                      <m:r>
                        <a:rPr lang="en-US" i="0">
                          <a:latin typeface="Cambria Math" panose="02040503050406030204" pitchFamily="18" charset="0"/>
                        </a:rPr>
                        <m:t>64</m:t>
                      </m:r>
                      <m:r>
                        <m:rPr>
                          <m:nor/>
                        </m:rPr>
                        <a:rPr lang="en-US" b="0" i="1">
                          <a:latin typeface="Cambria Math" panose="02040503050406030204" pitchFamily="18" charset="0"/>
                        </a:rPr>
                        <m:t> </m:t>
                      </m:r>
                      <m:r>
                        <m:rPr>
                          <m:nor/>
                        </m:rPr>
                        <a:rPr lang="en-US" b="0" i="1">
                          <a:latin typeface="Cambria Math" panose="02040503050406030204" pitchFamily="18" charset="0"/>
                        </a:rPr>
                        <m:t>Mb</m:t>
                      </m:r>
                      <m:r>
                        <m:rPr>
                          <m:nor/>
                        </m:rPr>
                        <a:rPr lang="en-US" b="0" i="1">
                          <a:latin typeface="Cambria Math" panose="02040503050406030204" pitchFamily="18" charset="0"/>
                        </a:rPr>
                        <m:t>/</m:t>
                      </m:r>
                      <m:r>
                        <m:rPr>
                          <m:nor/>
                        </m:rPr>
                        <a:rPr lang="en-US" b="0" i="1">
                          <a:latin typeface="Cambria Math" panose="02040503050406030204" pitchFamily="18" charset="0"/>
                        </a:rPr>
                        <m:t>s</m:t>
                      </m:r>
                    </m:oMath>
                  </m:oMathPara>
                </a14:m>
                <a:endParaRPr lang="en-US" dirty="0"/>
              </a:p>
              <a:p>
                <a:pPr>
                  <a:buNone/>
                </a:pPr>
                <a:r>
                  <a:rPr lang="en-US" b="1" dirty="0"/>
                  <a:t>Maximum achievable throughput:</a:t>
                </a:r>
                <a:br>
                  <a:rPr lang="en-US" dirty="0"/>
                </a:br>
                <a14:m>
                  <m:oMathPara xmlns:m="http://schemas.openxmlformats.org/officeDocument/2006/math">
                    <m:oMathParaPr>
                      <m:jc m:val="centerGroup"/>
                    </m:oMathParaPr>
                    <m:oMath xmlns:m="http://schemas.openxmlformats.org/officeDocument/2006/math">
                      <m:r>
                        <a:rPr lang="en-US">
                          <a:latin typeface="Cambria Math" panose="02040503050406030204" pitchFamily="18" charset="0"/>
                        </a:rPr>
                        <m:t>64</m:t>
                      </m:r>
                      <m:r>
                        <m:rPr>
                          <m:nor/>
                        </m:rPr>
                        <a:rPr lang="en-US" b="0" i="1">
                          <a:latin typeface="Cambria Math" panose="02040503050406030204" pitchFamily="18" charset="0"/>
                        </a:rPr>
                        <m:t> </m:t>
                      </m:r>
                      <m:r>
                        <m:rPr>
                          <m:nor/>
                        </m:rPr>
                        <a:rPr lang="en-US" b="0" i="1">
                          <a:latin typeface="Cambria Math" panose="02040503050406030204" pitchFamily="18" charset="0"/>
                        </a:rPr>
                        <m:t>Mb</m:t>
                      </m:r>
                      <m:r>
                        <m:rPr>
                          <m:nor/>
                        </m:rPr>
                        <a:rPr lang="en-US" b="0" i="1">
                          <a:latin typeface="Cambria Math" panose="02040503050406030204" pitchFamily="18" charset="0"/>
                        </a:rPr>
                        <m:t>/</m:t>
                      </m:r>
                      <m:r>
                        <m:rPr>
                          <m:nor/>
                        </m:rPr>
                        <a:rPr lang="en-US" b="0" i="1">
                          <a:latin typeface="Cambria Math" panose="02040503050406030204" pitchFamily="18" charset="0"/>
                        </a:rPr>
                        <m:t>s</m:t>
                      </m:r>
                    </m:oMath>
                  </m:oMathPara>
                </a14:m>
                <a:endParaRPr lang="en-US" dirty="0"/>
              </a:p>
            </p:txBody>
          </p:sp>
        </mc:Choice>
        <mc:Fallback>
          <p:sp>
            <p:nvSpPr>
              <p:cNvPr id="3" name="TextBox 2">
                <a:extLst>
                  <a:ext uri="{FF2B5EF4-FFF2-40B4-BE49-F238E27FC236}">
                    <a16:creationId xmlns:a16="http://schemas.microsoft.com/office/drawing/2014/main" id="{85C6E0F5-AF45-CCEB-7D26-A2B344B573C9}"/>
                  </a:ext>
                </a:extLst>
              </p:cNvPr>
              <p:cNvSpPr txBox="1">
                <a:spLocks noRot="1" noChangeAspect="1" noMove="1" noResize="1" noEditPoints="1" noAdjustHandles="1" noChangeArrowheads="1" noChangeShapeType="1" noTextEdit="1"/>
              </p:cNvSpPr>
              <p:nvPr/>
            </p:nvSpPr>
            <p:spPr>
              <a:xfrm>
                <a:off x="870857" y="4346487"/>
                <a:ext cx="4572000" cy="1754326"/>
              </a:xfrm>
              <a:prstGeom prst="rect">
                <a:avLst/>
              </a:prstGeom>
              <a:blipFill>
                <a:blip r:embed="rId2"/>
                <a:stretch>
                  <a:fillRect l="-1200" t="-1736" b="-2083"/>
                </a:stretch>
              </a:blipFill>
            </p:spPr>
            <p:txBody>
              <a:bodyPr/>
              <a:lstStyle/>
              <a:p>
                <a:r>
                  <a:rPr lang="en-US">
                    <a:noFill/>
                  </a:rPr>
                  <a:t> </a:t>
                </a:r>
              </a:p>
            </p:txBody>
          </p:sp>
        </mc:Fallback>
      </mc:AlternateContent>
    </p:spTree>
    <p:extLst>
      <p:ext uri="{BB962C8B-B14F-4D97-AF65-F5344CB8AC3E}">
        <p14:creationId xmlns:p14="http://schemas.microsoft.com/office/powerpoint/2010/main" val="161394292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76f8f3b6-16be-436e-bf2d-dedadcb77122"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B59F6BB5A7D914C9B3EBC96A6E21F77" ma:contentTypeVersion="14" ma:contentTypeDescription="Create a new document." ma:contentTypeScope="" ma:versionID="fda4ccff6591671c81d9f7567ae569d0">
  <xsd:schema xmlns:xsd="http://www.w3.org/2001/XMLSchema" xmlns:xs="http://www.w3.org/2001/XMLSchema" xmlns:p="http://schemas.microsoft.com/office/2006/metadata/properties" xmlns:ns3="76f8f3b6-16be-436e-bf2d-dedadcb77122" xmlns:ns4="d8514a62-9400-4177-9856-d6f8215948cc" targetNamespace="http://schemas.microsoft.com/office/2006/metadata/properties" ma:root="true" ma:fieldsID="5dd2106159393f1d8dbedbc6d6b27a07" ns3:_="" ns4:_="">
    <xsd:import namespace="76f8f3b6-16be-436e-bf2d-dedadcb77122"/>
    <xsd:import namespace="d8514a62-9400-4177-9856-d6f8215948cc"/>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element ref="ns3:MediaServiceDateTaken" minOccurs="0"/>
                <xsd:element ref="ns3:MediaLengthInSeconds" minOccurs="0"/>
                <xsd:element ref="ns3:MediaServiceAutoTags" minOccurs="0"/>
                <xsd:element ref="ns3:MediaServiceGenerationTime" minOccurs="0"/>
                <xsd:element ref="ns3:MediaServiceEventHashCode" minOccurs="0"/>
                <xsd:element ref="ns3:MediaServiceOCR"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6f8f3b6-16be-436e-bf2d-dedadcb7712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AutoTags" ma:index="17" nillable="true" ma:displayName="Tags" ma:internalName="MediaServiceAutoTags"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_activity" ma:index="21"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8514a62-9400-4177-9856-d6f8215948c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B1BC10A-AC43-4888-BBEF-22D31D87E8F1}">
  <ds:schemaRefs>
    <ds:schemaRef ds:uri="http://schemas.microsoft.com/office/infopath/2007/PartnerControls"/>
    <ds:schemaRef ds:uri="http://purl.org/dc/elements/1.1/"/>
    <ds:schemaRef ds:uri="http://schemas.microsoft.com/office/2006/metadata/properties"/>
    <ds:schemaRef ds:uri="76f8f3b6-16be-436e-bf2d-dedadcb77122"/>
    <ds:schemaRef ds:uri="http://purl.org/dc/terms/"/>
    <ds:schemaRef ds:uri="http://schemas.openxmlformats.org/package/2006/metadata/core-properties"/>
    <ds:schemaRef ds:uri="http://schemas.microsoft.com/office/2006/documentManagement/types"/>
    <ds:schemaRef ds:uri="d8514a62-9400-4177-9856-d6f8215948cc"/>
    <ds:schemaRef ds:uri="http://www.w3.org/XML/1998/namespace"/>
    <ds:schemaRef ds:uri="http://purl.org/dc/dcmitype/"/>
  </ds:schemaRefs>
</ds:datastoreItem>
</file>

<file path=customXml/itemProps2.xml><?xml version="1.0" encoding="utf-8"?>
<ds:datastoreItem xmlns:ds="http://schemas.openxmlformats.org/officeDocument/2006/customXml" ds:itemID="{E469DD6B-0C77-4907-9AFC-74AC6720B21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6f8f3b6-16be-436e-bf2d-dedadcb77122"/>
    <ds:schemaRef ds:uri="d8514a62-9400-4177-9856-d6f8215948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AF01DB4-B638-40AA-A96B-CDB0BCBB8FD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2390</TotalTime>
  <Words>2934</Words>
  <Application>Microsoft Office PowerPoint</Application>
  <PresentationFormat>On-screen Show (4:3)</PresentationFormat>
  <Paragraphs>212</Paragraphs>
  <Slides>49</Slides>
  <Notes>3</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49</vt:i4>
      </vt:variant>
    </vt:vector>
  </HeadingPairs>
  <TitlesOfParts>
    <vt:vector size="66" baseType="lpstr">
      <vt:lpstr>ＭＳ Ｐゴシック</vt:lpstr>
      <vt:lpstr>AdvP3D1FEB</vt:lpstr>
      <vt:lpstr>AdvP41153C</vt:lpstr>
      <vt:lpstr>AdvP44C052</vt:lpstr>
      <vt:lpstr>AdvP4C4E74</vt:lpstr>
      <vt:lpstr>Arial</vt:lpstr>
      <vt:lpstr>Arial Narrow</vt:lpstr>
      <vt:lpstr>Calibri</vt:lpstr>
      <vt:lpstr>Calibri Light</vt:lpstr>
      <vt:lpstr>Cambria Math</vt:lpstr>
      <vt:lpstr>Myriad Pro</vt:lpstr>
      <vt:lpstr>Segoe UI</vt:lpstr>
      <vt:lpstr>Symbol</vt:lpstr>
      <vt:lpstr>Times New Roman</vt:lpstr>
      <vt:lpstr>Verdana</vt:lpstr>
      <vt:lpstr>Wingdings</vt:lpstr>
      <vt:lpstr>Office Theme</vt:lpstr>
      <vt:lpstr>OFDM Theory and Architecture </vt:lpstr>
      <vt:lpstr>Orthogonality</vt:lpstr>
      <vt:lpstr>Orthogonality</vt:lpstr>
      <vt:lpstr>OFDM Modulation and Demodulation</vt:lpstr>
      <vt:lpstr>OFDM signal</vt:lpstr>
      <vt:lpstr>OFDM signal</vt:lpstr>
      <vt:lpstr>OFDM signal</vt:lpstr>
      <vt:lpstr>OFDM signal</vt:lpstr>
      <vt:lpstr>OFDM signal</vt:lpstr>
      <vt:lpstr>Block diagram of OFDM modulation and demodulation: N = 6</vt:lpstr>
      <vt:lpstr>Block diagram of transmitter and receiver in an OFDM system.ar</vt:lpstr>
      <vt:lpstr>Effect of Multipath Channel on OFDM Symbols</vt:lpstr>
      <vt:lpstr>Effect of Multipath Channel on OFDM Symbols</vt:lpstr>
      <vt:lpstr>Examples for the discrete-time channel</vt:lpstr>
      <vt:lpstr>Effect of a multipath channel on the received signal without guard interval</vt:lpstr>
      <vt:lpstr>Cyclic Prefix (CP)</vt:lpstr>
      <vt:lpstr>PowerPoint Presentation</vt:lpstr>
      <vt:lpstr>ISI effect of a multipath channel on OFDM symbols</vt:lpstr>
      <vt:lpstr>ISI/ICI effect depending on the FFT window start point</vt:lpstr>
      <vt:lpstr>OFDM signal-Receiver</vt:lpstr>
      <vt:lpstr>Frequency-domain equivalent model of OFDM system</vt:lpstr>
      <vt:lpstr>Cyclic Suffix (CS)</vt:lpstr>
      <vt:lpstr>Zero Padding (ZP)</vt:lpstr>
      <vt:lpstr>BER of OFDM Scheme</vt:lpstr>
      <vt:lpstr>Note:</vt:lpstr>
      <vt:lpstr>BER performance for OFDM system with 16-QAM.</vt:lpstr>
      <vt:lpstr>BER performance for OFDM system with 16-QAM.</vt:lpstr>
      <vt:lpstr>Comparison between the single-carrier and multi-carrier transmission schemes</vt:lpstr>
      <vt:lpstr>OFDMA: Multiple Access Extensions of OFDM</vt:lpstr>
      <vt:lpstr>Subcarrier Allocation</vt:lpstr>
      <vt:lpstr>Multiple access techniques associated with OFDM: comparison</vt:lpstr>
      <vt:lpstr>OFDM System Design</vt:lpstr>
      <vt:lpstr>OFDM System Design</vt:lpstr>
      <vt:lpstr>Example</vt:lpstr>
      <vt:lpstr>(a) Calculate the subcarrier spacing of the system and determine the useful OFDM symbol duration. </vt:lpstr>
      <vt:lpstr>b) The system inserts a cyclic prefix (CP) equal to 1/6 of the useful symbol duration to suppress ISI. Compute the CP duration and the total OFDM symbol duration (including CP).  </vt:lpstr>
      <vt:lpstr>(c) The wireless channel has a maximum delay spread of 5 µs. Evaluate whether the chosen CP duration is sufficient to avoid ISI. Justify your answer with calculations.  </vt:lpstr>
      <vt:lpstr>(d) Explain how increasing the number of subcarriers in an OFDM system improves its resistance to frequency-selective fading. Your answer should clearly relate subcarrier spacing, symbol duration, and equalisation complexity.</vt:lpstr>
      <vt:lpstr>Example</vt:lpstr>
      <vt:lpstr>(a) Explain why ISI occurs more severely in narrowband single-carrier transmission than in OFDM-based systems.  </vt:lpstr>
      <vt:lpstr>(b) In the context of multipath wireless channels, analyze how symbol duration and channel delay spread jointly determine the problem of ISI in both single-carrier and OFDM systems. </vt:lpstr>
      <vt:lpstr>(c) In an OFDM system, null subcarriers are inserted at specific locations within the spectrum. State the purpose of these null subcarriers and explain why they are placed at the band edges and at the DC subcarrier position. </vt:lpstr>
      <vt:lpstr>(d) Describe the specific effect on OFDM symbol detection when the receiver timing is misaligned and sampling occurs beyond the cyclic prefix in a multipath fading channel. Refer to ISI and the loss of subcarrier orthogonality.  </vt:lpstr>
      <vt:lpstr>Example</vt:lpstr>
      <vt:lpstr>PowerPoint Presentation</vt:lpstr>
      <vt:lpstr>PowerPoint Presentation</vt:lpstr>
      <vt:lpstr>PowerPoint Presentation</vt:lpstr>
      <vt:lpstr>4) Number of data bits per subcarrier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Abrar, Muhammad</dc:creator>
  <cp:lastModifiedBy>Abrar, Muhammad</cp:lastModifiedBy>
  <cp:revision>199</cp:revision>
  <dcterms:created xsi:type="dcterms:W3CDTF">2023-04-08T04:37:24Z</dcterms:created>
  <dcterms:modified xsi:type="dcterms:W3CDTF">2025-11-09T12:47:29Z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0x010100BB59F6BB5A7D914C9B3EBC96A6E21F77</vt:lpwstr>
  </property>
</Properties>
</file>