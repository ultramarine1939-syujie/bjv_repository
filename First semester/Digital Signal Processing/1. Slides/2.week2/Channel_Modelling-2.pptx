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339" r:id="rId5"/>
    <p:sldId id="260" r:id="rId6"/>
    <p:sldId id="340" r:id="rId7"/>
    <p:sldId id="341" r:id="rId8"/>
    <p:sldId id="342" r:id="rId9"/>
    <p:sldId id="343" r:id="rId10"/>
    <p:sldId id="347" r:id="rId11"/>
    <p:sldId id="348" r:id="rId12"/>
    <p:sldId id="353" r:id="rId13"/>
    <p:sldId id="346" r:id="rId14"/>
    <p:sldId id="352" r:id="rId15"/>
    <p:sldId id="345" r:id="rId16"/>
    <p:sldId id="349" r:id="rId17"/>
    <p:sldId id="350" r:id="rId18"/>
    <p:sldId id="351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66DD8-96A3-7686-D4EA-794A020606C6}" v="138" dt="2023-04-08T14:26:03.890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4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A2B23-253C-4CB3-BBBB-82EDD4515B2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1E985-387E-4400-B108-EA1B51C5B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5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PDF is the probability that a random variable (let X), will take a value exactly equal to the random variable (X). CDF is the probability that a random variable (let X) will take a value less than or equal to the random variable (X).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1E985-387E-4400-B108-EA1B51C5B9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7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3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5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1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6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8860F-9BD5-42E1-91FE-31F6B999C27B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6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altLang="en-US" b="1" dirty="0"/>
              <a:t>Wireless Channel Modelling-2</a:t>
            </a: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03200" y="194733"/>
            <a:ext cx="1312334" cy="821267"/>
            <a:chOff x="203200" y="194733"/>
            <a:chExt cx="1312334" cy="821267"/>
          </a:xfrm>
        </p:grpSpPr>
        <p:sp>
          <p:nvSpPr>
            <p:cNvPr id="16" name="Rectangle 15"/>
            <p:cNvSpPr/>
            <p:nvPr userDrawn="1"/>
          </p:nvSpPr>
          <p:spPr bwMode="auto">
            <a:xfrm>
              <a:off x="203200" y="194733"/>
              <a:ext cx="1312334" cy="8212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7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7759C1A-45A6-453C-B6BE-AE248C8B2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27" y="4315545"/>
            <a:ext cx="4589272" cy="1201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D222DA-630E-422B-9B9A-4682EFA5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357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Statistical Characterization of Fading Channel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D033C-0537-4832-DFEB-32A1B1A1D365}"/>
              </a:ext>
            </a:extLst>
          </p:cNvPr>
          <p:cNvGrpSpPr/>
          <p:nvPr/>
        </p:nvGrpSpPr>
        <p:grpSpPr>
          <a:xfrm>
            <a:off x="3582498" y="764138"/>
            <a:ext cx="5487741" cy="3447405"/>
            <a:chOff x="3582498" y="764138"/>
            <a:chExt cx="5487741" cy="34474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E8928C-DDA0-4C81-84E8-08E20FC08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2498" y="764138"/>
              <a:ext cx="5343525" cy="332422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F91F53-6F1D-4C69-AF6C-21DEF0DBB684}"/>
                </a:ext>
              </a:extLst>
            </p:cNvPr>
            <p:cNvSpPr/>
            <p:nvPr/>
          </p:nvSpPr>
          <p:spPr>
            <a:xfrm>
              <a:off x="6580070" y="3842211"/>
              <a:ext cx="24901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dvP41153C"/>
                </a:rPr>
                <a:t>Clarke’s proposed model</a:t>
              </a:r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2F6F548-FFA7-4064-845A-86BB1034B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08" y="2013804"/>
            <a:ext cx="2733675" cy="7905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F0F4726-1FAA-49E8-81CA-D64EEB2A3BC7}"/>
              </a:ext>
            </a:extLst>
          </p:cNvPr>
          <p:cNvGrpSpPr/>
          <p:nvPr/>
        </p:nvGrpSpPr>
        <p:grpSpPr>
          <a:xfrm>
            <a:off x="628650" y="1535696"/>
            <a:ext cx="2013243" cy="697550"/>
            <a:chOff x="628650" y="1535696"/>
            <a:chExt cx="2013243" cy="6975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50EDFF-D6EE-4E44-AC08-292EAAE9EABA}"/>
                </a:ext>
              </a:extLst>
            </p:cNvPr>
            <p:cNvSpPr/>
            <p:nvPr/>
          </p:nvSpPr>
          <p:spPr>
            <a:xfrm>
              <a:off x="628650" y="1535696"/>
              <a:ext cx="201324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AdvP41153C"/>
                </a:rPr>
                <a:t>baseband transmit signal</a:t>
              </a:r>
              <a:endParaRPr lang="en-US" sz="14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6FA27EB-8669-45F8-866B-CD6B49671C93}"/>
                </a:ext>
              </a:extLst>
            </p:cNvPr>
            <p:cNvCxnSpPr>
              <a:cxnSpLocks/>
            </p:cNvCxnSpPr>
            <p:nvPr/>
          </p:nvCxnSpPr>
          <p:spPr>
            <a:xfrm>
              <a:off x="2066192" y="1837592"/>
              <a:ext cx="0" cy="39565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03BEC6-E9AB-45FE-AF56-7F3F8568D49F}"/>
              </a:ext>
            </a:extLst>
          </p:cNvPr>
          <p:cNvGrpSpPr/>
          <p:nvPr/>
        </p:nvGrpSpPr>
        <p:grpSpPr>
          <a:xfrm>
            <a:off x="413239" y="2606552"/>
            <a:ext cx="1714499" cy="984765"/>
            <a:chOff x="413239" y="2606552"/>
            <a:chExt cx="1714499" cy="984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045584-5611-4FB3-860B-96A90797D12D}"/>
                </a:ext>
              </a:extLst>
            </p:cNvPr>
            <p:cNvSpPr/>
            <p:nvPr/>
          </p:nvSpPr>
          <p:spPr>
            <a:xfrm>
              <a:off x="413239" y="3068097"/>
              <a:ext cx="171449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AdvP41153C"/>
                </a:rPr>
                <a:t>passband</a:t>
              </a:r>
            </a:p>
            <a:p>
              <a:r>
                <a:rPr lang="en-US" sz="1400" dirty="0">
                  <a:latin typeface="AdvP41153C"/>
                </a:rPr>
                <a:t>transmit signal</a:t>
              </a:r>
              <a:endParaRPr lang="en-US" sz="14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836C8C0-DB2D-4D0E-8842-B90F3D8E61FF}"/>
                </a:ext>
              </a:extLst>
            </p:cNvPr>
            <p:cNvCxnSpPr>
              <a:cxnSpLocks/>
            </p:cNvCxnSpPr>
            <p:nvPr/>
          </p:nvCxnSpPr>
          <p:spPr>
            <a:xfrm>
              <a:off x="943707" y="2606552"/>
              <a:ext cx="0" cy="39565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D66A5AA-34BC-4BEB-B29C-0BC555F9A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04" y="5555195"/>
            <a:ext cx="2390775" cy="5619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EE567E-87C6-4A40-A4A5-1935175B1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170" y="5391644"/>
            <a:ext cx="3168900" cy="87726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92FD43E-EAED-98F6-FDC3-AAE7758B06EB}"/>
              </a:ext>
            </a:extLst>
          </p:cNvPr>
          <p:cNvGrpSpPr/>
          <p:nvPr/>
        </p:nvGrpSpPr>
        <p:grpSpPr>
          <a:xfrm>
            <a:off x="1705607" y="3990958"/>
            <a:ext cx="1106265" cy="757469"/>
            <a:chOff x="1705607" y="3990958"/>
            <a:chExt cx="1106265" cy="75746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3977026-FAFA-49BB-A7A5-0AD180C9B8F9}"/>
                </a:ext>
              </a:extLst>
            </p:cNvPr>
            <p:cNvCxnSpPr>
              <a:cxnSpLocks/>
            </p:cNvCxnSpPr>
            <p:nvPr/>
          </p:nvCxnSpPr>
          <p:spPr>
            <a:xfrm>
              <a:off x="2379787" y="4218374"/>
              <a:ext cx="0" cy="530053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7836D4-2FAD-4CB7-A67D-73FBF999DB7A}"/>
                </a:ext>
              </a:extLst>
            </p:cNvPr>
            <p:cNvSpPr/>
            <p:nvPr/>
          </p:nvSpPr>
          <p:spPr>
            <a:xfrm>
              <a:off x="1705607" y="3990958"/>
              <a:ext cx="11062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AdvP41153C"/>
                </a:rPr>
                <a:t>channel gain</a:t>
              </a:r>
              <a:endParaRPr lang="en-US" sz="1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300EA4-5B8B-87FD-8E0F-66FE13C427B8}"/>
              </a:ext>
            </a:extLst>
          </p:cNvPr>
          <p:cNvGrpSpPr/>
          <p:nvPr/>
        </p:nvGrpSpPr>
        <p:grpSpPr>
          <a:xfrm>
            <a:off x="3883880" y="4035703"/>
            <a:ext cx="991468" cy="740189"/>
            <a:chOff x="3883880" y="4035703"/>
            <a:chExt cx="991468" cy="740189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37BB178-80AE-414E-8F46-AA86FB0529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880" y="4315545"/>
              <a:ext cx="496889" cy="460347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FE8FB96-D2C9-4AF7-B415-E7659954F37E}"/>
                </a:ext>
              </a:extLst>
            </p:cNvPr>
            <p:cNvSpPr/>
            <p:nvPr/>
          </p:nvSpPr>
          <p:spPr>
            <a:xfrm>
              <a:off x="4299678" y="4035703"/>
              <a:ext cx="5756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AdvP41153C"/>
                </a:rPr>
                <a:t>delay</a:t>
              </a:r>
              <a:endParaRPr lang="en-US" sz="1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F64BC8-AA84-3A58-22FC-60159A87283A}"/>
              </a:ext>
            </a:extLst>
          </p:cNvPr>
          <p:cNvGrpSpPr/>
          <p:nvPr/>
        </p:nvGrpSpPr>
        <p:grpSpPr>
          <a:xfrm>
            <a:off x="3075406" y="4175624"/>
            <a:ext cx="1135247" cy="572803"/>
            <a:chOff x="3075406" y="4175624"/>
            <a:chExt cx="1135247" cy="57280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EDF9BCF-656F-4D29-8AA2-72BC117F764D}"/>
                </a:ext>
              </a:extLst>
            </p:cNvPr>
            <p:cNvCxnSpPr>
              <a:cxnSpLocks/>
            </p:cNvCxnSpPr>
            <p:nvPr/>
          </p:nvCxnSpPr>
          <p:spPr>
            <a:xfrm>
              <a:off x="3380278" y="4414393"/>
              <a:ext cx="0" cy="334034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665CD7F-C4F3-4789-9EF4-39A22949F507}"/>
                </a:ext>
              </a:extLst>
            </p:cNvPr>
            <p:cNvSpPr/>
            <p:nvPr/>
          </p:nvSpPr>
          <p:spPr>
            <a:xfrm>
              <a:off x="3075406" y="4175624"/>
              <a:ext cx="113524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AdvP41153C"/>
                </a:rPr>
                <a:t>Doppler shift</a:t>
              </a:r>
              <a:endParaRPr lang="en-US" sz="1400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2EC3C65E-9071-4384-9D04-A287D8366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498" y="6205946"/>
            <a:ext cx="2766563" cy="43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5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7D97F-891D-3E5E-B8D5-715C1D566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30" y="2026636"/>
            <a:ext cx="7886700" cy="87403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</a:rPr>
              <a:t>Over Multipath channel subject to numerous scattering components, follows the Rayleigh distribution.</a:t>
            </a:r>
          </a:p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AE953-7535-4905-DEDB-6ADE9373B757}"/>
              </a:ext>
            </a:extLst>
          </p:cNvPr>
          <p:cNvSpPr txBox="1"/>
          <p:nvPr/>
        </p:nvSpPr>
        <p:spPr>
          <a:xfrm>
            <a:off x="556530" y="3069575"/>
            <a:ext cx="81125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some of the scattering components are much stronger  than most of the components or have LOS component, the fading process no longer follows the Rayleigh distribution.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4C626-D175-5340-0412-8718BA932868}"/>
              </a:ext>
            </a:extLst>
          </p:cNvPr>
          <p:cNvSpPr txBox="1"/>
          <p:nvPr/>
        </p:nvSpPr>
        <p:spPr>
          <a:xfrm>
            <a:off x="556530" y="4411617"/>
            <a:ext cx="7500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case , the amplitude of the received signal, follows the Rician distribution and thus, this fading process is referred to as Rician fading.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A2141F-773C-ACD7-270D-18D7942F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629" y="826022"/>
            <a:ext cx="25050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7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B673-83CF-6FCE-BDBF-629238C9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36360"/>
          </a:xfrm>
        </p:spPr>
        <p:txBody>
          <a:bodyPr>
            <a:noAutofit/>
          </a:bodyPr>
          <a:lstStyle/>
          <a:p>
            <a:r>
              <a:rPr lang="en-US" sz="3600" b="1" i="0" dirty="0">
                <a:solidFill>
                  <a:srgbClr val="020202"/>
                </a:solidFill>
                <a:effectLst/>
                <a:latin typeface="tirat"/>
              </a:rPr>
              <a:t>Rayleigh Distribution</a:t>
            </a:r>
            <a:br>
              <a:rPr lang="en-US" sz="3600" b="1" i="0" dirty="0">
                <a:solidFill>
                  <a:srgbClr val="020202"/>
                </a:solidFill>
                <a:effectLst/>
                <a:latin typeface="tirat"/>
              </a:rPr>
            </a:br>
            <a:endParaRPr lang="en-US" sz="3600" dirty="0">
              <a:latin typeface="tira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A1CC1-DB53-9B5E-6773-4F5EA6B81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95986"/>
            <a:ext cx="8199664" cy="932814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tirat"/>
              </a:rPr>
              <a:t>The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rat"/>
              </a:rPr>
              <a:t>Rayleigh distribution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rat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tirat"/>
              </a:rPr>
              <a:t>is a continuous probability distribution used to model random variables that can only take on values equal to or greater than zero.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22026-8CCB-9589-088D-13023C1527AA}"/>
              </a:ext>
            </a:extLst>
          </p:cNvPr>
          <p:cNvSpPr txBox="1"/>
          <p:nvPr/>
        </p:nvSpPr>
        <p:spPr>
          <a:xfrm>
            <a:off x="575583" y="1982450"/>
            <a:ext cx="37011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It has the following probability density function:</a:t>
            </a:r>
          </a:p>
          <a:p>
            <a:pPr algn="l" fontAlgn="base"/>
            <a:endParaRPr lang="en-US" sz="2000" b="0" i="0" dirty="0">
              <a:solidFill>
                <a:srgbClr val="3D3D3D"/>
              </a:solidFill>
              <a:effectLst/>
              <a:latin typeface="Lato" panose="020F0502020204030203" pitchFamily="34" charset="0"/>
            </a:endParaRPr>
          </a:p>
          <a:p>
            <a:pPr algn="ctr" fontAlgn="base"/>
            <a:r>
              <a:rPr lang="en-US" sz="2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f(x; σ) = (x/σ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inherit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e</a:t>
            </a:r>
            <a:r>
              <a:rPr lang="en-US" sz="2800" b="0" i="0" baseline="30000" dirty="0">
                <a:solidFill>
                  <a:srgbClr val="000000"/>
                </a:solidFill>
                <a:effectLst/>
                <a:latin typeface="inherit"/>
              </a:rPr>
              <a:t>-x2/(2σ2)</a:t>
            </a:r>
            <a:endParaRPr lang="en-US" sz="2800" b="0" i="0" dirty="0">
              <a:solidFill>
                <a:srgbClr val="3D3D3D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6546C-D8BF-383A-4E8A-608102251FC3}"/>
              </a:ext>
            </a:extLst>
          </p:cNvPr>
          <p:cNvSpPr txBox="1"/>
          <p:nvPr/>
        </p:nvSpPr>
        <p:spPr>
          <a:xfrm>
            <a:off x="575583" y="3543142"/>
            <a:ext cx="34058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σ is the scale parameter of the distribution.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629A4-4A8B-11BC-A830-E613146DEBA3}"/>
              </a:ext>
            </a:extLst>
          </p:cNvPr>
          <p:cNvSpPr txBox="1"/>
          <p:nvPr/>
        </p:nvSpPr>
        <p:spPr>
          <a:xfrm>
            <a:off x="478293" y="4557236"/>
            <a:ext cx="3600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The Rayleigh Distribution has the following properties:</a:t>
            </a:r>
            <a:endParaRPr lang="en-US" b="0" i="0" dirty="0">
              <a:solidFill>
                <a:srgbClr val="3D3D3D"/>
              </a:solidFill>
              <a:effectLst/>
              <a:latin typeface="Lato" panose="020F0502020204030203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Mean: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σ√π/2 = </a:t>
            </a:r>
            <a:r>
              <a:rPr lang="el-G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1.253σ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Variance: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((4-π)/2)σ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inherit"/>
              </a:rPr>
              <a:t>2  </a:t>
            </a:r>
            <a:r>
              <a:rPr lang="en-US" b="0" i="0" dirty="0">
                <a:solidFill>
                  <a:srgbClr val="000000"/>
                </a:solidFill>
                <a:effectLst/>
                <a:latin typeface="inherit"/>
              </a:rPr>
              <a:t>= </a:t>
            </a:r>
            <a:r>
              <a:rPr lang="el-G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0.429σ</a:t>
            </a:r>
            <a:r>
              <a:rPr lang="el-GR" b="0" i="0" baseline="3000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herit"/>
              </a:rPr>
              <a:t>Mode: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σ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</p:txBody>
      </p:sp>
      <p:pic>
        <p:nvPicPr>
          <p:cNvPr id="1028" name="Picture 4" descr="Rayleigh probability distribution">
            <a:extLst>
              <a:ext uri="{FF2B5EF4-FFF2-40B4-BE49-F238E27FC236}">
                <a16:creationId xmlns:a16="http://schemas.microsoft.com/office/drawing/2014/main" id="{04D3641A-1EEA-F00B-CF0F-31E175A8F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794" y="1982450"/>
            <a:ext cx="4436607" cy="399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5E109B-9726-1D52-57FE-71DB8FE9E191}"/>
              </a:ext>
            </a:extLst>
          </p:cNvPr>
          <p:cNvSpPr txBox="1"/>
          <p:nvPr/>
        </p:nvSpPr>
        <p:spPr>
          <a:xfrm>
            <a:off x="3156857" y="6076273"/>
            <a:ext cx="5780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Note that the larger the value for the scale parameter σ, the wider the distribution becomes.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7914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DC9D-DFCE-6223-BB00-C221785E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0160"/>
          </a:xfrm>
        </p:spPr>
        <p:txBody>
          <a:bodyPr>
            <a:normAutofit fontScale="90000"/>
          </a:bodyPr>
          <a:lstStyle/>
          <a:p>
            <a:r>
              <a:rPr lang="en-US" sz="36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Rician distribution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0DDB2-902F-0AD5-50F8-F98B1C9FE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139825"/>
            <a:ext cx="3703864" cy="4351338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Rice or Rician distribution (also known as a </a:t>
            </a:r>
            <a:r>
              <a:rPr lang="en-US" sz="2000" b="0" i="0" dirty="0" err="1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Nakagami</a:t>
            </a:r>
            <a:r>
              <a:rPr lang="en-US" sz="20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 distribution) is one way to model the paths scattered signals take to a receiver.</a:t>
            </a:r>
          </a:p>
          <a:p>
            <a:r>
              <a:rPr lang="en-US" sz="20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 radio waves, microwaves, MRI images in the presence of noise, and satellite transmissions. </a:t>
            </a:r>
          </a:p>
          <a:p>
            <a:r>
              <a:rPr lang="en-US" sz="20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also models </a:t>
            </a:r>
            <a:r>
              <a:rPr lang="en-US" sz="2000" b="1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Rician fading</a:t>
            </a:r>
            <a:r>
              <a:rPr lang="en-US" sz="2000" b="0" i="0" dirty="0">
                <a:solidFill>
                  <a:srgbClr val="5757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way to show how signal cancellations affect radio propagation.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rician distribution rice">
            <a:extLst>
              <a:ext uri="{FF2B5EF4-FFF2-40B4-BE49-F238E27FC236}">
                <a16:creationId xmlns:a16="http://schemas.microsoft.com/office/drawing/2014/main" id="{3F3B5A80-CEE4-2C98-7DA1-A705DFC18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50" y="5005388"/>
            <a:ext cx="3562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DF of the Rician distribution. Image: PAR-commonswiki|Wikimedia Commons.">
            <a:extLst>
              <a:ext uri="{FF2B5EF4-FFF2-40B4-BE49-F238E27FC236}">
                <a16:creationId xmlns:a16="http://schemas.microsoft.com/office/drawing/2014/main" id="{FFA94D37-A21E-1794-8A26-E0002F031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034142"/>
            <a:ext cx="4765088" cy="354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12E100-552F-2151-448E-908154700231}"/>
              </a:ext>
            </a:extLst>
          </p:cNvPr>
          <p:cNvSpPr txBox="1"/>
          <p:nvPr/>
        </p:nvSpPr>
        <p:spPr>
          <a:xfrm>
            <a:off x="4572000" y="566025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575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I0(z) is a modified Bessel function of the first kind with order zero.</a:t>
            </a:r>
          </a:p>
        </p:txBody>
      </p:sp>
    </p:spTree>
    <p:extLst>
      <p:ext uri="{BB962C8B-B14F-4D97-AF65-F5344CB8AC3E}">
        <p14:creationId xmlns:p14="http://schemas.microsoft.com/office/powerpoint/2010/main" val="396072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A605-32EA-6FEF-9C39-507BBBA1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6988"/>
          </a:xfrm>
        </p:spPr>
        <p:txBody>
          <a:bodyPr>
            <a:normAutofit/>
          </a:bodyPr>
          <a:lstStyle/>
          <a:p>
            <a:r>
              <a:rPr lang="en-US" sz="3600" b="0" i="0" dirty="0">
                <a:solidFill>
                  <a:srgbClr val="202124"/>
                </a:solidFill>
                <a:effectLst/>
                <a:latin typeface="Google Sans"/>
              </a:rPr>
              <a:t>Rayleigh and Rician fading channels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378C-0342-BD3C-F1B6-D1782656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51454"/>
            <a:ext cx="7886700" cy="2441575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202124"/>
                </a:solidFill>
                <a:effectLst/>
                <a:latin typeface="Google Sans"/>
              </a:rPr>
              <a:t>Rayleigh and Rician fading channels are </a:t>
            </a:r>
            <a:r>
              <a:rPr lang="en-US" sz="2000" b="0" i="0" dirty="0">
                <a:solidFill>
                  <a:srgbClr val="040C28"/>
                </a:solidFill>
                <a:effectLst/>
                <a:latin typeface="Google Sans"/>
              </a:rPr>
              <a:t>useful models of real-world phenomena in wireless communications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endParaRPr lang="en-US" sz="2000" b="0" i="0" dirty="0">
              <a:solidFill>
                <a:srgbClr val="202124"/>
              </a:solidFill>
              <a:effectLst/>
              <a:latin typeface="Google Sans"/>
            </a:endParaRPr>
          </a:p>
          <a:p>
            <a:r>
              <a:rPr lang="en-US" sz="2000" b="0" i="0" dirty="0">
                <a:solidFill>
                  <a:srgbClr val="202124"/>
                </a:solidFill>
                <a:effectLst/>
                <a:latin typeface="Google Sans"/>
              </a:rPr>
              <a:t>These phenomena include multipath scattering effects, time dispersion, and Doppler shifts that arise from relative motion between the transmitter and receiver.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40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CC45-9509-286F-A01A-4DB96BA5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0697"/>
            <a:ext cx="7886700" cy="952045"/>
          </a:xfrm>
        </p:spPr>
        <p:txBody>
          <a:bodyPr>
            <a:normAutofit/>
          </a:bodyPr>
          <a:lstStyle/>
          <a:p>
            <a:r>
              <a:rPr lang="en-US" sz="3600" b="1" dirty="0"/>
              <a:t>Rayleigh Fading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4663F-ADE1-D4EF-9116-0EB738AEFC4A}"/>
              </a:ext>
            </a:extLst>
          </p:cNvPr>
          <p:cNvSpPr txBox="1"/>
          <p:nvPr/>
        </p:nvSpPr>
        <p:spPr>
          <a:xfrm>
            <a:off x="549728" y="1362232"/>
            <a:ext cx="80445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Rayleigh Distribution  occurs when the envelope of the received signal follows a Rayleigh distribution. </a:t>
            </a:r>
          </a:p>
          <a:p>
            <a:endParaRPr lang="en-US" sz="2000" dirty="0"/>
          </a:p>
          <a:p>
            <a:r>
              <a:rPr lang="en-US" sz="2000" dirty="0"/>
              <a:t>Rayleigh distribution is statistically used to model a faded signal, when there is no dominant LOS path. </a:t>
            </a:r>
          </a:p>
          <a:p>
            <a:endParaRPr lang="en-US" sz="2000" dirty="0"/>
          </a:p>
          <a:p>
            <a:r>
              <a:rPr lang="en-US" sz="2000" dirty="0"/>
              <a:t>The envelope of the received signal with Rayleigh distribution has the probability density function (pdf) given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B6146-43B1-2BE2-BF71-0B37F6289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953572"/>
            <a:ext cx="6139542" cy="1650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530E5-A010-A88D-C570-F84AE770C4C5}"/>
              </a:ext>
            </a:extLst>
          </p:cNvPr>
          <p:cNvSpPr txBox="1"/>
          <p:nvPr/>
        </p:nvSpPr>
        <p:spPr>
          <a:xfrm>
            <a:off x="549728" y="590097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comulative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distribution function 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cdf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) Rayleigh distribution is defined as: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745D19-AB3A-E8FC-248A-3DFD09AEA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63" y="5576106"/>
            <a:ext cx="4051139" cy="105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5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F0A0-8D2E-1E0F-A1C9-7F558CFD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-3263"/>
            <a:ext cx="7886700" cy="1200330"/>
          </a:xfrm>
        </p:spPr>
        <p:txBody>
          <a:bodyPr>
            <a:normAutofit/>
          </a:bodyPr>
          <a:lstStyle/>
          <a:p>
            <a:r>
              <a:rPr lang="en-US" sz="3600" b="1" dirty="0"/>
              <a:t>Rician Fading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45F1D-2362-F49C-7571-C171E029C6A5}"/>
              </a:ext>
            </a:extLst>
          </p:cNvPr>
          <p:cNvSpPr txBox="1"/>
          <p:nvPr/>
        </p:nvSpPr>
        <p:spPr>
          <a:xfrm>
            <a:off x="541564" y="1232518"/>
            <a:ext cx="7886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Rician distribution which also occurs as a result of multipath propagation is statistically used to model a distribution when a strong line of sight component is present along with the weaker components. It has the probability density function (pdf) given by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ADF32-AD02-2CDB-414A-A20C7C75C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76" y="2434700"/>
            <a:ext cx="6467475" cy="1971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09EC6D-5A2E-5E5B-BCAF-B60B393B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468" y="4659230"/>
            <a:ext cx="2421460" cy="7256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501D60-EC51-A6AA-DAFC-4084048D9A38}"/>
              </a:ext>
            </a:extLst>
          </p:cNvPr>
          <p:cNvSpPr txBox="1"/>
          <p:nvPr/>
        </p:nvSpPr>
        <p:spPr>
          <a:xfrm>
            <a:off x="628648" y="4611858"/>
            <a:ext cx="4796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Rician distribution is often described in terms of a parameter, k, is known as the Rician factor and is expressed by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E2587-028F-366C-1EE9-6AB9FF822950}"/>
              </a:ext>
            </a:extLst>
          </p:cNvPr>
          <p:cNvSpPr txBox="1"/>
          <p:nvPr/>
        </p:nvSpPr>
        <p:spPr>
          <a:xfrm>
            <a:off x="628648" y="5637707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s approaches 0, k approaches ∞ dB and as the dominant path decreases in amplitude, the Rician distribution degenerates to a Rayleigh distribution</a:t>
            </a:r>
          </a:p>
        </p:txBody>
      </p:sp>
    </p:spTree>
    <p:extLst>
      <p:ext uri="{BB962C8B-B14F-4D97-AF65-F5344CB8AC3E}">
        <p14:creationId xmlns:p14="http://schemas.microsoft.com/office/powerpoint/2010/main" val="130272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E0742-2D9A-831E-B4BD-9CDDA958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Comparison</a:t>
            </a:r>
            <a:b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F4BE3A-5DC7-BCF4-3862-29ECDC7C9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61" y="1074728"/>
            <a:ext cx="8022077" cy="553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3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39BB-C2BA-B1FC-475A-A0DDCDFF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6772"/>
            <a:ext cx="7886700" cy="1081286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for Rayleigh and Rician fading channels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BF15CF-9325-603F-66CB-54938BDC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671" y="1496134"/>
            <a:ext cx="6128657" cy="500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678-31C1-4A2D-5B2C-2D1F090A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214311"/>
            <a:ext cx="7886700" cy="1325563"/>
          </a:xfrm>
        </p:spPr>
        <p:txBody>
          <a:bodyPr>
            <a:noAutofit/>
          </a:bodyPr>
          <a:lstStyle/>
          <a:p>
            <a:r>
              <a:rPr lang="en-US" sz="3600" b="0" i="0" u="none" strike="noStrike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 performance of BPSK in Rician, Rayleigh, and AWGN fading channels</a:t>
            </a:r>
            <a:br>
              <a:rPr lang="en-US" sz="3600" b="0" i="0" u="none" strike="noStrike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BER performance of BPSK in Rician, Rayleigh, and AWGN fading channels |  Download Scientific Diagram">
            <a:extLst>
              <a:ext uri="{FF2B5EF4-FFF2-40B4-BE49-F238E27FC236}">
                <a16:creationId xmlns:a16="http://schemas.microsoft.com/office/drawing/2014/main" id="{E3DA5567-9B89-4394-6559-0CEFC346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17" y="1343931"/>
            <a:ext cx="619125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2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12B0-ACC5-DD95-D270-B707D84C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07" y="343356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Example-1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169712-604A-4EB2-BA91-E245DD0C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14" y="892630"/>
            <a:ext cx="8479971" cy="1842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E546A-DB59-EA16-B3B9-517448CB7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78" y="2901431"/>
            <a:ext cx="7522029" cy="345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5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31E2-2AC2-3EAF-4289-93213B68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7990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E6F025-B90D-4DE0-8B73-75EA01D90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2" y="1513838"/>
            <a:ext cx="8515350" cy="383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E9BF-5246-DB71-71D0-851EA106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4751"/>
            <a:ext cx="7886700" cy="73433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6EAE86-F3BE-4A1D-3D89-BB366F0B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7" y="761994"/>
            <a:ext cx="8196943" cy="3574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0F542B-1D22-D96D-BAA7-8201FB141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1" y="4365453"/>
            <a:ext cx="8365673" cy="237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4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36BFB1-0651-BAB3-E454-D0D51C29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21" y="653616"/>
            <a:ext cx="8077200" cy="2958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8AD5DE-9766-3F42-8900-612859BC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3873061"/>
            <a:ext cx="7248525" cy="195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6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951E-587A-E62A-366D-453154FF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B4E0F-E9FD-53A0-A17A-486771BA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wireless signal is received via two paths. The main path has a delay of 1.2 </a:t>
            </a:r>
            <a:r>
              <a:rPr lang="en-US" dirty="0" err="1"/>
              <a:t>μs</a:t>
            </a:r>
            <a:r>
              <a:rPr lang="en-US" dirty="0"/>
              <a:t>, and a reflected path has a delay of 2.0 </a:t>
            </a:r>
            <a:r>
              <a:rPr lang="en-US" dirty="0" err="1"/>
              <a:t>μs</a:t>
            </a:r>
            <a:r>
              <a:rPr lang="en-US" dirty="0"/>
              <a:t>. The RMS Delay Spread (σ</a:t>
            </a:r>
            <a:r>
              <a:rPr lang="en-US" baseline="-25000" dirty="0"/>
              <a:t>τ</a:t>
            </a:r>
            <a:r>
              <a:rPr lang="en-US" dirty="0"/>
              <a:t>) is approximately equal to the delay difference in this simple case.</a:t>
            </a:r>
            <a:br>
              <a:rPr lang="en-US" dirty="0"/>
            </a:br>
            <a:r>
              <a:rPr lang="en-US" dirty="0"/>
              <a:t>a) What is the approximate RMS Delay Spread?</a:t>
            </a:r>
            <a:br>
              <a:rPr lang="en-US" dirty="0"/>
            </a:br>
            <a:r>
              <a:rPr lang="en-US" dirty="0"/>
              <a:t>b) Calculate the Coherence Bandwidth (Bc) for a correlation of 0.9.</a:t>
            </a:r>
            <a:br>
              <a:rPr lang="en-US" dirty="0"/>
            </a:br>
            <a:r>
              <a:rPr lang="en-US" dirty="0"/>
              <a:t>c) Is the channel "flat" or "frequency selective" for a signal bandwidth of 500 kHz?</a:t>
            </a:r>
          </a:p>
        </p:txBody>
      </p:sp>
    </p:spTree>
    <p:extLst>
      <p:ext uri="{BB962C8B-B14F-4D97-AF65-F5344CB8AC3E}">
        <p14:creationId xmlns:p14="http://schemas.microsoft.com/office/powerpoint/2010/main" val="3854623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2C2B-9C7E-B631-FA30-762FA96E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94DC6-7648-0A3F-0618-3D84728945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b="1" dirty="0"/>
                  <a:t>Solution:</a:t>
                </a:r>
                <a:br>
                  <a:rPr lang="en-US" dirty="0"/>
                </a:br>
                <a:r>
                  <a:rPr lang="en-US" dirty="0"/>
                  <a:t>a) </a:t>
                </a:r>
                <a:r>
                  <a:rPr lang="en-US" b="1" dirty="0"/>
                  <a:t>RMS Delay Spread (</a:t>
                </a:r>
                <a:r>
                  <a:rPr lang="el-GR" b="1" dirty="0"/>
                  <a:t>σ_τ):</a:t>
                </a:r>
                <a:endParaRPr lang="el-G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𝜎</m:t>
                        </m:r>
                      </m:e>
                      <m:sub>
                        <m:r>
                          <a:rPr lang="ar-SA" i="1"/>
                          <m:t>𝜏</m:t>
                        </m:r>
                      </m:sub>
                    </m:sSub>
                    <m:r>
                      <a:rPr lang="ar-SA"/>
                      <m:t>≈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r>
                          <a:rPr lang="ar-SA" i="1"/>
                          <m:t>𝜏</m:t>
                        </m:r>
                      </m:e>
                      <m:sub>
                        <m:r>
                          <a:rPr lang="ar-SA"/>
                          <m:t>2</m:t>
                        </m:r>
                      </m:sub>
                    </m:sSub>
                    <m:r>
                      <a:rPr lang="ar-SA"/>
                      <m:t>−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r>
                          <a:rPr lang="ar-SA" i="1"/>
                          <m:t>𝜏</m:t>
                        </m:r>
                      </m:e>
                      <m:sub>
                        <m:r>
                          <a:rPr lang="ar-SA"/>
                          <m:t>1</m:t>
                        </m:r>
                      </m:sub>
                    </m:sSub>
                    <m:r>
                      <a:rPr lang="ar-SA"/>
                      <m:t>=</m:t>
                    </m:r>
                    <m:r>
                      <a:rPr lang="ar-SA"/>
                      <m:t>2</m:t>
                    </m:r>
                    <m:r>
                      <a:rPr lang="ar-SA"/>
                      <m:t>.</m:t>
                    </m:r>
                    <m:r>
                      <a:rPr lang="ar-SA"/>
                      <m:t>0</m:t>
                    </m:r>
                    <m:r>
                      <a:rPr lang="ar-SA" i="1"/>
                      <m:t>𝜇</m:t>
                    </m:r>
                    <m:r>
                      <a:rPr lang="ar-SA" i="1"/>
                      <m:t>𝑠</m:t>
                    </m:r>
                    <m:r>
                      <a:rPr lang="ar-SA"/>
                      <m:t>−</m:t>
                    </m:r>
                    <m:r>
                      <a:rPr lang="ar-SA"/>
                      <m:t>1</m:t>
                    </m:r>
                    <m:r>
                      <a:rPr lang="ar-SA"/>
                      <m:t>.</m:t>
                    </m:r>
                    <m:r>
                      <a:rPr lang="ar-SA"/>
                      <m:t>2</m:t>
                    </m:r>
                    <m:r>
                      <a:rPr lang="ar-SA" i="1"/>
                      <m:t>𝜇</m:t>
                    </m:r>
                    <m:r>
                      <a:rPr lang="ar-SA" i="1"/>
                      <m:t>𝑠</m:t>
                    </m:r>
                    <m:r>
                      <a:rPr lang="ar-SA"/>
                      <m:t>=</m:t>
                    </m:r>
                    <m:r>
                      <a:rPr lang="ar-SA"/>
                      <m:t>0</m:t>
                    </m:r>
                    <m:r>
                      <a:rPr lang="ar-SA"/>
                      <m:t>.</m:t>
                    </m:r>
                    <m:r>
                      <a:rPr lang="ar-SA"/>
                      <m:t>8</m:t>
                    </m:r>
                    <m:r>
                      <a:rPr lang="ar-SA" i="1"/>
                      <m:t>𝜇</m:t>
                    </m:r>
                    <m:r>
                      <a:rPr lang="ar-SA" i="1"/>
                      <m:t>𝑠</m:t>
                    </m:r>
                  </m:oMath>
                </a14:m>
                <a:endParaRPr lang="ar-SA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SA"/>
                        </m:ctrlPr>
                      </m:borderBoxPr>
                      <m:e>
                        <m:sSub>
                          <m:sSubPr>
                            <m:ctrlPr>
                              <a:rPr lang="ar-SA"/>
                            </m:ctrlPr>
                          </m:sSubPr>
                          <m:e>
                            <m:r>
                              <a:rPr lang="ar-SA" i="1"/>
                              <m:t>𝜎</m:t>
                            </m:r>
                          </m:e>
                          <m:sub>
                            <m:r>
                              <a:rPr lang="ar-SA" i="1"/>
                              <m:t>𝜏</m:t>
                            </m:r>
                          </m:sub>
                        </m:sSub>
                        <m:r>
                          <a:rPr lang="ar-SA"/>
                          <m:t>=</m:t>
                        </m:r>
                        <m:r>
                          <a:rPr lang="ar-SA"/>
                          <m:t>0</m:t>
                        </m:r>
                        <m:r>
                          <a:rPr lang="ar-SA"/>
                          <m:t>.</m:t>
                        </m:r>
                        <m:r>
                          <a:rPr lang="ar-SA"/>
                          <m:t>8</m:t>
                        </m:r>
                        <m:r>
                          <m:rPr>
                            <m:nor/>
                          </m:rPr>
                          <a:rPr lang="ar-SA" i="1"/>
                          <m:t> </m:t>
                        </m:r>
                        <m:r>
                          <a:rPr lang="ar-SA" i="1"/>
                          <m:t>𝜇</m:t>
                        </m:r>
                        <m:r>
                          <a:rPr lang="ar-SA" i="1"/>
                          <m:t>𝑠</m:t>
                        </m:r>
                      </m:e>
                    </m:borderBox>
                  </m:oMath>
                </a14:m>
                <a:endParaRPr lang="ar-SA" b="0" dirty="0"/>
              </a:p>
              <a:p>
                <a:r>
                  <a:rPr lang="en-US" dirty="0"/>
                  <a:t>b) </a:t>
                </a:r>
                <a:r>
                  <a:rPr lang="en-US" b="1" dirty="0"/>
                  <a:t>Coherence Bandwidth (</a:t>
                </a:r>
                <a:r>
                  <a:rPr lang="en-US" b="1" dirty="0" err="1"/>
                  <a:t>B_c</a:t>
                </a:r>
                <a:r>
                  <a:rPr lang="en-US" b="1" dirty="0"/>
                  <a:t>):</a:t>
                </a:r>
                <a:br>
                  <a:rPr lang="en-US" dirty="0"/>
                </a:br>
                <a:r>
                  <a:rPr lang="en-US" dirty="0"/>
                  <a:t>The formula is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𝐵</m:t>
                        </m:r>
                      </m:e>
                      <m:sub>
                        <m:r>
                          <a:rPr lang="ar-SA" i="1"/>
                          <m:t>𝑐</m:t>
                        </m:r>
                      </m:sub>
                    </m:sSub>
                    <m:r>
                      <a:rPr lang="ar-SA"/>
                      <m:t>≈</m:t>
                    </m:r>
                    <m:f>
                      <m:fPr>
                        <m:ctrlPr>
                          <a:rPr lang="ar-SA" i="1"/>
                        </m:ctrlPr>
                      </m:fPr>
                      <m:num>
                        <m:r>
                          <a:rPr lang="ar-SA"/>
                          <m:t>1</m:t>
                        </m:r>
                      </m:num>
                      <m:den>
                        <m:r>
                          <a:rPr lang="ar-SA" i="1"/>
                          <m:t>𝑘</m:t>
                        </m:r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𝜎</m:t>
                            </m:r>
                          </m:e>
                          <m:sub>
                            <m:r>
                              <a:rPr lang="ar-SA" i="1"/>
                              <m:t>𝜏</m:t>
                            </m:r>
                          </m:sub>
                        </m:sSub>
                      </m:den>
                    </m:f>
                  </m:oMath>
                </a14:m>
                <a:r>
                  <a:rPr lang="ar-SA" dirty="0"/>
                  <a:t>, </a:t>
                </a:r>
                <a:r>
                  <a:rPr lang="en-US" dirty="0"/>
                  <a:t>where k is a constant dependent on the correlation value. For a correlation of 0.9, k is often taken as 50.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𝐵</m:t>
                        </m:r>
                      </m:e>
                      <m:sub>
                        <m:r>
                          <a:rPr lang="ar-SA" i="1"/>
                          <m:t>𝑐</m:t>
                        </m:r>
                      </m:sub>
                    </m:sSub>
                    <m:r>
                      <a:rPr lang="ar-SA"/>
                      <m:t>≈</m:t>
                    </m:r>
                    <m:f>
                      <m:fPr>
                        <m:ctrlPr>
                          <a:rPr lang="ar-SA" i="1"/>
                        </m:ctrlPr>
                      </m:fPr>
                      <m:num>
                        <m:r>
                          <a:rPr lang="ar-SA"/>
                          <m:t>1</m:t>
                        </m:r>
                      </m:num>
                      <m:den>
                        <m:r>
                          <a:rPr lang="ar-SA"/>
                          <m:t>50</m:t>
                        </m:r>
                        <m:r>
                          <a:rPr lang="ar-SA"/>
                          <m:t>×</m:t>
                        </m:r>
                        <m:r>
                          <a:rPr lang="ar-SA"/>
                          <m:t>0</m:t>
                        </m:r>
                        <m:r>
                          <a:rPr lang="ar-SA"/>
                          <m:t>.</m:t>
                        </m:r>
                        <m:r>
                          <a:rPr lang="ar-SA"/>
                          <m:t>8</m:t>
                        </m:r>
                        <m:r>
                          <a:rPr lang="ar-SA"/>
                          <m:t>×</m:t>
                        </m:r>
                        <m:sSup>
                          <m:sSupPr>
                            <m:ctrlPr>
                              <a:rPr lang="ar-SA" i="1"/>
                            </m:ctrlPr>
                          </m:sSupPr>
                          <m:e>
                            <m:r>
                              <a:rPr lang="ar-SA"/>
                              <m:t>10</m:t>
                            </m:r>
                          </m:e>
                          <m:sup>
                            <m:r>
                              <a:rPr lang="ar-SA"/>
                              <m:t>−</m:t>
                            </m:r>
                            <m:r>
                              <a:rPr lang="ar-SA"/>
                              <m:t>6</m:t>
                            </m:r>
                          </m:sup>
                        </m:sSup>
                      </m:den>
                    </m:f>
                    <m:r>
                      <a:rPr lang="ar-SA"/>
                      <m:t>=</m:t>
                    </m:r>
                    <m:f>
                      <m:fPr>
                        <m:ctrlPr>
                          <a:rPr lang="ar-SA" i="1"/>
                        </m:ctrlPr>
                      </m:fPr>
                      <m:num>
                        <m:r>
                          <a:rPr lang="ar-SA"/>
                          <m:t>1</m:t>
                        </m:r>
                      </m:num>
                      <m:den>
                        <m:r>
                          <a:rPr lang="ar-SA"/>
                          <m:t>40</m:t>
                        </m:r>
                        <m:r>
                          <a:rPr lang="ar-SA"/>
                          <m:t>×</m:t>
                        </m:r>
                        <m:sSup>
                          <m:sSupPr>
                            <m:ctrlPr>
                              <a:rPr lang="ar-SA" i="1"/>
                            </m:ctrlPr>
                          </m:sSupPr>
                          <m:e>
                            <m:r>
                              <a:rPr lang="ar-SA"/>
                              <m:t>10</m:t>
                            </m:r>
                          </m:e>
                          <m:sup>
                            <m:r>
                              <a:rPr lang="ar-SA"/>
                              <m:t>−</m:t>
                            </m:r>
                            <m:r>
                              <a:rPr lang="ar-SA"/>
                              <m:t>6</m:t>
                            </m:r>
                          </m:sup>
                        </m:sSup>
                      </m:den>
                    </m:f>
                    <m:r>
                      <a:rPr lang="ar-SA"/>
                      <m:t>=</m:t>
                    </m:r>
                    <m:r>
                      <a:rPr lang="ar-SA"/>
                      <m:t>25</m:t>
                    </m:r>
                    <m:r>
                      <a:rPr lang="ar-SA"/>
                      <m:t>,</m:t>
                    </m:r>
                    <m:r>
                      <a:rPr lang="ar-SA"/>
                      <m:t>000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Hz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SA"/>
                        </m:ctrlPr>
                      </m:borderBoxPr>
                      <m:e>
                        <m:sSub>
                          <m:sSubPr>
                            <m:ctrlPr>
                              <a:rPr lang="ar-SA"/>
                            </m:ctrlPr>
                          </m:sSubPr>
                          <m:e>
                            <m:r>
                              <a:rPr lang="ar-SA" i="1"/>
                              <m:t>𝐵</m:t>
                            </m:r>
                          </m:e>
                          <m:sub>
                            <m:r>
                              <a:rPr lang="ar-SA" i="1"/>
                              <m:t>𝑐</m:t>
                            </m:r>
                          </m:sub>
                        </m:sSub>
                        <m:r>
                          <a:rPr lang="ar-SA"/>
                          <m:t>=</m:t>
                        </m:r>
                        <m:r>
                          <a:rPr lang="ar-SA"/>
                          <m:t>25</m:t>
                        </m:r>
                        <m:r>
                          <m:rPr>
                            <m:nor/>
                          </m:rPr>
                          <a:rPr lang="ar-SA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kHz</m:t>
                        </m:r>
                      </m:e>
                    </m:borderBox>
                  </m:oMath>
                </a14:m>
                <a:endParaRPr lang="ar-SA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94DC6-7648-0A3F-0618-3D84728945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553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4339-08B6-B424-7239-6A34A883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 </a:t>
            </a:r>
            <a:r>
              <a:rPr lang="en-US" b="1" dirty="0"/>
              <a:t>Channel Classification: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83CC2-35CB-4566-A5D5-3BD700C16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Signal Bandwidth,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Coherence Bandwidth,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Since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SA" dirty="0"/>
                  <a:t> (500 </a:t>
                </a:r>
                <a:r>
                  <a:rPr lang="en-US" dirty="0"/>
                  <a:t>kHz &gt;&gt; 25 kHz), the channel is </a:t>
                </a:r>
                <a:r>
                  <a:rPr lang="en-US" b="1" dirty="0"/>
                  <a:t>frequency selective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Different frequency components of the signal will experience independent fading.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83CC2-35CB-4566-A5D5-3BD700C16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908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1333-DE94-6CEA-9513-97DCE447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Example-4 :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AD497E-7FF7-7208-DA47-9E17C6BB8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980"/>
              </p:ext>
            </p:extLst>
          </p:nvPr>
        </p:nvGraphicFramePr>
        <p:xfrm>
          <a:off x="1913166" y="1714500"/>
          <a:ext cx="4335235" cy="1795020"/>
        </p:xfrm>
        <a:graphic>
          <a:graphicData uri="http://schemas.openxmlformats.org/drawingml/2006/table">
            <a:tbl>
              <a:tblPr/>
              <a:tblGrid>
                <a:gridCol w="1401617">
                  <a:extLst>
                    <a:ext uri="{9D8B030D-6E8A-4147-A177-3AD203B41FA5}">
                      <a16:colId xmlns:a16="http://schemas.microsoft.com/office/drawing/2014/main" val="4154865784"/>
                    </a:ext>
                  </a:extLst>
                </a:gridCol>
                <a:gridCol w="1466809">
                  <a:extLst>
                    <a:ext uri="{9D8B030D-6E8A-4147-A177-3AD203B41FA5}">
                      <a16:colId xmlns:a16="http://schemas.microsoft.com/office/drawing/2014/main" val="2970765201"/>
                    </a:ext>
                  </a:extLst>
                </a:gridCol>
                <a:gridCol w="1466809">
                  <a:extLst>
                    <a:ext uri="{9D8B030D-6E8A-4147-A177-3AD203B41FA5}">
                      <a16:colId xmlns:a16="http://schemas.microsoft.com/office/drawing/2014/main" val="663566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Path Number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  <a:latin typeface="quote-cjk-patch"/>
                        </a:rPr>
                        <a:t>Delay (</a:t>
                      </a:r>
                      <a:r>
                        <a:rPr lang="el-GR" sz="2400" b="1" dirty="0">
                          <a:effectLst/>
                          <a:latin typeface="quote-cjk-patch"/>
                        </a:rPr>
                        <a:t>μ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s)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Power (W)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25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0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0.5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0.3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  <a:latin typeface="quote-cjk-patch"/>
                        </a:rPr>
                        <a:t>0.2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4225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640ABF-3C76-6531-B5E7-C491D2558FC0}"/>
              </a:ext>
            </a:extLst>
          </p:cNvPr>
          <p:cNvSpPr txBox="1"/>
          <p:nvPr/>
        </p:nvSpPr>
        <p:spPr>
          <a:xfrm>
            <a:off x="3668486" y="704741"/>
            <a:ext cx="4874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A channel has a power delay profile (PDP) with three paths: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6C81D-3592-4670-F665-17B7F5D82683}"/>
                  </a:ext>
                </a:extLst>
              </p:cNvPr>
              <p:cNvSpPr txBox="1"/>
              <p:nvPr/>
            </p:nvSpPr>
            <p:spPr>
              <a:xfrm>
                <a:off x="628650" y="3626758"/>
                <a:ext cx="8199664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buAutoNum type="alphaLcParenR"/>
                </a:pPr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Calculate the Mean Excess Delay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SA" sz="28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).</a:t>
                </a:r>
              </a:p>
              <a:p>
                <a:br>
                  <a:rPr lang="en-US" sz="2800" dirty="0"/>
                </a:br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b) Calculate the RMS Delay Spread (σ).</a:t>
                </a:r>
              </a:p>
              <a:p>
                <a:br>
                  <a:rPr lang="en-US" sz="2800" dirty="0"/>
                </a:br>
                <a:r>
                  <a:rPr lang="en-US" sz="28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c) Calculate the Coherence Bandwidth for a correlation of 0.5.</a:t>
                </a:r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6C81D-3592-4670-F665-17B7F5D82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626758"/>
                <a:ext cx="8199664" cy="2677656"/>
              </a:xfrm>
              <a:prstGeom prst="rect">
                <a:avLst/>
              </a:prstGeom>
              <a:blipFill>
                <a:blip r:embed="rId2"/>
                <a:stretch>
                  <a:fillRect l="-1561" t="-2506" r="-1115" b="-5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83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C63D-53CB-A02D-3C3F-CADAD29A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ACDA0-503B-239A-3DBC-F247F5365C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0714"/>
                <a:ext cx="7886700" cy="513215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P</a:t>
                </a:r>
                <a:r>
                  <a:rPr lang="en-US" b="1" baseline="-25000" dirty="0"/>
                  <a:t>T</a:t>
                </a:r>
                <a:r>
                  <a:rPr lang="en-US" b="1" dirty="0"/>
                  <a:t>​</a:t>
                </a:r>
                <a:r>
                  <a:rPr lang="en-US" dirty="0"/>
                  <a:t>=0.5+0.3+0.2=1.0 W.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 </a:t>
                </a:r>
                <a:r>
                  <a:rPr lang="en-US" b="1" dirty="0">
                    <a:effectLst/>
                  </a:rPr>
                  <a:t>Mean Excess Delay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ar-SA" b="1" i="1">
                            <a:latin typeface="Cambria Math" panose="02040503050406030204" pitchFamily="18" charset="0"/>
                          </a:rPr>
                          <m:t>𝝉</m:t>
                        </m:r>
                      </m:sub>
                    </m:sSub>
                  </m:oMath>
                </a14:m>
                <a:r>
                  <a:rPr lang="el-GR" b="1" dirty="0">
                    <a:effectLst/>
                  </a:rPr>
                  <a:t>):</a:t>
                </a:r>
                <a:endParaRPr lang="en-US" b="1" dirty="0">
                  <a:effectLst/>
                </a:endParaRPr>
              </a:p>
              <a:p>
                <a:pPr marL="0" indent="0">
                  <a:buNone/>
                </a:pPr>
                <a:br>
                  <a:rPr lang="el-GR" dirty="0">
                    <a:effectLst/>
                  </a:rPr>
                </a:br>
                <a:r>
                  <a:rPr lang="en-US" dirty="0">
                    <a:effectLst/>
                  </a:rPr>
                  <a:t>This is the power-weighted average delay.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/>
                          </m:ctrlPr>
                        </m:sSubPr>
                        <m:e>
                          <m:r>
                            <a:rPr lang="ar-SA" i="1"/>
                            <m:t>𝜇</m:t>
                          </m:r>
                        </m:e>
                        <m:sub>
                          <m:r>
                            <a:rPr lang="ar-SA" i="1"/>
                            <m:t>𝜏</m:t>
                          </m:r>
                        </m:sub>
                      </m:sSub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SA" i="1"/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ar-SA" i="1"/>
                                  </m:ctrlPr>
                                </m:sSubPr>
                                <m:e>
                                  <m:r>
                                    <a:rPr lang="ar-SA" i="1"/>
                                    <m:t>𝑃</m:t>
                                  </m:r>
                                </m:e>
                                <m:sub>
                                  <m:r>
                                    <a:rPr lang="ar-SA" i="1"/>
                                    <m:t>𝑘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ar-SA" i="1"/>
                              </m:ctrlPr>
                            </m:sSubPr>
                            <m:e>
                              <m:r>
                                <a:rPr lang="ar-SA" i="1"/>
                                <m:t>𝜏</m:t>
                              </m:r>
                            </m:e>
                            <m:sub>
                              <m:r>
                                <a:rPr lang="ar-SA" i="1"/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SA" i="1"/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ar-SA" i="1"/>
                                  </m:ctrlPr>
                                </m:sSubPr>
                                <m:e>
                                  <m:r>
                                    <a:rPr lang="ar-SA" i="1"/>
                                    <m:t>𝑃</m:t>
                                  </m:r>
                                </m:e>
                                <m:sub>
                                  <m:r>
                                    <a:rPr lang="ar-SA" i="1"/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0</m:t>
                              </m:r>
                              <m:r>
                                <a:rPr lang="ar-SA"/>
                                <m:t>.</m:t>
                              </m:r>
                              <m:r>
                                <a:rPr lang="ar-SA"/>
                                <m:t>5</m:t>
                              </m:r>
                            </m:e>
                          </m:d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0</m:t>
                              </m:r>
                            </m:e>
                          </m:d>
                          <m:r>
                            <a:rPr lang="ar-SA"/>
                            <m:t>+</m:t>
                          </m:r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0</m:t>
                              </m:r>
                              <m:r>
                                <a:rPr lang="ar-SA"/>
                                <m:t>.</m:t>
                              </m:r>
                              <m:r>
                                <a:rPr lang="ar-SA"/>
                                <m:t>3</m:t>
                              </m:r>
                            </m:e>
                          </m:d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1</m:t>
                              </m:r>
                            </m:e>
                          </m:d>
                          <m:r>
                            <a:rPr lang="ar-SA"/>
                            <m:t>+</m:t>
                          </m:r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0</m:t>
                              </m:r>
                              <m:r>
                                <a:rPr lang="ar-SA"/>
                                <m:t>.</m:t>
                              </m:r>
                              <m:r>
                                <a:rPr lang="ar-SA"/>
                                <m:t>2</m:t>
                              </m:r>
                            </m:e>
                          </m:d>
                          <m:d>
                            <m:dPr>
                              <m:ctrlPr>
                                <a:rPr lang="ar-SA" i="1"/>
                              </m:ctrlPr>
                            </m:dPr>
                            <m:e>
                              <m:r>
                                <a:rPr lang="ar-SA"/>
                                <m:t>3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0</m:t>
                          </m:r>
                          <m:r>
                            <a:rPr lang="ar-SA"/>
                            <m:t>+</m:t>
                          </m:r>
                          <m:r>
                            <a:rPr lang="ar-SA"/>
                            <m:t>0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3</m:t>
                          </m:r>
                          <m:r>
                            <a:rPr lang="ar-SA"/>
                            <m:t>+</m:t>
                          </m:r>
                          <m:r>
                            <a:rPr lang="ar-SA"/>
                            <m:t>0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6</m:t>
                          </m:r>
                        </m:num>
                        <m:den>
                          <m:r>
                            <a:rPr lang="ar-SA"/>
                            <m:t>1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0</m:t>
                          </m:r>
                        </m:den>
                      </m:f>
                      <m:r>
                        <a:rPr lang="ar-SA"/>
                        <m:t>=</m:t>
                      </m:r>
                      <m:r>
                        <a:rPr lang="ar-SA"/>
                        <m:t>0</m:t>
                      </m:r>
                      <m:r>
                        <a:rPr lang="ar-SA"/>
                        <m:t>.</m:t>
                      </m:r>
                      <m:r>
                        <a:rPr lang="ar-SA"/>
                        <m:t>9</m:t>
                      </m:r>
                      <m:r>
                        <m:rPr>
                          <m:nor/>
                        </m:rPr>
                        <a:rPr lang="ar-SA" i="1"/>
                        <m:t> </m:t>
                      </m:r>
                      <m:r>
                        <a:rPr lang="ar-SA" i="1"/>
                        <m:t>𝜇</m:t>
                      </m:r>
                      <m:r>
                        <a:rPr lang="ar-SA" i="1"/>
                        <m:t>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ar-S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SA"/>
                          </m:ctrlPr>
                        </m:borderBoxPr>
                        <m:e>
                          <m:sSub>
                            <m:sSubPr>
                              <m:ctrlPr>
                                <a:rPr lang="ar-SA"/>
                              </m:ctrlPr>
                            </m:sSubPr>
                            <m:e>
                              <m:r>
                                <a:rPr lang="ar-SA" i="1"/>
                                <m:t>𝜇</m:t>
                              </m:r>
                            </m:e>
                            <m:sub>
                              <m:r>
                                <a:rPr lang="ar-SA" i="1"/>
                                <m:t>𝜏</m:t>
                              </m:r>
                            </m:sub>
                          </m:sSub>
                          <m:r>
                            <a:rPr lang="ar-SA"/>
                            <m:t>=</m:t>
                          </m:r>
                          <m:r>
                            <a:rPr lang="ar-SA"/>
                            <m:t>0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9</m:t>
                          </m:r>
                          <m:r>
                            <m:rPr>
                              <m:nor/>
                            </m:rPr>
                            <a:rPr lang="ar-SA" i="1"/>
                            <m:t> </m:t>
                          </m:r>
                          <m:r>
                            <a:rPr lang="ar-SA" i="1"/>
                            <m:t>𝜇</m:t>
                          </m:r>
                          <m:r>
                            <a:rPr lang="ar-SA" i="1"/>
                            <m:t>𝑠</m:t>
                          </m:r>
                        </m:e>
                      </m:borderBox>
                    </m:oMath>
                  </m:oMathPara>
                </a14:m>
                <a:br>
                  <a:rPr lang="ar-SA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ACDA0-503B-239A-3DBC-F247F5365C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0714"/>
                <a:ext cx="7886700" cy="5132159"/>
              </a:xfrm>
              <a:blipFill>
                <a:blip r:embed="rId2"/>
                <a:stretch>
                  <a:fillRect l="-1391" t="-2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18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A41A-7D1C-EB0C-1E89-379AC226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1674"/>
          </a:xfrm>
        </p:spPr>
        <p:txBody>
          <a:bodyPr/>
          <a:lstStyle/>
          <a:p>
            <a:r>
              <a:rPr lang="en-US" dirty="0"/>
              <a:t>b) </a:t>
            </a:r>
            <a:r>
              <a:rPr lang="en-US" b="1" dirty="0"/>
              <a:t>RMS Delay Spread (</a:t>
            </a:r>
            <a:r>
              <a:rPr lang="el-GR" b="1" dirty="0"/>
              <a:t>σ</a:t>
            </a:r>
            <a:r>
              <a:rPr lang="el-GR" b="1" baseline="-25000" dirty="0"/>
              <a:t>τ</a:t>
            </a:r>
            <a:r>
              <a:rPr lang="el-GR" b="1" dirty="0"/>
              <a:t>):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42AFFC-F6AA-9712-75F0-745BA843A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393" y="1066801"/>
                <a:ext cx="78867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br>
                  <a:rPr lang="el-GR" sz="2000" dirty="0">
                    <a:effectLst/>
                  </a:rPr>
                </a:br>
                <a:r>
                  <a:rPr lang="en-US" sz="2000" dirty="0">
                    <a:effectLst/>
                  </a:rPr>
                  <a:t>This is the standard deviation of the delay.</a:t>
                </a:r>
              </a:p>
              <a:p>
                <a:pPr marL="0" indent="0">
                  <a:buNone/>
                </a:pPr>
                <a:endParaRPr lang="en-US" sz="2000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2000"/>
                          </m:ctrlPr>
                        </m:sSubPr>
                        <m:e>
                          <m:r>
                            <a:rPr lang="ar-SA" sz="2000" i="1"/>
                            <m:t>𝜎</m:t>
                          </m:r>
                        </m:e>
                        <m:sub>
                          <m:r>
                            <a:rPr lang="ar-SA" sz="2000" i="1"/>
                            <m:t>𝜏</m:t>
                          </m:r>
                        </m:sub>
                      </m:sSub>
                      <m:r>
                        <a:rPr lang="ar-SA" sz="2000"/>
                        <m:t>=</m:t>
                      </m:r>
                      <m:rad>
                        <m:radPr>
                          <m:degHide m:val="on"/>
                          <m:ctrlPr>
                            <a:rPr lang="ar-SA" sz="2000" i="1"/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SA" sz="2000" i="1"/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SA" sz="2000" i="1"/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ar-SA" sz="2000" i="1"/>
                                      </m:ctrlPr>
                                    </m:sSubPr>
                                    <m:e>
                                      <m:r>
                                        <a:rPr lang="ar-SA" sz="2000" i="1"/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SA" sz="2000" i="1"/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sSubSup>
                                <m:sSubSupPr>
                                  <m:ctrlPr>
                                    <a:rPr lang="ar-SA" sz="2000" i="1"/>
                                  </m:ctrlPr>
                                </m:sSubSupPr>
                                <m:e>
                                  <m:r>
                                    <a:rPr lang="ar-SA" sz="2000" i="1"/>
                                    <m:t>𝜏</m:t>
                                  </m:r>
                                </m:e>
                                <m:sub>
                                  <m:r>
                                    <a:rPr lang="ar-SA" sz="2000" i="1"/>
                                    <m:t>𝑘</m:t>
                                  </m:r>
                                </m:sub>
                                <m:sup>
                                  <m:r>
                                    <a:rPr lang="ar-SA" sz="2000"/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SA" sz="2000" i="1"/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ar-SA" sz="2000" i="1"/>
                                      </m:ctrlPr>
                                    </m:sSubPr>
                                    <m:e>
                                      <m:r>
                                        <a:rPr lang="ar-SA" sz="2000" i="1"/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SA" sz="2000" i="1"/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  <m:r>
                            <a:rPr lang="ar-SA" sz="2000"/>
                            <m:t>−</m:t>
                          </m:r>
                          <m:sSubSup>
                            <m:sSubSupPr>
                              <m:ctrlPr>
                                <a:rPr lang="ar-SA" sz="2000" i="1"/>
                              </m:ctrlPr>
                            </m:sSubSupPr>
                            <m:e>
                              <m:r>
                                <a:rPr lang="ar-SA" sz="2000" i="1"/>
                                <m:t>𝜇</m:t>
                              </m:r>
                            </m:e>
                            <m:sub>
                              <m:r>
                                <a:rPr lang="ar-SA" sz="2000" i="1"/>
                                <m:t>𝜏</m:t>
                              </m:r>
                            </m:sub>
                            <m:sup>
                              <m:r>
                                <a:rPr lang="ar-SA" sz="2000"/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SA" sz="2000" dirty="0"/>
              </a:p>
              <a:p>
                <a:pPr marL="0" indent="0">
                  <a:buNone/>
                </a:pPr>
                <a:r>
                  <a:rPr lang="en-US" sz="2000" dirty="0">
                    <a:effectLst/>
                  </a:rPr>
                  <a:t>First, calculate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SA" sz="2000"/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ar-SA" sz="2000"/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ar-SA" sz="2000" i="1"/>
                                </m:ctrlPr>
                              </m:sSubPr>
                              <m:e>
                                <m:r>
                                  <a:rPr lang="ar-SA" sz="2000" i="1"/>
                                  <m:t>𝑃</m:t>
                                </m:r>
                              </m:e>
                              <m:sub>
                                <m:r>
                                  <a:rPr lang="ar-SA" sz="2000" i="1"/>
                                  <m:t>𝑘</m:t>
                                </m:r>
                              </m:sub>
                            </m:sSub>
                          </m:e>
                        </m:nary>
                        <m:sSubSup>
                          <m:sSubSupPr>
                            <m:ctrlPr>
                              <a:rPr lang="ar-SA" sz="2000" i="1"/>
                            </m:ctrlPr>
                          </m:sSubSupPr>
                          <m:e>
                            <m:r>
                              <a:rPr lang="ar-SA" sz="2000" i="1"/>
                              <m:t>𝜏</m:t>
                            </m:r>
                          </m:e>
                          <m:sub>
                            <m:r>
                              <a:rPr lang="ar-SA" sz="2000" i="1"/>
                              <m:t>𝑘</m:t>
                            </m:r>
                          </m:sub>
                          <m:sup>
                            <m:r>
                              <a:rPr lang="ar-SA" sz="2000"/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ar-SA" sz="2000" i="1"/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ar-SA" sz="2000" i="1"/>
                                </m:ctrlPr>
                              </m:sSubPr>
                              <m:e>
                                <m:r>
                                  <a:rPr lang="ar-SA" sz="2000" i="1"/>
                                  <m:t>𝑃</m:t>
                                </m:r>
                              </m:e>
                              <m:sub>
                                <m:r>
                                  <a:rPr lang="ar-SA" sz="2000" i="1"/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ar-SA" sz="2000" dirty="0">
                    <a:effectLst/>
                  </a:rPr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SA" sz="2000"/>
                          </m:ctrlPr>
                        </m:fPr>
                        <m:num>
                          <m:d>
                            <m:dPr>
                              <m:ctrlPr>
                                <a:rPr lang="ar-SA" sz="2000"/>
                              </m:ctrlPr>
                            </m:dPr>
                            <m:e>
                              <m:r>
                                <a:rPr lang="ar-SA" sz="2000"/>
                                <m:t>0</m:t>
                              </m:r>
                              <m:r>
                                <a:rPr lang="ar-SA" sz="2000"/>
                                <m:t>.</m:t>
                              </m:r>
                              <m:r>
                                <a:rPr lang="ar-SA" sz="2000"/>
                                <m:t>5</m:t>
                              </m:r>
                            </m:e>
                          </m:d>
                          <m:d>
                            <m:dPr>
                              <m:endChr m:val=""/>
                              <m:ctrlPr>
                                <a:rPr lang="ar-SA" sz="2000" i="1"/>
                              </m:ctrlPr>
                            </m:dPr>
                            <m:e>
                              <m:r>
                                <a:rPr lang="ar-SA" sz="2000"/>
                                <m:t>0</m:t>
                              </m:r>
                              <m:sSup>
                                <m:sSupPr>
                                  <m:ctrlPr>
                                    <a:rPr lang="ar-SA" sz="2000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SA" sz="2000" i="1"/>
                                      </m:ctrlPr>
                                    </m:dPr>
                                    <m:e>
                                      <m:r>
                                        <a:rPr lang="ar-SA" sz="2000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SA" sz="2000"/>
                                    <m:t>2</m:t>
                                  </m:r>
                                </m:sup>
                              </m:sSup>
                              <m:r>
                                <a:rPr lang="ar-SA" sz="2000"/>
                                <m:t>+</m:t>
                              </m:r>
                              <m:d>
                                <m:dPr>
                                  <m:ctrlPr>
                                    <a:rPr lang="ar-SA" sz="2000" i="1"/>
                                  </m:ctrlPr>
                                </m:dPr>
                                <m:e>
                                  <m:r>
                                    <a:rPr lang="ar-SA" sz="2000"/>
                                    <m:t>0</m:t>
                                  </m:r>
                                  <m:r>
                                    <a:rPr lang="ar-SA" sz="2000"/>
                                    <m:t>.</m:t>
                                  </m:r>
                                  <m:r>
                                    <a:rPr lang="ar-SA" sz="2000"/>
                                    <m:t>3</m:t>
                                  </m:r>
                                </m:e>
                              </m:d>
                              <m:d>
                                <m:dPr>
                                  <m:endChr m:val=""/>
                                  <m:ctrlPr>
                                    <a:rPr lang="ar-SA" sz="2000" i="1"/>
                                  </m:ctrlPr>
                                </m:dPr>
                                <m:e>
                                  <m:r>
                                    <a:rPr lang="ar-SA" sz="2000"/>
                                    <m:t>1</m:t>
                                  </m:r>
                                  <m:sSup>
                                    <m:sSupPr>
                                      <m:ctrlPr>
                                        <a:rPr lang="ar-SA" sz="2000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SA" sz="2000" i="1"/>
                                          </m:ctrlPr>
                                        </m:dPr>
                                        <m:e>
                                          <m:r>
                                            <a:rPr lang="ar-SA" sz="2000"/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SA" sz="2000"/>
                                        <m:t>2</m:t>
                                      </m:r>
                                    </m:sup>
                                  </m:sSup>
                                  <m:r>
                                    <a:rPr lang="ar-SA" sz="2000"/>
                                    <m:t>+</m:t>
                                  </m:r>
                                  <m:d>
                                    <m:dPr>
                                      <m:ctrlPr>
                                        <a:rPr lang="ar-SA" sz="2000" i="1"/>
                                      </m:ctrlPr>
                                    </m:dPr>
                                    <m:e>
                                      <m:r>
                                        <a:rPr lang="ar-SA" sz="2000"/>
                                        <m:t>0</m:t>
                                      </m:r>
                                      <m:r>
                                        <a:rPr lang="ar-SA" sz="2000"/>
                                        <m:t>.</m:t>
                                      </m:r>
                                      <m:r>
                                        <a:rPr lang="ar-SA" sz="2000"/>
                                        <m:t>2</m:t>
                                      </m:r>
                                    </m:e>
                                  </m:d>
                                  <m:d>
                                    <m:dPr>
                                      <m:endChr m:val=""/>
                                      <m:ctrlPr>
                                        <a:rPr lang="ar-SA" sz="2000" i="1"/>
                                      </m:ctrlPr>
                                    </m:dPr>
                                    <m:e>
                                      <m:r>
                                        <a:rPr lang="ar-SA" sz="2000"/>
                                        <m:t>3</m:t>
                                      </m:r>
                                      <m:sSup>
                                        <m:sSupPr>
                                          <m:ctrlPr>
                                            <a:rPr lang="ar-SA" sz="2000" i="1"/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SA" sz="2000" i="1"/>
                                              </m:ctrlPr>
                                            </m:dPr>
                                            <m:e>
                                              <m:r>
                                                <a:rPr lang="ar-SA" sz="2000"/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SA" sz="2000"/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0</m:t>
                          </m:r>
                        </m:den>
                      </m:f>
                      <m:r>
                        <a:rPr lang="ar-SA" sz="2000"/>
                        <m:t>=</m:t>
                      </m:r>
                      <m:f>
                        <m:fPr>
                          <m:ctrlPr>
                            <a:rPr lang="ar-SA" sz="2000" i="1"/>
                          </m:ctrlPr>
                        </m:fPr>
                        <m:num>
                          <m:r>
                            <a:rPr lang="ar-SA" sz="2000"/>
                            <m:t>0</m:t>
                          </m:r>
                          <m:r>
                            <a:rPr lang="ar-SA" sz="2000"/>
                            <m:t>+</m:t>
                          </m:r>
                          <m:r>
                            <a:rPr lang="ar-SA" sz="2000"/>
                            <m:t>0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3</m:t>
                          </m:r>
                          <m:r>
                            <a:rPr lang="ar-SA" sz="2000"/>
                            <m:t>+</m:t>
                          </m:r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8</m:t>
                          </m:r>
                        </m:num>
                        <m:den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0</m:t>
                          </m:r>
                        </m:den>
                      </m:f>
                      <m:r>
                        <a:rPr lang="ar-SA" sz="2000"/>
                        <m:t>=</m:t>
                      </m:r>
                      <m:r>
                        <a:rPr lang="ar-SA" sz="2000"/>
                        <m:t>2</m:t>
                      </m:r>
                      <m:r>
                        <a:rPr lang="ar-SA" sz="2000"/>
                        <m:t>.</m:t>
                      </m:r>
                      <m:r>
                        <a:rPr lang="ar-SA" sz="2000"/>
                        <m:t>1</m:t>
                      </m:r>
                      <m:r>
                        <m:rPr>
                          <m:nor/>
                        </m:rPr>
                        <a:rPr lang="ar-SA" sz="2000" i="1"/>
                        <m:t> </m:t>
                      </m:r>
                      <m:r>
                        <a:rPr lang="ar-SA" sz="2000" i="1"/>
                        <m:t>𝜇</m:t>
                      </m:r>
                      <m:sSup>
                        <m:sSupPr>
                          <m:ctrlPr>
                            <a:rPr lang="ar-SA" sz="2000" i="1"/>
                          </m:ctrlPr>
                        </m:sSupPr>
                        <m:e>
                          <m:r>
                            <a:rPr lang="ar-SA" sz="2000" i="1"/>
                            <m:t>𝑠</m:t>
                          </m:r>
                        </m:e>
                        <m:sup>
                          <m:r>
                            <a:rPr lang="ar-SA" sz="2000"/>
                            <m:t>2</m:t>
                          </m:r>
                        </m:sup>
                      </m:sSup>
                    </m:oMath>
                  </m:oMathPara>
                </a14:m>
                <a:endParaRPr lang="ar-SA" sz="2000" b="0" dirty="0"/>
              </a:p>
              <a:p>
                <a:pPr marL="0" indent="0">
                  <a:buNone/>
                </a:pPr>
                <a:r>
                  <a:rPr lang="en-US" sz="2000" dirty="0">
                    <a:effectLst/>
                  </a:rPr>
                  <a:t>Now, calculate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000"/>
                        </m:ctrlPr>
                      </m:sSubPr>
                      <m:e>
                        <m:r>
                          <a:rPr lang="ar-SA" sz="2000" i="1"/>
                          <m:t>𝜎</m:t>
                        </m:r>
                      </m:e>
                      <m:sub>
                        <m:r>
                          <a:rPr lang="ar-SA" sz="2000" i="1"/>
                          <m:t>𝜏</m:t>
                        </m:r>
                      </m:sub>
                    </m:sSub>
                  </m:oMath>
                </a14:m>
                <a:r>
                  <a:rPr lang="ar-SA" sz="2000" dirty="0">
                    <a:effectLst/>
                  </a:rPr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2000"/>
                          </m:ctrlPr>
                        </m:sSubPr>
                        <m:e>
                          <m:r>
                            <a:rPr lang="ar-SA" sz="2000" i="1"/>
                            <m:t>𝜎</m:t>
                          </m:r>
                        </m:e>
                        <m:sub>
                          <m:r>
                            <a:rPr lang="ar-SA" sz="2000" i="1"/>
                            <m:t>𝜏</m:t>
                          </m:r>
                        </m:sub>
                      </m:sSub>
                      <m:r>
                        <a:rPr lang="ar-SA" sz="2000"/>
                        <m:t>=</m:t>
                      </m:r>
                      <m:rad>
                        <m:radPr>
                          <m:degHide m:val="on"/>
                          <m:ctrlPr>
                            <a:rPr lang="ar-SA" sz="2000" i="1"/>
                          </m:ctrlPr>
                        </m:radPr>
                        <m:deg/>
                        <m:e>
                          <m:r>
                            <a:rPr lang="ar-SA" sz="2000"/>
                            <m:t>2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−</m:t>
                          </m:r>
                          <m:d>
                            <m:dPr>
                              <m:endChr m:val=""/>
                              <m:ctrlPr>
                                <a:rPr lang="ar-SA" sz="2000" i="1"/>
                              </m:ctrlPr>
                            </m:dPr>
                            <m:e>
                              <m:r>
                                <a:rPr lang="ar-SA" sz="2000"/>
                                <m:t>0</m:t>
                              </m:r>
                              <m:r>
                                <a:rPr lang="ar-SA" sz="2000"/>
                                <m:t>.</m:t>
                              </m:r>
                              <m:r>
                                <a:rPr lang="ar-SA" sz="2000"/>
                                <m:t>9</m:t>
                              </m:r>
                              <m:sSup>
                                <m:sSupPr>
                                  <m:ctrlPr>
                                    <a:rPr lang="ar-SA" sz="2000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SA" sz="2000" i="1"/>
                                      </m:ctrlPr>
                                    </m:dPr>
                                    <m:e>
                                      <m:r>
                                        <a:rPr lang="ar-SA" sz="2000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SA" sz="2000"/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  <m:r>
                        <a:rPr lang="ar-SA" sz="2000"/>
                        <m:t>=</m:t>
                      </m:r>
                      <m:rad>
                        <m:radPr>
                          <m:degHide m:val="on"/>
                          <m:ctrlPr>
                            <a:rPr lang="ar-SA" sz="2000" i="1"/>
                          </m:ctrlPr>
                        </m:radPr>
                        <m:deg/>
                        <m:e>
                          <m:r>
                            <a:rPr lang="ar-SA" sz="2000"/>
                            <m:t>2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−</m:t>
                          </m:r>
                          <m:r>
                            <a:rPr lang="ar-SA" sz="2000"/>
                            <m:t>0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81</m:t>
                          </m:r>
                        </m:e>
                      </m:rad>
                      <m:r>
                        <a:rPr lang="ar-SA" sz="2000"/>
                        <m:t>=</m:t>
                      </m:r>
                      <m:rad>
                        <m:radPr>
                          <m:degHide m:val="on"/>
                          <m:ctrlPr>
                            <a:rPr lang="ar-SA" sz="2000" i="1"/>
                          </m:ctrlPr>
                        </m:radPr>
                        <m:deg/>
                        <m:e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29</m:t>
                          </m:r>
                        </m:e>
                      </m:rad>
                      <m:r>
                        <a:rPr lang="ar-SA" sz="2000"/>
                        <m:t>≈</m:t>
                      </m:r>
                      <m:r>
                        <a:rPr lang="ar-SA" sz="2000"/>
                        <m:t>1</m:t>
                      </m:r>
                      <m:r>
                        <a:rPr lang="ar-SA" sz="2000"/>
                        <m:t>.</m:t>
                      </m:r>
                      <m:r>
                        <a:rPr lang="ar-SA" sz="2000"/>
                        <m:t>14</m:t>
                      </m:r>
                      <m:r>
                        <m:rPr>
                          <m:nor/>
                        </m:rPr>
                        <a:rPr lang="ar-SA" sz="2000" i="1"/>
                        <m:t> </m:t>
                      </m:r>
                      <m:r>
                        <a:rPr lang="ar-SA" sz="2000" i="1"/>
                        <m:t>𝜇</m:t>
                      </m:r>
                      <m:r>
                        <a:rPr lang="ar-SA" sz="2000" i="1"/>
                        <m:t>𝑠</m:t>
                      </m:r>
                    </m:oMath>
                  </m:oMathPara>
                </a14:m>
                <a:endParaRPr lang="ar-SA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SA" sz="2000"/>
                          </m:ctrlPr>
                        </m:borderBoxPr>
                        <m:e>
                          <m:sSub>
                            <m:sSubPr>
                              <m:ctrlPr>
                                <a:rPr lang="ar-SA" sz="2000"/>
                              </m:ctrlPr>
                            </m:sSubPr>
                            <m:e>
                              <m:r>
                                <a:rPr lang="ar-SA" sz="2000" i="1"/>
                                <m:t>𝜎</m:t>
                              </m:r>
                            </m:e>
                            <m:sub>
                              <m:r>
                                <a:rPr lang="ar-SA" sz="2000" i="1"/>
                                <m:t>𝜏</m:t>
                              </m:r>
                            </m:sub>
                          </m:sSub>
                          <m:r>
                            <a:rPr lang="ar-SA" sz="2000"/>
                            <m:t>≈</m:t>
                          </m:r>
                          <m:r>
                            <a:rPr lang="ar-SA" sz="2000"/>
                            <m:t>1</m:t>
                          </m:r>
                          <m:r>
                            <a:rPr lang="ar-SA" sz="2000"/>
                            <m:t>.</m:t>
                          </m:r>
                          <m:r>
                            <a:rPr lang="ar-SA" sz="2000"/>
                            <m:t>14</m:t>
                          </m:r>
                          <m:r>
                            <m:rPr>
                              <m:nor/>
                            </m:rPr>
                            <a:rPr lang="ar-SA" sz="2000" i="1"/>
                            <m:t> </m:t>
                          </m:r>
                          <m:r>
                            <a:rPr lang="ar-SA" sz="2000" i="1"/>
                            <m:t>𝜇</m:t>
                          </m:r>
                          <m:r>
                            <a:rPr lang="ar-SA" sz="2000" i="1"/>
                            <m:t>𝑠</m:t>
                          </m:r>
                        </m:e>
                      </m:borderBox>
                    </m:oMath>
                  </m:oMathPara>
                </a14:m>
                <a:endParaRPr lang="ar-SA" sz="2000" b="0" dirty="0"/>
              </a:p>
              <a:p>
                <a:pPr marL="0" indent="0">
                  <a:buNone/>
                </a:pPr>
                <a:br>
                  <a:rPr lang="ar-SA" sz="2000" dirty="0"/>
                </a:b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42AFFC-F6AA-9712-75F0-745BA843A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393" y="1066801"/>
                <a:ext cx="7886700" cy="4351338"/>
              </a:xfrm>
              <a:blipFill>
                <a:blip r:embed="rId2"/>
                <a:stretch>
                  <a:fillRect l="-850" b="-2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953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AC42-E617-6E36-876D-18653676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c) </a:t>
            </a:r>
            <a:r>
              <a:rPr lang="en-US" sz="3100" b="1" dirty="0"/>
              <a:t>Coherence Bandwidth (B</a:t>
            </a:r>
            <a:r>
              <a:rPr lang="en-US" sz="3100" b="1" baseline="-25000" dirty="0"/>
              <a:t>c</a:t>
            </a:r>
            <a:r>
              <a:rPr lang="en-US" sz="3100" b="1" dirty="0"/>
              <a:t>) </a:t>
            </a:r>
            <a:br>
              <a:rPr lang="en-US" sz="3100" dirty="0"/>
            </a:br>
            <a:endParaRPr lang="en-US" sz="3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D0FC8-1B73-AB85-2B7B-00BAC690AE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effectLst/>
                  </a:rPr>
                  <a:t>For a correlation of 0.5, </a:t>
                </a:r>
                <a:r>
                  <a:rPr lang="en-US" dirty="0"/>
                  <a:t>k</a:t>
                </a:r>
                <a:r>
                  <a:rPr lang="en-US" dirty="0">
                    <a:effectLst/>
                  </a:rPr>
                  <a:t> is approximately 1.</a:t>
                </a: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/>
                          </m:ctrlPr>
                        </m:sSubPr>
                        <m:e>
                          <m:r>
                            <a:rPr lang="ar-SA" i="1"/>
                            <m:t>𝐵</m:t>
                          </m:r>
                        </m:e>
                        <m:sub>
                          <m:r>
                            <a:rPr lang="ar-SA" i="1"/>
                            <m:t>𝑐</m:t>
                          </m:r>
                        </m:sub>
                      </m:sSub>
                      <m:r>
                        <a:rPr lang="ar-SA"/>
                        <m:t>≈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SA" i="1"/>
                              </m:ctrlPr>
                            </m:sSubPr>
                            <m:e>
                              <m:r>
                                <a:rPr lang="ar-SA" i="1"/>
                                <m:t>𝜎</m:t>
                              </m:r>
                            </m:e>
                            <m:sub>
                              <m:r>
                                <a:rPr lang="ar-SA" i="1"/>
                                <m:t>𝜏</m:t>
                              </m:r>
                            </m:sub>
                          </m:sSub>
                        </m:den>
                      </m:f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1</m:t>
                          </m:r>
                        </m:num>
                        <m:den>
                          <m:r>
                            <a:rPr lang="ar-SA"/>
                            <m:t>1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14</m:t>
                          </m:r>
                          <m:r>
                            <a:rPr lang="ar-SA"/>
                            <m:t>×</m:t>
                          </m:r>
                          <m:sSup>
                            <m:sSupPr>
                              <m:ctrlPr>
                                <a:rPr lang="ar-SA" i="1"/>
                              </m:ctrlPr>
                            </m:sSupPr>
                            <m:e>
                              <m:r>
                                <a:rPr lang="ar-SA"/>
                                <m:t>10</m:t>
                              </m:r>
                            </m:e>
                            <m:sup>
                              <m:r>
                                <a:rPr lang="ar-SA"/>
                                <m:t>−</m:t>
                              </m:r>
                              <m:r>
                                <a:rPr lang="ar-SA"/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ar-SA"/>
                        <m:t>≈</m:t>
                      </m:r>
                      <m:r>
                        <a:rPr lang="ar-SA"/>
                        <m:t>877</m:t>
                      </m:r>
                      <m:r>
                        <a:rPr lang="ar-SA"/>
                        <m:t>,</m:t>
                      </m:r>
                      <m:r>
                        <a:rPr lang="ar-SA"/>
                        <m:t>000</m:t>
                      </m:r>
                      <m:r>
                        <m:rPr>
                          <m:nor/>
                        </m:rPr>
                        <a:rPr lang="ar-SA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Hz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SA"/>
                          </m:ctrlPr>
                        </m:borderBoxPr>
                        <m:e>
                          <m:sSub>
                            <m:sSubPr>
                              <m:ctrlPr>
                                <a:rPr lang="ar-SA"/>
                              </m:ctrlPr>
                            </m:sSubPr>
                            <m:e>
                              <m:r>
                                <a:rPr lang="ar-SA" i="1"/>
                                <m:t>𝐵</m:t>
                              </m:r>
                            </m:e>
                            <m:sub>
                              <m:r>
                                <a:rPr lang="ar-SA" i="1"/>
                                <m:t>𝑐</m:t>
                              </m:r>
                            </m:sub>
                          </m:sSub>
                          <m:r>
                            <a:rPr lang="ar-SA"/>
                            <m:t>≈</m:t>
                          </m:r>
                          <m:r>
                            <a:rPr lang="ar-SA"/>
                            <m:t>877</m:t>
                          </m:r>
                          <m:r>
                            <m:rPr>
                              <m:nor/>
                            </m:rPr>
                            <a:rPr lang="ar-SA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kHz</m:t>
                          </m:r>
                        </m:e>
                      </m:borderBox>
                    </m:oMath>
                  </m:oMathPara>
                </a14:m>
                <a:endParaRPr lang="ar-SA" b="0" dirty="0"/>
              </a:p>
              <a:p>
                <a:pPr marL="0" indent="0">
                  <a:buNone/>
                </a:pPr>
                <a:br>
                  <a:rPr lang="ar-SA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D0FC8-1B73-AB85-2B7B-00BAC690AE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930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49C8-6DA8-9EAE-FA9B-4715818E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3611"/>
            <a:ext cx="7886700" cy="1325563"/>
          </a:xfrm>
        </p:spPr>
        <p:txBody>
          <a:bodyPr/>
          <a:lstStyle/>
          <a:p>
            <a:r>
              <a:rPr lang="en-US" b="1" dirty="0"/>
              <a:t>Example-5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81BEE4-612D-DF52-1F34-6DA69F58B4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mobile receiver in a car travels at 90 km/h and receives a signal at 2.1 GHz.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a) Calculate the maximum Doppler Shift (f</a:t>
                </a:r>
                <a:r>
                  <a:rPr lang="en-US" baseline="-25000" dirty="0"/>
                  <a:t>d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b) Calculate the Coherence Time (T</a:t>
                </a:r>
                <a:r>
                  <a:rPr lang="en-US" baseline="-25000" dirty="0"/>
                  <a:t>c</a:t>
                </a:r>
                <a:r>
                  <a:rPr lang="en-US" dirty="0"/>
                  <a:t>) using the rule of thumb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𝑇</m:t>
                        </m:r>
                      </m:e>
                      <m:sub>
                        <m:r>
                          <a:rPr lang="ar-SA" i="1"/>
                          <m:t>𝑐</m:t>
                        </m:r>
                      </m:sub>
                    </m:sSub>
                    <m:r>
                      <a:rPr lang="ar-SA"/>
                      <m:t>≈</m:t>
                    </m:r>
                    <m:f>
                      <m:fPr>
                        <m:ctrlPr>
                          <a:rPr lang="ar-SA" i="1"/>
                        </m:ctrlPr>
                      </m:fPr>
                      <m:num>
                        <m:r>
                          <a:rPr lang="ar-SA"/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𝑓</m:t>
                            </m:r>
                          </m:e>
                          <m:sub>
                            <m:r>
                              <a:rPr lang="ar-SA" i="1"/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ar-SA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br>
                  <a:rPr lang="ar-SA" dirty="0"/>
                </a:br>
                <a:r>
                  <a:rPr lang="en-US" dirty="0"/>
                  <a:t>c) What does this Coherence Time imply for symbol duration?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81BEE4-612D-DF52-1F34-6DA69F58B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081" r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603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ACD-ED88-DB55-7E24-F50B91E3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 Maximum Doppler Shift (f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9406A-A708-5742-59DA-1013DE4CB4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34886"/>
                <a:ext cx="7886700" cy="464207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ctr">
                  <a:buNone/>
                </a:pPr>
                <a:br>
                  <a:rPr lang="en-US" dirty="0">
                    <a:effectLst/>
                  </a:rPr>
                </a:br>
                <a:r>
                  <a:rPr lang="en-US" sz="3600" dirty="0">
                    <a:effectLst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3600"/>
                        </m:ctrlPr>
                      </m:sSubPr>
                      <m:e>
                        <m:r>
                          <a:rPr lang="ar-SA" sz="3600" i="1"/>
                          <m:t>𝑓</m:t>
                        </m:r>
                      </m:e>
                      <m:sub>
                        <m:r>
                          <a:rPr lang="ar-SA" sz="3600" i="1"/>
                          <m:t>𝑑</m:t>
                        </m:r>
                      </m:sub>
                    </m:sSub>
                    <m:r>
                      <a:rPr lang="ar-SA" sz="3600"/>
                      <m:t>=</m:t>
                    </m:r>
                    <m:f>
                      <m:fPr>
                        <m:ctrlPr>
                          <a:rPr lang="ar-SA" sz="3600" i="1"/>
                        </m:ctrlPr>
                      </m:fPr>
                      <m:num>
                        <m:r>
                          <a:rPr lang="ar-SA" sz="3600" i="1"/>
                          <m:t>𝑣</m:t>
                        </m:r>
                        <m:sSub>
                          <m:sSubPr>
                            <m:ctrlPr>
                              <a:rPr lang="ar-SA" sz="3600" i="1"/>
                            </m:ctrlPr>
                          </m:sSubPr>
                          <m:e>
                            <m:r>
                              <a:rPr lang="ar-SA" sz="3600" i="1"/>
                              <m:t>𝑓</m:t>
                            </m:r>
                          </m:e>
                          <m:sub>
                            <m:r>
                              <a:rPr lang="ar-SA" sz="3600" i="1"/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ar-SA" sz="3600" i="1"/>
                          <m:t>𝑐</m:t>
                        </m:r>
                      </m:den>
                    </m:f>
                  </m:oMath>
                </a14:m>
                <a:r>
                  <a:rPr lang="ar-SA" sz="3600" dirty="0">
                    <a:effectLst/>
                  </a:rPr>
                  <a:t>,</a:t>
                </a:r>
                <a:endParaRPr lang="en-US" sz="3600" dirty="0">
                  <a:effectLst/>
                </a:endParaRPr>
              </a:p>
              <a:p>
                <a:pPr marL="0" indent="0">
                  <a:buNone/>
                </a:pPr>
                <a:r>
                  <a:rPr lang="ar-SA" dirty="0">
                    <a:effectLst/>
                  </a:rPr>
                  <a:t> 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where </a:t>
                </a:r>
                <a:r>
                  <a:rPr lang="en-US" dirty="0"/>
                  <a:t>v</a:t>
                </a:r>
                <a:r>
                  <a:rPr lang="en-US" dirty="0">
                    <a:effectLst/>
                  </a:rPr>
                  <a:t> is the velocity, </a:t>
                </a:r>
                <a:r>
                  <a:rPr lang="en-US" dirty="0"/>
                  <a:t>f</a:t>
                </a:r>
                <a:r>
                  <a:rPr lang="en-US" baseline="-25000" dirty="0"/>
                  <a:t>c</a:t>
                </a:r>
                <a:r>
                  <a:rPr lang="en-US" dirty="0">
                    <a:effectLst/>
                  </a:rPr>
                  <a:t> is the carrier frequency, and </a:t>
                </a:r>
                <a:r>
                  <a:rPr lang="en-US" dirty="0"/>
                  <a:t>c</a:t>
                </a:r>
                <a:r>
                  <a:rPr lang="en-US" dirty="0">
                    <a:effectLst/>
                  </a:rPr>
                  <a:t> is the speed of light (3x10^8 m/s).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First, convert velocity: </a:t>
                </a:r>
                <a14:m>
                  <m:oMath xmlns:m="http://schemas.openxmlformats.org/officeDocument/2006/math">
                    <m:r>
                      <a:rPr lang="en-US" i="1"/>
                      <m:t>𝑣</m:t>
                    </m:r>
                    <m:r>
                      <a:rPr lang="en-US"/>
                      <m:t>=</m:t>
                    </m:r>
                    <m:r>
                      <a:rPr lang="en-US"/>
                      <m:t>90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km</m:t>
                    </m:r>
                    <m:r>
                      <m:rPr>
                        <m:nor/>
                      </m:rPr>
                      <a:rPr lang="en-US" i="1"/>
                      <m:t>/</m:t>
                    </m:r>
                    <m:r>
                      <m:rPr>
                        <m:nor/>
                      </m:rPr>
                      <a:rPr lang="en-US" i="1"/>
                      <m:t>h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SA" i="1"/>
                        </m:ctrlPr>
                      </m:fPr>
                      <m:num>
                        <m:r>
                          <a:rPr lang="ar-SA"/>
                          <m:t>90</m:t>
                        </m:r>
                        <m:r>
                          <a:rPr lang="ar-SA"/>
                          <m:t>×</m:t>
                        </m:r>
                        <m:r>
                          <a:rPr lang="ar-SA"/>
                          <m:t>1000</m:t>
                        </m:r>
                      </m:num>
                      <m:den>
                        <m:r>
                          <a:rPr lang="ar-SA"/>
                          <m:t>3600</m:t>
                        </m:r>
                      </m:den>
                    </m:f>
                    <m:r>
                      <a:rPr lang="ar-SA"/>
                      <m:t>=</m:t>
                    </m:r>
                    <m:r>
                      <a:rPr lang="ar-SA"/>
                      <m:t>25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m</m:t>
                    </m:r>
                    <m:r>
                      <m:rPr>
                        <m:nor/>
                      </m:rPr>
                      <a:rPr lang="en-US" i="1"/>
                      <m:t>/</m:t>
                    </m:r>
                    <m:r>
                      <m:rPr>
                        <m:nor/>
                      </m:rPr>
                      <a:rPr lang="en-US" i="1"/>
                      <m:t>s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mtClean="0"/>
                          </m:ctrlPr>
                        </m:sSubPr>
                        <m:e>
                          <m:r>
                            <a:rPr lang="ar-SA" i="1"/>
                            <m:t>𝑓</m:t>
                          </m:r>
                        </m:e>
                        <m:sub>
                          <m:r>
                            <a:rPr lang="ar-SA" i="1"/>
                            <m:t>𝑑</m:t>
                          </m:r>
                        </m:sub>
                      </m:sSub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25</m:t>
                          </m:r>
                          <m:r>
                            <a:rPr lang="ar-SA"/>
                            <m:t>×</m:t>
                          </m:r>
                          <m:r>
                            <a:rPr lang="ar-SA"/>
                            <m:t>2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1</m:t>
                          </m:r>
                          <m:r>
                            <a:rPr lang="ar-SA"/>
                            <m:t>×</m:t>
                          </m:r>
                          <m:sSup>
                            <m:sSupPr>
                              <m:ctrlPr>
                                <a:rPr lang="ar-SA" i="1"/>
                              </m:ctrlPr>
                            </m:sSupPr>
                            <m:e>
                              <m:r>
                                <a:rPr lang="ar-SA"/>
                                <m:t>10</m:t>
                              </m:r>
                            </m:e>
                            <m:sup>
                              <m:r>
                                <a:rPr lang="ar-SA"/>
                                <m:t>9</m:t>
                              </m:r>
                            </m:sup>
                          </m:sSup>
                        </m:num>
                        <m:den>
                          <m:r>
                            <a:rPr lang="ar-SA"/>
                            <m:t>3</m:t>
                          </m:r>
                          <m:r>
                            <a:rPr lang="ar-SA"/>
                            <m:t>×</m:t>
                          </m:r>
                          <m:sSup>
                            <m:sSupPr>
                              <m:ctrlPr>
                                <a:rPr lang="ar-SA" i="1"/>
                              </m:ctrlPr>
                            </m:sSupPr>
                            <m:e>
                              <m:r>
                                <a:rPr lang="ar-SA"/>
                                <m:t>10</m:t>
                              </m:r>
                            </m:e>
                            <m:sup>
                              <m:r>
                                <a:rPr lang="ar-SA"/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52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5</m:t>
                          </m:r>
                          <m:r>
                            <a:rPr lang="ar-SA"/>
                            <m:t>×</m:t>
                          </m:r>
                          <m:sSup>
                            <m:sSupPr>
                              <m:ctrlPr>
                                <a:rPr lang="ar-SA" i="1"/>
                              </m:ctrlPr>
                            </m:sSupPr>
                            <m:e>
                              <m:r>
                                <a:rPr lang="ar-SA"/>
                                <m:t>10</m:t>
                              </m:r>
                            </m:e>
                            <m:sup>
                              <m:r>
                                <a:rPr lang="ar-SA"/>
                                <m:t>9</m:t>
                              </m:r>
                            </m:sup>
                          </m:sSup>
                        </m:num>
                        <m:den>
                          <m:r>
                            <a:rPr lang="ar-SA"/>
                            <m:t>3</m:t>
                          </m:r>
                          <m:r>
                            <a:rPr lang="ar-SA"/>
                            <m:t>×</m:t>
                          </m:r>
                          <m:sSup>
                            <m:sSupPr>
                              <m:ctrlPr>
                                <a:rPr lang="ar-SA" i="1"/>
                              </m:ctrlPr>
                            </m:sSupPr>
                            <m:e>
                              <m:r>
                                <a:rPr lang="ar-SA"/>
                                <m:t>10</m:t>
                              </m:r>
                            </m:e>
                            <m:sup>
                              <m:r>
                                <a:rPr lang="ar-SA"/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ar-SA"/>
                        <m:t>=</m:t>
                      </m:r>
                      <m:r>
                        <a:rPr lang="ar-SA"/>
                        <m:t>175</m:t>
                      </m:r>
                      <m:r>
                        <m:rPr>
                          <m:nor/>
                        </m:rPr>
                        <a:rPr lang="ar-SA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Hz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SA"/>
                          </m:ctrlPr>
                        </m:borderBoxPr>
                        <m:e>
                          <m:sSub>
                            <m:sSubPr>
                              <m:ctrlPr>
                                <a:rPr lang="ar-SA"/>
                              </m:ctrlPr>
                            </m:sSubPr>
                            <m:e>
                              <m:r>
                                <a:rPr lang="ar-SA" i="1"/>
                                <m:t>𝑓</m:t>
                              </m:r>
                            </m:e>
                            <m:sub>
                              <m:r>
                                <a:rPr lang="ar-SA" i="1"/>
                                <m:t>𝑑</m:t>
                              </m:r>
                            </m:sub>
                          </m:sSub>
                          <m:r>
                            <a:rPr lang="ar-SA"/>
                            <m:t>=</m:t>
                          </m:r>
                          <m:r>
                            <a:rPr lang="ar-SA"/>
                            <m:t>175</m:t>
                          </m:r>
                          <m:r>
                            <m:rPr>
                              <m:nor/>
                            </m:rPr>
                            <a:rPr lang="ar-SA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Hz</m:t>
                          </m:r>
                        </m:e>
                      </m:borderBox>
                    </m:oMath>
                  </m:oMathPara>
                </a14:m>
                <a:endParaRPr lang="ar-SA" b="0" dirty="0"/>
              </a:p>
              <a:p>
                <a:pPr marL="0" indent="0">
                  <a:buNone/>
                </a:pPr>
                <a:br>
                  <a:rPr lang="ar-SA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9406A-A708-5742-59DA-1013DE4CB4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34886"/>
                <a:ext cx="7886700" cy="4642077"/>
              </a:xfr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273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1A89-C03D-11C6-B605-872AC42D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 Coherence Time (T</a:t>
            </a:r>
            <a:r>
              <a:rPr 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08BB8E-D718-8057-2137-7263CFD5F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br>
                  <a:rPr lang="en-US" dirty="0">
                    <a:effectLst/>
                  </a:rPr>
                </a:br>
                <a:r>
                  <a:rPr lang="en-US" dirty="0">
                    <a:effectLst/>
                  </a:rPr>
                  <a:t>Using the rule of thumb: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/>
                          </m:ctrlPr>
                        </m:sSubPr>
                        <m:e>
                          <m:r>
                            <a:rPr lang="ar-SA" i="1"/>
                            <m:t>𝑇</m:t>
                          </m:r>
                        </m:e>
                        <m:sub>
                          <m:r>
                            <a:rPr lang="ar-SA" i="1"/>
                            <m:t>𝑐</m:t>
                          </m:r>
                        </m:sub>
                      </m:sSub>
                      <m:r>
                        <a:rPr lang="ar-SA"/>
                        <m:t>≈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SA" i="1"/>
                              </m:ctrlPr>
                            </m:sSubPr>
                            <m:e>
                              <m:r>
                                <a:rPr lang="ar-SA" i="1"/>
                                <m:t>𝑓</m:t>
                              </m:r>
                            </m:e>
                            <m:sub>
                              <m:r>
                                <a:rPr lang="ar-SA" i="1"/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ar-SA"/>
                        <m:t>=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r>
                            <a:rPr lang="ar-SA"/>
                            <m:t>1</m:t>
                          </m:r>
                        </m:num>
                        <m:den>
                          <m:r>
                            <a:rPr lang="ar-SA"/>
                            <m:t>175</m:t>
                          </m:r>
                        </m:den>
                      </m:f>
                      <m:r>
                        <a:rPr lang="ar-SA"/>
                        <m:t>≈</m:t>
                      </m:r>
                      <m:r>
                        <a:rPr lang="ar-SA"/>
                        <m:t>5</m:t>
                      </m:r>
                      <m:r>
                        <a:rPr lang="ar-SA"/>
                        <m:t>.</m:t>
                      </m:r>
                      <m:r>
                        <a:rPr lang="ar-SA"/>
                        <m:t>7</m:t>
                      </m:r>
                      <m:r>
                        <m:rPr>
                          <m:nor/>
                        </m:rPr>
                        <a:rPr lang="ar-SA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ms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SA"/>
                          </m:ctrlPr>
                        </m:borderBoxPr>
                        <m:e>
                          <m:sSub>
                            <m:sSubPr>
                              <m:ctrlPr>
                                <a:rPr lang="ar-SA"/>
                              </m:ctrlPr>
                            </m:sSubPr>
                            <m:e>
                              <m:r>
                                <a:rPr lang="ar-SA" i="1"/>
                                <m:t>𝑇</m:t>
                              </m:r>
                            </m:e>
                            <m:sub>
                              <m:r>
                                <a:rPr lang="ar-SA" i="1"/>
                                <m:t>𝑐</m:t>
                              </m:r>
                            </m:sub>
                          </m:sSub>
                          <m:r>
                            <a:rPr lang="ar-SA"/>
                            <m:t>≈</m:t>
                          </m:r>
                          <m:r>
                            <a:rPr lang="ar-SA"/>
                            <m:t>5</m:t>
                          </m:r>
                          <m:r>
                            <a:rPr lang="ar-SA"/>
                            <m:t>.</m:t>
                          </m:r>
                          <m:r>
                            <a:rPr lang="ar-SA"/>
                            <m:t>7</m:t>
                          </m:r>
                          <m:r>
                            <m:rPr>
                              <m:nor/>
                            </m:rPr>
                            <a:rPr lang="ar-SA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ms</m:t>
                          </m:r>
                        </m:e>
                      </m:borderBox>
                    </m:oMath>
                  </m:oMathPara>
                </a14:m>
                <a:endParaRPr lang="ar-SA" b="0" dirty="0"/>
              </a:p>
              <a:p>
                <a:pPr marL="0" indent="0">
                  <a:buNone/>
                </a:pPr>
                <a:br>
                  <a:rPr lang="ar-SA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08BB8E-D718-8057-2137-7263CFD5F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600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9BDF-3855-E01A-2AA0-A62903B21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 </a:t>
            </a:r>
            <a:r>
              <a:rPr lang="en-US" b="1" dirty="0"/>
              <a:t>Implication for Symbol Duration (T</a:t>
            </a:r>
            <a:r>
              <a:rPr lang="en-US" b="1" baseline="-25000" dirty="0"/>
              <a:t>s</a:t>
            </a:r>
            <a:r>
              <a:rPr lang="en-US" b="1" dirty="0"/>
              <a:t>):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C977D-0B7E-F228-C487-C7D95574B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For the channel to be considered "slow fading" (i.e., the channel impulse response is constant over a symbol period), we require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𝑇</m:t>
                        </m:r>
                      </m:e>
                      <m:sub>
                        <m:r>
                          <a:rPr lang="ar-SA" i="1"/>
                          <m:t>𝑠</m:t>
                        </m:r>
                      </m:sub>
                    </m:sSub>
                    <m:r>
                      <a:rPr lang="ar-SA"/>
                      <m:t>&lt;&lt;</m:t>
                    </m:r>
                    <m:sSub>
                      <m:sSubPr>
                        <m:ctrlPr>
                          <a:rPr lang="ar-SA" i="1"/>
                        </m:ctrlPr>
                      </m:sSubPr>
                      <m:e>
                        <m:r>
                          <a:rPr lang="ar-SA" i="1"/>
                          <m:t>𝑇</m:t>
                        </m:r>
                      </m:e>
                      <m:sub>
                        <m:r>
                          <a:rPr lang="ar-SA" i="1"/>
                          <m:t>𝑐</m:t>
                        </m:r>
                      </m:sub>
                    </m:sSub>
                  </m:oMath>
                </a14:m>
                <a:r>
                  <a:rPr lang="ar-SA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𝑇</m:t>
                        </m:r>
                      </m:e>
                      <m:sub>
                        <m:r>
                          <a:rPr lang="ar-SA" i="1"/>
                          <m:t>𝑐</m:t>
                        </m:r>
                      </m:sub>
                    </m:sSub>
                    <m:r>
                      <a:rPr lang="ar-SA"/>
                      <m:t>≈</m:t>
                    </m:r>
                    <m:r>
                      <a:rPr lang="ar-SA"/>
                      <m:t>5</m:t>
                    </m:r>
                    <m:r>
                      <a:rPr lang="ar-SA"/>
                      <m:t>.</m:t>
                    </m:r>
                    <m:r>
                      <a:rPr lang="ar-SA"/>
                      <m:t>7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</m:oMath>
                </a14:m>
                <a:r>
                  <a:rPr lang="en-US" dirty="0"/>
                  <a:t>. Therefore, the symbol duration must be much less than 5.7 </a:t>
                </a:r>
                <a:r>
                  <a:rPr lang="en-US" dirty="0" err="1"/>
                  <a:t>ms.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if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𝑇</m:t>
                        </m:r>
                      </m:e>
                      <m:sub>
                        <m:r>
                          <a:rPr lang="ar-SA" i="1"/>
                          <m:t>𝑠</m:t>
                        </m:r>
                      </m:sub>
                    </m:sSub>
                    <m:r>
                      <a:rPr lang="ar-SA"/>
                      <m:t>=</m:t>
                    </m:r>
                    <m:r>
                      <a:rPr lang="ar-SA"/>
                      <m:t>0</m:t>
                    </m:r>
                    <m:r>
                      <a:rPr lang="ar-SA"/>
                      <m:t>.</m:t>
                    </m:r>
                    <m:r>
                      <a:rPr lang="ar-SA"/>
                      <m:t>1</m:t>
                    </m:r>
                    <m:r>
                      <m:rPr>
                        <m:nor/>
                      </m:rPr>
                      <a:rPr lang="ar-SA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</m:oMath>
                </a14:m>
                <a:r>
                  <a:rPr lang="en-US" dirty="0"/>
                  <a:t>, then the condition is satisfied, and the channel is slow fading.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C977D-0B7E-F228-C487-C7D95574B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276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4D92-CBE2-C98E-319F-77E1BA8E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027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7AE9-9453-D9B6-A722-C738F544B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7886700" cy="4881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In a wireless channel measurement, the received signal envelope is analyzed.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Scenario A:</a:t>
            </a:r>
            <a:r>
              <a:rPr lang="en-US" dirty="0"/>
              <a:t> The channel has a strong, constant Line-of-Sight (LOS) component with power = 8 units, and several scattered paths with total power = 2 units.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Scenario B:</a:t>
            </a:r>
            <a:r>
              <a:rPr lang="en-US" dirty="0"/>
              <a:t> The channel has no LOS component, only many scattered paths with total power = 10 units.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a) Calculate the K-factor for Scenario A.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b) Classify the fading in Scenario A and Scenario B.</a:t>
            </a:r>
          </a:p>
        </p:txBody>
      </p:sp>
    </p:spTree>
    <p:extLst>
      <p:ext uri="{BB962C8B-B14F-4D97-AF65-F5344CB8AC3E}">
        <p14:creationId xmlns:p14="http://schemas.microsoft.com/office/powerpoint/2010/main" val="4098405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8629-368D-CC5D-E28B-D0305EE0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21709-B668-53CD-EBC0-3BE2B8269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3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9F6BB5A7D914C9B3EBC96A6E21F77" ma:contentTypeVersion="14" ma:contentTypeDescription="Create a new document." ma:contentTypeScope="" ma:versionID="fda4ccff6591671c81d9f7567ae569d0">
  <xsd:schema xmlns:xsd="http://www.w3.org/2001/XMLSchema" xmlns:xs="http://www.w3.org/2001/XMLSchema" xmlns:p="http://schemas.microsoft.com/office/2006/metadata/properties" xmlns:ns3="76f8f3b6-16be-436e-bf2d-dedadcb77122" xmlns:ns4="d8514a62-9400-4177-9856-d6f8215948cc" targetNamespace="http://schemas.microsoft.com/office/2006/metadata/properties" ma:root="true" ma:fieldsID="5dd2106159393f1d8dbedbc6d6b27a07" ns3:_="" ns4:_="">
    <xsd:import namespace="76f8f3b6-16be-436e-bf2d-dedadcb77122"/>
    <xsd:import namespace="d8514a62-9400-4177-9856-d6f8215948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8f3b6-16be-436e-bf2d-dedadcb77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14a62-9400-4177-9856-d6f8215948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f8f3b6-16be-436e-bf2d-dedadcb77122" xsi:nil="true"/>
  </documentManagement>
</p:properties>
</file>

<file path=customXml/itemProps1.xml><?xml version="1.0" encoding="utf-8"?>
<ds:datastoreItem xmlns:ds="http://schemas.openxmlformats.org/officeDocument/2006/customXml" ds:itemID="{E469DD6B-0C77-4907-9AFC-74AC6720B2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f8f3b6-16be-436e-bf2d-dedadcb77122"/>
    <ds:schemaRef ds:uri="d8514a62-9400-4177-9856-d6f8215948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01DB4-B638-40AA-A96B-CDB0BCBB8F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1BC10A-AC43-4888-BBEF-22D31D87E8F1}">
  <ds:schemaRefs>
    <ds:schemaRef ds:uri="http://schemas.microsoft.com/office/2006/metadata/properties"/>
    <ds:schemaRef ds:uri="76f8f3b6-16be-436e-bf2d-dedadcb77122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d8514a62-9400-4177-9856-d6f8215948c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862</TotalTime>
  <Words>1338</Words>
  <Application>Microsoft Office PowerPoint</Application>
  <PresentationFormat>On-screen Show (4:3)</PresentationFormat>
  <Paragraphs>158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5" baseType="lpstr">
      <vt:lpstr>MS PGothic</vt:lpstr>
      <vt:lpstr>AdvP41153C</vt:lpstr>
      <vt:lpstr>Arial</vt:lpstr>
      <vt:lpstr>Calibri</vt:lpstr>
      <vt:lpstr>Calibri Light</vt:lpstr>
      <vt:lpstr>Cambria Math</vt:lpstr>
      <vt:lpstr>Google Sans</vt:lpstr>
      <vt:lpstr>Helvetica</vt:lpstr>
      <vt:lpstr>inherit</vt:lpstr>
      <vt:lpstr>Lato</vt:lpstr>
      <vt:lpstr>Myriad Pro</vt:lpstr>
      <vt:lpstr>Nunito</vt:lpstr>
      <vt:lpstr>quote-cjk-patch</vt:lpstr>
      <vt:lpstr>Times New Roman</vt:lpstr>
      <vt:lpstr>tirat</vt:lpstr>
      <vt:lpstr>Wingdings</vt:lpstr>
      <vt:lpstr>Office Theme</vt:lpstr>
      <vt:lpstr>Wireless Channel Modelling-2</vt:lpstr>
      <vt:lpstr>Statistical Characterization of Fading Channel</vt:lpstr>
      <vt:lpstr>PowerPoint Presentation</vt:lpstr>
      <vt:lpstr>Rayleigh Distribution </vt:lpstr>
      <vt:lpstr>Rician distribution</vt:lpstr>
      <vt:lpstr>Rayleigh and Rician fading channels</vt:lpstr>
      <vt:lpstr>Rayleigh Fading</vt:lpstr>
      <vt:lpstr>Rician Fading</vt:lpstr>
      <vt:lpstr>Key Comparison </vt:lpstr>
      <vt:lpstr>Distributions for Rayleigh and Rician fading channels</vt:lpstr>
      <vt:lpstr>BER performance of BPSK in Rician, Rayleigh, and AWGN fading channels </vt:lpstr>
      <vt:lpstr>Example-1</vt:lpstr>
      <vt:lpstr>Example-2</vt:lpstr>
      <vt:lpstr>Solution</vt:lpstr>
      <vt:lpstr>PowerPoint Presentation</vt:lpstr>
      <vt:lpstr>Example-3</vt:lpstr>
      <vt:lpstr>Solution</vt:lpstr>
      <vt:lpstr>c) Channel Classification: </vt:lpstr>
      <vt:lpstr>Example-4 : </vt:lpstr>
      <vt:lpstr>Solution</vt:lpstr>
      <vt:lpstr>b) RMS Delay Spread (στ):</vt:lpstr>
      <vt:lpstr>c) Coherence Bandwidth (Bc)  </vt:lpstr>
      <vt:lpstr>Example-5</vt:lpstr>
      <vt:lpstr>a) Maximum Doppler Shift (fd):</vt:lpstr>
      <vt:lpstr>b) Coherence Time (Tc):</vt:lpstr>
      <vt:lpstr>c) Implication for Symbol Duration (Ts):</vt:lpstr>
      <vt:lpstr>Example-6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Abrar, Muhammad</dc:creator>
  <cp:lastModifiedBy>Abrar, Muhammad</cp:lastModifiedBy>
  <cp:revision>181</cp:revision>
  <dcterms:created xsi:type="dcterms:W3CDTF">2023-04-08T04:37:24Z</dcterms:created>
  <dcterms:modified xsi:type="dcterms:W3CDTF">2025-10-28T14:40:38Z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0x010100BB59F6BB5A7D914C9B3EBC96A6E21F77</vt:lpwstr>
  </property>
</Properties>
</file>