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5"/>
  </p:notesMasterIdLst>
  <p:sldIdLst>
    <p:sldId id="339" r:id="rId5"/>
    <p:sldId id="284" r:id="rId6"/>
    <p:sldId id="340" r:id="rId7"/>
    <p:sldId id="279" r:id="rId8"/>
    <p:sldId id="264" r:id="rId9"/>
    <p:sldId id="273" r:id="rId10"/>
    <p:sldId id="263" r:id="rId11"/>
    <p:sldId id="265" r:id="rId12"/>
    <p:sldId id="272" r:id="rId13"/>
    <p:sldId id="266" r:id="rId14"/>
    <p:sldId id="271" r:id="rId15"/>
    <p:sldId id="259" r:id="rId16"/>
    <p:sldId id="283" r:id="rId17"/>
    <p:sldId id="282" r:id="rId18"/>
    <p:sldId id="258" r:id="rId19"/>
    <p:sldId id="341" r:id="rId20"/>
    <p:sldId id="342" r:id="rId21"/>
    <p:sldId id="343" r:id="rId22"/>
    <p:sldId id="344" r:id="rId23"/>
    <p:sldId id="345" r:id="rId24"/>
    <p:sldId id="260" r:id="rId25"/>
    <p:sldId id="261" r:id="rId26"/>
    <p:sldId id="281" r:id="rId27"/>
    <p:sldId id="262" r:id="rId28"/>
    <p:sldId id="275" r:id="rId29"/>
    <p:sldId id="276" r:id="rId30"/>
    <p:sldId id="277" r:id="rId31"/>
    <p:sldId id="278" r:id="rId32"/>
    <p:sldId id="269" r:id="rId33"/>
    <p:sldId id="280"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866DD8-96A3-7686-D4EA-794A020606C6}" v="138" dt="2023-04-08T14:26:03.8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5549" autoAdjust="0"/>
  </p:normalViewPr>
  <p:slideViewPr>
    <p:cSldViewPr snapToGrid="0">
      <p:cViewPr varScale="1">
        <p:scale>
          <a:sx n="54" d="100"/>
          <a:sy n="54" d="100"/>
        </p:scale>
        <p:origin x="158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6A2B23-253C-4CB3-BBBB-82EDD4515B2E}" type="datetimeFigureOut">
              <a:rPr lang="en-US" smtClean="0"/>
              <a:t>10/25/2025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31E985-387E-4400-B108-EA1B51C5B9E2}" type="slidenum">
              <a:rPr lang="en-US" smtClean="0"/>
              <a:t>‹#›</a:t>
            </a:fld>
            <a:endParaRPr lang="en-US"/>
          </a:p>
        </p:txBody>
      </p:sp>
    </p:spTree>
    <p:extLst>
      <p:ext uri="{BB962C8B-B14F-4D97-AF65-F5344CB8AC3E}">
        <p14:creationId xmlns:p14="http://schemas.microsoft.com/office/powerpoint/2010/main" val="2685359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p:cNvSpPr>
            <a:spLocks noGrp="1" noRot="1" noChangeAspect="1" noTextEdit="1"/>
          </p:cNvSpPr>
          <p:nvPr>
            <p:ph type="sldImg"/>
          </p:nvPr>
        </p:nvSpPr>
        <p:spPr bwMode="auto">
          <a:noFill/>
          <a:ln>
            <a:solidFill>
              <a:srgbClr val="000000"/>
            </a:solidFill>
            <a:miter lim="800000"/>
            <a:headEnd/>
            <a:tailEnd/>
          </a:ln>
        </p:spPr>
      </p:sp>
      <p:sp>
        <p:nvSpPr>
          <p:cNvPr id="1536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charset="-128"/>
            </a:endParaRPr>
          </a:p>
        </p:txBody>
      </p:sp>
      <p:sp>
        <p:nvSpPr>
          <p:cNvPr id="15363" name="Slide Number Placeholder 3"/>
          <p:cNvSpPr>
            <a:spLocks noGrp="1"/>
          </p:cNvSpPr>
          <p:nvPr>
            <p:ph type="sldNum" sz="quarter" idx="5"/>
          </p:nvPr>
        </p:nvSpPr>
        <p:spPr bwMode="auto">
          <a:noFill/>
          <a:ln>
            <a:miter lim="800000"/>
            <a:headEnd/>
            <a:tailEnd/>
          </a:ln>
        </p:spPr>
        <p:txBody>
          <a:bodyPr/>
          <a:lstStyle/>
          <a:p>
            <a:fld id="{347E1331-397A-4A4B-A652-1EAF84AD9D1F}" type="slidenum">
              <a:rPr lang="en-US"/>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latin typeface="Times New Roman" panose="02020603050405020304" pitchFamily="18" charset="0"/>
              </a:rPr>
              <a:t>Table  presents one particular example of PDP specified for the pedestrian channel model by</a:t>
            </a:r>
          </a:p>
          <a:p>
            <a:pPr marR="1030"/>
            <a:r>
              <a:rPr lang="en-US" sz="1800" b="0" i="0" u="none" strike="noStrike" baseline="0" dirty="0">
                <a:latin typeface="Times New Roman" panose="02020603050405020304" pitchFamily="18" charset="0"/>
              </a:rPr>
              <a:t>ITU-R, in which four different multiple signal paths are characterized by their relative delay and average power. Here, the relative delay is an excess delay with respect to the reference time while average power for each path is normalized by that of the first path (tap) </a:t>
            </a:r>
          </a:p>
          <a:p>
            <a:endParaRPr lang="en-US" dirty="0"/>
          </a:p>
        </p:txBody>
      </p:sp>
      <p:sp>
        <p:nvSpPr>
          <p:cNvPr id="4" name="Slide Number Placeholder 3"/>
          <p:cNvSpPr>
            <a:spLocks noGrp="1"/>
          </p:cNvSpPr>
          <p:nvPr>
            <p:ph type="sldNum" sz="quarter" idx="5"/>
          </p:nvPr>
        </p:nvSpPr>
        <p:spPr/>
        <p:txBody>
          <a:bodyPr/>
          <a:lstStyle/>
          <a:p>
            <a:fld id="{9D31E985-387E-4400-B108-EA1B51C5B9E2}" type="slidenum">
              <a:rPr lang="en-US" smtClean="0"/>
              <a:t>3</a:t>
            </a:fld>
            <a:endParaRPr lang="en-US"/>
          </a:p>
        </p:txBody>
      </p:sp>
    </p:spTree>
    <p:extLst>
      <p:ext uri="{BB962C8B-B14F-4D97-AF65-F5344CB8AC3E}">
        <p14:creationId xmlns:p14="http://schemas.microsoft.com/office/powerpoint/2010/main" val="28322173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Mean excess delay and RMS delay spread are useful channel parameters that provide a reference of comparison among the different multipath fading channels, and furthermore, show a general guideline to design a wireless transmission system.</a:t>
            </a:r>
            <a:endParaRPr lang="en-US" dirty="0"/>
          </a:p>
        </p:txBody>
      </p:sp>
      <p:sp>
        <p:nvSpPr>
          <p:cNvPr id="4" name="Slide Number Placeholder 3"/>
          <p:cNvSpPr>
            <a:spLocks noGrp="1"/>
          </p:cNvSpPr>
          <p:nvPr>
            <p:ph type="sldNum" sz="quarter" idx="5"/>
          </p:nvPr>
        </p:nvSpPr>
        <p:spPr/>
        <p:txBody>
          <a:bodyPr/>
          <a:lstStyle/>
          <a:p>
            <a:fld id="{9D31E985-387E-4400-B108-EA1B51C5B9E2}" type="slidenum">
              <a:rPr lang="en-US" smtClean="0"/>
              <a:t>15</a:t>
            </a:fld>
            <a:endParaRPr lang="en-US"/>
          </a:p>
        </p:txBody>
      </p:sp>
    </p:spTree>
    <p:extLst>
      <p:ext uri="{BB962C8B-B14F-4D97-AF65-F5344CB8AC3E}">
        <p14:creationId xmlns:p14="http://schemas.microsoft.com/office/powerpoint/2010/main" val="3329653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It comes through </a:t>
                </a:r>
                <a:r>
                  <a:rPr lang="en-US" b="1" dirty="0"/>
                  <a:t>multiple paths</a:t>
                </a:r>
                <a:r>
                  <a:rPr lang="en-US" dirty="0"/>
                  <a:t>, each with:</a:t>
                </a:r>
              </a:p>
              <a:p>
                <a:r>
                  <a:rPr lang="en-US" dirty="0"/>
                  <a:t>a </a:t>
                </a:r>
                <a:r>
                  <a:rPr lang="en-US" b="1" dirty="0"/>
                  <a:t>delay</a:t>
                </a:r>
                <a:r>
                  <a:rPr lang="en-US" dirty="0"/>
                  <a:t> </a:t>
                </a:r>
                <a14:m>
                  <m:oMath xmlns:m="http://schemas.openxmlformats.org/officeDocument/2006/math">
                    <m:sSub>
                      <m:sSubPr>
                        <m:ctrlPr>
                          <a:rPr lang="ar-SA" sz="1200" kern="1200">
                            <a:solidFill>
                              <a:schemeClr val="tx1"/>
                            </a:solidFill>
                            <a:latin typeface="+mn-lt"/>
                            <a:ea typeface="+mn-ea"/>
                            <a:cs typeface="+mn-cs"/>
                          </a:rPr>
                        </m:ctrlPr>
                      </m:sSubPr>
                      <m:e>
                        <m:r>
                          <a:rPr lang="ar-SA" sz="1200" i="1" kern="1200">
                            <a:solidFill>
                              <a:schemeClr val="tx1"/>
                            </a:solidFill>
                            <a:latin typeface="+mn-lt"/>
                            <a:ea typeface="+mn-ea"/>
                            <a:cs typeface="+mn-cs"/>
                          </a:rPr>
                          <m:t>𝜏</m:t>
                        </m:r>
                      </m:e>
                      <m:sub>
                        <m:r>
                          <a:rPr lang="ar-SA" sz="1200" i="1" kern="1200">
                            <a:solidFill>
                              <a:schemeClr val="tx1"/>
                            </a:solidFill>
                            <a:latin typeface="+mn-lt"/>
                            <a:ea typeface="+mn-ea"/>
                            <a:cs typeface="+mn-cs"/>
                          </a:rPr>
                          <m:t>𝑖</m:t>
                        </m:r>
                      </m:sub>
                    </m:sSub>
                  </m:oMath>
                </a14:m>
                <a:r>
                  <a:rPr lang="ar-SA" dirty="0"/>
                  <a:t>(</a:t>
                </a:r>
                <a:r>
                  <a:rPr lang="en-US" dirty="0"/>
                  <a:t>because some paths are longer),</a:t>
                </a:r>
              </a:p>
              <a:p>
                <a:r>
                  <a:rPr lang="en-US" dirty="0"/>
                  <a:t>a </a:t>
                </a:r>
                <a:r>
                  <a:rPr lang="en-US" b="1" dirty="0"/>
                  <a:t>Doppler shift</a:t>
                </a:r>
                <a:r>
                  <a:rPr lang="en-US" dirty="0"/>
                  <a:t> </a:t>
                </a:r>
                <a14:m>
                  <m:oMath xmlns:m="http://schemas.openxmlformats.org/officeDocument/2006/math">
                    <m:sSub>
                      <m:sSubPr>
                        <m:ctrlPr>
                          <a:rPr lang="ar-SA" sz="1200" kern="1200">
                            <a:solidFill>
                              <a:schemeClr val="tx1"/>
                            </a:solidFill>
                            <a:latin typeface="+mn-lt"/>
                            <a:ea typeface="+mn-ea"/>
                            <a:cs typeface="+mn-cs"/>
                          </a:rPr>
                        </m:ctrlPr>
                      </m:sSubPr>
                      <m:e>
                        <m:r>
                          <a:rPr lang="ar-SA" sz="1200" i="1" kern="1200">
                            <a:solidFill>
                              <a:schemeClr val="tx1"/>
                            </a:solidFill>
                            <a:latin typeface="+mn-lt"/>
                            <a:ea typeface="+mn-ea"/>
                            <a:cs typeface="+mn-cs"/>
                          </a:rPr>
                          <m:t>𝑓</m:t>
                        </m:r>
                      </m:e>
                      <m:sub>
                        <m:r>
                          <a:rPr lang="ar-SA" sz="1200" i="1" kern="1200">
                            <a:solidFill>
                              <a:schemeClr val="tx1"/>
                            </a:solidFill>
                            <a:latin typeface="+mn-lt"/>
                            <a:ea typeface="+mn-ea"/>
                            <a:cs typeface="+mn-cs"/>
                          </a:rPr>
                          <m:t>𝑖</m:t>
                        </m:r>
                      </m:sub>
                    </m:sSub>
                  </m:oMath>
                </a14:m>
                <a:r>
                  <a:rPr lang="ar-SA" dirty="0"/>
                  <a:t>(</a:t>
                </a:r>
                <a:r>
                  <a:rPr lang="en-US" dirty="0"/>
                  <a:t>because of motion),</a:t>
                </a:r>
              </a:p>
              <a:p>
                <a:r>
                  <a:rPr lang="en-US" dirty="0"/>
                  <a:t>and a </a:t>
                </a:r>
                <a:r>
                  <a:rPr lang="en-US" b="1" dirty="0"/>
                  <a:t>channel gain</a:t>
                </a:r>
                <a:r>
                  <a:rPr lang="en-US" dirty="0"/>
                  <a:t> </a:t>
                </a:r>
                <a14:m>
                  <m:oMath xmlns:m="http://schemas.openxmlformats.org/officeDocument/2006/math">
                    <m:sSub>
                      <m:sSubPr>
                        <m:ctrlPr>
                          <a:rPr lang="ar-SA" sz="1200" kern="1200">
                            <a:solidFill>
                              <a:schemeClr val="tx1"/>
                            </a:solidFill>
                            <a:latin typeface="+mn-lt"/>
                            <a:ea typeface="+mn-ea"/>
                            <a:cs typeface="+mn-cs"/>
                          </a:rPr>
                        </m:ctrlPr>
                      </m:sSubPr>
                      <m:e>
                        <m:r>
                          <a:rPr lang="ar-SA" sz="1200" i="1" kern="1200">
                            <a:solidFill>
                              <a:schemeClr val="tx1"/>
                            </a:solidFill>
                            <a:latin typeface="+mn-lt"/>
                            <a:ea typeface="+mn-ea"/>
                            <a:cs typeface="+mn-cs"/>
                          </a:rPr>
                          <m:t>𝐶</m:t>
                        </m:r>
                      </m:e>
                      <m:sub>
                        <m:r>
                          <a:rPr lang="ar-SA" sz="1200" i="1" kern="1200">
                            <a:solidFill>
                              <a:schemeClr val="tx1"/>
                            </a:solidFill>
                            <a:latin typeface="+mn-lt"/>
                            <a:ea typeface="+mn-ea"/>
                            <a:cs typeface="+mn-cs"/>
                          </a:rPr>
                          <m:t>𝑖</m:t>
                        </m:r>
                      </m:sub>
                    </m:sSub>
                  </m:oMath>
                </a14:m>
                <a:r>
                  <a:rPr lang="ar-SA" dirty="0"/>
                  <a:t>(</a:t>
                </a:r>
                <a:r>
                  <a:rPr lang="en-US" dirty="0"/>
                  <a:t>signal strength depending on reflection or scattering).</a:t>
                </a:r>
              </a:p>
              <a:p>
                <a:endParaRPr lang="en-US" dirty="0"/>
              </a:p>
            </p:txBody>
          </p:sp>
        </mc:Choice>
        <mc:Fallback>
          <p:sp>
            <p:nvSpPr>
              <p:cNvPr id="3" name="Notes Placeholder 2"/>
              <p:cNvSpPr>
                <a:spLocks noGrp="1"/>
              </p:cNvSpPr>
              <p:nvPr>
                <p:ph type="body" idx="1"/>
              </p:nvPr>
            </p:nvSpPr>
            <p:spPr/>
            <p:txBody>
              <a:bodyPr/>
              <a:lstStyle/>
              <a:p>
                <a:r>
                  <a:rPr lang="en-US" dirty="0"/>
                  <a:t>It comes through </a:t>
                </a:r>
                <a:r>
                  <a:rPr lang="en-US" b="1" dirty="0"/>
                  <a:t>multiple paths</a:t>
                </a:r>
                <a:r>
                  <a:rPr lang="en-US" dirty="0"/>
                  <a:t>, each with:</a:t>
                </a:r>
              </a:p>
              <a:p>
                <a:r>
                  <a:rPr lang="en-US" dirty="0"/>
                  <a:t>a </a:t>
                </a:r>
                <a:r>
                  <a:rPr lang="en-US" b="1" dirty="0"/>
                  <a:t>delay</a:t>
                </a:r>
                <a:r>
                  <a:rPr lang="en-US" dirty="0"/>
                  <a:t> </a:t>
                </a:r>
                <a:r>
                  <a:rPr lang="ar-SA" sz="1200" i="0" kern="1200">
                    <a:solidFill>
                      <a:schemeClr val="tx1"/>
                    </a:solidFill>
                    <a:latin typeface="+mn-lt"/>
                    <a:ea typeface="+mn-ea"/>
                    <a:cs typeface="+mn-cs"/>
                  </a:rPr>
                  <a:t>𝜏_𝑖</a:t>
                </a:r>
                <a:r>
                  <a:rPr lang="ar-SA" dirty="0"/>
                  <a:t>(</a:t>
                </a:r>
                <a:r>
                  <a:rPr lang="en-US" dirty="0"/>
                  <a:t>because some paths are longer),</a:t>
                </a:r>
              </a:p>
              <a:p>
                <a:r>
                  <a:rPr lang="en-US" dirty="0"/>
                  <a:t>a </a:t>
                </a:r>
                <a:r>
                  <a:rPr lang="en-US" b="1" dirty="0"/>
                  <a:t>Doppler shift</a:t>
                </a:r>
                <a:r>
                  <a:rPr lang="en-US" dirty="0"/>
                  <a:t> </a:t>
                </a:r>
                <a:r>
                  <a:rPr lang="ar-SA" sz="1200" i="0" kern="1200">
                    <a:solidFill>
                      <a:schemeClr val="tx1"/>
                    </a:solidFill>
                    <a:latin typeface="+mn-lt"/>
                    <a:ea typeface="+mn-ea"/>
                    <a:cs typeface="+mn-cs"/>
                  </a:rPr>
                  <a:t>𝑓_𝑖</a:t>
                </a:r>
                <a:r>
                  <a:rPr lang="ar-SA" dirty="0"/>
                  <a:t>(</a:t>
                </a:r>
                <a:r>
                  <a:rPr lang="en-US" dirty="0"/>
                  <a:t>because of motion),</a:t>
                </a:r>
              </a:p>
              <a:p>
                <a:r>
                  <a:rPr lang="en-US" dirty="0"/>
                  <a:t>and a </a:t>
                </a:r>
                <a:r>
                  <a:rPr lang="en-US" b="1" dirty="0"/>
                  <a:t>channel gain</a:t>
                </a:r>
                <a:r>
                  <a:rPr lang="en-US" dirty="0"/>
                  <a:t> </a:t>
                </a:r>
                <a:r>
                  <a:rPr lang="ar-SA" sz="1200" i="0" kern="1200">
                    <a:solidFill>
                      <a:schemeClr val="tx1"/>
                    </a:solidFill>
                    <a:latin typeface="+mn-lt"/>
                    <a:ea typeface="+mn-ea"/>
                    <a:cs typeface="+mn-cs"/>
                  </a:rPr>
                  <a:t>𝐶_𝑖</a:t>
                </a:r>
                <a:r>
                  <a:rPr lang="ar-SA" dirty="0"/>
                  <a:t>(</a:t>
                </a:r>
                <a:r>
                  <a:rPr lang="en-US" dirty="0"/>
                  <a:t>signal strength depending on reflection or scattering).</a:t>
                </a:r>
              </a:p>
              <a:p>
                <a:endParaRPr lang="en-US" dirty="0"/>
              </a:p>
            </p:txBody>
          </p:sp>
        </mc:Fallback>
      </mc:AlternateContent>
      <p:sp>
        <p:nvSpPr>
          <p:cNvPr id="4" name="Slide Number Placeholder 3"/>
          <p:cNvSpPr>
            <a:spLocks noGrp="1"/>
          </p:cNvSpPr>
          <p:nvPr>
            <p:ph type="sldNum" sz="quarter" idx="5"/>
          </p:nvPr>
        </p:nvSpPr>
        <p:spPr/>
        <p:txBody>
          <a:bodyPr/>
          <a:lstStyle/>
          <a:p>
            <a:fld id="{9D31E985-387E-4400-B108-EA1B51C5B9E2}" type="slidenum">
              <a:rPr lang="en-US" smtClean="0"/>
              <a:t>21</a:t>
            </a:fld>
            <a:endParaRPr lang="en-US"/>
          </a:p>
        </p:txBody>
      </p:sp>
    </p:spTree>
    <p:extLst>
      <p:ext uri="{BB962C8B-B14F-4D97-AF65-F5344CB8AC3E}">
        <p14:creationId xmlns:p14="http://schemas.microsoft.com/office/powerpoint/2010/main" val="3289143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31E985-387E-4400-B108-EA1B51C5B9E2}" type="slidenum">
              <a:rPr lang="en-US" smtClean="0"/>
              <a:t>22</a:t>
            </a:fld>
            <a:endParaRPr lang="en-US"/>
          </a:p>
        </p:txBody>
      </p:sp>
    </p:spTree>
    <p:extLst>
      <p:ext uri="{BB962C8B-B14F-4D97-AF65-F5344CB8AC3E}">
        <p14:creationId xmlns:p14="http://schemas.microsoft.com/office/powerpoint/2010/main" val="14014498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655132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3944058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378860F-9BD5-42E1-91FE-31F6B999C27B}"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3567230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78860F-9BD5-42E1-91FE-31F6B999C27B}"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334795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78860F-9BD5-42E1-91FE-31F6B999C27B}" type="datetimeFigureOut">
              <a:rPr lang="en-US" smtClean="0"/>
              <a:t>10/25/2025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3080926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78860F-9BD5-42E1-91FE-31F6B999C27B}" type="datetimeFigureOut">
              <a:rPr lang="en-US" smtClean="0"/>
              <a:t>10/25/2025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2337724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78860F-9BD5-42E1-91FE-31F6B999C27B}" type="datetimeFigureOut">
              <a:rPr lang="en-US" smtClean="0"/>
              <a:t>10/25/2025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2858613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78860F-9BD5-42E1-91FE-31F6B999C27B}"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356059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78860F-9BD5-42E1-91FE-31F6B999C27B}"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296077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4014580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715569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78860F-9BD5-42E1-91FE-31F6B999C27B}" type="datetimeFigureOut">
              <a:rPr lang="en-US" smtClean="0"/>
              <a:t>10/25/2025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943F1-416A-4DD9-B254-68C50F22A07F}" type="slidenum">
              <a:rPr lang="en-US" smtClean="0"/>
              <a:t>‹#›</a:t>
            </a:fld>
            <a:endParaRPr lang="en-US"/>
          </a:p>
        </p:txBody>
      </p:sp>
    </p:spTree>
    <p:extLst>
      <p:ext uri="{BB962C8B-B14F-4D97-AF65-F5344CB8AC3E}">
        <p14:creationId xmlns:p14="http://schemas.microsoft.com/office/powerpoint/2010/main" val="11354686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mailto:i.chatzigeorgiou@lancaster.ac.u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emf"/></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emf"/><Relationship Id="rId3" Type="http://schemas.openxmlformats.org/officeDocument/2006/relationships/image" Target="../media/image38.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emf"/></Relationships>
</file>

<file path=ppt/slides/_rels/slide27.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emf"/><Relationship Id="rId1" Type="http://schemas.openxmlformats.org/officeDocument/2006/relationships/slideLayout" Target="../slideLayouts/slideLayout2.xml"/><Relationship Id="rId5" Type="http://schemas.openxmlformats.org/officeDocument/2006/relationships/image" Target="../media/image73.emf"/><Relationship Id="rId4" Type="http://schemas.openxmlformats.org/officeDocument/2006/relationships/image" Target="../media/image72.png"/></Relationships>
</file>

<file path=ppt/slides/_rels/slide2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SSC-slide-2"/>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p:spPr>
      </p:pic>
      <p:sp>
        <p:nvSpPr>
          <p:cNvPr id="11" name="Text Box 9"/>
          <p:cNvSpPr txBox="1">
            <a:spLocks noChangeArrowheads="1"/>
          </p:cNvSpPr>
          <p:nvPr/>
        </p:nvSpPr>
        <p:spPr bwMode="auto">
          <a:xfrm>
            <a:off x="1821912" y="4403909"/>
            <a:ext cx="4697322" cy="738664"/>
          </a:xfrm>
          <a:prstGeom prst="rect">
            <a:avLst/>
          </a:prstGeom>
          <a:noFill/>
          <a:ln w="9525">
            <a:noFill/>
            <a:miter lim="800000"/>
            <a:headEnd/>
            <a:tailEnd/>
          </a:ln>
        </p:spPr>
        <p:txBody>
          <a:bodyPr wrap="square" lIns="91440" tIns="45720" rIns="91440" bIns="45720" anchor="t">
            <a:spAutoFit/>
          </a:bodyPr>
          <a:lstStyle/>
          <a:p>
            <a:pPr eaLnBrk="1" hangingPunct="1">
              <a:spcBef>
                <a:spcPts val="0"/>
              </a:spcBef>
              <a:buClr>
                <a:schemeClr val="tx1"/>
              </a:buClr>
            </a:pPr>
            <a:r>
              <a:rPr lang="en-US" dirty="0">
                <a:latin typeface="Arial"/>
                <a:ea typeface="ヒラギノ角ゴ Pro W3"/>
                <a:cs typeface="Arial"/>
              </a:rPr>
              <a:t>Dr Muhammad Abrar (Dr. MAB)</a:t>
            </a:r>
            <a:endParaRPr lang="en-US" dirty="0"/>
          </a:p>
          <a:p>
            <a:pPr eaLnBrk="1" hangingPunct="1">
              <a:spcBef>
                <a:spcPts val="0"/>
              </a:spcBef>
              <a:buClr>
                <a:schemeClr val="tx1"/>
              </a:buClr>
            </a:pPr>
            <a:r>
              <a:rPr lang="en-GB" sz="1800" dirty="0">
                <a:solidFill>
                  <a:srgbClr val="000000"/>
                </a:solidFill>
                <a:latin typeface="Arial"/>
                <a:ea typeface="ヒラギノ角ゴ Pro W3"/>
                <a:cs typeface="ヒラギノ角ゴ Pro W3" charset="0"/>
                <a:hlinkClick r:id="rId4">
                  <a:extLst>
                    <a:ext uri="{A12FA001-AC4F-418D-AE19-62706E023703}">
                      <ahyp:hlinkClr xmlns:ahyp="http://schemas.microsoft.com/office/drawing/2018/hyperlinkcolor" val="tx"/>
                    </a:ext>
                  </a:extLst>
                </a:hlinkClick>
              </a:rPr>
              <a:t>m.</a:t>
            </a:r>
            <a:r>
              <a:rPr lang="en-GB" sz="1800" dirty="0">
                <a:solidFill>
                  <a:srgbClr val="000000"/>
                </a:solidFill>
                <a:latin typeface="Arial"/>
                <a:ea typeface="ヒラギノ角ゴ Pro W3"/>
                <a:cs typeface="ヒラギノ角ゴ Pro W3" charset="0"/>
                <a:hlinkClick r:id="rId4"/>
              </a:rPr>
              <a:t>abrar</a:t>
            </a:r>
            <a:r>
              <a:rPr lang="en-GB" sz="1800" dirty="0">
                <a:solidFill>
                  <a:srgbClr val="000000"/>
                </a:solidFill>
                <a:latin typeface="Arial"/>
                <a:ea typeface="ヒラギノ角ゴ Pro W3"/>
                <a:cs typeface="ヒラギノ角ゴ Pro W3" charset="0"/>
                <a:hlinkClick r:id="rId4">
                  <a:extLst>
                    <a:ext uri="{A12FA001-AC4F-418D-AE19-62706E023703}">
                      <ahyp:hlinkClr xmlns:ahyp="http://schemas.microsoft.com/office/drawing/2018/hyperlinkcolor" val="tx"/>
                    </a:ext>
                  </a:extLst>
                </a:hlinkClick>
              </a:rPr>
              <a:t>@lancaster.ac.uk</a:t>
            </a:r>
            <a:endParaRPr lang="en-US" sz="1800" dirty="0">
              <a:latin typeface="Arial"/>
              <a:ea typeface="ヒラギノ角ゴ Pro W3"/>
              <a:hlinkClick r:id="rId4">
                <a:extLst>
                  <a:ext uri="{A12FA001-AC4F-418D-AE19-62706E023703}">
                    <ahyp:hlinkClr xmlns:ahyp="http://schemas.microsoft.com/office/drawing/2018/hyperlinkcolor" val="tx"/>
                  </a:ext>
                </a:extLst>
              </a:hlinkClick>
            </a:endParaRPr>
          </a:p>
        </p:txBody>
      </p:sp>
      <p:sp>
        <p:nvSpPr>
          <p:cNvPr id="12" name="Title 1"/>
          <p:cNvSpPr>
            <a:spLocks noGrp="1"/>
          </p:cNvSpPr>
          <p:nvPr>
            <p:ph type="title"/>
          </p:nvPr>
        </p:nvSpPr>
        <p:spPr>
          <a:xfrm>
            <a:off x="1908175" y="1893316"/>
            <a:ext cx="5976194" cy="1967732"/>
          </a:xfrm>
        </p:spPr>
        <p:txBody>
          <a:bodyPr/>
          <a:lstStyle/>
          <a:p>
            <a:pPr eaLnBrk="1" hangingPunct="1">
              <a:spcBef>
                <a:spcPts val="1200"/>
              </a:spcBef>
              <a:defRPr/>
            </a:pPr>
            <a:r>
              <a:rPr lang="en-US" altLang="en-US" b="1" dirty="0"/>
              <a:t>Wireless Channel Modelling</a:t>
            </a:r>
            <a:endParaRPr lang="en-US" sz="3600" b="1" dirty="0">
              <a:solidFill>
                <a:schemeClr val="accent5">
                  <a:lumMod val="25000"/>
                </a:schemeClr>
              </a:solidFill>
              <a:latin typeface="Myriad Pro" charset="0"/>
            </a:endParaRPr>
          </a:p>
        </p:txBody>
      </p:sp>
      <p:sp>
        <p:nvSpPr>
          <p:cNvPr id="13" name="TextBox 3"/>
          <p:cNvSpPr txBox="1">
            <a:spLocks noChangeArrowheads="1"/>
          </p:cNvSpPr>
          <p:nvPr/>
        </p:nvSpPr>
        <p:spPr bwMode="auto">
          <a:xfrm>
            <a:off x="1908175" y="549275"/>
            <a:ext cx="4163319" cy="1031051"/>
          </a:xfrm>
          <a:prstGeom prst="rect">
            <a:avLst/>
          </a:prstGeom>
          <a:noFill/>
          <a:ln w="9525">
            <a:noFill/>
            <a:miter lim="800000"/>
            <a:headEnd/>
            <a:tailEnd/>
          </a:ln>
        </p:spPr>
        <p:txBody>
          <a:bodyPr wrap="none" lIns="91440" tIns="45720" rIns="91440" bIns="45720" anchor="t">
            <a:spAutoFit/>
          </a:bodyPr>
          <a:lstStyle/>
          <a:p>
            <a:pPr>
              <a:spcBef>
                <a:spcPts val="600"/>
              </a:spcBef>
            </a:pPr>
            <a:r>
              <a:rPr lang="en-US" sz="2800" dirty="0">
                <a:latin typeface="Arial"/>
                <a:ea typeface="ヒラギノ角ゴ Pro W3"/>
                <a:cs typeface="Arial"/>
              </a:rPr>
              <a:t>CNSCC.405</a:t>
            </a:r>
            <a:endParaRPr lang="en-US" dirty="0">
              <a:cs typeface="Arial" pitchFamily="34" charset="0"/>
            </a:endParaRPr>
          </a:p>
          <a:p>
            <a:pPr>
              <a:spcBef>
                <a:spcPts val="600"/>
              </a:spcBef>
            </a:pPr>
            <a:r>
              <a:rPr lang="en-US" sz="2800" dirty="0">
                <a:latin typeface="Arial"/>
                <a:ea typeface="ヒラギノ角ゴ Pro W3"/>
                <a:cs typeface="Arial"/>
              </a:rPr>
              <a:t>Digital Signal Processing</a:t>
            </a:r>
            <a:endParaRPr lang="en-US" dirty="0">
              <a:cs typeface="Arial"/>
            </a:endParaRPr>
          </a:p>
        </p:txBody>
      </p:sp>
      <p:grpSp>
        <p:nvGrpSpPr>
          <p:cNvPr id="2" name="Group 1"/>
          <p:cNvGrpSpPr/>
          <p:nvPr/>
        </p:nvGrpSpPr>
        <p:grpSpPr>
          <a:xfrm>
            <a:off x="203200" y="194733"/>
            <a:ext cx="1312334" cy="821267"/>
            <a:chOff x="203200" y="194733"/>
            <a:chExt cx="1312334" cy="821267"/>
          </a:xfrm>
        </p:grpSpPr>
        <p:sp>
          <p:nvSpPr>
            <p:cNvPr id="16" name="Rectangle 15"/>
            <p:cNvSpPr/>
            <p:nvPr userDrawn="1"/>
          </p:nvSpPr>
          <p:spPr bwMode="auto">
            <a:xfrm>
              <a:off x="203200" y="194733"/>
              <a:ext cx="1312334" cy="82126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Arial" pitchFamily="34" charset="0"/>
                <a:ea typeface="ヒラギノ角ゴ Pro W3" charset="-128"/>
              </a:endParaRPr>
            </a:p>
          </p:txBody>
        </p:sp>
        <p:pic>
          <p:nvPicPr>
            <p:cNvPr id="17" name="Picture 2" descr="\\lancs\homes\05\chatzige\My Desktop\bg-logo.pn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310480" y="456159"/>
              <a:ext cx="1082502" cy="338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xmlns:p14="http://schemas.microsoft.com/office/powerpoint/2010/main">
    <mc:Choice Requires="p14">
      <p:transition spd="slow" p14:dur="2000" advTm="35928"/>
    </mc:Choice>
    <mc:Fallback xmlns="">
      <p:transition spd="slow" advTm="3592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B25F8-BD97-9E6F-DB0B-866D3918B329}"/>
              </a:ext>
            </a:extLst>
          </p:cNvPr>
          <p:cNvSpPr>
            <a:spLocks noGrp="1"/>
          </p:cNvSpPr>
          <p:nvPr>
            <p:ph type="title"/>
          </p:nvPr>
        </p:nvSpPr>
        <p:spPr/>
        <p:txBody>
          <a:bodyPr/>
          <a:lstStyle/>
          <a:p>
            <a:r>
              <a:rPr lang="en-US" altLang="en-US" b="1" dirty="0"/>
              <a:t>Wireless Channel Modelling</a:t>
            </a:r>
            <a:endParaRPr lang="en-US" dirty="0"/>
          </a:p>
        </p:txBody>
      </p:sp>
      <p:sp>
        <p:nvSpPr>
          <p:cNvPr id="3" name="Content Placeholder 2">
            <a:extLst>
              <a:ext uri="{FF2B5EF4-FFF2-40B4-BE49-F238E27FC236}">
                <a16:creationId xmlns:a16="http://schemas.microsoft.com/office/drawing/2014/main" id="{5DC0DBE8-DA74-2E88-8FAD-ED7C4AAD70F2}"/>
              </a:ext>
            </a:extLst>
          </p:cNvPr>
          <p:cNvSpPr>
            <a:spLocks noGrp="1"/>
          </p:cNvSpPr>
          <p:nvPr>
            <p:ph idx="1"/>
          </p:nvPr>
        </p:nvSpPr>
        <p:spPr/>
        <p:txBody>
          <a:bodyPr/>
          <a:lstStyle/>
          <a:p>
            <a:r>
              <a:rPr lang="en-US" i="0" u="none" strike="noStrike" baseline="0" dirty="0">
                <a:latin typeface="Arial" panose="020B0604020202020204" pitchFamily="34" charset="0"/>
                <a:cs typeface="Arial" panose="020B0604020202020204" pitchFamily="34" charset="0"/>
              </a:rPr>
              <a:t>Large-Scale Fading</a:t>
            </a:r>
          </a:p>
          <a:p>
            <a:pPr lvl="2"/>
            <a:r>
              <a:rPr lang="en-US" i="0" u="none" strike="noStrike" baseline="0" dirty="0">
                <a:latin typeface="Arial" panose="020B0604020202020204" pitchFamily="34" charset="0"/>
                <a:cs typeface="Arial" panose="020B0604020202020204" pitchFamily="34" charset="0"/>
              </a:rPr>
              <a:t>General Path Loss Model</a:t>
            </a:r>
            <a:endParaRPr lang="en-US" dirty="0"/>
          </a:p>
          <a:p>
            <a:endParaRPr lang="en-US" dirty="0">
              <a:latin typeface="Arial" panose="020B0604020202020204" pitchFamily="34" charset="0"/>
              <a:cs typeface="Arial" panose="020B0604020202020204" pitchFamily="34" charset="0"/>
            </a:endParaRPr>
          </a:p>
          <a:p>
            <a:r>
              <a:rPr lang="en-US" i="0" u="none" strike="noStrike" baseline="0" dirty="0">
                <a:latin typeface="Arial" panose="020B0604020202020204" pitchFamily="34" charset="0"/>
                <a:cs typeface="Arial" panose="020B0604020202020204" pitchFamily="34" charset="0"/>
              </a:rPr>
              <a:t>Small-Scale Fading</a:t>
            </a:r>
          </a:p>
          <a:p>
            <a:endParaRPr lang="en-US" i="0" u="none" strike="noStrike" baseline="0"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a:p>
            <a:pPr marL="457200" lvl="1" indent="0">
              <a:buNone/>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7823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BC1AD-D582-A363-A3B6-D40890B3D4E3}"/>
              </a:ext>
            </a:extLst>
          </p:cNvPr>
          <p:cNvSpPr>
            <a:spLocks noGrp="1"/>
          </p:cNvSpPr>
          <p:nvPr>
            <p:ph type="title"/>
          </p:nvPr>
        </p:nvSpPr>
        <p:spPr>
          <a:xfrm>
            <a:off x="508908" y="386898"/>
            <a:ext cx="7886700" cy="712560"/>
          </a:xfrm>
        </p:spPr>
        <p:txBody>
          <a:bodyPr>
            <a:normAutofit/>
          </a:bodyPr>
          <a:lstStyle/>
          <a:p>
            <a:r>
              <a:rPr lang="en-US" sz="3600" b="1" dirty="0"/>
              <a:t>Power Delay Profile (PDP)</a:t>
            </a:r>
          </a:p>
        </p:txBody>
      </p:sp>
      <p:sp>
        <p:nvSpPr>
          <p:cNvPr id="3" name="Content Placeholder 2">
            <a:extLst>
              <a:ext uri="{FF2B5EF4-FFF2-40B4-BE49-F238E27FC236}">
                <a16:creationId xmlns:a16="http://schemas.microsoft.com/office/drawing/2014/main" id="{9CA1D806-DC06-D614-BA81-B97B31150A8F}"/>
              </a:ext>
            </a:extLst>
          </p:cNvPr>
          <p:cNvSpPr>
            <a:spLocks noGrp="1"/>
          </p:cNvSpPr>
          <p:nvPr>
            <p:ph idx="1"/>
          </p:nvPr>
        </p:nvSpPr>
        <p:spPr>
          <a:xfrm>
            <a:off x="317047" y="2225798"/>
            <a:ext cx="8692241" cy="1211490"/>
          </a:xfrm>
        </p:spPr>
        <p:txBody>
          <a:bodyPr>
            <a:normAutofit/>
          </a:bodyPr>
          <a:lstStyle/>
          <a:p>
            <a:pPr marL="0" indent="0">
              <a:buNone/>
            </a:pPr>
            <a:r>
              <a:rPr lang="en-US" sz="2000" i="0" dirty="0">
                <a:solidFill>
                  <a:srgbClr val="111111"/>
                </a:solidFill>
                <a:effectLst/>
                <a:latin typeface="Arial" panose="020B0604020202020204" pitchFamily="34" charset="0"/>
                <a:ea typeface="Microsoft YaHei" panose="020B0503020204020204" pitchFamily="34" charset="-122"/>
                <a:cs typeface="Arial" panose="020B0604020202020204" pitchFamily="34" charset="0"/>
              </a:rPr>
              <a:t>The power delay profile of a channel represents the average power of the received signal in terms of the delay with respect to the first arrival path in multi-path transmission. </a:t>
            </a: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0E30DF2-9843-296F-6A3B-BB3A40862D16}"/>
              </a:ext>
            </a:extLst>
          </p:cNvPr>
          <p:cNvPicPr>
            <a:picLocks noChangeAspect="1"/>
          </p:cNvPicPr>
          <p:nvPr/>
        </p:nvPicPr>
        <p:blipFill>
          <a:blip r:embed="rId3"/>
          <a:stretch>
            <a:fillRect/>
          </a:stretch>
        </p:blipFill>
        <p:spPr>
          <a:xfrm>
            <a:off x="146956" y="3890783"/>
            <a:ext cx="8850086" cy="2126825"/>
          </a:xfrm>
          <a:prstGeom prst="rect">
            <a:avLst/>
          </a:prstGeom>
        </p:spPr>
      </p:pic>
      <p:sp>
        <p:nvSpPr>
          <p:cNvPr id="7" name="TextBox 6">
            <a:extLst>
              <a:ext uri="{FF2B5EF4-FFF2-40B4-BE49-F238E27FC236}">
                <a16:creationId xmlns:a16="http://schemas.microsoft.com/office/drawing/2014/main" id="{40F9275A-08E6-BF2C-EA70-405E254DF7D1}"/>
              </a:ext>
            </a:extLst>
          </p:cNvPr>
          <p:cNvSpPr txBox="1"/>
          <p:nvPr/>
        </p:nvSpPr>
        <p:spPr>
          <a:xfrm>
            <a:off x="73478" y="6471103"/>
            <a:ext cx="8997043" cy="338554"/>
          </a:xfrm>
          <a:prstGeom prst="rect">
            <a:avLst/>
          </a:prstGeom>
          <a:noFill/>
        </p:spPr>
        <p:txBody>
          <a:bodyPr wrap="square">
            <a:spAutoFit/>
          </a:bodyPr>
          <a:lstStyle/>
          <a:p>
            <a:pPr algn="r"/>
            <a:endParaRPr lang="en-US" sz="800" b="0" i="0" u="none" strike="noStrike" baseline="0" dirty="0">
              <a:solidFill>
                <a:srgbClr val="000000"/>
              </a:solidFill>
              <a:latin typeface="Calibri" panose="020F0502020204030204" pitchFamily="34" charset="0"/>
            </a:endParaRPr>
          </a:p>
          <a:p>
            <a:pPr algn="r"/>
            <a:r>
              <a:rPr lang="en-US" sz="800" b="0" i="0" u="none" strike="noStrike" baseline="0" dirty="0">
                <a:solidFill>
                  <a:srgbClr val="000000"/>
                </a:solidFill>
                <a:latin typeface="Calibri" panose="020F0502020204030204" pitchFamily="34" charset="0"/>
              </a:rPr>
              <a:t> Ref: MIMO-OFDM wireless communications with MATLAB. Cho, Y. S., Kim, J., Yang, W. Y., &amp; Kang, C. G. John Wiley &amp; Sons, 2010. </a:t>
            </a:r>
            <a:endParaRPr lang="en-US" sz="800" dirty="0"/>
          </a:p>
        </p:txBody>
      </p:sp>
      <p:sp>
        <p:nvSpPr>
          <p:cNvPr id="9" name="TextBox 8">
            <a:extLst>
              <a:ext uri="{FF2B5EF4-FFF2-40B4-BE49-F238E27FC236}">
                <a16:creationId xmlns:a16="http://schemas.microsoft.com/office/drawing/2014/main" id="{88752C2C-09CC-2186-840B-A31147F9A85A}"/>
              </a:ext>
            </a:extLst>
          </p:cNvPr>
          <p:cNvSpPr txBox="1"/>
          <p:nvPr/>
        </p:nvSpPr>
        <p:spPr>
          <a:xfrm>
            <a:off x="508908" y="1233065"/>
            <a:ext cx="8308521" cy="707886"/>
          </a:xfrm>
          <a:prstGeom prst="rect">
            <a:avLst/>
          </a:prstGeom>
          <a:noFill/>
        </p:spPr>
        <p:txBody>
          <a:bodyPr wrap="square">
            <a:spAutoFit/>
          </a:bodyPr>
          <a:lstStyle/>
          <a:p>
            <a:pPr marR="60"/>
            <a:r>
              <a:rPr lang="en-US" sz="2000" dirty="0">
                <a:solidFill>
                  <a:srgbClr val="111111"/>
                </a:solidFill>
                <a:latin typeface="Arial" panose="020B0604020202020204" pitchFamily="34" charset="0"/>
                <a:ea typeface="Microsoft YaHei" panose="020B0503020204020204" pitchFamily="34" charset="-122"/>
                <a:cs typeface="Arial" panose="020B0604020202020204" pitchFamily="34" charset="0"/>
              </a:rPr>
              <a:t>Characteristics of a multipath fading channel are often specified by a power delay profile (PDP).</a:t>
            </a:r>
          </a:p>
        </p:txBody>
      </p:sp>
    </p:spTree>
    <p:extLst>
      <p:ext uri="{BB962C8B-B14F-4D97-AF65-F5344CB8AC3E}">
        <p14:creationId xmlns:p14="http://schemas.microsoft.com/office/powerpoint/2010/main" val="2196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A89E5-7C10-510F-3AE5-35B5F5CA441C}"/>
              </a:ext>
            </a:extLst>
          </p:cNvPr>
          <p:cNvSpPr>
            <a:spLocks noGrp="1"/>
          </p:cNvSpPr>
          <p:nvPr>
            <p:ph type="title"/>
          </p:nvPr>
        </p:nvSpPr>
        <p:spPr/>
        <p:txBody>
          <a:bodyPr/>
          <a:lstStyle/>
          <a:p>
            <a:r>
              <a:rPr lang="en-US" sz="4400" b="1" dirty="0"/>
              <a:t>Parameters for Small-Scale Fading</a:t>
            </a:r>
            <a:endParaRPr lang="en-US" dirty="0"/>
          </a:p>
        </p:txBody>
      </p:sp>
      <p:sp>
        <p:nvSpPr>
          <p:cNvPr id="3" name="Content Placeholder 2">
            <a:extLst>
              <a:ext uri="{FF2B5EF4-FFF2-40B4-BE49-F238E27FC236}">
                <a16:creationId xmlns:a16="http://schemas.microsoft.com/office/drawing/2014/main" id="{17371AF9-0F74-C6AF-D407-40151C619DEC}"/>
              </a:ext>
            </a:extLst>
          </p:cNvPr>
          <p:cNvSpPr>
            <a:spLocks noGrp="1"/>
          </p:cNvSpPr>
          <p:nvPr>
            <p:ph idx="1"/>
          </p:nvPr>
        </p:nvSpPr>
        <p:spPr>
          <a:xfrm>
            <a:off x="628650" y="1825625"/>
            <a:ext cx="7886700" cy="1325563"/>
          </a:xfrm>
        </p:spPr>
        <p:txBody>
          <a:bodyPr/>
          <a:lstStyle/>
          <a:p>
            <a:r>
              <a:rPr lang="en-US" sz="2800" b="0" i="0" u="none" strike="noStrike" kern="1200" baseline="0" dirty="0">
                <a:solidFill>
                  <a:schemeClr val="tx1"/>
                </a:solidFill>
                <a:latin typeface="+mn-lt"/>
                <a:ea typeface="+mn-ea"/>
                <a:cs typeface="+mn-cs"/>
              </a:rPr>
              <a:t>Mean excess delay </a:t>
            </a:r>
          </a:p>
          <a:p>
            <a:r>
              <a:rPr lang="en-US" sz="2800" b="0" i="0" u="none" strike="noStrike" kern="1200" baseline="0" dirty="0">
                <a:solidFill>
                  <a:schemeClr val="tx1"/>
                </a:solidFill>
                <a:latin typeface="+mn-lt"/>
                <a:ea typeface="+mn-ea"/>
                <a:cs typeface="+mn-cs"/>
              </a:rPr>
              <a:t>RMS delay spread </a:t>
            </a:r>
          </a:p>
          <a:p>
            <a:endParaRPr lang="en-US" dirty="0"/>
          </a:p>
        </p:txBody>
      </p:sp>
      <p:sp>
        <p:nvSpPr>
          <p:cNvPr id="5" name="TextBox 4">
            <a:extLst>
              <a:ext uri="{FF2B5EF4-FFF2-40B4-BE49-F238E27FC236}">
                <a16:creationId xmlns:a16="http://schemas.microsoft.com/office/drawing/2014/main" id="{F2DC4543-1AA9-4F41-55A8-7CCA100DA54F}"/>
              </a:ext>
            </a:extLst>
          </p:cNvPr>
          <p:cNvSpPr txBox="1"/>
          <p:nvPr/>
        </p:nvSpPr>
        <p:spPr>
          <a:xfrm>
            <a:off x="359230" y="3532641"/>
            <a:ext cx="8654142" cy="1015663"/>
          </a:xfrm>
          <a:prstGeom prst="rect">
            <a:avLst/>
          </a:prstGeom>
          <a:noFill/>
        </p:spPr>
        <p:txBody>
          <a:bodyPr wrap="square">
            <a:spAutoFit/>
          </a:bodyPr>
          <a:lstStyle/>
          <a:p>
            <a:pPr lvl="1"/>
            <a:r>
              <a:rPr lang="en-US" sz="2000" dirty="0"/>
              <a:t>Both </a:t>
            </a:r>
            <a:r>
              <a:rPr lang="en-US" sz="2000" b="0" i="0" u="none" strike="noStrike" kern="1200" baseline="0" dirty="0">
                <a:solidFill>
                  <a:schemeClr val="tx1"/>
                </a:solidFill>
                <a:latin typeface="+mn-lt"/>
                <a:ea typeface="+mn-ea"/>
                <a:cs typeface="+mn-cs"/>
              </a:rPr>
              <a:t>are useful channel parameters that provide a reference of comparison among the different multipath fading channels, and furthermore, show a general guideline to design a wireless transmission system.</a:t>
            </a:r>
            <a:endParaRPr lang="en-US" sz="2000" dirty="0"/>
          </a:p>
        </p:txBody>
      </p:sp>
    </p:spTree>
    <p:extLst>
      <p:ext uri="{BB962C8B-B14F-4D97-AF65-F5344CB8AC3E}">
        <p14:creationId xmlns:p14="http://schemas.microsoft.com/office/powerpoint/2010/main" val="339375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1EC78-695F-410B-810E-6C88E03C88E7}"/>
              </a:ext>
            </a:extLst>
          </p:cNvPr>
          <p:cNvSpPr>
            <a:spLocks noGrp="1"/>
          </p:cNvSpPr>
          <p:nvPr>
            <p:ph type="title"/>
          </p:nvPr>
        </p:nvSpPr>
        <p:spPr>
          <a:xfrm>
            <a:off x="228601" y="686254"/>
            <a:ext cx="1774371" cy="1094397"/>
          </a:xfrm>
        </p:spPr>
        <p:txBody>
          <a:bodyPr>
            <a:normAutofit fontScale="90000"/>
          </a:bodyPr>
          <a:lstStyle/>
          <a:p>
            <a:r>
              <a:rPr lang="en-US" sz="3600" b="1" dirty="0"/>
              <a:t>Delay spread over Distance</a:t>
            </a:r>
          </a:p>
        </p:txBody>
      </p:sp>
      <p:pic>
        <p:nvPicPr>
          <p:cNvPr id="4" name="Picture 3">
            <a:extLst>
              <a:ext uri="{FF2B5EF4-FFF2-40B4-BE49-F238E27FC236}">
                <a16:creationId xmlns:a16="http://schemas.microsoft.com/office/drawing/2014/main" id="{9683A706-299C-4E28-AFDF-7786D49C5C97}"/>
              </a:ext>
            </a:extLst>
          </p:cNvPr>
          <p:cNvPicPr>
            <a:picLocks noChangeAspect="1"/>
          </p:cNvPicPr>
          <p:nvPr/>
        </p:nvPicPr>
        <p:blipFill>
          <a:blip r:embed="rId2"/>
          <a:stretch>
            <a:fillRect/>
          </a:stretch>
        </p:blipFill>
        <p:spPr>
          <a:xfrm>
            <a:off x="2002972" y="403251"/>
            <a:ext cx="6593524" cy="6008433"/>
          </a:xfrm>
          <a:prstGeom prst="rect">
            <a:avLst/>
          </a:prstGeom>
        </p:spPr>
      </p:pic>
    </p:spTree>
    <p:extLst>
      <p:ext uri="{BB962C8B-B14F-4D97-AF65-F5344CB8AC3E}">
        <p14:creationId xmlns:p14="http://schemas.microsoft.com/office/powerpoint/2010/main" val="2830019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2A6BE-AC94-FEC2-E29D-B2DBF9262232}"/>
              </a:ext>
            </a:extLst>
          </p:cNvPr>
          <p:cNvSpPr>
            <a:spLocks noGrp="1"/>
          </p:cNvSpPr>
          <p:nvPr>
            <p:ph type="title"/>
          </p:nvPr>
        </p:nvSpPr>
        <p:spPr>
          <a:xfrm>
            <a:off x="966107" y="223613"/>
            <a:ext cx="7886700" cy="1060902"/>
          </a:xfrm>
        </p:spPr>
        <p:txBody>
          <a:bodyPr>
            <a:normAutofit/>
          </a:bodyPr>
          <a:lstStyle/>
          <a:p>
            <a:r>
              <a:rPr lang="en-US" sz="3600" b="1" dirty="0"/>
              <a:t>Delay Spread (Time Domain)</a:t>
            </a:r>
          </a:p>
        </p:txBody>
      </p:sp>
      <p:pic>
        <p:nvPicPr>
          <p:cNvPr id="4" name="Picture 4" descr="A picture containing text&#10;&#10;Description automatically generated">
            <a:extLst>
              <a:ext uri="{FF2B5EF4-FFF2-40B4-BE49-F238E27FC236}">
                <a16:creationId xmlns:a16="http://schemas.microsoft.com/office/drawing/2014/main" id="{8946C63F-480B-7CA1-4288-DC22D3892ED3}"/>
              </a:ext>
            </a:extLst>
          </p:cNvPr>
          <p:cNvPicPr>
            <a:picLocks noChangeAspect="1"/>
          </p:cNvPicPr>
          <p:nvPr/>
        </p:nvPicPr>
        <p:blipFill>
          <a:blip r:embed="rId2"/>
          <a:stretch>
            <a:fillRect/>
          </a:stretch>
        </p:blipFill>
        <p:spPr>
          <a:xfrm>
            <a:off x="966107" y="1621972"/>
            <a:ext cx="7376766" cy="4266664"/>
          </a:xfrm>
          <a:prstGeom prst="rect">
            <a:avLst/>
          </a:prstGeom>
        </p:spPr>
      </p:pic>
    </p:spTree>
    <p:extLst>
      <p:ext uri="{BB962C8B-B14F-4D97-AF65-F5344CB8AC3E}">
        <p14:creationId xmlns:p14="http://schemas.microsoft.com/office/powerpoint/2010/main" val="161826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FDDC0-1F5F-4C79-86EA-017D352CFD5C}"/>
              </a:ext>
            </a:extLst>
          </p:cNvPr>
          <p:cNvSpPr>
            <a:spLocks noGrp="1"/>
          </p:cNvSpPr>
          <p:nvPr>
            <p:ph type="title"/>
          </p:nvPr>
        </p:nvSpPr>
        <p:spPr>
          <a:xfrm>
            <a:off x="479181" y="113504"/>
            <a:ext cx="7886700" cy="1325563"/>
          </a:xfrm>
        </p:spPr>
        <p:txBody>
          <a:bodyPr>
            <a:normAutofit/>
          </a:bodyPr>
          <a:lstStyle/>
          <a:p>
            <a:r>
              <a:rPr lang="en-US" sz="3600" b="1" dirty="0"/>
              <a:t>Delay Spread</a:t>
            </a:r>
          </a:p>
        </p:txBody>
      </p:sp>
      <p:pic>
        <p:nvPicPr>
          <p:cNvPr id="5" name="Picture 4">
            <a:extLst>
              <a:ext uri="{FF2B5EF4-FFF2-40B4-BE49-F238E27FC236}">
                <a16:creationId xmlns:a16="http://schemas.microsoft.com/office/drawing/2014/main" id="{43FAEE59-6F84-4EC3-804A-68965CE0BAE1}"/>
              </a:ext>
            </a:extLst>
          </p:cNvPr>
          <p:cNvPicPr>
            <a:picLocks noChangeAspect="1"/>
          </p:cNvPicPr>
          <p:nvPr/>
        </p:nvPicPr>
        <p:blipFill>
          <a:blip r:embed="rId2"/>
          <a:stretch>
            <a:fillRect/>
          </a:stretch>
        </p:blipFill>
        <p:spPr>
          <a:xfrm>
            <a:off x="80962" y="1690689"/>
            <a:ext cx="8982075" cy="4391025"/>
          </a:xfrm>
          <a:prstGeom prst="rect">
            <a:avLst/>
          </a:prstGeom>
        </p:spPr>
      </p:pic>
    </p:spTree>
    <p:extLst>
      <p:ext uri="{BB962C8B-B14F-4D97-AF65-F5344CB8AC3E}">
        <p14:creationId xmlns:p14="http://schemas.microsoft.com/office/powerpoint/2010/main" val="1885382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D4058-41C6-449A-97FF-872307DD2D80}"/>
              </a:ext>
            </a:extLst>
          </p:cNvPr>
          <p:cNvSpPr>
            <a:spLocks noGrp="1"/>
          </p:cNvSpPr>
          <p:nvPr>
            <p:ph type="title"/>
          </p:nvPr>
        </p:nvSpPr>
        <p:spPr>
          <a:xfrm>
            <a:off x="628650" y="365126"/>
            <a:ext cx="7886700" cy="980097"/>
          </a:xfrm>
        </p:spPr>
        <p:txBody>
          <a:bodyPr>
            <a:normAutofit/>
          </a:bodyPr>
          <a:lstStyle/>
          <a:p>
            <a:r>
              <a:rPr lang="en-US" sz="3600" b="1" dirty="0"/>
              <a:t>The RMS Delay Spread</a:t>
            </a:r>
          </a:p>
        </p:txBody>
      </p:sp>
      <p:pic>
        <p:nvPicPr>
          <p:cNvPr id="4" name="Picture 3">
            <a:extLst>
              <a:ext uri="{FF2B5EF4-FFF2-40B4-BE49-F238E27FC236}">
                <a16:creationId xmlns:a16="http://schemas.microsoft.com/office/drawing/2014/main" id="{6132F911-D3F6-45BA-AC8F-40F3FDDACB07}"/>
              </a:ext>
            </a:extLst>
          </p:cNvPr>
          <p:cNvPicPr>
            <a:picLocks noChangeAspect="1"/>
          </p:cNvPicPr>
          <p:nvPr/>
        </p:nvPicPr>
        <p:blipFill>
          <a:blip r:embed="rId2"/>
          <a:stretch>
            <a:fillRect/>
          </a:stretch>
        </p:blipFill>
        <p:spPr>
          <a:xfrm>
            <a:off x="514350" y="1345223"/>
            <a:ext cx="8001000" cy="4505325"/>
          </a:xfrm>
          <a:prstGeom prst="rect">
            <a:avLst/>
          </a:prstGeom>
        </p:spPr>
      </p:pic>
    </p:spTree>
    <p:extLst>
      <p:ext uri="{BB962C8B-B14F-4D97-AF65-F5344CB8AC3E}">
        <p14:creationId xmlns:p14="http://schemas.microsoft.com/office/powerpoint/2010/main" val="1121530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411D0-C8F4-6238-8EF5-12FC0522C227}"/>
              </a:ext>
            </a:extLst>
          </p:cNvPr>
          <p:cNvSpPr>
            <a:spLocks noGrp="1"/>
          </p:cNvSpPr>
          <p:nvPr>
            <p:ph type="title"/>
          </p:nvPr>
        </p:nvSpPr>
        <p:spPr/>
        <p:txBody>
          <a:bodyPr/>
          <a:lstStyle/>
          <a:p>
            <a:r>
              <a:rPr lang="en-US" dirty="0">
                <a:cs typeface="Calibri Light"/>
              </a:rPr>
              <a:t>Delay Spread (Homework)</a:t>
            </a:r>
            <a:endParaRPr lang="en-US" dirty="0"/>
          </a:p>
        </p:txBody>
      </p:sp>
      <p:sp>
        <p:nvSpPr>
          <p:cNvPr id="3" name="Content Placeholder 2">
            <a:extLst>
              <a:ext uri="{FF2B5EF4-FFF2-40B4-BE49-F238E27FC236}">
                <a16:creationId xmlns:a16="http://schemas.microsoft.com/office/drawing/2014/main" id="{071E44DE-F43D-8271-2298-AFC4B0E1BFB6}"/>
              </a:ext>
            </a:extLst>
          </p:cNvPr>
          <p:cNvSpPr>
            <a:spLocks noGrp="1"/>
          </p:cNvSpPr>
          <p:nvPr>
            <p:ph idx="1"/>
          </p:nvPr>
        </p:nvSpPr>
        <p:spPr>
          <a:xfrm>
            <a:off x="628650" y="1825625"/>
            <a:ext cx="7886700" cy="1113518"/>
          </a:xfrm>
        </p:spPr>
        <p:txBody>
          <a:bodyPr vert="horz" lIns="91440" tIns="45720" rIns="91440" bIns="45720" rtlCol="0" anchor="t">
            <a:normAutofit/>
          </a:bodyPr>
          <a:lstStyle/>
          <a:p>
            <a:r>
              <a:rPr lang="en-US" dirty="0">
                <a:solidFill>
                  <a:srgbClr val="FF0000"/>
                </a:solidFill>
                <a:cs typeface="Calibri"/>
              </a:rPr>
              <a:t>ISI problem is dominant in high data rate transmission: Why?</a:t>
            </a:r>
          </a:p>
          <a:p>
            <a:endParaRPr lang="en-US" dirty="0">
              <a:cs typeface="Calibri"/>
            </a:endParaRPr>
          </a:p>
        </p:txBody>
      </p:sp>
      <p:sp>
        <p:nvSpPr>
          <p:cNvPr id="5" name="TextBox 4">
            <a:extLst>
              <a:ext uri="{FF2B5EF4-FFF2-40B4-BE49-F238E27FC236}">
                <a16:creationId xmlns:a16="http://schemas.microsoft.com/office/drawing/2014/main" id="{8728358C-07F7-4AC8-88C8-0C831BBA3F52}"/>
              </a:ext>
            </a:extLst>
          </p:cNvPr>
          <p:cNvSpPr txBox="1"/>
          <p:nvPr/>
        </p:nvSpPr>
        <p:spPr>
          <a:xfrm>
            <a:off x="628649" y="2939143"/>
            <a:ext cx="7121979" cy="867930"/>
          </a:xfrm>
          <a:prstGeom prst="rect">
            <a:avLst/>
          </a:prstGeom>
        </p:spPr>
        <p:txBody>
          <a:bodyPr vert="horz" lIns="91440" tIns="45720" rIns="91440" bIns="45720" rtlCol="0" anchor="t">
            <a:normAutofit/>
          </a:bodyPr>
          <a:lstStyle>
            <a:lvl1pPr marL="228600" indent="-228600" defTabSz="914400">
              <a:lnSpc>
                <a:spcPct val="90000"/>
              </a:lnSpc>
              <a:spcBef>
                <a:spcPts val="1000"/>
              </a:spcBef>
              <a:buFont typeface="Arial" panose="020B0604020202020204" pitchFamily="34" charset="0"/>
              <a:buChar char="•"/>
              <a:defRPr sz="2800">
                <a:solidFill>
                  <a:srgbClr val="FF0000"/>
                </a:solidFill>
                <a:cs typeface="Calibri"/>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en-US" dirty="0"/>
              <a:t>What does standard deviation tell you?</a:t>
            </a:r>
          </a:p>
        </p:txBody>
      </p:sp>
    </p:spTree>
    <p:extLst>
      <p:ext uri="{BB962C8B-B14F-4D97-AF65-F5344CB8AC3E}">
        <p14:creationId xmlns:p14="http://schemas.microsoft.com/office/powerpoint/2010/main" val="1603511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173CA-7319-4488-ABA0-BC8B9C1B15DF}"/>
              </a:ext>
            </a:extLst>
          </p:cNvPr>
          <p:cNvSpPr>
            <a:spLocks noGrp="1"/>
          </p:cNvSpPr>
          <p:nvPr>
            <p:ph type="title"/>
          </p:nvPr>
        </p:nvSpPr>
        <p:spPr>
          <a:xfrm>
            <a:off x="628650" y="365126"/>
            <a:ext cx="7886700" cy="931983"/>
          </a:xfrm>
        </p:spPr>
        <p:txBody>
          <a:bodyPr>
            <a:normAutofit/>
          </a:bodyPr>
          <a:lstStyle/>
          <a:p>
            <a:r>
              <a:rPr lang="en-US" sz="3600" b="1" dirty="0"/>
              <a:t>The RMS Delay Spread</a:t>
            </a:r>
            <a:endParaRPr lang="en-US" sz="3600" dirty="0"/>
          </a:p>
        </p:txBody>
      </p:sp>
      <p:pic>
        <p:nvPicPr>
          <p:cNvPr id="4" name="Picture 3">
            <a:extLst>
              <a:ext uri="{FF2B5EF4-FFF2-40B4-BE49-F238E27FC236}">
                <a16:creationId xmlns:a16="http://schemas.microsoft.com/office/drawing/2014/main" id="{B66FE973-4044-4E2E-97B2-A59FDB586977}"/>
              </a:ext>
            </a:extLst>
          </p:cNvPr>
          <p:cNvPicPr>
            <a:picLocks noChangeAspect="1"/>
          </p:cNvPicPr>
          <p:nvPr/>
        </p:nvPicPr>
        <p:blipFill>
          <a:blip r:embed="rId2"/>
          <a:stretch>
            <a:fillRect/>
          </a:stretch>
        </p:blipFill>
        <p:spPr>
          <a:xfrm>
            <a:off x="534133" y="1297109"/>
            <a:ext cx="4171950" cy="4562475"/>
          </a:xfrm>
          <a:prstGeom prst="rect">
            <a:avLst/>
          </a:prstGeom>
        </p:spPr>
      </p:pic>
      <p:pic>
        <p:nvPicPr>
          <p:cNvPr id="5" name="Picture 4">
            <a:extLst>
              <a:ext uri="{FF2B5EF4-FFF2-40B4-BE49-F238E27FC236}">
                <a16:creationId xmlns:a16="http://schemas.microsoft.com/office/drawing/2014/main" id="{CED4A670-F4CF-47E6-BD8B-0C0A441AC44F}"/>
              </a:ext>
            </a:extLst>
          </p:cNvPr>
          <p:cNvPicPr>
            <a:picLocks noChangeAspect="1"/>
          </p:cNvPicPr>
          <p:nvPr/>
        </p:nvPicPr>
        <p:blipFill>
          <a:blip r:embed="rId3"/>
          <a:stretch>
            <a:fillRect/>
          </a:stretch>
        </p:blipFill>
        <p:spPr>
          <a:xfrm>
            <a:off x="4676775" y="1719262"/>
            <a:ext cx="3838575" cy="2733675"/>
          </a:xfrm>
          <a:prstGeom prst="rect">
            <a:avLst/>
          </a:prstGeom>
        </p:spPr>
      </p:pic>
    </p:spTree>
    <p:extLst>
      <p:ext uri="{BB962C8B-B14F-4D97-AF65-F5344CB8AC3E}">
        <p14:creationId xmlns:p14="http://schemas.microsoft.com/office/powerpoint/2010/main" val="2085793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0AD12-E951-4047-951D-9EDE9312978D}"/>
              </a:ext>
            </a:extLst>
          </p:cNvPr>
          <p:cNvSpPr>
            <a:spLocks noGrp="1"/>
          </p:cNvSpPr>
          <p:nvPr>
            <p:ph type="title"/>
          </p:nvPr>
        </p:nvSpPr>
        <p:spPr>
          <a:xfrm>
            <a:off x="628650" y="365126"/>
            <a:ext cx="7886700" cy="813043"/>
          </a:xfrm>
        </p:spPr>
        <p:txBody>
          <a:bodyPr>
            <a:normAutofit/>
          </a:bodyPr>
          <a:lstStyle/>
          <a:p>
            <a:r>
              <a:rPr lang="en-US" sz="3600" b="1" dirty="0"/>
              <a:t>Narrowband &amp; Wideband Signal</a:t>
            </a:r>
          </a:p>
        </p:txBody>
      </p:sp>
      <p:pic>
        <p:nvPicPr>
          <p:cNvPr id="5" name="Picture 4">
            <a:extLst>
              <a:ext uri="{FF2B5EF4-FFF2-40B4-BE49-F238E27FC236}">
                <a16:creationId xmlns:a16="http://schemas.microsoft.com/office/drawing/2014/main" id="{CFFEE0F3-8AD7-4804-8B3A-039F9E2847CA}"/>
              </a:ext>
            </a:extLst>
          </p:cNvPr>
          <p:cNvPicPr>
            <a:picLocks noChangeAspect="1"/>
          </p:cNvPicPr>
          <p:nvPr/>
        </p:nvPicPr>
        <p:blipFill>
          <a:blip r:embed="rId2"/>
          <a:stretch>
            <a:fillRect/>
          </a:stretch>
        </p:blipFill>
        <p:spPr>
          <a:xfrm>
            <a:off x="2276475" y="1338997"/>
            <a:ext cx="4591050" cy="685800"/>
          </a:xfrm>
          <a:prstGeom prst="rect">
            <a:avLst/>
          </a:prstGeom>
        </p:spPr>
      </p:pic>
      <p:pic>
        <p:nvPicPr>
          <p:cNvPr id="6" name="Picture 5">
            <a:extLst>
              <a:ext uri="{FF2B5EF4-FFF2-40B4-BE49-F238E27FC236}">
                <a16:creationId xmlns:a16="http://schemas.microsoft.com/office/drawing/2014/main" id="{DCD9D9FF-940A-444A-B1FC-E846EDF221BB}"/>
              </a:ext>
            </a:extLst>
          </p:cNvPr>
          <p:cNvPicPr>
            <a:picLocks noChangeAspect="1"/>
          </p:cNvPicPr>
          <p:nvPr/>
        </p:nvPicPr>
        <p:blipFill>
          <a:blip r:embed="rId3"/>
          <a:stretch>
            <a:fillRect/>
          </a:stretch>
        </p:blipFill>
        <p:spPr>
          <a:xfrm>
            <a:off x="733425" y="2185626"/>
            <a:ext cx="4155670" cy="3333378"/>
          </a:xfrm>
          <a:prstGeom prst="rect">
            <a:avLst/>
          </a:prstGeom>
        </p:spPr>
      </p:pic>
      <p:pic>
        <p:nvPicPr>
          <p:cNvPr id="7" name="Picture 6">
            <a:extLst>
              <a:ext uri="{FF2B5EF4-FFF2-40B4-BE49-F238E27FC236}">
                <a16:creationId xmlns:a16="http://schemas.microsoft.com/office/drawing/2014/main" id="{F8395AE3-2101-439F-8795-E1B737499A27}"/>
              </a:ext>
            </a:extLst>
          </p:cNvPr>
          <p:cNvPicPr>
            <a:picLocks noChangeAspect="1"/>
          </p:cNvPicPr>
          <p:nvPr/>
        </p:nvPicPr>
        <p:blipFill>
          <a:blip r:embed="rId4"/>
          <a:stretch>
            <a:fillRect/>
          </a:stretch>
        </p:blipFill>
        <p:spPr>
          <a:xfrm>
            <a:off x="4371975" y="2141475"/>
            <a:ext cx="4038600" cy="3495675"/>
          </a:xfrm>
          <a:prstGeom prst="rect">
            <a:avLst/>
          </a:prstGeom>
        </p:spPr>
      </p:pic>
    </p:spTree>
    <p:extLst>
      <p:ext uri="{BB962C8B-B14F-4D97-AF65-F5344CB8AC3E}">
        <p14:creationId xmlns:p14="http://schemas.microsoft.com/office/powerpoint/2010/main" val="2375267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217DFF-2D61-4EB6-B4EC-6A0D1F9BA7BA}"/>
              </a:ext>
            </a:extLst>
          </p:cNvPr>
          <p:cNvPicPr>
            <a:picLocks noChangeAspect="1"/>
          </p:cNvPicPr>
          <p:nvPr/>
        </p:nvPicPr>
        <p:blipFill>
          <a:blip r:embed="rId2"/>
          <a:stretch>
            <a:fillRect/>
          </a:stretch>
        </p:blipFill>
        <p:spPr>
          <a:xfrm>
            <a:off x="5383091" y="2064728"/>
            <a:ext cx="1543050" cy="952500"/>
          </a:xfrm>
          <a:prstGeom prst="rect">
            <a:avLst/>
          </a:prstGeom>
        </p:spPr>
      </p:pic>
      <p:sp>
        <p:nvSpPr>
          <p:cNvPr id="2" name="Title 1">
            <a:extLst>
              <a:ext uri="{FF2B5EF4-FFF2-40B4-BE49-F238E27FC236}">
                <a16:creationId xmlns:a16="http://schemas.microsoft.com/office/drawing/2014/main" id="{8871EBF5-B303-4B2B-B6BD-432CEF69D8D3}"/>
              </a:ext>
            </a:extLst>
          </p:cNvPr>
          <p:cNvSpPr>
            <a:spLocks noGrp="1"/>
          </p:cNvSpPr>
          <p:nvPr>
            <p:ph type="title"/>
          </p:nvPr>
        </p:nvSpPr>
        <p:spPr>
          <a:xfrm>
            <a:off x="628650" y="170825"/>
            <a:ext cx="7886700" cy="1325563"/>
          </a:xfrm>
        </p:spPr>
        <p:txBody>
          <a:bodyPr>
            <a:normAutofit/>
          </a:bodyPr>
          <a:lstStyle/>
          <a:p>
            <a:r>
              <a:rPr lang="en-US" sz="3600" b="1" dirty="0"/>
              <a:t>Coherence Bandwidth and RMS Delay Spread</a:t>
            </a:r>
          </a:p>
        </p:txBody>
      </p:sp>
      <p:sp>
        <p:nvSpPr>
          <p:cNvPr id="3" name="Content Placeholder 2">
            <a:extLst>
              <a:ext uri="{FF2B5EF4-FFF2-40B4-BE49-F238E27FC236}">
                <a16:creationId xmlns:a16="http://schemas.microsoft.com/office/drawing/2014/main" id="{1035AFF0-3F63-47EC-9DB5-66C61EDCAF39}"/>
              </a:ext>
            </a:extLst>
          </p:cNvPr>
          <p:cNvSpPr>
            <a:spLocks noGrp="1"/>
          </p:cNvSpPr>
          <p:nvPr>
            <p:ph idx="1"/>
          </p:nvPr>
        </p:nvSpPr>
        <p:spPr>
          <a:xfrm>
            <a:off x="628650" y="1825626"/>
            <a:ext cx="8233996" cy="715352"/>
          </a:xfrm>
        </p:spPr>
        <p:txBody>
          <a:bodyPr>
            <a:normAutofit/>
          </a:bodyPr>
          <a:lstStyle/>
          <a:p>
            <a:pPr marL="0" indent="0">
              <a:buNone/>
            </a:pPr>
            <a:r>
              <a:rPr lang="en-US" sz="2000" dirty="0"/>
              <a:t>In general, coherence bandwidth, denoted as </a:t>
            </a:r>
            <a:r>
              <a:rPr lang="en-US" sz="2000" i="1" dirty="0"/>
              <a:t>B</a:t>
            </a:r>
            <a:r>
              <a:rPr lang="en-US" sz="2000" baseline="-25000" dirty="0"/>
              <a:t>c</a:t>
            </a:r>
            <a:r>
              <a:rPr lang="en-US" sz="2000" dirty="0"/>
              <a:t>, is inversely-proportional to the RMS delay spread, that is,</a:t>
            </a:r>
          </a:p>
        </p:txBody>
      </p:sp>
      <p:pic>
        <p:nvPicPr>
          <p:cNvPr id="5" name="Picture 4">
            <a:extLst>
              <a:ext uri="{FF2B5EF4-FFF2-40B4-BE49-F238E27FC236}">
                <a16:creationId xmlns:a16="http://schemas.microsoft.com/office/drawing/2014/main" id="{C5FFD484-DC4A-4CE1-8446-1D48B9B8E9BD}"/>
              </a:ext>
            </a:extLst>
          </p:cNvPr>
          <p:cNvPicPr>
            <a:picLocks noChangeAspect="1"/>
          </p:cNvPicPr>
          <p:nvPr/>
        </p:nvPicPr>
        <p:blipFill>
          <a:blip r:embed="rId3"/>
          <a:stretch>
            <a:fillRect/>
          </a:stretch>
        </p:blipFill>
        <p:spPr>
          <a:xfrm>
            <a:off x="5591909" y="3920345"/>
            <a:ext cx="1800225" cy="800100"/>
          </a:xfrm>
          <a:prstGeom prst="rect">
            <a:avLst/>
          </a:prstGeom>
        </p:spPr>
      </p:pic>
      <p:pic>
        <p:nvPicPr>
          <p:cNvPr id="6" name="Picture 5">
            <a:extLst>
              <a:ext uri="{FF2B5EF4-FFF2-40B4-BE49-F238E27FC236}">
                <a16:creationId xmlns:a16="http://schemas.microsoft.com/office/drawing/2014/main" id="{C8C95274-A602-40C0-95C6-4803FFDCF9DE}"/>
              </a:ext>
            </a:extLst>
          </p:cNvPr>
          <p:cNvPicPr>
            <a:picLocks noChangeAspect="1"/>
          </p:cNvPicPr>
          <p:nvPr/>
        </p:nvPicPr>
        <p:blipFill>
          <a:blip r:embed="rId4"/>
          <a:stretch>
            <a:fillRect/>
          </a:stretch>
        </p:blipFill>
        <p:spPr>
          <a:xfrm>
            <a:off x="5722329" y="5517278"/>
            <a:ext cx="1676400" cy="885825"/>
          </a:xfrm>
          <a:prstGeom prst="rect">
            <a:avLst/>
          </a:prstGeom>
        </p:spPr>
      </p:pic>
      <p:sp>
        <p:nvSpPr>
          <p:cNvPr id="7" name="Rectangle 6">
            <a:extLst>
              <a:ext uri="{FF2B5EF4-FFF2-40B4-BE49-F238E27FC236}">
                <a16:creationId xmlns:a16="http://schemas.microsoft.com/office/drawing/2014/main" id="{8EF51F9D-0762-4594-A1E0-5B2604F501AC}"/>
              </a:ext>
            </a:extLst>
          </p:cNvPr>
          <p:cNvSpPr/>
          <p:nvPr/>
        </p:nvSpPr>
        <p:spPr>
          <a:xfrm>
            <a:off x="628650" y="2993584"/>
            <a:ext cx="8132884" cy="1015663"/>
          </a:xfrm>
          <a:prstGeom prst="rect">
            <a:avLst/>
          </a:prstGeom>
        </p:spPr>
        <p:txBody>
          <a:bodyPr wrap="square">
            <a:spAutoFit/>
          </a:bodyPr>
          <a:lstStyle/>
          <a:p>
            <a:r>
              <a:rPr lang="en-US" sz="2000" dirty="0"/>
              <a:t>In the case where the coherence bandwidth is defined as a bandwidth with correlation of 0.9 or above, coherence bandwidth and RMS delay spread are related as</a:t>
            </a:r>
          </a:p>
        </p:txBody>
      </p:sp>
      <p:sp>
        <p:nvSpPr>
          <p:cNvPr id="8" name="Rectangle 7">
            <a:extLst>
              <a:ext uri="{FF2B5EF4-FFF2-40B4-BE49-F238E27FC236}">
                <a16:creationId xmlns:a16="http://schemas.microsoft.com/office/drawing/2014/main" id="{39B96ABB-1376-4384-A851-1C851EBD0E2C}"/>
              </a:ext>
            </a:extLst>
          </p:cNvPr>
          <p:cNvSpPr/>
          <p:nvPr/>
        </p:nvSpPr>
        <p:spPr>
          <a:xfrm>
            <a:off x="628650" y="4809392"/>
            <a:ext cx="8572501" cy="707886"/>
          </a:xfrm>
          <a:prstGeom prst="rect">
            <a:avLst/>
          </a:prstGeom>
        </p:spPr>
        <p:txBody>
          <a:bodyPr wrap="square">
            <a:spAutoFit/>
          </a:bodyPr>
          <a:lstStyle/>
          <a:p>
            <a:r>
              <a:rPr lang="en-US" sz="2000" dirty="0"/>
              <a:t>In the case where the coherence bandwidth is defined as a bandwidth with correlation of 0.5 or above, it is given as</a:t>
            </a:r>
          </a:p>
        </p:txBody>
      </p:sp>
    </p:spTree>
    <p:extLst>
      <p:ext uri="{BB962C8B-B14F-4D97-AF65-F5344CB8AC3E}">
        <p14:creationId xmlns:p14="http://schemas.microsoft.com/office/powerpoint/2010/main" val="1261325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D86EB-7025-BCF9-50D2-813E357C809A}"/>
              </a:ext>
            </a:extLst>
          </p:cNvPr>
          <p:cNvSpPr>
            <a:spLocks noGrp="1"/>
          </p:cNvSpPr>
          <p:nvPr>
            <p:ph type="title"/>
          </p:nvPr>
        </p:nvSpPr>
        <p:spPr>
          <a:xfrm>
            <a:off x="552450" y="0"/>
            <a:ext cx="8210550" cy="1325563"/>
          </a:xfrm>
        </p:spPr>
        <p:txBody>
          <a:bodyPr>
            <a:normAutofit/>
          </a:bodyPr>
          <a:lstStyle/>
          <a:p>
            <a:r>
              <a:rPr lang="en-US" sz="3600" b="1" dirty="0"/>
              <a:t>Multipath Propagation Model for Wireless Communication</a:t>
            </a:r>
          </a:p>
        </p:txBody>
      </p:sp>
      <p:pic>
        <p:nvPicPr>
          <p:cNvPr id="7" name="Picture 6">
            <a:extLst>
              <a:ext uri="{FF2B5EF4-FFF2-40B4-BE49-F238E27FC236}">
                <a16:creationId xmlns:a16="http://schemas.microsoft.com/office/drawing/2014/main" id="{5BE7D5E4-1AA9-EC0F-3FE2-F9FA476EE58A}"/>
              </a:ext>
            </a:extLst>
          </p:cNvPr>
          <p:cNvPicPr>
            <a:picLocks noChangeAspect="1"/>
          </p:cNvPicPr>
          <p:nvPr/>
        </p:nvPicPr>
        <p:blipFill>
          <a:blip r:embed="rId2"/>
          <a:stretch>
            <a:fillRect/>
          </a:stretch>
        </p:blipFill>
        <p:spPr>
          <a:xfrm>
            <a:off x="0" y="1325563"/>
            <a:ext cx="9144000" cy="2156227"/>
          </a:xfrm>
          <a:prstGeom prst="rect">
            <a:avLst/>
          </a:prstGeom>
        </p:spPr>
      </p:pic>
      <p:sp>
        <p:nvSpPr>
          <p:cNvPr id="12" name="TextBox 11">
            <a:extLst>
              <a:ext uri="{FF2B5EF4-FFF2-40B4-BE49-F238E27FC236}">
                <a16:creationId xmlns:a16="http://schemas.microsoft.com/office/drawing/2014/main" id="{9FED39AD-F07E-0985-BAA4-E16C3B031117}"/>
              </a:ext>
            </a:extLst>
          </p:cNvPr>
          <p:cNvSpPr txBox="1"/>
          <p:nvPr/>
        </p:nvSpPr>
        <p:spPr>
          <a:xfrm>
            <a:off x="552450" y="3590650"/>
            <a:ext cx="7971064" cy="400110"/>
          </a:xfrm>
          <a:prstGeom prst="rect">
            <a:avLst/>
          </a:prstGeom>
          <a:noFill/>
        </p:spPr>
        <p:txBody>
          <a:bodyPr wrap="square" rtlCol="0">
            <a:spAutoFit/>
          </a:bodyPr>
          <a:lstStyle/>
          <a:p>
            <a:r>
              <a:rPr lang="en-US" sz="2000" dirty="0"/>
              <a:t>Each path is characterized by two main factors</a:t>
            </a:r>
          </a:p>
        </p:txBody>
      </p:sp>
      <p:sp>
        <p:nvSpPr>
          <p:cNvPr id="13" name="TextBox 12">
            <a:extLst>
              <a:ext uri="{FF2B5EF4-FFF2-40B4-BE49-F238E27FC236}">
                <a16:creationId xmlns:a16="http://schemas.microsoft.com/office/drawing/2014/main" id="{3285B9FD-4BB8-2BF0-3ECB-FB7F22B1353D}"/>
              </a:ext>
            </a:extLst>
          </p:cNvPr>
          <p:cNvSpPr txBox="1"/>
          <p:nvPr/>
        </p:nvSpPr>
        <p:spPr>
          <a:xfrm>
            <a:off x="1412422" y="4393757"/>
            <a:ext cx="2601685" cy="923330"/>
          </a:xfrm>
          <a:prstGeom prst="rect">
            <a:avLst/>
          </a:prstGeom>
          <a:noFill/>
        </p:spPr>
        <p:txBody>
          <a:bodyPr wrap="square" rtlCol="0">
            <a:spAutoFit/>
          </a:bodyPr>
          <a:lstStyle/>
          <a:p>
            <a:pPr marL="342900" indent="-342900">
              <a:buAutoNum type="arabicPeriod"/>
            </a:pPr>
            <a:r>
              <a:rPr lang="en-US" dirty="0"/>
              <a:t>Delay</a:t>
            </a:r>
          </a:p>
          <a:p>
            <a:pPr marL="342900" indent="-342900">
              <a:buAutoNum type="arabicPeriod"/>
            </a:pPr>
            <a:endParaRPr lang="en-US" dirty="0"/>
          </a:p>
          <a:p>
            <a:pPr marL="342900" indent="-342900">
              <a:buAutoNum type="arabicPeriod"/>
            </a:pPr>
            <a:r>
              <a:rPr lang="en-US" dirty="0"/>
              <a:t>Attenuation</a:t>
            </a:r>
          </a:p>
        </p:txBody>
      </p:sp>
      <p:pic>
        <p:nvPicPr>
          <p:cNvPr id="17" name="Picture 16">
            <a:extLst>
              <a:ext uri="{FF2B5EF4-FFF2-40B4-BE49-F238E27FC236}">
                <a16:creationId xmlns:a16="http://schemas.microsoft.com/office/drawing/2014/main" id="{D73D0912-9614-94DF-4B60-4BC677E25D1C}"/>
              </a:ext>
            </a:extLst>
          </p:cNvPr>
          <p:cNvPicPr>
            <a:picLocks noChangeAspect="1"/>
          </p:cNvPicPr>
          <p:nvPr/>
        </p:nvPicPr>
        <p:blipFill>
          <a:blip r:embed="rId3"/>
          <a:stretch>
            <a:fillRect/>
          </a:stretch>
        </p:blipFill>
        <p:spPr>
          <a:xfrm>
            <a:off x="3177398" y="4979943"/>
            <a:ext cx="532435" cy="387752"/>
          </a:xfrm>
          <a:prstGeom prst="rect">
            <a:avLst/>
          </a:prstGeom>
        </p:spPr>
      </p:pic>
      <p:pic>
        <p:nvPicPr>
          <p:cNvPr id="19" name="Picture 18">
            <a:extLst>
              <a:ext uri="{FF2B5EF4-FFF2-40B4-BE49-F238E27FC236}">
                <a16:creationId xmlns:a16="http://schemas.microsoft.com/office/drawing/2014/main" id="{043FDA33-99BB-A3D7-6781-2D24C4EC55B1}"/>
              </a:ext>
            </a:extLst>
          </p:cNvPr>
          <p:cNvPicPr>
            <a:picLocks noChangeAspect="1"/>
          </p:cNvPicPr>
          <p:nvPr/>
        </p:nvPicPr>
        <p:blipFill>
          <a:blip r:embed="rId4"/>
          <a:stretch>
            <a:fillRect/>
          </a:stretch>
        </p:blipFill>
        <p:spPr>
          <a:xfrm>
            <a:off x="2620363" y="4319047"/>
            <a:ext cx="509286" cy="399327"/>
          </a:xfrm>
          <a:prstGeom prst="rect">
            <a:avLst/>
          </a:prstGeom>
        </p:spPr>
      </p:pic>
      <p:pic>
        <p:nvPicPr>
          <p:cNvPr id="21" name="Picture 20">
            <a:extLst>
              <a:ext uri="{FF2B5EF4-FFF2-40B4-BE49-F238E27FC236}">
                <a16:creationId xmlns:a16="http://schemas.microsoft.com/office/drawing/2014/main" id="{63349483-5499-004A-5327-402FB3685F78}"/>
              </a:ext>
            </a:extLst>
          </p:cNvPr>
          <p:cNvPicPr>
            <a:picLocks noChangeAspect="1"/>
          </p:cNvPicPr>
          <p:nvPr/>
        </p:nvPicPr>
        <p:blipFill>
          <a:blip r:embed="rId5"/>
          <a:stretch>
            <a:fillRect/>
          </a:stretch>
        </p:blipFill>
        <p:spPr>
          <a:xfrm>
            <a:off x="5048731" y="4560887"/>
            <a:ext cx="3009900" cy="971550"/>
          </a:xfrm>
          <a:prstGeom prst="rect">
            <a:avLst/>
          </a:prstGeom>
        </p:spPr>
      </p:pic>
      <p:sp>
        <p:nvSpPr>
          <p:cNvPr id="22" name="TextBox 21">
            <a:extLst>
              <a:ext uri="{FF2B5EF4-FFF2-40B4-BE49-F238E27FC236}">
                <a16:creationId xmlns:a16="http://schemas.microsoft.com/office/drawing/2014/main" id="{67639575-B235-6E69-186D-7A9CE3F3303E}"/>
              </a:ext>
            </a:extLst>
          </p:cNvPr>
          <p:cNvSpPr txBox="1"/>
          <p:nvPr/>
        </p:nvSpPr>
        <p:spPr>
          <a:xfrm>
            <a:off x="4667250" y="4193702"/>
            <a:ext cx="4095750" cy="400110"/>
          </a:xfrm>
          <a:prstGeom prst="rect">
            <a:avLst/>
          </a:prstGeom>
          <a:noFill/>
        </p:spPr>
        <p:txBody>
          <a:bodyPr wrap="square" rtlCol="0">
            <a:spAutoFit/>
          </a:bodyPr>
          <a:lstStyle/>
          <a:p>
            <a:r>
              <a:rPr lang="en-US" sz="2000" dirty="0"/>
              <a:t>For signal, The delay is presented as</a:t>
            </a:r>
          </a:p>
        </p:txBody>
      </p:sp>
    </p:spTree>
    <p:extLst>
      <p:ext uri="{BB962C8B-B14F-4D97-AF65-F5344CB8AC3E}">
        <p14:creationId xmlns:p14="http://schemas.microsoft.com/office/powerpoint/2010/main" val="408655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96E1B-6F94-A9A7-9E93-BF790C48096A}"/>
              </a:ext>
            </a:extLst>
          </p:cNvPr>
          <p:cNvSpPr>
            <a:spLocks noGrp="1"/>
          </p:cNvSpPr>
          <p:nvPr>
            <p:ph type="title"/>
          </p:nvPr>
        </p:nvSpPr>
        <p:spPr>
          <a:xfrm>
            <a:off x="628650" y="180070"/>
            <a:ext cx="7886700" cy="633260"/>
          </a:xfrm>
        </p:spPr>
        <p:txBody>
          <a:bodyPr>
            <a:normAutofit/>
          </a:bodyPr>
          <a:lstStyle/>
          <a:p>
            <a:r>
              <a:rPr lang="en-US" sz="3600" b="1" dirty="0"/>
              <a:t>Multipath Propagation</a:t>
            </a:r>
          </a:p>
        </p:txBody>
      </p:sp>
      <p:pic>
        <p:nvPicPr>
          <p:cNvPr id="5" name="Picture 4">
            <a:extLst>
              <a:ext uri="{FF2B5EF4-FFF2-40B4-BE49-F238E27FC236}">
                <a16:creationId xmlns:a16="http://schemas.microsoft.com/office/drawing/2014/main" id="{ED41FE1F-4607-221C-01E0-11B9F752875A}"/>
              </a:ext>
            </a:extLst>
          </p:cNvPr>
          <p:cNvPicPr>
            <a:picLocks noChangeAspect="1"/>
          </p:cNvPicPr>
          <p:nvPr/>
        </p:nvPicPr>
        <p:blipFill>
          <a:blip r:embed="rId2"/>
          <a:stretch>
            <a:fillRect/>
          </a:stretch>
        </p:blipFill>
        <p:spPr>
          <a:xfrm>
            <a:off x="0" y="989656"/>
            <a:ext cx="9144000" cy="633260"/>
          </a:xfrm>
          <a:prstGeom prst="rect">
            <a:avLst/>
          </a:prstGeom>
        </p:spPr>
      </p:pic>
      <p:pic>
        <p:nvPicPr>
          <p:cNvPr id="7" name="Picture 6">
            <a:extLst>
              <a:ext uri="{FF2B5EF4-FFF2-40B4-BE49-F238E27FC236}">
                <a16:creationId xmlns:a16="http://schemas.microsoft.com/office/drawing/2014/main" id="{1E9DC926-E146-9DB7-7239-08835DC918FC}"/>
              </a:ext>
            </a:extLst>
          </p:cNvPr>
          <p:cNvPicPr>
            <a:picLocks noChangeAspect="1"/>
          </p:cNvPicPr>
          <p:nvPr/>
        </p:nvPicPr>
        <p:blipFill>
          <a:blip r:embed="rId3"/>
          <a:stretch>
            <a:fillRect/>
          </a:stretch>
        </p:blipFill>
        <p:spPr>
          <a:xfrm>
            <a:off x="0" y="1799242"/>
            <a:ext cx="9144000" cy="610504"/>
          </a:xfrm>
          <a:prstGeom prst="rect">
            <a:avLst/>
          </a:prstGeom>
        </p:spPr>
      </p:pic>
      <p:pic>
        <p:nvPicPr>
          <p:cNvPr id="9" name="Picture 8">
            <a:extLst>
              <a:ext uri="{FF2B5EF4-FFF2-40B4-BE49-F238E27FC236}">
                <a16:creationId xmlns:a16="http://schemas.microsoft.com/office/drawing/2014/main" id="{A2C64411-3550-6650-D34E-C3958415AE99}"/>
              </a:ext>
            </a:extLst>
          </p:cNvPr>
          <p:cNvPicPr>
            <a:picLocks noChangeAspect="1"/>
          </p:cNvPicPr>
          <p:nvPr/>
        </p:nvPicPr>
        <p:blipFill>
          <a:blip r:embed="rId4"/>
          <a:stretch>
            <a:fillRect/>
          </a:stretch>
        </p:blipFill>
        <p:spPr>
          <a:xfrm>
            <a:off x="0" y="2505166"/>
            <a:ext cx="9144000" cy="1129192"/>
          </a:xfrm>
          <a:prstGeom prst="rect">
            <a:avLst/>
          </a:prstGeom>
        </p:spPr>
      </p:pic>
      <p:pic>
        <p:nvPicPr>
          <p:cNvPr id="15" name="Picture 14">
            <a:extLst>
              <a:ext uri="{FF2B5EF4-FFF2-40B4-BE49-F238E27FC236}">
                <a16:creationId xmlns:a16="http://schemas.microsoft.com/office/drawing/2014/main" id="{68AC2FC4-40D1-9292-79CA-48AF98691D3C}"/>
              </a:ext>
            </a:extLst>
          </p:cNvPr>
          <p:cNvPicPr>
            <a:picLocks noChangeAspect="1"/>
          </p:cNvPicPr>
          <p:nvPr/>
        </p:nvPicPr>
        <p:blipFill>
          <a:blip r:embed="rId5"/>
          <a:stretch>
            <a:fillRect/>
          </a:stretch>
        </p:blipFill>
        <p:spPr>
          <a:xfrm>
            <a:off x="0" y="4478251"/>
            <a:ext cx="9144000" cy="495236"/>
          </a:xfrm>
          <a:prstGeom prst="rect">
            <a:avLst/>
          </a:prstGeom>
        </p:spPr>
      </p:pic>
      <p:pic>
        <p:nvPicPr>
          <p:cNvPr id="17" name="Picture 16">
            <a:extLst>
              <a:ext uri="{FF2B5EF4-FFF2-40B4-BE49-F238E27FC236}">
                <a16:creationId xmlns:a16="http://schemas.microsoft.com/office/drawing/2014/main" id="{0A4FA181-85A7-15CF-2694-45E2427B8732}"/>
              </a:ext>
            </a:extLst>
          </p:cNvPr>
          <p:cNvPicPr>
            <a:picLocks noChangeAspect="1"/>
          </p:cNvPicPr>
          <p:nvPr/>
        </p:nvPicPr>
        <p:blipFill>
          <a:blip r:embed="rId6"/>
          <a:stretch>
            <a:fillRect/>
          </a:stretch>
        </p:blipFill>
        <p:spPr>
          <a:xfrm>
            <a:off x="0" y="5002992"/>
            <a:ext cx="9144000" cy="1628775"/>
          </a:xfrm>
          <a:prstGeom prst="rect">
            <a:avLst/>
          </a:prstGeom>
        </p:spPr>
      </p:pic>
      <p:sp>
        <p:nvSpPr>
          <p:cNvPr id="18" name="TextBox 17">
            <a:extLst>
              <a:ext uri="{FF2B5EF4-FFF2-40B4-BE49-F238E27FC236}">
                <a16:creationId xmlns:a16="http://schemas.microsoft.com/office/drawing/2014/main" id="{F7AF5BBD-5E2B-E2AB-0782-DF84B375C0C8}"/>
              </a:ext>
            </a:extLst>
          </p:cNvPr>
          <p:cNvSpPr txBox="1"/>
          <p:nvPr/>
        </p:nvSpPr>
        <p:spPr>
          <a:xfrm>
            <a:off x="957943" y="3826298"/>
            <a:ext cx="764177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Multipath Channel response = Sum of Individual Responses</a:t>
            </a:r>
          </a:p>
        </p:txBody>
      </p:sp>
    </p:spTree>
    <p:extLst>
      <p:ext uri="{BB962C8B-B14F-4D97-AF65-F5344CB8AC3E}">
        <p14:creationId xmlns:p14="http://schemas.microsoft.com/office/powerpoint/2010/main" val="1241073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B2766-17C9-44A0-8025-06FC8EC3E331}"/>
              </a:ext>
            </a:extLst>
          </p:cNvPr>
          <p:cNvSpPr>
            <a:spLocks noGrp="1"/>
          </p:cNvSpPr>
          <p:nvPr>
            <p:ph type="title"/>
          </p:nvPr>
        </p:nvSpPr>
        <p:spPr>
          <a:xfrm>
            <a:off x="760534" y="74828"/>
            <a:ext cx="7886700" cy="1325563"/>
          </a:xfrm>
        </p:spPr>
        <p:txBody>
          <a:bodyPr>
            <a:normAutofit/>
          </a:bodyPr>
          <a:lstStyle/>
          <a:p>
            <a:r>
              <a:rPr lang="en-US" sz="3600" b="1" dirty="0"/>
              <a:t>Parameters for Small-Scale Fading</a:t>
            </a:r>
          </a:p>
        </p:txBody>
      </p:sp>
      <p:sp>
        <p:nvSpPr>
          <p:cNvPr id="3" name="Content Placeholder 2">
            <a:extLst>
              <a:ext uri="{FF2B5EF4-FFF2-40B4-BE49-F238E27FC236}">
                <a16:creationId xmlns:a16="http://schemas.microsoft.com/office/drawing/2014/main" id="{E7E743F6-7D2F-4C21-96F8-79452E52E457}"/>
              </a:ext>
            </a:extLst>
          </p:cNvPr>
          <p:cNvSpPr>
            <a:spLocks noGrp="1"/>
          </p:cNvSpPr>
          <p:nvPr>
            <p:ph idx="1"/>
          </p:nvPr>
        </p:nvSpPr>
        <p:spPr>
          <a:xfrm>
            <a:off x="628650" y="1825625"/>
            <a:ext cx="7886700" cy="697767"/>
          </a:xfrm>
        </p:spPr>
        <p:txBody>
          <a:bodyPr/>
          <a:lstStyle/>
          <a:p>
            <a:pPr marL="0" indent="0">
              <a:buNone/>
            </a:pPr>
            <a:r>
              <a:rPr lang="en-US" sz="2400" dirty="0"/>
              <a:t>Mean Excess Delay</a:t>
            </a:r>
          </a:p>
          <a:p>
            <a:endParaRPr lang="en-US" dirty="0"/>
          </a:p>
          <a:p>
            <a:endParaRPr lang="en-US" dirty="0"/>
          </a:p>
        </p:txBody>
      </p:sp>
      <p:sp>
        <p:nvSpPr>
          <p:cNvPr id="5" name="Rectangle 4">
            <a:extLst>
              <a:ext uri="{FF2B5EF4-FFF2-40B4-BE49-F238E27FC236}">
                <a16:creationId xmlns:a16="http://schemas.microsoft.com/office/drawing/2014/main" id="{509B14F0-7735-47C6-BF0A-C3844F11A506}"/>
              </a:ext>
            </a:extLst>
          </p:cNvPr>
          <p:cNvSpPr/>
          <p:nvPr/>
        </p:nvSpPr>
        <p:spPr>
          <a:xfrm>
            <a:off x="760534" y="3055853"/>
            <a:ext cx="2457596" cy="461665"/>
          </a:xfrm>
          <a:prstGeom prst="rect">
            <a:avLst/>
          </a:prstGeom>
        </p:spPr>
        <p:txBody>
          <a:bodyPr wrap="none">
            <a:spAutoFit/>
          </a:bodyPr>
          <a:lstStyle/>
          <a:p>
            <a:r>
              <a:rPr lang="en-US" sz="2400" dirty="0"/>
              <a:t>RMS Delay Spread</a:t>
            </a:r>
          </a:p>
        </p:txBody>
      </p:sp>
      <p:pic>
        <p:nvPicPr>
          <p:cNvPr id="6" name="Picture 5">
            <a:extLst>
              <a:ext uri="{FF2B5EF4-FFF2-40B4-BE49-F238E27FC236}">
                <a16:creationId xmlns:a16="http://schemas.microsoft.com/office/drawing/2014/main" id="{CBBB15D3-1F76-4F36-9890-031255B203EF}"/>
              </a:ext>
            </a:extLst>
          </p:cNvPr>
          <p:cNvPicPr>
            <a:picLocks noChangeAspect="1"/>
          </p:cNvPicPr>
          <p:nvPr/>
        </p:nvPicPr>
        <p:blipFill>
          <a:blip r:embed="rId3"/>
          <a:stretch>
            <a:fillRect/>
          </a:stretch>
        </p:blipFill>
        <p:spPr>
          <a:xfrm>
            <a:off x="3936023" y="1825625"/>
            <a:ext cx="4191000" cy="1543050"/>
          </a:xfrm>
          <a:prstGeom prst="rect">
            <a:avLst/>
          </a:prstGeom>
        </p:spPr>
      </p:pic>
      <p:pic>
        <p:nvPicPr>
          <p:cNvPr id="7" name="Picture 6">
            <a:extLst>
              <a:ext uri="{FF2B5EF4-FFF2-40B4-BE49-F238E27FC236}">
                <a16:creationId xmlns:a16="http://schemas.microsoft.com/office/drawing/2014/main" id="{FE28E8A2-98AF-4415-A994-9C6D68F73D04}"/>
              </a:ext>
            </a:extLst>
          </p:cNvPr>
          <p:cNvPicPr>
            <a:picLocks noChangeAspect="1"/>
          </p:cNvPicPr>
          <p:nvPr/>
        </p:nvPicPr>
        <p:blipFill>
          <a:blip r:embed="rId4"/>
          <a:stretch>
            <a:fillRect/>
          </a:stretch>
        </p:blipFill>
        <p:spPr>
          <a:xfrm>
            <a:off x="3487996" y="3540368"/>
            <a:ext cx="2528522" cy="791300"/>
          </a:xfrm>
          <a:prstGeom prst="rect">
            <a:avLst/>
          </a:prstGeom>
        </p:spPr>
      </p:pic>
      <p:pic>
        <p:nvPicPr>
          <p:cNvPr id="8" name="Picture 7">
            <a:extLst>
              <a:ext uri="{FF2B5EF4-FFF2-40B4-BE49-F238E27FC236}">
                <a16:creationId xmlns:a16="http://schemas.microsoft.com/office/drawing/2014/main" id="{6BC3E3F1-E39C-4F54-B43B-552C7ABF5A32}"/>
              </a:ext>
            </a:extLst>
          </p:cNvPr>
          <p:cNvPicPr>
            <a:picLocks noChangeAspect="1"/>
          </p:cNvPicPr>
          <p:nvPr/>
        </p:nvPicPr>
        <p:blipFill>
          <a:blip r:embed="rId5"/>
          <a:stretch>
            <a:fillRect/>
          </a:stretch>
        </p:blipFill>
        <p:spPr>
          <a:xfrm>
            <a:off x="3869348" y="4696311"/>
            <a:ext cx="3894260" cy="1381004"/>
          </a:xfrm>
          <a:prstGeom prst="rect">
            <a:avLst/>
          </a:prstGeom>
        </p:spPr>
      </p:pic>
      <p:sp>
        <p:nvSpPr>
          <p:cNvPr id="9" name="Rectangle 8">
            <a:extLst>
              <a:ext uri="{FF2B5EF4-FFF2-40B4-BE49-F238E27FC236}">
                <a16:creationId xmlns:a16="http://schemas.microsoft.com/office/drawing/2014/main" id="{2C4252FB-C1F4-478F-90F6-E0FEB3362EC2}"/>
              </a:ext>
            </a:extLst>
          </p:cNvPr>
          <p:cNvSpPr/>
          <p:nvPr/>
        </p:nvSpPr>
        <p:spPr>
          <a:xfrm>
            <a:off x="2881691" y="4511645"/>
            <a:ext cx="779572" cy="369332"/>
          </a:xfrm>
          <a:prstGeom prst="rect">
            <a:avLst/>
          </a:prstGeom>
        </p:spPr>
        <p:txBody>
          <a:bodyPr wrap="none">
            <a:spAutoFit/>
          </a:bodyPr>
          <a:lstStyle/>
          <a:p>
            <a:r>
              <a:rPr lang="en-US" dirty="0">
                <a:latin typeface="AdvP41153C"/>
              </a:rPr>
              <a:t>where</a:t>
            </a:r>
            <a:endParaRPr lang="en-US" dirty="0"/>
          </a:p>
        </p:txBody>
      </p:sp>
      <p:grpSp>
        <p:nvGrpSpPr>
          <p:cNvPr id="14" name="Group 13">
            <a:extLst>
              <a:ext uri="{FF2B5EF4-FFF2-40B4-BE49-F238E27FC236}">
                <a16:creationId xmlns:a16="http://schemas.microsoft.com/office/drawing/2014/main" id="{2A08EB7A-6B1B-45AD-8317-27973179DA69}"/>
              </a:ext>
            </a:extLst>
          </p:cNvPr>
          <p:cNvGrpSpPr/>
          <p:nvPr/>
        </p:nvGrpSpPr>
        <p:grpSpPr>
          <a:xfrm>
            <a:off x="5361659" y="1213561"/>
            <a:ext cx="1330236" cy="852631"/>
            <a:chOff x="5361659" y="1213561"/>
            <a:chExt cx="1330236" cy="852631"/>
          </a:xfrm>
        </p:grpSpPr>
        <p:sp>
          <p:nvSpPr>
            <p:cNvPr id="10" name="Rectangle 9">
              <a:extLst>
                <a:ext uri="{FF2B5EF4-FFF2-40B4-BE49-F238E27FC236}">
                  <a16:creationId xmlns:a16="http://schemas.microsoft.com/office/drawing/2014/main" id="{5F461D60-29F9-4B59-AF07-1C1E1F67AC72}"/>
                </a:ext>
              </a:extLst>
            </p:cNvPr>
            <p:cNvSpPr/>
            <p:nvPr/>
          </p:nvSpPr>
          <p:spPr>
            <a:xfrm>
              <a:off x="5361659" y="1213561"/>
              <a:ext cx="1330236" cy="338554"/>
            </a:xfrm>
            <a:prstGeom prst="rect">
              <a:avLst/>
            </a:prstGeom>
          </p:spPr>
          <p:txBody>
            <a:bodyPr wrap="none">
              <a:spAutoFit/>
            </a:bodyPr>
            <a:lstStyle/>
            <a:p>
              <a:r>
                <a:rPr lang="en-US" sz="1600" dirty="0">
                  <a:latin typeface="AdvP41153C"/>
                </a:rPr>
                <a:t>channel delay</a:t>
              </a:r>
              <a:endParaRPr lang="en-US" sz="1600" dirty="0"/>
            </a:p>
          </p:txBody>
        </p:sp>
        <p:cxnSp>
          <p:nvCxnSpPr>
            <p:cNvPr id="13" name="Straight Arrow Connector 12">
              <a:extLst>
                <a:ext uri="{FF2B5EF4-FFF2-40B4-BE49-F238E27FC236}">
                  <a16:creationId xmlns:a16="http://schemas.microsoft.com/office/drawing/2014/main" id="{862AA39B-CDC0-40ED-A9A0-A2BAFD878BD5}"/>
                </a:ext>
              </a:extLst>
            </p:cNvPr>
            <p:cNvCxnSpPr/>
            <p:nvPr/>
          </p:nvCxnSpPr>
          <p:spPr>
            <a:xfrm flipH="1">
              <a:off x="5662246" y="1485900"/>
              <a:ext cx="154232" cy="580292"/>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8F94F09-8447-4379-8344-07AE2D5B4205}"/>
              </a:ext>
            </a:extLst>
          </p:cNvPr>
          <p:cNvGrpSpPr/>
          <p:nvPr/>
        </p:nvGrpSpPr>
        <p:grpSpPr>
          <a:xfrm>
            <a:off x="4104279" y="1456293"/>
            <a:ext cx="1310281" cy="642842"/>
            <a:chOff x="4104279" y="1456293"/>
            <a:chExt cx="1310281" cy="642842"/>
          </a:xfrm>
        </p:grpSpPr>
        <p:sp>
          <p:nvSpPr>
            <p:cNvPr id="15" name="Rectangle 14">
              <a:extLst>
                <a:ext uri="{FF2B5EF4-FFF2-40B4-BE49-F238E27FC236}">
                  <a16:creationId xmlns:a16="http://schemas.microsoft.com/office/drawing/2014/main" id="{9FE07756-6E82-4BEC-A734-8EE0440EF8A9}"/>
                </a:ext>
              </a:extLst>
            </p:cNvPr>
            <p:cNvSpPr/>
            <p:nvPr/>
          </p:nvSpPr>
          <p:spPr>
            <a:xfrm>
              <a:off x="4104279" y="1456293"/>
              <a:ext cx="1143262" cy="369332"/>
            </a:xfrm>
            <a:prstGeom prst="rect">
              <a:avLst/>
            </a:prstGeom>
          </p:spPr>
          <p:txBody>
            <a:bodyPr wrap="none">
              <a:spAutoFit/>
            </a:bodyPr>
            <a:lstStyle/>
            <a:p>
              <a:r>
                <a:rPr lang="en-US" dirty="0">
                  <a:latin typeface="AdvP41153C"/>
                </a:rPr>
                <a:t>amplitude</a:t>
              </a:r>
              <a:endParaRPr lang="en-US" dirty="0"/>
            </a:p>
          </p:txBody>
        </p:sp>
        <p:cxnSp>
          <p:nvCxnSpPr>
            <p:cNvPr id="16" name="Straight Arrow Connector 15">
              <a:extLst>
                <a:ext uri="{FF2B5EF4-FFF2-40B4-BE49-F238E27FC236}">
                  <a16:creationId xmlns:a16="http://schemas.microsoft.com/office/drawing/2014/main" id="{7179C498-3051-4869-BCAF-187043EAE86A}"/>
                </a:ext>
              </a:extLst>
            </p:cNvPr>
            <p:cNvCxnSpPr>
              <a:cxnSpLocks/>
            </p:cNvCxnSpPr>
            <p:nvPr/>
          </p:nvCxnSpPr>
          <p:spPr>
            <a:xfrm>
              <a:off x="4913514" y="1719893"/>
              <a:ext cx="501046" cy="379242"/>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0A629836-3560-4F98-A151-88CC4F3E0D91}"/>
              </a:ext>
            </a:extLst>
          </p:cNvPr>
          <p:cNvGrpSpPr/>
          <p:nvPr/>
        </p:nvGrpSpPr>
        <p:grpSpPr>
          <a:xfrm>
            <a:off x="6735390" y="1156577"/>
            <a:ext cx="720647" cy="852631"/>
            <a:chOff x="5361659" y="1213561"/>
            <a:chExt cx="720647" cy="852631"/>
          </a:xfrm>
        </p:grpSpPr>
        <p:sp>
          <p:nvSpPr>
            <p:cNvPr id="21" name="Rectangle 20">
              <a:extLst>
                <a:ext uri="{FF2B5EF4-FFF2-40B4-BE49-F238E27FC236}">
                  <a16:creationId xmlns:a16="http://schemas.microsoft.com/office/drawing/2014/main" id="{7EA74B98-93E9-408B-AE4C-9CBC24B8737F}"/>
                </a:ext>
              </a:extLst>
            </p:cNvPr>
            <p:cNvSpPr/>
            <p:nvPr/>
          </p:nvSpPr>
          <p:spPr>
            <a:xfrm>
              <a:off x="5361659" y="1213561"/>
              <a:ext cx="720647" cy="338554"/>
            </a:xfrm>
            <a:prstGeom prst="rect">
              <a:avLst/>
            </a:prstGeom>
          </p:spPr>
          <p:txBody>
            <a:bodyPr wrap="none">
              <a:spAutoFit/>
            </a:bodyPr>
            <a:lstStyle/>
            <a:p>
              <a:r>
                <a:rPr lang="en-US" sz="1600" dirty="0">
                  <a:latin typeface="AdvP41153C"/>
                </a:rPr>
                <a:t>power</a:t>
              </a:r>
              <a:endParaRPr lang="en-US" sz="1600" dirty="0"/>
            </a:p>
          </p:txBody>
        </p:sp>
        <p:cxnSp>
          <p:nvCxnSpPr>
            <p:cNvPr id="22" name="Straight Arrow Connector 21">
              <a:extLst>
                <a:ext uri="{FF2B5EF4-FFF2-40B4-BE49-F238E27FC236}">
                  <a16:creationId xmlns:a16="http://schemas.microsoft.com/office/drawing/2014/main" id="{231DBF7A-13F8-468C-A59F-CFA514D68D0D}"/>
                </a:ext>
              </a:extLst>
            </p:cNvPr>
            <p:cNvCxnSpPr/>
            <p:nvPr/>
          </p:nvCxnSpPr>
          <p:spPr>
            <a:xfrm flipH="1">
              <a:off x="5662246" y="1485900"/>
              <a:ext cx="154232" cy="580292"/>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30275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C3B95-B651-407B-227A-B8CE818ADAE3}"/>
              </a:ext>
            </a:extLst>
          </p:cNvPr>
          <p:cNvSpPr>
            <a:spLocks noGrp="1"/>
          </p:cNvSpPr>
          <p:nvPr>
            <p:ph type="title"/>
          </p:nvPr>
        </p:nvSpPr>
        <p:spPr>
          <a:xfrm>
            <a:off x="530679" y="125641"/>
            <a:ext cx="7886700" cy="952046"/>
          </a:xfrm>
        </p:spPr>
        <p:txBody>
          <a:bodyPr>
            <a:normAutofit fontScale="90000"/>
          </a:bodyPr>
          <a:lstStyle/>
          <a:p>
            <a:r>
              <a:rPr lang="en-US" sz="3600" b="1" i="0" u="none" strike="noStrike" baseline="0" dirty="0">
                <a:latin typeface="Arial" panose="020B0604020202020204" pitchFamily="34" charset="0"/>
                <a:cs typeface="Arial" panose="020B0604020202020204" pitchFamily="34" charset="0"/>
              </a:rPr>
              <a:t>Time-Dispersive vs. Frequency-Dispersive Fading</a:t>
            </a:r>
            <a:endParaRPr lang="en-US" sz="3600"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E5A13990-056A-583A-78CB-7695DCE3FB76}"/>
              </a:ext>
            </a:extLst>
          </p:cNvPr>
          <p:cNvSpPr txBox="1"/>
          <p:nvPr/>
        </p:nvSpPr>
        <p:spPr>
          <a:xfrm>
            <a:off x="530679" y="1161400"/>
            <a:ext cx="8319407" cy="4401205"/>
          </a:xfrm>
          <a:prstGeom prst="rect">
            <a:avLst/>
          </a:prstGeom>
          <a:noFill/>
        </p:spPr>
        <p:txBody>
          <a:bodyPr wrap="square">
            <a:spAutoFit/>
          </a:bodyPr>
          <a:lstStyle/>
          <a:p>
            <a:r>
              <a:rPr lang="en-US" sz="2000" b="0" i="0" u="none" strike="noStrike" baseline="0" dirty="0">
                <a:latin typeface="Arial" panose="020B0604020202020204" pitchFamily="34" charset="0"/>
                <a:cs typeface="Arial" panose="020B0604020202020204" pitchFamily="34" charset="0"/>
              </a:rPr>
              <a:t>As mobile terminal moves, the specific type of fading for the corresponding receiver depends on both the transmission scheme and channel characteristics. </a:t>
            </a:r>
          </a:p>
          <a:p>
            <a:endParaRPr lang="en-US" sz="2000" dirty="0">
              <a:latin typeface="Arial" panose="020B0604020202020204" pitchFamily="34" charset="0"/>
              <a:cs typeface="Arial" panose="020B0604020202020204" pitchFamily="34" charset="0"/>
            </a:endParaRPr>
          </a:p>
          <a:p>
            <a:r>
              <a:rPr lang="en-US" sz="2000" b="0" i="0" u="none" strike="noStrike" baseline="0" dirty="0">
                <a:latin typeface="Arial" panose="020B0604020202020204" pitchFamily="34" charset="0"/>
                <a:cs typeface="Arial" panose="020B0604020202020204" pitchFamily="34" charset="0"/>
              </a:rPr>
              <a:t>The transmission scheme is specified with signal parameters such as signal bandwidth and symbol period. </a:t>
            </a:r>
          </a:p>
          <a:p>
            <a:endParaRPr lang="en-US" sz="2000" dirty="0">
              <a:latin typeface="Arial" panose="020B0604020202020204" pitchFamily="34" charset="0"/>
              <a:cs typeface="Arial" panose="020B0604020202020204" pitchFamily="34" charset="0"/>
            </a:endParaRPr>
          </a:p>
          <a:p>
            <a:r>
              <a:rPr lang="en-US" sz="2000" b="0" i="0" u="none" strike="noStrike" baseline="0" dirty="0">
                <a:latin typeface="Arial" panose="020B0604020202020204" pitchFamily="34" charset="0"/>
                <a:cs typeface="Arial" panose="020B0604020202020204" pitchFamily="34" charset="0"/>
              </a:rPr>
              <a:t>Meanwhile, wireless channels can be characterized by two different channel parameters, multipath delay spread and Doppler spread, each of which causes time dispersion and frequency dispersion, respectively.</a:t>
            </a:r>
          </a:p>
          <a:p>
            <a:endParaRPr lang="en-US" sz="2000" dirty="0">
              <a:latin typeface="Arial" panose="020B0604020202020204" pitchFamily="34" charset="0"/>
              <a:cs typeface="Arial" panose="020B0604020202020204" pitchFamily="34" charset="0"/>
            </a:endParaRPr>
          </a:p>
          <a:p>
            <a:r>
              <a:rPr lang="en-US" sz="2000" b="0" i="0" u="none" strike="noStrike" baseline="0" dirty="0">
                <a:latin typeface="Arial" panose="020B0604020202020204" pitchFamily="34" charset="0"/>
                <a:cs typeface="Arial" panose="020B0604020202020204" pitchFamily="34" charset="0"/>
              </a:rPr>
              <a:t>Depending on the extent of time dispersion or frequency dispersion, the frequency-selective fading or time-selective fading is induced respectively.</a:t>
            </a:r>
          </a:p>
        </p:txBody>
      </p:sp>
    </p:spTree>
    <p:extLst>
      <p:ext uri="{BB962C8B-B14F-4D97-AF65-F5344CB8AC3E}">
        <p14:creationId xmlns:p14="http://schemas.microsoft.com/office/powerpoint/2010/main" val="843019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38B965D-1A71-B95A-4358-A42048CCB273}"/>
              </a:ext>
            </a:extLst>
          </p:cNvPr>
          <p:cNvPicPr>
            <a:picLocks noChangeAspect="1"/>
          </p:cNvPicPr>
          <p:nvPr/>
        </p:nvPicPr>
        <p:blipFill>
          <a:blip r:embed="rId2"/>
          <a:stretch>
            <a:fillRect/>
          </a:stretch>
        </p:blipFill>
        <p:spPr>
          <a:xfrm>
            <a:off x="5490717" y="2538347"/>
            <a:ext cx="3359368" cy="676765"/>
          </a:xfrm>
          <a:prstGeom prst="rect">
            <a:avLst/>
          </a:prstGeom>
        </p:spPr>
      </p:pic>
      <p:sp>
        <p:nvSpPr>
          <p:cNvPr id="4" name="Title 1">
            <a:extLst>
              <a:ext uri="{FF2B5EF4-FFF2-40B4-BE49-F238E27FC236}">
                <a16:creationId xmlns:a16="http://schemas.microsoft.com/office/drawing/2014/main" id="{823A2AF4-44E7-018A-E644-12EB001E85A7}"/>
              </a:ext>
            </a:extLst>
          </p:cNvPr>
          <p:cNvSpPr>
            <a:spLocks noGrp="1"/>
          </p:cNvSpPr>
          <p:nvPr>
            <p:ph type="title"/>
          </p:nvPr>
        </p:nvSpPr>
        <p:spPr>
          <a:xfrm>
            <a:off x="628649" y="365126"/>
            <a:ext cx="8319407" cy="658132"/>
          </a:xfrm>
        </p:spPr>
        <p:txBody>
          <a:bodyPr>
            <a:noAutofit/>
          </a:bodyPr>
          <a:lstStyle/>
          <a:p>
            <a:r>
              <a:rPr lang="en-US" sz="3600" b="1" i="0" u="none" strike="noStrike" baseline="0" dirty="0">
                <a:latin typeface="Arial" panose="020B0604020202020204" pitchFamily="34" charset="0"/>
                <a:cs typeface="Arial" panose="020B0604020202020204" pitchFamily="34" charset="0"/>
              </a:rPr>
              <a:t>Fading Due to Time Dispersion: Frequency-Selective Fading Channel</a:t>
            </a:r>
            <a:endParaRPr lang="en-US" sz="3600" b="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328E890E-8667-1501-856B-614AE2EB7B08}"/>
              </a:ext>
            </a:extLst>
          </p:cNvPr>
          <p:cNvPicPr>
            <a:picLocks noChangeAspect="1"/>
          </p:cNvPicPr>
          <p:nvPr/>
        </p:nvPicPr>
        <p:blipFill>
          <a:blip r:embed="rId3"/>
          <a:stretch>
            <a:fillRect/>
          </a:stretch>
        </p:blipFill>
        <p:spPr>
          <a:xfrm>
            <a:off x="143994" y="1545771"/>
            <a:ext cx="5741871" cy="5040086"/>
          </a:xfrm>
          <a:prstGeom prst="rect">
            <a:avLst/>
          </a:prstGeom>
        </p:spPr>
      </p:pic>
    </p:spTree>
    <p:extLst>
      <p:ext uri="{BB962C8B-B14F-4D97-AF65-F5344CB8AC3E}">
        <p14:creationId xmlns:p14="http://schemas.microsoft.com/office/powerpoint/2010/main" val="275986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23A2AF4-44E7-018A-E644-12EB001E85A7}"/>
              </a:ext>
            </a:extLst>
          </p:cNvPr>
          <p:cNvSpPr>
            <a:spLocks noGrp="1"/>
          </p:cNvSpPr>
          <p:nvPr>
            <p:ph type="title"/>
          </p:nvPr>
        </p:nvSpPr>
        <p:spPr>
          <a:xfrm>
            <a:off x="628649" y="365126"/>
            <a:ext cx="8319407" cy="658132"/>
          </a:xfrm>
        </p:spPr>
        <p:txBody>
          <a:bodyPr>
            <a:noAutofit/>
          </a:bodyPr>
          <a:lstStyle/>
          <a:p>
            <a:r>
              <a:rPr lang="en-US" sz="3600" b="1" i="0" u="none" strike="noStrike" baseline="0" dirty="0">
                <a:latin typeface="Arial" panose="020B0604020202020204" pitchFamily="34" charset="0"/>
                <a:cs typeface="Arial" panose="020B0604020202020204" pitchFamily="34" charset="0"/>
              </a:rPr>
              <a:t>Fading Due to Time Dispersion: Frequency-Selective Fading Channel</a:t>
            </a:r>
            <a:endParaRPr lang="en-US" sz="3600" b="1"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01A45590-5912-3686-906F-C2A2C7A6EC77}"/>
              </a:ext>
            </a:extLst>
          </p:cNvPr>
          <p:cNvPicPr>
            <a:picLocks noChangeAspect="1"/>
          </p:cNvPicPr>
          <p:nvPr/>
        </p:nvPicPr>
        <p:blipFill>
          <a:blip r:embed="rId2"/>
          <a:stretch>
            <a:fillRect/>
          </a:stretch>
        </p:blipFill>
        <p:spPr>
          <a:xfrm>
            <a:off x="776330" y="1418773"/>
            <a:ext cx="5577344" cy="5017497"/>
          </a:xfrm>
          <a:prstGeom prst="rect">
            <a:avLst/>
          </a:prstGeom>
        </p:spPr>
      </p:pic>
      <p:pic>
        <p:nvPicPr>
          <p:cNvPr id="7" name="Picture 6">
            <a:extLst>
              <a:ext uri="{FF2B5EF4-FFF2-40B4-BE49-F238E27FC236}">
                <a16:creationId xmlns:a16="http://schemas.microsoft.com/office/drawing/2014/main" id="{89B3DE06-8076-60B9-BD58-2B42F488E571}"/>
              </a:ext>
            </a:extLst>
          </p:cNvPr>
          <p:cNvPicPr>
            <a:picLocks noChangeAspect="1"/>
          </p:cNvPicPr>
          <p:nvPr/>
        </p:nvPicPr>
        <p:blipFill>
          <a:blip r:embed="rId3"/>
          <a:stretch>
            <a:fillRect/>
          </a:stretch>
        </p:blipFill>
        <p:spPr>
          <a:xfrm>
            <a:off x="6242887" y="2735847"/>
            <a:ext cx="2519068" cy="564619"/>
          </a:xfrm>
          <a:prstGeom prst="rect">
            <a:avLst/>
          </a:prstGeom>
        </p:spPr>
      </p:pic>
    </p:spTree>
    <p:extLst>
      <p:ext uri="{BB962C8B-B14F-4D97-AF65-F5344CB8AC3E}">
        <p14:creationId xmlns:p14="http://schemas.microsoft.com/office/powerpoint/2010/main" val="2225033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61A80-F8C3-4601-54A7-120629070749}"/>
              </a:ext>
            </a:extLst>
          </p:cNvPr>
          <p:cNvSpPr>
            <a:spLocks noGrp="1"/>
          </p:cNvSpPr>
          <p:nvPr>
            <p:ph type="title"/>
          </p:nvPr>
        </p:nvSpPr>
        <p:spPr>
          <a:xfrm>
            <a:off x="628650" y="365127"/>
            <a:ext cx="7886700" cy="930274"/>
          </a:xfrm>
        </p:spPr>
        <p:txBody>
          <a:bodyPr>
            <a:normAutofit fontScale="90000"/>
          </a:bodyPr>
          <a:lstStyle/>
          <a:p>
            <a:r>
              <a:rPr lang="en-US" sz="3600" b="1" i="0" u="none" strike="noStrike" baseline="0" dirty="0">
                <a:latin typeface="Arial" panose="020B0604020202020204" pitchFamily="34" charset="0"/>
                <a:cs typeface="Arial" panose="020B0604020202020204" pitchFamily="34" charset="0"/>
              </a:rPr>
              <a:t>Fading Due to Frequency Dispersion: Time-Selective Fading Channel</a:t>
            </a:r>
            <a:endParaRPr lang="en-US" sz="3600"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C633D2D-2428-9A81-62E9-CDDCF04B0AA8}"/>
              </a:ext>
            </a:extLst>
          </p:cNvPr>
          <p:cNvSpPr txBox="1"/>
          <p:nvPr/>
        </p:nvSpPr>
        <p:spPr>
          <a:xfrm>
            <a:off x="533401" y="1443841"/>
            <a:ext cx="8186056" cy="3170099"/>
          </a:xfrm>
          <a:prstGeom prst="rect">
            <a:avLst/>
          </a:prstGeom>
          <a:noFill/>
        </p:spPr>
        <p:txBody>
          <a:bodyPr wrap="square">
            <a:spAutoFit/>
          </a:bodyPr>
          <a:lstStyle/>
          <a:p>
            <a:pPr algn="l"/>
            <a:r>
              <a:rPr lang="en-US" sz="2000" b="0" i="0" u="none" strike="noStrike" baseline="0" dirty="0">
                <a:latin typeface="Arial" panose="020B0604020202020204" pitchFamily="34" charset="0"/>
                <a:cs typeface="Arial" panose="020B0604020202020204" pitchFamily="34" charset="0"/>
              </a:rPr>
              <a:t>Depending on the extent of the Doppler spread, the received signal undergoes fast or slow fading. </a:t>
            </a:r>
          </a:p>
          <a:p>
            <a:pPr algn="l"/>
            <a:endParaRPr lang="en-US" sz="2000" dirty="0">
              <a:latin typeface="Arial" panose="020B0604020202020204" pitchFamily="34" charset="0"/>
              <a:cs typeface="Arial" panose="020B0604020202020204" pitchFamily="34" charset="0"/>
            </a:endParaRPr>
          </a:p>
          <a:p>
            <a:pPr algn="l"/>
            <a:r>
              <a:rPr lang="en-US" sz="2000" b="0" i="0" u="none" strike="noStrike" baseline="0" dirty="0">
                <a:latin typeface="Arial" panose="020B0604020202020204" pitchFamily="34" charset="0"/>
                <a:cs typeface="Arial" panose="020B0604020202020204" pitchFamily="34" charset="0"/>
              </a:rPr>
              <a:t>In a fast-fading channel, the coherence time is smaller than the symbol period and thus, a channel impulse response quickly varies within the symbol period.</a:t>
            </a:r>
          </a:p>
          <a:p>
            <a:pPr algn="l"/>
            <a:endParaRPr lang="en-US" sz="2000" dirty="0">
              <a:latin typeface="Arial" panose="020B0604020202020204" pitchFamily="34" charset="0"/>
              <a:cs typeface="Arial" panose="020B0604020202020204" pitchFamily="34" charset="0"/>
            </a:endParaRPr>
          </a:p>
          <a:p>
            <a:pPr algn="l"/>
            <a:r>
              <a:rPr lang="en-US" sz="2000" b="0" i="0" u="none" strike="noStrike" baseline="0" dirty="0">
                <a:latin typeface="Arial" panose="020B0604020202020204" pitchFamily="34" charset="0"/>
                <a:cs typeface="Arial" panose="020B0604020202020204" pitchFamily="34" charset="0"/>
              </a:rPr>
              <a:t>Variation in the time domain is closely related to movement of the transmitter or receiver, which incurs a spread in the frequency domain, known as a Doppler shift.</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5438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61A80-F8C3-4601-54A7-120629070749}"/>
              </a:ext>
            </a:extLst>
          </p:cNvPr>
          <p:cNvSpPr>
            <a:spLocks noGrp="1"/>
          </p:cNvSpPr>
          <p:nvPr>
            <p:ph type="title"/>
          </p:nvPr>
        </p:nvSpPr>
        <p:spPr>
          <a:xfrm>
            <a:off x="628650" y="365127"/>
            <a:ext cx="7886700" cy="930274"/>
          </a:xfrm>
        </p:spPr>
        <p:txBody>
          <a:bodyPr>
            <a:normAutofit fontScale="90000"/>
          </a:bodyPr>
          <a:lstStyle/>
          <a:p>
            <a:r>
              <a:rPr lang="en-US" sz="3600" b="1" i="0" u="none" strike="noStrike" baseline="0" dirty="0">
                <a:latin typeface="Arial" panose="020B0604020202020204" pitchFamily="34" charset="0"/>
                <a:cs typeface="Arial" panose="020B0604020202020204" pitchFamily="34" charset="0"/>
              </a:rPr>
              <a:t>Fading Due to Frequency Dispersion: Time-Selective Fading Channel</a:t>
            </a:r>
            <a:endParaRPr lang="en-US" sz="3600"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DE027A1-F300-02CA-38A1-036A8FC5B39C}"/>
              </a:ext>
            </a:extLst>
          </p:cNvPr>
          <p:cNvPicPr>
            <a:picLocks noChangeAspect="1"/>
          </p:cNvPicPr>
          <p:nvPr/>
        </p:nvPicPr>
        <p:blipFill>
          <a:blip r:embed="rId2"/>
          <a:stretch>
            <a:fillRect/>
          </a:stretch>
        </p:blipFill>
        <p:spPr>
          <a:xfrm>
            <a:off x="3098569" y="1444661"/>
            <a:ext cx="2278972" cy="1042737"/>
          </a:xfrm>
          <a:prstGeom prst="rect">
            <a:avLst/>
          </a:prstGeom>
        </p:spPr>
      </p:pic>
      <p:sp>
        <p:nvSpPr>
          <p:cNvPr id="7" name="TextBox 6">
            <a:extLst>
              <a:ext uri="{FF2B5EF4-FFF2-40B4-BE49-F238E27FC236}">
                <a16:creationId xmlns:a16="http://schemas.microsoft.com/office/drawing/2014/main" id="{2CC87443-F399-D881-98D6-D670548C69FC}"/>
              </a:ext>
            </a:extLst>
          </p:cNvPr>
          <p:cNvSpPr txBox="1"/>
          <p:nvPr/>
        </p:nvSpPr>
        <p:spPr>
          <a:xfrm>
            <a:off x="396717" y="2573705"/>
            <a:ext cx="8475140" cy="369332"/>
          </a:xfrm>
          <a:prstGeom prst="rect">
            <a:avLst/>
          </a:prstGeom>
          <a:noFill/>
        </p:spPr>
        <p:txBody>
          <a:bodyPr wrap="square">
            <a:spAutoFit/>
          </a:bodyPr>
          <a:lstStyle/>
          <a:p>
            <a:r>
              <a:rPr lang="en-US" sz="1800" b="0" i="0" u="none" strike="noStrike" baseline="0" dirty="0">
                <a:latin typeface="Times New Roman" panose="02020603050405020304" pitchFamily="18" charset="0"/>
              </a:rPr>
              <a:t>The transmit signal is subject to fast fading under the following conditions:</a:t>
            </a:r>
          </a:p>
        </p:txBody>
      </p:sp>
      <p:sp>
        <p:nvSpPr>
          <p:cNvPr id="9" name="TextBox 8">
            <a:extLst>
              <a:ext uri="{FF2B5EF4-FFF2-40B4-BE49-F238E27FC236}">
                <a16:creationId xmlns:a16="http://schemas.microsoft.com/office/drawing/2014/main" id="{C17F262B-20AE-9058-9A0E-2426AD6465DC}"/>
              </a:ext>
            </a:extLst>
          </p:cNvPr>
          <p:cNvSpPr txBox="1"/>
          <p:nvPr/>
        </p:nvSpPr>
        <p:spPr>
          <a:xfrm>
            <a:off x="774469" y="3155868"/>
            <a:ext cx="4648200" cy="369332"/>
          </a:xfrm>
          <a:prstGeom prst="rect">
            <a:avLst/>
          </a:prstGeom>
          <a:noFill/>
        </p:spPr>
        <p:txBody>
          <a:bodyPr wrap="square">
            <a:spAutoFit/>
          </a:bodyPr>
          <a:lstStyle/>
          <a:p>
            <a:pPr marR="27280" algn="ctr"/>
            <a:r>
              <a:rPr lang="en-US" sz="1800" b="0" i="1" u="none" strike="noStrike" baseline="0" dirty="0">
                <a:latin typeface="Times New Roman" panose="02020603050405020304" pitchFamily="18" charset="0"/>
              </a:rPr>
              <a:t>T</a:t>
            </a:r>
            <a:r>
              <a:rPr lang="en-US" sz="1800" b="0" i="1" u="none" strike="noStrike" baseline="-25000" dirty="0">
                <a:latin typeface="Times New Roman" panose="02020603050405020304" pitchFamily="18" charset="0"/>
              </a:rPr>
              <a:t>s</a:t>
            </a:r>
            <a:r>
              <a:rPr lang="en-US" sz="1800" b="0" i="1" u="none" strike="noStrike" baseline="0" dirty="0">
                <a:latin typeface="Times New Roman" panose="02020603050405020304" pitchFamily="18" charset="0"/>
              </a:rPr>
              <a:t> </a:t>
            </a:r>
            <a:r>
              <a:rPr lang="en-US" sz="1800" b="0" i="0" u="none" strike="noStrike" baseline="0" dirty="0">
                <a:latin typeface="Cambria" panose="02040503050406030204" pitchFamily="18" charset="0"/>
              </a:rPr>
              <a:t>&gt; </a:t>
            </a:r>
            <a:r>
              <a:rPr lang="en-US" sz="1800" b="0" i="1" u="none" strike="noStrike" baseline="0" dirty="0">
                <a:latin typeface="Times New Roman" panose="02020603050405020304" pitchFamily="18" charset="0"/>
              </a:rPr>
              <a:t>T</a:t>
            </a:r>
            <a:r>
              <a:rPr lang="en-US" sz="1800" b="0" i="1" u="none" strike="noStrike" baseline="-25000" dirty="0">
                <a:latin typeface="Times New Roman" panose="02020603050405020304" pitchFamily="18" charset="0"/>
              </a:rPr>
              <a:t>c</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and </a:t>
            </a:r>
            <a:r>
              <a:rPr lang="en-US" sz="1800" b="0" i="1" u="none" strike="noStrike" baseline="0" dirty="0">
                <a:latin typeface="Times New Roman" panose="02020603050405020304" pitchFamily="18" charset="0"/>
              </a:rPr>
              <a:t>B</a:t>
            </a:r>
            <a:r>
              <a:rPr lang="en-US" sz="1800" b="0" i="1" u="none" strike="noStrike" baseline="-25000" dirty="0">
                <a:latin typeface="Times New Roman" panose="02020603050405020304" pitchFamily="18" charset="0"/>
              </a:rPr>
              <a:t>s</a:t>
            </a:r>
            <a:r>
              <a:rPr lang="en-US" sz="1800" b="0" i="1" u="none" strike="noStrike" baseline="0" dirty="0">
                <a:latin typeface="Times New Roman" panose="02020603050405020304" pitchFamily="18" charset="0"/>
              </a:rPr>
              <a:t> </a:t>
            </a:r>
            <a:r>
              <a:rPr lang="en-US" sz="1800" b="0" i="0" u="none" strike="noStrike" baseline="0" dirty="0">
                <a:latin typeface="Cambria" panose="02040503050406030204" pitchFamily="18" charset="0"/>
              </a:rPr>
              <a:t>&lt; </a:t>
            </a:r>
            <a:r>
              <a:rPr lang="en-US" sz="1800" b="0" i="1" u="none" strike="noStrike" baseline="0" dirty="0">
                <a:latin typeface="Times New Roman" panose="02020603050405020304" pitchFamily="18" charset="0"/>
              </a:rPr>
              <a:t>B</a:t>
            </a:r>
            <a:r>
              <a:rPr lang="en-US" sz="1800" b="0" i="1" u="none" strike="noStrike" baseline="-25000" dirty="0">
                <a:latin typeface="Times New Roman" panose="02020603050405020304" pitchFamily="18" charset="0"/>
              </a:rPr>
              <a:t>d</a:t>
            </a:r>
          </a:p>
        </p:txBody>
      </p:sp>
      <p:sp>
        <p:nvSpPr>
          <p:cNvPr id="11" name="TextBox 10">
            <a:extLst>
              <a:ext uri="{FF2B5EF4-FFF2-40B4-BE49-F238E27FC236}">
                <a16:creationId xmlns:a16="http://schemas.microsoft.com/office/drawing/2014/main" id="{CCB83233-DDB1-C82A-BD4D-133F17D92B0F}"/>
              </a:ext>
            </a:extLst>
          </p:cNvPr>
          <p:cNvSpPr txBox="1"/>
          <p:nvPr/>
        </p:nvSpPr>
        <p:spPr>
          <a:xfrm>
            <a:off x="389689" y="4071991"/>
            <a:ext cx="8475140" cy="369332"/>
          </a:xfrm>
          <a:prstGeom prst="rect">
            <a:avLst/>
          </a:prstGeom>
          <a:noFill/>
        </p:spPr>
        <p:txBody>
          <a:bodyPr wrap="square">
            <a:spAutoFit/>
          </a:bodyPr>
          <a:lstStyle/>
          <a:p>
            <a:r>
              <a:rPr lang="en-US" sz="1800" b="0" i="0" u="none" strike="noStrike" baseline="0" dirty="0">
                <a:latin typeface="AdvP41153C"/>
              </a:rPr>
              <a:t>transmit signal is subject to slow fading under the following conditions:</a:t>
            </a:r>
            <a:endParaRPr lang="en-US" dirty="0"/>
          </a:p>
        </p:txBody>
      </p:sp>
      <p:pic>
        <p:nvPicPr>
          <p:cNvPr id="13" name="Picture 12">
            <a:extLst>
              <a:ext uri="{FF2B5EF4-FFF2-40B4-BE49-F238E27FC236}">
                <a16:creationId xmlns:a16="http://schemas.microsoft.com/office/drawing/2014/main" id="{59E335A4-B49D-F3B6-9537-305ECB70DE74}"/>
              </a:ext>
            </a:extLst>
          </p:cNvPr>
          <p:cNvPicPr>
            <a:picLocks noChangeAspect="1"/>
          </p:cNvPicPr>
          <p:nvPr/>
        </p:nvPicPr>
        <p:blipFill>
          <a:blip r:embed="rId3"/>
          <a:stretch>
            <a:fillRect/>
          </a:stretch>
        </p:blipFill>
        <p:spPr>
          <a:xfrm>
            <a:off x="2769802" y="5037983"/>
            <a:ext cx="4182311" cy="532294"/>
          </a:xfrm>
          <a:prstGeom prst="rect">
            <a:avLst/>
          </a:prstGeom>
        </p:spPr>
      </p:pic>
      <p:sp>
        <p:nvSpPr>
          <p:cNvPr id="23" name="TextBox 22">
            <a:extLst>
              <a:ext uri="{FF2B5EF4-FFF2-40B4-BE49-F238E27FC236}">
                <a16:creationId xmlns:a16="http://schemas.microsoft.com/office/drawing/2014/main" id="{2BC9FB56-037A-CABD-F7CB-6C10482CFD67}"/>
              </a:ext>
            </a:extLst>
          </p:cNvPr>
          <p:cNvSpPr txBox="1"/>
          <p:nvPr/>
        </p:nvSpPr>
        <p:spPr>
          <a:xfrm>
            <a:off x="4860957" y="3225861"/>
            <a:ext cx="4572000" cy="369332"/>
          </a:xfrm>
          <a:prstGeom prst="rect">
            <a:avLst/>
          </a:prstGeom>
          <a:noFill/>
        </p:spPr>
        <p:txBody>
          <a:bodyPr wrap="square">
            <a:spAutoFit/>
          </a:bodyPr>
          <a:lstStyle/>
          <a:p>
            <a:r>
              <a:rPr lang="en-US" sz="1800" b="0" i="0" u="none" strike="noStrike" baseline="0" dirty="0">
                <a:latin typeface="Times New Roman" panose="02020603050405020304" pitchFamily="18" charset="0"/>
              </a:rPr>
              <a:t>bandwidth of Doppler spectrum,</a:t>
            </a:r>
          </a:p>
        </p:txBody>
      </p:sp>
      <p:cxnSp>
        <p:nvCxnSpPr>
          <p:cNvPr id="25" name="Straight Arrow Connector 24">
            <a:extLst>
              <a:ext uri="{FF2B5EF4-FFF2-40B4-BE49-F238E27FC236}">
                <a16:creationId xmlns:a16="http://schemas.microsoft.com/office/drawing/2014/main" id="{0C7A7660-0B54-FA81-13E2-53CD0CFD03A0}"/>
              </a:ext>
            </a:extLst>
          </p:cNvPr>
          <p:cNvCxnSpPr/>
          <p:nvPr/>
        </p:nvCxnSpPr>
        <p:spPr>
          <a:xfrm flipH="1" flipV="1">
            <a:off x="4103914" y="3340534"/>
            <a:ext cx="631372" cy="88466"/>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DAF47CC-85D2-A789-E5AB-B3BA7061E11D}"/>
              </a:ext>
            </a:extLst>
          </p:cNvPr>
          <p:cNvSpPr txBox="1"/>
          <p:nvPr/>
        </p:nvSpPr>
        <p:spPr>
          <a:xfrm>
            <a:off x="4572000" y="3665186"/>
            <a:ext cx="4718956" cy="369332"/>
          </a:xfrm>
          <a:prstGeom prst="rect">
            <a:avLst/>
          </a:prstGeom>
          <a:noFill/>
        </p:spPr>
        <p:txBody>
          <a:bodyPr wrap="square">
            <a:spAutoFit/>
          </a:bodyPr>
          <a:lstStyle/>
          <a:p>
            <a:pPr marR="33320" algn="ctr"/>
            <a:r>
              <a:rPr lang="en-US" sz="1800" b="0" i="1" u="none" strike="noStrike" baseline="0" dirty="0">
                <a:latin typeface="Book Antiqua" panose="02040602050305030304" pitchFamily="18" charset="0"/>
              </a:rPr>
              <a:t>B</a:t>
            </a:r>
            <a:r>
              <a:rPr lang="en-US" sz="1800" b="0" i="1" u="none" strike="noStrike" baseline="-25000" dirty="0">
                <a:latin typeface="Book Antiqua" panose="02040602050305030304" pitchFamily="18" charset="0"/>
              </a:rPr>
              <a:t>d </a:t>
            </a:r>
            <a:r>
              <a:rPr lang="en-US" sz="1800" b="0" i="1" u="none" strike="noStrike" dirty="0">
                <a:latin typeface="Book Antiqua" panose="02040602050305030304" pitchFamily="18" charset="0"/>
              </a:rPr>
              <a:t>= </a:t>
            </a:r>
            <a:r>
              <a:rPr lang="en-US" sz="1800" b="0" i="0" u="none" strike="noStrike" baseline="0" dirty="0">
                <a:latin typeface="Times New Roman" panose="02020603050405020304" pitchFamily="18" charset="0"/>
              </a:rPr>
              <a:t>2</a:t>
            </a:r>
            <a:r>
              <a:rPr lang="en-US" sz="1800" b="0" i="1" u="none" strike="noStrike" baseline="0" dirty="0">
                <a:latin typeface="Book Antiqua" panose="02040602050305030304" pitchFamily="18" charset="0"/>
              </a:rPr>
              <a:t>f</a:t>
            </a:r>
            <a:r>
              <a:rPr lang="en-US" sz="1800" b="0" i="1" u="none" strike="noStrike" baseline="-25000" dirty="0">
                <a:latin typeface="Book Antiqua" panose="02040602050305030304" pitchFamily="18" charset="0"/>
              </a:rPr>
              <a:t>m</a:t>
            </a:r>
            <a:endParaRPr lang="en-US" sz="1800" b="0"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2225959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F7759C1A-45A6-453C-B6BE-AE248C8B21D7}"/>
              </a:ext>
            </a:extLst>
          </p:cNvPr>
          <p:cNvPicPr>
            <a:picLocks noChangeAspect="1"/>
          </p:cNvPicPr>
          <p:nvPr/>
        </p:nvPicPr>
        <p:blipFill>
          <a:blip r:embed="rId3"/>
          <a:stretch>
            <a:fillRect/>
          </a:stretch>
        </p:blipFill>
        <p:spPr>
          <a:xfrm>
            <a:off x="510127" y="4315545"/>
            <a:ext cx="4589272" cy="1201727"/>
          </a:xfrm>
          <a:prstGeom prst="rect">
            <a:avLst/>
          </a:prstGeom>
        </p:spPr>
      </p:pic>
      <p:sp>
        <p:nvSpPr>
          <p:cNvPr id="2" name="Title 1">
            <a:extLst>
              <a:ext uri="{FF2B5EF4-FFF2-40B4-BE49-F238E27FC236}">
                <a16:creationId xmlns:a16="http://schemas.microsoft.com/office/drawing/2014/main" id="{75D222DA-630E-422B-9B9A-4682EFA5979A}"/>
              </a:ext>
            </a:extLst>
          </p:cNvPr>
          <p:cNvSpPr>
            <a:spLocks noGrp="1"/>
          </p:cNvSpPr>
          <p:nvPr>
            <p:ph type="title"/>
          </p:nvPr>
        </p:nvSpPr>
        <p:spPr>
          <a:xfrm>
            <a:off x="628650" y="101357"/>
            <a:ext cx="7886700" cy="1325563"/>
          </a:xfrm>
        </p:spPr>
        <p:txBody>
          <a:bodyPr>
            <a:normAutofit/>
          </a:bodyPr>
          <a:lstStyle/>
          <a:p>
            <a:r>
              <a:rPr lang="en-US" sz="3600" b="1" dirty="0"/>
              <a:t>Statistical Characterization of Fading Channel</a:t>
            </a:r>
          </a:p>
        </p:txBody>
      </p:sp>
      <p:grpSp>
        <p:nvGrpSpPr>
          <p:cNvPr id="3" name="Group 2">
            <a:extLst>
              <a:ext uri="{FF2B5EF4-FFF2-40B4-BE49-F238E27FC236}">
                <a16:creationId xmlns:a16="http://schemas.microsoft.com/office/drawing/2014/main" id="{4B5D033C-0537-4832-DFEB-32A1B1A1D365}"/>
              </a:ext>
            </a:extLst>
          </p:cNvPr>
          <p:cNvGrpSpPr/>
          <p:nvPr/>
        </p:nvGrpSpPr>
        <p:grpSpPr>
          <a:xfrm>
            <a:off x="3582498" y="764138"/>
            <a:ext cx="5487741" cy="3447405"/>
            <a:chOff x="3582498" y="764138"/>
            <a:chExt cx="5487741" cy="3447405"/>
          </a:xfrm>
        </p:grpSpPr>
        <p:pic>
          <p:nvPicPr>
            <p:cNvPr id="4" name="Picture 3">
              <a:extLst>
                <a:ext uri="{FF2B5EF4-FFF2-40B4-BE49-F238E27FC236}">
                  <a16:creationId xmlns:a16="http://schemas.microsoft.com/office/drawing/2014/main" id="{43E8928C-DDA0-4C81-84E8-08E20FC088BD}"/>
                </a:ext>
              </a:extLst>
            </p:cNvPr>
            <p:cNvPicPr>
              <a:picLocks noChangeAspect="1"/>
            </p:cNvPicPr>
            <p:nvPr/>
          </p:nvPicPr>
          <p:blipFill>
            <a:blip r:embed="rId4"/>
            <a:stretch>
              <a:fillRect/>
            </a:stretch>
          </p:blipFill>
          <p:spPr>
            <a:xfrm>
              <a:off x="3582498" y="764138"/>
              <a:ext cx="5343525" cy="3324225"/>
            </a:xfrm>
            <a:prstGeom prst="rect">
              <a:avLst/>
            </a:prstGeom>
          </p:spPr>
        </p:pic>
        <p:sp>
          <p:nvSpPr>
            <p:cNvPr id="5" name="Rectangle 4">
              <a:extLst>
                <a:ext uri="{FF2B5EF4-FFF2-40B4-BE49-F238E27FC236}">
                  <a16:creationId xmlns:a16="http://schemas.microsoft.com/office/drawing/2014/main" id="{05F91F53-6F1D-4C69-AF6C-21DEF0DBB684}"/>
                </a:ext>
              </a:extLst>
            </p:cNvPr>
            <p:cNvSpPr/>
            <p:nvPr/>
          </p:nvSpPr>
          <p:spPr>
            <a:xfrm>
              <a:off x="6580070" y="3842211"/>
              <a:ext cx="2490169" cy="369332"/>
            </a:xfrm>
            <a:prstGeom prst="rect">
              <a:avLst/>
            </a:prstGeom>
          </p:spPr>
          <p:txBody>
            <a:bodyPr wrap="none">
              <a:spAutoFit/>
            </a:bodyPr>
            <a:lstStyle/>
            <a:p>
              <a:r>
                <a:rPr lang="en-US" dirty="0">
                  <a:latin typeface="AdvP41153C"/>
                </a:rPr>
                <a:t>Clarke’s proposed model</a:t>
              </a:r>
              <a:endParaRPr lang="en-US" dirty="0"/>
            </a:p>
          </p:txBody>
        </p:sp>
      </p:grpSp>
      <p:pic>
        <p:nvPicPr>
          <p:cNvPr id="6" name="Picture 5">
            <a:extLst>
              <a:ext uri="{FF2B5EF4-FFF2-40B4-BE49-F238E27FC236}">
                <a16:creationId xmlns:a16="http://schemas.microsoft.com/office/drawing/2014/main" id="{C2F6F548-FFA7-4064-845A-86BB1034B4D6}"/>
              </a:ext>
            </a:extLst>
          </p:cNvPr>
          <p:cNvPicPr>
            <a:picLocks noChangeAspect="1"/>
          </p:cNvPicPr>
          <p:nvPr/>
        </p:nvPicPr>
        <p:blipFill>
          <a:blip r:embed="rId5"/>
          <a:stretch>
            <a:fillRect/>
          </a:stretch>
        </p:blipFill>
        <p:spPr>
          <a:xfrm>
            <a:off x="523508" y="2013804"/>
            <a:ext cx="2733675" cy="790575"/>
          </a:xfrm>
          <a:prstGeom prst="rect">
            <a:avLst/>
          </a:prstGeom>
        </p:spPr>
      </p:pic>
      <p:grpSp>
        <p:nvGrpSpPr>
          <p:cNvPr id="13" name="Group 12">
            <a:extLst>
              <a:ext uri="{FF2B5EF4-FFF2-40B4-BE49-F238E27FC236}">
                <a16:creationId xmlns:a16="http://schemas.microsoft.com/office/drawing/2014/main" id="{3F0F4726-1FAA-49E8-81CA-D64EEB2A3BC7}"/>
              </a:ext>
            </a:extLst>
          </p:cNvPr>
          <p:cNvGrpSpPr/>
          <p:nvPr/>
        </p:nvGrpSpPr>
        <p:grpSpPr>
          <a:xfrm>
            <a:off x="628650" y="1535696"/>
            <a:ext cx="2013243" cy="697550"/>
            <a:chOff x="628650" y="1535696"/>
            <a:chExt cx="2013243" cy="697550"/>
          </a:xfrm>
        </p:grpSpPr>
        <p:sp>
          <p:nvSpPr>
            <p:cNvPr id="7" name="Rectangle 6">
              <a:extLst>
                <a:ext uri="{FF2B5EF4-FFF2-40B4-BE49-F238E27FC236}">
                  <a16:creationId xmlns:a16="http://schemas.microsoft.com/office/drawing/2014/main" id="{B950EDFF-D6EE-4E44-AC08-292EAAE9EABA}"/>
                </a:ext>
              </a:extLst>
            </p:cNvPr>
            <p:cNvSpPr/>
            <p:nvPr/>
          </p:nvSpPr>
          <p:spPr>
            <a:xfrm>
              <a:off x="628650" y="1535696"/>
              <a:ext cx="2013243" cy="307777"/>
            </a:xfrm>
            <a:prstGeom prst="rect">
              <a:avLst/>
            </a:prstGeom>
          </p:spPr>
          <p:txBody>
            <a:bodyPr wrap="none">
              <a:spAutoFit/>
            </a:bodyPr>
            <a:lstStyle/>
            <a:p>
              <a:r>
                <a:rPr lang="en-US" sz="1400" dirty="0">
                  <a:latin typeface="AdvP41153C"/>
                </a:rPr>
                <a:t>baseband transmit signal</a:t>
              </a:r>
              <a:endParaRPr lang="en-US" sz="1400" dirty="0"/>
            </a:p>
          </p:txBody>
        </p:sp>
        <p:cxnSp>
          <p:nvCxnSpPr>
            <p:cNvPr id="9" name="Straight Arrow Connector 8">
              <a:extLst>
                <a:ext uri="{FF2B5EF4-FFF2-40B4-BE49-F238E27FC236}">
                  <a16:creationId xmlns:a16="http://schemas.microsoft.com/office/drawing/2014/main" id="{56FA27EB-8669-45F8-866B-CD6B49671C93}"/>
                </a:ext>
              </a:extLst>
            </p:cNvPr>
            <p:cNvCxnSpPr>
              <a:cxnSpLocks/>
            </p:cNvCxnSpPr>
            <p:nvPr/>
          </p:nvCxnSpPr>
          <p:spPr>
            <a:xfrm>
              <a:off x="2066192" y="1837592"/>
              <a:ext cx="0" cy="395654"/>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BD03BEC6-E9AB-45FE-AF56-7F3F8568D49F}"/>
              </a:ext>
            </a:extLst>
          </p:cNvPr>
          <p:cNvGrpSpPr/>
          <p:nvPr/>
        </p:nvGrpSpPr>
        <p:grpSpPr>
          <a:xfrm>
            <a:off x="413239" y="2606552"/>
            <a:ext cx="1714499" cy="984765"/>
            <a:chOff x="413239" y="2606552"/>
            <a:chExt cx="1714499" cy="984765"/>
          </a:xfrm>
        </p:grpSpPr>
        <p:sp>
          <p:nvSpPr>
            <p:cNvPr id="11" name="Rectangle 10">
              <a:extLst>
                <a:ext uri="{FF2B5EF4-FFF2-40B4-BE49-F238E27FC236}">
                  <a16:creationId xmlns:a16="http://schemas.microsoft.com/office/drawing/2014/main" id="{48045584-5611-4FB3-860B-96A90797D12D}"/>
                </a:ext>
              </a:extLst>
            </p:cNvPr>
            <p:cNvSpPr/>
            <p:nvPr/>
          </p:nvSpPr>
          <p:spPr>
            <a:xfrm>
              <a:off x="413239" y="3068097"/>
              <a:ext cx="1714499" cy="523220"/>
            </a:xfrm>
            <a:prstGeom prst="rect">
              <a:avLst/>
            </a:prstGeom>
          </p:spPr>
          <p:txBody>
            <a:bodyPr wrap="square">
              <a:spAutoFit/>
            </a:bodyPr>
            <a:lstStyle/>
            <a:p>
              <a:r>
                <a:rPr lang="en-US" sz="1400" dirty="0">
                  <a:latin typeface="AdvP41153C"/>
                </a:rPr>
                <a:t>passband</a:t>
              </a:r>
            </a:p>
            <a:p>
              <a:r>
                <a:rPr lang="en-US" sz="1400" dirty="0">
                  <a:latin typeface="AdvP41153C"/>
                </a:rPr>
                <a:t>transmit signal</a:t>
              </a:r>
              <a:endParaRPr lang="en-US" sz="1400" dirty="0"/>
            </a:p>
          </p:txBody>
        </p:sp>
        <p:cxnSp>
          <p:nvCxnSpPr>
            <p:cNvPr id="12" name="Straight Arrow Connector 11">
              <a:extLst>
                <a:ext uri="{FF2B5EF4-FFF2-40B4-BE49-F238E27FC236}">
                  <a16:creationId xmlns:a16="http://schemas.microsoft.com/office/drawing/2014/main" id="{8836C8C0-DB2D-4D0E-8842-B90F3D8E61FF}"/>
                </a:ext>
              </a:extLst>
            </p:cNvPr>
            <p:cNvCxnSpPr>
              <a:cxnSpLocks/>
            </p:cNvCxnSpPr>
            <p:nvPr/>
          </p:nvCxnSpPr>
          <p:spPr>
            <a:xfrm>
              <a:off x="943707" y="2606552"/>
              <a:ext cx="0" cy="395654"/>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pic>
        <p:nvPicPr>
          <p:cNvPr id="17" name="Picture 16">
            <a:extLst>
              <a:ext uri="{FF2B5EF4-FFF2-40B4-BE49-F238E27FC236}">
                <a16:creationId xmlns:a16="http://schemas.microsoft.com/office/drawing/2014/main" id="{DD66A5AA-34BC-4BEB-B29C-0BC555F9AB48}"/>
              </a:ext>
            </a:extLst>
          </p:cNvPr>
          <p:cNvPicPr>
            <a:picLocks noChangeAspect="1"/>
          </p:cNvPicPr>
          <p:nvPr/>
        </p:nvPicPr>
        <p:blipFill>
          <a:blip r:embed="rId6"/>
          <a:stretch>
            <a:fillRect/>
          </a:stretch>
        </p:blipFill>
        <p:spPr>
          <a:xfrm>
            <a:off x="870804" y="5555195"/>
            <a:ext cx="2390775" cy="561975"/>
          </a:xfrm>
          <a:prstGeom prst="rect">
            <a:avLst/>
          </a:prstGeom>
        </p:spPr>
      </p:pic>
      <p:pic>
        <p:nvPicPr>
          <p:cNvPr id="29" name="Picture 28">
            <a:extLst>
              <a:ext uri="{FF2B5EF4-FFF2-40B4-BE49-F238E27FC236}">
                <a16:creationId xmlns:a16="http://schemas.microsoft.com/office/drawing/2014/main" id="{EFEE567E-87C6-4A40-A4A5-1935175B1FC8}"/>
              </a:ext>
            </a:extLst>
          </p:cNvPr>
          <p:cNvPicPr>
            <a:picLocks noChangeAspect="1"/>
          </p:cNvPicPr>
          <p:nvPr/>
        </p:nvPicPr>
        <p:blipFill>
          <a:blip r:embed="rId7"/>
          <a:stretch>
            <a:fillRect/>
          </a:stretch>
        </p:blipFill>
        <p:spPr>
          <a:xfrm>
            <a:off x="3411170" y="5391644"/>
            <a:ext cx="3168900" cy="877266"/>
          </a:xfrm>
          <a:prstGeom prst="rect">
            <a:avLst/>
          </a:prstGeom>
        </p:spPr>
      </p:pic>
      <p:grpSp>
        <p:nvGrpSpPr>
          <p:cNvPr id="8" name="Group 7">
            <a:extLst>
              <a:ext uri="{FF2B5EF4-FFF2-40B4-BE49-F238E27FC236}">
                <a16:creationId xmlns:a16="http://schemas.microsoft.com/office/drawing/2014/main" id="{A92FD43E-EAED-98F6-FDC3-AAE7758B06EB}"/>
              </a:ext>
            </a:extLst>
          </p:cNvPr>
          <p:cNvGrpSpPr/>
          <p:nvPr/>
        </p:nvGrpSpPr>
        <p:grpSpPr>
          <a:xfrm>
            <a:off x="1705607" y="3990958"/>
            <a:ext cx="1106265" cy="757469"/>
            <a:chOff x="1705607" y="3990958"/>
            <a:chExt cx="1106265" cy="757469"/>
          </a:xfrm>
        </p:grpSpPr>
        <p:cxnSp>
          <p:nvCxnSpPr>
            <p:cNvPr id="21" name="Straight Arrow Connector 20">
              <a:extLst>
                <a:ext uri="{FF2B5EF4-FFF2-40B4-BE49-F238E27FC236}">
                  <a16:creationId xmlns:a16="http://schemas.microsoft.com/office/drawing/2014/main" id="{C3977026-FAFA-49BB-A7A5-0AD180C9B8F9}"/>
                </a:ext>
              </a:extLst>
            </p:cNvPr>
            <p:cNvCxnSpPr>
              <a:cxnSpLocks/>
            </p:cNvCxnSpPr>
            <p:nvPr/>
          </p:nvCxnSpPr>
          <p:spPr>
            <a:xfrm>
              <a:off x="2379787" y="4218374"/>
              <a:ext cx="0" cy="530053"/>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7836D4-2FAD-4CB7-A67D-73FBF999DB7A}"/>
                </a:ext>
              </a:extLst>
            </p:cNvPr>
            <p:cNvSpPr/>
            <p:nvPr/>
          </p:nvSpPr>
          <p:spPr>
            <a:xfrm>
              <a:off x="1705607" y="3990958"/>
              <a:ext cx="1106265" cy="307777"/>
            </a:xfrm>
            <a:prstGeom prst="rect">
              <a:avLst/>
            </a:prstGeom>
          </p:spPr>
          <p:txBody>
            <a:bodyPr wrap="none">
              <a:spAutoFit/>
            </a:bodyPr>
            <a:lstStyle/>
            <a:p>
              <a:r>
                <a:rPr lang="en-US" sz="1400" dirty="0">
                  <a:latin typeface="AdvP41153C"/>
                </a:rPr>
                <a:t>channel gain</a:t>
              </a:r>
              <a:endParaRPr lang="en-US" sz="1400" dirty="0"/>
            </a:p>
          </p:txBody>
        </p:sp>
      </p:grpSp>
      <p:grpSp>
        <p:nvGrpSpPr>
          <p:cNvPr id="15" name="Group 14">
            <a:extLst>
              <a:ext uri="{FF2B5EF4-FFF2-40B4-BE49-F238E27FC236}">
                <a16:creationId xmlns:a16="http://schemas.microsoft.com/office/drawing/2014/main" id="{C4300EA4-5B8B-87FD-8E0F-66FE13C427B8}"/>
              </a:ext>
            </a:extLst>
          </p:cNvPr>
          <p:cNvGrpSpPr/>
          <p:nvPr/>
        </p:nvGrpSpPr>
        <p:grpSpPr>
          <a:xfrm>
            <a:off x="3883880" y="4035703"/>
            <a:ext cx="991468" cy="740189"/>
            <a:chOff x="3883880" y="4035703"/>
            <a:chExt cx="991468" cy="740189"/>
          </a:xfrm>
        </p:grpSpPr>
        <p:cxnSp>
          <p:nvCxnSpPr>
            <p:cNvPr id="24" name="Straight Arrow Connector 23">
              <a:extLst>
                <a:ext uri="{FF2B5EF4-FFF2-40B4-BE49-F238E27FC236}">
                  <a16:creationId xmlns:a16="http://schemas.microsoft.com/office/drawing/2014/main" id="{C37BB178-80AE-414E-8F46-AA86FB052986}"/>
                </a:ext>
              </a:extLst>
            </p:cNvPr>
            <p:cNvCxnSpPr>
              <a:cxnSpLocks/>
            </p:cNvCxnSpPr>
            <p:nvPr/>
          </p:nvCxnSpPr>
          <p:spPr>
            <a:xfrm flipH="1">
              <a:off x="3883880" y="4315545"/>
              <a:ext cx="496889" cy="460347"/>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FE8FB96-D2C9-4AF7-B415-E7659954F37E}"/>
                </a:ext>
              </a:extLst>
            </p:cNvPr>
            <p:cNvSpPr/>
            <p:nvPr/>
          </p:nvSpPr>
          <p:spPr>
            <a:xfrm>
              <a:off x="4299678" y="4035703"/>
              <a:ext cx="575670" cy="307777"/>
            </a:xfrm>
            <a:prstGeom prst="rect">
              <a:avLst/>
            </a:prstGeom>
          </p:spPr>
          <p:txBody>
            <a:bodyPr wrap="none">
              <a:spAutoFit/>
            </a:bodyPr>
            <a:lstStyle/>
            <a:p>
              <a:r>
                <a:rPr lang="en-US" sz="1400" dirty="0">
                  <a:latin typeface="AdvP41153C"/>
                </a:rPr>
                <a:t>delay</a:t>
              </a:r>
              <a:endParaRPr lang="en-US" sz="1400" dirty="0"/>
            </a:p>
          </p:txBody>
        </p:sp>
      </p:grpSp>
      <p:grpSp>
        <p:nvGrpSpPr>
          <p:cNvPr id="10" name="Group 9">
            <a:extLst>
              <a:ext uri="{FF2B5EF4-FFF2-40B4-BE49-F238E27FC236}">
                <a16:creationId xmlns:a16="http://schemas.microsoft.com/office/drawing/2014/main" id="{87F64BC8-AA84-3A58-22FC-60159A87283A}"/>
              </a:ext>
            </a:extLst>
          </p:cNvPr>
          <p:cNvGrpSpPr/>
          <p:nvPr/>
        </p:nvGrpSpPr>
        <p:grpSpPr>
          <a:xfrm>
            <a:off x="3075406" y="4175624"/>
            <a:ext cx="1135247" cy="572803"/>
            <a:chOff x="3075406" y="4175624"/>
            <a:chExt cx="1135247" cy="572803"/>
          </a:xfrm>
        </p:grpSpPr>
        <p:cxnSp>
          <p:nvCxnSpPr>
            <p:cNvPr id="23" name="Straight Arrow Connector 22">
              <a:extLst>
                <a:ext uri="{FF2B5EF4-FFF2-40B4-BE49-F238E27FC236}">
                  <a16:creationId xmlns:a16="http://schemas.microsoft.com/office/drawing/2014/main" id="{FEDF9BCF-656F-4D29-8AA2-72BC117F764D}"/>
                </a:ext>
              </a:extLst>
            </p:cNvPr>
            <p:cNvCxnSpPr>
              <a:cxnSpLocks/>
            </p:cNvCxnSpPr>
            <p:nvPr/>
          </p:nvCxnSpPr>
          <p:spPr>
            <a:xfrm>
              <a:off x="3380278" y="4414393"/>
              <a:ext cx="0" cy="334034"/>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665CD7F-C4F3-4789-9EF4-39A22949F507}"/>
                </a:ext>
              </a:extLst>
            </p:cNvPr>
            <p:cNvSpPr/>
            <p:nvPr/>
          </p:nvSpPr>
          <p:spPr>
            <a:xfrm>
              <a:off x="3075406" y="4175624"/>
              <a:ext cx="1135247" cy="307777"/>
            </a:xfrm>
            <a:prstGeom prst="rect">
              <a:avLst/>
            </a:prstGeom>
          </p:spPr>
          <p:txBody>
            <a:bodyPr wrap="none">
              <a:spAutoFit/>
            </a:bodyPr>
            <a:lstStyle/>
            <a:p>
              <a:r>
                <a:rPr lang="en-US" sz="1400" dirty="0">
                  <a:latin typeface="AdvP41153C"/>
                </a:rPr>
                <a:t>Doppler shift</a:t>
              </a:r>
              <a:endParaRPr lang="en-US" sz="1400" dirty="0"/>
            </a:p>
          </p:txBody>
        </p:sp>
      </p:grpSp>
      <p:pic>
        <p:nvPicPr>
          <p:cNvPr id="31" name="Picture 30">
            <a:extLst>
              <a:ext uri="{FF2B5EF4-FFF2-40B4-BE49-F238E27FC236}">
                <a16:creationId xmlns:a16="http://schemas.microsoft.com/office/drawing/2014/main" id="{2EC3C65E-9071-4384-9D04-A287D83665C4}"/>
              </a:ext>
            </a:extLst>
          </p:cNvPr>
          <p:cNvPicPr>
            <a:picLocks noChangeAspect="1"/>
          </p:cNvPicPr>
          <p:nvPr/>
        </p:nvPicPr>
        <p:blipFill>
          <a:blip r:embed="rId8"/>
          <a:stretch>
            <a:fillRect/>
          </a:stretch>
        </p:blipFill>
        <p:spPr>
          <a:xfrm>
            <a:off x="3582498" y="6205946"/>
            <a:ext cx="2766563" cy="439137"/>
          </a:xfrm>
          <a:prstGeom prst="rect">
            <a:avLst/>
          </a:prstGeom>
        </p:spPr>
      </p:pic>
      <p:sp>
        <p:nvSpPr>
          <p:cNvPr id="25" name="TextBox 24">
            <a:extLst>
              <a:ext uri="{FF2B5EF4-FFF2-40B4-BE49-F238E27FC236}">
                <a16:creationId xmlns:a16="http://schemas.microsoft.com/office/drawing/2014/main" id="{AD3FFE7D-98E0-9BB3-1C73-CD9B2DBF142C}"/>
              </a:ext>
            </a:extLst>
          </p:cNvPr>
          <p:cNvSpPr txBox="1"/>
          <p:nvPr/>
        </p:nvSpPr>
        <p:spPr>
          <a:xfrm>
            <a:off x="5211143" y="4449880"/>
            <a:ext cx="3612223" cy="646331"/>
          </a:xfrm>
          <a:prstGeom prst="rect">
            <a:avLst/>
          </a:prstGeom>
          <a:noFill/>
        </p:spPr>
        <p:txBody>
          <a:bodyPr wrap="square">
            <a:spAutoFit/>
          </a:bodyPr>
          <a:lstStyle/>
          <a:p>
            <a:r>
              <a:rPr lang="en-US" b="1" dirty="0">
                <a:solidFill>
                  <a:srgbClr val="FF0000"/>
                </a:solidFill>
              </a:rPr>
              <a:t>Why we ignore the imaginary part (for analysis)? (Homework)</a:t>
            </a:r>
          </a:p>
        </p:txBody>
      </p:sp>
    </p:spTree>
    <p:extLst>
      <p:ext uri="{BB962C8B-B14F-4D97-AF65-F5344CB8AC3E}">
        <p14:creationId xmlns:p14="http://schemas.microsoft.com/office/powerpoint/2010/main" val="2495559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A1DF82-A6F2-4EA3-8B51-08CFDE4A26F2}"/>
              </a:ext>
            </a:extLst>
          </p:cNvPr>
          <p:cNvPicPr>
            <a:picLocks noChangeAspect="1"/>
          </p:cNvPicPr>
          <p:nvPr/>
        </p:nvPicPr>
        <p:blipFill>
          <a:blip r:embed="rId3"/>
          <a:stretch>
            <a:fillRect/>
          </a:stretch>
        </p:blipFill>
        <p:spPr>
          <a:xfrm>
            <a:off x="268165" y="1833440"/>
            <a:ext cx="3645873" cy="1009309"/>
          </a:xfrm>
          <a:prstGeom prst="rect">
            <a:avLst/>
          </a:prstGeom>
        </p:spPr>
      </p:pic>
      <p:sp>
        <p:nvSpPr>
          <p:cNvPr id="5" name="Rectangle 4">
            <a:extLst>
              <a:ext uri="{FF2B5EF4-FFF2-40B4-BE49-F238E27FC236}">
                <a16:creationId xmlns:a16="http://schemas.microsoft.com/office/drawing/2014/main" id="{BBD4484D-013B-4BA8-959E-914C49461A8A}"/>
              </a:ext>
            </a:extLst>
          </p:cNvPr>
          <p:cNvSpPr/>
          <p:nvPr/>
        </p:nvSpPr>
        <p:spPr>
          <a:xfrm>
            <a:off x="532909" y="1399881"/>
            <a:ext cx="2586093" cy="369332"/>
          </a:xfrm>
          <a:prstGeom prst="rect">
            <a:avLst/>
          </a:prstGeom>
        </p:spPr>
        <p:txBody>
          <a:bodyPr wrap="none">
            <a:spAutoFit/>
          </a:bodyPr>
          <a:lstStyle/>
          <a:p>
            <a:r>
              <a:rPr lang="en-US" dirty="0">
                <a:latin typeface="AdvP41153C"/>
              </a:rPr>
              <a:t>Baseband Received Signal</a:t>
            </a:r>
            <a:endParaRPr lang="en-US" dirty="0"/>
          </a:p>
        </p:txBody>
      </p:sp>
      <p:pic>
        <p:nvPicPr>
          <p:cNvPr id="7" name="Picture 6">
            <a:extLst>
              <a:ext uri="{FF2B5EF4-FFF2-40B4-BE49-F238E27FC236}">
                <a16:creationId xmlns:a16="http://schemas.microsoft.com/office/drawing/2014/main" id="{F76743F0-78AD-4724-A081-DC0F376CBC3B}"/>
              </a:ext>
            </a:extLst>
          </p:cNvPr>
          <p:cNvPicPr>
            <a:picLocks noChangeAspect="1"/>
          </p:cNvPicPr>
          <p:nvPr/>
        </p:nvPicPr>
        <p:blipFill>
          <a:blip r:embed="rId4"/>
          <a:stretch>
            <a:fillRect/>
          </a:stretch>
        </p:blipFill>
        <p:spPr>
          <a:xfrm>
            <a:off x="4439887" y="1793777"/>
            <a:ext cx="3752850" cy="942975"/>
          </a:xfrm>
          <a:prstGeom prst="rect">
            <a:avLst/>
          </a:prstGeom>
        </p:spPr>
      </p:pic>
      <p:pic>
        <p:nvPicPr>
          <p:cNvPr id="8" name="Picture 7">
            <a:extLst>
              <a:ext uri="{FF2B5EF4-FFF2-40B4-BE49-F238E27FC236}">
                <a16:creationId xmlns:a16="http://schemas.microsoft.com/office/drawing/2014/main" id="{D8647DB6-4D7E-41EA-B9EE-791426669385}"/>
              </a:ext>
            </a:extLst>
          </p:cNvPr>
          <p:cNvPicPr>
            <a:picLocks noChangeAspect="1"/>
          </p:cNvPicPr>
          <p:nvPr/>
        </p:nvPicPr>
        <p:blipFill>
          <a:blip r:embed="rId5"/>
          <a:stretch>
            <a:fillRect/>
          </a:stretch>
        </p:blipFill>
        <p:spPr>
          <a:xfrm>
            <a:off x="5249209" y="3645285"/>
            <a:ext cx="2524125" cy="609600"/>
          </a:xfrm>
          <a:prstGeom prst="rect">
            <a:avLst/>
          </a:prstGeom>
        </p:spPr>
      </p:pic>
      <p:sp>
        <p:nvSpPr>
          <p:cNvPr id="9" name="Rectangle 8">
            <a:extLst>
              <a:ext uri="{FF2B5EF4-FFF2-40B4-BE49-F238E27FC236}">
                <a16:creationId xmlns:a16="http://schemas.microsoft.com/office/drawing/2014/main" id="{53E706FE-3616-473F-ABB7-95D68B7834DA}"/>
              </a:ext>
            </a:extLst>
          </p:cNvPr>
          <p:cNvSpPr/>
          <p:nvPr/>
        </p:nvSpPr>
        <p:spPr>
          <a:xfrm>
            <a:off x="4439887" y="1376477"/>
            <a:ext cx="1940724" cy="369332"/>
          </a:xfrm>
          <a:prstGeom prst="rect">
            <a:avLst/>
          </a:prstGeom>
        </p:spPr>
        <p:txBody>
          <a:bodyPr wrap="none">
            <a:spAutoFit/>
          </a:bodyPr>
          <a:lstStyle/>
          <a:p>
            <a:r>
              <a:rPr lang="en-US" dirty="0">
                <a:latin typeface="AdvP41153C"/>
              </a:rPr>
              <a:t>Impulse Response:</a:t>
            </a:r>
            <a:endParaRPr lang="en-US" dirty="0"/>
          </a:p>
        </p:txBody>
      </p:sp>
      <p:grpSp>
        <p:nvGrpSpPr>
          <p:cNvPr id="2" name="Group 1">
            <a:extLst>
              <a:ext uri="{FF2B5EF4-FFF2-40B4-BE49-F238E27FC236}">
                <a16:creationId xmlns:a16="http://schemas.microsoft.com/office/drawing/2014/main" id="{741CB9CD-DB9B-570B-A8CE-69234623EB4B}"/>
              </a:ext>
            </a:extLst>
          </p:cNvPr>
          <p:cNvGrpSpPr/>
          <p:nvPr/>
        </p:nvGrpSpPr>
        <p:grpSpPr>
          <a:xfrm>
            <a:off x="6862168" y="1432464"/>
            <a:ext cx="1619931" cy="538681"/>
            <a:chOff x="6862168" y="1432464"/>
            <a:chExt cx="1619931" cy="538681"/>
          </a:xfrm>
        </p:grpSpPr>
        <p:sp>
          <p:nvSpPr>
            <p:cNvPr id="10" name="Rectangle 9">
              <a:extLst>
                <a:ext uri="{FF2B5EF4-FFF2-40B4-BE49-F238E27FC236}">
                  <a16:creationId xmlns:a16="http://schemas.microsoft.com/office/drawing/2014/main" id="{96D31FA4-2A09-4594-BF3B-EEEB1BE91316}"/>
                </a:ext>
              </a:extLst>
            </p:cNvPr>
            <p:cNvSpPr/>
            <p:nvPr/>
          </p:nvSpPr>
          <p:spPr>
            <a:xfrm>
              <a:off x="6862168" y="1432464"/>
              <a:ext cx="1619931" cy="307777"/>
            </a:xfrm>
            <a:prstGeom prst="rect">
              <a:avLst/>
            </a:prstGeom>
          </p:spPr>
          <p:txBody>
            <a:bodyPr wrap="none">
              <a:spAutoFit/>
            </a:bodyPr>
            <a:lstStyle/>
            <a:p>
              <a:r>
                <a:rPr lang="en-US" sz="1400" dirty="0">
                  <a:latin typeface="AdvP41153C"/>
                </a:rPr>
                <a:t>Dirac delta function</a:t>
              </a:r>
              <a:endParaRPr lang="en-US" sz="1400" dirty="0"/>
            </a:p>
          </p:txBody>
        </p:sp>
        <p:cxnSp>
          <p:nvCxnSpPr>
            <p:cNvPr id="12" name="Straight Arrow Connector 11">
              <a:extLst>
                <a:ext uri="{FF2B5EF4-FFF2-40B4-BE49-F238E27FC236}">
                  <a16:creationId xmlns:a16="http://schemas.microsoft.com/office/drawing/2014/main" id="{7889AA7B-DEAC-4C47-8F44-75E600923E16}"/>
                </a:ext>
              </a:extLst>
            </p:cNvPr>
            <p:cNvCxnSpPr>
              <a:cxnSpLocks/>
            </p:cNvCxnSpPr>
            <p:nvPr/>
          </p:nvCxnSpPr>
          <p:spPr>
            <a:xfrm flipH="1">
              <a:off x="7180031" y="1726584"/>
              <a:ext cx="162292" cy="244561"/>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FED96C40-112F-46DE-9175-38DA3103812D}"/>
              </a:ext>
            </a:extLst>
          </p:cNvPr>
          <p:cNvSpPr/>
          <p:nvPr/>
        </p:nvSpPr>
        <p:spPr>
          <a:xfrm>
            <a:off x="5177074" y="2642109"/>
            <a:ext cx="3247783" cy="646331"/>
          </a:xfrm>
          <a:prstGeom prst="rect">
            <a:avLst/>
          </a:prstGeom>
        </p:spPr>
        <p:txBody>
          <a:bodyPr wrap="square">
            <a:spAutoFit/>
          </a:bodyPr>
          <a:lstStyle/>
          <a:p>
            <a:r>
              <a:rPr lang="en-US" dirty="0">
                <a:latin typeface="AdvP41153C"/>
              </a:rPr>
              <a:t>If path delay is much less than the sampling period </a:t>
            </a:r>
            <a:r>
              <a:rPr lang="en-US" dirty="0">
                <a:latin typeface="AdvP3D1FEB"/>
              </a:rPr>
              <a:t>T</a:t>
            </a:r>
            <a:r>
              <a:rPr lang="en-US" sz="800" dirty="0">
                <a:latin typeface="AdvP3D1FEB"/>
              </a:rPr>
              <a:t>S</a:t>
            </a:r>
            <a:endParaRPr lang="en-US" dirty="0"/>
          </a:p>
        </p:txBody>
      </p:sp>
      <p:pic>
        <p:nvPicPr>
          <p:cNvPr id="16" name="Picture 15">
            <a:extLst>
              <a:ext uri="{FF2B5EF4-FFF2-40B4-BE49-F238E27FC236}">
                <a16:creationId xmlns:a16="http://schemas.microsoft.com/office/drawing/2014/main" id="{D331A9C5-3B4C-4884-8BDF-20E209DEC2A1}"/>
              </a:ext>
            </a:extLst>
          </p:cNvPr>
          <p:cNvPicPr>
            <a:picLocks noChangeAspect="1"/>
          </p:cNvPicPr>
          <p:nvPr/>
        </p:nvPicPr>
        <p:blipFill>
          <a:blip r:embed="rId6"/>
          <a:stretch>
            <a:fillRect/>
          </a:stretch>
        </p:blipFill>
        <p:spPr>
          <a:xfrm>
            <a:off x="5232323" y="3285061"/>
            <a:ext cx="2688629" cy="300541"/>
          </a:xfrm>
          <a:prstGeom prst="rect">
            <a:avLst/>
          </a:prstGeom>
        </p:spPr>
      </p:pic>
      <p:pic>
        <p:nvPicPr>
          <p:cNvPr id="17" name="Picture 16">
            <a:extLst>
              <a:ext uri="{FF2B5EF4-FFF2-40B4-BE49-F238E27FC236}">
                <a16:creationId xmlns:a16="http://schemas.microsoft.com/office/drawing/2014/main" id="{7929A770-8B50-4467-80AA-54D56FD220B5}"/>
              </a:ext>
            </a:extLst>
          </p:cNvPr>
          <p:cNvPicPr>
            <a:picLocks noChangeAspect="1"/>
          </p:cNvPicPr>
          <p:nvPr/>
        </p:nvPicPr>
        <p:blipFill>
          <a:blip r:embed="rId7"/>
          <a:stretch>
            <a:fillRect/>
          </a:stretch>
        </p:blipFill>
        <p:spPr>
          <a:xfrm>
            <a:off x="532909" y="3083360"/>
            <a:ext cx="2657475" cy="685800"/>
          </a:xfrm>
          <a:prstGeom prst="rect">
            <a:avLst/>
          </a:prstGeom>
        </p:spPr>
      </p:pic>
      <p:pic>
        <p:nvPicPr>
          <p:cNvPr id="19" name="Picture 18">
            <a:extLst>
              <a:ext uri="{FF2B5EF4-FFF2-40B4-BE49-F238E27FC236}">
                <a16:creationId xmlns:a16="http://schemas.microsoft.com/office/drawing/2014/main" id="{86DFCE23-89D4-4B63-8CE2-079815B54498}"/>
              </a:ext>
            </a:extLst>
          </p:cNvPr>
          <p:cNvPicPr>
            <a:picLocks noChangeAspect="1"/>
          </p:cNvPicPr>
          <p:nvPr/>
        </p:nvPicPr>
        <p:blipFill>
          <a:blip r:embed="rId8"/>
          <a:stretch>
            <a:fillRect/>
          </a:stretch>
        </p:blipFill>
        <p:spPr>
          <a:xfrm>
            <a:off x="1112061" y="3895255"/>
            <a:ext cx="3438525" cy="552450"/>
          </a:xfrm>
          <a:prstGeom prst="rect">
            <a:avLst/>
          </a:prstGeom>
        </p:spPr>
      </p:pic>
      <p:pic>
        <p:nvPicPr>
          <p:cNvPr id="20" name="Picture 19">
            <a:extLst>
              <a:ext uri="{FF2B5EF4-FFF2-40B4-BE49-F238E27FC236}">
                <a16:creationId xmlns:a16="http://schemas.microsoft.com/office/drawing/2014/main" id="{C104C9C0-9147-4E38-9D60-258ADE9EF18B}"/>
              </a:ext>
            </a:extLst>
          </p:cNvPr>
          <p:cNvPicPr>
            <a:picLocks noChangeAspect="1"/>
          </p:cNvPicPr>
          <p:nvPr/>
        </p:nvPicPr>
        <p:blipFill>
          <a:blip r:embed="rId9"/>
          <a:stretch>
            <a:fillRect/>
          </a:stretch>
        </p:blipFill>
        <p:spPr>
          <a:xfrm>
            <a:off x="1138003" y="4561714"/>
            <a:ext cx="3733800" cy="561975"/>
          </a:xfrm>
          <a:prstGeom prst="rect">
            <a:avLst/>
          </a:prstGeom>
        </p:spPr>
      </p:pic>
      <p:pic>
        <p:nvPicPr>
          <p:cNvPr id="21" name="Picture 20">
            <a:extLst>
              <a:ext uri="{FF2B5EF4-FFF2-40B4-BE49-F238E27FC236}">
                <a16:creationId xmlns:a16="http://schemas.microsoft.com/office/drawing/2014/main" id="{8FA048FF-7D16-4C02-BA1F-CDFB7A4BBFF4}"/>
              </a:ext>
            </a:extLst>
          </p:cNvPr>
          <p:cNvPicPr>
            <a:picLocks noChangeAspect="1"/>
          </p:cNvPicPr>
          <p:nvPr/>
        </p:nvPicPr>
        <p:blipFill>
          <a:blip r:embed="rId10"/>
          <a:stretch>
            <a:fillRect/>
          </a:stretch>
        </p:blipFill>
        <p:spPr>
          <a:xfrm>
            <a:off x="756694" y="5296719"/>
            <a:ext cx="2138521" cy="655237"/>
          </a:xfrm>
          <a:prstGeom prst="rect">
            <a:avLst/>
          </a:prstGeom>
        </p:spPr>
      </p:pic>
      <p:pic>
        <p:nvPicPr>
          <p:cNvPr id="22" name="Picture 21">
            <a:extLst>
              <a:ext uri="{FF2B5EF4-FFF2-40B4-BE49-F238E27FC236}">
                <a16:creationId xmlns:a16="http://schemas.microsoft.com/office/drawing/2014/main" id="{41B6CE94-3825-4B0E-941D-EB8992643CD7}"/>
              </a:ext>
            </a:extLst>
          </p:cNvPr>
          <p:cNvPicPr>
            <a:picLocks noChangeAspect="1"/>
          </p:cNvPicPr>
          <p:nvPr/>
        </p:nvPicPr>
        <p:blipFill>
          <a:blip r:embed="rId11"/>
          <a:stretch>
            <a:fillRect/>
          </a:stretch>
        </p:blipFill>
        <p:spPr>
          <a:xfrm>
            <a:off x="3119002" y="5268011"/>
            <a:ext cx="1995581" cy="729282"/>
          </a:xfrm>
          <a:prstGeom prst="rect">
            <a:avLst/>
          </a:prstGeom>
        </p:spPr>
      </p:pic>
      <p:sp>
        <p:nvSpPr>
          <p:cNvPr id="23" name="Rectangle 22">
            <a:extLst>
              <a:ext uri="{FF2B5EF4-FFF2-40B4-BE49-F238E27FC236}">
                <a16:creationId xmlns:a16="http://schemas.microsoft.com/office/drawing/2014/main" id="{38BBCAAF-9AF8-45A9-8FA1-E976E9665B3A}"/>
              </a:ext>
            </a:extLst>
          </p:cNvPr>
          <p:cNvSpPr/>
          <p:nvPr/>
        </p:nvSpPr>
        <p:spPr>
          <a:xfrm>
            <a:off x="915701" y="5997293"/>
            <a:ext cx="811441" cy="307777"/>
          </a:xfrm>
          <a:prstGeom prst="rect">
            <a:avLst/>
          </a:prstGeom>
        </p:spPr>
        <p:txBody>
          <a:bodyPr wrap="none">
            <a:spAutoFit/>
          </a:bodyPr>
          <a:lstStyle/>
          <a:p>
            <a:r>
              <a:rPr lang="en-US" sz="1400" dirty="0">
                <a:latin typeface="AdvP41153C"/>
              </a:rPr>
              <a:t>in-phase</a:t>
            </a:r>
            <a:endParaRPr lang="en-US" sz="1400" dirty="0"/>
          </a:p>
        </p:txBody>
      </p:sp>
      <p:sp>
        <p:nvSpPr>
          <p:cNvPr id="24" name="Rectangle 23">
            <a:extLst>
              <a:ext uri="{FF2B5EF4-FFF2-40B4-BE49-F238E27FC236}">
                <a16:creationId xmlns:a16="http://schemas.microsoft.com/office/drawing/2014/main" id="{4A616E71-B8C9-4FFF-82A5-4D74202B9596}"/>
              </a:ext>
            </a:extLst>
          </p:cNvPr>
          <p:cNvSpPr/>
          <p:nvPr/>
        </p:nvSpPr>
        <p:spPr>
          <a:xfrm>
            <a:off x="3004903" y="5992845"/>
            <a:ext cx="1953163" cy="307777"/>
          </a:xfrm>
          <a:prstGeom prst="rect">
            <a:avLst/>
          </a:prstGeom>
        </p:spPr>
        <p:txBody>
          <a:bodyPr wrap="none">
            <a:spAutoFit/>
          </a:bodyPr>
          <a:lstStyle/>
          <a:p>
            <a:r>
              <a:rPr lang="en-US" sz="1400" dirty="0">
                <a:latin typeface="AdvP41153C"/>
              </a:rPr>
              <a:t>quadrature components</a:t>
            </a:r>
            <a:endParaRPr lang="en-US" sz="1400" dirty="0"/>
          </a:p>
        </p:txBody>
      </p:sp>
      <p:sp>
        <p:nvSpPr>
          <p:cNvPr id="25" name="Title 1">
            <a:extLst>
              <a:ext uri="{FF2B5EF4-FFF2-40B4-BE49-F238E27FC236}">
                <a16:creationId xmlns:a16="http://schemas.microsoft.com/office/drawing/2014/main" id="{3BAFCAFB-CE25-4397-AC0F-B9463D04A2B7}"/>
              </a:ext>
            </a:extLst>
          </p:cNvPr>
          <p:cNvSpPr>
            <a:spLocks noGrp="1"/>
          </p:cNvSpPr>
          <p:nvPr>
            <p:ph type="title"/>
          </p:nvPr>
        </p:nvSpPr>
        <p:spPr>
          <a:xfrm>
            <a:off x="628650" y="101357"/>
            <a:ext cx="7886700" cy="1325563"/>
          </a:xfrm>
        </p:spPr>
        <p:txBody>
          <a:bodyPr>
            <a:normAutofit/>
          </a:bodyPr>
          <a:lstStyle/>
          <a:p>
            <a:r>
              <a:rPr lang="en-US" sz="3600" b="1" dirty="0"/>
              <a:t>Statistical Characterization of Fading Channel</a:t>
            </a:r>
          </a:p>
        </p:txBody>
      </p:sp>
      <p:pic>
        <p:nvPicPr>
          <p:cNvPr id="26" name="Picture 25">
            <a:extLst>
              <a:ext uri="{FF2B5EF4-FFF2-40B4-BE49-F238E27FC236}">
                <a16:creationId xmlns:a16="http://schemas.microsoft.com/office/drawing/2014/main" id="{D187ADD4-B7DE-4308-B250-1F279A36054E}"/>
              </a:ext>
            </a:extLst>
          </p:cNvPr>
          <p:cNvPicPr>
            <a:picLocks noChangeAspect="1"/>
          </p:cNvPicPr>
          <p:nvPr/>
        </p:nvPicPr>
        <p:blipFill>
          <a:blip r:embed="rId12"/>
          <a:stretch>
            <a:fillRect/>
          </a:stretch>
        </p:blipFill>
        <p:spPr>
          <a:xfrm>
            <a:off x="5620562" y="5163598"/>
            <a:ext cx="2505075" cy="523875"/>
          </a:xfrm>
          <a:prstGeom prst="rect">
            <a:avLst/>
          </a:prstGeom>
        </p:spPr>
      </p:pic>
      <p:sp>
        <p:nvSpPr>
          <p:cNvPr id="27" name="Rectangle 26">
            <a:extLst>
              <a:ext uri="{FF2B5EF4-FFF2-40B4-BE49-F238E27FC236}">
                <a16:creationId xmlns:a16="http://schemas.microsoft.com/office/drawing/2014/main" id="{FD37D752-D9E8-4771-8FF8-66DC6DD26492}"/>
              </a:ext>
            </a:extLst>
          </p:cNvPr>
          <p:cNvSpPr/>
          <p:nvPr/>
        </p:nvSpPr>
        <p:spPr>
          <a:xfrm>
            <a:off x="5360394" y="4680673"/>
            <a:ext cx="3110980" cy="369332"/>
          </a:xfrm>
          <a:prstGeom prst="rect">
            <a:avLst/>
          </a:prstGeom>
        </p:spPr>
        <p:txBody>
          <a:bodyPr wrap="none">
            <a:spAutoFit/>
          </a:bodyPr>
          <a:lstStyle/>
          <a:p>
            <a:r>
              <a:rPr lang="en-US" dirty="0">
                <a:latin typeface="AdvP41153C"/>
              </a:rPr>
              <a:t>Assuming that </a:t>
            </a:r>
            <a:r>
              <a:rPr lang="en-US" dirty="0">
                <a:latin typeface="AdvP3D1FEB"/>
              </a:rPr>
              <a:t>I </a:t>
            </a:r>
            <a:r>
              <a:rPr lang="en-US" dirty="0">
                <a:latin typeface="AdvP41153C"/>
              </a:rPr>
              <a:t>is large enough</a:t>
            </a:r>
            <a:endParaRPr lang="en-US" dirty="0"/>
          </a:p>
        </p:txBody>
      </p:sp>
      <p:sp>
        <p:nvSpPr>
          <p:cNvPr id="28" name="Rectangle 27">
            <a:extLst>
              <a:ext uri="{FF2B5EF4-FFF2-40B4-BE49-F238E27FC236}">
                <a16:creationId xmlns:a16="http://schemas.microsoft.com/office/drawing/2014/main" id="{B2304913-3CB5-45BD-9F94-A56747C6EAE0}"/>
              </a:ext>
            </a:extLst>
          </p:cNvPr>
          <p:cNvSpPr/>
          <p:nvPr/>
        </p:nvSpPr>
        <p:spPr>
          <a:xfrm>
            <a:off x="5249209" y="5823567"/>
            <a:ext cx="3749139" cy="646331"/>
          </a:xfrm>
          <a:prstGeom prst="rect">
            <a:avLst/>
          </a:prstGeom>
        </p:spPr>
        <p:txBody>
          <a:bodyPr wrap="square">
            <a:spAutoFit/>
          </a:bodyPr>
          <a:lstStyle/>
          <a:p>
            <a:r>
              <a:rPr lang="en-US" dirty="0">
                <a:latin typeface="AdvP41153C"/>
              </a:rPr>
              <a:t>approximated as Gaussian random variables by the central limit theorem.</a:t>
            </a:r>
            <a:endParaRPr lang="en-US" dirty="0"/>
          </a:p>
        </p:txBody>
      </p:sp>
      <p:pic>
        <p:nvPicPr>
          <p:cNvPr id="6" name="Picture 5">
            <a:extLst>
              <a:ext uri="{FF2B5EF4-FFF2-40B4-BE49-F238E27FC236}">
                <a16:creationId xmlns:a16="http://schemas.microsoft.com/office/drawing/2014/main" id="{51D778A0-F37D-82A5-AF2A-F2C0855D4276}"/>
              </a:ext>
            </a:extLst>
          </p:cNvPr>
          <p:cNvPicPr>
            <a:picLocks noChangeAspect="1"/>
          </p:cNvPicPr>
          <p:nvPr/>
        </p:nvPicPr>
        <p:blipFill>
          <a:blip r:embed="rId13"/>
          <a:stretch>
            <a:fillRect/>
          </a:stretch>
        </p:blipFill>
        <p:spPr>
          <a:xfrm>
            <a:off x="5360394" y="4074644"/>
            <a:ext cx="2286574" cy="588708"/>
          </a:xfrm>
          <a:prstGeom prst="rect">
            <a:avLst/>
          </a:prstGeom>
        </p:spPr>
      </p:pic>
      <p:sp>
        <p:nvSpPr>
          <p:cNvPr id="11" name="TextBox 10">
            <a:extLst>
              <a:ext uri="{FF2B5EF4-FFF2-40B4-BE49-F238E27FC236}">
                <a16:creationId xmlns:a16="http://schemas.microsoft.com/office/drawing/2014/main" id="{DA068188-0E61-2B64-17A0-A3C1BA905F58}"/>
              </a:ext>
            </a:extLst>
          </p:cNvPr>
          <p:cNvSpPr txBox="1"/>
          <p:nvPr/>
        </p:nvSpPr>
        <p:spPr>
          <a:xfrm>
            <a:off x="5177074" y="6429637"/>
            <a:ext cx="3733801" cy="369332"/>
          </a:xfrm>
          <a:prstGeom prst="rect">
            <a:avLst/>
          </a:prstGeom>
          <a:noFill/>
        </p:spPr>
        <p:txBody>
          <a:bodyPr wrap="square">
            <a:spAutoFit/>
          </a:bodyPr>
          <a:lstStyle/>
          <a:p>
            <a:r>
              <a:rPr lang="en-US" dirty="0"/>
              <a:t>This follows a </a:t>
            </a:r>
            <a:r>
              <a:rPr lang="en-US" b="1" dirty="0"/>
              <a:t>Rayleigh distribution</a:t>
            </a:r>
            <a:r>
              <a:rPr lang="en-US" dirty="0"/>
              <a:t> — </a:t>
            </a:r>
          </a:p>
        </p:txBody>
      </p:sp>
    </p:spTree>
    <p:extLst>
      <p:ext uri="{BB962C8B-B14F-4D97-AF65-F5344CB8AC3E}">
        <p14:creationId xmlns:p14="http://schemas.microsoft.com/office/powerpoint/2010/main" val="3896496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4" grpId="0"/>
      <p:bldP spid="23" grpId="0"/>
      <p:bldP spid="24" grpId="0"/>
      <p:bldP spid="27" grpId="0"/>
      <p:bldP spid="28" grpId="0"/>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3D924-03EC-8083-E8F7-796EC70EE600}"/>
              </a:ext>
            </a:extLst>
          </p:cNvPr>
          <p:cNvSpPr>
            <a:spLocks noGrp="1"/>
          </p:cNvSpPr>
          <p:nvPr>
            <p:ph type="title"/>
          </p:nvPr>
        </p:nvSpPr>
        <p:spPr>
          <a:xfrm>
            <a:off x="530679" y="288926"/>
            <a:ext cx="1831521" cy="658131"/>
          </a:xfrm>
        </p:spPr>
        <p:txBody>
          <a:bodyPr>
            <a:normAutofit/>
          </a:bodyPr>
          <a:lstStyle/>
          <a:p>
            <a:r>
              <a:rPr lang="en-US" sz="3600" b="1"/>
              <a:t>Example</a:t>
            </a:r>
            <a:endParaRPr lang="en-US" sz="3600" b="1" dirty="0"/>
          </a:p>
        </p:txBody>
      </p:sp>
      <p:pic>
        <p:nvPicPr>
          <p:cNvPr id="11" name="Picture 10">
            <a:extLst>
              <a:ext uri="{FF2B5EF4-FFF2-40B4-BE49-F238E27FC236}">
                <a16:creationId xmlns:a16="http://schemas.microsoft.com/office/drawing/2014/main" id="{E9440CC8-3244-0872-C1F8-445E95E3B96E}"/>
              </a:ext>
            </a:extLst>
          </p:cNvPr>
          <p:cNvPicPr>
            <a:picLocks noChangeAspect="1"/>
          </p:cNvPicPr>
          <p:nvPr/>
        </p:nvPicPr>
        <p:blipFill>
          <a:blip r:embed="rId2"/>
          <a:stretch>
            <a:fillRect/>
          </a:stretch>
        </p:blipFill>
        <p:spPr>
          <a:xfrm>
            <a:off x="620486" y="789316"/>
            <a:ext cx="8142514" cy="1452015"/>
          </a:xfrm>
          <a:prstGeom prst="rect">
            <a:avLst/>
          </a:prstGeom>
        </p:spPr>
      </p:pic>
      <p:pic>
        <p:nvPicPr>
          <p:cNvPr id="13" name="Picture 12">
            <a:extLst>
              <a:ext uri="{FF2B5EF4-FFF2-40B4-BE49-F238E27FC236}">
                <a16:creationId xmlns:a16="http://schemas.microsoft.com/office/drawing/2014/main" id="{76B73DC6-2636-E298-42EC-84CEA2ED1558}"/>
              </a:ext>
            </a:extLst>
          </p:cNvPr>
          <p:cNvPicPr>
            <a:picLocks noChangeAspect="1"/>
          </p:cNvPicPr>
          <p:nvPr/>
        </p:nvPicPr>
        <p:blipFill>
          <a:blip r:embed="rId3"/>
          <a:stretch>
            <a:fillRect/>
          </a:stretch>
        </p:blipFill>
        <p:spPr>
          <a:xfrm>
            <a:off x="530679" y="2816723"/>
            <a:ext cx="8360229" cy="978237"/>
          </a:xfrm>
          <a:prstGeom prst="rect">
            <a:avLst/>
          </a:prstGeom>
        </p:spPr>
      </p:pic>
      <p:pic>
        <p:nvPicPr>
          <p:cNvPr id="15" name="Picture 14">
            <a:extLst>
              <a:ext uri="{FF2B5EF4-FFF2-40B4-BE49-F238E27FC236}">
                <a16:creationId xmlns:a16="http://schemas.microsoft.com/office/drawing/2014/main" id="{86F526D5-9917-BE51-BEBB-CCB887050C59}"/>
              </a:ext>
            </a:extLst>
          </p:cNvPr>
          <p:cNvPicPr>
            <a:picLocks noChangeAspect="1"/>
          </p:cNvPicPr>
          <p:nvPr/>
        </p:nvPicPr>
        <p:blipFill>
          <a:blip r:embed="rId4"/>
          <a:stretch>
            <a:fillRect/>
          </a:stretch>
        </p:blipFill>
        <p:spPr>
          <a:xfrm>
            <a:off x="900112" y="4242026"/>
            <a:ext cx="7343775" cy="942975"/>
          </a:xfrm>
          <a:prstGeom prst="rect">
            <a:avLst/>
          </a:prstGeom>
        </p:spPr>
      </p:pic>
    </p:spTree>
    <p:extLst>
      <p:ext uri="{BB962C8B-B14F-4D97-AF65-F5344CB8AC3E}">
        <p14:creationId xmlns:p14="http://schemas.microsoft.com/office/powerpoint/2010/main" val="302862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C7155-CA21-473D-A638-97BC079BB4BC}"/>
              </a:ext>
            </a:extLst>
          </p:cNvPr>
          <p:cNvSpPr>
            <a:spLocks noGrp="1"/>
          </p:cNvSpPr>
          <p:nvPr>
            <p:ph type="title"/>
          </p:nvPr>
        </p:nvSpPr>
        <p:spPr>
          <a:xfrm>
            <a:off x="160563" y="51834"/>
            <a:ext cx="8798379" cy="737506"/>
          </a:xfrm>
        </p:spPr>
        <p:txBody>
          <a:bodyPr>
            <a:noAutofit/>
          </a:bodyPr>
          <a:lstStyle/>
          <a:p>
            <a:r>
              <a:rPr lang="en-US" sz="3200" b="1" dirty="0"/>
              <a:t>Example-1: </a:t>
            </a:r>
            <a:br>
              <a:rPr lang="en-US" sz="3200" b="1" dirty="0"/>
            </a:br>
            <a:r>
              <a:rPr lang="en-US" sz="3200" b="1" dirty="0"/>
              <a:t>rms Delay Spread and Coherence bandwidth=?</a:t>
            </a:r>
          </a:p>
        </p:txBody>
      </p:sp>
      <p:pic>
        <p:nvPicPr>
          <p:cNvPr id="4" name="Picture 3">
            <a:extLst>
              <a:ext uri="{FF2B5EF4-FFF2-40B4-BE49-F238E27FC236}">
                <a16:creationId xmlns:a16="http://schemas.microsoft.com/office/drawing/2014/main" id="{738C2DC2-3C95-4C6B-AE1C-6CC5263D21E8}"/>
              </a:ext>
            </a:extLst>
          </p:cNvPr>
          <p:cNvPicPr>
            <a:picLocks noChangeAspect="1"/>
          </p:cNvPicPr>
          <p:nvPr/>
        </p:nvPicPr>
        <p:blipFill>
          <a:blip r:embed="rId2"/>
          <a:stretch>
            <a:fillRect/>
          </a:stretch>
        </p:blipFill>
        <p:spPr>
          <a:xfrm>
            <a:off x="628650" y="789340"/>
            <a:ext cx="3785821" cy="2349514"/>
          </a:xfrm>
          <a:prstGeom prst="rect">
            <a:avLst/>
          </a:prstGeom>
        </p:spPr>
      </p:pic>
      <p:pic>
        <p:nvPicPr>
          <p:cNvPr id="5" name="Picture 4">
            <a:extLst>
              <a:ext uri="{FF2B5EF4-FFF2-40B4-BE49-F238E27FC236}">
                <a16:creationId xmlns:a16="http://schemas.microsoft.com/office/drawing/2014/main" id="{CBA8EE17-C3F6-4720-AED7-339A69ECD3CE}"/>
              </a:ext>
            </a:extLst>
          </p:cNvPr>
          <p:cNvPicPr>
            <a:picLocks noChangeAspect="1"/>
          </p:cNvPicPr>
          <p:nvPr/>
        </p:nvPicPr>
        <p:blipFill>
          <a:blip r:embed="rId3"/>
          <a:stretch>
            <a:fillRect/>
          </a:stretch>
        </p:blipFill>
        <p:spPr>
          <a:xfrm>
            <a:off x="5219700" y="1175032"/>
            <a:ext cx="3332861" cy="2741750"/>
          </a:xfrm>
          <a:prstGeom prst="rect">
            <a:avLst/>
          </a:prstGeom>
        </p:spPr>
      </p:pic>
      <p:pic>
        <p:nvPicPr>
          <p:cNvPr id="6" name="Picture 5">
            <a:extLst>
              <a:ext uri="{FF2B5EF4-FFF2-40B4-BE49-F238E27FC236}">
                <a16:creationId xmlns:a16="http://schemas.microsoft.com/office/drawing/2014/main" id="{C5AA1318-2237-48B9-A6E3-94B39F229AB9}"/>
              </a:ext>
            </a:extLst>
          </p:cNvPr>
          <p:cNvPicPr>
            <a:picLocks noChangeAspect="1"/>
          </p:cNvPicPr>
          <p:nvPr/>
        </p:nvPicPr>
        <p:blipFill>
          <a:blip r:embed="rId4"/>
          <a:stretch>
            <a:fillRect/>
          </a:stretch>
        </p:blipFill>
        <p:spPr>
          <a:xfrm>
            <a:off x="628650" y="3429000"/>
            <a:ext cx="4591050" cy="1352550"/>
          </a:xfrm>
          <a:prstGeom prst="rect">
            <a:avLst/>
          </a:prstGeom>
        </p:spPr>
      </p:pic>
      <p:pic>
        <p:nvPicPr>
          <p:cNvPr id="7" name="Picture 6">
            <a:extLst>
              <a:ext uri="{FF2B5EF4-FFF2-40B4-BE49-F238E27FC236}">
                <a16:creationId xmlns:a16="http://schemas.microsoft.com/office/drawing/2014/main" id="{41ACF9B4-B23C-4433-8BD0-72862E5FD18E}"/>
              </a:ext>
            </a:extLst>
          </p:cNvPr>
          <p:cNvPicPr>
            <a:picLocks noChangeAspect="1"/>
          </p:cNvPicPr>
          <p:nvPr/>
        </p:nvPicPr>
        <p:blipFill>
          <a:blip r:embed="rId5"/>
          <a:stretch>
            <a:fillRect/>
          </a:stretch>
        </p:blipFill>
        <p:spPr>
          <a:xfrm>
            <a:off x="628650" y="4781550"/>
            <a:ext cx="5172075" cy="1228725"/>
          </a:xfrm>
          <a:prstGeom prst="rect">
            <a:avLst/>
          </a:prstGeom>
        </p:spPr>
      </p:pic>
      <p:pic>
        <p:nvPicPr>
          <p:cNvPr id="8" name="Picture 7">
            <a:extLst>
              <a:ext uri="{FF2B5EF4-FFF2-40B4-BE49-F238E27FC236}">
                <a16:creationId xmlns:a16="http://schemas.microsoft.com/office/drawing/2014/main" id="{D5A4CC5B-28E6-49C7-AB7E-0D481F1AA626}"/>
              </a:ext>
            </a:extLst>
          </p:cNvPr>
          <p:cNvPicPr>
            <a:picLocks noChangeAspect="1"/>
          </p:cNvPicPr>
          <p:nvPr/>
        </p:nvPicPr>
        <p:blipFill>
          <a:blip r:embed="rId6"/>
          <a:stretch>
            <a:fillRect/>
          </a:stretch>
        </p:blipFill>
        <p:spPr>
          <a:xfrm>
            <a:off x="471121" y="6068660"/>
            <a:ext cx="3943350" cy="628650"/>
          </a:xfrm>
          <a:prstGeom prst="rect">
            <a:avLst/>
          </a:prstGeom>
        </p:spPr>
      </p:pic>
      <p:pic>
        <p:nvPicPr>
          <p:cNvPr id="9" name="Picture 8">
            <a:extLst>
              <a:ext uri="{FF2B5EF4-FFF2-40B4-BE49-F238E27FC236}">
                <a16:creationId xmlns:a16="http://schemas.microsoft.com/office/drawing/2014/main" id="{C7CFFFB9-69C2-477B-9EBA-CCCA89876C13}"/>
              </a:ext>
            </a:extLst>
          </p:cNvPr>
          <p:cNvPicPr>
            <a:picLocks noChangeAspect="1"/>
          </p:cNvPicPr>
          <p:nvPr/>
        </p:nvPicPr>
        <p:blipFill>
          <a:blip r:embed="rId7"/>
          <a:stretch>
            <a:fillRect/>
          </a:stretch>
        </p:blipFill>
        <p:spPr>
          <a:xfrm>
            <a:off x="4880463" y="5793764"/>
            <a:ext cx="2962275" cy="809625"/>
          </a:xfrm>
          <a:prstGeom prst="rect">
            <a:avLst/>
          </a:prstGeom>
        </p:spPr>
      </p:pic>
    </p:spTree>
    <p:extLst>
      <p:ext uri="{BB962C8B-B14F-4D97-AF65-F5344CB8AC3E}">
        <p14:creationId xmlns:p14="http://schemas.microsoft.com/office/powerpoint/2010/main" val="2629109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3461615-B56B-006C-1FE6-03D99D5278B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69903" y="56922"/>
            <a:ext cx="5541851" cy="3684361"/>
          </a:xfrm>
          <a:prstGeom prst="rect">
            <a:avLst/>
          </a:prstGeom>
          <a:noFill/>
          <a:ln>
            <a:noFill/>
          </a:ln>
        </p:spPr>
      </p:pic>
      <p:sp>
        <p:nvSpPr>
          <p:cNvPr id="2" name="Title 1">
            <a:extLst>
              <a:ext uri="{FF2B5EF4-FFF2-40B4-BE49-F238E27FC236}">
                <a16:creationId xmlns:a16="http://schemas.microsoft.com/office/drawing/2014/main" id="{00237577-329B-9BC9-9852-2A1DA5DE9AA9}"/>
              </a:ext>
            </a:extLst>
          </p:cNvPr>
          <p:cNvSpPr>
            <a:spLocks noGrp="1"/>
          </p:cNvSpPr>
          <p:nvPr>
            <p:ph type="title"/>
          </p:nvPr>
        </p:nvSpPr>
        <p:spPr>
          <a:xfrm>
            <a:off x="628650" y="244751"/>
            <a:ext cx="7886700" cy="615220"/>
          </a:xfrm>
        </p:spPr>
        <p:txBody>
          <a:bodyPr>
            <a:normAutofit/>
          </a:bodyPr>
          <a:lstStyle/>
          <a:p>
            <a:r>
              <a:rPr lang="en-US" sz="3600" b="1" dirty="0"/>
              <a:t>Example-2: </a:t>
            </a:r>
          </a:p>
        </p:txBody>
      </p:sp>
      <p:sp>
        <p:nvSpPr>
          <p:cNvPr id="11" name="TextBox 10">
            <a:extLst>
              <a:ext uri="{FF2B5EF4-FFF2-40B4-BE49-F238E27FC236}">
                <a16:creationId xmlns:a16="http://schemas.microsoft.com/office/drawing/2014/main" id="{0797CD91-2F18-828C-F3A8-ABEDB199C9FC}"/>
              </a:ext>
            </a:extLst>
          </p:cNvPr>
          <p:cNvSpPr txBox="1"/>
          <p:nvPr/>
        </p:nvSpPr>
        <p:spPr>
          <a:xfrm>
            <a:off x="628650" y="3995678"/>
            <a:ext cx="7886700" cy="2862322"/>
          </a:xfrm>
          <a:prstGeom prst="rect">
            <a:avLst/>
          </a:prstGeom>
          <a:noFill/>
        </p:spPr>
        <p:txBody>
          <a:bodyPr wrap="square" rtlCol="0">
            <a:spAutoFit/>
          </a:bodyPr>
          <a:lstStyle/>
          <a:p>
            <a:pPr marL="342900" indent="-342900">
              <a:lnSpc>
                <a:spcPct val="150000"/>
              </a:lnSpc>
              <a:buAutoNum type="arabicPeriod"/>
            </a:pPr>
            <a:r>
              <a:rPr lang="en-US" dirty="0">
                <a:latin typeface="Lucida Sans Unicode" panose="020B0602030504020204" pitchFamily="34" charset="0"/>
              </a:rPr>
              <a:t>Determine the RMS delay and mean excess delay for the channel</a:t>
            </a:r>
          </a:p>
          <a:p>
            <a:pPr marL="342900" indent="-342900">
              <a:lnSpc>
                <a:spcPct val="150000"/>
              </a:lnSpc>
              <a:buFont typeface="+mj-lt"/>
              <a:buAutoNum type="arabicPeriod"/>
            </a:pPr>
            <a:r>
              <a:rPr lang="en-US" b="0" i="0" u="none" strike="noStrike" baseline="0" dirty="0">
                <a:latin typeface="Lucida Sans Unicode" panose="020B0602030504020204" pitchFamily="34" charset="0"/>
              </a:rPr>
              <a:t>Determine the maximum RF symbol rate if the symbol duration </a:t>
            </a:r>
            <a:r>
              <a:rPr lang="en-US" b="0" i="1" u="none" strike="noStrike" baseline="0" dirty="0">
                <a:latin typeface="Lucida Sans" panose="020B0602030504020204" pitchFamily="34" charset="0"/>
              </a:rPr>
              <a:t>T </a:t>
            </a:r>
            <a:r>
              <a:rPr lang="en-US" b="0" i="0" u="none" strike="noStrike" baseline="0" dirty="0">
                <a:latin typeface="Lucida Sans Unicode" panose="020B0602030504020204" pitchFamily="34" charset="0"/>
              </a:rPr>
              <a:t>is less that 1O</a:t>
            </a:r>
            <a:r>
              <a:rPr lang="en-US" b="0" i="0" u="none" strike="noStrike" baseline="0" dirty="0">
                <a:latin typeface="Symbol" panose="05050102010706020507" pitchFamily="18" charset="2"/>
              </a:rPr>
              <a:t></a:t>
            </a:r>
            <a:r>
              <a:rPr lang="en-US" b="0" i="0" u="none" strike="noStrike" baseline="0" dirty="0">
                <a:latin typeface="Lucida Sans Unicode" panose="020B0602030504020204" pitchFamily="34" charset="0"/>
              </a:rPr>
              <a:t>, where </a:t>
            </a:r>
            <a:r>
              <a:rPr lang="en-US" b="0" i="0" u="none" strike="noStrike" baseline="0" dirty="0">
                <a:latin typeface="Symbol" panose="05050102010706020507" pitchFamily="18" charset="2"/>
              </a:rPr>
              <a:t> </a:t>
            </a:r>
            <a:r>
              <a:rPr lang="en-US" b="0" i="0" u="none" strike="noStrike" baseline="0" dirty="0">
                <a:latin typeface="Lucida Sans Unicode" panose="020B0602030504020204" pitchFamily="34" charset="0"/>
              </a:rPr>
              <a:t>is RMS delay spread, an ISI takes place.</a:t>
            </a:r>
          </a:p>
          <a:p>
            <a:pPr marL="342900" indent="-342900">
              <a:lnSpc>
                <a:spcPct val="150000"/>
              </a:lnSpc>
              <a:buFont typeface="+mj-lt"/>
              <a:buAutoNum type="arabicPeriod"/>
            </a:pPr>
            <a:r>
              <a:rPr lang="en-US" dirty="0">
                <a:latin typeface="Lucida Sans Unicode" panose="020B0602030504020204" pitchFamily="34" charset="0"/>
              </a:rPr>
              <a:t>If the mobile travelling at 30 Km/</a:t>
            </a:r>
            <a:r>
              <a:rPr lang="en-US" dirty="0" err="1">
                <a:latin typeface="Lucida Sans Unicode" panose="020B0602030504020204" pitchFamily="34" charset="0"/>
              </a:rPr>
              <a:t>hr</a:t>
            </a:r>
            <a:r>
              <a:rPr lang="en-US" dirty="0">
                <a:latin typeface="Lucida Sans Unicode" panose="020B0602030504020204" pitchFamily="34" charset="0"/>
              </a:rPr>
              <a:t> receives a signal through the channel, determine the time over which the channel appears stationary.</a:t>
            </a:r>
          </a:p>
          <a:p>
            <a:pPr marL="342900" indent="-342900">
              <a:buAutoNum type="arabicPeriod"/>
            </a:pPr>
            <a:endParaRPr lang="en-US" dirty="0"/>
          </a:p>
        </p:txBody>
      </p:sp>
      <p:sp>
        <p:nvSpPr>
          <p:cNvPr id="25" name="TextBox 24">
            <a:extLst>
              <a:ext uri="{FF2B5EF4-FFF2-40B4-BE49-F238E27FC236}">
                <a16:creationId xmlns:a16="http://schemas.microsoft.com/office/drawing/2014/main" id="{A2AE5629-36AB-3BCF-6D3F-EEE61BD9D65C}"/>
              </a:ext>
            </a:extLst>
          </p:cNvPr>
          <p:cNvSpPr txBox="1"/>
          <p:nvPr/>
        </p:nvSpPr>
        <p:spPr>
          <a:xfrm>
            <a:off x="262362" y="1437437"/>
            <a:ext cx="2507541" cy="1200329"/>
          </a:xfrm>
          <a:prstGeom prst="rect">
            <a:avLst/>
          </a:prstGeom>
          <a:noFill/>
        </p:spPr>
        <p:txBody>
          <a:bodyPr wrap="square">
            <a:spAutoFit/>
          </a:bodyPr>
          <a:lstStyle/>
          <a:p>
            <a:r>
              <a:rPr lang="en-US" sz="1800" b="0" i="0" u="none" strike="noStrike" baseline="0" dirty="0">
                <a:latin typeface="Lucida Sans Unicode" panose="020B0602030504020204" pitchFamily="34" charset="0"/>
              </a:rPr>
              <a:t>A local spatial average of a power delay profile is shown in Figure</a:t>
            </a:r>
          </a:p>
        </p:txBody>
      </p:sp>
    </p:spTree>
    <p:extLst>
      <p:ext uri="{BB962C8B-B14F-4D97-AF65-F5344CB8AC3E}">
        <p14:creationId xmlns:p14="http://schemas.microsoft.com/office/powerpoint/2010/main" val="472917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321C4-FD8A-FA6C-FBE1-B6797A3ACE4A}"/>
              </a:ext>
            </a:extLst>
          </p:cNvPr>
          <p:cNvSpPr>
            <a:spLocks noGrp="1"/>
          </p:cNvSpPr>
          <p:nvPr>
            <p:ph type="title"/>
          </p:nvPr>
        </p:nvSpPr>
        <p:spPr>
          <a:xfrm>
            <a:off x="204107" y="158297"/>
            <a:ext cx="2234293" cy="679903"/>
          </a:xfrm>
        </p:spPr>
        <p:txBody>
          <a:bodyPr>
            <a:normAutofit/>
          </a:bodyPr>
          <a:lstStyle/>
          <a:p>
            <a:r>
              <a:rPr lang="en-US" sz="3600" b="1" dirty="0"/>
              <a:t>Solution</a:t>
            </a:r>
          </a:p>
        </p:txBody>
      </p:sp>
      <p:pic>
        <p:nvPicPr>
          <p:cNvPr id="10" name="Picture 9">
            <a:extLst>
              <a:ext uri="{FF2B5EF4-FFF2-40B4-BE49-F238E27FC236}">
                <a16:creationId xmlns:a16="http://schemas.microsoft.com/office/drawing/2014/main" id="{FFFB0F83-B993-ADDD-FEF8-BB9A4996920A}"/>
              </a:ext>
            </a:extLst>
          </p:cNvPr>
          <p:cNvPicPr>
            <a:picLocks noChangeAspect="1"/>
          </p:cNvPicPr>
          <p:nvPr/>
        </p:nvPicPr>
        <p:blipFill>
          <a:blip r:embed="rId2"/>
          <a:stretch>
            <a:fillRect/>
          </a:stretch>
        </p:blipFill>
        <p:spPr>
          <a:xfrm>
            <a:off x="1919968" y="551955"/>
            <a:ext cx="1847850" cy="590550"/>
          </a:xfrm>
          <a:prstGeom prst="rect">
            <a:avLst/>
          </a:prstGeom>
        </p:spPr>
      </p:pic>
      <p:pic>
        <p:nvPicPr>
          <p:cNvPr id="11" name="Picture 10">
            <a:extLst>
              <a:ext uri="{FF2B5EF4-FFF2-40B4-BE49-F238E27FC236}">
                <a16:creationId xmlns:a16="http://schemas.microsoft.com/office/drawing/2014/main" id="{1931C09A-3449-2076-4044-9163A712340D}"/>
              </a:ext>
            </a:extLst>
          </p:cNvPr>
          <p:cNvPicPr>
            <a:picLocks noChangeAspect="1"/>
          </p:cNvPicPr>
          <p:nvPr/>
        </p:nvPicPr>
        <p:blipFill>
          <a:blip r:embed="rId3"/>
          <a:stretch>
            <a:fillRect/>
          </a:stretch>
        </p:blipFill>
        <p:spPr>
          <a:xfrm>
            <a:off x="4194055" y="486266"/>
            <a:ext cx="3095625" cy="666750"/>
          </a:xfrm>
          <a:prstGeom prst="rect">
            <a:avLst/>
          </a:prstGeom>
        </p:spPr>
      </p:pic>
      <p:pic>
        <p:nvPicPr>
          <p:cNvPr id="12" name="Picture 11">
            <a:extLst>
              <a:ext uri="{FF2B5EF4-FFF2-40B4-BE49-F238E27FC236}">
                <a16:creationId xmlns:a16="http://schemas.microsoft.com/office/drawing/2014/main" id="{B6848A02-74BB-77E9-2A0E-E6007CE38F98}"/>
              </a:ext>
            </a:extLst>
          </p:cNvPr>
          <p:cNvPicPr>
            <a:picLocks noChangeAspect="1"/>
          </p:cNvPicPr>
          <p:nvPr/>
        </p:nvPicPr>
        <p:blipFill>
          <a:blip r:embed="rId4"/>
          <a:stretch>
            <a:fillRect/>
          </a:stretch>
        </p:blipFill>
        <p:spPr>
          <a:xfrm>
            <a:off x="1183821" y="1133473"/>
            <a:ext cx="6435148" cy="666750"/>
          </a:xfrm>
          <a:prstGeom prst="rect">
            <a:avLst/>
          </a:prstGeom>
        </p:spPr>
      </p:pic>
      <p:pic>
        <p:nvPicPr>
          <p:cNvPr id="14" name="Picture 13">
            <a:extLst>
              <a:ext uri="{FF2B5EF4-FFF2-40B4-BE49-F238E27FC236}">
                <a16:creationId xmlns:a16="http://schemas.microsoft.com/office/drawing/2014/main" id="{9BE36E6E-DD9F-9C5F-4C04-726640CACB99}"/>
              </a:ext>
            </a:extLst>
          </p:cNvPr>
          <p:cNvPicPr>
            <a:picLocks noChangeAspect="1"/>
          </p:cNvPicPr>
          <p:nvPr/>
        </p:nvPicPr>
        <p:blipFill>
          <a:blip r:embed="rId5"/>
          <a:stretch>
            <a:fillRect/>
          </a:stretch>
        </p:blipFill>
        <p:spPr>
          <a:xfrm>
            <a:off x="1169547" y="2032644"/>
            <a:ext cx="7647882" cy="425297"/>
          </a:xfrm>
          <a:prstGeom prst="rect">
            <a:avLst/>
          </a:prstGeom>
        </p:spPr>
      </p:pic>
      <p:pic>
        <p:nvPicPr>
          <p:cNvPr id="16" name="Picture 15">
            <a:extLst>
              <a:ext uri="{FF2B5EF4-FFF2-40B4-BE49-F238E27FC236}">
                <a16:creationId xmlns:a16="http://schemas.microsoft.com/office/drawing/2014/main" id="{6773029E-74C7-41EB-CB0E-FB4046E48A08}"/>
              </a:ext>
            </a:extLst>
          </p:cNvPr>
          <p:cNvPicPr>
            <a:picLocks noChangeAspect="1"/>
          </p:cNvPicPr>
          <p:nvPr/>
        </p:nvPicPr>
        <p:blipFill>
          <a:blip r:embed="rId6"/>
          <a:stretch>
            <a:fillRect/>
          </a:stretch>
        </p:blipFill>
        <p:spPr>
          <a:xfrm>
            <a:off x="1771456" y="2701318"/>
            <a:ext cx="5929154" cy="425298"/>
          </a:xfrm>
          <a:prstGeom prst="rect">
            <a:avLst/>
          </a:prstGeom>
        </p:spPr>
      </p:pic>
      <p:pic>
        <p:nvPicPr>
          <p:cNvPr id="18" name="Picture 17">
            <a:extLst>
              <a:ext uri="{FF2B5EF4-FFF2-40B4-BE49-F238E27FC236}">
                <a16:creationId xmlns:a16="http://schemas.microsoft.com/office/drawing/2014/main" id="{21F26CE8-D7ED-C3D8-D98D-3E63559354E5}"/>
              </a:ext>
            </a:extLst>
          </p:cNvPr>
          <p:cNvPicPr>
            <a:picLocks noChangeAspect="1"/>
          </p:cNvPicPr>
          <p:nvPr/>
        </p:nvPicPr>
        <p:blipFill>
          <a:blip r:embed="rId7"/>
          <a:stretch>
            <a:fillRect/>
          </a:stretch>
        </p:blipFill>
        <p:spPr>
          <a:xfrm>
            <a:off x="1169547" y="3515621"/>
            <a:ext cx="4057650" cy="676275"/>
          </a:xfrm>
          <a:prstGeom prst="rect">
            <a:avLst/>
          </a:prstGeom>
        </p:spPr>
      </p:pic>
      <p:pic>
        <p:nvPicPr>
          <p:cNvPr id="20" name="Picture 19">
            <a:extLst>
              <a:ext uri="{FF2B5EF4-FFF2-40B4-BE49-F238E27FC236}">
                <a16:creationId xmlns:a16="http://schemas.microsoft.com/office/drawing/2014/main" id="{3234FB3F-0DA4-BA92-7288-DCAFA5F05E57}"/>
              </a:ext>
            </a:extLst>
          </p:cNvPr>
          <p:cNvPicPr>
            <a:picLocks noChangeAspect="1"/>
          </p:cNvPicPr>
          <p:nvPr/>
        </p:nvPicPr>
        <p:blipFill>
          <a:blip r:embed="rId8"/>
          <a:stretch>
            <a:fillRect/>
          </a:stretch>
        </p:blipFill>
        <p:spPr>
          <a:xfrm>
            <a:off x="1327030" y="4215624"/>
            <a:ext cx="5476875" cy="695325"/>
          </a:xfrm>
          <a:prstGeom prst="rect">
            <a:avLst/>
          </a:prstGeom>
        </p:spPr>
      </p:pic>
      <p:pic>
        <p:nvPicPr>
          <p:cNvPr id="24" name="Picture 23">
            <a:extLst>
              <a:ext uri="{FF2B5EF4-FFF2-40B4-BE49-F238E27FC236}">
                <a16:creationId xmlns:a16="http://schemas.microsoft.com/office/drawing/2014/main" id="{B70AC8DF-E60D-19FB-56B7-6F8DE6E4D814}"/>
              </a:ext>
            </a:extLst>
          </p:cNvPr>
          <p:cNvPicPr>
            <a:picLocks noChangeAspect="1"/>
          </p:cNvPicPr>
          <p:nvPr/>
        </p:nvPicPr>
        <p:blipFill>
          <a:blip r:embed="rId9"/>
          <a:stretch>
            <a:fillRect/>
          </a:stretch>
        </p:blipFill>
        <p:spPr>
          <a:xfrm>
            <a:off x="1213333" y="5061552"/>
            <a:ext cx="5590572" cy="827590"/>
          </a:xfrm>
          <a:prstGeom prst="rect">
            <a:avLst/>
          </a:prstGeom>
        </p:spPr>
      </p:pic>
      <p:pic>
        <p:nvPicPr>
          <p:cNvPr id="26" name="Picture 25">
            <a:extLst>
              <a:ext uri="{FF2B5EF4-FFF2-40B4-BE49-F238E27FC236}">
                <a16:creationId xmlns:a16="http://schemas.microsoft.com/office/drawing/2014/main" id="{5CBAD2D7-2FB6-CB89-CEC7-EA0A39731FF9}"/>
              </a:ext>
            </a:extLst>
          </p:cNvPr>
          <p:cNvPicPr>
            <a:picLocks noChangeAspect="1"/>
          </p:cNvPicPr>
          <p:nvPr/>
        </p:nvPicPr>
        <p:blipFill>
          <a:blip r:embed="rId10"/>
          <a:stretch>
            <a:fillRect/>
          </a:stretch>
        </p:blipFill>
        <p:spPr>
          <a:xfrm>
            <a:off x="1241816" y="5949913"/>
            <a:ext cx="5219700" cy="933450"/>
          </a:xfrm>
          <a:prstGeom prst="rect">
            <a:avLst/>
          </a:prstGeom>
        </p:spPr>
      </p:pic>
      <p:sp>
        <p:nvSpPr>
          <p:cNvPr id="27" name="TextBox 26">
            <a:extLst>
              <a:ext uri="{FF2B5EF4-FFF2-40B4-BE49-F238E27FC236}">
                <a16:creationId xmlns:a16="http://schemas.microsoft.com/office/drawing/2014/main" id="{C13D84CE-800A-9B9E-06BD-3D56828EABCF}"/>
              </a:ext>
            </a:extLst>
          </p:cNvPr>
          <p:cNvSpPr txBox="1"/>
          <p:nvPr/>
        </p:nvSpPr>
        <p:spPr>
          <a:xfrm>
            <a:off x="432027" y="838200"/>
            <a:ext cx="558573" cy="461665"/>
          </a:xfrm>
          <a:prstGeom prst="rect">
            <a:avLst/>
          </a:prstGeom>
          <a:noFill/>
        </p:spPr>
        <p:txBody>
          <a:bodyPr wrap="square" rtlCol="0">
            <a:spAutoFit/>
          </a:bodyPr>
          <a:lstStyle/>
          <a:p>
            <a:r>
              <a:rPr lang="en-US" sz="2400" dirty="0">
                <a:highlight>
                  <a:srgbClr val="FFFF00"/>
                </a:highlight>
              </a:rPr>
              <a:t>a</a:t>
            </a:r>
          </a:p>
        </p:txBody>
      </p:sp>
      <p:cxnSp>
        <p:nvCxnSpPr>
          <p:cNvPr id="29" name="Straight Connector 28">
            <a:extLst>
              <a:ext uri="{FF2B5EF4-FFF2-40B4-BE49-F238E27FC236}">
                <a16:creationId xmlns:a16="http://schemas.microsoft.com/office/drawing/2014/main" id="{954C8B5F-A9BC-3188-6FA3-A0D8309D18E9}"/>
              </a:ext>
            </a:extLst>
          </p:cNvPr>
          <p:cNvCxnSpPr>
            <a:cxnSpLocks/>
          </p:cNvCxnSpPr>
          <p:nvPr/>
        </p:nvCxnSpPr>
        <p:spPr>
          <a:xfrm flipV="1">
            <a:off x="0" y="1800223"/>
            <a:ext cx="9220200" cy="4335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31C0677-7509-32C2-35B6-F4BE2B32C228}"/>
              </a:ext>
            </a:extLst>
          </p:cNvPr>
          <p:cNvSpPr txBox="1"/>
          <p:nvPr/>
        </p:nvSpPr>
        <p:spPr>
          <a:xfrm>
            <a:off x="326571" y="1981694"/>
            <a:ext cx="558573" cy="461665"/>
          </a:xfrm>
          <a:prstGeom prst="rect">
            <a:avLst/>
          </a:prstGeom>
          <a:noFill/>
        </p:spPr>
        <p:txBody>
          <a:bodyPr wrap="square" rtlCol="0">
            <a:spAutoFit/>
          </a:bodyPr>
          <a:lstStyle/>
          <a:p>
            <a:r>
              <a:rPr lang="en-US" sz="2400" dirty="0">
                <a:highlight>
                  <a:srgbClr val="FFFF00"/>
                </a:highlight>
              </a:rPr>
              <a:t>b</a:t>
            </a:r>
          </a:p>
        </p:txBody>
      </p:sp>
      <p:cxnSp>
        <p:nvCxnSpPr>
          <p:cNvPr id="32" name="Straight Connector 31">
            <a:extLst>
              <a:ext uri="{FF2B5EF4-FFF2-40B4-BE49-F238E27FC236}">
                <a16:creationId xmlns:a16="http://schemas.microsoft.com/office/drawing/2014/main" id="{CDD2C114-A2BB-CB33-02C3-4EC940294605}"/>
              </a:ext>
            </a:extLst>
          </p:cNvPr>
          <p:cNvCxnSpPr>
            <a:cxnSpLocks/>
          </p:cNvCxnSpPr>
          <p:nvPr/>
        </p:nvCxnSpPr>
        <p:spPr>
          <a:xfrm flipV="1">
            <a:off x="-76200" y="3411490"/>
            <a:ext cx="9220200" cy="4335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6EE3F61-0BAC-08FE-5203-23FEB0F7CF4C}"/>
              </a:ext>
            </a:extLst>
          </p:cNvPr>
          <p:cNvSpPr txBox="1"/>
          <p:nvPr/>
        </p:nvSpPr>
        <p:spPr>
          <a:xfrm>
            <a:off x="326571" y="3508885"/>
            <a:ext cx="558573" cy="461665"/>
          </a:xfrm>
          <a:prstGeom prst="rect">
            <a:avLst/>
          </a:prstGeom>
          <a:noFill/>
        </p:spPr>
        <p:txBody>
          <a:bodyPr wrap="square" rtlCol="0">
            <a:spAutoFit/>
          </a:bodyPr>
          <a:lstStyle/>
          <a:p>
            <a:r>
              <a:rPr lang="en-US" sz="2400" dirty="0">
                <a:highlight>
                  <a:srgbClr val="FFFF00"/>
                </a:highlight>
              </a:rPr>
              <a:t>C</a:t>
            </a:r>
          </a:p>
        </p:txBody>
      </p:sp>
    </p:spTree>
    <p:extLst>
      <p:ext uri="{BB962C8B-B14F-4D97-AF65-F5344CB8AC3E}">
        <p14:creationId xmlns:p14="http://schemas.microsoft.com/office/powerpoint/2010/main" val="1652532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27C86-F545-DDC2-B892-B027DC575E33}"/>
              </a:ext>
            </a:extLst>
          </p:cNvPr>
          <p:cNvSpPr>
            <a:spLocks noGrp="1"/>
          </p:cNvSpPr>
          <p:nvPr>
            <p:ph type="title"/>
          </p:nvPr>
        </p:nvSpPr>
        <p:spPr>
          <a:xfrm>
            <a:off x="454479" y="190955"/>
            <a:ext cx="2441121" cy="756103"/>
          </a:xfrm>
        </p:spPr>
        <p:txBody>
          <a:bodyPr>
            <a:normAutofit/>
          </a:bodyPr>
          <a:lstStyle/>
          <a:p>
            <a:r>
              <a:rPr lang="en-US" sz="3600" b="1" dirty="0"/>
              <a:t>Example-3</a:t>
            </a:r>
          </a:p>
        </p:txBody>
      </p:sp>
      <p:pic>
        <p:nvPicPr>
          <p:cNvPr id="7" name="Picture 6">
            <a:extLst>
              <a:ext uri="{FF2B5EF4-FFF2-40B4-BE49-F238E27FC236}">
                <a16:creationId xmlns:a16="http://schemas.microsoft.com/office/drawing/2014/main" id="{8EB03162-51E8-EE38-6A4F-BFCDD9E187AE}"/>
              </a:ext>
            </a:extLst>
          </p:cNvPr>
          <p:cNvPicPr>
            <a:picLocks noChangeAspect="1"/>
          </p:cNvPicPr>
          <p:nvPr/>
        </p:nvPicPr>
        <p:blipFill>
          <a:blip r:embed="rId2"/>
          <a:stretch>
            <a:fillRect/>
          </a:stretch>
        </p:blipFill>
        <p:spPr>
          <a:xfrm>
            <a:off x="1279691" y="1168846"/>
            <a:ext cx="6424236" cy="3274947"/>
          </a:xfrm>
          <a:prstGeom prst="rect">
            <a:avLst/>
          </a:prstGeom>
        </p:spPr>
      </p:pic>
      <p:sp>
        <p:nvSpPr>
          <p:cNvPr id="9" name="TextBox 8">
            <a:extLst>
              <a:ext uri="{FF2B5EF4-FFF2-40B4-BE49-F238E27FC236}">
                <a16:creationId xmlns:a16="http://schemas.microsoft.com/office/drawing/2014/main" id="{7B503167-7064-A533-F861-B43B9143067B}"/>
              </a:ext>
            </a:extLst>
          </p:cNvPr>
          <p:cNvSpPr txBox="1"/>
          <p:nvPr/>
        </p:nvSpPr>
        <p:spPr>
          <a:xfrm>
            <a:off x="2623458" y="300727"/>
            <a:ext cx="6226628" cy="707886"/>
          </a:xfrm>
          <a:prstGeom prst="rect">
            <a:avLst/>
          </a:prstGeom>
          <a:noFill/>
        </p:spPr>
        <p:txBody>
          <a:bodyPr wrap="square">
            <a:spAutoFit/>
          </a:bodyPr>
          <a:lstStyle/>
          <a:p>
            <a:r>
              <a:rPr lang="en-US" sz="2000" b="0" i="0" u="none" strike="noStrike" baseline="0" dirty="0">
                <a:latin typeface="CMSS10"/>
              </a:rPr>
              <a:t>The power delay profile of a typical urban mobile radio channel is given below:</a:t>
            </a:r>
            <a:endParaRPr lang="en-US" sz="2000" dirty="0"/>
          </a:p>
        </p:txBody>
      </p:sp>
      <p:sp>
        <p:nvSpPr>
          <p:cNvPr id="11" name="TextBox 10">
            <a:extLst>
              <a:ext uri="{FF2B5EF4-FFF2-40B4-BE49-F238E27FC236}">
                <a16:creationId xmlns:a16="http://schemas.microsoft.com/office/drawing/2014/main" id="{1B6F6DB5-A5CD-DD00-635F-2392112BB41F}"/>
              </a:ext>
            </a:extLst>
          </p:cNvPr>
          <p:cNvSpPr txBox="1"/>
          <p:nvPr/>
        </p:nvSpPr>
        <p:spPr>
          <a:xfrm>
            <a:off x="345619" y="4497590"/>
            <a:ext cx="8654142" cy="1815882"/>
          </a:xfrm>
          <a:prstGeom prst="rect">
            <a:avLst/>
          </a:prstGeom>
          <a:noFill/>
        </p:spPr>
        <p:txBody>
          <a:bodyPr wrap="square">
            <a:spAutoFit/>
          </a:bodyPr>
          <a:lstStyle/>
          <a:p>
            <a:pPr marL="342900" indent="-342900">
              <a:buAutoNum type="arabicPeriod"/>
            </a:pPr>
            <a:r>
              <a:rPr lang="en-US" sz="1600" b="0" i="0" u="none" strike="noStrike" baseline="0" dirty="0">
                <a:solidFill>
                  <a:srgbClr val="231F20"/>
                </a:solidFill>
                <a:latin typeface="Tahoma" panose="020B0604030504040204" pitchFamily="34" charset="0"/>
              </a:rPr>
              <a:t>Estimate the 50% coherence bandwidth of the channel. </a:t>
            </a:r>
          </a:p>
          <a:p>
            <a:pPr marL="342900" indent="-342900">
              <a:buAutoNum type="arabicPeriod"/>
            </a:pPr>
            <a:r>
              <a:rPr lang="en-US" sz="1600" b="0" i="0" u="none" strike="noStrike" baseline="0" dirty="0">
                <a:solidFill>
                  <a:srgbClr val="231F20"/>
                </a:solidFill>
                <a:latin typeface="Tahoma" panose="020B0604030504040204" pitchFamily="34" charset="0"/>
              </a:rPr>
              <a:t>Will this channel be suitable for AMPS (which has a baseband signal bandwidth </a:t>
            </a:r>
            <a:r>
              <a:rPr lang="en-US" sz="1600" b="0" i="1" u="none" strike="noStrike" baseline="0" dirty="0">
                <a:solidFill>
                  <a:srgbClr val="231F20"/>
                </a:solidFill>
                <a:latin typeface="Bookman Old Style" panose="02050604050505020204" pitchFamily="18" charset="0"/>
              </a:rPr>
              <a:t>B</a:t>
            </a:r>
            <a:r>
              <a:rPr lang="en-US" sz="1600" b="0" i="1" u="none" strike="noStrike" baseline="-25000" dirty="0">
                <a:solidFill>
                  <a:srgbClr val="231F20"/>
                </a:solidFill>
                <a:latin typeface="Bookman Old Style" panose="02050604050505020204" pitchFamily="18" charset="0"/>
              </a:rPr>
              <a:t>S</a:t>
            </a:r>
            <a:r>
              <a:rPr lang="en-US" sz="1600" b="0" i="1" u="none" strike="noStrike" baseline="0" dirty="0">
                <a:solidFill>
                  <a:srgbClr val="231F20"/>
                </a:solidFill>
                <a:latin typeface="Bookman Old Style" panose="02050604050505020204" pitchFamily="18" charset="0"/>
              </a:rPr>
              <a:t> </a:t>
            </a:r>
            <a:r>
              <a:rPr lang="en-US" sz="1600" b="0" i="0" u="none" strike="noStrike" baseline="0" dirty="0">
                <a:solidFill>
                  <a:srgbClr val="231F20"/>
                </a:solidFill>
                <a:latin typeface="Bookman Old Style" panose="02050604050505020204" pitchFamily="18" charset="0"/>
              </a:rPr>
              <a:t>= 30 </a:t>
            </a:r>
            <a:r>
              <a:rPr lang="en-US" sz="1600" b="0" i="0" u="none" strike="noStrike" baseline="0" dirty="0">
                <a:solidFill>
                  <a:srgbClr val="231F20"/>
                </a:solidFill>
                <a:latin typeface="Tahoma" panose="020B0604030504040204" pitchFamily="34" charset="0"/>
              </a:rPr>
              <a:t>kHz) and GSM (which has a baseband signal bandwidth </a:t>
            </a:r>
            <a:r>
              <a:rPr lang="en-US" sz="1600" b="0" i="1" u="none" strike="noStrike" baseline="0" dirty="0">
                <a:solidFill>
                  <a:srgbClr val="231F20"/>
                </a:solidFill>
                <a:latin typeface="Bookman Old Style" panose="02050604050505020204" pitchFamily="18" charset="0"/>
              </a:rPr>
              <a:t>B</a:t>
            </a:r>
            <a:r>
              <a:rPr lang="en-US" sz="1600" b="0" i="1" u="none" strike="noStrike" baseline="-25000" dirty="0">
                <a:solidFill>
                  <a:srgbClr val="231F20"/>
                </a:solidFill>
                <a:latin typeface="Bookman Old Style" panose="02050604050505020204" pitchFamily="18" charset="0"/>
              </a:rPr>
              <a:t>S</a:t>
            </a:r>
            <a:r>
              <a:rPr lang="en-US" sz="1600" b="0" i="1" u="none" strike="noStrike" baseline="0" dirty="0">
                <a:solidFill>
                  <a:srgbClr val="231F20"/>
                </a:solidFill>
                <a:latin typeface="Bookman Old Style" panose="02050604050505020204" pitchFamily="18" charset="0"/>
              </a:rPr>
              <a:t> </a:t>
            </a:r>
            <a:r>
              <a:rPr lang="en-US" sz="1600" b="0" i="0" u="none" strike="noStrike" baseline="0" dirty="0">
                <a:solidFill>
                  <a:srgbClr val="231F20"/>
                </a:solidFill>
                <a:latin typeface="Bookman Old Style" panose="02050604050505020204" pitchFamily="18" charset="0"/>
              </a:rPr>
              <a:t>= 200 </a:t>
            </a:r>
            <a:r>
              <a:rPr lang="en-US" sz="1600" b="0" i="0" u="none" strike="noStrike" baseline="0" dirty="0">
                <a:solidFill>
                  <a:srgbClr val="231F20"/>
                </a:solidFill>
                <a:latin typeface="Tahoma" panose="020B0604030504040204" pitchFamily="34" charset="0"/>
              </a:rPr>
              <a:t>kHz) service without the use of an </a:t>
            </a:r>
            <a:r>
              <a:rPr lang="en-US" sz="1600" b="0" i="0" u="none" strike="noStrike" baseline="0" dirty="0" err="1">
                <a:solidFill>
                  <a:srgbClr val="231F20"/>
                </a:solidFill>
                <a:latin typeface="Tahoma" panose="020B0604030504040204" pitchFamily="34" charset="0"/>
              </a:rPr>
              <a:t>equaliser</a:t>
            </a:r>
            <a:r>
              <a:rPr lang="en-US" sz="1600" b="0" i="0" u="none" strike="noStrike" baseline="0" dirty="0">
                <a:solidFill>
                  <a:srgbClr val="231F20"/>
                </a:solidFill>
                <a:latin typeface="Tahoma" panose="020B0604030504040204" pitchFamily="34" charset="0"/>
              </a:rPr>
              <a:t>?</a:t>
            </a:r>
          </a:p>
          <a:p>
            <a:pPr marL="342900" indent="-342900">
              <a:buFont typeface="+mj-lt"/>
              <a:buAutoNum type="arabicPeriod"/>
            </a:pPr>
            <a:r>
              <a:rPr lang="en-US" sz="1600" b="0" i="0" u="none" strike="noStrike" baseline="0" dirty="0">
                <a:solidFill>
                  <a:srgbClr val="231F20"/>
                </a:solidFill>
                <a:latin typeface="Tahoma" panose="020B0604030504040204" pitchFamily="34" charset="0"/>
              </a:rPr>
              <a:t>In a GSM system with the carrier frequency </a:t>
            </a:r>
            <a:r>
              <a:rPr lang="en-US" sz="1600" b="0" i="1" u="none" strike="noStrike" baseline="0" dirty="0">
                <a:solidFill>
                  <a:srgbClr val="231F20"/>
                </a:solidFill>
                <a:latin typeface="Bookman Old Style" panose="02050604050505020204" pitchFamily="18" charset="0"/>
              </a:rPr>
              <a:t>f</a:t>
            </a:r>
            <a:r>
              <a:rPr lang="en-US" sz="1600" b="0" i="1" u="none" strike="noStrike" baseline="-25000" dirty="0">
                <a:solidFill>
                  <a:srgbClr val="231F20"/>
                </a:solidFill>
                <a:latin typeface="Bookman Old Style" panose="02050604050505020204" pitchFamily="18" charset="0"/>
              </a:rPr>
              <a:t>c</a:t>
            </a:r>
            <a:r>
              <a:rPr lang="en-US" sz="1600" b="0" i="1" u="none" strike="noStrike" baseline="0" dirty="0">
                <a:solidFill>
                  <a:srgbClr val="231F20"/>
                </a:solidFill>
                <a:latin typeface="Bookman Old Style" panose="02050604050505020204" pitchFamily="18" charset="0"/>
              </a:rPr>
              <a:t> </a:t>
            </a:r>
            <a:r>
              <a:rPr lang="en-US" sz="1600" b="0" i="0" u="none" strike="noStrike" baseline="0" dirty="0">
                <a:solidFill>
                  <a:srgbClr val="231F20"/>
                </a:solidFill>
                <a:latin typeface="Bookman Old Style" panose="02050604050505020204" pitchFamily="18" charset="0"/>
              </a:rPr>
              <a:t>= 1</a:t>
            </a:r>
            <a:r>
              <a:rPr lang="en-US" sz="1600" b="0" i="1" u="none" strike="noStrike" baseline="0" dirty="0">
                <a:solidFill>
                  <a:srgbClr val="231F20"/>
                </a:solidFill>
                <a:latin typeface="Bookman Old Style" panose="02050604050505020204" pitchFamily="18" charset="0"/>
              </a:rPr>
              <a:t>.</a:t>
            </a:r>
            <a:r>
              <a:rPr lang="en-US" sz="1600" b="0" i="0" u="none" strike="noStrike" baseline="0" dirty="0">
                <a:solidFill>
                  <a:srgbClr val="231F20"/>
                </a:solidFill>
                <a:latin typeface="Bookman Old Style" panose="02050604050505020204" pitchFamily="18" charset="0"/>
              </a:rPr>
              <a:t>8 </a:t>
            </a:r>
            <a:r>
              <a:rPr lang="en-US" sz="1600" b="0" i="0" u="none" strike="noStrike" baseline="0" dirty="0">
                <a:solidFill>
                  <a:srgbClr val="231F20"/>
                </a:solidFill>
                <a:latin typeface="Tahoma" panose="020B0604030504040204" pitchFamily="34" charset="0"/>
              </a:rPr>
              <a:t>GHz, a mobile moves at a speed of   </a:t>
            </a:r>
            <a:r>
              <a:rPr lang="en-US" sz="1600" b="0" i="1" u="none" strike="noStrike" baseline="0" dirty="0">
                <a:solidFill>
                  <a:srgbClr val="231F20"/>
                </a:solidFill>
                <a:latin typeface="Bookman Old Style" panose="02050604050505020204" pitchFamily="18" charset="0"/>
              </a:rPr>
              <a:t>v </a:t>
            </a:r>
            <a:r>
              <a:rPr lang="en-US" sz="1600" b="0" i="0" u="none" strike="noStrike" baseline="0" dirty="0">
                <a:solidFill>
                  <a:srgbClr val="231F20"/>
                </a:solidFill>
                <a:latin typeface="Bookman Old Style" panose="02050604050505020204" pitchFamily="18" charset="0"/>
              </a:rPr>
              <a:t>= 120 </a:t>
            </a:r>
            <a:r>
              <a:rPr lang="en-US" sz="1600" b="0" i="0" u="none" strike="noStrike" baseline="0" dirty="0">
                <a:solidFill>
                  <a:srgbClr val="231F20"/>
                </a:solidFill>
                <a:latin typeface="Tahoma" panose="020B0604030504040204" pitchFamily="34" charset="0"/>
              </a:rPr>
              <a:t>km/hr. </a:t>
            </a:r>
            <a:r>
              <a:rPr lang="en-US" sz="1600" b="0" i="0" u="none" strike="noStrike" baseline="0" dirty="0">
                <a:solidFill>
                  <a:srgbClr val="231F20"/>
                </a:solidFill>
                <a:latin typeface="Arial" panose="020B0604020202020204" pitchFamily="34" charset="0"/>
              </a:rPr>
              <a:t>3</a:t>
            </a:r>
            <a:r>
              <a:rPr lang="en-US" sz="1600" b="0" i="0" u="none" strike="noStrike" baseline="0" dirty="0">
                <a:solidFill>
                  <a:srgbClr val="231F20"/>
                </a:solidFill>
                <a:latin typeface="Tahoma" panose="020B0604030504040204" pitchFamily="34" charset="0"/>
              </a:rPr>
              <a:t>. Estimate the Doppler spread of the corresponding channel. </a:t>
            </a:r>
            <a:r>
              <a:rPr lang="en-US" sz="1600" b="0" i="0" u="none" strike="noStrike" baseline="0" dirty="0">
                <a:solidFill>
                  <a:srgbClr val="231F20"/>
                </a:solidFill>
                <a:latin typeface="Arial" panose="020B0604020202020204" pitchFamily="34" charset="0"/>
              </a:rPr>
              <a:t>4</a:t>
            </a:r>
            <a:r>
              <a:rPr lang="en-US" sz="1600" b="0" i="0" u="none" strike="noStrike" baseline="0" dirty="0">
                <a:solidFill>
                  <a:srgbClr val="231F20"/>
                </a:solidFill>
                <a:latin typeface="Tahoma" panose="020B0604030504040204" pitchFamily="34" charset="0"/>
              </a:rPr>
              <a:t>. Is this channel classified as being slow or fast fading?</a:t>
            </a:r>
          </a:p>
        </p:txBody>
      </p:sp>
      <p:sp>
        <p:nvSpPr>
          <p:cNvPr id="4" name="TextBox 3">
            <a:extLst>
              <a:ext uri="{FF2B5EF4-FFF2-40B4-BE49-F238E27FC236}">
                <a16:creationId xmlns:a16="http://schemas.microsoft.com/office/drawing/2014/main" id="{81110459-4A04-FB01-EA18-74A57458E304}"/>
              </a:ext>
            </a:extLst>
          </p:cNvPr>
          <p:cNvSpPr txBox="1"/>
          <p:nvPr/>
        </p:nvSpPr>
        <p:spPr>
          <a:xfrm>
            <a:off x="454479" y="6328491"/>
            <a:ext cx="8545282" cy="338554"/>
          </a:xfrm>
          <a:prstGeom prst="rect">
            <a:avLst/>
          </a:prstGeom>
          <a:noFill/>
        </p:spPr>
        <p:txBody>
          <a:bodyPr wrap="square">
            <a:spAutoFit/>
          </a:bodyPr>
          <a:lstStyle/>
          <a:p>
            <a:r>
              <a:rPr lang="en-US" sz="1600" b="0" i="0" u="none" strike="noStrike" baseline="0" dirty="0">
                <a:latin typeface="CMSS10"/>
              </a:rPr>
              <a:t>Note: AMPS – Advanced mobile phone system; GSM – Global system for mobile communications</a:t>
            </a:r>
            <a:endParaRPr lang="en-US" sz="1600" dirty="0"/>
          </a:p>
        </p:txBody>
      </p:sp>
    </p:spTree>
    <p:extLst>
      <p:ext uri="{BB962C8B-B14F-4D97-AF65-F5344CB8AC3E}">
        <p14:creationId xmlns:p14="http://schemas.microsoft.com/office/powerpoint/2010/main" val="1365363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833D0-C58A-16E1-CF80-EC8C9AEDEB66}"/>
              </a:ext>
            </a:extLst>
          </p:cNvPr>
          <p:cNvSpPr>
            <a:spLocks noGrp="1"/>
          </p:cNvSpPr>
          <p:nvPr>
            <p:ph type="title"/>
          </p:nvPr>
        </p:nvSpPr>
        <p:spPr>
          <a:xfrm>
            <a:off x="117022" y="82097"/>
            <a:ext cx="2179864" cy="679903"/>
          </a:xfrm>
        </p:spPr>
        <p:txBody>
          <a:bodyPr>
            <a:normAutofit/>
          </a:bodyPr>
          <a:lstStyle/>
          <a:p>
            <a:r>
              <a:rPr lang="en-US" sz="3600" b="1" dirty="0"/>
              <a:t>Solution:</a:t>
            </a:r>
          </a:p>
        </p:txBody>
      </p:sp>
      <p:pic>
        <p:nvPicPr>
          <p:cNvPr id="7" name="Picture 6">
            <a:extLst>
              <a:ext uri="{FF2B5EF4-FFF2-40B4-BE49-F238E27FC236}">
                <a16:creationId xmlns:a16="http://schemas.microsoft.com/office/drawing/2014/main" id="{7F979A3D-00AC-DC35-9D0B-FD574EC14D3B}"/>
              </a:ext>
            </a:extLst>
          </p:cNvPr>
          <p:cNvPicPr>
            <a:picLocks noChangeAspect="1"/>
          </p:cNvPicPr>
          <p:nvPr/>
        </p:nvPicPr>
        <p:blipFill>
          <a:blip r:embed="rId2"/>
          <a:stretch>
            <a:fillRect/>
          </a:stretch>
        </p:blipFill>
        <p:spPr>
          <a:xfrm>
            <a:off x="593891" y="860878"/>
            <a:ext cx="4353351" cy="581025"/>
          </a:xfrm>
          <a:prstGeom prst="rect">
            <a:avLst/>
          </a:prstGeom>
        </p:spPr>
      </p:pic>
      <p:pic>
        <p:nvPicPr>
          <p:cNvPr id="9" name="Picture 8">
            <a:extLst>
              <a:ext uri="{FF2B5EF4-FFF2-40B4-BE49-F238E27FC236}">
                <a16:creationId xmlns:a16="http://schemas.microsoft.com/office/drawing/2014/main" id="{059FF9E8-790A-FFBB-A51B-572C3C95537D}"/>
              </a:ext>
            </a:extLst>
          </p:cNvPr>
          <p:cNvPicPr>
            <a:picLocks noChangeAspect="1"/>
          </p:cNvPicPr>
          <p:nvPr/>
        </p:nvPicPr>
        <p:blipFill>
          <a:blip r:embed="rId3"/>
          <a:stretch>
            <a:fillRect/>
          </a:stretch>
        </p:blipFill>
        <p:spPr>
          <a:xfrm>
            <a:off x="5383605" y="885719"/>
            <a:ext cx="3086100" cy="581025"/>
          </a:xfrm>
          <a:prstGeom prst="rect">
            <a:avLst/>
          </a:prstGeom>
        </p:spPr>
      </p:pic>
      <p:sp>
        <p:nvSpPr>
          <p:cNvPr id="15" name="TextBox 14">
            <a:extLst>
              <a:ext uri="{FF2B5EF4-FFF2-40B4-BE49-F238E27FC236}">
                <a16:creationId xmlns:a16="http://schemas.microsoft.com/office/drawing/2014/main" id="{995BE8B5-9B3B-2D93-EC6A-0E68F44F7B1A}"/>
              </a:ext>
            </a:extLst>
          </p:cNvPr>
          <p:cNvSpPr txBox="1"/>
          <p:nvPr/>
        </p:nvSpPr>
        <p:spPr>
          <a:xfrm>
            <a:off x="449035" y="1924295"/>
            <a:ext cx="8245929" cy="369332"/>
          </a:xfrm>
          <a:prstGeom prst="rect">
            <a:avLst/>
          </a:prstGeom>
          <a:noFill/>
        </p:spPr>
        <p:txBody>
          <a:bodyPr wrap="square">
            <a:spAutoFit/>
          </a:bodyPr>
          <a:lstStyle/>
          <a:p>
            <a:r>
              <a:rPr lang="en-US" sz="1800" b="0" i="0" u="none" strike="noStrike" baseline="0" dirty="0">
                <a:solidFill>
                  <a:srgbClr val="231F20"/>
                </a:solidFill>
                <a:latin typeface="Calibri" panose="020F0502020204030204" pitchFamily="34" charset="0"/>
              </a:rPr>
              <a:t>For AMPS, as </a:t>
            </a:r>
            <a:r>
              <a:rPr lang="en-US" sz="1800" b="0" i="1" u="none" strike="noStrike" baseline="0" dirty="0">
                <a:solidFill>
                  <a:srgbClr val="231F20"/>
                </a:solidFill>
                <a:latin typeface="Bookman Old Style" panose="02050604050505020204" pitchFamily="18" charset="0"/>
              </a:rPr>
              <a:t>B</a:t>
            </a:r>
            <a:r>
              <a:rPr lang="en-US" sz="1800" b="0" i="1" u="none" strike="noStrike" baseline="-25000" dirty="0">
                <a:solidFill>
                  <a:srgbClr val="231F20"/>
                </a:solidFill>
                <a:latin typeface="Bookman Old Style" panose="02050604050505020204" pitchFamily="18" charset="0"/>
              </a:rPr>
              <a:t>S</a:t>
            </a:r>
            <a:r>
              <a:rPr lang="en-US" sz="1800" b="0" i="1" u="none" strike="noStrike" baseline="0" dirty="0">
                <a:solidFill>
                  <a:srgbClr val="231F20"/>
                </a:solidFill>
                <a:latin typeface="Bookman Old Style" panose="02050604050505020204" pitchFamily="18" charset="0"/>
              </a:rPr>
              <a:t> </a:t>
            </a:r>
            <a:r>
              <a:rPr lang="en-US" sz="1800" b="0" i="0" u="none" strike="noStrike" baseline="0" dirty="0">
                <a:solidFill>
                  <a:srgbClr val="231F20"/>
                </a:solidFill>
                <a:latin typeface="Georgia" panose="02040502050405020303" pitchFamily="18" charset="0"/>
              </a:rPr>
              <a:t>= 30 kHz </a:t>
            </a:r>
            <a:r>
              <a:rPr lang="en-US" sz="1800" b="0" i="0" u="none" strike="noStrike" baseline="0" dirty="0">
                <a:solidFill>
                  <a:srgbClr val="231F20"/>
                </a:solidFill>
                <a:latin typeface="Lucida Sans Unicode" panose="020B0602030504020204" pitchFamily="34" charset="0"/>
              </a:rPr>
              <a:t>≪ </a:t>
            </a:r>
            <a:r>
              <a:rPr lang="en-US" sz="1800" b="0" i="1" u="none" strike="noStrike" baseline="0" dirty="0">
                <a:solidFill>
                  <a:srgbClr val="231F20"/>
                </a:solidFill>
                <a:latin typeface="Bookman Old Style" panose="02050604050505020204" pitchFamily="18" charset="0"/>
              </a:rPr>
              <a:t>B</a:t>
            </a:r>
            <a:r>
              <a:rPr lang="en-US" sz="1800" b="0" i="1" u="none" strike="noStrike" baseline="-25000" dirty="0">
                <a:solidFill>
                  <a:srgbClr val="231F20"/>
                </a:solidFill>
                <a:latin typeface="Bookman Old Style" panose="02050604050505020204" pitchFamily="18" charset="0"/>
              </a:rPr>
              <a:t>C</a:t>
            </a:r>
            <a:r>
              <a:rPr lang="en-US" sz="1800" b="0" i="0" u="none" strike="noStrike" baseline="0" dirty="0">
                <a:solidFill>
                  <a:srgbClr val="231F20"/>
                </a:solidFill>
                <a:latin typeface="Calibri" panose="020F0502020204030204" pitchFamily="34" charset="0"/>
              </a:rPr>
              <a:t>, the channel is flat, and an </a:t>
            </a:r>
            <a:r>
              <a:rPr lang="en-US" sz="1800" b="0" i="0" u="none" strike="noStrike" baseline="0" dirty="0" err="1">
                <a:solidFill>
                  <a:srgbClr val="231F20"/>
                </a:solidFill>
                <a:latin typeface="Calibri" panose="020F0502020204030204" pitchFamily="34" charset="0"/>
              </a:rPr>
              <a:t>equaliser</a:t>
            </a:r>
            <a:r>
              <a:rPr lang="en-US" sz="1800" b="0" i="0" u="none" strike="noStrike" baseline="0" dirty="0">
                <a:solidFill>
                  <a:srgbClr val="231F20"/>
                </a:solidFill>
                <a:latin typeface="Calibri" panose="020F0502020204030204" pitchFamily="34" charset="0"/>
              </a:rPr>
              <a:t> is not required.</a:t>
            </a:r>
          </a:p>
        </p:txBody>
      </p:sp>
      <p:sp>
        <p:nvSpPr>
          <p:cNvPr id="17" name="TextBox 16">
            <a:extLst>
              <a:ext uri="{FF2B5EF4-FFF2-40B4-BE49-F238E27FC236}">
                <a16:creationId xmlns:a16="http://schemas.microsoft.com/office/drawing/2014/main" id="{EC36DD24-891D-D892-D8BE-99580DF00DC9}"/>
              </a:ext>
            </a:extLst>
          </p:cNvPr>
          <p:cNvSpPr txBox="1"/>
          <p:nvPr/>
        </p:nvSpPr>
        <p:spPr>
          <a:xfrm>
            <a:off x="449035" y="2497773"/>
            <a:ext cx="7516586" cy="646331"/>
          </a:xfrm>
          <a:prstGeom prst="rect">
            <a:avLst/>
          </a:prstGeom>
          <a:noFill/>
        </p:spPr>
        <p:txBody>
          <a:bodyPr wrap="square">
            <a:spAutoFit/>
          </a:bodyPr>
          <a:lstStyle/>
          <a:p>
            <a:r>
              <a:rPr lang="en-US" sz="1800" b="0" u="none" strike="noStrike" baseline="0" dirty="0">
                <a:solidFill>
                  <a:srgbClr val="231F20"/>
                </a:solidFill>
                <a:latin typeface="Bookman Old Style" panose="02050604050505020204" pitchFamily="18" charset="0"/>
              </a:rPr>
              <a:t>For GSM</a:t>
            </a:r>
            <a:r>
              <a:rPr lang="en-US" sz="1800" b="0" i="1" u="none" strike="noStrike" baseline="0" dirty="0">
                <a:solidFill>
                  <a:srgbClr val="231F20"/>
                </a:solidFill>
                <a:latin typeface="Bookman Old Style" panose="02050604050505020204" pitchFamily="18" charset="0"/>
              </a:rPr>
              <a:t>: B</a:t>
            </a:r>
            <a:r>
              <a:rPr lang="en-US" sz="1800" b="0" i="1" u="none" strike="noStrike" baseline="-25000" dirty="0">
                <a:solidFill>
                  <a:srgbClr val="231F20"/>
                </a:solidFill>
                <a:latin typeface="Bookman Old Style" panose="02050604050505020204" pitchFamily="18" charset="0"/>
              </a:rPr>
              <a:t>S</a:t>
            </a:r>
            <a:r>
              <a:rPr lang="en-US" sz="1800" b="0" i="1" u="none" strike="noStrike" baseline="0" dirty="0">
                <a:solidFill>
                  <a:srgbClr val="231F20"/>
                </a:solidFill>
                <a:latin typeface="Bookman Old Style" panose="02050604050505020204" pitchFamily="18" charset="0"/>
              </a:rPr>
              <a:t> </a:t>
            </a:r>
            <a:r>
              <a:rPr lang="en-US" sz="1800" b="0" i="0" u="none" strike="noStrike" baseline="0" dirty="0">
                <a:solidFill>
                  <a:srgbClr val="231F20"/>
                </a:solidFill>
                <a:latin typeface="Georgia" panose="02040502050405020303" pitchFamily="18" charset="0"/>
              </a:rPr>
              <a:t>= 200 kHz </a:t>
            </a:r>
            <a:r>
              <a:rPr lang="en-US" sz="1800" b="0" i="1" u="none" strike="noStrike" baseline="0" dirty="0">
                <a:solidFill>
                  <a:srgbClr val="231F20"/>
                </a:solidFill>
                <a:latin typeface="Bookman Old Style" panose="02050604050505020204" pitchFamily="18" charset="0"/>
              </a:rPr>
              <a:t>&gt; B</a:t>
            </a:r>
            <a:r>
              <a:rPr lang="en-US" sz="1800" b="0" i="1" u="none" strike="noStrike" baseline="-25000" dirty="0">
                <a:solidFill>
                  <a:srgbClr val="231F20"/>
                </a:solidFill>
                <a:latin typeface="Bookman Old Style" panose="02050604050505020204" pitchFamily="18" charset="0"/>
              </a:rPr>
              <a:t>C</a:t>
            </a:r>
            <a:r>
              <a:rPr lang="en-US" sz="1800" b="0" i="0" u="none" strike="noStrike" baseline="0" dirty="0">
                <a:solidFill>
                  <a:srgbClr val="231F20"/>
                </a:solidFill>
                <a:latin typeface="Calibri" panose="020F0502020204030204" pitchFamily="34" charset="0"/>
              </a:rPr>
              <a:t>, the channel is frequency selective, and an </a:t>
            </a:r>
            <a:r>
              <a:rPr lang="en-US" sz="1800" b="0" i="0" u="none" strike="noStrike" baseline="0" dirty="0" err="1">
                <a:solidFill>
                  <a:srgbClr val="231F20"/>
                </a:solidFill>
                <a:latin typeface="Calibri" panose="020F0502020204030204" pitchFamily="34" charset="0"/>
              </a:rPr>
              <a:t>equaliser</a:t>
            </a:r>
            <a:r>
              <a:rPr lang="en-US" sz="1800" b="0" i="0" u="none" strike="noStrike" baseline="0" dirty="0">
                <a:solidFill>
                  <a:srgbClr val="231F20"/>
                </a:solidFill>
                <a:latin typeface="Calibri" panose="020F0502020204030204" pitchFamily="34" charset="0"/>
              </a:rPr>
              <a:t> would be required.</a:t>
            </a:r>
          </a:p>
        </p:txBody>
      </p:sp>
      <p:sp>
        <p:nvSpPr>
          <p:cNvPr id="21" name="TextBox 20">
            <a:extLst>
              <a:ext uri="{FF2B5EF4-FFF2-40B4-BE49-F238E27FC236}">
                <a16:creationId xmlns:a16="http://schemas.microsoft.com/office/drawing/2014/main" id="{BE82DE8C-98DF-7082-0943-FB36313FE1AD}"/>
              </a:ext>
            </a:extLst>
          </p:cNvPr>
          <p:cNvSpPr txBox="1"/>
          <p:nvPr/>
        </p:nvSpPr>
        <p:spPr>
          <a:xfrm>
            <a:off x="449036" y="3507643"/>
            <a:ext cx="8411936" cy="646331"/>
          </a:xfrm>
          <a:prstGeom prst="rect">
            <a:avLst/>
          </a:prstGeom>
          <a:noFill/>
        </p:spPr>
        <p:txBody>
          <a:bodyPr wrap="square">
            <a:spAutoFit/>
          </a:bodyPr>
          <a:lstStyle/>
          <a:p>
            <a:pPr algn="l"/>
            <a:r>
              <a:rPr lang="en-US" sz="1800" b="0" i="0" u="none" strike="noStrike" baseline="0" dirty="0">
                <a:latin typeface="CMSS10"/>
              </a:rPr>
              <a:t>For single carrier frequency </a:t>
            </a:r>
            <a:r>
              <a:rPr lang="en-US" sz="1800" b="0" i="0" u="none" strike="noStrike" baseline="0" dirty="0">
                <a:latin typeface="CMMI7"/>
              </a:rPr>
              <a:t>f</a:t>
            </a:r>
            <a:r>
              <a:rPr lang="en-US" sz="1400" b="0" i="0" u="none" strike="noStrike" baseline="0" dirty="0">
                <a:latin typeface="CMMI7"/>
              </a:rPr>
              <a:t>c </a:t>
            </a:r>
            <a:r>
              <a:rPr lang="en-US" sz="1800" b="0" i="0" u="none" strike="noStrike" baseline="0" dirty="0">
                <a:latin typeface="CMR7"/>
              </a:rPr>
              <a:t>= 1</a:t>
            </a:r>
            <a:r>
              <a:rPr lang="en-US" sz="1800" b="0" i="0" u="none" strike="noStrike" baseline="0" dirty="0">
                <a:latin typeface="CMMI7"/>
              </a:rPr>
              <a:t>.</a:t>
            </a:r>
            <a:r>
              <a:rPr lang="en-US" sz="1800" b="0" i="0" u="none" strike="noStrike" baseline="0" dirty="0">
                <a:latin typeface="CMR7"/>
              </a:rPr>
              <a:t>8 </a:t>
            </a:r>
            <a:r>
              <a:rPr lang="en-US" sz="1800" b="0" i="0" u="none" strike="noStrike" baseline="0" dirty="0">
                <a:latin typeface="CMSS10"/>
              </a:rPr>
              <a:t>GHz, </a:t>
            </a:r>
            <a:r>
              <a:rPr lang="en-US" sz="1800" b="0" i="0" u="none" strike="noStrike" baseline="0" dirty="0">
                <a:latin typeface="CMMI7"/>
              </a:rPr>
              <a:t>v </a:t>
            </a:r>
            <a:r>
              <a:rPr lang="en-US" sz="1800" b="0" i="0" u="none" strike="noStrike" baseline="0" dirty="0">
                <a:latin typeface="CMR7"/>
              </a:rPr>
              <a:t>= 120 </a:t>
            </a:r>
            <a:r>
              <a:rPr lang="en-US" sz="1800" b="0" i="0" u="none" strike="noStrike" baseline="0" dirty="0">
                <a:latin typeface="CMSS10"/>
              </a:rPr>
              <a:t>km/</a:t>
            </a:r>
            <a:r>
              <a:rPr lang="en-US" sz="1800" b="0" i="0" u="none" strike="noStrike" baseline="0" dirty="0" err="1">
                <a:latin typeface="CMSS10"/>
              </a:rPr>
              <a:t>hr</a:t>
            </a:r>
            <a:r>
              <a:rPr lang="en-US" sz="1800" b="0" i="0" u="none" strike="noStrike" baseline="0" dirty="0">
                <a:latin typeface="CMSS10"/>
              </a:rPr>
              <a:t> and </a:t>
            </a:r>
            <a:r>
              <a:rPr lang="en-US" sz="1800" b="0" i="0" u="none" strike="noStrike" baseline="0" dirty="0">
                <a:latin typeface="CMMI7"/>
              </a:rPr>
              <a:t>c </a:t>
            </a:r>
            <a:r>
              <a:rPr lang="en-US" sz="1800" b="0" i="0" u="none" strike="noStrike" baseline="0" dirty="0">
                <a:latin typeface="CMR7"/>
              </a:rPr>
              <a:t>= 3 </a:t>
            </a:r>
            <a:r>
              <a:rPr lang="en-US" sz="1800" b="0" i="0" u="none" strike="noStrike" baseline="0" dirty="0">
                <a:latin typeface="CMSY7"/>
              </a:rPr>
              <a:t>× </a:t>
            </a:r>
            <a:r>
              <a:rPr lang="en-US" sz="1800" b="0" i="0" u="none" strike="noStrike" baseline="0" dirty="0">
                <a:latin typeface="CMR7"/>
              </a:rPr>
              <a:t>10</a:t>
            </a:r>
            <a:r>
              <a:rPr lang="en-US" sz="1400" b="0" i="0" u="none" strike="noStrike" baseline="0" dirty="0">
                <a:latin typeface="CMR7"/>
              </a:rPr>
              <a:t>8 </a:t>
            </a:r>
            <a:r>
              <a:rPr lang="en-US" sz="1800" b="0" i="0" u="none" strike="noStrike" baseline="0" dirty="0">
                <a:latin typeface="CMSS10"/>
              </a:rPr>
              <a:t>m/s, the maximum Doppler frequency deviation is</a:t>
            </a:r>
            <a:endParaRPr lang="en-US" dirty="0"/>
          </a:p>
        </p:txBody>
      </p:sp>
      <p:pic>
        <p:nvPicPr>
          <p:cNvPr id="23" name="Picture 22">
            <a:extLst>
              <a:ext uri="{FF2B5EF4-FFF2-40B4-BE49-F238E27FC236}">
                <a16:creationId xmlns:a16="http://schemas.microsoft.com/office/drawing/2014/main" id="{3C1F901C-9691-EED6-E4FF-F8943D85BA78}"/>
              </a:ext>
            </a:extLst>
          </p:cNvPr>
          <p:cNvPicPr>
            <a:picLocks noChangeAspect="1"/>
          </p:cNvPicPr>
          <p:nvPr/>
        </p:nvPicPr>
        <p:blipFill>
          <a:blip r:embed="rId4"/>
          <a:stretch>
            <a:fillRect/>
          </a:stretch>
        </p:blipFill>
        <p:spPr>
          <a:xfrm>
            <a:off x="1378403" y="4271789"/>
            <a:ext cx="5657850" cy="781050"/>
          </a:xfrm>
          <a:prstGeom prst="rect">
            <a:avLst/>
          </a:prstGeom>
        </p:spPr>
      </p:pic>
      <p:sp>
        <p:nvSpPr>
          <p:cNvPr id="25" name="TextBox 24">
            <a:extLst>
              <a:ext uri="{FF2B5EF4-FFF2-40B4-BE49-F238E27FC236}">
                <a16:creationId xmlns:a16="http://schemas.microsoft.com/office/drawing/2014/main" id="{21E2AD38-73AC-44D9-DC60-46B604F4838E}"/>
              </a:ext>
            </a:extLst>
          </p:cNvPr>
          <p:cNvSpPr txBox="1"/>
          <p:nvPr/>
        </p:nvSpPr>
        <p:spPr>
          <a:xfrm>
            <a:off x="405492" y="5151294"/>
            <a:ext cx="8675762" cy="646331"/>
          </a:xfrm>
          <a:prstGeom prst="rect">
            <a:avLst/>
          </a:prstGeom>
          <a:noFill/>
        </p:spPr>
        <p:txBody>
          <a:bodyPr wrap="square">
            <a:spAutoFit/>
          </a:bodyPr>
          <a:lstStyle/>
          <a:p>
            <a:r>
              <a:rPr lang="en-US" sz="1800" b="0" i="0" u="none" strike="noStrike" baseline="0" dirty="0">
                <a:latin typeface="CMSS10"/>
              </a:rPr>
              <a:t>Since the signal bandwidth is very small in comparison to the </a:t>
            </a:r>
            <a:r>
              <a:rPr lang="en-US" sz="1800" b="0" i="0" u="none" strike="noStrike" baseline="0" dirty="0" err="1">
                <a:latin typeface="CMSS10"/>
              </a:rPr>
              <a:t>the</a:t>
            </a:r>
            <a:r>
              <a:rPr lang="en-US" sz="1800" b="0" i="0" u="none" strike="noStrike" baseline="0" dirty="0">
                <a:latin typeface="CMSS10"/>
              </a:rPr>
              <a:t> carrier frequency, the Doppler spread</a:t>
            </a:r>
            <a:endParaRPr lang="en-US" dirty="0"/>
          </a:p>
        </p:txBody>
      </p:sp>
      <p:sp>
        <p:nvSpPr>
          <p:cNvPr id="29" name="TextBox 28">
            <a:extLst>
              <a:ext uri="{FF2B5EF4-FFF2-40B4-BE49-F238E27FC236}">
                <a16:creationId xmlns:a16="http://schemas.microsoft.com/office/drawing/2014/main" id="{DD730828-CD89-F140-5E27-D61011E57F0D}"/>
              </a:ext>
            </a:extLst>
          </p:cNvPr>
          <p:cNvSpPr txBox="1"/>
          <p:nvPr/>
        </p:nvSpPr>
        <p:spPr>
          <a:xfrm>
            <a:off x="1703614" y="6257143"/>
            <a:ext cx="7233556" cy="369332"/>
          </a:xfrm>
          <a:prstGeom prst="rect">
            <a:avLst/>
          </a:prstGeom>
          <a:noFill/>
        </p:spPr>
        <p:txBody>
          <a:bodyPr wrap="square">
            <a:spAutoFit/>
          </a:bodyPr>
          <a:lstStyle/>
          <a:p>
            <a:r>
              <a:rPr lang="en-US" sz="1800" b="0" i="0" u="none" strike="noStrike" baseline="0" dirty="0">
                <a:solidFill>
                  <a:srgbClr val="231F20"/>
                </a:solidFill>
                <a:latin typeface="Calibri" panose="020F0502020204030204" pitchFamily="34" charset="0"/>
              </a:rPr>
              <a:t>Since </a:t>
            </a:r>
            <a:r>
              <a:rPr lang="en-US" sz="1800" b="0" i="1" u="none" strike="noStrike" baseline="0" dirty="0">
                <a:solidFill>
                  <a:srgbClr val="231F20"/>
                </a:solidFill>
                <a:latin typeface="Bookman Old Style" panose="02050604050505020204" pitchFamily="18" charset="0"/>
              </a:rPr>
              <a:t>B</a:t>
            </a:r>
            <a:r>
              <a:rPr lang="en-US" sz="1800" b="0" i="1" u="none" strike="noStrike" baseline="-25000" dirty="0">
                <a:solidFill>
                  <a:srgbClr val="231F20"/>
                </a:solidFill>
                <a:latin typeface="Bookman Old Style" panose="02050604050505020204" pitchFamily="18" charset="0"/>
              </a:rPr>
              <a:t>S </a:t>
            </a:r>
            <a:r>
              <a:rPr lang="en-US" sz="1800" b="0" i="0" u="none" strike="noStrike" baseline="0" dirty="0">
                <a:solidFill>
                  <a:srgbClr val="231F20"/>
                </a:solidFill>
                <a:latin typeface="Georgia" panose="02040502050405020303" pitchFamily="18" charset="0"/>
              </a:rPr>
              <a:t>= 200 kHz </a:t>
            </a:r>
            <a:r>
              <a:rPr lang="en-US" sz="1800" b="0" i="0" u="none" strike="noStrike" baseline="0" dirty="0">
                <a:solidFill>
                  <a:srgbClr val="231F20"/>
                </a:solidFill>
                <a:latin typeface="Lucida Sans Unicode" panose="020B0602030504020204" pitchFamily="34" charset="0"/>
              </a:rPr>
              <a:t>≫ </a:t>
            </a:r>
            <a:r>
              <a:rPr lang="en-US" sz="1800" b="0" i="1" u="none" strike="noStrike" baseline="0" dirty="0">
                <a:solidFill>
                  <a:srgbClr val="231F20"/>
                </a:solidFill>
                <a:latin typeface="Bookman Old Style" panose="02050604050505020204" pitchFamily="18" charset="0"/>
              </a:rPr>
              <a:t>B</a:t>
            </a:r>
            <a:r>
              <a:rPr lang="en-US" sz="1800" b="0" i="1" u="none" strike="noStrike" baseline="-25000" dirty="0">
                <a:solidFill>
                  <a:srgbClr val="231F20"/>
                </a:solidFill>
                <a:latin typeface="Bookman Old Style" panose="02050604050505020204" pitchFamily="18" charset="0"/>
              </a:rPr>
              <a:t>D</a:t>
            </a:r>
            <a:r>
              <a:rPr lang="en-US" sz="1800" b="0" i="0" u="none" strike="noStrike" baseline="0" dirty="0">
                <a:solidFill>
                  <a:srgbClr val="231F20"/>
                </a:solidFill>
                <a:latin typeface="Calibri" panose="020F0502020204030204" pitchFamily="34" charset="0"/>
              </a:rPr>
              <a:t>, the channel is slow fading.</a:t>
            </a:r>
          </a:p>
        </p:txBody>
      </p:sp>
      <p:cxnSp>
        <p:nvCxnSpPr>
          <p:cNvPr id="30" name="Straight Connector 29">
            <a:extLst>
              <a:ext uri="{FF2B5EF4-FFF2-40B4-BE49-F238E27FC236}">
                <a16:creationId xmlns:a16="http://schemas.microsoft.com/office/drawing/2014/main" id="{D6573541-1FAB-DA8A-FA4D-5C46DC6C85FC}"/>
              </a:ext>
            </a:extLst>
          </p:cNvPr>
          <p:cNvCxnSpPr>
            <a:cxnSpLocks/>
          </p:cNvCxnSpPr>
          <p:nvPr/>
        </p:nvCxnSpPr>
        <p:spPr>
          <a:xfrm flipV="1">
            <a:off x="0" y="1672978"/>
            <a:ext cx="9220200" cy="4335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517E5DB-12E9-5F36-0089-BF16B385D6D5}"/>
              </a:ext>
            </a:extLst>
          </p:cNvPr>
          <p:cNvCxnSpPr>
            <a:cxnSpLocks/>
          </p:cNvCxnSpPr>
          <p:nvPr/>
        </p:nvCxnSpPr>
        <p:spPr>
          <a:xfrm flipV="1">
            <a:off x="0" y="3356032"/>
            <a:ext cx="9220200" cy="4335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EE190C9-C173-686F-AD10-3DE07C3969A2}"/>
              </a:ext>
            </a:extLst>
          </p:cNvPr>
          <p:cNvCxnSpPr>
            <a:cxnSpLocks/>
          </p:cNvCxnSpPr>
          <p:nvPr/>
        </p:nvCxnSpPr>
        <p:spPr>
          <a:xfrm flipV="1">
            <a:off x="-43862" y="6093798"/>
            <a:ext cx="9220200" cy="4335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5B725CB9-31AF-49B1-EBFC-1E6BF81FCD75}"/>
              </a:ext>
            </a:extLst>
          </p:cNvPr>
          <p:cNvPicPr>
            <a:picLocks noChangeAspect="1"/>
          </p:cNvPicPr>
          <p:nvPr/>
        </p:nvPicPr>
        <p:blipFill>
          <a:blip r:embed="rId5"/>
          <a:stretch>
            <a:fillRect/>
          </a:stretch>
        </p:blipFill>
        <p:spPr>
          <a:xfrm>
            <a:off x="3989683" y="5586387"/>
            <a:ext cx="2100805" cy="422476"/>
          </a:xfrm>
          <a:prstGeom prst="rect">
            <a:avLst/>
          </a:prstGeom>
        </p:spPr>
      </p:pic>
      <p:sp>
        <p:nvSpPr>
          <p:cNvPr id="37" name="TextBox 36">
            <a:extLst>
              <a:ext uri="{FF2B5EF4-FFF2-40B4-BE49-F238E27FC236}">
                <a16:creationId xmlns:a16="http://schemas.microsoft.com/office/drawing/2014/main" id="{3B10CE66-8F20-5182-0327-273CACA9F0B0}"/>
              </a:ext>
            </a:extLst>
          </p:cNvPr>
          <p:cNvSpPr txBox="1"/>
          <p:nvPr/>
        </p:nvSpPr>
        <p:spPr>
          <a:xfrm>
            <a:off x="157528" y="696142"/>
            <a:ext cx="558573" cy="461665"/>
          </a:xfrm>
          <a:prstGeom prst="rect">
            <a:avLst/>
          </a:prstGeom>
          <a:noFill/>
        </p:spPr>
        <p:txBody>
          <a:bodyPr wrap="square" rtlCol="0">
            <a:spAutoFit/>
          </a:bodyPr>
          <a:lstStyle/>
          <a:p>
            <a:r>
              <a:rPr lang="en-US" sz="2400" dirty="0">
                <a:highlight>
                  <a:srgbClr val="FFFF00"/>
                </a:highlight>
              </a:rPr>
              <a:t>1</a:t>
            </a:r>
          </a:p>
        </p:txBody>
      </p:sp>
      <p:sp>
        <p:nvSpPr>
          <p:cNvPr id="38" name="TextBox 37">
            <a:extLst>
              <a:ext uri="{FF2B5EF4-FFF2-40B4-BE49-F238E27FC236}">
                <a16:creationId xmlns:a16="http://schemas.microsoft.com/office/drawing/2014/main" id="{225C404D-F5AA-1EAA-2081-B8EDC01C0465}"/>
              </a:ext>
            </a:extLst>
          </p:cNvPr>
          <p:cNvSpPr txBox="1"/>
          <p:nvPr/>
        </p:nvSpPr>
        <p:spPr>
          <a:xfrm>
            <a:off x="35318" y="2261831"/>
            <a:ext cx="558573" cy="461665"/>
          </a:xfrm>
          <a:prstGeom prst="rect">
            <a:avLst/>
          </a:prstGeom>
          <a:noFill/>
        </p:spPr>
        <p:txBody>
          <a:bodyPr wrap="square" rtlCol="0">
            <a:spAutoFit/>
          </a:bodyPr>
          <a:lstStyle/>
          <a:p>
            <a:r>
              <a:rPr lang="en-US" sz="2400" dirty="0">
                <a:highlight>
                  <a:srgbClr val="FFFF00"/>
                </a:highlight>
              </a:rPr>
              <a:t>2</a:t>
            </a:r>
          </a:p>
        </p:txBody>
      </p:sp>
      <p:sp>
        <p:nvSpPr>
          <p:cNvPr id="39" name="TextBox 38">
            <a:extLst>
              <a:ext uri="{FF2B5EF4-FFF2-40B4-BE49-F238E27FC236}">
                <a16:creationId xmlns:a16="http://schemas.microsoft.com/office/drawing/2014/main" id="{4373F5C8-D3BC-64F3-FCA5-215AD208EE84}"/>
              </a:ext>
            </a:extLst>
          </p:cNvPr>
          <p:cNvSpPr txBox="1"/>
          <p:nvPr/>
        </p:nvSpPr>
        <p:spPr>
          <a:xfrm>
            <a:off x="117022" y="4219314"/>
            <a:ext cx="558573" cy="461665"/>
          </a:xfrm>
          <a:prstGeom prst="rect">
            <a:avLst/>
          </a:prstGeom>
          <a:noFill/>
        </p:spPr>
        <p:txBody>
          <a:bodyPr wrap="square" rtlCol="0">
            <a:spAutoFit/>
          </a:bodyPr>
          <a:lstStyle/>
          <a:p>
            <a:r>
              <a:rPr lang="en-US" sz="2400" dirty="0">
                <a:highlight>
                  <a:srgbClr val="FFFF00"/>
                </a:highlight>
              </a:rPr>
              <a:t>3</a:t>
            </a:r>
          </a:p>
        </p:txBody>
      </p:sp>
      <p:sp>
        <p:nvSpPr>
          <p:cNvPr id="40" name="TextBox 39">
            <a:extLst>
              <a:ext uri="{FF2B5EF4-FFF2-40B4-BE49-F238E27FC236}">
                <a16:creationId xmlns:a16="http://schemas.microsoft.com/office/drawing/2014/main" id="{2B22625E-63A3-22FD-CD9B-F0019128AF89}"/>
              </a:ext>
            </a:extLst>
          </p:cNvPr>
          <p:cNvSpPr txBox="1"/>
          <p:nvPr/>
        </p:nvSpPr>
        <p:spPr>
          <a:xfrm>
            <a:off x="178254" y="6257143"/>
            <a:ext cx="558573" cy="461665"/>
          </a:xfrm>
          <a:prstGeom prst="rect">
            <a:avLst/>
          </a:prstGeom>
          <a:noFill/>
        </p:spPr>
        <p:txBody>
          <a:bodyPr wrap="square" rtlCol="0">
            <a:spAutoFit/>
          </a:bodyPr>
          <a:lstStyle/>
          <a:p>
            <a:r>
              <a:rPr lang="en-US" sz="2400" dirty="0">
                <a:highlight>
                  <a:srgbClr val="FFFF00"/>
                </a:highlight>
              </a:rPr>
              <a:t>4</a:t>
            </a:r>
          </a:p>
        </p:txBody>
      </p:sp>
    </p:spTree>
    <p:extLst>
      <p:ext uri="{BB962C8B-B14F-4D97-AF65-F5344CB8AC3E}">
        <p14:creationId xmlns:p14="http://schemas.microsoft.com/office/powerpoint/2010/main" val="969161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21" grpId="0"/>
      <p:bldP spid="25" grpId="0"/>
      <p:bldP spid="29"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48BC74-C509-4685-BC28-853CEDBF6707}"/>
              </a:ext>
            </a:extLst>
          </p:cNvPr>
          <p:cNvSpPr>
            <a:spLocks noGrp="1"/>
          </p:cNvSpPr>
          <p:nvPr>
            <p:ph type="title"/>
          </p:nvPr>
        </p:nvSpPr>
        <p:spPr>
          <a:xfrm>
            <a:off x="524784" y="248038"/>
            <a:ext cx="5297791" cy="1159200"/>
          </a:xfrm>
        </p:spPr>
        <p:txBody>
          <a:bodyPr vert="horz" lIns="91440" tIns="45720" rIns="91440" bIns="45720" rtlCol="0" anchor="ctr">
            <a:normAutofit/>
          </a:bodyPr>
          <a:lstStyle/>
          <a:p>
            <a:r>
              <a:rPr lang="en-US" sz="3500" b="1" kern="1200">
                <a:solidFill>
                  <a:srgbClr val="FFFFFF"/>
                </a:solidFill>
                <a:latin typeface="+mj-lt"/>
                <a:ea typeface="+mj-ea"/>
                <a:cs typeface="+mj-cs"/>
              </a:rPr>
              <a:t>Performance Degradation and Mitigation</a:t>
            </a:r>
          </a:p>
        </p:txBody>
      </p:sp>
      <p:pic>
        <p:nvPicPr>
          <p:cNvPr id="7" name="Picture 6">
            <a:extLst>
              <a:ext uri="{FF2B5EF4-FFF2-40B4-BE49-F238E27FC236}">
                <a16:creationId xmlns:a16="http://schemas.microsoft.com/office/drawing/2014/main" id="{3FA48271-77F2-5BD3-B567-91E8075DFC79}"/>
              </a:ext>
            </a:extLst>
          </p:cNvPr>
          <p:cNvPicPr>
            <a:picLocks noChangeAspect="1"/>
          </p:cNvPicPr>
          <p:nvPr/>
        </p:nvPicPr>
        <p:blipFill>
          <a:blip r:embed="rId2"/>
          <a:stretch>
            <a:fillRect/>
          </a:stretch>
        </p:blipFill>
        <p:spPr>
          <a:xfrm>
            <a:off x="-7735" y="1574310"/>
            <a:ext cx="9149246" cy="5283690"/>
          </a:xfrm>
          <a:prstGeom prst="rect">
            <a:avLst/>
          </a:prstGeom>
        </p:spPr>
      </p:pic>
    </p:spTree>
    <p:extLst>
      <p:ext uri="{BB962C8B-B14F-4D97-AF65-F5344CB8AC3E}">
        <p14:creationId xmlns:p14="http://schemas.microsoft.com/office/powerpoint/2010/main" val="397603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BAA266-C93B-A868-791F-219795AF07FC}"/>
              </a:ext>
            </a:extLst>
          </p:cNvPr>
          <p:cNvPicPr>
            <a:picLocks noChangeAspect="1"/>
          </p:cNvPicPr>
          <p:nvPr/>
        </p:nvPicPr>
        <p:blipFill>
          <a:blip r:embed="rId2"/>
          <a:stretch>
            <a:fillRect/>
          </a:stretch>
        </p:blipFill>
        <p:spPr>
          <a:xfrm>
            <a:off x="0" y="1012902"/>
            <a:ext cx="9144000" cy="4832195"/>
          </a:xfrm>
          <a:prstGeom prst="rect">
            <a:avLst/>
          </a:prstGeom>
        </p:spPr>
      </p:pic>
      <p:sp>
        <p:nvSpPr>
          <p:cNvPr id="8" name="Title 1">
            <a:extLst>
              <a:ext uri="{FF2B5EF4-FFF2-40B4-BE49-F238E27FC236}">
                <a16:creationId xmlns:a16="http://schemas.microsoft.com/office/drawing/2014/main" id="{5B49330C-00A0-97E7-030A-80E9477CAFD5}"/>
              </a:ext>
            </a:extLst>
          </p:cNvPr>
          <p:cNvSpPr>
            <a:spLocks noGrp="1"/>
          </p:cNvSpPr>
          <p:nvPr>
            <p:ph type="title"/>
          </p:nvPr>
        </p:nvSpPr>
        <p:spPr>
          <a:xfrm>
            <a:off x="3306535" y="245383"/>
            <a:ext cx="2234293" cy="679903"/>
          </a:xfrm>
        </p:spPr>
        <p:txBody>
          <a:bodyPr>
            <a:normAutofit/>
          </a:bodyPr>
          <a:lstStyle/>
          <a:p>
            <a:r>
              <a:rPr lang="en-US" sz="3600" b="1" dirty="0"/>
              <a:t>Summary</a:t>
            </a:r>
          </a:p>
        </p:txBody>
      </p:sp>
    </p:spTree>
    <p:extLst>
      <p:ext uri="{BB962C8B-B14F-4D97-AF65-F5344CB8AC3E}">
        <p14:creationId xmlns:p14="http://schemas.microsoft.com/office/powerpoint/2010/main" val="24928511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59F6BB5A7D914C9B3EBC96A6E21F77" ma:contentTypeVersion="14" ma:contentTypeDescription="Create a new document." ma:contentTypeScope="" ma:versionID="fda4ccff6591671c81d9f7567ae569d0">
  <xsd:schema xmlns:xsd="http://www.w3.org/2001/XMLSchema" xmlns:xs="http://www.w3.org/2001/XMLSchema" xmlns:p="http://schemas.microsoft.com/office/2006/metadata/properties" xmlns:ns3="76f8f3b6-16be-436e-bf2d-dedadcb77122" xmlns:ns4="d8514a62-9400-4177-9856-d6f8215948cc" targetNamespace="http://schemas.microsoft.com/office/2006/metadata/properties" ma:root="true" ma:fieldsID="5dd2106159393f1d8dbedbc6d6b27a07" ns3:_="" ns4:_="">
    <xsd:import namespace="76f8f3b6-16be-436e-bf2d-dedadcb77122"/>
    <xsd:import namespace="d8514a62-9400-4177-9856-d6f8215948cc"/>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3:MediaServiceOCR"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f8f3b6-16be-436e-bf2d-dedadcb771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AutoTags" ma:index="17" nillable="true" ma:displayName="Tags" ma:internalName="MediaServiceAutoTag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8514a62-9400-4177-9856-d6f8215948c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76f8f3b6-16be-436e-bf2d-dedadcb77122" xsi:nil="true"/>
  </documentManagement>
</p:properties>
</file>

<file path=customXml/itemProps1.xml><?xml version="1.0" encoding="utf-8"?>
<ds:datastoreItem xmlns:ds="http://schemas.openxmlformats.org/officeDocument/2006/customXml" ds:itemID="{E469DD6B-0C77-4907-9AFC-74AC6720B2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f8f3b6-16be-436e-bf2d-dedadcb77122"/>
    <ds:schemaRef ds:uri="d8514a62-9400-4177-9856-d6f8215948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AF01DB4-B638-40AA-A96B-CDB0BCBB8FD8}">
  <ds:schemaRefs>
    <ds:schemaRef ds:uri="http://schemas.microsoft.com/sharepoint/v3/contenttype/forms"/>
  </ds:schemaRefs>
</ds:datastoreItem>
</file>

<file path=customXml/itemProps3.xml><?xml version="1.0" encoding="utf-8"?>
<ds:datastoreItem xmlns:ds="http://schemas.openxmlformats.org/officeDocument/2006/customXml" ds:itemID="{CB1BC10A-AC43-4888-BBEF-22D31D87E8F1}">
  <ds:schemaRefs>
    <ds:schemaRef ds:uri="http://schemas.microsoft.com/office/infopath/2007/PartnerControls"/>
    <ds:schemaRef ds:uri="http://purl.org/dc/elements/1.1/"/>
    <ds:schemaRef ds:uri="http://schemas.microsoft.com/office/2006/metadata/properties"/>
    <ds:schemaRef ds:uri="76f8f3b6-16be-436e-bf2d-dedadcb77122"/>
    <ds:schemaRef ds:uri="http://purl.org/dc/terms/"/>
    <ds:schemaRef ds:uri="http://schemas.openxmlformats.org/package/2006/metadata/core-properties"/>
    <ds:schemaRef ds:uri="http://schemas.microsoft.com/office/2006/documentManagement/types"/>
    <ds:schemaRef ds:uri="d8514a62-9400-4177-9856-d6f8215948cc"/>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441</TotalTime>
  <Words>1181</Words>
  <Application>Microsoft Office PowerPoint</Application>
  <PresentationFormat>On-screen Show (4:3)</PresentationFormat>
  <Paragraphs>130</Paragraphs>
  <Slides>30</Slides>
  <Notes>5</Notes>
  <HiddenSlides>0</HiddenSlides>
  <MMClips>0</MMClips>
  <ScaleCrop>false</ScaleCrop>
  <HeadingPairs>
    <vt:vector size="6" baseType="variant">
      <vt:variant>
        <vt:lpstr>Fonts Used</vt:lpstr>
      </vt:variant>
      <vt:variant>
        <vt:i4>20</vt:i4>
      </vt:variant>
      <vt:variant>
        <vt:lpstr>Theme</vt:lpstr>
      </vt:variant>
      <vt:variant>
        <vt:i4>1</vt:i4>
      </vt:variant>
      <vt:variant>
        <vt:lpstr>Slide Titles</vt:lpstr>
      </vt:variant>
      <vt:variant>
        <vt:i4>30</vt:i4>
      </vt:variant>
    </vt:vector>
  </HeadingPairs>
  <TitlesOfParts>
    <vt:vector size="51" baseType="lpstr">
      <vt:lpstr>ＭＳ Ｐゴシック</vt:lpstr>
      <vt:lpstr>AdvP3D1FEB</vt:lpstr>
      <vt:lpstr>AdvP41153C</vt:lpstr>
      <vt:lpstr>Arial</vt:lpstr>
      <vt:lpstr>Book Antiqua</vt:lpstr>
      <vt:lpstr>Bookman Old Style</vt:lpstr>
      <vt:lpstr>Calibri</vt:lpstr>
      <vt:lpstr>Calibri Light</vt:lpstr>
      <vt:lpstr>Cambria</vt:lpstr>
      <vt:lpstr>CMMI7</vt:lpstr>
      <vt:lpstr>CMR7</vt:lpstr>
      <vt:lpstr>CMSS10</vt:lpstr>
      <vt:lpstr>CMSY7</vt:lpstr>
      <vt:lpstr>Georgia</vt:lpstr>
      <vt:lpstr>Lucida Sans</vt:lpstr>
      <vt:lpstr>Lucida Sans Unicode</vt:lpstr>
      <vt:lpstr>Myriad Pro</vt:lpstr>
      <vt:lpstr>Symbol</vt:lpstr>
      <vt:lpstr>Tahoma</vt:lpstr>
      <vt:lpstr>Times New Roman</vt:lpstr>
      <vt:lpstr>Office Theme</vt:lpstr>
      <vt:lpstr>Wireless Channel Modelling</vt:lpstr>
      <vt:lpstr>Wireless Channel Modelling</vt:lpstr>
      <vt:lpstr>Power Delay Profile (PDP)</vt:lpstr>
      <vt:lpstr>Parameters for Small-Scale Fading</vt:lpstr>
      <vt:lpstr>Delay spread over Distance</vt:lpstr>
      <vt:lpstr>Delay Spread (Time Domain)</vt:lpstr>
      <vt:lpstr>Delay Spread</vt:lpstr>
      <vt:lpstr>The RMS Delay Spread</vt:lpstr>
      <vt:lpstr>Delay Spread (Homework)</vt:lpstr>
      <vt:lpstr>The RMS Delay Spread</vt:lpstr>
      <vt:lpstr>Narrowband &amp; Wideband Signal</vt:lpstr>
      <vt:lpstr>Coherence Bandwidth and RMS Delay Spread</vt:lpstr>
      <vt:lpstr>Multipath Propagation Model for Wireless Communication</vt:lpstr>
      <vt:lpstr>Multipath Propagation</vt:lpstr>
      <vt:lpstr>Parameters for Small-Scale Fading</vt:lpstr>
      <vt:lpstr>Time-Dispersive vs. Frequency-Dispersive Fading</vt:lpstr>
      <vt:lpstr>Fading Due to Time Dispersion: Frequency-Selective Fading Channel</vt:lpstr>
      <vt:lpstr>Fading Due to Time Dispersion: Frequency-Selective Fading Channel</vt:lpstr>
      <vt:lpstr>Fading Due to Frequency Dispersion: Time-Selective Fading Channel</vt:lpstr>
      <vt:lpstr>Fading Due to Frequency Dispersion: Time-Selective Fading Channel</vt:lpstr>
      <vt:lpstr>Statistical Characterization of Fading Channel</vt:lpstr>
      <vt:lpstr>Statistical Characterization of Fading Channel</vt:lpstr>
      <vt:lpstr>Example</vt:lpstr>
      <vt:lpstr>Example-1:  rms Delay Spread and Coherence bandwidth=?</vt:lpstr>
      <vt:lpstr>Example-2: </vt:lpstr>
      <vt:lpstr>Solution</vt:lpstr>
      <vt:lpstr>Example-3</vt:lpstr>
      <vt:lpstr>Solution:</vt:lpstr>
      <vt:lpstr>Performance Degradation and Mitigation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Abrar, Muhammad</dc:creator>
  <cp:lastModifiedBy>Abrar, Muhammad</cp:lastModifiedBy>
  <cp:revision>170</cp:revision>
  <dcterms:created xsi:type="dcterms:W3CDTF">2023-04-08T04:37:24Z</dcterms:created>
  <dcterms:modified xsi:type="dcterms:W3CDTF">2025-10-25T04:16:36Z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0x010100BB59F6BB5A7D914C9B3EBC96A6E21F77</vt:lpwstr>
  </property>
</Properties>
</file>