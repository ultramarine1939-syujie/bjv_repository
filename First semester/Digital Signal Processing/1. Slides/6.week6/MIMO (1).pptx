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339" r:id="rId5"/>
    <p:sldId id="353" r:id="rId6"/>
    <p:sldId id="354" r:id="rId7"/>
    <p:sldId id="344" r:id="rId8"/>
    <p:sldId id="340" r:id="rId9"/>
    <p:sldId id="341" r:id="rId10"/>
    <p:sldId id="342" r:id="rId11"/>
    <p:sldId id="343" r:id="rId12"/>
    <p:sldId id="345" r:id="rId13"/>
    <p:sldId id="348" r:id="rId14"/>
    <p:sldId id="346" r:id="rId15"/>
    <p:sldId id="347" r:id="rId16"/>
    <p:sldId id="349" r:id="rId17"/>
    <p:sldId id="350" r:id="rId18"/>
    <p:sldId id="351" r:id="rId19"/>
    <p:sldId id="356" r:id="rId20"/>
    <p:sldId id="357" r:id="rId21"/>
    <p:sldId id="358" r:id="rId22"/>
    <p:sldId id="359" r:id="rId23"/>
    <p:sldId id="360" r:id="rId24"/>
    <p:sldId id="362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5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A2B23-253C-4CB3-BBBB-82EDD4515B2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1E985-387E-4400-B108-EA1B51C5B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5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charset="-128"/>
            </a:endParaRP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7E1331-397A-4A4B-A652-1EAF84AD9D1F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32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5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3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9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2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2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13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5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7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0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69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8860F-9BD5-42E1-91FE-31F6B999C27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6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mailto:i.chatzigeorgiou@lancaster.ac.u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SSC-slide-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821912" y="4403909"/>
            <a:ext cx="469732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US" dirty="0">
                <a:latin typeface="Arial"/>
                <a:ea typeface="ヒラギノ角ゴ Pro W3"/>
                <a:cs typeface="Arial"/>
              </a:rPr>
              <a:t>Dr Muhammad Abrar (Dr. MAB)</a:t>
            </a:r>
            <a:endParaRPr lang="en-US" dirty="0"/>
          </a:p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/>
              </a:rPr>
              <a:t>abrar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@lancaster.ac.uk</a:t>
            </a:r>
            <a:endParaRPr lang="en-US" sz="1800" dirty="0">
              <a:latin typeface="Arial"/>
              <a:ea typeface="ヒラギノ角ゴ Pro W3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908175" y="1893316"/>
            <a:ext cx="5976194" cy="1967732"/>
          </a:xfrm>
        </p:spPr>
        <p:txBody>
          <a:bodyPr/>
          <a:lstStyle/>
          <a:p>
            <a:pPr algn="l"/>
            <a:r>
              <a:rPr lang="en-US" altLang="en-US" b="1" dirty="0"/>
              <a:t>MIMO-</a:t>
            </a:r>
            <a:r>
              <a:rPr lang="en-US" sz="2800" b="1" dirty="0"/>
              <a:t>INTRODUCTION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endParaRPr lang="en-US" sz="3600" b="1" dirty="0">
              <a:solidFill>
                <a:schemeClr val="accent5">
                  <a:lumMod val="25000"/>
                </a:schemeClr>
              </a:solidFill>
              <a:latin typeface="Myriad Pro" charset="0"/>
            </a:endParaRPr>
          </a:p>
        </p:txBody>
      </p:sp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1908175" y="549275"/>
            <a:ext cx="4163319" cy="103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CNSCC.405</a:t>
            </a:r>
            <a:endParaRPr lang="en-US" dirty="0"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Digital Signal Processing</a:t>
            </a:r>
            <a:endParaRPr lang="en-US" dirty="0">
              <a:cs typeface="Arial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03200" y="194733"/>
            <a:ext cx="1312334" cy="821267"/>
            <a:chOff x="203200" y="194733"/>
            <a:chExt cx="1312334" cy="821267"/>
          </a:xfrm>
        </p:grpSpPr>
        <p:sp>
          <p:nvSpPr>
            <p:cNvPr id="16" name="Rectangle 15"/>
            <p:cNvSpPr/>
            <p:nvPr userDrawn="1"/>
          </p:nvSpPr>
          <p:spPr bwMode="auto">
            <a:xfrm>
              <a:off x="203200" y="194733"/>
              <a:ext cx="1312334" cy="82126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charset="-128"/>
              </a:endParaRPr>
            </a:p>
          </p:txBody>
        </p:sp>
        <p:pic>
          <p:nvPicPr>
            <p:cNvPr id="17" name="Picture 2" descr="\\lancs\homes\05\chatzige\My Desktop\bg-logo.png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480" y="456159"/>
              <a:ext cx="1082502" cy="338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28"/>
    </mc:Choice>
    <mc:Fallback xmlns="">
      <p:transition spd="slow" advTm="359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BC5C1-C9CC-20D8-F85A-D1B8ACAF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6909"/>
            <a:ext cx="7886700" cy="372328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+mn-lt"/>
                <a:cs typeface="Calibri Light"/>
              </a:rPr>
              <a:t>Introduction</a:t>
            </a:r>
            <a:endParaRPr lang="en-US" sz="3600" b="1" dirty="0">
              <a:latin typeface="+mn-lt"/>
            </a:endParaRPr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7B4D1DDB-BC18-539F-1071-74C52187B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99" y="1475610"/>
            <a:ext cx="7977151" cy="390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3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C356-2C3D-222D-DA78-704669702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116" y="190394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85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Diversity Gain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C1A67-E3D9-DF21-65DE-62F9C06A7F56}"/>
              </a:ext>
            </a:extLst>
          </p:cNvPr>
          <p:cNvSpPr txBox="1"/>
          <p:nvPr/>
        </p:nvSpPr>
        <p:spPr>
          <a:xfrm>
            <a:off x="256030" y="1792514"/>
            <a:ext cx="6651170" cy="378822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Signal power in a wireless system fluctuates. When this signal power drops significantly, the channel is said to be in fade.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Diversity is used in wireless channels to combat the fading. Receive diversity and transmit diversity mitigate fading and significantly improve link quality.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receive antennas see independently faded versions of the same signals. The receiver combines these signals so that the resultant signal exhibits considerably reduced amplitude fading.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Diversity order MR x MT MIMO turns multipath propagation into a benefit for the user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Graphic 7" descr="USB">
            <a:extLst>
              <a:ext uri="{FF2B5EF4-FFF2-40B4-BE49-F238E27FC236}">
                <a16:creationId xmlns:a16="http://schemas.microsoft.com/office/drawing/2014/main" id="{C8F48B6C-7915-CA34-ADCF-064E9844A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A17F8B-E390-11BD-A0D2-B188D1FE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Multi-Antenna Systems</a:t>
            </a:r>
          </a:p>
        </p:txBody>
      </p:sp>
      <p:pic>
        <p:nvPicPr>
          <p:cNvPr id="1028" name="Picture 4" descr="MIMO 技术回顾 - 知乎">
            <a:extLst>
              <a:ext uri="{FF2B5EF4-FFF2-40B4-BE49-F238E27FC236}">
                <a16:creationId xmlns:a16="http://schemas.microsoft.com/office/drawing/2014/main" id="{F2C177D2-7AEE-FC8A-1696-43FEB4240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2000" y="1675227"/>
            <a:ext cx="6919998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23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1FC01-4197-3525-9901-AE529BE02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964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2A5F9B-0C46-ABA9-8720-7EA54FDB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0723"/>
            <a:ext cx="8229600" cy="4530725"/>
          </a:xfrm>
        </p:spPr>
        <p:txBody>
          <a:bodyPr/>
          <a:lstStyle/>
          <a:p>
            <a:r>
              <a:rPr lang="en-US" altLang="en-US" dirty="0"/>
              <a:t>MIMO Systems have multiple antennas at the transmitter and the receiver.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27493DE-47AC-CDDE-8DD7-AF9543201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87" y="2383971"/>
            <a:ext cx="59912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FB230A-6B23-4964-C8B7-77ADFB8A7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9686" y="4908096"/>
            <a:ext cx="1371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/>
              <a:t>t</a:t>
            </a:r>
            <a:r>
              <a:rPr lang="en-US" altLang="en-US" sz="1800" dirty="0"/>
              <a:t> transmit antennas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4CD47-6359-08F6-0DDC-3E20A8B4A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5531" y="4698658"/>
            <a:ext cx="1371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/>
              <a:t>r</a:t>
            </a:r>
            <a:r>
              <a:rPr lang="en-US" altLang="en-US" sz="1800" dirty="0"/>
              <a:t> receive antennas</a:t>
            </a:r>
          </a:p>
        </p:txBody>
      </p:sp>
    </p:spTree>
    <p:extLst>
      <p:ext uri="{BB962C8B-B14F-4D97-AF65-F5344CB8AC3E}">
        <p14:creationId xmlns:p14="http://schemas.microsoft.com/office/powerpoint/2010/main" val="48513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ell towers">
            <a:extLst>
              <a:ext uri="{FF2B5EF4-FFF2-40B4-BE49-F238E27FC236}">
                <a16:creationId xmlns:a16="http://schemas.microsoft.com/office/drawing/2014/main" id="{85C3E95A-0117-07D2-FE45-C7F0BDDEBD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507" r="-2" b="-2"/>
          <a:stretch>
            <a:fillRect/>
          </a:stretch>
        </p:blipFill>
        <p:spPr>
          <a:xfrm>
            <a:off x="20" y="-2"/>
            <a:ext cx="3435619" cy="6858002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A1222-0556-C85B-C990-262A5068F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999" y="187970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B6442C-3CD3-3F92-552F-DD1293EFB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87" y="2285999"/>
            <a:ext cx="4929706" cy="3496878"/>
          </a:xfrm>
        </p:spPr>
        <p:txBody>
          <a:bodyPr anchor="ctr">
            <a:noAutofit/>
          </a:bodyPr>
          <a:lstStyle/>
          <a:p>
            <a:r>
              <a:rPr lang="en-US" altLang="en-US" sz="2400" dirty="0"/>
              <a:t>As there are multiple antennas, MIMO systems can be employed for diversity gain.</a:t>
            </a:r>
          </a:p>
          <a:p>
            <a:r>
              <a:rPr lang="en-US" altLang="en-US" sz="2400" dirty="0"/>
              <a:t>MIMO can increase the data rate by transmitting several information streams in parallel</a:t>
            </a:r>
          </a:p>
          <a:p>
            <a:r>
              <a:rPr lang="en-US" altLang="en-US" sz="2400" dirty="0"/>
              <a:t>It is also known as spatial multiplexing as information is multiplexed over parallel streams in space</a:t>
            </a:r>
          </a:p>
          <a:p>
            <a:r>
              <a:rPr lang="en-US" altLang="en-US" sz="2400" dirty="0"/>
              <a:t>This is possible by using multidimensional 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218170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F5673-8D83-AA1E-B31F-8DF66D2AB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</a:t>
            </a:r>
            <a:r>
              <a:rPr lang="en-US" sz="35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eneralized MIMO wireless communication system</a:t>
            </a:r>
            <a:endParaRPr lang="en-US" sz="35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2E6F7-B343-C4EE-9E4D-6ED7FEBC8CF8}"/>
              </a:ext>
            </a:extLst>
          </p:cNvPr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b="0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Figure shows a line of sight (LOS) antenna setup of a MIMO system.</a:t>
            </a:r>
            <a:endParaRPr lang="en-US" sz="17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566EFC-E8BC-952E-8F36-9709B8F3D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082" y="1966293"/>
            <a:ext cx="559583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74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250D74-49BF-19AF-B82B-36381A5E6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MIMO?</a:t>
            </a:r>
            <a:endParaRPr lang="en-US" sz="35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F9EC90-8CDB-45D8-69A9-313D98BD8939}"/>
              </a:ext>
            </a:extLst>
          </p:cNvPr>
          <p:cNvSpPr txBox="1">
            <a:spLocks noChangeArrowheads="1"/>
          </p:cNvSpPr>
          <p:nvPr/>
        </p:nvSpPr>
        <p:spPr>
          <a:xfrm>
            <a:off x="789213" y="2753626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There is always a need for increase in performance in wireless systems </a:t>
            </a:r>
          </a:p>
          <a:p>
            <a:pPr lvl="1"/>
            <a:r>
              <a:rPr lang="en-US" altLang="en-US" dirty="0"/>
              <a:t>Significant increase in spectral efficiency and data rates</a:t>
            </a:r>
          </a:p>
          <a:p>
            <a:pPr lvl="1"/>
            <a:r>
              <a:rPr lang="en-US" altLang="en-US" dirty="0"/>
              <a:t>High Quality of Service (QoS)</a:t>
            </a:r>
          </a:p>
          <a:p>
            <a:pPr lvl="1"/>
            <a:r>
              <a:rPr lang="en-US" altLang="en-US" dirty="0"/>
              <a:t>Wide coverage, etc.</a:t>
            </a:r>
          </a:p>
          <a:p>
            <a:r>
              <a:rPr lang="en-US" altLang="en-US" sz="2400" dirty="0"/>
              <a:t>Wireless channel that we are using is very unfriendly </a:t>
            </a:r>
          </a:p>
          <a:p>
            <a:pPr lvl="1"/>
            <a:r>
              <a:rPr lang="en-US" altLang="en-US" dirty="0"/>
              <a:t>Suffers from Co–channel interference and signal level fading </a:t>
            </a:r>
          </a:p>
          <a:p>
            <a:pPr lvl="1"/>
            <a:r>
              <a:rPr lang="en-US" altLang="en-US" dirty="0"/>
              <a:t>It provides a limited bandwidth </a:t>
            </a:r>
          </a:p>
          <a:p>
            <a:pPr lvl="1"/>
            <a:r>
              <a:rPr lang="en-US" altLang="en-US" dirty="0"/>
              <a:t>power falls off with distance 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6603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534337-FC6B-8038-C114-3F7DBE689744}"/>
              </a:ext>
            </a:extLst>
          </p:cNvPr>
          <p:cNvSpPr txBox="1">
            <a:spLocks/>
          </p:cNvSpPr>
          <p:nvPr/>
        </p:nvSpPr>
        <p:spPr>
          <a:xfrm>
            <a:off x="628650" y="66837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SISO versus MIMO channel capacity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84BB3-2311-C69D-2369-7CAF0DDAC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77456"/>
            <a:ext cx="3823335" cy="379574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/>
            <a:r>
              <a:rPr lang="en-US" sz="2100" dirty="0"/>
              <a:t>The main importance of MIMO channel technique is to improve the capacity of the channel and therefore it is important to compare the capacity of a SISO system to MIMO system.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257A5-0A9C-E563-C354-C99463D60174}"/>
              </a:ext>
            </a:extLst>
          </p:cNvPr>
          <p:cNvSpPr txBox="1"/>
          <p:nvPr/>
        </p:nvSpPr>
        <p:spPr>
          <a:xfrm>
            <a:off x="4765738" y="1353243"/>
            <a:ext cx="3823335" cy="37957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/>
              <a:t>In SISO a system, the Shannon formula can be applied to determine the capacity of the system.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/>
              <a:t>However, for a precise comparison, it is important that the MIMO system is transmitting with a power the same as that of a SISO system.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/>
              <a:t>Therefore, if the power radiated by a SISO system is </a:t>
            </a:r>
            <a:r>
              <a:rPr lang="en-US" sz="2000" b="0" i="1" u="none" strike="noStrike" baseline="0" dirty="0"/>
              <a:t>Ps </a:t>
            </a:r>
            <a:r>
              <a:rPr lang="en-US" sz="2000" b="0" i="0" u="none" strike="noStrike" baseline="0" dirty="0"/>
              <a:t>(SNR), then the power radiated from each antenna of a MIMO system with </a:t>
            </a:r>
            <a:r>
              <a:rPr lang="en-US" sz="2000" b="0" i="1" u="none" strike="noStrike" baseline="0" dirty="0"/>
              <a:t>N</a:t>
            </a:r>
            <a:r>
              <a:rPr lang="en-US" sz="2000" b="0" i="0" u="none" strike="noStrike" baseline="0" dirty="0"/>
              <a:t>TX transmit antennas must be </a:t>
            </a:r>
            <a:r>
              <a:rPr lang="en-US" sz="2000" b="0" i="1" u="none" strike="noStrike" baseline="0" dirty="0"/>
              <a:t>Ps/N</a:t>
            </a:r>
            <a:r>
              <a:rPr lang="en-US" sz="2000" b="0" i="0" u="none" strike="noStrike" baseline="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454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E0960BA-88B0-A6AD-B7E0-9BA55BB0F4F7}"/>
              </a:ext>
            </a:extLst>
          </p:cNvPr>
          <p:cNvSpPr txBox="1">
            <a:spLocks/>
          </p:cNvSpPr>
          <p:nvPr/>
        </p:nvSpPr>
        <p:spPr>
          <a:xfrm>
            <a:off x="62865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</a:rPr>
              <a:t>SISO versus MIMO channel capacity</a:t>
            </a:r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7F8F86-5864-86FD-AFF7-8A0DC7A944BE}"/>
              </a:ext>
            </a:extLst>
          </p:cNvPr>
          <p:cNvSpPr txBox="1"/>
          <p:nvPr/>
        </p:nvSpPr>
        <p:spPr>
          <a:xfrm>
            <a:off x="892629" y="2690336"/>
            <a:ext cx="2764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MIMO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88CDAD-66EE-0174-A9C9-87FDEA769E99}"/>
              </a:ext>
            </a:extLst>
          </p:cNvPr>
          <p:cNvSpPr txBox="1"/>
          <p:nvPr/>
        </p:nvSpPr>
        <p:spPr>
          <a:xfrm>
            <a:off x="794656" y="1086317"/>
            <a:ext cx="2764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</a:rPr>
              <a:t>SIS</a:t>
            </a:r>
            <a:r>
              <a:rPr lang="en-US" sz="2400" b="1" i="0" u="none" strike="noStrike" baseline="0" dirty="0">
                <a:latin typeface="Arial" panose="020B0604020202020204" pitchFamily="34" charset="0"/>
              </a:rPr>
              <a:t>O </a:t>
            </a:r>
            <a:r>
              <a:rPr lang="en-US" sz="2400" b="1" dirty="0">
                <a:latin typeface="Arial" panose="020B0604020202020204" pitchFamily="34" charset="0"/>
              </a:rPr>
              <a:t>S</a:t>
            </a:r>
            <a:r>
              <a:rPr lang="en-US" sz="2400" b="1" i="0" u="none" strike="noStrike" baseline="0" dirty="0">
                <a:latin typeface="Arial" panose="020B0604020202020204" pitchFamily="34" charset="0"/>
              </a:rPr>
              <a:t>ystem </a:t>
            </a:r>
            <a:endParaRPr lang="en-US" sz="24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DCA338F-FC20-66AA-8D0D-AC4B1234E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509" y="3415242"/>
            <a:ext cx="5510925" cy="10260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FEA72D4-BC32-566F-476D-5297D8036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509" y="1584038"/>
            <a:ext cx="5022759" cy="102602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EA769C4-E274-3CA1-E165-49930F6859AD}"/>
              </a:ext>
            </a:extLst>
          </p:cNvPr>
          <p:cNvSpPr txBox="1"/>
          <p:nvPr/>
        </p:nvSpPr>
        <p:spPr>
          <a:xfrm>
            <a:off x="0" y="6507144"/>
            <a:ext cx="87738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baseline="0" dirty="0">
                <a:latin typeface="Arial" panose="020B0604020202020204" pitchFamily="34" charset="0"/>
              </a:rPr>
              <a:t>[1]. Sergio Barbarossa. Multiantenna Wireless Communication Systems. Boston, London: Artech House Inc; 2005.</a:t>
            </a: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C99C04-FE6C-93DE-9F08-5C9265F3E571}"/>
              </a:ext>
            </a:extLst>
          </p:cNvPr>
          <p:cNvSpPr txBox="1"/>
          <p:nvPr/>
        </p:nvSpPr>
        <p:spPr>
          <a:xfrm>
            <a:off x="8120743" y="3679371"/>
            <a:ext cx="555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B10E55-38B9-358E-A992-7EBEAC359D25}"/>
              </a:ext>
            </a:extLst>
          </p:cNvPr>
          <p:cNvSpPr txBox="1"/>
          <p:nvPr/>
        </p:nvSpPr>
        <p:spPr>
          <a:xfrm>
            <a:off x="533400" y="4665946"/>
            <a:ext cx="82404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u="none" strike="noStrike" baseline="0" dirty="0">
                <a:latin typeface="Arial" panose="020B0604020202020204" pitchFamily="34" charset="0"/>
              </a:rPr>
              <a:t>Where (*) means transpose-conjugate of </a:t>
            </a:r>
            <a:r>
              <a:rPr lang="en-US" b="1" i="0" u="none" strike="noStrike" baseline="0" dirty="0">
                <a:latin typeface="Times New Roman" panose="02020603050405020304" pitchFamily="18" charset="0"/>
              </a:rPr>
              <a:t>H 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and </a:t>
            </a:r>
            <a:r>
              <a:rPr lang="en-US" b="1" i="0" u="none" strike="noStrike" baseline="0" dirty="0">
                <a:latin typeface="Times New Roman" panose="02020603050405020304" pitchFamily="18" charset="0"/>
              </a:rPr>
              <a:t>H 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is the </a:t>
            </a:r>
            <a:r>
              <a:rPr lang="en-US" b="0" i="1" u="none" strike="noStrike" baseline="0" dirty="0">
                <a:latin typeface="Arial" panose="020B0604020202020204" pitchFamily="34" charset="0"/>
              </a:rPr>
              <a:t>M x N 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channel matrix. </a:t>
            </a:r>
            <a:r>
              <a:rPr lang="en-US" b="1" i="0" u="none" strike="noStrike" baseline="0" dirty="0">
                <a:latin typeface="Times New Roman" panose="02020603050405020304" pitchFamily="18" charset="0"/>
              </a:rPr>
              <a:t>I</a:t>
            </a:r>
            <a:r>
              <a:rPr lang="en-US" b="0" i="0" u="none" strike="noStrike" baseline="-25000" dirty="0">
                <a:latin typeface="Arial" panose="020B0604020202020204" pitchFamily="34" charset="0"/>
              </a:rPr>
              <a:t>M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 indicates the identity matrix of dimension </a:t>
            </a:r>
            <a:r>
              <a:rPr lang="en-US" b="0" i="1" u="none" strike="noStrike" baseline="0" dirty="0">
                <a:latin typeface="Arial" panose="020B0604020202020204" pitchFamily="34" charset="0"/>
              </a:rPr>
              <a:t>N x M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, in this case </a:t>
            </a:r>
            <a:r>
              <a:rPr lang="en-US" b="0" i="1" u="none" strike="noStrike" baseline="0" dirty="0">
                <a:latin typeface="Arial" panose="020B0604020202020204" pitchFamily="34" charset="0"/>
              </a:rPr>
              <a:t>M 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= </a:t>
            </a:r>
            <a:r>
              <a:rPr lang="en-US" b="0" i="1" u="none" strike="noStrike" baseline="0" dirty="0">
                <a:latin typeface="Arial" panose="020B0604020202020204" pitchFamily="34" charset="0"/>
              </a:rPr>
              <a:t>N 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=2 or more.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98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4A9A-0823-82F4-9581-1D8B00EF2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6270"/>
            <a:ext cx="7886700" cy="538388"/>
          </a:xfrm>
        </p:spPr>
        <p:txBody>
          <a:bodyPr>
            <a:normAutofit fontScale="90000"/>
          </a:bodyPr>
          <a:lstStyle/>
          <a:p>
            <a:r>
              <a:rPr lang="en-US" sz="3600" b="1" i="0" u="none" strike="noStrike" baseline="0" dirty="0">
                <a:latin typeface="Arial" panose="020B0604020202020204" pitchFamily="34" charset="0"/>
              </a:rPr>
              <a:t>Example 1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68D350-DBEC-1013-67E2-1CA2A0A8EBF0}"/>
              </a:ext>
            </a:extLst>
          </p:cNvPr>
          <p:cNvSpPr txBox="1"/>
          <p:nvPr/>
        </p:nvSpPr>
        <p:spPr>
          <a:xfrm>
            <a:off x="772885" y="975249"/>
            <a:ext cx="7886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Arial" panose="020B0604020202020204" pitchFamily="34" charset="0"/>
              </a:rPr>
              <a:t>Suppose that the spectrum of a SISO communication channel is 1MHz and the signal-to-noise ratio is 24dB. Calculate the capacity of the SISO channel.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90D417-8725-A96A-6041-825E81139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481" y="2079170"/>
            <a:ext cx="5365038" cy="923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5A7BDC-651F-EB2D-DE70-A22668F28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025" y="3052459"/>
            <a:ext cx="2903950" cy="6261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DFE737-B50B-827B-20A1-84BAFE498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352" y="3630450"/>
            <a:ext cx="6000822" cy="10519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927ABE-2871-AB9C-E128-F6B008140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092" y="5151968"/>
            <a:ext cx="6401747" cy="92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54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66D55-C3E4-B035-DCDA-51FB214E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497"/>
            <a:ext cx="7886700" cy="875845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Arial" panose="020B0604020202020204" pitchFamily="34" charset="0"/>
              </a:rPr>
              <a:t>Example 2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48E51E-D3AA-ABC9-DA5C-AF1E8109AF1E}"/>
              </a:ext>
            </a:extLst>
          </p:cNvPr>
          <p:cNvSpPr txBox="1"/>
          <p:nvPr/>
        </p:nvSpPr>
        <p:spPr>
          <a:xfrm>
            <a:off x="628650" y="1023256"/>
            <a:ext cx="80472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latin typeface="Arial" panose="020B0604020202020204" pitchFamily="34" charset="0"/>
              </a:rPr>
              <a:t>Consider the 2x2 MIMO system, with the channel bandwidth of 1MHz and signals-to noise ratio of 24dB, Having a channel matrix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0D7AE-75F4-8691-FD7D-8F3464548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021" y="1731142"/>
            <a:ext cx="1449910" cy="5991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D810F7-EAF1-F219-420B-0C3C023BE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085" y="1806684"/>
            <a:ext cx="1596618" cy="5045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D86350-9115-6F7B-F5E8-0C87283A9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318264"/>
            <a:ext cx="3726547" cy="6938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1F4A0A0-A0E7-1B76-F166-FD69E1509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65" y="2917462"/>
            <a:ext cx="5279604" cy="30382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A910B68-00C3-25FA-AD05-0EB5FB54D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801" y="5955725"/>
            <a:ext cx="5266549" cy="79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5ACD-4ADC-6391-C3DA-4E09519B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0069"/>
            <a:ext cx="7886700" cy="647245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Arial" panose="020B0604020202020204" pitchFamily="34" charset="0"/>
              </a:rPr>
              <a:t>Representation of MIMO channel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8EBB0-3492-D822-F307-35F9F2986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92" y="1164772"/>
            <a:ext cx="6331416" cy="31079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1259BC-DF32-D35E-9716-11B98DF2FE5D}"/>
              </a:ext>
            </a:extLst>
          </p:cNvPr>
          <p:cNvSpPr txBox="1"/>
          <p:nvPr/>
        </p:nvSpPr>
        <p:spPr>
          <a:xfrm>
            <a:off x="2144485" y="4425504"/>
            <a:ext cx="5225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ahoma" panose="020B0604030504040204" pitchFamily="34" charset="0"/>
              </a:rPr>
              <a:t>2 x 2 MIMO system with channel characteristics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95D790-4D0D-22D1-6023-D40C2CADA39A}"/>
              </a:ext>
            </a:extLst>
          </p:cNvPr>
          <p:cNvSpPr txBox="1"/>
          <p:nvPr/>
        </p:nvSpPr>
        <p:spPr>
          <a:xfrm>
            <a:off x="762000" y="4794836"/>
            <a:ext cx="80118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latin typeface="Arial" panose="020B0604020202020204" pitchFamily="34" charset="0"/>
              </a:rPr>
              <a:t>if the transmitted signal is represented to be </a:t>
            </a:r>
            <a:r>
              <a:rPr lang="en-US" sz="2000" b="1" i="0" u="none" strike="noStrike" baseline="0" dirty="0">
                <a:latin typeface="Times New Roman" panose="02020603050405020304" pitchFamily="18" charset="0"/>
              </a:rPr>
              <a:t>X </a:t>
            </a:r>
            <a:r>
              <a:rPr lang="en-US" sz="2000" b="0" i="0" u="none" strike="noStrike" baseline="0" dirty="0">
                <a:latin typeface="Arial" panose="020B0604020202020204" pitchFamily="34" charset="0"/>
              </a:rPr>
              <a:t>and the received signal </a:t>
            </a:r>
            <a:r>
              <a:rPr lang="en-US" sz="2000" b="1" i="0" u="none" strike="noStrike" baseline="0" dirty="0">
                <a:latin typeface="Times New Roman" panose="02020603050405020304" pitchFamily="18" charset="0"/>
              </a:rPr>
              <a:t>Y</a:t>
            </a:r>
            <a:r>
              <a:rPr lang="en-US" sz="2000" b="0" i="0" u="none" strike="noStrike" baseline="0" dirty="0">
                <a:latin typeface="Arial" panose="020B0604020202020204" pitchFamily="34" charset="0"/>
              </a:rPr>
              <a:t>. If the channel characteristics matrix is </a:t>
            </a:r>
            <a:r>
              <a:rPr lang="en-US" sz="2000" b="1" i="0" u="none" strike="noStrike" baseline="0" dirty="0">
                <a:latin typeface="Times New Roman" panose="02020603050405020304" pitchFamily="18" charset="0"/>
              </a:rPr>
              <a:t>W</a:t>
            </a:r>
            <a:r>
              <a:rPr lang="en-US" sz="2000" b="0" i="0" u="none" strike="noStrike" baseline="-25000" dirty="0">
                <a:latin typeface="Arial" panose="020B0604020202020204" pitchFamily="34" charset="0"/>
              </a:rPr>
              <a:t>c</a:t>
            </a:r>
            <a:r>
              <a:rPr lang="en-US" sz="2000" b="0" i="0" u="none" strike="noStrike" baseline="0" dirty="0">
                <a:latin typeface="Arial" panose="020B0604020202020204" pitchFamily="34" charset="0"/>
              </a:rPr>
              <a:t>, we may write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CC94B7-4742-2E21-5070-F4D2BBD1C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015" y="5693228"/>
            <a:ext cx="2859728" cy="60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4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07FB13-2CE5-2B07-9A99-49A9A3B6F084}"/>
              </a:ext>
            </a:extLst>
          </p:cNvPr>
          <p:cNvSpPr txBox="1"/>
          <p:nvPr/>
        </p:nvSpPr>
        <p:spPr>
          <a:xfrm>
            <a:off x="446314" y="1558222"/>
            <a:ext cx="80690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latin typeface="Arial" panose="020B0604020202020204" pitchFamily="34" charset="0"/>
              </a:rPr>
              <a:t>If the channel matrix has </a:t>
            </a:r>
            <a:r>
              <a:rPr lang="en-US" sz="2000" b="0" i="1" u="none" strike="noStrike" baseline="0" dirty="0">
                <a:latin typeface="Arial" panose="020B0604020202020204" pitchFamily="34" charset="0"/>
              </a:rPr>
              <a:t>N </a:t>
            </a:r>
            <a:r>
              <a:rPr lang="en-US" sz="2000" b="0" i="0" u="none" strike="noStrike" baseline="0" dirty="0">
                <a:latin typeface="Arial" panose="020B0604020202020204" pitchFamily="34" charset="0"/>
              </a:rPr>
              <a:t>rows as many as there are transmitting antennas with index </a:t>
            </a:r>
            <a:r>
              <a:rPr lang="en-US" sz="2000" b="0" i="1" u="none" strike="noStrike" baseline="0" dirty="0" err="1">
                <a:latin typeface="Times New Roman" panose="02020603050405020304" pitchFamily="18" charset="0"/>
              </a:rPr>
              <a:t>i</a:t>
            </a:r>
            <a:r>
              <a:rPr lang="en-US" sz="2000" b="0" i="0" u="none" strike="noStrike" baseline="0" dirty="0">
                <a:latin typeface="Arial" panose="020B0604020202020204" pitchFamily="34" charset="0"/>
              </a:rPr>
              <a:t>. Then transmitted signal vector is written as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E910C1-7BCD-3E0E-CBB1-70FBEC3A2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30" y="864653"/>
            <a:ext cx="2587585" cy="5473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2CD901-1BED-5429-CACE-289CD4909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730" y="2295607"/>
            <a:ext cx="2892713" cy="7078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012225-0C67-846B-F983-9CA04CFCF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560" y="3777671"/>
            <a:ext cx="2896883" cy="7078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B99C5B-FFB5-D36D-DD7E-A4E2A9CA6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001" y="4599427"/>
            <a:ext cx="4505325" cy="17811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6798E69-0AB8-0F70-E254-3F4440898A72}"/>
              </a:ext>
            </a:extLst>
          </p:cNvPr>
          <p:cNvSpPr txBox="1"/>
          <p:nvPr/>
        </p:nvSpPr>
        <p:spPr>
          <a:xfrm>
            <a:off x="446314" y="3017205"/>
            <a:ext cx="80690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latin typeface="Arial" panose="020B0604020202020204" pitchFamily="34" charset="0"/>
              </a:rPr>
              <a:t>Also, if the channel matrix has </a:t>
            </a:r>
            <a:r>
              <a:rPr lang="en-US" sz="2000" b="0" i="1" u="none" strike="noStrike" baseline="0" dirty="0">
                <a:latin typeface="Arial" panose="020B0604020202020204" pitchFamily="34" charset="0"/>
              </a:rPr>
              <a:t>M </a:t>
            </a:r>
            <a:r>
              <a:rPr lang="en-US" sz="2000" b="0" i="0" u="none" strike="noStrike" baseline="0" dirty="0">
                <a:latin typeface="Arial" panose="020B0604020202020204" pitchFamily="34" charset="0"/>
              </a:rPr>
              <a:t>columns, as there are receiving antennas with index </a:t>
            </a:r>
            <a:r>
              <a:rPr lang="en-US" sz="2000" b="0" i="1" u="none" strike="noStrike" baseline="0" dirty="0">
                <a:latin typeface="Times New Roman" panose="02020603050405020304" pitchFamily="18" charset="0"/>
              </a:rPr>
              <a:t>j</a:t>
            </a:r>
            <a:r>
              <a:rPr lang="en-US" sz="2000" b="0" i="0" u="none" strike="noStrike" baseline="0" dirty="0">
                <a:latin typeface="Arial" panose="020B0604020202020204" pitchFamily="34" charset="0"/>
              </a:rPr>
              <a:t>. Then the received signal vector is</a:t>
            </a:r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AEBA5F-EFB2-D0D7-8319-D52293CBF11E}"/>
              </a:ext>
            </a:extLst>
          </p:cNvPr>
          <p:cNvSpPr txBox="1"/>
          <p:nvPr/>
        </p:nvSpPr>
        <p:spPr>
          <a:xfrm>
            <a:off x="521560" y="5013645"/>
            <a:ext cx="36041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latin typeface="Arial" panose="020B0604020202020204" pitchFamily="34" charset="0"/>
              </a:rPr>
              <a:t>The channel matrix contains path characteristics </a:t>
            </a:r>
            <a:r>
              <a:rPr lang="en-US" sz="2000" b="0" i="1" u="none" strike="noStrike" baseline="0" dirty="0" err="1">
                <a:latin typeface="Cambria Math" panose="02040503050406030204" pitchFamily="18" charset="0"/>
              </a:rPr>
              <a:t>h</a:t>
            </a:r>
            <a:r>
              <a:rPr lang="en-US" sz="2000" b="0" i="1" u="none" strike="noStrike" baseline="-25000" dirty="0" err="1">
                <a:latin typeface="Cambria Math" panose="02040503050406030204" pitchFamily="18" charset="0"/>
              </a:rPr>
              <a:t>i</a:t>
            </a:r>
            <a:r>
              <a:rPr lang="en-US" sz="2000" b="0" i="0" u="none" strike="noStrike" baseline="-25000" dirty="0" err="1">
                <a:latin typeface="Cambria Math" panose="02040503050406030204" pitchFamily="18" charset="0"/>
              </a:rPr>
              <a:t>,</a:t>
            </a:r>
            <a:r>
              <a:rPr lang="en-US" sz="2000" b="0" i="1" u="none" strike="noStrike" baseline="-25000" dirty="0" err="1">
                <a:latin typeface="Cambria Math" panose="02040503050406030204" pitchFamily="18" charset="0"/>
              </a:rPr>
              <a:t>j</a:t>
            </a:r>
            <a:r>
              <a:rPr lang="en-US" sz="2000" b="0" i="1" u="none" strike="noStrike" baseline="0" dirty="0">
                <a:latin typeface="Cambria Math" panose="02040503050406030204" pitchFamily="18" charset="0"/>
              </a:rPr>
              <a:t> </a:t>
            </a:r>
            <a:r>
              <a:rPr lang="en-US" sz="2000" b="0" i="0" u="none" strike="noStrike" baseline="0" dirty="0">
                <a:latin typeface="Arial" panose="020B0604020202020204" pitchFamily="34" charset="0"/>
              </a:rPr>
              <a:t>as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BF5242D-8976-0642-EC0F-FA12EAA7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0069"/>
            <a:ext cx="7886700" cy="647245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Arial" panose="020B0604020202020204" pitchFamily="34" charset="0"/>
              </a:rPr>
              <a:t>Representation of MIMO channel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4777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BD1C-399C-5648-25E9-5A6A9239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5306"/>
            <a:ext cx="7886700" cy="505731"/>
          </a:xfrm>
        </p:spPr>
        <p:txBody>
          <a:bodyPr>
            <a:normAutofit fontScale="90000"/>
          </a:bodyPr>
          <a:lstStyle/>
          <a:p>
            <a:r>
              <a:rPr lang="en-US" sz="3600" b="1" i="0" u="none" strike="noStrike" baseline="0" dirty="0">
                <a:latin typeface="Arial" panose="020B0604020202020204" pitchFamily="34" charset="0"/>
              </a:rPr>
              <a:t>Example 3</a:t>
            </a:r>
            <a:endParaRPr lang="en-US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ACBAC-74BE-C873-E061-7333CB198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467" y="428171"/>
            <a:ext cx="4818790" cy="2365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932445-5BEE-BE7F-C829-26C677AB5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87" y="2793599"/>
            <a:ext cx="6677025" cy="990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DA15F6-ACC9-EB0E-E734-B47E906B0599}"/>
              </a:ext>
            </a:extLst>
          </p:cNvPr>
          <p:cNvSpPr txBox="1"/>
          <p:nvPr/>
        </p:nvSpPr>
        <p:spPr>
          <a:xfrm>
            <a:off x="509767" y="1103053"/>
            <a:ext cx="26806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</a:rPr>
              <a:t>Determine the relation for </a:t>
            </a:r>
            <a:r>
              <a:rPr lang="en-US" sz="2000" b="0" i="0" u="none" strike="noStrike" baseline="0" dirty="0">
                <a:latin typeface="Arial" panose="020B0604020202020204" pitchFamily="34" charset="0"/>
              </a:rPr>
              <a:t>the transmitted signal </a:t>
            </a:r>
            <a:r>
              <a:rPr lang="en-US" sz="2000" b="1" i="0" u="none" strike="noStrike" baseline="0" dirty="0">
                <a:latin typeface="Times New Roman" panose="02020603050405020304" pitchFamily="18" charset="0"/>
              </a:rPr>
              <a:t>X:</a:t>
            </a: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C93E3B-76E8-43D7-BFFB-A33036238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636" y="4325047"/>
            <a:ext cx="6842621" cy="136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68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4DE5E8-C080-45A4-B2F4-8FE7D8F8E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4" name="Color Cover">
              <a:extLst>
                <a:ext uri="{FF2B5EF4-FFF2-40B4-BE49-F238E27FC236}">
                  <a16:creationId xmlns:a16="http://schemas.microsoft.com/office/drawing/2014/main" id="{1FAC8321-8295-4F58-80B8-C1A774606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 Cover">
              <a:extLst>
                <a:ext uri="{FF2B5EF4-FFF2-40B4-BE49-F238E27FC236}">
                  <a16:creationId xmlns:a16="http://schemas.microsoft.com/office/drawing/2014/main" id="{2BE89D78-556E-4C9E-A234-78B085023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A28EBCD-582B-4E3B-AB95-15EA16034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8" name="Color">
              <a:extLst>
                <a:ext uri="{FF2B5EF4-FFF2-40B4-BE49-F238E27FC236}">
                  <a16:creationId xmlns:a16="http://schemas.microsoft.com/office/drawing/2014/main" id="{49E29E18-2832-4FBD-901C-97986DBD0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7327E470-287A-4E1E-8A04-A3596DBD9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BC974F4B-E992-B2D8-1D1C-F7338F392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050" y="593888"/>
            <a:ext cx="4399490" cy="2078758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18AA9874-0A51-57DC-106C-12DAD5600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900" y="2900473"/>
            <a:ext cx="5859051" cy="109514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7" cy="6858000"/>
            <a:chOff x="0" y="0"/>
            <a:chExt cx="12188952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194FEA-191A-003B-C141-627E00F2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72" y="346784"/>
            <a:ext cx="4044341" cy="27544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 dirty="0">
                <a:solidFill>
                  <a:schemeClr val="bg1"/>
                </a:solidFill>
              </a:rPr>
              <a:t>A Multiple-Input Single Output (MISO) System</a:t>
            </a:r>
          </a:p>
          <a:p>
            <a:endParaRPr lang="en-US" sz="42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8B77B-3F87-7FE9-5911-F88C4E720269}"/>
              </a:ext>
            </a:extLst>
          </p:cNvPr>
          <p:cNvSpPr txBox="1"/>
          <p:nvPr/>
        </p:nvSpPr>
        <p:spPr>
          <a:xfrm>
            <a:off x="616001" y="4382042"/>
            <a:ext cx="7885742" cy="241176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The channel gains ℎ1 and ℎ2 are complex Gaussian random variables with uniformly distributed phases between 0 and 2π. Their sum also follows a Gaussian distribution with a uniform phase, i.e., h=ℎ1+ℎ2. We are facing a similar situation as a simple Rayleigh fading wireless channel! The conclusion is that there is no diversity gain in this setup.</a:t>
            </a:r>
          </a:p>
        </p:txBody>
      </p:sp>
    </p:spTree>
    <p:extLst>
      <p:ext uri="{BB962C8B-B14F-4D97-AF65-F5344CB8AC3E}">
        <p14:creationId xmlns:p14="http://schemas.microsoft.com/office/powerpoint/2010/main" val="343269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0BA1-92A2-FC2C-3DBE-B9A9CCE74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537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303030"/>
                </a:solidFill>
              </a:rPr>
              <a:t>Maximum Ratio Combining (MRC)</a:t>
            </a:r>
            <a:endParaRPr lang="en-US" sz="3600" b="1" dirty="0"/>
          </a:p>
          <a:p>
            <a:endParaRPr lang="en-US" sz="3600" b="1" dirty="0">
              <a:cs typeface="Calibri Light"/>
            </a:endParaRPr>
          </a:p>
        </p:txBody>
      </p:sp>
      <p:pic>
        <p:nvPicPr>
          <p:cNvPr id="4" name="Picture 4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AD7092EB-8648-4AD4-557C-C2B4B3613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63" y="795579"/>
            <a:ext cx="5267508" cy="2627791"/>
          </a:xfrm>
          <a:prstGeom prst="rect">
            <a:avLst/>
          </a:prstGeom>
        </p:spPr>
      </p:pic>
      <p:pic>
        <p:nvPicPr>
          <p:cNvPr id="5" name="Picture 5" descr="A picture containing text, antenna&#10;&#10;Description automatically generated">
            <a:extLst>
              <a:ext uri="{FF2B5EF4-FFF2-40B4-BE49-F238E27FC236}">
                <a16:creationId xmlns:a16="http://schemas.microsoft.com/office/drawing/2014/main" id="{DC40A79F-B92B-6524-6400-CE564A7D4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601" y="3463647"/>
            <a:ext cx="5055678" cy="1475301"/>
          </a:xfrm>
          <a:prstGeom prst="rect">
            <a:avLst/>
          </a:prstGeom>
        </p:spPr>
      </p:pic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7C6A964E-08B9-5332-7DE3-739627C8E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518" y="5295900"/>
            <a:ext cx="2941680" cy="112064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F4AA4EC-841C-F0DC-875D-A981DB22C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971" y="4892020"/>
            <a:ext cx="4914458" cy="4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4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hart, diagram&#10;&#10;Description automatically generated">
            <a:extLst>
              <a:ext uri="{FF2B5EF4-FFF2-40B4-BE49-F238E27FC236}">
                <a16:creationId xmlns:a16="http://schemas.microsoft.com/office/drawing/2014/main" id="{A51DC231-3349-F523-E810-BF6EAF936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83" y="497340"/>
            <a:ext cx="5355771" cy="346257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9DE15AB-19E2-4C83-7AAB-86CFFF3C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537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303030"/>
                </a:solidFill>
              </a:rPr>
              <a:t>Maximum Ratio Combining (MRC)</a:t>
            </a:r>
            <a:endParaRPr lang="en-US" sz="3600" b="1" dirty="0"/>
          </a:p>
          <a:p>
            <a:endParaRPr lang="en-US" sz="3600" b="1" dirty="0"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AB812-B398-5E6F-F8CF-CFE36DA22251}"/>
              </a:ext>
            </a:extLst>
          </p:cNvPr>
          <p:cNvSpPr txBox="1"/>
          <p:nvPr/>
        </p:nvSpPr>
        <p:spPr>
          <a:xfrm>
            <a:off x="667266" y="4294856"/>
            <a:ext cx="829491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374151"/>
                </a:solidFill>
                <a:latin typeface="Söhne"/>
              </a:rPr>
              <a:t>The weight factor for each antenna is calculated as follows:</a:t>
            </a:r>
          </a:p>
          <a:p>
            <a:r>
              <a:rPr lang="en-US" sz="2000" dirty="0">
                <a:solidFill>
                  <a:srgbClr val="374151"/>
                </a:solidFill>
                <a:latin typeface="Söhne"/>
              </a:rPr>
              <a:t>w = h* / (σ^2 + n^2)</a:t>
            </a:r>
          </a:p>
          <a:p>
            <a:r>
              <a:rPr lang="en-US" sz="2000" dirty="0">
                <a:solidFill>
                  <a:srgbClr val="374151"/>
                </a:solidFill>
                <a:latin typeface="Söhne"/>
              </a:rPr>
              <a:t>where:</a:t>
            </a:r>
          </a:p>
          <a:p>
            <a:pPr>
              <a:buChar char="•"/>
            </a:pPr>
            <a:r>
              <a:rPr lang="en-US" sz="2000" dirty="0">
                <a:solidFill>
                  <a:srgbClr val="374151"/>
                </a:solidFill>
                <a:latin typeface="Söhne"/>
              </a:rPr>
              <a:t>w is the weight factor for the antenna</a:t>
            </a:r>
          </a:p>
          <a:p>
            <a:pPr>
              <a:buChar char="•"/>
            </a:pPr>
            <a:r>
              <a:rPr lang="en-US" sz="2000" dirty="0">
                <a:solidFill>
                  <a:srgbClr val="374151"/>
                </a:solidFill>
                <a:latin typeface="Söhne"/>
              </a:rPr>
              <a:t>h* is the complex conjugate of the received signal from the antenna</a:t>
            </a:r>
          </a:p>
          <a:p>
            <a:pPr>
              <a:buChar char="•"/>
            </a:pPr>
            <a:r>
              <a:rPr lang="en-US" sz="2000" dirty="0">
                <a:solidFill>
                  <a:srgbClr val="374151"/>
                </a:solidFill>
                <a:latin typeface="Söhne"/>
              </a:rPr>
              <a:t>σ^2 is the noise power</a:t>
            </a:r>
          </a:p>
          <a:p>
            <a:pPr>
              <a:buChar char="•"/>
            </a:pPr>
            <a:r>
              <a:rPr lang="en-US" sz="2000" dirty="0">
                <a:solidFill>
                  <a:srgbClr val="374151"/>
                </a:solidFill>
                <a:latin typeface="Söhne"/>
              </a:rPr>
              <a:t>n^2 is the interference power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6D3B7-110D-4657-8014-904385B9A3C9}"/>
              </a:ext>
            </a:extLst>
          </p:cNvPr>
          <p:cNvSpPr txBox="1"/>
          <p:nvPr/>
        </p:nvSpPr>
        <p:spPr>
          <a:xfrm>
            <a:off x="5098046" y="3191574"/>
            <a:ext cx="40847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374151"/>
                </a:solidFill>
                <a:latin typeface="Söhne"/>
              </a:rPr>
              <a:t>w_i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= (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SNR_i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)^2 / sum((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SNR_j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)^2)</a:t>
            </a: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72BC25F-3CCC-E6C9-0F2F-62C67198B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979" y="1220685"/>
            <a:ext cx="2743200" cy="122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2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05C38-C98B-A1CE-8525-15A46FB30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295" y="82686"/>
            <a:ext cx="7886700" cy="522374"/>
          </a:xfrm>
        </p:spPr>
        <p:txBody>
          <a:bodyPr>
            <a:normAutofit fontScale="90000"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Alamouti</a:t>
            </a:r>
            <a:r>
              <a:rPr lang="en-US" sz="36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 code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C04ED5A9-1AB0-D4E4-118D-363FEFC56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70" y="1460489"/>
            <a:ext cx="638175" cy="24765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F90B677D-9FE0-FB10-A202-EF1C3D052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81" y="1787756"/>
            <a:ext cx="581025" cy="228600"/>
          </a:xfrm>
          <a:prstGeom prst="rect">
            <a:avLst/>
          </a:prstGeom>
        </p:spPr>
      </p:pic>
      <p:pic>
        <p:nvPicPr>
          <p:cNvPr id="9" name="Picture 9" descr="Diagram, schematic&#10;&#10;Description automatically generated">
            <a:extLst>
              <a:ext uri="{FF2B5EF4-FFF2-40B4-BE49-F238E27FC236}">
                <a16:creationId xmlns:a16="http://schemas.microsoft.com/office/drawing/2014/main" id="{D3332E37-D17A-6F23-CF80-D00D5CAE8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453" y="960315"/>
            <a:ext cx="7367566" cy="531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692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8F63-73BA-30E3-9236-A30339FE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519" y="126817"/>
            <a:ext cx="7886700" cy="654768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Alamouti</a:t>
            </a:r>
            <a:r>
              <a:rPr lang="en-US" sz="36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 code</a:t>
            </a:r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0DBA5958-F8C6-1DA6-545E-C9EBA543C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69" y="882457"/>
            <a:ext cx="7527030" cy="2401079"/>
          </a:xfrm>
          <a:prstGeom prst="rect">
            <a:avLst/>
          </a:prstGeom>
        </p:spPr>
      </p:pic>
      <p:pic>
        <p:nvPicPr>
          <p:cNvPr id="5" name="Picture 5" descr="Shape&#10;&#10;Description automatically generated">
            <a:extLst>
              <a:ext uri="{FF2B5EF4-FFF2-40B4-BE49-F238E27FC236}">
                <a16:creationId xmlns:a16="http://schemas.microsoft.com/office/drawing/2014/main" id="{4F7C0A87-9B40-0003-BAF3-6CF9B6E65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609" y="3112249"/>
            <a:ext cx="3493431" cy="1683825"/>
          </a:xfrm>
          <a:prstGeom prst="rect">
            <a:avLst/>
          </a:prstGeom>
        </p:spPr>
      </p:pic>
      <p:pic>
        <p:nvPicPr>
          <p:cNvPr id="6" name="Picture 6" descr="Text, letter&#10;&#10;Description automatically generated">
            <a:extLst>
              <a:ext uri="{FF2B5EF4-FFF2-40B4-BE49-F238E27FC236}">
                <a16:creationId xmlns:a16="http://schemas.microsoft.com/office/drawing/2014/main" id="{5D0F2665-E429-1388-3DCB-1C1D0BD01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45" y="4196957"/>
            <a:ext cx="4305446" cy="18180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6BB0CB-5DDE-5B4C-5F4D-8F26A635205A}"/>
              </a:ext>
            </a:extLst>
          </p:cNvPr>
          <p:cNvSpPr txBox="1"/>
          <p:nvPr/>
        </p:nvSpPr>
        <p:spPr>
          <a:xfrm>
            <a:off x="384824" y="3456361"/>
            <a:ext cx="43054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Assuming that fading is constant across two consecutive symbols</a:t>
            </a:r>
          </a:p>
        </p:txBody>
      </p:sp>
      <p:pic>
        <p:nvPicPr>
          <p:cNvPr id="8" name="Picture 8" descr="Text&#10;&#10;Description automatically generated">
            <a:extLst>
              <a:ext uri="{FF2B5EF4-FFF2-40B4-BE49-F238E27FC236}">
                <a16:creationId xmlns:a16="http://schemas.microsoft.com/office/drawing/2014/main" id="{8AD50C77-AD38-DCF2-EE15-491AB9F4A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4524" y="5105945"/>
            <a:ext cx="3281601" cy="10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6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52601-C760-BD75-2170-A7BEF101D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9017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Arial" panose="020B0604020202020204" pitchFamily="34" charset="0"/>
              </a:rPr>
              <a:t>Applications of MIMO technology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A39D5-E5BF-1A70-B7AD-566CF47BB6FB}"/>
              </a:ext>
            </a:extLst>
          </p:cNvPr>
          <p:cNvSpPr txBox="1"/>
          <p:nvPr/>
        </p:nvSpPr>
        <p:spPr>
          <a:xfrm>
            <a:off x="1034142" y="142641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</a:rPr>
              <a:t>3GPP – Long Term Evolution (LTE)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BC32AD-84CE-31CF-6770-811A3DBE159F}"/>
              </a:ext>
            </a:extLst>
          </p:cNvPr>
          <p:cNvSpPr txBox="1"/>
          <p:nvPr/>
        </p:nvSpPr>
        <p:spPr>
          <a:xfrm>
            <a:off x="1034142" y="20033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S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atellite </a:t>
            </a:r>
            <a:r>
              <a:rPr lang="en-US" dirty="0">
                <a:latin typeface="Arial" panose="020B0604020202020204" pitchFamily="34" charset="0"/>
              </a:rPr>
              <a:t>C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ommunication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FDBF9-489E-4704-555C-B10997A580AC}"/>
              </a:ext>
            </a:extLst>
          </p:cNvPr>
          <p:cNvSpPr txBox="1"/>
          <p:nvPr/>
        </p:nvSpPr>
        <p:spPr>
          <a:xfrm>
            <a:off x="1034142" y="2586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</a:rPr>
              <a:t>IEEE 802.16e / WiMAX Standard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8FD07-89E8-7C70-FDA6-DBAA13D0CF16}"/>
              </a:ext>
            </a:extLst>
          </p:cNvPr>
          <p:cNvSpPr txBox="1"/>
          <p:nvPr/>
        </p:nvSpPr>
        <p:spPr>
          <a:xfrm>
            <a:off x="1034142" y="33512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</a:rPr>
              <a:t>High frequency (HF) Band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89A17F-B0D3-3E62-068B-EC819D2E78C9}"/>
              </a:ext>
            </a:extLst>
          </p:cNvPr>
          <p:cNvSpPr txBox="1"/>
          <p:nvPr/>
        </p:nvSpPr>
        <p:spPr>
          <a:xfrm>
            <a:off x="1034142" y="41159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</a:rPr>
              <a:t>IEEE 802.11n channel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25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f8f3b6-16be-436e-bf2d-dedadcb7712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59F6BB5A7D914C9B3EBC96A6E21F77" ma:contentTypeVersion="14" ma:contentTypeDescription="Create a new document." ma:contentTypeScope="" ma:versionID="fda4ccff6591671c81d9f7567ae569d0">
  <xsd:schema xmlns:xsd="http://www.w3.org/2001/XMLSchema" xmlns:xs="http://www.w3.org/2001/XMLSchema" xmlns:p="http://schemas.microsoft.com/office/2006/metadata/properties" xmlns:ns3="76f8f3b6-16be-436e-bf2d-dedadcb77122" xmlns:ns4="d8514a62-9400-4177-9856-d6f8215948cc" targetNamespace="http://schemas.microsoft.com/office/2006/metadata/properties" ma:root="true" ma:fieldsID="5dd2106159393f1d8dbedbc6d6b27a07" ns3:_="" ns4:_="">
    <xsd:import namespace="76f8f3b6-16be-436e-bf2d-dedadcb77122"/>
    <xsd:import namespace="d8514a62-9400-4177-9856-d6f8215948c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f8f3b6-16be-436e-bf2d-dedadcb771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514a62-9400-4177-9856-d6f8215948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1BC10A-AC43-4888-BBEF-22D31D87E8F1}">
  <ds:schemaRefs>
    <ds:schemaRef ds:uri="http://purl.org/dc/dcmitype/"/>
    <ds:schemaRef ds:uri="http://schemas.microsoft.com/office/infopath/2007/PartnerControls"/>
    <ds:schemaRef ds:uri="76f8f3b6-16be-436e-bf2d-dedadcb77122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d8514a62-9400-4177-9856-d6f8215948cc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469DD6B-0C77-4907-9AFC-74AC6720B2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f8f3b6-16be-436e-bf2d-dedadcb77122"/>
    <ds:schemaRef ds:uri="d8514a62-9400-4177-9856-d6f8215948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F01DB4-B638-40AA-A96B-CDB0BCBB8F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2297</TotalTime>
  <Words>848</Words>
  <Application>Microsoft Office PowerPoint</Application>
  <PresentationFormat>On-screen Show (4:3)</PresentationFormat>
  <Paragraphs>81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ＭＳ Ｐゴシック</vt:lpstr>
      <vt:lpstr>Arial</vt:lpstr>
      <vt:lpstr>Calibri</vt:lpstr>
      <vt:lpstr>Calibri Light</vt:lpstr>
      <vt:lpstr>Cambria Math</vt:lpstr>
      <vt:lpstr>Myriad Pro</vt:lpstr>
      <vt:lpstr>Söhne</vt:lpstr>
      <vt:lpstr>Tahoma</vt:lpstr>
      <vt:lpstr>Times New Roman</vt:lpstr>
      <vt:lpstr>Verdana</vt:lpstr>
      <vt:lpstr>Office Theme</vt:lpstr>
      <vt:lpstr>MIMO-INTRODUCTION </vt:lpstr>
      <vt:lpstr>Introduction</vt:lpstr>
      <vt:lpstr>Diversity Gain</vt:lpstr>
      <vt:lpstr>Multi-Antenna Systems</vt:lpstr>
      <vt:lpstr>MIMO</vt:lpstr>
      <vt:lpstr>MIMO</vt:lpstr>
      <vt:lpstr>Generalized MIMO wireless communication system</vt:lpstr>
      <vt:lpstr>Why MIMO?</vt:lpstr>
      <vt:lpstr>PowerPoint Presentation</vt:lpstr>
      <vt:lpstr>PowerPoint Presentation</vt:lpstr>
      <vt:lpstr>Example 1</vt:lpstr>
      <vt:lpstr>Example 2</vt:lpstr>
      <vt:lpstr>Representation of MIMO channel</vt:lpstr>
      <vt:lpstr>Representation of MIMO channel</vt:lpstr>
      <vt:lpstr>Example 3</vt:lpstr>
      <vt:lpstr>A Multiple-Input Single Output (MISO) System </vt:lpstr>
      <vt:lpstr>Maximum Ratio Combining (MRC) </vt:lpstr>
      <vt:lpstr>Maximum Ratio Combining (MRC) </vt:lpstr>
      <vt:lpstr>Alamouti code</vt:lpstr>
      <vt:lpstr>Alamouti code</vt:lpstr>
      <vt:lpstr>Applications of MIMO technology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Abrar, Muhammad</dc:creator>
  <cp:lastModifiedBy>Abrar, Muhammad</cp:lastModifiedBy>
  <cp:revision>362</cp:revision>
  <dcterms:created xsi:type="dcterms:W3CDTF">2023-04-08T04:37:24Z</dcterms:created>
  <dcterms:modified xsi:type="dcterms:W3CDTF">2025-11-23T15:08:08Z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0x010100BB59F6BB5A7D914C9B3EBC96A6E21F77</vt:lpwstr>
  </property>
</Properties>
</file>