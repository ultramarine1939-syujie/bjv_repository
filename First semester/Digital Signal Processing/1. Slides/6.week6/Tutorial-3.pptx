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339" r:id="rId5"/>
    <p:sldId id="340" r:id="rId6"/>
    <p:sldId id="343" r:id="rId7"/>
    <p:sldId id="344" r:id="rId8"/>
    <p:sldId id="345" r:id="rId9"/>
    <p:sldId id="346" r:id="rId10"/>
    <p:sldId id="341" r:id="rId11"/>
    <p:sldId id="347" r:id="rId12"/>
    <p:sldId id="348" r:id="rId13"/>
    <p:sldId id="349" r:id="rId14"/>
    <p:sldId id="350" r:id="rId15"/>
    <p:sldId id="34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76498" autoAdjust="0"/>
  </p:normalViewPr>
  <p:slideViewPr>
    <p:cSldViewPr snapToGrid="0">
      <p:cViewPr varScale="1">
        <p:scale>
          <a:sx n="87" d="100"/>
          <a:sy n="87" d="100"/>
        </p:scale>
        <p:origin x="29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A2B23-253C-4CB3-BBBB-82EDD4515B2E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31E985-387E-4400-B108-EA1B51C5B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5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charset="-128"/>
            </a:endParaRP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47E1331-397A-4A4B-A652-1EAF84AD9D1F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32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5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3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9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2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2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13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5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7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0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69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8860F-9BD5-42E1-91FE-31F6B999C27B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943F1-416A-4DD9-B254-68C50F22A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6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mailto:i.chatzigeorgiou@lancaster.ac.uk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SSC-slide-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1821912" y="4403909"/>
            <a:ext cx="4697322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US" dirty="0">
                <a:latin typeface="Arial"/>
                <a:ea typeface="ヒラギノ角ゴ Pro W3"/>
                <a:cs typeface="Arial"/>
              </a:rPr>
              <a:t>Dr Muhammad Abrar (Dr. MAB)</a:t>
            </a:r>
            <a:endParaRPr lang="en-US" dirty="0"/>
          </a:p>
          <a:p>
            <a:pPr eaLnBrk="1" hangingPunct="1">
              <a:spcBef>
                <a:spcPts val="0"/>
              </a:spcBef>
              <a:buClr>
                <a:schemeClr val="tx1"/>
              </a:buClr>
            </a:pP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/>
              </a:rPr>
              <a:t>abrar</a:t>
            </a:r>
            <a:r>
              <a:rPr lang="en-GB" sz="1800" dirty="0">
                <a:solidFill>
                  <a:srgbClr val="000000"/>
                </a:solidFill>
                <a:latin typeface="Arial"/>
                <a:ea typeface="ヒラギノ角ゴ Pro W3"/>
                <a:cs typeface="ヒラギノ角ゴ Pro W3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@lancaster.ac.uk</a:t>
            </a:r>
            <a:endParaRPr lang="en-US" sz="1800" dirty="0">
              <a:latin typeface="Arial"/>
              <a:ea typeface="ヒラギノ角ゴ Pro W3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908175" y="1893316"/>
            <a:ext cx="5976194" cy="1967732"/>
          </a:xfrm>
        </p:spPr>
        <p:txBody>
          <a:bodyPr/>
          <a:lstStyle/>
          <a:p>
            <a:pPr algn="l"/>
            <a:r>
              <a:rPr lang="en-US" altLang="en-US" b="1" dirty="0"/>
              <a:t>Tutorial</a:t>
            </a:r>
            <a:endParaRPr lang="en-US" sz="3600" b="1" dirty="0">
              <a:solidFill>
                <a:schemeClr val="accent5">
                  <a:lumMod val="25000"/>
                </a:schemeClr>
              </a:solidFill>
              <a:latin typeface="Myriad Pro" charset="0"/>
            </a:endParaRPr>
          </a:p>
        </p:txBody>
      </p:sp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1908175" y="549275"/>
            <a:ext cx="4163319" cy="1031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40" tIns="45720" rIns="91440" bIns="4572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CNSCC.405</a:t>
            </a:r>
            <a:endParaRPr lang="en-US" dirty="0"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800" dirty="0">
                <a:latin typeface="Arial"/>
                <a:ea typeface="ヒラギノ角ゴ Pro W3"/>
                <a:cs typeface="Arial"/>
              </a:rPr>
              <a:t>Digital Signal Processing</a:t>
            </a:r>
            <a:endParaRPr lang="en-US" dirty="0">
              <a:cs typeface="Arial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03200" y="194733"/>
            <a:ext cx="1312334" cy="821267"/>
            <a:chOff x="203200" y="194733"/>
            <a:chExt cx="1312334" cy="821267"/>
          </a:xfrm>
        </p:grpSpPr>
        <p:sp>
          <p:nvSpPr>
            <p:cNvPr id="16" name="Rectangle 15"/>
            <p:cNvSpPr/>
            <p:nvPr userDrawn="1"/>
          </p:nvSpPr>
          <p:spPr bwMode="auto">
            <a:xfrm>
              <a:off x="203200" y="194733"/>
              <a:ext cx="1312334" cy="82126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ヒラギノ角ゴ Pro W3" charset="-128"/>
              </a:endParaRPr>
            </a:p>
          </p:txBody>
        </p:sp>
        <p:pic>
          <p:nvPicPr>
            <p:cNvPr id="17" name="Picture 2" descr="\\lancs\homes\05\chatzige\My Desktop\bg-logo.png"/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480" y="456159"/>
              <a:ext cx="1082502" cy="338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28"/>
    </mc:Choice>
    <mc:Fallback xmlns="">
      <p:transition spd="slow" advTm="3592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FB48-C120-2C5D-E638-D032E081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046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117E1-8532-2296-67A4-5C815F51B934}"/>
              </a:ext>
            </a:extLst>
          </p:cNvPr>
          <p:cNvSpPr txBox="1"/>
          <p:nvPr/>
        </p:nvSpPr>
        <p:spPr>
          <a:xfrm>
            <a:off x="253387" y="1035587"/>
            <a:ext cx="870332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lphaLcParenR"/>
            </a:pPr>
            <a:r>
              <a:rPr lang="en-US" sz="2400" dirty="0"/>
              <a:t>Explain how using antenna diversity helps wireless systems mitigate fading, and contrast this with how spatial multiplexing enhances spectral efficiency.</a:t>
            </a:r>
          </a:p>
          <a:p>
            <a:endParaRPr lang="en-US" sz="2400" dirty="0"/>
          </a:p>
          <a:p>
            <a:r>
              <a:rPr lang="en-US" sz="2400" dirty="0"/>
              <a:t>b)	 Define time diversity and frequency diversity. Provide an  	example of a communication technique that relies on each 	type.</a:t>
            </a:r>
          </a:p>
          <a:p>
            <a:endParaRPr lang="en-US" sz="2400" dirty="0"/>
          </a:p>
          <a:p>
            <a:r>
              <a:rPr lang="en-US" sz="2400" dirty="0"/>
              <a:t>c) 	A 2 × 4 MIMO system experiences an SNR of 15 dB on every 	receive antenna and occupies a 10 MHz bandwidth. Estimate the 	total data rate assuming two parallel spatial 	streams.</a:t>
            </a:r>
          </a:p>
          <a:p>
            <a:endParaRPr lang="en-US" sz="2400" dirty="0"/>
          </a:p>
          <a:p>
            <a:r>
              <a:rPr lang="en-US" sz="2400" dirty="0"/>
              <a:t>d)	 Using the same SNR and bandwidth, determine the capacity 	of 	a SISO link, and briefly state why the capacities 	differ.</a:t>
            </a:r>
          </a:p>
        </p:txBody>
      </p:sp>
    </p:spTree>
    <p:extLst>
      <p:ext uri="{BB962C8B-B14F-4D97-AF65-F5344CB8AC3E}">
        <p14:creationId xmlns:p14="http://schemas.microsoft.com/office/powerpoint/2010/main" val="2356634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FB48-C120-2C5D-E638-D032E081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046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117E1-8532-2296-67A4-5C815F51B934}"/>
              </a:ext>
            </a:extLst>
          </p:cNvPr>
          <p:cNvSpPr txBox="1"/>
          <p:nvPr/>
        </p:nvSpPr>
        <p:spPr>
          <a:xfrm>
            <a:off x="253387" y="1035587"/>
            <a:ext cx="87033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lphaLcParenR"/>
            </a:pPr>
            <a:r>
              <a:rPr lang="en-US" sz="2400" dirty="0"/>
              <a:t>Explain how using antenna diversity helps wireless systems mitigate fading, and contrast this with how spatial multiplexing enhances spectral efficiency.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BA9D4-F47F-C06D-EAC4-0BE777376286}"/>
              </a:ext>
            </a:extLst>
          </p:cNvPr>
          <p:cNvSpPr txBox="1"/>
          <p:nvPr/>
        </p:nvSpPr>
        <p:spPr>
          <a:xfrm>
            <a:off x="628650" y="2544593"/>
            <a:ext cx="37560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Antenna (spatial) diversity: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transmit/receive over multiple independent fading paths so that the probability all paths are in deep fade is reduced.</a:t>
            </a:r>
          </a:p>
          <a:p>
            <a:endParaRPr lang="en-US" dirty="0"/>
          </a:p>
          <a:p>
            <a:r>
              <a:rPr lang="en-US" dirty="0"/>
              <a:t>This reduces fading/outage probability and improves link reliability (lower BER for same SNR). </a:t>
            </a:r>
          </a:p>
          <a:p>
            <a:endParaRPr lang="en-US" dirty="0"/>
          </a:p>
          <a:p>
            <a:r>
              <a:rPr lang="en-US" dirty="0"/>
              <a:t>Typical techniques: receive combining, selection combining, space-time coding.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1DBA7-6BD0-FAB7-EABD-7C6DBB248BAA}"/>
              </a:ext>
            </a:extLst>
          </p:cNvPr>
          <p:cNvSpPr txBox="1"/>
          <p:nvPr/>
        </p:nvSpPr>
        <p:spPr>
          <a:xfrm>
            <a:off x="4572000" y="2544593"/>
            <a:ext cx="39433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Spatial multiplexing</a:t>
            </a:r>
            <a:r>
              <a:rPr lang="en-US" b="1" dirty="0"/>
              <a:t>:</a:t>
            </a:r>
            <a:r>
              <a:rPr lang="en-US" dirty="0"/>
              <a:t> use multiple transmit antennas to send different data streams simultaneously over the same time.</a:t>
            </a:r>
          </a:p>
          <a:p>
            <a:endParaRPr lang="en-US" dirty="0"/>
          </a:p>
          <a:p>
            <a:r>
              <a:rPr lang="en-US" dirty="0"/>
              <a:t>If the channel supports multiple independent spatial modes, this increases spectral efficiency (throughput) roughly proportional to the number of independent spatial streams.</a:t>
            </a:r>
          </a:p>
        </p:txBody>
      </p:sp>
    </p:spTree>
    <p:extLst>
      <p:ext uri="{BB962C8B-B14F-4D97-AF65-F5344CB8AC3E}">
        <p14:creationId xmlns:p14="http://schemas.microsoft.com/office/powerpoint/2010/main" val="154540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FB48-C120-2C5D-E638-D032E081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046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117E1-8532-2296-67A4-5C815F51B934}"/>
              </a:ext>
            </a:extLst>
          </p:cNvPr>
          <p:cNvSpPr txBox="1"/>
          <p:nvPr/>
        </p:nvSpPr>
        <p:spPr>
          <a:xfrm>
            <a:off x="253387" y="1035587"/>
            <a:ext cx="87033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b)	 Define time diversity and frequency diversity..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8CCA2-F2C5-9ACE-27EC-B18F63C78770}"/>
              </a:ext>
            </a:extLst>
          </p:cNvPr>
          <p:cNvSpPr txBox="1"/>
          <p:nvPr/>
        </p:nvSpPr>
        <p:spPr>
          <a:xfrm>
            <a:off x="754654" y="2406094"/>
            <a:ext cx="331056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Time diversity: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spreading coded symbols across different time instants so that a single fading burst affects only part of the coded block. 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Example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Time-hopping spread spectrum (TH-SS).</a:t>
            </a:r>
          </a:p>
          <a:p>
            <a:endParaRPr lang="en-US" dirty="0"/>
          </a:p>
          <a:p>
            <a:r>
              <a:rPr lang="en-US" dirty="0"/>
              <a:t>Interleaved block coding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10959-3222-A252-44CA-0A6AA4D7048E}"/>
              </a:ext>
            </a:extLst>
          </p:cNvPr>
          <p:cNvSpPr txBox="1"/>
          <p:nvPr/>
        </p:nvSpPr>
        <p:spPr>
          <a:xfrm>
            <a:off x="4472847" y="2406094"/>
            <a:ext cx="36025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Frequency diversity: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transmitting the same information over different frequency sub-bands (which fade independently). 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Example</a:t>
            </a:r>
            <a:r>
              <a:rPr lang="en-US" dirty="0"/>
              <a:t>: </a:t>
            </a:r>
          </a:p>
          <a:p>
            <a:endParaRPr lang="en-US" dirty="0"/>
          </a:p>
          <a:p>
            <a:r>
              <a:rPr lang="en-US" dirty="0"/>
              <a:t>OFDM with subcarrier interleaving or frequency hopping (Bluetooth / GSM frequency hopping); different subcarriers experience different fades, so coding/interleaving across subcarriers yields diversity.</a:t>
            </a:r>
          </a:p>
        </p:txBody>
      </p:sp>
    </p:spTree>
    <p:extLst>
      <p:ext uri="{BB962C8B-B14F-4D97-AF65-F5344CB8AC3E}">
        <p14:creationId xmlns:p14="http://schemas.microsoft.com/office/powerpoint/2010/main" val="41009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FB48-C120-2C5D-E638-D032E081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046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117E1-8532-2296-67A4-5C815F51B934}"/>
              </a:ext>
            </a:extLst>
          </p:cNvPr>
          <p:cNvSpPr txBox="1"/>
          <p:nvPr/>
        </p:nvSpPr>
        <p:spPr>
          <a:xfrm>
            <a:off x="253387" y="1035587"/>
            <a:ext cx="87033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c) 	A 2 × 4 MIMO system experiences an SNR of 15 dB on every 	receive antenna and occupies a 10 MHz bandwidth. Estimate the 	total data rate assuming two parallel spatial 	streams.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1F0413-FF62-B335-137D-3F224383322E}"/>
              </a:ext>
            </a:extLst>
          </p:cNvPr>
          <p:cNvSpPr txBox="1"/>
          <p:nvPr/>
        </p:nvSpPr>
        <p:spPr>
          <a:xfrm>
            <a:off x="3602514" y="3247923"/>
            <a:ext cx="2732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MIMO-  100.56 Mbps</a:t>
            </a:r>
            <a:r>
              <a:rPr lang="en-US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748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FB48-C120-2C5D-E638-D032E081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046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4117E1-8532-2296-67A4-5C815F51B934}"/>
              </a:ext>
            </a:extLst>
          </p:cNvPr>
          <p:cNvSpPr txBox="1"/>
          <p:nvPr/>
        </p:nvSpPr>
        <p:spPr>
          <a:xfrm>
            <a:off x="253387" y="1035587"/>
            <a:ext cx="87033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d)	 Using the same SNR and bandwidth, determine the capacity of 	a SISO link, and briefly state why the capacities 	differ.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055B9-2A96-32C5-C239-F71327AD97FC}"/>
              </a:ext>
            </a:extLst>
          </p:cNvPr>
          <p:cNvSpPr txBox="1"/>
          <p:nvPr/>
        </p:nvSpPr>
        <p:spPr>
          <a:xfrm>
            <a:off x="925416" y="2889818"/>
            <a:ext cx="75899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Why they differ: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Spatial multiplexing (2 streams) doubles the number of independent data streams when the channel supports them, so capacity roughly doubles compared with SISO at the same SNR per receive antenna </a:t>
            </a:r>
          </a:p>
          <a:p>
            <a:endParaRPr lang="en-US" sz="2400" dirty="0"/>
          </a:p>
          <a:p>
            <a:r>
              <a:rPr lang="en-US" sz="2400" b="1" dirty="0">
                <a:highlight>
                  <a:srgbClr val="FFFF00"/>
                </a:highlight>
              </a:rPr>
              <a:t>(assuming uncorrelated channels and sufficient richness).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2DEF74-4F75-B93E-61C3-A980DB71FE91}"/>
              </a:ext>
            </a:extLst>
          </p:cNvPr>
          <p:cNvSpPr txBox="1"/>
          <p:nvPr/>
        </p:nvSpPr>
        <p:spPr>
          <a:xfrm>
            <a:off x="1008044" y="219353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SISO-  50.28 Mbps</a:t>
            </a:r>
            <a:r>
              <a:rPr lang="en-US" sz="2400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833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1B86-F3B4-0178-4A58-623C1C71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7046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A6EB2-C047-2112-9E31-8BEF8A4198F6}"/>
              </a:ext>
            </a:extLst>
          </p:cNvPr>
          <p:cNvSpPr txBox="1"/>
          <p:nvPr/>
        </p:nvSpPr>
        <p:spPr>
          <a:xfrm>
            <a:off x="396607" y="1169597"/>
            <a:ext cx="844993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lphaLcParenR"/>
            </a:pPr>
            <a:r>
              <a:rPr lang="en-US" sz="2400" dirty="0"/>
              <a:t>Describe what is meant by MIMO channel capacity and discuss the physical meaning behind this theoretical limit.</a:t>
            </a:r>
          </a:p>
          <a:p>
            <a:pPr marL="457200" indent="-457200">
              <a:buAutoNum type="alphaLcParenR"/>
            </a:pPr>
            <a:endParaRPr lang="en-US" sz="2400" dirty="0"/>
          </a:p>
          <a:p>
            <a:r>
              <a:rPr lang="en-US" sz="2400" dirty="0"/>
              <a:t>b) 	Explain how adding more transmit and receive antennas 	generally affects system throughput. Include at least two real-	world constraints that may prevent these gains from being fully 	realized.</a:t>
            </a:r>
          </a:p>
          <a:p>
            <a:endParaRPr lang="en-US" sz="2400" dirty="0"/>
          </a:p>
          <a:p>
            <a:r>
              <a:rPr lang="en-US" sz="2400" dirty="0"/>
              <a:t>c) 	Identify three key factors that influence the achievable 	capacity of a multi-antenna wireless channel.</a:t>
            </a:r>
          </a:p>
          <a:p>
            <a:endParaRPr lang="en-US" sz="2400" dirty="0"/>
          </a:p>
          <a:p>
            <a:r>
              <a:rPr lang="en-US" sz="2400" dirty="0"/>
              <a:t>d) 	Discuss the diversity–multiplexing trade-off, and describe a 	scenario where a designer would deliberately choose:</a:t>
            </a:r>
            <a:br>
              <a:rPr lang="en-US" sz="2400" dirty="0"/>
            </a:br>
            <a:r>
              <a:rPr lang="en-US" sz="2400" dirty="0"/>
              <a:t>  		• more diversity gain, and</a:t>
            </a:r>
            <a:br>
              <a:rPr lang="en-US" sz="2400" dirty="0"/>
            </a:br>
            <a:r>
              <a:rPr lang="en-US" sz="2400" dirty="0"/>
              <a:t>  		• more multiplexing gain.</a:t>
            </a:r>
          </a:p>
        </p:txBody>
      </p:sp>
    </p:spTree>
    <p:extLst>
      <p:ext uri="{BB962C8B-B14F-4D97-AF65-F5344CB8AC3E}">
        <p14:creationId xmlns:p14="http://schemas.microsoft.com/office/powerpoint/2010/main" val="485317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1B86-F3B4-0178-4A58-623C1C71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98" y="166824"/>
            <a:ext cx="7886700" cy="67046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A6EB2-C047-2112-9E31-8BEF8A4198F6}"/>
              </a:ext>
            </a:extLst>
          </p:cNvPr>
          <p:cNvSpPr txBox="1"/>
          <p:nvPr/>
        </p:nvSpPr>
        <p:spPr>
          <a:xfrm>
            <a:off x="347031" y="840922"/>
            <a:ext cx="84499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lphaLcParenR"/>
            </a:pPr>
            <a:r>
              <a:rPr lang="en-US" sz="2400" dirty="0"/>
              <a:t>Describe what is meant by MIMO channel capacity and discuss the physical meaning behind this theoretical limit.</a:t>
            </a:r>
          </a:p>
          <a:p>
            <a:pPr marL="457200" indent="-457200">
              <a:buAutoNum type="alphaLcParenR"/>
            </a:pP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333FE-3BC7-9CB0-EE42-5F84CCE59D76}"/>
              </a:ext>
            </a:extLst>
          </p:cNvPr>
          <p:cNvSpPr txBox="1"/>
          <p:nvPr/>
        </p:nvSpPr>
        <p:spPr>
          <a:xfrm>
            <a:off x="529498" y="1797529"/>
            <a:ext cx="811874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highlight>
                  <a:srgbClr val="FFFF00"/>
                </a:highlight>
              </a:rPr>
              <a:t>MIMO Channel Capacity </a:t>
            </a:r>
          </a:p>
          <a:p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The theoretical maximum data rate (bits/s/Hz or bits/s)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Can be achieved over a multi-antenna channel with arbitrarily small error probability, given a channel realization (or statistical description), SNR, and assumptions about channel state information and encoding/decoding.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 Physically it reflects how many independent spatial degrees of freedom (independent eigenmodes) the propagation environment provides and how well the transmitter/receiver exploit them.</a:t>
            </a:r>
          </a:p>
        </p:txBody>
      </p:sp>
    </p:spTree>
    <p:extLst>
      <p:ext uri="{BB962C8B-B14F-4D97-AF65-F5344CB8AC3E}">
        <p14:creationId xmlns:p14="http://schemas.microsoft.com/office/powerpoint/2010/main" val="334952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1B86-F3B4-0178-4A58-623C1C71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5313"/>
            <a:ext cx="7886700" cy="67046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A6EB2-C047-2112-9E31-8BEF8A4198F6}"/>
              </a:ext>
            </a:extLst>
          </p:cNvPr>
          <p:cNvSpPr txBox="1"/>
          <p:nvPr/>
        </p:nvSpPr>
        <p:spPr>
          <a:xfrm>
            <a:off x="347031" y="916209"/>
            <a:ext cx="84499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b) 	Explain how adding more transmit and receive antennas 	generally affects system throughput. Include at least two real-	world constraints that may prevent these gains from being fully 	realized.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3736D-6417-997E-C9DA-BB000CE1E6BA}"/>
              </a:ext>
            </a:extLst>
          </p:cNvPr>
          <p:cNvSpPr txBox="1"/>
          <p:nvPr/>
        </p:nvSpPr>
        <p:spPr>
          <a:xfrm>
            <a:off x="776688" y="2570596"/>
            <a:ext cx="34427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Increasing numbers </a:t>
            </a:r>
            <a:r>
              <a:rPr lang="en-US" sz="2000" dirty="0"/>
              <a:t>of transmit (</a:t>
            </a:r>
            <a:r>
              <a:rPr lang="en-US" sz="2000" dirty="0" err="1"/>
              <a:t>Nt</a:t>
            </a:r>
            <a:r>
              <a:rPr lang="en-US" sz="2000" dirty="0"/>
              <a:t>) and receive (Nr) antennas can increase capacity. </a:t>
            </a:r>
          </a:p>
          <a:p>
            <a:endParaRPr lang="en-US" sz="2000" dirty="0"/>
          </a:p>
          <a:p>
            <a:r>
              <a:rPr lang="en-US" sz="2000" dirty="0"/>
              <a:t>In rich scattering with uncorrelated channels, the number of independent spatial streams grows up to min⁡(</a:t>
            </a:r>
            <a:r>
              <a:rPr lang="en-US" sz="2000" dirty="0" err="1"/>
              <a:t>Nt,Nr</a:t>
            </a:r>
            <a:r>
              <a:rPr lang="en-US" sz="2000" dirty="0"/>
              <a:t>), so capacity scales roughly linearly with that (for multiplexing) under favorable SNR.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68E8C-56AE-9ECC-C38E-F5A9EE62B2D8}"/>
              </a:ext>
            </a:extLst>
          </p:cNvPr>
          <p:cNvSpPr txBox="1"/>
          <p:nvPr/>
        </p:nvSpPr>
        <p:spPr>
          <a:xfrm>
            <a:off x="4814372" y="2846539"/>
            <a:ext cx="40872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Real-world constraints preventing full gains: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pPr>
              <a:buFont typeface="+mj-lt"/>
              <a:buAutoNum type="arabicPeriod"/>
            </a:pPr>
            <a:r>
              <a:rPr lang="en-US" dirty="0"/>
              <a:t>Channel correlation / poor scattering: 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CSI limitations / pilot overhead: 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Hardware complexity and RF chains</a:t>
            </a:r>
            <a:r>
              <a:rPr lang="en-US" b="1" dirty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8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1B86-F3B4-0178-4A58-623C1C71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759" y="149620"/>
            <a:ext cx="7886700" cy="67046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A6EB2-C047-2112-9E31-8BEF8A4198F6}"/>
              </a:ext>
            </a:extLst>
          </p:cNvPr>
          <p:cNvSpPr txBox="1"/>
          <p:nvPr/>
        </p:nvSpPr>
        <p:spPr>
          <a:xfrm>
            <a:off x="347031" y="820080"/>
            <a:ext cx="84499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c) 	Identify three key factors that influence the achievable 	capacity of a multi-antenna wireless channel.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443C4E-D692-DED4-F40F-FF5C3B82812F}"/>
              </a:ext>
            </a:extLst>
          </p:cNvPr>
          <p:cNvSpPr txBox="1"/>
          <p:nvPr/>
        </p:nvSpPr>
        <p:spPr>
          <a:xfrm>
            <a:off x="545336" y="1797815"/>
            <a:ext cx="82516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SNR (Signal-to-Noise Ratio):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Higher SNR → higher channel capacity.</a:t>
            </a:r>
          </a:p>
          <a:p>
            <a:pPr marL="285750" marR="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Channel rank / spatial correlation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More independent spatial paths → more spatial streams → higher capacity.</a:t>
            </a:r>
          </a:p>
          <a:p>
            <a:pPr marL="285750" marR="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Number of antennas (Tx and Rx)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More antennas → more degrees of freedom → higher potential multiplexing gain.</a:t>
            </a:r>
          </a:p>
          <a:p>
            <a:pPr marL="285750" marR="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Bandwidth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Wider bandwidth → higher total data rate.</a:t>
            </a:r>
          </a:p>
          <a:p>
            <a:pPr marL="285750" marR="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Channel State Information (CSI) accuracy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Better CSI at transmitter/receiver → optimal precoding/combining → higher efficiency.</a:t>
            </a:r>
          </a:p>
          <a:p>
            <a:pPr marL="285750" marR="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Propagation environment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Rich scattering improves rank; strong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correlation reduces capacity.</a:t>
            </a:r>
          </a:p>
          <a:p>
            <a:pPr marL="285750" marR="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Interference level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Co-channel interference lowers effective SNR and capacity.</a:t>
            </a:r>
          </a:p>
          <a:p>
            <a:pPr marL="285750" marR="0" indent="-285750">
              <a:buFont typeface="Wingdings" panose="05000000000000000000" pitchFamily="2" charset="2"/>
              <a:buChar char="q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Hardware limitations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RF imperfections, quantization noise, and antenna spacing reduce practical capacity.</a:t>
            </a:r>
          </a:p>
        </p:txBody>
      </p:sp>
    </p:spTree>
    <p:extLst>
      <p:ext uri="{BB962C8B-B14F-4D97-AF65-F5344CB8AC3E}">
        <p14:creationId xmlns:p14="http://schemas.microsoft.com/office/powerpoint/2010/main" val="26759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1B86-F3B4-0178-4A58-623C1C71F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780" y="240508"/>
            <a:ext cx="7886700" cy="67046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A6EB2-C047-2112-9E31-8BEF8A4198F6}"/>
              </a:ext>
            </a:extLst>
          </p:cNvPr>
          <p:cNvSpPr txBox="1"/>
          <p:nvPr/>
        </p:nvSpPr>
        <p:spPr>
          <a:xfrm>
            <a:off x="347031" y="910968"/>
            <a:ext cx="84499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d) 	Discuss the diversity-multiplexing trade-off, and describe a 	scenario where a designer would deliberately choose:</a:t>
            </a:r>
            <a:br>
              <a:rPr lang="en-US" sz="2400" dirty="0"/>
            </a:br>
            <a:r>
              <a:rPr lang="en-US" sz="2400" dirty="0"/>
              <a:t>  		• more diversity gain, and</a:t>
            </a:r>
            <a:br>
              <a:rPr lang="en-US" sz="2400" dirty="0"/>
            </a:br>
            <a:r>
              <a:rPr lang="en-US" sz="2400" dirty="0"/>
              <a:t>  		• more multiplexing gain.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35A15-11AE-DB23-ECF1-A4346CFAD11B}"/>
              </a:ext>
            </a:extLst>
          </p:cNvPr>
          <p:cNvSpPr txBox="1"/>
          <p:nvPr/>
        </p:nvSpPr>
        <p:spPr>
          <a:xfrm>
            <a:off x="453758" y="2562453"/>
            <a:ext cx="40803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Trade-off:</a:t>
            </a:r>
            <a:r>
              <a:rPr lang="en-US" dirty="0">
                <a:highlight>
                  <a:srgbClr val="FFFF00"/>
                </a:highlight>
              </a:rPr>
              <a:t> 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Using design/processing to maximize reliability (diversity gain/lower outage/BER) often reduces the number of independent streams you send (so reduces peak throughput); </a:t>
            </a:r>
          </a:p>
          <a:p>
            <a:endParaRPr lang="en-US" dirty="0"/>
          </a:p>
          <a:p>
            <a:r>
              <a:rPr lang="en-US" dirty="0"/>
              <a:t>Conversely, maximizing multiplexing (sending many independent streams) increases throughput but reduces robustness to deep fading. A formal trade-off exists showing you can’t simultaneously maximize both gains.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A00CC9-C0FD-168B-B459-748FB239213E}"/>
              </a:ext>
            </a:extLst>
          </p:cNvPr>
          <p:cNvSpPr txBox="1"/>
          <p:nvPr/>
        </p:nvSpPr>
        <p:spPr>
          <a:xfrm>
            <a:off x="4609872" y="2562453"/>
            <a:ext cx="41870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When to choose which: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highlight>
                  <a:srgbClr val="FFFF00"/>
                </a:highlight>
              </a:rPr>
              <a:t>Diversity:</a:t>
            </a:r>
            <a:r>
              <a:rPr lang="en-US" dirty="0"/>
              <a:t> when the link is delay-sensitive or needs very low packet-loss (control channels, critical IoT) or when SNR is low / channel is highly variable.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highlight>
                  <a:srgbClr val="FFFF00"/>
                </a:highlight>
              </a:rPr>
              <a:t>Multiplexing</a:t>
            </a:r>
            <a:r>
              <a:rPr lang="en-US" b="1" dirty="0"/>
              <a:t>:</a:t>
            </a:r>
            <a:r>
              <a:rPr lang="en-US" dirty="0"/>
              <a:t> when throughput is primary (backhaul, high-data-rate downlink) and the channel has high SNR and good spatial richness (so independent streams are supported).</a:t>
            </a:r>
          </a:p>
        </p:txBody>
      </p:sp>
    </p:spTree>
    <p:extLst>
      <p:ext uri="{BB962C8B-B14F-4D97-AF65-F5344CB8AC3E}">
        <p14:creationId xmlns:p14="http://schemas.microsoft.com/office/powerpoint/2010/main" val="47680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226AE-DFE7-3537-91F1-88600D0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13" y="111739"/>
            <a:ext cx="7886700" cy="68147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 </a:t>
            </a:r>
            <a:r>
              <a:rPr lang="en-US" sz="3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(Homework)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0BCB6-576E-39F5-CADE-94E3E22CBACE}"/>
              </a:ext>
            </a:extLst>
          </p:cNvPr>
          <p:cNvSpPr txBox="1"/>
          <p:nvPr/>
        </p:nvSpPr>
        <p:spPr>
          <a:xfrm>
            <a:off x="474413" y="898506"/>
            <a:ext cx="8416887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lphaLcParenR"/>
            </a:pPr>
            <a:r>
              <a:rPr lang="en-US" sz="2200" dirty="0"/>
              <a:t>Compare time-domain interleaving and frequency-domain interleaving and give a communication standard or technology that uses each method.</a:t>
            </a:r>
          </a:p>
          <a:p>
            <a:pPr marL="457200" indent="-457200">
              <a:buAutoNum type="alphaLcParenR"/>
            </a:pPr>
            <a:endParaRPr lang="en-US" sz="2200" dirty="0"/>
          </a:p>
          <a:p>
            <a:r>
              <a:rPr lang="en-US" sz="2200" dirty="0"/>
              <a:t>b) 	A 5 × 5 MIMO system operating in Rayleigh fading has an SNR of 20 	</a:t>
            </a:r>
            <a:r>
              <a:rPr lang="en-US" sz="2200" dirty="0" err="1"/>
              <a:t>dB.</a:t>
            </a:r>
            <a:r>
              <a:rPr lang="en-US" sz="2200" dirty="0"/>
              <a:t> Assuming all five spatial streams are used for multiplexing, 	estimate capacity in bits/s/Hz, and compare the result to an 	equivalent SISO channel.</a:t>
            </a:r>
          </a:p>
          <a:p>
            <a:endParaRPr lang="en-US" sz="2200" dirty="0"/>
          </a:p>
          <a:p>
            <a:r>
              <a:rPr lang="en-US" sz="2200" dirty="0"/>
              <a:t>c) 	State one real-world propagation or hardware limitation that 	could prevent all five spatial streams from being supported in 	practice.</a:t>
            </a:r>
          </a:p>
          <a:p>
            <a:endParaRPr lang="en-US" sz="2200" dirty="0"/>
          </a:p>
          <a:p>
            <a:r>
              <a:rPr lang="en-US" sz="2200" dirty="0"/>
              <a:t>d) 	Explain how Maximum Ratio Combining (MRC) enhances signal 	reliability at the receiver and give a condition under which 	Selection Combining (SC) would be a simpler and more suitable 	alternative.</a:t>
            </a:r>
          </a:p>
        </p:txBody>
      </p:sp>
    </p:spTree>
    <p:extLst>
      <p:ext uri="{BB962C8B-B14F-4D97-AF65-F5344CB8AC3E}">
        <p14:creationId xmlns:p14="http://schemas.microsoft.com/office/powerpoint/2010/main" val="3032297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f8f3b6-16be-436e-bf2d-dedadcb7712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59F6BB5A7D914C9B3EBC96A6E21F77" ma:contentTypeVersion="14" ma:contentTypeDescription="Create a new document." ma:contentTypeScope="" ma:versionID="fda4ccff6591671c81d9f7567ae569d0">
  <xsd:schema xmlns:xsd="http://www.w3.org/2001/XMLSchema" xmlns:xs="http://www.w3.org/2001/XMLSchema" xmlns:p="http://schemas.microsoft.com/office/2006/metadata/properties" xmlns:ns3="76f8f3b6-16be-436e-bf2d-dedadcb77122" xmlns:ns4="d8514a62-9400-4177-9856-d6f8215948cc" targetNamespace="http://schemas.microsoft.com/office/2006/metadata/properties" ma:root="true" ma:fieldsID="5dd2106159393f1d8dbedbc6d6b27a07" ns3:_="" ns4:_="">
    <xsd:import namespace="76f8f3b6-16be-436e-bf2d-dedadcb77122"/>
    <xsd:import namespace="d8514a62-9400-4177-9856-d6f8215948c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f8f3b6-16be-436e-bf2d-dedadcb771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514a62-9400-4177-9856-d6f8215948c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F01DB4-B638-40AA-A96B-CDB0BCBB8F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1BC10A-AC43-4888-BBEF-22D31D87E8F1}">
  <ds:schemaRefs>
    <ds:schemaRef ds:uri="d8514a62-9400-4177-9856-d6f8215948cc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76f8f3b6-16be-436e-bf2d-dedadcb7712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69DD6B-0C77-4907-9AFC-74AC6720B2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f8f3b6-16be-436e-bf2d-dedadcb77122"/>
    <ds:schemaRef ds:uri="d8514a62-9400-4177-9856-d6f8215948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2393</TotalTime>
  <Words>1283</Words>
  <Application>Microsoft Office PowerPoint</Application>
  <PresentationFormat>On-screen Show (4:3)</PresentationFormat>
  <Paragraphs>110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Myriad Pro</vt:lpstr>
      <vt:lpstr>Times New Roman</vt:lpstr>
      <vt:lpstr>Wingdings</vt:lpstr>
      <vt:lpstr>Office Theme</vt:lpstr>
      <vt:lpstr>Tutorial</vt:lpstr>
      <vt:lpstr>Question 1</vt:lpstr>
      <vt:lpstr>Question 1</vt:lpstr>
      <vt:lpstr>Question 1</vt:lpstr>
      <vt:lpstr>Question 1</vt:lpstr>
      <vt:lpstr>Question 1</vt:lpstr>
      <vt:lpstr>Question 2</vt:lpstr>
      <vt:lpstr>Question 2</vt:lpstr>
      <vt:lpstr>Question 2</vt:lpstr>
      <vt:lpstr>Question 2</vt:lpstr>
      <vt:lpstr>Question 2</vt:lpstr>
      <vt:lpstr>Question 3 (Homework)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Abrar, Muhammad</dc:creator>
  <cp:lastModifiedBy>Abrar, Muhammad</cp:lastModifiedBy>
  <cp:revision>756</cp:revision>
  <dcterms:created xsi:type="dcterms:W3CDTF">2023-04-08T04:37:24Z</dcterms:created>
  <dcterms:modified xsi:type="dcterms:W3CDTF">2025-11-26T04:13:12Z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0x010100BB59F6BB5A7D914C9B3EBC96A6E21F77</vt:lpwstr>
  </property>
</Properties>
</file>