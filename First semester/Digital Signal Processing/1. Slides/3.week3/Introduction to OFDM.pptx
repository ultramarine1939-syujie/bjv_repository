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3"/>
  </p:notesMasterIdLst>
  <p:sldIdLst>
    <p:sldId id="339" r:id="rId5"/>
    <p:sldId id="562" r:id="rId6"/>
    <p:sldId id="522" r:id="rId7"/>
    <p:sldId id="529" r:id="rId8"/>
    <p:sldId id="513" r:id="rId9"/>
    <p:sldId id="523" r:id="rId10"/>
    <p:sldId id="531" r:id="rId11"/>
    <p:sldId id="563" r:id="rId12"/>
    <p:sldId id="540" r:id="rId13"/>
    <p:sldId id="519" r:id="rId14"/>
    <p:sldId id="524" r:id="rId15"/>
    <p:sldId id="532" r:id="rId16"/>
    <p:sldId id="527" r:id="rId17"/>
    <p:sldId id="528" r:id="rId18"/>
    <p:sldId id="520" r:id="rId19"/>
    <p:sldId id="508" r:id="rId20"/>
    <p:sldId id="525" r:id="rId21"/>
    <p:sldId id="526" r:id="rId22"/>
    <p:sldId id="543" r:id="rId23"/>
    <p:sldId id="259" r:id="rId24"/>
    <p:sldId id="541" r:id="rId25"/>
    <p:sldId id="263" r:id="rId26"/>
    <p:sldId id="542" r:id="rId27"/>
    <p:sldId id="544" r:id="rId28"/>
    <p:sldId id="545" r:id="rId29"/>
    <p:sldId id="546" r:id="rId30"/>
    <p:sldId id="535" r:id="rId31"/>
    <p:sldId id="271" r:id="rId32"/>
    <p:sldId id="539" r:id="rId33"/>
    <p:sldId id="272" r:id="rId34"/>
    <p:sldId id="536" r:id="rId35"/>
    <p:sldId id="538" r:id="rId36"/>
    <p:sldId id="515" r:id="rId37"/>
    <p:sldId id="550" r:id="rId38"/>
    <p:sldId id="551" r:id="rId39"/>
    <p:sldId id="552" r:id="rId40"/>
    <p:sldId id="553" r:id="rId41"/>
    <p:sldId id="554" r:id="rId42"/>
    <p:sldId id="555" r:id="rId43"/>
    <p:sldId id="556" r:id="rId44"/>
    <p:sldId id="557" r:id="rId45"/>
    <p:sldId id="558" r:id="rId46"/>
    <p:sldId id="559" r:id="rId47"/>
    <p:sldId id="560" r:id="rId48"/>
    <p:sldId id="561" r:id="rId49"/>
    <p:sldId id="564" r:id="rId50"/>
    <p:sldId id="565" r:id="rId51"/>
    <p:sldId id="516"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5549" autoAdjust="0"/>
  </p:normalViewPr>
  <p:slideViewPr>
    <p:cSldViewPr snapToGrid="0">
      <p:cViewPr varScale="1">
        <p:scale>
          <a:sx n="54" d="100"/>
          <a:sy n="54" d="100"/>
        </p:scale>
        <p:origin x="7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diagrams/_rels/data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33847F-8E0C-4EEA-A591-CFC559B0C206}"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F44DB02C-F107-428C-82AE-3B252CEB670D}">
      <dgm:prSet custT="1"/>
      <dgm:spPr/>
      <dgm:t>
        <a:bodyPr/>
        <a:lstStyle/>
        <a:p>
          <a:r>
            <a:rPr lang="en-US" sz="2000"/>
            <a:t>Explain</a:t>
          </a:r>
        </a:p>
      </dgm:t>
    </dgm:pt>
    <dgm:pt modelId="{4E4166E3-AA00-45F3-9261-2FB231C3FFA3}" type="parTrans" cxnId="{1611C670-6801-45BB-9DD3-DC145559AB3C}">
      <dgm:prSet/>
      <dgm:spPr/>
      <dgm:t>
        <a:bodyPr/>
        <a:lstStyle/>
        <a:p>
          <a:endParaRPr lang="en-US" sz="2000"/>
        </a:p>
      </dgm:t>
    </dgm:pt>
    <dgm:pt modelId="{35D80F30-7B1D-412B-B3AB-97E5F85AC4A4}" type="sibTrans" cxnId="{1611C670-6801-45BB-9DD3-DC145559AB3C}">
      <dgm:prSet/>
      <dgm:spPr/>
      <dgm:t>
        <a:bodyPr/>
        <a:lstStyle/>
        <a:p>
          <a:endParaRPr lang="en-US" sz="2000"/>
        </a:p>
      </dgm:t>
    </dgm:pt>
    <dgm:pt modelId="{8AB92F61-E903-4A00-BADD-DBB367185D01}">
      <dgm:prSet custT="1"/>
      <dgm:spPr/>
      <dgm:t>
        <a:bodyPr/>
        <a:lstStyle/>
        <a:p>
          <a:r>
            <a:rPr lang="en-US" sz="2000" dirty="0"/>
            <a:t>Explain the difference between single-carrier and multicarrier modulation</a:t>
          </a:r>
        </a:p>
      </dgm:t>
    </dgm:pt>
    <dgm:pt modelId="{CADEC3C9-BA1C-4B5B-9A8E-7685EACA9A7F}" type="parTrans" cxnId="{9FC9FFE7-DF3F-487E-89BB-C22FCF96A04D}">
      <dgm:prSet/>
      <dgm:spPr/>
      <dgm:t>
        <a:bodyPr/>
        <a:lstStyle/>
        <a:p>
          <a:endParaRPr lang="en-US" sz="2000"/>
        </a:p>
      </dgm:t>
    </dgm:pt>
    <dgm:pt modelId="{AE34E177-D796-441D-BAC2-F15CFEAB8600}" type="sibTrans" cxnId="{9FC9FFE7-DF3F-487E-89BB-C22FCF96A04D}">
      <dgm:prSet/>
      <dgm:spPr/>
      <dgm:t>
        <a:bodyPr/>
        <a:lstStyle/>
        <a:p>
          <a:endParaRPr lang="en-US" sz="2000"/>
        </a:p>
      </dgm:t>
    </dgm:pt>
    <dgm:pt modelId="{FBF322EF-8CBE-4CC3-898F-A0CD36A641E6}">
      <dgm:prSet custT="1"/>
      <dgm:spPr/>
      <dgm:t>
        <a:bodyPr/>
        <a:lstStyle/>
        <a:p>
          <a:r>
            <a:rPr lang="en-US" sz="2000"/>
            <a:t>Understand</a:t>
          </a:r>
        </a:p>
      </dgm:t>
    </dgm:pt>
    <dgm:pt modelId="{6E93B8F9-1BA6-4351-89A0-8215026B9292}" type="parTrans" cxnId="{95A961FC-C8CA-4E36-B3EB-BAB7D850B26B}">
      <dgm:prSet/>
      <dgm:spPr/>
      <dgm:t>
        <a:bodyPr/>
        <a:lstStyle/>
        <a:p>
          <a:endParaRPr lang="en-US" sz="2000"/>
        </a:p>
      </dgm:t>
    </dgm:pt>
    <dgm:pt modelId="{4B941C40-2615-44BE-BFDA-79EE8DD2B672}" type="sibTrans" cxnId="{95A961FC-C8CA-4E36-B3EB-BAB7D850B26B}">
      <dgm:prSet/>
      <dgm:spPr/>
      <dgm:t>
        <a:bodyPr/>
        <a:lstStyle/>
        <a:p>
          <a:endParaRPr lang="en-US" sz="2000"/>
        </a:p>
      </dgm:t>
    </dgm:pt>
    <dgm:pt modelId="{596F3D34-3BF4-4F31-9B00-B700601545C1}">
      <dgm:prSet custT="1"/>
      <dgm:spPr/>
      <dgm:t>
        <a:bodyPr/>
        <a:lstStyle/>
        <a:p>
          <a:r>
            <a:rPr lang="en-US" sz="2000"/>
            <a:t>Understand why OFDM solves ISI problems in frequency-selective channels</a:t>
          </a:r>
        </a:p>
      </dgm:t>
    </dgm:pt>
    <dgm:pt modelId="{738A495D-7E3E-4BDF-B492-CB6A1CEE5739}" type="parTrans" cxnId="{A236266F-6DCD-4C9A-96CB-B144E901C063}">
      <dgm:prSet/>
      <dgm:spPr/>
      <dgm:t>
        <a:bodyPr/>
        <a:lstStyle/>
        <a:p>
          <a:endParaRPr lang="en-US" sz="2000"/>
        </a:p>
      </dgm:t>
    </dgm:pt>
    <dgm:pt modelId="{13B1A87E-C2DD-4F66-B37E-8F02699FCD3A}" type="sibTrans" cxnId="{A236266F-6DCD-4C9A-96CB-B144E901C063}">
      <dgm:prSet/>
      <dgm:spPr/>
      <dgm:t>
        <a:bodyPr/>
        <a:lstStyle/>
        <a:p>
          <a:endParaRPr lang="en-US" sz="2000"/>
        </a:p>
      </dgm:t>
    </dgm:pt>
    <dgm:pt modelId="{7807CE44-D72C-4468-90D4-79F76BA67839}">
      <dgm:prSet custT="1"/>
      <dgm:spPr/>
      <dgm:t>
        <a:bodyPr/>
        <a:lstStyle/>
        <a:p>
          <a:r>
            <a:rPr lang="en-US" sz="2000"/>
            <a:t>Describe</a:t>
          </a:r>
        </a:p>
      </dgm:t>
    </dgm:pt>
    <dgm:pt modelId="{D7F52783-49DA-47A2-B216-FB1CCAC8B313}" type="parTrans" cxnId="{3A6F28D3-D20B-455A-8675-BEA77B96B0D8}">
      <dgm:prSet/>
      <dgm:spPr/>
      <dgm:t>
        <a:bodyPr/>
        <a:lstStyle/>
        <a:p>
          <a:endParaRPr lang="en-US" sz="2000"/>
        </a:p>
      </dgm:t>
    </dgm:pt>
    <dgm:pt modelId="{616960E8-7AF1-4134-A7E7-7171B3DEB2A1}" type="sibTrans" cxnId="{3A6F28D3-D20B-455A-8675-BEA77B96B0D8}">
      <dgm:prSet/>
      <dgm:spPr/>
      <dgm:t>
        <a:bodyPr/>
        <a:lstStyle/>
        <a:p>
          <a:endParaRPr lang="en-US" sz="2000"/>
        </a:p>
      </dgm:t>
    </dgm:pt>
    <dgm:pt modelId="{25EE96E8-FB1D-4505-AB73-6D201C0011D9}">
      <dgm:prSet custT="1"/>
      <dgm:spPr/>
      <dgm:t>
        <a:bodyPr/>
        <a:lstStyle/>
        <a:p>
          <a:r>
            <a:rPr lang="en-US" sz="2000"/>
            <a:t>Describe how orthogonality allows overlapping subcarriers</a:t>
          </a:r>
        </a:p>
      </dgm:t>
    </dgm:pt>
    <dgm:pt modelId="{73486FF6-DB73-4254-A6B5-D93529349913}" type="parTrans" cxnId="{748FDD5A-C573-4975-90B0-B9B0E4B84DA6}">
      <dgm:prSet/>
      <dgm:spPr/>
      <dgm:t>
        <a:bodyPr/>
        <a:lstStyle/>
        <a:p>
          <a:endParaRPr lang="en-US" sz="2000"/>
        </a:p>
      </dgm:t>
    </dgm:pt>
    <dgm:pt modelId="{71623588-F395-4E3C-B664-FE6C061493B2}" type="sibTrans" cxnId="{748FDD5A-C573-4975-90B0-B9B0E4B84DA6}">
      <dgm:prSet/>
      <dgm:spPr/>
      <dgm:t>
        <a:bodyPr/>
        <a:lstStyle/>
        <a:p>
          <a:endParaRPr lang="en-US" sz="2000"/>
        </a:p>
      </dgm:t>
    </dgm:pt>
    <dgm:pt modelId="{31BFDED4-8068-4F7B-B80D-985A3625C44D}">
      <dgm:prSet custT="1"/>
      <dgm:spPr/>
      <dgm:t>
        <a:bodyPr/>
        <a:lstStyle/>
        <a:p>
          <a:r>
            <a:rPr lang="en-US" sz="2000"/>
            <a:t>Explain</a:t>
          </a:r>
        </a:p>
      </dgm:t>
    </dgm:pt>
    <dgm:pt modelId="{278CD668-DB93-43E0-9021-5073B0B25787}" type="parTrans" cxnId="{FA7DBC05-45FF-4E9A-ADE1-AE45AF6EB1C9}">
      <dgm:prSet/>
      <dgm:spPr/>
      <dgm:t>
        <a:bodyPr/>
        <a:lstStyle/>
        <a:p>
          <a:endParaRPr lang="en-US" sz="2000"/>
        </a:p>
      </dgm:t>
    </dgm:pt>
    <dgm:pt modelId="{59202003-770B-4D8B-AC53-92C5D7CF9FAA}" type="sibTrans" cxnId="{FA7DBC05-45FF-4E9A-ADE1-AE45AF6EB1C9}">
      <dgm:prSet/>
      <dgm:spPr/>
      <dgm:t>
        <a:bodyPr/>
        <a:lstStyle/>
        <a:p>
          <a:endParaRPr lang="en-US" sz="2000"/>
        </a:p>
      </dgm:t>
    </dgm:pt>
    <dgm:pt modelId="{BEED5570-BCF5-4C4B-A154-DA3FD0BF10E7}">
      <dgm:prSet custT="1"/>
      <dgm:spPr/>
      <dgm:t>
        <a:bodyPr/>
        <a:lstStyle/>
        <a:p>
          <a:r>
            <a:rPr lang="en-US" sz="2000"/>
            <a:t>Explain the role of the cyclic prefix and how to size it</a:t>
          </a:r>
        </a:p>
      </dgm:t>
    </dgm:pt>
    <dgm:pt modelId="{EBD345C0-0EE2-4025-95BF-8D2D7D77AF8C}" type="parTrans" cxnId="{1B777D87-4FBD-4D58-9051-52FD2721A5C7}">
      <dgm:prSet/>
      <dgm:spPr/>
      <dgm:t>
        <a:bodyPr/>
        <a:lstStyle/>
        <a:p>
          <a:endParaRPr lang="en-US" sz="2000"/>
        </a:p>
      </dgm:t>
    </dgm:pt>
    <dgm:pt modelId="{340D643A-12FD-4AB4-BF70-049DD625D263}" type="sibTrans" cxnId="{1B777D87-4FBD-4D58-9051-52FD2721A5C7}">
      <dgm:prSet/>
      <dgm:spPr/>
      <dgm:t>
        <a:bodyPr/>
        <a:lstStyle/>
        <a:p>
          <a:endParaRPr lang="en-US" sz="2000"/>
        </a:p>
      </dgm:t>
    </dgm:pt>
    <dgm:pt modelId="{DF51B97F-9D45-4ADE-90E0-CA6A8B9783AB}">
      <dgm:prSet custT="1"/>
      <dgm:spPr/>
      <dgm:t>
        <a:bodyPr/>
        <a:lstStyle/>
        <a:p>
          <a:r>
            <a:rPr lang="en-US" sz="2000"/>
            <a:t>Perform</a:t>
          </a:r>
        </a:p>
      </dgm:t>
    </dgm:pt>
    <dgm:pt modelId="{CB876DC5-46D2-48FB-BA68-5DFF9C90D8C7}" type="parTrans" cxnId="{3A317009-F512-46B4-A9A5-BE9583EE4238}">
      <dgm:prSet/>
      <dgm:spPr/>
      <dgm:t>
        <a:bodyPr/>
        <a:lstStyle/>
        <a:p>
          <a:endParaRPr lang="en-US" sz="2000"/>
        </a:p>
      </dgm:t>
    </dgm:pt>
    <dgm:pt modelId="{16684CB9-C3DE-4D82-A8AB-256D27BEE0D7}" type="sibTrans" cxnId="{3A317009-F512-46B4-A9A5-BE9583EE4238}">
      <dgm:prSet/>
      <dgm:spPr/>
      <dgm:t>
        <a:bodyPr/>
        <a:lstStyle/>
        <a:p>
          <a:endParaRPr lang="en-US" sz="2000"/>
        </a:p>
      </dgm:t>
    </dgm:pt>
    <dgm:pt modelId="{89CDEE71-E3B4-4A1F-BD1F-FB8373768A67}">
      <dgm:prSet custT="1"/>
      <dgm:spPr/>
      <dgm:t>
        <a:bodyPr/>
        <a:lstStyle/>
        <a:p>
          <a:r>
            <a:rPr lang="en-US" sz="2000" dirty="0"/>
            <a:t>Perform basic OFDM parameter calculations (subcarrier spacing, symbol time, CP overhead, data rate)</a:t>
          </a:r>
        </a:p>
      </dgm:t>
    </dgm:pt>
    <dgm:pt modelId="{DED192DE-554A-469D-9AD5-2762D657CDC7}" type="parTrans" cxnId="{13443989-7950-43FE-8DAA-73F42F5CEF2F}">
      <dgm:prSet/>
      <dgm:spPr/>
      <dgm:t>
        <a:bodyPr/>
        <a:lstStyle/>
        <a:p>
          <a:endParaRPr lang="en-US" sz="2000"/>
        </a:p>
      </dgm:t>
    </dgm:pt>
    <dgm:pt modelId="{20E27863-E04A-4A16-8E7B-42C55B635690}" type="sibTrans" cxnId="{13443989-7950-43FE-8DAA-73F42F5CEF2F}">
      <dgm:prSet/>
      <dgm:spPr/>
      <dgm:t>
        <a:bodyPr/>
        <a:lstStyle/>
        <a:p>
          <a:endParaRPr lang="en-US" sz="2000"/>
        </a:p>
      </dgm:t>
    </dgm:pt>
    <dgm:pt modelId="{2F94C339-F199-4598-8756-CAC4537F03C1}" type="pres">
      <dgm:prSet presAssocID="{0533847F-8E0C-4EEA-A591-CFC559B0C206}" presName="Name0" presStyleCnt="0">
        <dgm:presLayoutVars>
          <dgm:dir/>
          <dgm:animLvl val="lvl"/>
          <dgm:resizeHandles val="exact"/>
        </dgm:presLayoutVars>
      </dgm:prSet>
      <dgm:spPr/>
    </dgm:pt>
    <dgm:pt modelId="{8C6B82C7-453A-44FA-BB46-CF99388714E8}" type="pres">
      <dgm:prSet presAssocID="{F44DB02C-F107-428C-82AE-3B252CEB670D}" presName="linNode" presStyleCnt="0"/>
      <dgm:spPr/>
    </dgm:pt>
    <dgm:pt modelId="{66F2B629-8D3C-4D31-A2C1-1857F2431893}" type="pres">
      <dgm:prSet presAssocID="{F44DB02C-F107-428C-82AE-3B252CEB670D}" presName="parentText" presStyleLbl="alignNode1" presStyleIdx="0" presStyleCnt="5">
        <dgm:presLayoutVars>
          <dgm:chMax val="1"/>
          <dgm:bulletEnabled/>
        </dgm:presLayoutVars>
      </dgm:prSet>
      <dgm:spPr/>
    </dgm:pt>
    <dgm:pt modelId="{A874B085-1C76-41FC-A870-A70637979985}" type="pres">
      <dgm:prSet presAssocID="{F44DB02C-F107-428C-82AE-3B252CEB670D}" presName="descendantText" presStyleLbl="alignAccFollowNode1" presStyleIdx="0" presStyleCnt="5">
        <dgm:presLayoutVars>
          <dgm:bulletEnabled/>
        </dgm:presLayoutVars>
      </dgm:prSet>
      <dgm:spPr/>
    </dgm:pt>
    <dgm:pt modelId="{2C4F66CA-58AD-426D-BFCE-2CB62783B4DA}" type="pres">
      <dgm:prSet presAssocID="{35D80F30-7B1D-412B-B3AB-97E5F85AC4A4}" presName="sp" presStyleCnt="0"/>
      <dgm:spPr/>
    </dgm:pt>
    <dgm:pt modelId="{90C04FD5-F4CA-4815-A8DE-5713B9AD2BA7}" type="pres">
      <dgm:prSet presAssocID="{FBF322EF-8CBE-4CC3-898F-A0CD36A641E6}" presName="linNode" presStyleCnt="0"/>
      <dgm:spPr/>
    </dgm:pt>
    <dgm:pt modelId="{4B1D786E-3687-4F80-A883-F69CB1F959AE}" type="pres">
      <dgm:prSet presAssocID="{FBF322EF-8CBE-4CC3-898F-A0CD36A641E6}" presName="parentText" presStyleLbl="alignNode1" presStyleIdx="1" presStyleCnt="5">
        <dgm:presLayoutVars>
          <dgm:chMax val="1"/>
          <dgm:bulletEnabled/>
        </dgm:presLayoutVars>
      </dgm:prSet>
      <dgm:spPr/>
    </dgm:pt>
    <dgm:pt modelId="{BC946108-142E-4B80-A898-137015D8479A}" type="pres">
      <dgm:prSet presAssocID="{FBF322EF-8CBE-4CC3-898F-A0CD36A641E6}" presName="descendantText" presStyleLbl="alignAccFollowNode1" presStyleIdx="1" presStyleCnt="5">
        <dgm:presLayoutVars>
          <dgm:bulletEnabled/>
        </dgm:presLayoutVars>
      </dgm:prSet>
      <dgm:spPr/>
    </dgm:pt>
    <dgm:pt modelId="{72B87FF6-E843-42DB-A8BC-4FEE8F870CD5}" type="pres">
      <dgm:prSet presAssocID="{4B941C40-2615-44BE-BFDA-79EE8DD2B672}" presName="sp" presStyleCnt="0"/>
      <dgm:spPr/>
    </dgm:pt>
    <dgm:pt modelId="{93351EC7-BF7E-4697-A3C4-C312BAE698E1}" type="pres">
      <dgm:prSet presAssocID="{7807CE44-D72C-4468-90D4-79F76BA67839}" presName="linNode" presStyleCnt="0"/>
      <dgm:spPr/>
    </dgm:pt>
    <dgm:pt modelId="{32F58152-D00B-4041-831C-AF4F9ED4CEA3}" type="pres">
      <dgm:prSet presAssocID="{7807CE44-D72C-4468-90D4-79F76BA67839}" presName="parentText" presStyleLbl="alignNode1" presStyleIdx="2" presStyleCnt="5">
        <dgm:presLayoutVars>
          <dgm:chMax val="1"/>
          <dgm:bulletEnabled/>
        </dgm:presLayoutVars>
      </dgm:prSet>
      <dgm:spPr/>
    </dgm:pt>
    <dgm:pt modelId="{9B478BE6-CF51-4338-87CE-4D9C7DD35E55}" type="pres">
      <dgm:prSet presAssocID="{7807CE44-D72C-4468-90D4-79F76BA67839}" presName="descendantText" presStyleLbl="alignAccFollowNode1" presStyleIdx="2" presStyleCnt="5">
        <dgm:presLayoutVars>
          <dgm:bulletEnabled/>
        </dgm:presLayoutVars>
      </dgm:prSet>
      <dgm:spPr/>
    </dgm:pt>
    <dgm:pt modelId="{61E5D9BB-A9CA-43CB-A639-EA565B36424F}" type="pres">
      <dgm:prSet presAssocID="{616960E8-7AF1-4134-A7E7-7171B3DEB2A1}" presName="sp" presStyleCnt="0"/>
      <dgm:spPr/>
    </dgm:pt>
    <dgm:pt modelId="{A5760308-49DB-4A2E-B3BC-205416F6E671}" type="pres">
      <dgm:prSet presAssocID="{31BFDED4-8068-4F7B-B80D-985A3625C44D}" presName="linNode" presStyleCnt="0"/>
      <dgm:spPr/>
    </dgm:pt>
    <dgm:pt modelId="{89872E19-697C-43BD-A218-2F3EAA8F4874}" type="pres">
      <dgm:prSet presAssocID="{31BFDED4-8068-4F7B-B80D-985A3625C44D}" presName="parentText" presStyleLbl="alignNode1" presStyleIdx="3" presStyleCnt="5">
        <dgm:presLayoutVars>
          <dgm:chMax val="1"/>
          <dgm:bulletEnabled/>
        </dgm:presLayoutVars>
      </dgm:prSet>
      <dgm:spPr/>
    </dgm:pt>
    <dgm:pt modelId="{EA6FB464-A0E4-4014-89EC-FD89C5E96B6D}" type="pres">
      <dgm:prSet presAssocID="{31BFDED4-8068-4F7B-B80D-985A3625C44D}" presName="descendantText" presStyleLbl="alignAccFollowNode1" presStyleIdx="3" presStyleCnt="5">
        <dgm:presLayoutVars>
          <dgm:bulletEnabled/>
        </dgm:presLayoutVars>
      </dgm:prSet>
      <dgm:spPr/>
    </dgm:pt>
    <dgm:pt modelId="{291A09EB-5395-46B8-9ED3-AB331320FD01}" type="pres">
      <dgm:prSet presAssocID="{59202003-770B-4D8B-AC53-92C5D7CF9FAA}" presName="sp" presStyleCnt="0"/>
      <dgm:spPr/>
    </dgm:pt>
    <dgm:pt modelId="{01DB8E81-AD87-4CC8-8A86-ABBE9972688F}" type="pres">
      <dgm:prSet presAssocID="{DF51B97F-9D45-4ADE-90E0-CA6A8B9783AB}" presName="linNode" presStyleCnt="0"/>
      <dgm:spPr/>
    </dgm:pt>
    <dgm:pt modelId="{BAF920D2-3890-4811-BC35-51481851F220}" type="pres">
      <dgm:prSet presAssocID="{DF51B97F-9D45-4ADE-90E0-CA6A8B9783AB}" presName="parentText" presStyleLbl="alignNode1" presStyleIdx="4" presStyleCnt="5">
        <dgm:presLayoutVars>
          <dgm:chMax val="1"/>
          <dgm:bulletEnabled/>
        </dgm:presLayoutVars>
      </dgm:prSet>
      <dgm:spPr/>
    </dgm:pt>
    <dgm:pt modelId="{5C380DE4-6895-400D-8FFE-A701EE144DD7}" type="pres">
      <dgm:prSet presAssocID="{DF51B97F-9D45-4ADE-90E0-CA6A8B9783AB}" presName="descendantText" presStyleLbl="alignAccFollowNode1" presStyleIdx="4" presStyleCnt="5">
        <dgm:presLayoutVars>
          <dgm:bulletEnabled/>
        </dgm:presLayoutVars>
      </dgm:prSet>
      <dgm:spPr/>
    </dgm:pt>
  </dgm:ptLst>
  <dgm:cxnLst>
    <dgm:cxn modelId="{FA7DBC05-45FF-4E9A-ADE1-AE45AF6EB1C9}" srcId="{0533847F-8E0C-4EEA-A591-CFC559B0C206}" destId="{31BFDED4-8068-4F7B-B80D-985A3625C44D}" srcOrd="3" destOrd="0" parTransId="{278CD668-DB93-43E0-9021-5073B0B25787}" sibTransId="{59202003-770B-4D8B-AC53-92C5D7CF9FAA}"/>
    <dgm:cxn modelId="{3A317009-F512-46B4-A9A5-BE9583EE4238}" srcId="{0533847F-8E0C-4EEA-A591-CFC559B0C206}" destId="{DF51B97F-9D45-4ADE-90E0-CA6A8B9783AB}" srcOrd="4" destOrd="0" parTransId="{CB876DC5-46D2-48FB-BA68-5DFF9C90D8C7}" sibTransId="{16684CB9-C3DE-4D82-A8AB-256D27BEE0D7}"/>
    <dgm:cxn modelId="{F4D8A313-D0F4-40B1-8FE9-1D8A45583CF8}" type="presOf" srcId="{8AB92F61-E903-4A00-BADD-DBB367185D01}" destId="{A874B085-1C76-41FC-A870-A70637979985}" srcOrd="0" destOrd="0" presId="urn:microsoft.com/office/officeart/2016/7/layout/VerticalSolidActionList"/>
    <dgm:cxn modelId="{1A264940-ABAF-4E67-A8AC-45D77ED53459}" type="presOf" srcId="{F44DB02C-F107-428C-82AE-3B252CEB670D}" destId="{66F2B629-8D3C-4D31-A2C1-1857F2431893}" srcOrd="0" destOrd="0" presId="urn:microsoft.com/office/officeart/2016/7/layout/VerticalSolidActionList"/>
    <dgm:cxn modelId="{9E4F2069-5828-469A-9F36-AEF773BD239B}" type="presOf" srcId="{FBF322EF-8CBE-4CC3-898F-A0CD36A641E6}" destId="{4B1D786E-3687-4F80-A883-F69CB1F959AE}" srcOrd="0" destOrd="0" presId="urn:microsoft.com/office/officeart/2016/7/layout/VerticalSolidActionList"/>
    <dgm:cxn modelId="{A236266F-6DCD-4C9A-96CB-B144E901C063}" srcId="{FBF322EF-8CBE-4CC3-898F-A0CD36A641E6}" destId="{596F3D34-3BF4-4F31-9B00-B700601545C1}" srcOrd="0" destOrd="0" parTransId="{738A495D-7E3E-4BDF-B492-CB6A1CEE5739}" sibTransId="{13B1A87E-C2DD-4F66-B37E-8F02699FCD3A}"/>
    <dgm:cxn modelId="{1611C670-6801-45BB-9DD3-DC145559AB3C}" srcId="{0533847F-8E0C-4EEA-A591-CFC559B0C206}" destId="{F44DB02C-F107-428C-82AE-3B252CEB670D}" srcOrd="0" destOrd="0" parTransId="{4E4166E3-AA00-45F3-9261-2FB231C3FFA3}" sibTransId="{35D80F30-7B1D-412B-B3AB-97E5F85AC4A4}"/>
    <dgm:cxn modelId="{748FDD5A-C573-4975-90B0-B9B0E4B84DA6}" srcId="{7807CE44-D72C-4468-90D4-79F76BA67839}" destId="{25EE96E8-FB1D-4505-AB73-6D201C0011D9}" srcOrd="0" destOrd="0" parTransId="{73486FF6-DB73-4254-A6B5-D93529349913}" sibTransId="{71623588-F395-4E3C-B664-FE6C061493B2}"/>
    <dgm:cxn modelId="{DA92CA85-C9C5-4E61-BDFE-5FE52E5CCF05}" type="presOf" srcId="{89CDEE71-E3B4-4A1F-BD1F-FB8373768A67}" destId="{5C380DE4-6895-400D-8FFE-A701EE144DD7}" srcOrd="0" destOrd="0" presId="urn:microsoft.com/office/officeart/2016/7/layout/VerticalSolidActionList"/>
    <dgm:cxn modelId="{1B777D87-4FBD-4D58-9051-52FD2721A5C7}" srcId="{31BFDED4-8068-4F7B-B80D-985A3625C44D}" destId="{BEED5570-BCF5-4C4B-A154-DA3FD0BF10E7}" srcOrd="0" destOrd="0" parTransId="{EBD345C0-0EE2-4025-95BF-8D2D7D77AF8C}" sibTransId="{340D643A-12FD-4AB4-BF70-049DD625D263}"/>
    <dgm:cxn modelId="{13443989-7950-43FE-8DAA-73F42F5CEF2F}" srcId="{DF51B97F-9D45-4ADE-90E0-CA6A8B9783AB}" destId="{89CDEE71-E3B4-4A1F-BD1F-FB8373768A67}" srcOrd="0" destOrd="0" parTransId="{DED192DE-554A-469D-9AD5-2762D657CDC7}" sibTransId="{20E27863-E04A-4A16-8E7B-42C55B635690}"/>
    <dgm:cxn modelId="{EBBB478A-F4CD-47FB-951A-FDB378CEE08D}" type="presOf" srcId="{25EE96E8-FB1D-4505-AB73-6D201C0011D9}" destId="{9B478BE6-CF51-4338-87CE-4D9C7DD35E55}" srcOrd="0" destOrd="0" presId="urn:microsoft.com/office/officeart/2016/7/layout/VerticalSolidActionList"/>
    <dgm:cxn modelId="{7617F28C-936D-4131-BAD9-285D1499EF10}" type="presOf" srcId="{0533847F-8E0C-4EEA-A591-CFC559B0C206}" destId="{2F94C339-F199-4598-8756-CAC4537F03C1}" srcOrd="0" destOrd="0" presId="urn:microsoft.com/office/officeart/2016/7/layout/VerticalSolidActionList"/>
    <dgm:cxn modelId="{8F64E59B-1381-4EA8-91D5-3C23388B44D2}" type="presOf" srcId="{BEED5570-BCF5-4C4B-A154-DA3FD0BF10E7}" destId="{EA6FB464-A0E4-4014-89EC-FD89C5E96B6D}" srcOrd="0" destOrd="0" presId="urn:microsoft.com/office/officeart/2016/7/layout/VerticalSolidActionList"/>
    <dgm:cxn modelId="{31E3A2AC-D0D4-480D-9C43-E7DD8A5BD64A}" type="presOf" srcId="{31BFDED4-8068-4F7B-B80D-985A3625C44D}" destId="{89872E19-697C-43BD-A218-2F3EAA8F4874}" srcOrd="0" destOrd="0" presId="urn:microsoft.com/office/officeart/2016/7/layout/VerticalSolidActionList"/>
    <dgm:cxn modelId="{DA58E8C5-A3E1-4EB0-B898-CDBBC0060C74}" type="presOf" srcId="{DF51B97F-9D45-4ADE-90E0-CA6A8B9783AB}" destId="{BAF920D2-3890-4811-BC35-51481851F220}" srcOrd="0" destOrd="0" presId="urn:microsoft.com/office/officeart/2016/7/layout/VerticalSolidActionList"/>
    <dgm:cxn modelId="{3A6F28D3-D20B-455A-8675-BEA77B96B0D8}" srcId="{0533847F-8E0C-4EEA-A591-CFC559B0C206}" destId="{7807CE44-D72C-4468-90D4-79F76BA67839}" srcOrd="2" destOrd="0" parTransId="{D7F52783-49DA-47A2-B216-FB1CCAC8B313}" sibTransId="{616960E8-7AF1-4134-A7E7-7171B3DEB2A1}"/>
    <dgm:cxn modelId="{9FC9FFE7-DF3F-487E-89BB-C22FCF96A04D}" srcId="{F44DB02C-F107-428C-82AE-3B252CEB670D}" destId="{8AB92F61-E903-4A00-BADD-DBB367185D01}" srcOrd="0" destOrd="0" parTransId="{CADEC3C9-BA1C-4B5B-9A8E-7685EACA9A7F}" sibTransId="{AE34E177-D796-441D-BAC2-F15CFEAB8600}"/>
    <dgm:cxn modelId="{1ED5D7E8-ABFC-4618-9AC1-57AE7DA130CE}" type="presOf" srcId="{7807CE44-D72C-4468-90D4-79F76BA67839}" destId="{32F58152-D00B-4041-831C-AF4F9ED4CEA3}" srcOrd="0" destOrd="0" presId="urn:microsoft.com/office/officeart/2016/7/layout/VerticalSolidActionList"/>
    <dgm:cxn modelId="{00C0CAEA-F551-4E37-8673-5E62FE595836}" type="presOf" srcId="{596F3D34-3BF4-4F31-9B00-B700601545C1}" destId="{BC946108-142E-4B80-A898-137015D8479A}" srcOrd="0" destOrd="0" presId="urn:microsoft.com/office/officeart/2016/7/layout/VerticalSolidActionList"/>
    <dgm:cxn modelId="{95A961FC-C8CA-4E36-B3EB-BAB7D850B26B}" srcId="{0533847F-8E0C-4EEA-A591-CFC559B0C206}" destId="{FBF322EF-8CBE-4CC3-898F-A0CD36A641E6}" srcOrd="1" destOrd="0" parTransId="{6E93B8F9-1BA6-4351-89A0-8215026B9292}" sibTransId="{4B941C40-2615-44BE-BFDA-79EE8DD2B672}"/>
    <dgm:cxn modelId="{EFB4B3AE-3AA0-49CD-BB78-F58054C89E48}" type="presParOf" srcId="{2F94C339-F199-4598-8756-CAC4537F03C1}" destId="{8C6B82C7-453A-44FA-BB46-CF99388714E8}" srcOrd="0" destOrd="0" presId="urn:microsoft.com/office/officeart/2016/7/layout/VerticalSolidActionList"/>
    <dgm:cxn modelId="{11011929-8D60-426C-8E47-D92AAA43832B}" type="presParOf" srcId="{8C6B82C7-453A-44FA-BB46-CF99388714E8}" destId="{66F2B629-8D3C-4D31-A2C1-1857F2431893}" srcOrd="0" destOrd="0" presId="urn:microsoft.com/office/officeart/2016/7/layout/VerticalSolidActionList"/>
    <dgm:cxn modelId="{12D138C7-AF26-44B7-B66A-33E6A364C93E}" type="presParOf" srcId="{8C6B82C7-453A-44FA-BB46-CF99388714E8}" destId="{A874B085-1C76-41FC-A870-A70637979985}" srcOrd="1" destOrd="0" presId="urn:microsoft.com/office/officeart/2016/7/layout/VerticalSolidActionList"/>
    <dgm:cxn modelId="{668BA3D1-ACB6-46B8-A378-07B094372C90}" type="presParOf" srcId="{2F94C339-F199-4598-8756-CAC4537F03C1}" destId="{2C4F66CA-58AD-426D-BFCE-2CB62783B4DA}" srcOrd="1" destOrd="0" presId="urn:microsoft.com/office/officeart/2016/7/layout/VerticalSolidActionList"/>
    <dgm:cxn modelId="{CB5E65DE-2955-4CDA-969A-397EEF6BBADE}" type="presParOf" srcId="{2F94C339-F199-4598-8756-CAC4537F03C1}" destId="{90C04FD5-F4CA-4815-A8DE-5713B9AD2BA7}" srcOrd="2" destOrd="0" presId="urn:microsoft.com/office/officeart/2016/7/layout/VerticalSolidActionList"/>
    <dgm:cxn modelId="{34281731-FA7D-4D24-BFB6-1241D7EA5634}" type="presParOf" srcId="{90C04FD5-F4CA-4815-A8DE-5713B9AD2BA7}" destId="{4B1D786E-3687-4F80-A883-F69CB1F959AE}" srcOrd="0" destOrd="0" presId="urn:microsoft.com/office/officeart/2016/7/layout/VerticalSolidActionList"/>
    <dgm:cxn modelId="{0122F30E-ACA8-4B16-9989-E50E8220607B}" type="presParOf" srcId="{90C04FD5-F4CA-4815-A8DE-5713B9AD2BA7}" destId="{BC946108-142E-4B80-A898-137015D8479A}" srcOrd="1" destOrd="0" presId="urn:microsoft.com/office/officeart/2016/7/layout/VerticalSolidActionList"/>
    <dgm:cxn modelId="{635AE05B-CDE5-4FFE-A670-9A3044419F93}" type="presParOf" srcId="{2F94C339-F199-4598-8756-CAC4537F03C1}" destId="{72B87FF6-E843-42DB-A8BC-4FEE8F870CD5}" srcOrd="3" destOrd="0" presId="urn:microsoft.com/office/officeart/2016/7/layout/VerticalSolidActionList"/>
    <dgm:cxn modelId="{2BD8DCD9-A545-40C4-8DBA-85169D26EF32}" type="presParOf" srcId="{2F94C339-F199-4598-8756-CAC4537F03C1}" destId="{93351EC7-BF7E-4697-A3C4-C312BAE698E1}" srcOrd="4" destOrd="0" presId="urn:microsoft.com/office/officeart/2016/7/layout/VerticalSolidActionList"/>
    <dgm:cxn modelId="{2006291C-8670-46F5-A245-2766BD441062}" type="presParOf" srcId="{93351EC7-BF7E-4697-A3C4-C312BAE698E1}" destId="{32F58152-D00B-4041-831C-AF4F9ED4CEA3}" srcOrd="0" destOrd="0" presId="urn:microsoft.com/office/officeart/2016/7/layout/VerticalSolidActionList"/>
    <dgm:cxn modelId="{D59852E0-C1C7-4016-B6A0-AEAA972DB388}" type="presParOf" srcId="{93351EC7-BF7E-4697-A3C4-C312BAE698E1}" destId="{9B478BE6-CF51-4338-87CE-4D9C7DD35E55}" srcOrd="1" destOrd="0" presId="urn:microsoft.com/office/officeart/2016/7/layout/VerticalSolidActionList"/>
    <dgm:cxn modelId="{A2D327DC-7D4A-412E-BA80-0145B32CCAC7}" type="presParOf" srcId="{2F94C339-F199-4598-8756-CAC4537F03C1}" destId="{61E5D9BB-A9CA-43CB-A639-EA565B36424F}" srcOrd="5" destOrd="0" presId="urn:microsoft.com/office/officeart/2016/7/layout/VerticalSolidActionList"/>
    <dgm:cxn modelId="{3731FA93-750E-4658-B4B4-62291268F590}" type="presParOf" srcId="{2F94C339-F199-4598-8756-CAC4537F03C1}" destId="{A5760308-49DB-4A2E-B3BC-205416F6E671}" srcOrd="6" destOrd="0" presId="urn:microsoft.com/office/officeart/2016/7/layout/VerticalSolidActionList"/>
    <dgm:cxn modelId="{38E92EC2-6134-4970-8307-3BC0D03D90F7}" type="presParOf" srcId="{A5760308-49DB-4A2E-B3BC-205416F6E671}" destId="{89872E19-697C-43BD-A218-2F3EAA8F4874}" srcOrd="0" destOrd="0" presId="urn:microsoft.com/office/officeart/2016/7/layout/VerticalSolidActionList"/>
    <dgm:cxn modelId="{FFEB94D5-A916-4181-AB6E-FE746783D107}" type="presParOf" srcId="{A5760308-49DB-4A2E-B3BC-205416F6E671}" destId="{EA6FB464-A0E4-4014-89EC-FD89C5E96B6D}" srcOrd="1" destOrd="0" presId="urn:microsoft.com/office/officeart/2016/7/layout/VerticalSolidActionList"/>
    <dgm:cxn modelId="{070F5042-0BA3-42A5-8AEC-547DAFA2B6E7}" type="presParOf" srcId="{2F94C339-F199-4598-8756-CAC4537F03C1}" destId="{291A09EB-5395-46B8-9ED3-AB331320FD01}" srcOrd="7" destOrd="0" presId="urn:microsoft.com/office/officeart/2016/7/layout/VerticalSolidActionList"/>
    <dgm:cxn modelId="{561590D8-0890-462C-BC61-BCBEB8CC3E9D}" type="presParOf" srcId="{2F94C339-F199-4598-8756-CAC4537F03C1}" destId="{01DB8E81-AD87-4CC8-8A86-ABBE9972688F}" srcOrd="8" destOrd="0" presId="urn:microsoft.com/office/officeart/2016/7/layout/VerticalSolidActionList"/>
    <dgm:cxn modelId="{F80303CD-D2D2-4B09-A580-710204E6D7A8}" type="presParOf" srcId="{01DB8E81-AD87-4CC8-8A86-ABBE9972688F}" destId="{BAF920D2-3890-4811-BC35-51481851F220}" srcOrd="0" destOrd="0" presId="urn:microsoft.com/office/officeart/2016/7/layout/VerticalSolidActionList"/>
    <dgm:cxn modelId="{60BF9F27-F72E-4587-BA22-38BF0A929C7C}" type="presParOf" srcId="{01DB8E81-AD87-4CC8-8A86-ABBE9972688F}" destId="{5C380DE4-6895-400D-8FFE-A701EE144DD7}"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21C157-38E5-492A-BC57-40DE75975BB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6C734EEA-39D9-4EEC-A833-388C2D9EFC39}">
      <dgm:prSet/>
      <dgm:spPr/>
      <dgm:t>
        <a:bodyPr/>
        <a:lstStyle/>
        <a:p>
          <a:r>
            <a:rPr lang="en-US" b="0" i="0" baseline="0"/>
            <a:t>Why is OFDM preferred in Wi-Fi instead of single-carrier QAM?</a:t>
          </a:r>
          <a:endParaRPr lang="en-US"/>
        </a:p>
      </dgm:t>
    </dgm:pt>
    <dgm:pt modelId="{7EFFEB8F-409A-4575-9369-82BBAAE0441F}" type="parTrans" cxnId="{B76A85DF-ECAC-4684-8C41-05F68E19E57E}">
      <dgm:prSet/>
      <dgm:spPr/>
      <dgm:t>
        <a:bodyPr/>
        <a:lstStyle/>
        <a:p>
          <a:endParaRPr lang="en-US"/>
        </a:p>
      </dgm:t>
    </dgm:pt>
    <dgm:pt modelId="{E91A69AC-0256-4E19-BCE1-84A5A38D3384}" type="sibTrans" cxnId="{B76A85DF-ECAC-4684-8C41-05F68E19E57E}">
      <dgm:prSet/>
      <dgm:spPr/>
      <dgm:t>
        <a:bodyPr/>
        <a:lstStyle/>
        <a:p>
          <a:endParaRPr lang="en-US"/>
        </a:p>
      </dgm:t>
    </dgm:pt>
    <dgm:pt modelId="{E9DBD95F-5E17-4B95-B298-6D4F4C7986F5}">
      <dgm:prSet/>
      <dgm:spPr/>
      <dgm:t>
        <a:bodyPr/>
        <a:lstStyle/>
        <a:p>
          <a:r>
            <a:rPr lang="en-US" b="0" i="0" baseline="0"/>
            <a:t>What happens if CP &lt; delay spread?</a:t>
          </a:r>
          <a:endParaRPr lang="en-US"/>
        </a:p>
      </dgm:t>
    </dgm:pt>
    <dgm:pt modelId="{EC653EA8-799E-4C1C-9A03-E36E1329ED14}" type="parTrans" cxnId="{2A931E1B-CD10-4646-AAFB-F5F7BD945FFE}">
      <dgm:prSet/>
      <dgm:spPr/>
      <dgm:t>
        <a:bodyPr/>
        <a:lstStyle/>
        <a:p>
          <a:endParaRPr lang="en-US"/>
        </a:p>
      </dgm:t>
    </dgm:pt>
    <dgm:pt modelId="{7390A08F-E309-4A5F-9D49-E83C970E7672}" type="sibTrans" cxnId="{2A931E1B-CD10-4646-AAFB-F5F7BD945FFE}">
      <dgm:prSet/>
      <dgm:spPr/>
      <dgm:t>
        <a:bodyPr/>
        <a:lstStyle/>
        <a:p>
          <a:endParaRPr lang="en-US"/>
        </a:p>
      </dgm:t>
    </dgm:pt>
    <dgm:pt modelId="{9558E458-2D2C-4C47-8A97-1B2EB2E4F9BD}">
      <dgm:prSet/>
      <dgm:spPr/>
      <dgm:t>
        <a:bodyPr/>
        <a:lstStyle/>
        <a:p>
          <a:r>
            <a:rPr lang="en-US" b="0" i="0" baseline="0"/>
            <a:t>Why does increasing subcarriers increase Doppler sensitivity?</a:t>
          </a:r>
          <a:endParaRPr lang="en-US"/>
        </a:p>
      </dgm:t>
    </dgm:pt>
    <dgm:pt modelId="{E3FD4868-F682-4590-9D54-5D772718B58D}" type="parTrans" cxnId="{F70AB435-3961-4EBF-9D1C-D5A72E1C0FA4}">
      <dgm:prSet/>
      <dgm:spPr/>
      <dgm:t>
        <a:bodyPr/>
        <a:lstStyle/>
        <a:p>
          <a:endParaRPr lang="en-US"/>
        </a:p>
      </dgm:t>
    </dgm:pt>
    <dgm:pt modelId="{85F02D18-8948-401C-BD56-40098EFBE67D}" type="sibTrans" cxnId="{F70AB435-3961-4EBF-9D1C-D5A72E1C0FA4}">
      <dgm:prSet/>
      <dgm:spPr/>
      <dgm:t>
        <a:bodyPr/>
        <a:lstStyle/>
        <a:p>
          <a:endParaRPr lang="en-US"/>
        </a:p>
      </dgm:t>
    </dgm:pt>
    <dgm:pt modelId="{FE1780B8-9AA3-4A5D-89F2-CFA228E1F217}">
      <dgm:prSet/>
      <dgm:spPr/>
      <dgm:t>
        <a:bodyPr/>
        <a:lstStyle/>
        <a:p>
          <a:r>
            <a:rPr lang="en-US" b="0" i="0" baseline="0"/>
            <a:t>How would OFDM behave in high-speed trains (&gt;300 km/h)?</a:t>
          </a:r>
          <a:endParaRPr lang="en-US"/>
        </a:p>
      </dgm:t>
    </dgm:pt>
    <dgm:pt modelId="{4C4C0442-25EE-4C13-92B7-5A0771C5EB74}" type="parTrans" cxnId="{A886F02E-FFD8-43C8-B0EA-36C4718BD1AE}">
      <dgm:prSet/>
      <dgm:spPr/>
      <dgm:t>
        <a:bodyPr/>
        <a:lstStyle/>
        <a:p>
          <a:endParaRPr lang="en-US"/>
        </a:p>
      </dgm:t>
    </dgm:pt>
    <dgm:pt modelId="{8AE79944-2264-4CB8-A20A-B68634B70C34}" type="sibTrans" cxnId="{A886F02E-FFD8-43C8-B0EA-36C4718BD1AE}">
      <dgm:prSet/>
      <dgm:spPr/>
      <dgm:t>
        <a:bodyPr/>
        <a:lstStyle/>
        <a:p>
          <a:endParaRPr lang="en-US"/>
        </a:p>
      </dgm:t>
    </dgm:pt>
    <dgm:pt modelId="{4A5DD436-4E49-4574-B8B8-D748C0B8B675}" type="pres">
      <dgm:prSet presAssocID="{1321C157-38E5-492A-BC57-40DE75975BB2}" presName="root" presStyleCnt="0">
        <dgm:presLayoutVars>
          <dgm:dir/>
          <dgm:resizeHandles val="exact"/>
        </dgm:presLayoutVars>
      </dgm:prSet>
      <dgm:spPr/>
    </dgm:pt>
    <dgm:pt modelId="{DB84DDF2-95EE-487B-9288-B11C9603FCB5}" type="pres">
      <dgm:prSet presAssocID="{6C734EEA-39D9-4EEC-A833-388C2D9EFC39}" presName="compNode" presStyleCnt="0"/>
      <dgm:spPr/>
    </dgm:pt>
    <dgm:pt modelId="{C6F53326-E332-44F4-A6CB-7B15E6B3B3E8}" type="pres">
      <dgm:prSet presAssocID="{6C734EEA-39D9-4EEC-A833-388C2D9EFC39}" presName="bgRect" presStyleLbl="bgShp" presStyleIdx="0" presStyleCnt="4"/>
      <dgm:spPr/>
    </dgm:pt>
    <dgm:pt modelId="{DE9EBE5F-659A-4896-A713-E7E0CD4C79FA}" type="pres">
      <dgm:prSet presAssocID="{6C734EEA-39D9-4EEC-A833-388C2D9EFC3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Fi"/>
        </a:ext>
      </dgm:extLst>
    </dgm:pt>
    <dgm:pt modelId="{32B45504-545B-4306-A96D-D99CA3BABEFF}" type="pres">
      <dgm:prSet presAssocID="{6C734EEA-39D9-4EEC-A833-388C2D9EFC39}" presName="spaceRect" presStyleCnt="0"/>
      <dgm:spPr/>
    </dgm:pt>
    <dgm:pt modelId="{A5365928-DE31-475B-9AA9-AA5A75CAAC04}" type="pres">
      <dgm:prSet presAssocID="{6C734EEA-39D9-4EEC-A833-388C2D9EFC39}" presName="parTx" presStyleLbl="revTx" presStyleIdx="0" presStyleCnt="4">
        <dgm:presLayoutVars>
          <dgm:chMax val="0"/>
          <dgm:chPref val="0"/>
        </dgm:presLayoutVars>
      </dgm:prSet>
      <dgm:spPr/>
    </dgm:pt>
    <dgm:pt modelId="{19347AFC-E8CA-445E-8F62-34753B23CE2A}" type="pres">
      <dgm:prSet presAssocID="{E91A69AC-0256-4E19-BCE1-84A5A38D3384}" presName="sibTrans" presStyleCnt="0"/>
      <dgm:spPr/>
    </dgm:pt>
    <dgm:pt modelId="{3B690D0D-B331-46DA-93DC-205DBF6C2566}" type="pres">
      <dgm:prSet presAssocID="{E9DBD95F-5E17-4B95-B298-6D4F4C7986F5}" presName="compNode" presStyleCnt="0"/>
      <dgm:spPr/>
    </dgm:pt>
    <dgm:pt modelId="{F1668DD6-67ED-4400-B0D7-4E4966DBFBAC}" type="pres">
      <dgm:prSet presAssocID="{E9DBD95F-5E17-4B95-B298-6D4F4C7986F5}" presName="bgRect" presStyleLbl="bgShp" presStyleIdx="1" presStyleCnt="4"/>
      <dgm:spPr/>
    </dgm:pt>
    <dgm:pt modelId="{EF2D86B5-1777-4F8B-A48D-33083072F185}" type="pres">
      <dgm:prSet presAssocID="{E9DBD95F-5E17-4B95-B298-6D4F4C7986F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AFDCC568-A006-404D-9BE1-5D8AC3BE0FB7}" type="pres">
      <dgm:prSet presAssocID="{E9DBD95F-5E17-4B95-B298-6D4F4C7986F5}" presName="spaceRect" presStyleCnt="0"/>
      <dgm:spPr/>
    </dgm:pt>
    <dgm:pt modelId="{F2D64D89-B41B-4F74-8AE0-E9DA73C10A3C}" type="pres">
      <dgm:prSet presAssocID="{E9DBD95F-5E17-4B95-B298-6D4F4C7986F5}" presName="parTx" presStyleLbl="revTx" presStyleIdx="1" presStyleCnt="4">
        <dgm:presLayoutVars>
          <dgm:chMax val="0"/>
          <dgm:chPref val="0"/>
        </dgm:presLayoutVars>
      </dgm:prSet>
      <dgm:spPr/>
    </dgm:pt>
    <dgm:pt modelId="{659DDF5A-468C-4F9C-A681-4EEB6017473C}" type="pres">
      <dgm:prSet presAssocID="{7390A08F-E309-4A5F-9D49-E83C970E7672}" presName="sibTrans" presStyleCnt="0"/>
      <dgm:spPr/>
    </dgm:pt>
    <dgm:pt modelId="{0AC004CB-E741-4E64-8ECE-822191DA2107}" type="pres">
      <dgm:prSet presAssocID="{9558E458-2D2C-4C47-8A97-1B2EB2E4F9BD}" presName="compNode" presStyleCnt="0"/>
      <dgm:spPr/>
    </dgm:pt>
    <dgm:pt modelId="{697E9BE6-AA86-4D1C-A28D-908133A3980D}" type="pres">
      <dgm:prSet presAssocID="{9558E458-2D2C-4C47-8A97-1B2EB2E4F9BD}" presName="bgRect" presStyleLbl="bgShp" presStyleIdx="2" presStyleCnt="4"/>
      <dgm:spPr/>
    </dgm:pt>
    <dgm:pt modelId="{DC74B604-3515-4D64-8B1B-9B02FB1E3C81}" type="pres">
      <dgm:prSet presAssocID="{9558E458-2D2C-4C47-8A97-1B2EB2E4F9B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with Pulse"/>
        </a:ext>
      </dgm:extLst>
    </dgm:pt>
    <dgm:pt modelId="{0CE73453-D063-4673-A0BF-12F0FC538D22}" type="pres">
      <dgm:prSet presAssocID="{9558E458-2D2C-4C47-8A97-1B2EB2E4F9BD}" presName="spaceRect" presStyleCnt="0"/>
      <dgm:spPr/>
    </dgm:pt>
    <dgm:pt modelId="{F19A7EA6-5E59-4D50-AF58-7A17E191B0FE}" type="pres">
      <dgm:prSet presAssocID="{9558E458-2D2C-4C47-8A97-1B2EB2E4F9BD}" presName="parTx" presStyleLbl="revTx" presStyleIdx="2" presStyleCnt="4">
        <dgm:presLayoutVars>
          <dgm:chMax val="0"/>
          <dgm:chPref val="0"/>
        </dgm:presLayoutVars>
      </dgm:prSet>
      <dgm:spPr/>
    </dgm:pt>
    <dgm:pt modelId="{A0B13A56-5D3F-4265-B156-648057249062}" type="pres">
      <dgm:prSet presAssocID="{85F02D18-8948-401C-BD56-40098EFBE67D}" presName="sibTrans" presStyleCnt="0"/>
      <dgm:spPr/>
    </dgm:pt>
    <dgm:pt modelId="{AF201645-AE07-43C5-A80B-34B2D24D1FEA}" type="pres">
      <dgm:prSet presAssocID="{FE1780B8-9AA3-4A5D-89F2-CFA228E1F217}" presName="compNode" presStyleCnt="0"/>
      <dgm:spPr/>
    </dgm:pt>
    <dgm:pt modelId="{FBFBB92B-633A-4655-867E-CE5E0EFEADD1}" type="pres">
      <dgm:prSet presAssocID="{FE1780B8-9AA3-4A5D-89F2-CFA228E1F217}" presName="bgRect" presStyleLbl="bgShp" presStyleIdx="3" presStyleCnt="4"/>
      <dgm:spPr/>
    </dgm:pt>
    <dgm:pt modelId="{2DE356C6-DF30-4D20-BD4C-4633FEDF7FEC}" type="pres">
      <dgm:prSet presAssocID="{FE1780B8-9AA3-4A5D-89F2-CFA228E1F21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in"/>
        </a:ext>
      </dgm:extLst>
    </dgm:pt>
    <dgm:pt modelId="{A7B1FFDF-D759-43DE-B241-A2F5E8BB7F82}" type="pres">
      <dgm:prSet presAssocID="{FE1780B8-9AA3-4A5D-89F2-CFA228E1F217}" presName="spaceRect" presStyleCnt="0"/>
      <dgm:spPr/>
    </dgm:pt>
    <dgm:pt modelId="{91ED60CD-82DF-48BE-9D68-9DF48BDC5E85}" type="pres">
      <dgm:prSet presAssocID="{FE1780B8-9AA3-4A5D-89F2-CFA228E1F217}" presName="parTx" presStyleLbl="revTx" presStyleIdx="3" presStyleCnt="4">
        <dgm:presLayoutVars>
          <dgm:chMax val="0"/>
          <dgm:chPref val="0"/>
        </dgm:presLayoutVars>
      </dgm:prSet>
      <dgm:spPr/>
    </dgm:pt>
  </dgm:ptLst>
  <dgm:cxnLst>
    <dgm:cxn modelId="{2A931E1B-CD10-4646-AAFB-F5F7BD945FFE}" srcId="{1321C157-38E5-492A-BC57-40DE75975BB2}" destId="{E9DBD95F-5E17-4B95-B298-6D4F4C7986F5}" srcOrd="1" destOrd="0" parTransId="{EC653EA8-799E-4C1C-9A03-E36E1329ED14}" sibTransId="{7390A08F-E309-4A5F-9D49-E83C970E7672}"/>
    <dgm:cxn modelId="{1679561E-6A89-44FB-B75D-EB2E7F12D83E}" type="presOf" srcId="{E9DBD95F-5E17-4B95-B298-6D4F4C7986F5}" destId="{F2D64D89-B41B-4F74-8AE0-E9DA73C10A3C}" srcOrd="0" destOrd="0" presId="urn:microsoft.com/office/officeart/2018/2/layout/IconVerticalSolidList"/>
    <dgm:cxn modelId="{A886F02E-FFD8-43C8-B0EA-36C4718BD1AE}" srcId="{1321C157-38E5-492A-BC57-40DE75975BB2}" destId="{FE1780B8-9AA3-4A5D-89F2-CFA228E1F217}" srcOrd="3" destOrd="0" parTransId="{4C4C0442-25EE-4C13-92B7-5A0771C5EB74}" sibTransId="{8AE79944-2264-4CB8-A20A-B68634B70C34}"/>
    <dgm:cxn modelId="{F70AB435-3961-4EBF-9D1C-D5A72E1C0FA4}" srcId="{1321C157-38E5-492A-BC57-40DE75975BB2}" destId="{9558E458-2D2C-4C47-8A97-1B2EB2E4F9BD}" srcOrd="2" destOrd="0" parTransId="{E3FD4868-F682-4590-9D54-5D772718B58D}" sibTransId="{85F02D18-8948-401C-BD56-40098EFBE67D}"/>
    <dgm:cxn modelId="{752ED535-FE62-4F60-9873-D8A3F90CBD88}" type="presOf" srcId="{1321C157-38E5-492A-BC57-40DE75975BB2}" destId="{4A5DD436-4E49-4574-B8B8-D748C0B8B675}" srcOrd="0" destOrd="0" presId="urn:microsoft.com/office/officeart/2018/2/layout/IconVerticalSolidList"/>
    <dgm:cxn modelId="{51C96939-76D8-486C-9E42-F95D31277999}" type="presOf" srcId="{6C734EEA-39D9-4EEC-A833-388C2D9EFC39}" destId="{A5365928-DE31-475B-9AA9-AA5A75CAAC04}" srcOrd="0" destOrd="0" presId="urn:microsoft.com/office/officeart/2018/2/layout/IconVerticalSolidList"/>
    <dgm:cxn modelId="{7AC55C6A-741C-44CF-9AF2-D714F9D545DD}" type="presOf" srcId="{9558E458-2D2C-4C47-8A97-1B2EB2E4F9BD}" destId="{F19A7EA6-5E59-4D50-AF58-7A17E191B0FE}" srcOrd="0" destOrd="0" presId="urn:microsoft.com/office/officeart/2018/2/layout/IconVerticalSolidList"/>
    <dgm:cxn modelId="{36A7B8D8-7899-44C0-A786-175EFBF7E0D5}" type="presOf" srcId="{FE1780B8-9AA3-4A5D-89F2-CFA228E1F217}" destId="{91ED60CD-82DF-48BE-9D68-9DF48BDC5E85}" srcOrd="0" destOrd="0" presId="urn:microsoft.com/office/officeart/2018/2/layout/IconVerticalSolidList"/>
    <dgm:cxn modelId="{B76A85DF-ECAC-4684-8C41-05F68E19E57E}" srcId="{1321C157-38E5-492A-BC57-40DE75975BB2}" destId="{6C734EEA-39D9-4EEC-A833-388C2D9EFC39}" srcOrd="0" destOrd="0" parTransId="{7EFFEB8F-409A-4575-9369-82BBAAE0441F}" sibTransId="{E91A69AC-0256-4E19-BCE1-84A5A38D3384}"/>
    <dgm:cxn modelId="{51169D08-CE75-48CC-8B2A-72747B641906}" type="presParOf" srcId="{4A5DD436-4E49-4574-B8B8-D748C0B8B675}" destId="{DB84DDF2-95EE-487B-9288-B11C9603FCB5}" srcOrd="0" destOrd="0" presId="urn:microsoft.com/office/officeart/2018/2/layout/IconVerticalSolidList"/>
    <dgm:cxn modelId="{D31A6208-DBC4-4326-BE30-E4CBAC1D1207}" type="presParOf" srcId="{DB84DDF2-95EE-487B-9288-B11C9603FCB5}" destId="{C6F53326-E332-44F4-A6CB-7B15E6B3B3E8}" srcOrd="0" destOrd="0" presId="urn:microsoft.com/office/officeart/2018/2/layout/IconVerticalSolidList"/>
    <dgm:cxn modelId="{AB885E3B-8B82-4D4A-AED5-2A1B83454AE4}" type="presParOf" srcId="{DB84DDF2-95EE-487B-9288-B11C9603FCB5}" destId="{DE9EBE5F-659A-4896-A713-E7E0CD4C79FA}" srcOrd="1" destOrd="0" presId="urn:microsoft.com/office/officeart/2018/2/layout/IconVerticalSolidList"/>
    <dgm:cxn modelId="{07A6FCC7-90C0-4D1C-9759-07134C4494EB}" type="presParOf" srcId="{DB84DDF2-95EE-487B-9288-B11C9603FCB5}" destId="{32B45504-545B-4306-A96D-D99CA3BABEFF}" srcOrd="2" destOrd="0" presId="urn:microsoft.com/office/officeart/2018/2/layout/IconVerticalSolidList"/>
    <dgm:cxn modelId="{1C473BB1-8841-41AE-B0C3-852C51D16665}" type="presParOf" srcId="{DB84DDF2-95EE-487B-9288-B11C9603FCB5}" destId="{A5365928-DE31-475B-9AA9-AA5A75CAAC04}" srcOrd="3" destOrd="0" presId="urn:microsoft.com/office/officeart/2018/2/layout/IconVerticalSolidList"/>
    <dgm:cxn modelId="{25F39D36-3A5D-4508-AD97-7EB62CC7839E}" type="presParOf" srcId="{4A5DD436-4E49-4574-B8B8-D748C0B8B675}" destId="{19347AFC-E8CA-445E-8F62-34753B23CE2A}" srcOrd="1" destOrd="0" presId="urn:microsoft.com/office/officeart/2018/2/layout/IconVerticalSolidList"/>
    <dgm:cxn modelId="{33E14A25-E081-4A51-A247-59DC2B917A38}" type="presParOf" srcId="{4A5DD436-4E49-4574-B8B8-D748C0B8B675}" destId="{3B690D0D-B331-46DA-93DC-205DBF6C2566}" srcOrd="2" destOrd="0" presId="urn:microsoft.com/office/officeart/2018/2/layout/IconVerticalSolidList"/>
    <dgm:cxn modelId="{5A101EC5-0A4C-4E79-B533-8236EA79BF98}" type="presParOf" srcId="{3B690D0D-B331-46DA-93DC-205DBF6C2566}" destId="{F1668DD6-67ED-4400-B0D7-4E4966DBFBAC}" srcOrd="0" destOrd="0" presId="urn:microsoft.com/office/officeart/2018/2/layout/IconVerticalSolidList"/>
    <dgm:cxn modelId="{A2655A21-A9DA-44D1-95C1-5CF1153B13BA}" type="presParOf" srcId="{3B690D0D-B331-46DA-93DC-205DBF6C2566}" destId="{EF2D86B5-1777-4F8B-A48D-33083072F185}" srcOrd="1" destOrd="0" presId="urn:microsoft.com/office/officeart/2018/2/layout/IconVerticalSolidList"/>
    <dgm:cxn modelId="{27C37429-4D5B-47B5-B8C3-469294B20255}" type="presParOf" srcId="{3B690D0D-B331-46DA-93DC-205DBF6C2566}" destId="{AFDCC568-A006-404D-9BE1-5D8AC3BE0FB7}" srcOrd="2" destOrd="0" presId="urn:microsoft.com/office/officeart/2018/2/layout/IconVerticalSolidList"/>
    <dgm:cxn modelId="{1D50582D-EF57-49AE-A92C-C493695227A3}" type="presParOf" srcId="{3B690D0D-B331-46DA-93DC-205DBF6C2566}" destId="{F2D64D89-B41B-4F74-8AE0-E9DA73C10A3C}" srcOrd="3" destOrd="0" presId="urn:microsoft.com/office/officeart/2018/2/layout/IconVerticalSolidList"/>
    <dgm:cxn modelId="{030E5DDE-9579-43D7-B317-3A1D5CC2702F}" type="presParOf" srcId="{4A5DD436-4E49-4574-B8B8-D748C0B8B675}" destId="{659DDF5A-468C-4F9C-A681-4EEB6017473C}" srcOrd="3" destOrd="0" presId="urn:microsoft.com/office/officeart/2018/2/layout/IconVerticalSolidList"/>
    <dgm:cxn modelId="{E2E94402-A6CA-495E-87AB-706C62EB5A48}" type="presParOf" srcId="{4A5DD436-4E49-4574-B8B8-D748C0B8B675}" destId="{0AC004CB-E741-4E64-8ECE-822191DA2107}" srcOrd="4" destOrd="0" presId="urn:microsoft.com/office/officeart/2018/2/layout/IconVerticalSolidList"/>
    <dgm:cxn modelId="{C1BCAE1F-CA24-4121-88E8-6D61118C00C6}" type="presParOf" srcId="{0AC004CB-E741-4E64-8ECE-822191DA2107}" destId="{697E9BE6-AA86-4D1C-A28D-908133A3980D}" srcOrd="0" destOrd="0" presId="urn:microsoft.com/office/officeart/2018/2/layout/IconVerticalSolidList"/>
    <dgm:cxn modelId="{CF3489F2-4D56-4572-ADE1-EC8C44EC09F6}" type="presParOf" srcId="{0AC004CB-E741-4E64-8ECE-822191DA2107}" destId="{DC74B604-3515-4D64-8B1B-9B02FB1E3C81}" srcOrd="1" destOrd="0" presId="urn:microsoft.com/office/officeart/2018/2/layout/IconVerticalSolidList"/>
    <dgm:cxn modelId="{E48AF942-95D2-484A-95CB-BE1DC32658A9}" type="presParOf" srcId="{0AC004CB-E741-4E64-8ECE-822191DA2107}" destId="{0CE73453-D063-4673-A0BF-12F0FC538D22}" srcOrd="2" destOrd="0" presId="urn:microsoft.com/office/officeart/2018/2/layout/IconVerticalSolidList"/>
    <dgm:cxn modelId="{36D0679F-D2A0-45CA-82E6-B010B5D6E93C}" type="presParOf" srcId="{0AC004CB-E741-4E64-8ECE-822191DA2107}" destId="{F19A7EA6-5E59-4D50-AF58-7A17E191B0FE}" srcOrd="3" destOrd="0" presId="urn:microsoft.com/office/officeart/2018/2/layout/IconVerticalSolidList"/>
    <dgm:cxn modelId="{31D9B609-781B-4750-BD59-EDE98271CF19}" type="presParOf" srcId="{4A5DD436-4E49-4574-B8B8-D748C0B8B675}" destId="{A0B13A56-5D3F-4265-B156-648057249062}" srcOrd="5" destOrd="0" presId="urn:microsoft.com/office/officeart/2018/2/layout/IconVerticalSolidList"/>
    <dgm:cxn modelId="{F47D675A-191D-4D18-825E-15577B56D387}" type="presParOf" srcId="{4A5DD436-4E49-4574-B8B8-D748C0B8B675}" destId="{AF201645-AE07-43C5-A80B-34B2D24D1FEA}" srcOrd="6" destOrd="0" presId="urn:microsoft.com/office/officeart/2018/2/layout/IconVerticalSolidList"/>
    <dgm:cxn modelId="{AC41CD24-4D1C-4049-8A63-777ECBAD7E61}" type="presParOf" srcId="{AF201645-AE07-43C5-A80B-34B2D24D1FEA}" destId="{FBFBB92B-633A-4655-867E-CE5E0EFEADD1}" srcOrd="0" destOrd="0" presId="urn:microsoft.com/office/officeart/2018/2/layout/IconVerticalSolidList"/>
    <dgm:cxn modelId="{F2503664-9170-4403-9D95-B1A6A4B57118}" type="presParOf" srcId="{AF201645-AE07-43C5-A80B-34B2D24D1FEA}" destId="{2DE356C6-DF30-4D20-BD4C-4633FEDF7FEC}" srcOrd="1" destOrd="0" presId="urn:microsoft.com/office/officeart/2018/2/layout/IconVerticalSolidList"/>
    <dgm:cxn modelId="{610403A4-BC8B-4B47-A0D6-32FDE04452BF}" type="presParOf" srcId="{AF201645-AE07-43C5-A80B-34B2D24D1FEA}" destId="{A7B1FFDF-D759-43DE-B241-A2F5E8BB7F82}" srcOrd="2" destOrd="0" presId="urn:microsoft.com/office/officeart/2018/2/layout/IconVerticalSolidList"/>
    <dgm:cxn modelId="{213A147F-6844-486D-9FAA-726B813C1EDA}" type="presParOf" srcId="{AF201645-AE07-43C5-A80B-34B2D24D1FEA}" destId="{91ED60CD-82DF-48BE-9D68-9DF48BDC5E8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4B085-1C76-41FC-A870-A70637979985}">
      <dsp:nvSpPr>
        <dsp:cNvPr id="0" name=""/>
        <dsp:cNvSpPr/>
      </dsp:nvSpPr>
      <dsp:spPr>
        <a:xfrm>
          <a:off x="1719547" y="1890"/>
          <a:ext cx="6878189" cy="82968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456" tIns="210740" rIns="133456" bIns="210740" numCol="1" spcCol="1270" anchor="ctr" anchorCtr="0">
          <a:noAutofit/>
        </a:bodyPr>
        <a:lstStyle/>
        <a:p>
          <a:pPr marL="0" lvl="0" indent="0" algn="l" defTabSz="889000">
            <a:lnSpc>
              <a:spcPct val="90000"/>
            </a:lnSpc>
            <a:spcBef>
              <a:spcPct val="0"/>
            </a:spcBef>
            <a:spcAft>
              <a:spcPct val="35000"/>
            </a:spcAft>
            <a:buNone/>
          </a:pPr>
          <a:r>
            <a:rPr lang="en-US" sz="2000" kern="1200" dirty="0"/>
            <a:t>Explain the difference between single-carrier and multicarrier modulation</a:t>
          </a:r>
        </a:p>
      </dsp:txBody>
      <dsp:txXfrm>
        <a:off x="1719547" y="1890"/>
        <a:ext cx="6878189" cy="829686"/>
      </dsp:txXfrm>
    </dsp:sp>
    <dsp:sp modelId="{66F2B629-8D3C-4D31-A2C1-1857F2431893}">
      <dsp:nvSpPr>
        <dsp:cNvPr id="0" name=""/>
        <dsp:cNvSpPr/>
      </dsp:nvSpPr>
      <dsp:spPr>
        <a:xfrm>
          <a:off x="0" y="1890"/>
          <a:ext cx="1719547" cy="829686"/>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993" tIns="81955" rIns="90993" bIns="81955" numCol="1" spcCol="1270" anchor="ctr" anchorCtr="0">
          <a:noAutofit/>
        </a:bodyPr>
        <a:lstStyle/>
        <a:p>
          <a:pPr marL="0" lvl="0" indent="0" algn="ctr" defTabSz="889000">
            <a:lnSpc>
              <a:spcPct val="90000"/>
            </a:lnSpc>
            <a:spcBef>
              <a:spcPct val="0"/>
            </a:spcBef>
            <a:spcAft>
              <a:spcPct val="35000"/>
            </a:spcAft>
            <a:buNone/>
          </a:pPr>
          <a:r>
            <a:rPr lang="en-US" sz="2000" kern="1200"/>
            <a:t>Explain</a:t>
          </a:r>
        </a:p>
      </dsp:txBody>
      <dsp:txXfrm>
        <a:off x="0" y="1890"/>
        <a:ext cx="1719547" cy="829686"/>
      </dsp:txXfrm>
    </dsp:sp>
    <dsp:sp modelId="{BC946108-142E-4B80-A898-137015D8479A}">
      <dsp:nvSpPr>
        <dsp:cNvPr id="0" name=""/>
        <dsp:cNvSpPr/>
      </dsp:nvSpPr>
      <dsp:spPr>
        <a:xfrm>
          <a:off x="1719547" y="881358"/>
          <a:ext cx="6878189" cy="829686"/>
        </a:xfrm>
        <a:prstGeom prst="rect">
          <a:avLst/>
        </a:prstGeom>
        <a:solidFill>
          <a:schemeClr val="accent2">
            <a:tint val="40000"/>
            <a:alpha val="90000"/>
            <a:hueOff val="-212306"/>
            <a:satOff val="-18836"/>
            <a:lumOff val="-192"/>
            <a:alphaOff val="0"/>
          </a:schemeClr>
        </a:solidFill>
        <a:ln w="12700" cap="flat" cmpd="sng" algn="ctr">
          <a:solidFill>
            <a:schemeClr val="accent2">
              <a:tint val="40000"/>
              <a:alpha val="90000"/>
              <a:hueOff val="-212306"/>
              <a:satOff val="-18836"/>
              <a:lumOff val="-1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456" tIns="210740" rIns="133456" bIns="210740" numCol="1" spcCol="1270" anchor="ctr" anchorCtr="0">
          <a:noAutofit/>
        </a:bodyPr>
        <a:lstStyle/>
        <a:p>
          <a:pPr marL="0" lvl="0" indent="0" algn="l" defTabSz="889000">
            <a:lnSpc>
              <a:spcPct val="90000"/>
            </a:lnSpc>
            <a:spcBef>
              <a:spcPct val="0"/>
            </a:spcBef>
            <a:spcAft>
              <a:spcPct val="35000"/>
            </a:spcAft>
            <a:buNone/>
          </a:pPr>
          <a:r>
            <a:rPr lang="en-US" sz="2000" kern="1200"/>
            <a:t>Understand why OFDM solves ISI problems in frequency-selective channels</a:t>
          </a:r>
        </a:p>
      </dsp:txBody>
      <dsp:txXfrm>
        <a:off x="1719547" y="881358"/>
        <a:ext cx="6878189" cy="829686"/>
      </dsp:txXfrm>
    </dsp:sp>
    <dsp:sp modelId="{4B1D786E-3687-4F80-A883-F69CB1F959AE}">
      <dsp:nvSpPr>
        <dsp:cNvPr id="0" name=""/>
        <dsp:cNvSpPr/>
      </dsp:nvSpPr>
      <dsp:spPr>
        <a:xfrm>
          <a:off x="0" y="881358"/>
          <a:ext cx="1719547" cy="829686"/>
        </a:xfrm>
        <a:prstGeom prst="rect">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993" tIns="81955" rIns="90993" bIns="81955" numCol="1" spcCol="1270" anchor="ctr" anchorCtr="0">
          <a:noAutofit/>
        </a:bodyPr>
        <a:lstStyle/>
        <a:p>
          <a:pPr marL="0" lvl="0" indent="0" algn="ctr" defTabSz="889000">
            <a:lnSpc>
              <a:spcPct val="90000"/>
            </a:lnSpc>
            <a:spcBef>
              <a:spcPct val="0"/>
            </a:spcBef>
            <a:spcAft>
              <a:spcPct val="35000"/>
            </a:spcAft>
            <a:buNone/>
          </a:pPr>
          <a:r>
            <a:rPr lang="en-US" sz="2000" kern="1200"/>
            <a:t>Understand</a:t>
          </a:r>
        </a:p>
      </dsp:txBody>
      <dsp:txXfrm>
        <a:off x="0" y="881358"/>
        <a:ext cx="1719547" cy="829686"/>
      </dsp:txXfrm>
    </dsp:sp>
    <dsp:sp modelId="{9B478BE6-CF51-4338-87CE-4D9C7DD35E55}">
      <dsp:nvSpPr>
        <dsp:cNvPr id="0" name=""/>
        <dsp:cNvSpPr/>
      </dsp:nvSpPr>
      <dsp:spPr>
        <a:xfrm>
          <a:off x="1719547" y="1760825"/>
          <a:ext cx="6878189" cy="829686"/>
        </a:xfrm>
        <a:prstGeom prst="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456" tIns="210740" rIns="133456" bIns="210740" numCol="1" spcCol="1270" anchor="ctr" anchorCtr="0">
          <a:noAutofit/>
        </a:bodyPr>
        <a:lstStyle/>
        <a:p>
          <a:pPr marL="0" lvl="0" indent="0" algn="l" defTabSz="889000">
            <a:lnSpc>
              <a:spcPct val="90000"/>
            </a:lnSpc>
            <a:spcBef>
              <a:spcPct val="0"/>
            </a:spcBef>
            <a:spcAft>
              <a:spcPct val="35000"/>
            </a:spcAft>
            <a:buNone/>
          </a:pPr>
          <a:r>
            <a:rPr lang="en-US" sz="2000" kern="1200"/>
            <a:t>Describe how orthogonality allows overlapping subcarriers</a:t>
          </a:r>
        </a:p>
      </dsp:txBody>
      <dsp:txXfrm>
        <a:off x="1719547" y="1760825"/>
        <a:ext cx="6878189" cy="829686"/>
      </dsp:txXfrm>
    </dsp:sp>
    <dsp:sp modelId="{32F58152-D00B-4041-831C-AF4F9ED4CEA3}">
      <dsp:nvSpPr>
        <dsp:cNvPr id="0" name=""/>
        <dsp:cNvSpPr/>
      </dsp:nvSpPr>
      <dsp:spPr>
        <a:xfrm>
          <a:off x="0" y="1760825"/>
          <a:ext cx="1719547" cy="829686"/>
        </a:xfrm>
        <a:prstGeom prst="rect">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993" tIns="81955" rIns="90993" bIns="81955" numCol="1" spcCol="1270" anchor="ctr" anchorCtr="0">
          <a:noAutofit/>
        </a:bodyPr>
        <a:lstStyle/>
        <a:p>
          <a:pPr marL="0" lvl="0" indent="0" algn="ctr" defTabSz="889000">
            <a:lnSpc>
              <a:spcPct val="90000"/>
            </a:lnSpc>
            <a:spcBef>
              <a:spcPct val="0"/>
            </a:spcBef>
            <a:spcAft>
              <a:spcPct val="35000"/>
            </a:spcAft>
            <a:buNone/>
          </a:pPr>
          <a:r>
            <a:rPr lang="en-US" sz="2000" kern="1200"/>
            <a:t>Describe</a:t>
          </a:r>
        </a:p>
      </dsp:txBody>
      <dsp:txXfrm>
        <a:off x="0" y="1760825"/>
        <a:ext cx="1719547" cy="829686"/>
      </dsp:txXfrm>
    </dsp:sp>
    <dsp:sp modelId="{EA6FB464-A0E4-4014-89EC-FD89C5E96B6D}">
      <dsp:nvSpPr>
        <dsp:cNvPr id="0" name=""/>
        <dsp:cNvSpPr/>
      </dsp:nvSpPr>
      <dsp:spPr>
        <a:xfrm>
          <a:off x="1719547" y="2640293"/>
          <a:ext cx="6878189" cy="829686"/>
        </a:xfrm>
        <a:prstGeom prst="rect">
          <a:avLst/>
        </a:prstGeom>
        <a:solidFill>
          <a:schemeClr val="accent2">
            <a:tint val="40000"/>
            <a:alpha val="90000"/>
            <a:hueOff val="-636919"/>
            <a:satOff val="-56510"/>
            <a:lumOff val="-577"/>
            <a:alphaOff val="0"/>
          </a:schemeClr>
        </a:solidFill>
        <a:ln w="12700" cap="flat" cmpd="sng" algn="ctr">
          <a:solidFill>
            <a:schemeClr val="accent2">
              <a:tint val="40000"/>
              <a:alpha val="90000"/>
              <a:hueOff val="-636919"/>
              <a:satOff val="-56510"/>
              <a:lumOff val="-5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456" tIns="210740" rIns="133456" bIns="210740" numCol="1" spcCol="1270" anchor="ctr" anchorCtr="0">
          <a:noAutofit/>
        </a:bodyPr>
        <a:lstStyle/>
        <a:p>
          <a:pPr marL="0" lvl="0" indent="0" algn="l" defTabSz="889000">
            <a:lnSpc>
              <a:spcPct val="90000"/>
            </a:lnSpc>
            <a:spcBef>
              <a:spcPct val="0"/>
            </a:spcBef>
            <a:spcAft>
              <a:spcPct val="35000"/>
            </a:spcAft>
            <a:buNone/>
          </a:pPr>
          <a:r>
            <a:rPr lang="en-US" sz="2000" kern="1200"/>
            <a:t>Explain the role of the cyclic prefix and how to size it</a:t>
          </a:r>
        </a:p>
      </dsp:txBody>
      <dsp:txXfrm>
        <a:off x="1719547" y="2640293"/>
        <a:ext cx="6878189" cy="829686"/>
      </dsp:txXfrm>
    </dsp:sp>
    <dsp:sp modelId="{89872E19-697C-43BD-A218-2F3EAA8F4874}">
      <dsp:nvSpPr>
        <dsp:cNvPr id="0" name=""/>
        <dsp:cNvSpPr/>
      </dsp:nvSpPr>
      <dsp:spPr>
        <a:xfrm>
          <a:off x="0" y="2640293"/>
          <a:ext cx="1719547" cy="829686"/>
        </a:xfrm>
        <a:prstGeom prst="rect">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993" tIns="81955" rIns="90993" bIns="81955" numCol="1" spcCol="1270" anchor="ctr" anchorCtr="0">
          <a:noAutofit/>
        </a:bodyPr>
        <a:lstStyle/>
        <a:p>
          <a:pPr marL="0" lvl="0" indent="0" algn="ctr" defTabSz="889000">
            <a:lnSpc>
              <a:spcPct val="90000"/>
            </a:lnSpc>
            <a:spcBef>
              <a:spcPct val="0"/>
            </a:spcBef>
            <a:spcAft>
              <a:spcPct val="35000"/>
            </a:spcAft>
            <a:buNone/>
          </a:pPr>
          <a:r>
            <a:rPr lang="en-US" sz="2000" kern="1200"/>
            <a:t>Explain</a:t>
          </a:r>
        </a:p>
      </dsp:txBody>
      <dsp:txXfrm>
        <a:off x="0" y="2640293"/>
        <a:ext cx="1719547" cy="829686"/>
      </dsp:txXfrm>
    </dsp:sp>
    <dsp:sp modelId="{5C380DE4-6895-400D-8FFE-A701EE144DD7}">
      <dsp:nvSpPr>
        <dsp:cNvPr id="0" name=""/>
        <dsp:cNvSpPr/>
      </dsp:nvSpPr>
      <dsp:spPr>
        <a:xfrm>
          <a:off x="1719547" y="3519760"/>
          <a:ext cx="6878189" cy="829686"/>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456" tIns="210740" rIns="133456" bIns="210740" numCol="1" spcCol="1270" anchor="ctr" anchorCtr="0">
          <a:noAutofit/>
        </a:bodyPr>
        <a:lstStyle/>
        <a:p>
          <a:pPr marL="0" lvl="0" indent="0" algn="l" defTabSz="889000">
            <a:lnSpc>
              <a:spcPct val="90000"/>
            </a:lnSpc>
            <a:spcBef>
              <a:spcPct val="0"/>
            </a:spcBef>
            <a:spcAft>
              <a:spcPct val="35000"/>
            </a:spcAft>
            <a:buNone/>
          </a:pPr>
          <a:r>
            <a:rPr lang="en-US" sz="2000" kern="1200" dirty="0"/>
            <a:t>Perform basic OFDM parameter calculations (subcarrier spacing, symbol time, CP overhead, data rate)</a:t>
          </a:r>
        </a:p>
      </dsp:txBody>
      <dsp:txXfrm>
        <a:off x="1719547" y="3519760"/>
        <a:ext cx="6878189" cy="829686"/>
      </dsp:txXfrm>
    </dsp:sp>
    <dsp:sp modelId="{BAF920D2-3890-4811-BC35-51481851F220}">
      <dsp:nvSpPr>
        <dsp:cNvPr id="0" name=""/>
        <dsp:cNvSpPr/>
      </dsp:nvSpPr>
      <dsp:spPr>
        <a:xfrm>
          <a:off x="0" y="3519760"/>
          <a:ext cx="1719547" cy="829686"/>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993" tIns="81955" rIns="90993" bIns="81955" numCol="1" spcCol="1270" anchor="ctr" anchorCtr="0">
          <a:noAutofit/>
        </a:bodyPr>
        <a:lstStyle/>
        <a:p>
          <a:pPr marL="0" lvl="0" indent="0" algn="ctr" defTabSz="889000">
            <a:lnSpc>
              <a:spcPct val="90000"/>
            </a:lnSpc>
            <a:spcBef>
              <a:spcPct val="0"/>
            </a:spcBef>
            <a:spcAft>
              <a:spcPct val="35000"/>
            </a:spcAft>
            <a:buNone/>
          </a:pPr>
          <a:r>
            <a:rPr lang="en-US" sz="2000" kern="1200"/>
            <a:t>Perform</a:t>
          </a:r>
        </a:p>
      </dsp:txBody>
      <dsp:txXfrm>
        <a:off x="0" y="3519760"/>
        <a:ext cx="1719547" cy="8296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53326-E332-44F4-A6CB-7B15E6B3B3E8}">
      <dsp:nvSpPr>
        <dsp:cNvPr id="0" name=""/>
        <dsp:cNvSpPr/>
      </dsp:nvSpPr>
      <dsp:spPr>
        <a:xfrm>
          <a:off x="0" y="2319"/>
          <a:ext cx="5884772"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9EBE5F-659A-4896-A713-E7E0CD4C79FA}">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365928-DE31-475B-9AA9-AA5A75CAAC04}">
      <dsp:nvSpPr>
        <dsp:cNvPr id="0" name=""/>
        <dsp:cNvSpPr/>
      </dsp:nvSpPr>
      <dsp:spPr>
        <a:xfrm>
          <a:off x="1357965" y="2319"/>
          <a:ext cx="4526806"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0" i="0" kern="1200" baseline="0"/>
            <a:t>Why is OFDM preferred in Wi-Fi instead of single-carrier QAM?</a:t>
          </a:r>
          <a:endParaRPr lang="en-US" sz="2200" kern="1200"/>
        </a:p>
      </dsp:txBody>
      <dsp:txXfrm>
        <a:off x="1357965" y="2319"/>
        <a:ext cx="4526806" cy="1175727"/>
      </dsp:txXfrm>
    </dsp:sp>
    <dsp:sp modelId="{F1668DD6-67ED-4400-B0D7-4E4966DBFBAC}">
      <dsp:nvSpPr>
        <dsp:cNvPr id="0" name=""/>
        <dsp:cNvSpPr/>
      </dsp:nvSpPr>
      <dsp:spPr>
        <a:xfrm>
          <a:off x="0" y="1471979"/>
          <a:ext cx="5884772"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2D86B5-1777-4F8B-A48D-33083072F185}">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D64D89-B41B-4F74-8AE0-E9DA73C10A3C}">
      <dsp:nvSpPr>
        <dsp:cNvPr id="0" name=""/>
        <dsp:cNvSpPr/>
      </dsp:nvSpPr>
      <dsp:spPr>
        <a:xfrm>
          <a:off x="1357965" y="1471979"/>
          <a:ext cx="4526806"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0" i="0" kern="1200" baseline="0"/>
            <a:t>What happens if CP &lt; delay spread?</a:t>
          </a:r>
          <a:endParaRPr lang="en-US" sz="2200" kern="1200"/>
        </a:p>
      </dsp:txBody>
      <dsp:txXfrm>
        <a:off x="1357965" y="1471979"/>
        <a:ext cx="4526806" cy="1175727"/>
      </dsp:txXfrm>
    </dsp:sp>
    <dsp:sp modelId="{697E9BE6-AA86-4D1C-A28D-908133A3980D}">
      <dsp:nvSpPr>
        <dsp:cNvPr id="0" name=""/>
        <dsp:cNvSpPr/>
      </dsp:nvSpPr>
      <dsp:spPr>
        <a:xfrm>
          <a:off x="0" y="2941639"/>
          <a:ext cx="5884772"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74B604-3515-4D64-8B1B-9B02FB1E3C81}">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9A7EA6-5E59-4D50-AF58-7A17E191B0FE}">
      <dsp:nvSpPr>
        <dsp:cNvPr id="0" name=""/>
        <dsp:cNvSpPr/>
      </dsp:nvSpPr>
      <dsp:spPr>
        <a:xfrm>
          <a:off x="1357965" y="2941639"/>
          <a:ext cx="4526806"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0" i="0" kern="1200" baseline="0"/>
            <a:t>Why does increasing subcarriers increase Doppler sensitivity?</a:t>
          </a:r>
          <a:endParaRPr lang="en-US" sz="2200" kern="1200"/>
        </a:p>
      </dsp:txBody>
      <dsp:txXfrm>
        <a:off x="1357965" y="2941639"/>
        <a:ext cx="4526806" cy="1175727"/>
      </dsp:txXfrm>
    </dsp:sp>
    <dsp:sp modelId="{FBFBB92B-633A-4655-867E-CE5E0EFEADD1}">
      <dsp:nvSpPr>
        <dsp:cNvPr id="0" name=""/>
        <dsp:cNvSpPr/>
      </dsp:nvSpPr>
      <dsp:spPr>
        <a:xfrm>
          <a:off x="0" y="4411299"/>
          <a:ext cx="5884772"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E356C6-DF30-4D20-BD4C-4633FEDF7FEC}">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ED60CD-82DF-48BE-9D68-9DF48BDC5E85}">
      <dsp:nvSpPr>
        <dsp:cNvPr id="0" name=""/>
        <dsp:cNvSpPr/>
      </dsp:nvSpPr>
      <dsp:spPr>
        <a:xfrm>
          <a:off x="1357965" y="4411299"/>
          <a:ext cx="4526806"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0" i="0" kern="1200" baseline="0"/>
            <a:t>How would OFDM behave in high-speed trains (&gt;300 km/h)?</a:t>
          </a:r>
          <a:endParaRPr lang="en-US" sz="2200" kern="1200"/>
        </a:p>
      </dsp:txBody>
      <dsp:txXfrm>
        <a:off x="1357965" y="4411299"/>
        <a:ext cx="4526806" cy="1175727"/>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6A2B23-253C-4CB3-BBBB-82EDD4515B2E}" type="datetimeFigureOut">
              <a:rPr lang="en-US" smtClean="0"/>
              <a:t>11/2/2025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1E985-387E-4400-B108-EA1B51C5B9E2}" type="slidenum">
              <a:rPr lang="en-US" smtClean="0"/>
              <a:t>‹#›</a:t>
            </a:fld>
            <a:endParaRPr lang="en-US"/>
          </a:p>
        </p:txBody>
      </p:sp>
    </p:spTree>
    <p:extLst>
      <p:ext uri="{BB962C8B-B14F-4D97-AF65-F5344CB8AC3E}">
        <p14:creationId xmlns:p14="http://schemas.microsoft.com/office/powerpoint/2010/main" val="268535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charset="-128"/>
            </a:endParaRPr>
          </a:p>
        </p:txBody>
      </p:sp>
      <p:sp>
        <p:nvSpPr>
          <p:cNvPr id="15363" name="Slide Number Placeholder 3"/>
          <p:cNvSpPr>
            <a:spLocks noGrp="1"/>
          </p:cNvSpPr>
          <p:nvPr>
            <p:ph type="sldNum" sz="quarter" idx="5"/>
          </p:nvPr>
        </p:nvSpPr>
        <p:spPr bwMode="auto">
          <a:noFill/>
          <a:ln>
            <a:miter lim="800000"/>
            <a:headEnd/>
            <a:tailEnd/>
          </a:ln>
        </p:spPr>
        <p:txBody>
          <a:bodyPr/>
          <a:lstStyle/>
          <a:p>
            <a:fld id="{347E1331-397A-4A4B-A652-1EAF84AD9D1F}"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Orthogonal Sub-Carrier refers to a technique used in Multicarrier Modulation (MCM) where the subcarriers used for transmitting data are orthogonal to each other. Orthogonal means that the subcarriers are mutually perpendicular or do not interfere with each other, allowing for efficient transmission of multiple subcarriers without interference. This technique is commonly used in Orthogonal Frequency Division Multiplexing (OFDM), which is a widely used MCM scheme in modern communication systems such as Wi-Fi, LTE, and 5G.</a:t>
            </a:r>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18</a:t>
            </a:fld>
            <a:endParaRPr lang="en-US"/>
          </a:p>
        </p:txBody>
      </p:sp>
    </p:spTree>
    <p:extLst>
      <p:ext uri="{BB962C8B-B14F-4D97-AF65-F5344CB8AC3E}">
        <p14:creationId xmlns:p14="http://schemas.microsoft.com/office/powerpoint/2010/main" val="2698171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Notes Placeholder">
            <a:extLst>
              <a:ext uri="{FF2B5EF4-FFF2-40B4-BE49-F238E27FC236}">
                <a16:creationId xmlns:a16="http://schemas.microsoft.com/office/drawing/2014/main" id="{CFD1C0D2-CE6F-419D-B5D1-80B02B3C64B0}"/>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21</a:t>
            </a:fld>
            <a:endParaRPr lang="en-US"/>
          </a:p>
        </p:txBody>
      </p:sp>
    </p:spTree>
    <p:extLst>
      <p:ext uri="{BB962C8B-B14F-4D97-AF65-F5344CB8AC3E}">
        <p14:creationId xmlns:p14="http://schemas.microsoft.com/office/powerpoint/2010/main" val="1901613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Notes Placeholder">
            <a:extLst>
              <a:ext uri="{FF2B5EF4-FFF2-40B4-BE49-F238E27FC236}">
                <a16:creationId xmlns:a16="http://schemas.microsoft.com/office/drawing/2014/main" id="{D0A96044-3A07-4502-86F7-785E9E07AEAB}"/>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Notes Placeholder">
            <a:extLst>
              <a:ext uri="{FF2B5EF4-FFF2-40B4-BE49-F238E27FC236}">
                <a16:creationId xmlns:a16="http://schemas.microsoft.com/office/drawing/2014/main" id="{6AE0F52C-E0B3-4CCD-AA4F-2AEF26A6F6D9}"/>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Notes Placeholder">
            <a:extLst>
              <a:ext uri="{FF2B5EF4-FFF2-40B4-BE49-F238E27FC236}">
                <a16:creationId xmlns:a16="http://schemas.microsoft.com/office/drawing/2014/main" id="{5B9EB1D7-0E8B-4B80-8D52-738CBF2C204F}"/>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Notes Placeholder">
            <a:extLst>
              <a:ext uri="{FF2B5EF4-FFF2-40B4-BE49-F238E27FC236}">
                <a16:creationId xmlns:a16="http://schemas.microsoft.com/office/drawing/2014/main" id="{D8011AA0-D638-411F-9B26-ACA954D3FB33}"/>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45</a:t>
            </a:fld>
            <a:endParaRPr lang="en-US"/>
          </a:p>
        </p:txBody>
      </p:sp>
    </p:spTree>
    <p:extLst>
      <p:ext uri="{BB962C8B-B14F-4D97-AF65-F5344CB8AC3E}">
        <p14:creationId xmlns:p14="http://schemas.microsoft.com/office/powerpoint/2010/main" val="2152974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47</a:t>
            </a:fld>
            <a:endParaRPr lang="en-US"/>
          </a:p>
        </p:txBody>
      </p:sp>
    </p:spTree>
    <p:extLst>
      <p:ext uri="{BB962C8B-B14F-4D97-AF65-F5344CB8AC3E}">
        <p14:creationId xmlns:p14="http://schemas.microsoft.com/office/powerpoint/2010/main" val="4172368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655132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944058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78860F-9BD5-42E1-91FE-31F6B999C27B}"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567230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78860F-9BD5-42E1-91FE-31F6B999C27B}"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34795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78860F-9BD5-42E1-91FE-31F6B999C27B}"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08092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78860F-9BD5-42E1-91FE-31F6B999C27B}"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33772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8860F-9BD5-42E1-91FE-31F6B999C27B}"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858613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5605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29607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4014580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715569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000" b="1" i="0">
                <a:solidFill>
                  <a:srgbClr val="E46C0A"/>
                </a:solidFill>
                <a:latin typeface="Trebuchet MS"/>
                <a:cs typeface="Trebuchet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a:lstStyle>
            <a:lvl1pPr>
              <a:defRPr/>
            </a:lvl1pPr>
          </a:lstStyle>
          <a:p>
            <a:endParaRPr/>
          </a:p>
        </p:txBody>
      </p:sp>
      <p:sp>
        <p:nvSpPr>
          <p:cNvPr id="5" name="Holder 4">
            <a:extLst>
              <a:ext uri="{FF2B5EF4-FFF2-40B4-BE49-F238E27FC236}">
                <a16:creationId xmlns:a16="http://schemas.microsoft.com/office/drawing/2014/main" id="{266DCB9A-2AB7-4495-82D9-EB110B6AEF27}"/>
              </a:ext>
            </a:extLst>
          </p:cNvPr>
          <p:cNvSpPr>
            <a:spLocks noGrp="1"/>
          </p:cNvSpPr>
          <p:nvPr>
            <p:ph type="ftr" sz="quarter" idx="10"/>
          </p:nvPr>
        </p:nvSpPr>
        <p:spPr/>
        <p:txBody>
          <a:bodyPr/>
          <a:lstStyle>
            <a:lvl1pPr>
              <a:defRPr/>
            </a:lvl1pPr>
          </a:lstStyle>
          <a:p>
            <a:pPr>
              <a:defRPr/>
            </a:pPr>
            <a:endParaRPr/>
          </a:p>
        </p:txBody>
      </p:sp>
      <p:sp>
        <p:nvSpPr>
          <p:cNvPr id="6" name="Holder 5">
            <a:extLst>
              <a:ext uri="{FF2B5EF4-FFF2-40B4-BE49-F238E27FC236}">
                <a16:creationId xmlns:a16="http://schemas.microsoft.com/office/drawing/2014/main" id="{BC1C30D0-CB54-4231-969C-B4063A650627}"/>
              </a:ext>
            </a:extLst>
          </p:cNvPr>
          <p:cNvSpPr>
            <a:spLocks noGrp="1"/>
          </p:cNvSpPr>
          <p:nvPr>
            <p:ph type="dt" sz="half" idx="11"/>
          </p:nvPr>
        </p:nvSpPr>
        <p:spPr/>
        <p:txBody>
          <a:bodyPr/>
          <a:lstStyle>
            <a:lvl1pPr>
              <a:defRPr/>
            </a:lvl1pPr>
          </a:lstStyle>
          <a:p>
            <a:pPr>
              <a:defRPr/>
            </a:pPr>
            <a:fld id="{0A35E529-7E3C-4C16-A46B-43320D119155}" type="datetimeFigureOut">
              <a:rPr lang="en-US"/>
              <a:pPr>
                <a:defRPr/>
              </a:pPr>
              <a:t>11/2/2025</a:t>
            </a:fld>
            <a:endParaRPr lang="en-US"/>
          </a:p>
        </p:txBody>
      </p:sp>
      <p:sp>
        <p:nvSpPr>
          <p:cNvPr id="7" name="Holder 6">
            <a:extLst>
              <a:ext uri="{FF2B5EF4-FFF2-40B4-BE49-F238E27FC236}">
                <a16:creationId xmlns:a16="http://schemas.microsoft.com/office/drawing/2014/main" id="{6F96E511-C56E-4D49-A696-600C3899B3E4}"/>
              </a:ext>
            </a:extLst>
          </p:cNvPr>
          <p:cNvSpPr>
            <a:spLocks noGrp="1"/>
          </p:cNvSpPr>
          <p:nvPr>
            <p:ph type="sldNum" sz="quarter" idx="12"/>
          </p:nvPr>
        </p:nvSpPr>
        <p:spPr/>
        <p:txBody>
          <a:bodyPr/>
          <a:lstStyle>
            <a:lvl1pPr>
              <a:defRPr/>
            </a:lvl1pPr>
          </a:lstStyle>
          <a:p>
            <a:fld id="{C3302EC6-EC01-453A-B84A-425F8E4692C7}" type="slidenum">
              <a:rPr lang="en-US" altLang="en-US"/>
              <a:pPr/>
              <a:t>‹#›</a:t>
            </a:fld>
            <a:endParaRPr lang="en-US" altLang="en-US"/>
          </a:p>
        </p:txBody>
      </p:sp>
    </p:spTree>
    <p:extLst>
      <p:ext uri="{BB962C8B-B14F-4D97-AF65-F5344CB8AC3E}">
        <p14:creationId xmlns:p14="http://schemas.microsoft.com/office/powerpoint/2010/main" val="620415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78860F-9BD5-42E1-91FE-31F6B999C27B}" type="datetimeFigureOut">
              <a:rPr lang="en-US" smtClean="0"/>
              <a:t>11/2/2025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943F1-416A-4DD9-B254-68C50F22A07F}" type="slidenum">
              <a:rPr lang="en-US" smtClean="0"/>
              <a:t>‹#›</a:t>
            </a:fld>
            <a:endParaRPr lang="en-US"/>
          </a:p>
        </p:txBody>
      </p:sp>
    </p:spTree>
    <p:extLst>
      <p:ext uri="{BB962C8B-B14F-4D97-AF65-F5344CB8AC3E}">
        <p14:creationId xmlns:p14="http://schemas.microsoft.com/office/powerpoint/2010/main" val="1135468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mailto:i.chatzigeorgiou@lancaster.ac.uk" TargetMode="Externa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SSC-slide-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11" name="Text Box 9"/>
          <p:cNvSpPr txBox="1">
            <a:spLocks noChangeArrowheads="1"/>
          </p:cNvSpPr>
          <p:nvPr/>
        </p:nvSpPr>
        <p:spPr bwMode="auto">
          <a:xfrm>
            <a:off x="1821912" y="4403909"/>
            <a:ext cx="4697322" cy="738664"/>
          </a:xfrm>
          <a:prstGeom prst="rect">
            <a:avLst/>
          </a:prstGeom>
          <a:noFill/>
          <a:ln w="9525">
            <a:noFill/>
            <a:miter lim="800000"/>
            <a:headEnd/>
            <a:tailEnd/>
          </a:ln>
        </p:spPr>
        <p:txBody>
          <a:bodyPr wrap="square" lIns="91440" tIns="45720" rIns="91440" bIns="45720" anchor="t">
            <a:spAutoFit/>
          </a:bodyPr>
          <a:lstStyle/>
          <a:p>
            <a:pPr eaLnBrk="1" hangingPunct="1">
              <a:spcBef>
                <a:spcPts val="0"/>
              </a:spcBef>
              <a:buClr>
                <a:schemeClr val="tx1"/>
              </a:buClr>
            </a:pPr>
            <a:r>
              <a:rPr lang="en-US" dirty="0">
                <a:latin typeface="Arial"/>
                <a:ea typeface="ヒラギノ角ゴ Pro W3"/>
                <a:cs typeface="Arial"/>
              </a:rPr>
              <a:t>Dr Muhammad Abrar (Dr. MAB)</a:t>
            </a:r>
            <a:endParaRPr lang="en-US" dirty="0"/>
          </a:p>
          <a:p>
            <a:pPr eaLnBrk="1" hangingPunct="1">
              <a:spcBef>
                <a:spcPts val="0"/>
              </a:spcBef>
              <a:buClr>
                <a:schemeClr val="tx1"/>
              </a:buClr>
            </a:pP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m.</a:t>
            </a:r>
            <a:r>
              <a:rPr lang="en-GB" sz="1800" dirty="0">
                <a:solidFill>
                  <a:srgbClr val="000000"/>
                </a:solidFill>
                <a:latin typeface="Arial"/>
                <a:ea typeface="ヒラギノ角ゴ Pro W3"/>
                <a:cs typeface="ヒラギノ角ゴ Pro W3" charset="0"/>
                <a:hlinkClick r:id="rId4"/>
              </a:rPr>
              <a:t>abrar</a:t>
            </a: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@lancaster.ac.uk</a:t>
            </a:r>
            <a:endParaRPr lang="en-US" sz="1800" dirty="0">
              <a:latin typeface="Arial"/>
              <a:ea typeface="ヒラギノ角ゴ Pro W3"/>
              <a:hlinkClick r:id="rId4">
                <a:extLst>
                  <a:ext uri="{A12FA001-AC4F-418D-AE19-62706E023703}">
                    <ahyp:hlinkClr xmlns:ahyp="http://schemas.microsoft.com/office/drawing/2018/hyperlinkcolor" val="tx"/>
                  </a:ext>
                </a:extLst>
              </a:hlinkClick>
            </a:endParaRPr>
          </a:p>
        </p:txBody>
      </p:sp>
      <p:sp>
        <p:nvSpPr>
          <p:cNvPr id="12" name="Title 1"/>
          <p:cNvSpPr>
            <a:spLocks noGrp="1"/>
          </p:cNvSpPr>
          <p:nvPr>
            <p:ph type="title"/>
          </p:nvPr>
        </p:nvSpPr>
        <p:spPr>
          <a:xfrm>
            <a:off x="1908175" y="1893316"/>
            <a:ext cx="5976194" cy="1967732"/>
          </a:xfrm>
        </p:spPr>
        <p:txBody>
          <a:bodyPr/>
          <a:lstStyle/>
          <a:p>
            <a:pPr eaLnBrk="1" hangingPunct="1">
              <a:spcBef>
                <a:spcPts val="1200"/>
              </a:spcBef>
              <a:defRPr/>
            </a:pPr>
            <a:r>
              <a:rPr lang="en-US" altLang="en-US" b="1" cap="all" dirty="0"/>
              <a:t>Introduction to </a:t>
            </a:r>
            <a:br>
              <a:rPr lang="en-US" altLang="en-US" b="1" cap="all" dirty="0"/>
            </a:br>
            <a:r>
              <a:rPr lang="en-US" altLang="en-US" b="1" dirty="0"/>
              <a:t>OFDM</a:t>
            </a:r>
            <a:endParaRPr lang="en-US" sz="3600" b="1" dirty="0">
              <a:solidFill>
                <a:schemeClr val="accent5">
                  <a:lumMod val="25000"/>
                </a:schemeClr>
              </a:solidFill>
              <a:latin typeface="Myriad Pro" charset="0"/>
            </a:endParaRPr>
          </a:p>
        </p:txBody>
      </p:sp>
      <p:sp>
        <p:nvSpPr>
          <p:cNvPr id="13" name="TextBox 3"/>
          <p:cNvSpPr txBox="1">
            <a:spLocks noChangeArrowheads="1"/>
          </p:cNvSpPr>
          <p:nvPr/>
        </p:nvSpPr>
        <p:spPr bwMode="auto">
          <a:xfrm>
            <a:off x="1908175" y="549275"/>
            <a:ext cx="4163319" cy="1031051"/>
          </a:xfrm>
          <a:prstGeom prst="rect">
            <a:avLst/>
          </a:prstGeom>
          <a:noFill/>
          <a:ln w="9525">
            <a:noFill/>
            <a:miter lim="800000"/>
            <a:headEnd/>
            <a:tailEnd/>
          </a:ln>
        </p:spPr>
        <p:txBody>
          <a:bodyPr wrap="none" lIns="91440" tIns="45720" rIns="91440" bIns="45720" anchor="t">
            <a:spAutoFit/>
          </a:bodyPr>
          <a:lstStyle/>
          <a:p>
            <a:pPr>
              <a:spcBef>
                <a:spcPts val="600"/>
              </a:spcBef>
            </a:pPr>
            <a:r>
              <a:rPr lang="en-US" sz="2800" dirty="0">
                <a:latin typeface="Arial"/>
                <a:ea typeface="ヒラギノ角ゴ Pro W3"/>
                <a:cs typeface="Arial"/>
              </a:rPr>
              <a:t>CNSCC.405</a:t>
            </a:r>
            <a:endParaRPr lang="en-US" dirty="0">
              <a:cs typeface="Arial" pitchFamily="34" charset="0"/>
            </a:endParaRPr>
          </a:p>
          <a:p>
            <a:pPr>
              <a:spcBef>
                <a:spcPts val="600"/>
              </a:spcBef>
            </a:pPr>
            <a:r>
              <a:rPr lang="en-US" sz="2800" dirty="0">
                <a:latin typeface="Arial"/>
                <a:ea typeface="ヒラギノ角ゴ Pro W3"/>
                <a:cs typeface="Arial"/>
              </a:rPr>
              <a:t>Digital Signal Processing</a:t>
            </a:r>
            <a:endParaRPr lang="en-US" dirty="0">
              <a:cs typeface="Arial"/>
            </a:endParaRPr>
          </a:p>
        </p:txBody>
      </p:sp>
      <p:grpSp>
        <p:nvGrpSpPr>
          <p:cNvPr id="2" name="Group 1"/>
          <p:cNvGrpSpPr/>
          <p:nvPr/>
        </p:nvGrpSpPr>
        <p:grpSpPr>
          <a:xfrm>
            <a:off x="203200" y="194733"/>
            <a:ext cx="1312334" cy="821267"/>
            <a:chOff x="203200" y="194733"/>
            <a:chExt cx="1312334" cy="821267"/>
          </a:xfrm>
        </p:grpSpPr>
        <p:sp>
          <p:nvSpPr>
            <p:cNvPr id="16" name="Rectangle 15"/>
            <p:cNvSpPr/>
            <p:nvPr userDrawn="1"/>
          </p:nvSpPr>
          <p:spPr bwMode="auto">
            <a:xfrm>
              <a:off x="203200" y="194733"/>
              <a:ext cx="1312334" cy="82126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Arial" pitchFamily="34" charset="0"/>
                <a:ea typeface="ヒラギノ角ゴ Pro W3" charset="-128"/>
              </a:endParaRPr>
            </a:p>
          </p:txBody>
        </p:sp>
        <p:pic>
          <p:nvPicPr>
            <p:cNvPr id="17" name="Picture 2" descr="\\lancs\homes\05\chatzige\My Desktop\bg-logo.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10480" y="456159"/>
              <a:ext cx="1082502" cy="338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Tm="35928"/>
    </mc:Choice>
    <mc:Fallback xmlns="">
      <p:transition spd="slow" advTm="3592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up of a blue and yellow striped wall&#10;&#10;AI-generated content may be incorrect.">
            <a:extLst>
              <a:ext uri="{FF2B5EF4-FFF2-40B4-BE49-F238E27FC236}">
                <a16:creationId xmlns:a16="http://schemas.microsoft.com/office/drawing/2014/main" id="{E56C9982-DE39-467F-5BF4-EE4B5B1D7FD5}"/>
              </a:ext>
            </a:extLst>
          </p:cNvPr>
          <p:cNvPicPr>
            <a:picLocks noChangeAspect="1"/>
          </p:cNvPicPr>
          <p:nvPr/>
        </p:nvPicPr>
        <p:blipFill>
          <a:blip r:embed="rId2">
            <a:duotone>
              <a:schemeClr val="bg2">
                <a:shade val="45000"/>
                <a:satMod val="135000"/>
              </a:schemeClr>
              <a:prstClr val="white"/>
            </a:duotone>
          </a:blip>
          <a:srcRect l="11000" r="-1"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4094D5-A2B1-23B5-487A-CAF715C5838A}"/>
              </a:ext>
            </a:extLst>
          </p:cNvPr>
          <p:cNvSpPr>
            <a:spLocks noGrp="1"/>
          </p:cNvSpPr>
          <p:nvPr>
            <p:ph type="title"/>
          </p:nvPr>
        </p:nvSpPr>
        <p:spPr>
          <a:xfrm>
            <a:off x="628650" y="365125"/>
            <a:ext cx="7886700" cy="1325563"/>
          </a:xfrm>
        </p:spPr>
        <p:txBody>
          <a:bodyPr>
            <a:normAutofit/>
          </a:bodyPr>
          <a:lstStyle/>
          <a:p>
            <a:r>
              <a:rPr lang="en-US" b="1" dirty="0"/>
              <a:t>🎯 Learning Outcomes</a:t>
            </a:r>
            <a:br>
              <a:rPr lang="en-US" b="1" dirty="0"/>
            </a:br>
            <a:endParaRPr lang="en-US" dirty="0"/>
          </a:p>
        </p:txBody>
      </p:sp>
      <p:graphicFrame>
        <p:nvGraphicFramePr>
          <p:cNvPr id="5" name="Content Placeholder 2">
            <a:extLst>
              <a:ext uri="{FF2B5EF4-FFF2-40B4-BE49-F238E27FC236}">
                <a16:creationId xmlns:a16="http://schemas.microsoft.com/office/drawing/2014/main" id="{6C4DEAB0-68BF-AEA2-BDB1-765936939427}"/>
              </a:ext>
            </a:extLst>
          </p:cNvPr>
          <p:cNvGraphicFramePr>
            <a:graphicFrameLocks noGrp="1"/>
          </p:cNvGraphicFramePr>
          <p:nvPr>
            <p:ph idx="1"/>
            <p:extLst>
              <p:ext uri="{D42A27DB-BD31-4B8C-83A1-F6EECF244321}">
                <p14:modId xmlns:p14="http://schemas.microsoft.com/office/powerpoint/2010/main" val="2286532068"/>
              </p:ext>
            </p:extLst>
          </p:nvPr>
        </p:nvGraphicFramePr>
        <p:xfrm>
          <a:off x="308757" y="1825625"/>
          <a:ext cx="8597737"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8E93EE9A-FD07-C069-2CB1-B9593353C6BA}"/>
              </a:ext>
            </a:extLst>
          </p:cNvPr>
          <p:cNvSpPr txBox="1"/>
          <p:nvPr/>
        </p:nvSpPr>
        <p:spPr>
          <a:xfrm>
            <a:off x="628649" y="1144588"/>
            <a:ext cx="7767205" cy="830997"/>
          </a:xfrm>
          <a:prstGeom prst="rect">
            <a:avLst/>
          </a:prstGeom>
          <a:noFill/>
        </p:spPr>
        <p:txBody>
          <a:bodyPr wrap="square">
            <a:spAutoFit/>
          </a:bodyPr>
          <a:lstStyle/>
          <a:p>
            <a:pPr marL="0" indent="0">
              <a:buNone/>
            </a:pPr>
            <a:r>
              <a:rPr lang="en-US" sz="2400" b="1" dirty="0"/>
              <a:t>By the end of this lecture, students should be able to:</a:t>
            </a:r>
          </a:p>
          <a:p>
            <a:pPr>
              <a:buFont typeface="Wingdings" panose="05000000000000000000" pitchFamily="2" charset="2"/>
              <a:buChar char="ü"/>
            </a:pPr>
            <a:endParaRPr lang="en-US" sz="2400" b="1" dirty="0"/>
          </a:p>
        </p:txBody>
      </p:sp>
    </p:spTree>
    <p:extLst>
      <p:ext uri="{BB962C8B-B14F-4D97-AF65-F5344CB8AC3E}">
        <p14:creationId xmlns:p14="http://schemas.microsoft.com/office/powerpoint/2010/main" val="886939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7DCA0DE-D7F5-74EA-9349-2CDECCEA20DF}"/>
              </a:ext>
            </a:extLst>
          </p:cNvPr>
          <p:cNvSpPr>
            <a:spLocks noGrp="1"/>
          </p:cNvSpPr>
          <p:nvPr>
            <p:ph type="title"/>
          </p:nvPr>
        </p:nvSpPr>
        <p:spPr>
          <a:xfrm>
            <a:off x="514060" y="227331"/>
            <a:ext cx="7044316" cy="1330841"/>
          </a:xfrm>
        </p:spPr>
        <p:txBody>
          <a:bodyPr>
            <a:normAutofit/>
          </a:bodyPr>
          <a:lstStyle/>
          <a:p>
            <a:r>
              <a:rPr lang="en-GB" sz="4000" b="1"/>
              <a:t>Single Carrier vs Multicarrier Modulation</a:t>
            </a:r>
            <a:endParaRPr lang="en-US" sz="4000" b="1" dirty="0"/>
          </a:p>
        </p:txBody>
      </p:sp>
      <p:sp>
        <p:nvSpPr>
          <p:cNvPr id="3" name="Content Placeholder 2">
            <a:extLst>
              <a:ext uri="{FF2B5EF4-FFF2-40B4-BE49-F238E27FC236}">
                <a16:creationId xmlns:a16="http://schemas.microsoft.com/office/drawing/2014/main" id="{40A47B14-B795-DD1B-055B-B98A02876B1C}"/>
              </a:ext>
            </a:extLst>
          </p:cNvPr>
          <p:cNvSpPr>
            <a:spLocks noGrp="1"/>
          </p:cNvSpPr>
          <p:nvPr>
            <p:ph idx="1"/>
          </p:nvPr>
        </p:nvSpPr>
        <p:spPr>
          <a:xfrm>
            <a:off x="799606" y="4013277"/>
            <a:ext cx="8025026" cy="2632195"/>
          </a:xfrm>
        </p:spPr>
        <p:txBody>
          <a:bodyPr>
            <a:normAutofit/>
          </a:bodyPr>
          <a:lstStyle/>
          <a:p>
            <a:r>
              <a:rPr lang="en-US" sz="2000" b="0" i="0" dirty="0">
                <a:effectLst/>
                <a:latin typeface="Times New Roman" panose="02020603050405020304" pitchFamily="18" charset="0"/>
                <a:cs typeface="Times New Roman" panose="02020603050405020304" pitchFamily="18" charset="0"/>
              </a:rPr>
              <a:t>SCM uses a single carrier frequency to transmit the entire data, whereas MCM divides the data into multiple subcarriers, each with its own carrier frequency, and transmits them simultaneously. </a:t>
            </a:r>
          </a:p>
          <a:p>
            <a:r>
              <a:rPr lang="en-US" sz="2000" b="0" i="0" dirty="0">
                <a:effectLst/>
                <a:latin typeface="Times New Roman" panose="02020603050405020304" pitchFamily="18" charset="0"/>
                <a:cs typeface="Times New Roman" panose="02020603050405020304" pitchFamily="18" charset="0"/>
              </a:rPr>
              <a:t>SCM may be simpler in terms of hardware requirements, but it may be less spectrum efficient and more susceptible to channel impairments. </a:t>
            </a:r>
          </a:p>
          <a:p>
            <a:r>
              <a:rPr lang="en-US" sz="2000" b="0" i="0" dirty="0">
                <a:effectLst/>
                <a:latin typeface="Times New Roman" panose="02020603050405020304" pitchFamily="18" charset="0"/>
                <a:cs typeface="Times New Roman" panose="02020603050405020304" pitchFamily="18" charset="0"/>
              </a:rPr>
              <a:t>On the other hand, MCM may be more complex in terms of hardware, but it can achieve higher spectral efficiency and may be more robust to channel impairments.</a:t>
            </a:r>
            <a:endParaRPr lang="en-US" sz="2000" dirty="0">
              <a:latin typeface="Times New Roman" panose="02020603050405020304" pitchFamily="18" charset="0"/>
              <a:cs typeface="Times New Roman" panose="02020603050405020304" pitchFamily="18" charset="0"/>
            </a:endParaRPr>
          </a:p>
        </p:txBody>
      </p:sp>
      <p:sp>
        <p:nvSpPr>
          <p:cNvPr id="1035" name="Freeform: Shape 103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8" name="Picture 4" descr="Multi Carrier Waveform? - Moniem-Tech">
            <a:extLst>
              <a:ext uri="{FF2B5EF4-FFF2-40B4-BE49-F238E27FC236}">
                <a16:creationId xmlns:a16="http://schemas.microsoft.com/office/drawing/2014/main" id="{06DCB2CE-4BF2-7EFE-56BB-A88A02BE6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606" y="2006638"/>
            <a:ext cx="7560069" cy="2061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258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E51EA-E298-E7A8-A844-3425D86AF851}"/>
              </a:ext>
            </a:extLst>
          </p:cNvPr>
          <p:cNvSpPr>
            <a:spLocks noGrp="1"/>
          </p:cNvSpPr>
          <p:nvPr>
            <p:ph type="title"/>
          </p:nvPr>
        </p:nvSpPr>
        <p:spPr>
          <a:xfrm>
            <a:off x="628650" y="365127"/>
            <a:ext cx="7886700" cy="745218"/>
          </a:xfrm>
        </p:spPr>
        <p:txBody>
          <a:bodyPr>
            <a:noAutofit/>
          </a:bodyPr>
          <a:lstStyle/>
          <a:p>
            <a:r>
              <a:rPr lang="en-US" sz="4000" b="1" dirty="0">
                <a:solidFill>
                  <a:srgbClr val="343541"/>
                </a:solidFill>
                <a:latin typeface="Söhne"/>
              </a:rPr>
              <a:t>Single-carrier baseband Communication System Model.</a:t>
            </a:r>
          </a:p>
        </p:txBody>
      </p:sp>
      <p:pic>
        <p:nvPicPr>
          <p:cNvPr id="5" name="Picture 4">
            <a:extLst>
              <a:ext uri="{FF2B5EF4-FFF2-40B4-BE49-F238E27FC236}">
                <a16:creationId xmlns:a16="http://schemas.microsoft.com/office/drawing/2014/main" id="{2CC26366-6F19-D9B8-9541-126ABBC0C7DD}"/>
              </a:ext>
            </a:extLst>
          </p:cNvPr>
          <p:cNvPicPr>
            <a:picLocks noChangeAspect="1"/>
          </p:cNvPicPr>
          <p:nvPr/>
        </p:nvPicPr>
        <p:blipFill>
          <a:blip r:embed="rId2"/>
          <a:stretch>
            <a:fillRect/>
          </a:stretch>
        </p:blipFill>
        <p:spPr>
          <a:xfrm>
            <a:off x="290311" y="1379313"/>
            <a:ext cx="8814831" cy="1530352"/>
          </a:xfrm>
          <a:prstGeom prst="rect">
            <a:avLst/>
          </a:prstGeom>
        </p:spPr>
      </p:pic>
      <p:sp>
        <p:nvSpPr>
          <p:cNvPr id="4" name="Title 1">
            <a:extLst>
              <a:ext uri="{FF2B5EF4-FFF2-40B4-BE49-F238E27FC236}">
                <a16:creationId xmlns:a16="http://schemas.microsoft.com/office/drawing/2014/main" id="{AB501801-96A4-41D8-A5A7-E3B978F0D7B2}"/>
              </a:ext>
            </a:extLst>
          </p:cNvPr>
          <p:cNvSpPr txBox="1">
            <a:spLocks/>
          </p:cNvSpPr>
          <p:nvPr/>
        </p:nvSpPr>
        <p:spPr>
          <a:xfrm>
            <a:off x="754377" y="2932480"/>
            <a:ext cx="7886700" cy="7452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343541"/>
                </a:solidFill>
                <a:latin typeface="Söhne"/>
              </a:rPr>
              <a:t>Limitation of Single Carrier Modulation</a:t>
            </a:r>
            <a:endParaRPr lang="en-US" sz="3600" dirty="0"/>
          </a:p>
        </p:txBody>
      </p:sp>
      <p:sp>
        <p:nvSpPr>
          <p:cNvPr id="6" name="Content Placeholder 2">
            <a:extLst>
              <a:ext uri="{FF2B5EF4-FFF2-40B4-BE49-F238E27FC236}">
                <a16:creationId xmlns:a16="http://schemas.microsoft.com/office/drawing/2014/main" id="{98F22B10-3C99-47BC-B443-B1807D479D0C}"/>
              </a:ext>
            </a:extLst>
          </p:cNvPr>
          <p:cNvSpPr>
            <a:spLocks noGrp="1"/>
          </p:cNvSpPr>
          <p:nvPr>
            <p:ph idx="1"/>
          </p:nvPr>
        </p:nvSpPr>
        <p:spPr>
          <a:xfrm>
            <a:off x="754377" y="3946665"/>
            <a:ext cx="7886700" cy="4351338"/>
          </a:xfrm>
        </p:spPr>
        <p:txBody>
          <a:bodyPr/>
          <a:lstStyle/>
          <a:p>
            <a:r>
              <a:rPr lang="en-US" b="0" i="0" dirty="0">
                <a:solidFill>
                  <a:srgbClr val="374151"/>
                </a:solidFill>
                <a:effectLst/>
                <a:latin typeface="Söhne"/>
              </a:rPr>
              <a:t>Spectral Efficiency:</a:t>
            </a:r>
          </a:p>
          <a:p>
            <a:r>
              <a:rPr lang="en-US" b="0" i="0" dirty="0">
                <a:solidFill>
                  <a:srgbClr val="374151"/>
                </a:solidFill>
                <a:effectLst/>
                <a:latin typeface="Söhne"/>
              </a:rPr>
              <a:t>Frequency Selective Fading: </a:t>
            </a:r>
            <a:endParaRPr lang="en-US" dirty="0">
              <a:solidFill>
                <a:srgbClr val="374151"/>
              </a:solidFill>
              <a:latin typeface="Söhne"/>
            </a:endParaRPr>
          </a:p>
          <a:p>
            <a:r>
              <a:rPr lang="en-US" b="0" i="0" dirty="0">
                <a:solidFill>
                  <a:srgbClr val="374151"/>
                </a:solidFill>
                <a:effectLst/>
                <a:latin typeface="Söhne"/>
              </a:rPr>
              <a:t>Interference</a:t>
            </a:r>
          </a:p>
          <a:p>
            <a:endParaRPr lang="en-US" dirty="0"/>
          </a:p>
        </p:txBody>
      </p:sp>
    </p:spTree>
    <p:extLst>
      <p:ext uri="{BB962C8B-B14F-4D97-AF65-F5344CB8AC3E}">
        <p14:creationId xmlns:p14="http://schemas.microsoft.com/office/powerpoint/2010/main" val="37017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350041" y="586855"/>
            <a:ext cx="2401025" cy="3387497"/>
          </a:xfrm>
        </p:spPr>
        <p:txBody>
          <a:bodyPr anchor="b">
            <a:normAutofit/>
          </a:bodyPr>
          <a:lstStyle/>
          <a:p>
            <a:pPr algn="r"/>
            <a:r>
              <a:rPr lang="en-GB" sz="3500" b="1">
                <a:solidFill>
                  <a:srgbClr val="FFFFFF"/>
                </a:solidFill>
              </a:rPr>
              <a:t>Multicarrier Modulation</a:t>
            </a:r>
          </a:p>
        </p:txBody>
      </p:sp>
      <p:sp>
        <p:nvSpPr>
          <p:cNvPr id="4" name="Content Placeholder 3"/>
          <p:cNvSpPr>
            <a:spLocks noGrp="1"/>
          </p:cNvSpPr>
          <p:nvPr>
            <p:ph idx="1"/>
          </p:nvPr>
        </p:nvSpPr>
        <p:spPr>
          <a:xfrm>
            <a:off x="3607694" y="649480"/>
            <a:ext cx="4916510" cy="5546047"/>
          </a:xfrm>
        </p:spPr>
        <p:txBody>
          <a:bodyPr anchor="ctr">
            <a:noAutofit/>
          </a:bodyPr>
          <a:lstStyle/>
          <a:p>
            <a:pPr>
              <a:spcBef>
                <a:spcPts val="0"/>
              </a:spcBef>
              <a:spcAft>
                <a:spcPts val="1800"/>
              </a:spcAft>
            </a:pPr>
            <a:r>
              <a:rPr lang="en-US" sz="2000" dirty="0"/>
              <a:t>As the name implies, if the data stream modulates a single carrier wave, we refer to this process as single carrier modulation. So far, we have only focused on single carrier modulation schemes.</a:t>
            </a:r>
          </a:p>
          <a:p>
            <a:pPr>
              <a:spcBef>
                <a:spcPts val="0"/>
              </a:spcBef>
              <a:spcAft>
                <a:spcPts val="1800"/>
              </a:spcAft>
            </a:pPr>
            <a:r>
              <a:rPr lang="en-US" sz="2000" dirty="0"/>
              <a:t>However, if the data stream is divided into multiple sub-streams, each of which modulates a different carrier wave, we call this approach multicarrier modulation.</a:t>
            </a:r>
          </a:p>
          <a:p>
            <a:pPr>
              <a:spcBef>
                <a:spcPts val="0"/>
              </a:spcBef>
              <a:spcAft>
                <a:spcPts val="1800"/>
              </a:spcAft>
            </a:pPr>
            <a:r>
              <a:rPr lang="en-US" sz="2000" dirty="0"/>
              <a:t>Multicarrier modulation effectively splits a broadband channel into multiple narrowband channels, which do not have to occupy a contiguous block of spectrum.</a:t>
            </a:r>
          </a:p>
          <a:p>
            <a:pPr>
              <a:spcBef>
                <a:spcPts val="0"/>
              </a:spcBef>
              <a:spcAft>
                <a:spcPts val="1800"/>
              </a:spcAft>
            </a:pPr>
            <a:r>
              <a:rPr lang="en-US" sz="2000" dirty="0"/>
              <a:t>Narrowband channels experience relatively flat fading and, thus, do not suffer much from </a:t>
            </a:r>
            <a:r>
              <a:rPr lang="en-US" sz="2000" dirty="0" err="1"/>
              <a:t>intersymbol</a:t>
            </a:r>
            <a:r>
              <a:rPr lang="en-US" sz="2000" dirty="0"/>
              <a:t> interference.</a:t>
            </a:r>
          </a:p>
          <a:p>
            <a:pPr>
              <a:spcBef>
                <a:spcPts val="0"/>
              </a:spcBef>
              <a:spcAft>
                <a:spcPts val="1800"/>
              </a:spcAft>
            </a:pPr>
            <a:r>
              <a:rPr lang="en-US" sz="2000" dirty="0"/>
              <a:t>Orthogonal Frequency Division Multiplexing (OFDM) is a digital implementation of multicarrier modulation.</a:t>
            </a:r>
          </a:p>
        </p:txBody>
      </p:sp>
    </p:spTree>
    <p:extLst>
      <p:ext uri="{BB962C8B-B14F-4D97-AF65-F5344CB8AC3E}">
        <p14:creationId xmlns:p14="http://schemas.microsoft.com/office/powerpoint/2010/main" val="2976731982"/>
      </p:ext>
    </p:extLst>
  </p:cSld>
  <p:clrMapOvr>
    <a:masterClrMapping/>
  </p:clrMapOvr>
  <mc:AlternateContent xmlns:mc="http://schemas.openxmlformats.org/markup-compatibility/2006" xmlns:p14="http://schemas.microsoft.com/office/powerpoint/2010/main">
    <mc:Choice Requires="p14">
      <p:transition spd="slow" p14:dur="2000" advTm="85745"/>
    </mc:Choice>
    <mc:Fallback xmlns="">
      <p:transition spd="slow" advTm="857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5C39DD-39F3-6870-201C-65EADBF066D0}"/>
              </a:ext>
            </a:extLst>
          </p:cNvPr>
          <p:cNvSpPr>
            <a:spLocks noGrp="1"/>
          </p:cNvSpPr>
          <p:nvPr>
            <p:ph type="title"/>
          </p:nvPr>
        </p:nvSpPr>
        <p:spPr>
          <a:xfrm>
            <a:off x="350041" y="586855"/>
            <a:ext cx="2401025" cy="3387497"/>
          </a:xfrm>
        </p:spPr>
        <p:txBody>
          <a:bodyPr anchor="b">
            <a:normAutofit/>
          </a:bodyPr>
          <a:lstStyle/>
          <a:p>
            <a:pPr algn="r"/>
            <a:r>
              <a:rPr lang="en-US" sz="3500" b="1" dirty="0">
                <a:solidFill>
                  <a:srgbClr val="FFFFFF"/>
                </a:solidFill>
              </a:rPr>
              <a:t>Example</a:t>
            </a:r>
          </a:p>
        </p:txBody>
      </p:sp>
      <p:sp>
        <p:nvSpPr>
          <p:cNvPr id="3" name="Content Placeholder 2">
            <a:extLst>
              <a:ext uri="{FF2B5EF4-FFF2-40B4-BE49-F238E27FC236}">
                <a16:creationId xmlns:a16="http://schemas.microsoft.com/office/drawing/2014/main" id="{DD16A11E-3227-8CC7-D0F3-561172EDF4E1}"/>
              </a:ext>
            </a:extLst>
          </p:cNvPr>
          <p:cNvSpPr>
            <a:spLocks noGrp="1"/>
          </p:cNvSpPr>
          <p:nvPr>
            <p:ph idx="1"/>
          </p:nvPr>
        </p:nvSpPr>
        <p:spPr>
          <a:xfrm>
            <a:off x="3607694" y="649480"/>
            <a:ext cx="4916510" cy="5846323"/>
          </a:xfrm>
        </p:spPr>
        <p:txBody>
          <a:bodyPr anchor="ctr">
            <a:normAutofit lnSpcReduction="10000"/>
          </a:bodyPr>
          <a:lstStyle/>
          <a:p>
            <a:r>
              <a:rPr lang="en-US" sz="2400" dirty="0"/>
              <a:t>Transmit Data: 11001100</a:t>
            </a:r>
          </a:p>
          <a:p>
            <a:pPr marL="0" indent="0">
              <a:buNone/>
            </a:pPr>
            <a:endParaRPr lang="en-US" sz="2400" dirty="0"/>
          </a:p>
          <a:p>
            <a:pPr marL="0" indent="0">
              <a:buNone/>
            </a:pPr>
            <a:r>
              <a:rPr lang="en-US" sz="3200" b="1" dirty="0">
                <a:highlight>
                  <a:srgbClr val="FFFF00"/>
                </a:highlight>
              </a:rPr>
              <a:t>SCM: ? </a:t>
            </a:r>
          </a:p>
          <a:p>
            <a:pPr marL="0" indent="0">
              <a:buNone/>
            </a:pPr>
            <a:r>
              <a:rPr lang="en-US" sz="2400" b="0" i="0" dirty="0">
                <a:effectLst/>
                <a:latin typeface="Söhne"/>
              </a:rPr>
              <a:t>The entire modulated waveform is transmitted over the communication channel as a single continuous waveform.</a:t>
            </a:r>
          </a:p>
          <a:p>
            <a:pPr marL="0" indent="0">
              <a:buNone/>
            </a:pPr>
            <a:endParaRPr lang="en-US" sz="2400" dirty="0"/>
          </a:p>
          <a:p>
            <a:pPr marL="0" indent="0">
              <a:buNone/>
            </a:pPr>
            <a:r>
              <a:rPr lang="en-US" b="1" dirty="0">
                <a:highlight>
                  <a:srgbClr val="FFFF00"/>
                </a:highlight>
              </a:rPr>
              <a:t>MCM: ?</a:t>
            </a:r>
          </a:p>
          <a:p>
            <a:pPr marL="0" indent="0">
              <a:buNone/>
            </a:pPr>
            <a:r>
              <a:rPr lang="en-US" sz="2400" b="0" i="0" dirty="0">
                <a:effectLst/>
                <a:latin typeface="Söhne"/>
              </a:rPr>
              <a:t>In MCM, the binary data "11001100" would be divided into multiple subcarriers, each with its own carrier frequency, and the data would be transmitted simultaneously on these subcarriers.</a:t>
            </a:r>
            <a:endParaRPr lang="en-US" sz="2400" dirty="0"/>
          </a:p>
        </p:txBody>
      </p:sp>
    </p:spTree>
    <p:extLst>
      <p:ext uri="{BB962C8B-B14F-4D97-AF65-F5344CB8AC3E}">
        <p14:creationId xmlns:p14="http://schemas.microsoft.com/office/powerpoint/2010/main" val="3033458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31312-6E30-5C15-3C28-DEF30BD9FBAC}"/>
              </a:ext>
            </a:extLst>
          </p:cNvPr>
          <p:cNvSpPr>
            <a:spLocks noGrp="1"/>
          </p:cNvSpPr>
          <p:nvPr>
            <p:ph type="title"/>
          </p:nvPr>
        </p:nvSpPr>
        <p:spPr>
          <a:xfrm>
            <a:off x="628650" y="166796"/>
            <a:ext cx="7886700" cy="724372"/>
          </a:xfrm>
        </p:spPr>
        <p:txBody>
          <a:bodyPr>
            <a:normAutofit/>
          </a:bodyPr>
          <a:lstStyle/>
          <a:p>
            <a:r>
              <a:rPr lang="en-US" sz="3600" b="1" dirty="0">
                <a:latin typeface="Arial" panose="020B0604020202020204" pitchFamily="34" charset="0"/>
                <a:cs typeface="Arial" panose="020B0604020202020204" pitchFamily="34" charset="0"/>
              </a:rPr>
              <a:t>M</a:t>
            </a:r>
            <a:r>
              <a:rPr lang="en-US" sz="3600" b="1" i="0" u="none" strike="noStrike" baseline="0" dirty="0">
                <a:latin typeface="Arial" panose="020B0604020202020204" pitchFamily="34" charset="0"/>
                <a:cs typeface="Arial" panose="020B0604020202020204" pitchFamily="34" charset="0"/>
              </a:rPr>
              <a:t>ulticarrier Transmission</a:t>
            </a:r>
            <a:endParaRPr lang="en-US" sz="36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C141CA7-D932-3F51-1E6A-F53F2B8D3BF7}"/>
              </a:ext>
            </a:extLst>
          </p:cNvPr>
          <p:cNvPicPr>
            <a:picLocks noChangeAspect="1"/>
          </p:cNvPicPr>
          <p:nvPr/>
        </p:nvPicPr>
        <p:blipFill>
          <a:blip r:embed="rId2"/>
          <a:stretch>
            <a:fillRect/>
          </a:stretch>
        </p:blipFill>
        <p:spPr>
          <a:xfrm>
            <a:off x="677816" y="1059317"/>
            <a:ext cx="7788368" cy="2322737"/>
          </a:xfrm>
          <a:prstGeom prst="rect">
            <a:avLst/>
          </a:prstGeom>
        </p:spPr>
      </p:pic>
      <p:pic>
        <p:nvPicPr>
          <p:cNvPr id="7" name="Picture 6">
            <a:extLst>
              <a:ext uri="{FF2B5EF4-FFF2-40B4-BE49-F238E27FC236}">
                <a16:creationId xmlns:a16="http://schemas.microsoft.com/office/drawing/2014/main" id="{0C9FD55C-272F-7743-4953-D3BFD7998E9B}"/>
              </a:ext>
            </a:extLst>
          </p:cNvPr>
          <p:cNvPicPr>
            <a:picLocks noChangeAspect="1"/>
          </p:cNvPicPr>
          <p:nvPr/>
        </p:nvPicPr>
        <p:blipFill>
          <a:blip r:embed="rId3"/>
          <a:stretch>
            <a:fillRect/>
          </a:stretch>
        </p:blipFill>
        <p:spPr>
          <a:xfrm>
            <a:off x="784401" y="4009684"/>
            <a:ext cx="8196265" cy="1486933"/>
          </a:xfrm>
          <a:prstGeom prst="rect">
            <a:avLst/>
          </a:prstGeom>
        </p:spPr>
      </p:pic>
      <p:sp>
        <p:nvSpPr>
          <p:cNvPr id="9" name="TextBox 8">
            <a:extLst>
              <a:ext uri="{FF2B5EF4-FFF2-40B4-BE49-F238E27FC236}">
                <a16:creationId xmlns:a16="http://schemas.microsoft.com/office/drawing/2014/main" id="{0268CCC1-62BC-6CD6-7B66-EF4B1D9105DC}"/>
              </a:ext>
            </a:extLst>
          </p:cNvPr>
          <p:cNvSpPr txBox="1"/>
          <p:nvPr/>
        </p:nvSpPr>
        <p:spPr>
          <a:xfrm>
            <a:off x="2065753" y="5614017"/>
            <a:ext cx="5633559" cy="369332"/>
          </a:xfrm>
          <a:prstGeom prst="rect">
            <a:avLst/>
          </a:prstGeom>
          <a:noFill/>
        </p:spPr>
        <p:txBody>
          <a:bodyPr wrap="square">
            <a:spAutoFit/>
          </a:bodyPr>
          <a:lstStyle/>
          <a:p>
            <a:r>
              <a:rPr lang="en-US" sz="1800" b="0" i="0" u="none" strike="noStrike" baseline="0" dirty="0">
                <a:latin typeface="Helvetica" panose="020B0604020202020204" pitchFamily="34" charset="0"/>
              </a:rPr>
              <a:t>Fig: Spectral characteristic of multicarrier system</a:t>
            </a:r>
            <a:endParaRPr lang="en-US" dirty="0"/>
          </a:p>
        </p:txBody>
      </p:sp>
      <p:sp>
        <p:nvSpPr>
          <p:cNvPr id="11" name="TextBox 10">
            <a:extLst>
              <a:ext uri="{FF2B5EF4-FFF2-40B4-BE49-F238E27FC236}">
                <a16:creationId xmlns:a16="http://schemas.microsoft.com/office/drawing/2014/main" id="{2B59576F-1C88-B097-315C-4ACB2EFFF991}"/>
              </a:ext>
            </a:extLst>
          </p:cNvPr>
          <p:cNvSpPr txBox="1"/>
          <p:nvPr/>
        </p:nvSpPr>
        <p:spPr>
          <a:xfrm>
            <a:off x="2286000" y="3455686"/>
            <a:ext cx="4572000" cy="369332"/>
          </a:xfrm>
          <a:prstGeom prst="rect">
            <a:avLst/>
          </a:prstGeom>
          <a:noFill/>
        </p:spPr>
        <p:txBody>
          <a:bodyPr wrap="square">
            <a:spAutoFit/>
          </a:bodyPr>
          <a:lstStyle/>
          <a:p>
            <a:r>
              <a:rPr lang="en-US" sz="1800" b="0" i="0" u="none" strike="noStrike" baseline="0" dirty="0">
                <a:latin typeface="Helvetica" panose="020B0604020202020204" pitchFamily="34" charset="0"/>
              </a:rPr>
              <a:t>Fig: Basic structure of multicarrier system</a:t>
            </a:r>
            <a:endParaRPr lang="en-US" dirty="0"/>
          </a:p>
        </p:txBody>
      </p:sp>
    </p:spTree>
    <p:extLst>
      <p:ext uri="{BB962C8B-B14F-4D97-AF65-F5344CB8AC3E}">
        <p14:creationId xmlns:p14="http://schemas.microsoft.com/office/powerpoint/2010/main" val="1664841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0458C6-154D-A459-EE48-56C94E001DFD}"/>
              </a:ext>
            </a:extLst>
          </p:cNvPr>
          <p:cNvSpPr>
            <a:spLocks noGrp="1"/>
          </p:cNvSpPr>
          <p:nvPr>
            <p:ph type="title"/>
          </p:nvPr>
        </p:nvSpPr>
        <p:spPr>
          <a:xfrm>
            <a:off x="479160" y="417576"/>
            <a:ext cx="8182230" cy="1249394"/>
          </a:xfrm>
        </p:spPr>
        <p:txBody>
          <a:bodyPr vert="horz" lIns="91440" tIns="45720" rIns="91440" bIns="45720" rtlCol="0" anchor="ctr">
            <a:normAutofit/>
          </a:bodyPr>
          <a:lstStyle/>
          <a:p>
            <a:pPr algn="ctr"/>
            <a:r>
              <a:rPr lang="en-US" sz="5300" b="1" kern="1200" dirty="0">
                <a:solidFill>
                  <a:schemeClr val="tx1"/>
                </a:solidFill>
                <a:latin typeface="+mj-lt"/>
                <a:ea typeface="+mj-ea"/>
                <a:cs typeface="+mj-cs"/>
              </a:rPr>
              <a:t>Single Carrier vs Multicarrier</a:t>
            </a:r>
          </a:p>
        </p:txBody>
      </p:sp>
      <p:sp>
        <p:nvSpPr>
          <p:cNvPr id="18"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1733454"/>
            <a:ext cx="3429000" cy="18288"/>
          </a:xfrm>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940713C0-C1BE-6C84-83F6-058AB6F0C27F}"/>
              </a:ext>
            </a:extLst>
          </p:cNvPr>
          <p:cNvGraphicFramePr>
            <a:graphicFrameLocks noGrp="1"/>
          </p:cNvGraphicFramePr>
          <p:nvPr>
            <p:extLst>
              <p:ext uri="{D42A27DB-BD31-4B8C-83A1-F6EECF244321}">
                <p14:modId xmlns:p14="http://schemas.microsoft.com/office/powerpoint/2010/main" val="3440032057"/>
              </p:ext>
            </p:extLst>
          </p:nvPr>
        </p:nvGraphicFramePr>
        <p:xfrm>
          <a:off x="306851" y="2300963"/>
          <a:ext cx="8526847" cy="3586354"/>
        </p:xfrm>
        <a:graphic>
          <a:graphicData uri="http://schemas.openxmlformats.org/drawingml/2006/table">
            <a:tbl>
              <a:tblPr firstRow="1" firstCol="1" bandRow="1"/>
              <a:tblGrid>
                <a:gridCol w="2305303">
                  <a:extLst>
                    <a:ext uri="{9D8B030D-6E8A-4147-A177-3AD203B41FA5}">
                      <a16:colId xmlns:a16="http://schemas.microsoft.com/office/drawing/2014/main" val="2696147387"/>
                    </a:ext>
                  </a:extLst>
                </a:gridCol>
                <a:gridCol w="2585042">
                  <a:extLst>
                    <a:ext uri="{9D8B030D-6E8A-4147-A177-3AD203B41FA5}">
                      <a16:colId xmlns:a16="http://schemas.microsoft.com/office/drawing/2014/main" val="2862500715"/>
                    </a:ext>
                  </a:extLst>
                </a:gridCol>
                <a:gridCol w="3636502">
                  <a:extLst>
                    <a:ext uri="{9D8B030D-6E8A-4147-A177-3AD203B41FA5}">
                      <a16:colId xmlns:a16="http://schemas.microsoft.com/office/drawing/2014/main" val="2615205702"/>
                    </a:ext>
                  </a:extLst>
                </a:gridCol>
              </a:tblGrid>
              <a:tr h="922408">
                <a:tc>
                  <a:txBody>
                    <a:bodyPr/>
                    <a:lstStyle/>
                    <a:p>
                      <a:pPr marL="0" marR="0" algn="ctr" fontAlgn="ctr">
                        <a:lnSpc>
                          <a:spcPct val="115000"/>
                        </a:lnSpc>
                        <a:spcAft>
                          <a:spcPts val="800"/>
                        </a:spcAft>
                        <a:buNone/>
                      </a:pPr>
                      <a:r>
                        <a:rPr lang="en-US" sz="2100" b="1" i="0" u="none" strike="noStrike" kern="100">
                          <a:effectLst/>
                          <a:latin typeface="Aptos" panose="020B0004020202020204" pitchFamily="34" charset="0"/>
                          <a:ea typeface="Aptos" panose="020B0004020202020204" pitchFamily="34" charset="0"/>
                          <a:cs typeface="Arial" panose="020B0604020202020204" pitchFamily="34" charset="0"/>
                        </a:rPr>
                        <a:t>Feature</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1" i="0" u="none" strike="noStrike" kern="100">
                          <a:effectLst/>
                          <a:latin typeface="Aptos" panose="020B0004020202020204" pitchFamily="34" charset="0"/>
                          <a:ea typeface="Aptos" panose="020B0004020202020204" pitchFamily="34" charset="0"/>
                          <a:cs typeface="Arial" panose="020B0604020202020204" pitchFamily="34" charset="0"/>
                        </a:rPr>
                        <a:t>Single Carrier</a:t>
                      </a:r>
                      <a:endParaRPr lang="en-US" sz="3300" b="0" i="0" u="none" strike="noStrike">
                        <a:effectLst/>
                        <a:latin typeface="Arial" panose="020B0604020202020204" pitchFamily="34" charset="0"/>
                      </a:endParaRPr>
                    </a:p>
                    <a:p>
                      <a:pPr marL="0" marR="0" algn="ctr" fontAlgn="ctr">
                        <a:lnSpc>
                          <a:spcPct val="115000"/>
                        </a:lnSpc>
                        <a:spcAft>
                          <a:spcPts val="800"/>
                        </a:spcAft>
                        <a:buNone/>
                      </a:pPr>
                      <a:r>
                        <a:rPr lang="en-US" sz="2100" b="1" i="0" u="none" strike="noStrike" kern="100">
                          <a:effectLst/>
                          <a:latin typeface="Aptos" panose="020B0004020202020204" pitchFamily="34" charset="0"/>
                          <a:ea typeface="Aptos" panose="020B0004020202020204" pitchFamily="34" charset="0"/>
                          <a:cs typeface="Arial" panose="020B0604020202020204" pitchFamily="34" charset="0"/>
                        </a:rPr>
                        <a:t>(SCM)</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1" i="0" u="none" strike="noStrike" kern="100">
                          <a:effectLst/>
                          <a:latin typeface="Aptos" panose="020B0004020202020204" pitchFamily="34" charset="0"/>
                          <a:ea typeface="Aptos" panose="020B0004020202020204" pitchFamily="34" charset="0"/>
                          <a:cs typeface="Arial" panose="020B0604020202020204" pitchFamily="34" charset="0"/>
                        </a:rPr>
                        <a:t>Multicarrier</a:t>
                      </a:r>
                      <a:endParaRPr lang="en-US" sz="3300" b="0" i="0" u="none" strike="noStrike">
                        <a:effectLst/>
                        <a:latin typeface="Arial" panose="020B0604020202020204" pitchFamily="34" charset="0"/>
                      </a:endParaRPr>
                    </a:p>
                    <a:p>
                      <a:pPr marL="0" marR="0" algn="ctr" fontAlgn="ctr">
                        <a:lnSpc>
                          <a:spcPct val="115000"/>
                        </a:lnSpc>
                        <a:spcAft>
                          <a:spcPts val="800"/>
                        </a:spcAft>
                        <a:buNone/>
                      </a:pPr>
                      <a:r>
                        <a:rPr lang="en-US" sz="2100" b="1" i="0" u="none" strike="noStrike" kern="100">
                          <a:effectLst/>
                          <a:latin typeface="Aptos" panose="020B0004020202020204" pitchFamily="34" charset="0"/>
                          <a:ea typeface="Aptos" panose="020B0004020202020204" pitchFamily="34" charset="0"/>
                          <a:cs typeface="Arial" panose="020B0604020202020204" pitchFamily="34" charset="0"/>
                        </a:rPr>
                        <a:t>(MCM / OFDM)</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2808340"/>
                  </a:ext>
                </a:extLst>
              </a:tr>
              <a:tr h="443991">
                <a:tc>
                  <a:txBody>
                    <a:bodyPr/>
                    <a:lstStyle/>
                    <a:p>
                      <a:pPr marL="0" marR="0" algn="l"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Carrier frequency</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One</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Many (parallel subcarriers)</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5112570"/>
                  </a:ext>
                </a:extLst>
              </a:tr>
              <a:tr h="443991">
                <a:tc>
                  <a:txBody>
                    <a:bodyPr/>
                    <a:lstStyle/>
                    <a:p>
                      <a:pPr marL="0" marR="0" algn="l"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Symbol duration</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Short</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Long (per subcarrier)</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7537510"/>
                  </a:ext>
                </a:extLst>
              </a:tr>
              <a:tr h="443991">
                <a:tc>
                  <a:txBody>
                    <a:bodyPr/>
                    <a:lstStyle/>
                    <a:p>
                      <a:pPr marL="0" marR="0" algn="l"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ISI sensitivity</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High</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Low</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3589037"/>
                  </a:ext>
                </a:extLst>
              </a:tr>
              <a:tr h="443991">
                <a:tc>
                  <a:txBody>
                    <a:bodyPr/>
                    <a:lstStyle/>
                    <a:p>
                      <a:pPr marL="0" marR="0" algn="l"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Equalization</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Complicated</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Simple (1-tap per subcarrier)</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2196124"/>
                  </a:ext>
                </a:extLst>
              </a:tr>
              <a:tr h="443991">
                <a:tc>
                  <a:txBody>
                    <a:bodyPr/>
                    <a:lstStyle/>
                    <a:p>
                      <a:pPr marL="0" marR="0" algn="l"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Spectrum</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Wide waveform</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Many narrowband tones</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7456580"/>
                  </a:ext>
                </a:extLst>
              </a:tr>
              <a:tr h="443991">
                <a:tc>
                  <a:txBody>
                    <a:bodyPr/>
                    <a:lstStyle/>
                    <a:p>
                      <a:pPr marL="0" marR="0" algn="l"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Complexity</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a:effectLst/>
                          <a:latin typeface="Aptos" panose="020B0004020202020204" pitchFamily="34" charset="0"/>
                          <a:ea typeface="Aptos" panose="020B0004020202020204" pitchFamily="34" charset="0"/>
                          <a:cs typeface="Arial" panose="020B0604020202020204" pitchFamily="34" charset="0"/>
                        </a:rPr>
                        <a:t>Lower TX, harder RX</a:t>
                      </a:r>
                      <a:endParaRPr lang="en-US" sz="3300" b="0" i="0" u="none" strike="noStrike">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fontAlgn="ctr">
                        <a:lnSpc>
                          <a:spcPct val="115000"/>
                        </a:lnSpc>
                        <a:spcAft>
                          <a:spcPts val="800"/>
                        </a:spcAft>
                        <a:buNone/>
                      </a:pPr>
                      <a:r>
                        <a:rPr lang="en-US" sz="2100" b="0" i="0" u="none" strike="noStrike" kern="100" dirty="0">
                          <a:effectLst/>
                          <a:latin typeface="Aptos" panose="020B0004020202020204" pitchFamily="34" charset="0"/>
                          <a:ea typeface="Aptos" panose="020B0004020202020204" pitchFamily="34" charset="0"/>
                          <a:cs typeface="Arial" panose="020B0604020202020204" pitchFamily="34" charset="0"/>
                        </a:rPr>
                        <a:t>FFT-based, balanced</a:t>
                      </a:r>
                      <a:endParaRPr lang="en-US" sz="3300" b="0" i="0" u="none" strike="noStrike" dirty="0">
                        <a:effectLst/>
                        <a:latin typeface="Arial" panose="020B0604020202020204" pitchFamily="34" charset="0"/>
                      </a:endParaRPr>
                    </a:p>
                  </a:txBody>
                  <a:tcPr marL="17190" marR="17190" marT="17190" marB="171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721366"/>
                  </a:ext>
                </a:extLst>
              </a:tr>
            </a:tbl>
          </a:graphicData>
        </a:graphic>
      </p:graphicFrame>
    </p:spTree>
    <p:extLst>
      <p:ext uri="{BB962C8B-B14F-4D97-AF65-F5344CB8AC3E}">
        <p14:creationId xmlns:p14="http://schemas.microsoft.com/office/powerpoint/2010/main" val="3657586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36C7FE-1B82-869C-02DF-EABF9D6185CF}"/>
              </a:ext>
            </a:extLst>
          </p:cNvPr>
          <p:cNvPicPr>
            <a:picLocks noChangeAspect="1"/>
          </p:cNvPicPr>
          <p:nvPr/>
        </p:nvPicPr>
        <p:blipFill>
          <a:blip r:embed="rId2"/>
          <a:stretch>
            <a:fillRect/>
          </a:stretch>
        </p:blipFill>
        <p:spPr>
          <a:xfrm>
            <a:off x="728178" y="403788"/>
            <a:ext cx="7687643" cy="5703097"/>
          </a:xfrm>
          <a:prstGeom prst="rect">
            <a:avLst/>
          </a:prstGeom>
        </p:spPr>
      </p:pic>
    </p:spTree>
    <p:extLst>
      <p:ext uri="{BB962C8B-B14F-4D97-AF65-F5344CB8AC3E}">
        <p14:creationId xmlns:p14="http://schemas.microsoft.com/office/powerpoint/2010/main" val="1139899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2" name="Rectangle 206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351FD45-0574-F640-4704-74560B6612F8}"/>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4000" b="1" kern="1200">
                <a:solidFill>
                  <a:schemeClr val="bg1"/>
                </a:solidFill>
                <a:latin typeface="+mj-lt"/>
                <a:ea typeface="+mj-ea"/>
                <a:cs typeface="+mj-cs"/>
              </a:rPr>
              <a:t>Traditional vs OFDM</a:t>
            </a:r>
          </a:p>
        </p:txBody>
      </p:sp>
      <p:pic>
        <p:nvPicPr>
          <p:cNvPr id="2050" name="Picture 2">
            <a:extLst>
              <a:ext uri="{FF2B5EF4-FFF2-40B4-BE49-F238E27FC236}">
                <a16:creationId xmlns:a16="http://schemas.microsoft.com/office/drawing/2014/main" id="{BCFC2AAF-353F-FB2A-8B84-96D8C209745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98324" y="1675227"/>
            <a:ext cx="6947350" cy="439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714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EE1F-F4FD-1432-C6D0-576B0109FEB7}"/>
              </a:ext>
            </a:extLst>
          </p:cNvPr>
          <p:cNvSpPr>
            <a:spLocks noGrp="1"/>
          </p:cNvSpPr>
          <p:nvPr>
            <p:ph type="title"/>
          </p:nvPr>
        </p:nvSpPr>
        <p:spPr>
          <a:xfrm>
            <a:off x="628650" y="365127"/>
            <a:ext cx="7886700" cy="549274"/>
          </a:xfrm>
        </p:spPr>
        <p:txBody>
          <a:bodyPr>
            <a:noAutofit/>
          </a:bodyPr>
          <a:lstStyle/>
          <a:p>
            <a:r>
              <a:rPr lang="en-US" sz="3600" b="1" i="0" u="none" strike="noStrike" baseline="0" dirty="0">
                <a:solidFill>
                  <a:srgbClr val="231F20"/>
                </a:solidFill>
                <a:latin typeface="Times" panose="02020603050405020304" pitchFamily="18" charset="0"/>
                <a:cs typeface="Times" panose="02020603050405020304" pitchFamily="18" charset="0"/>
              </a:rPr>
              <a:t>OFDM Concept</a:t>
            </a:r>
            <a:endParaRPr lang="en-US" sz="3600" dirty="0">
              <a:latin typeface="Times" panose="02020603050405020304" pitchFamily="18" charset="0"/>
              <a:cs typeface="Times" panose="02020603050405020304" pitchFamily="18" charset="0"/>
            </a:endParaRPr>
          </a:p>
        </p:txBody>
      </p:sp>
      <p:sp>
        <p:nvSpPr>
          <p:cNvPr id="3" name="Content Placeholder 2">
            <a:extLst>
              <a:ext uri="{FF2B5EF4-FFF2-40B4-BE49-F238E27FC236}">
                <a16:creationId xmlns:a16="http://schemas.microsoft.com/office/drawing/2014/main" id="{D005358D-6750-CB8C-A662-A704A2441C0C}"/>
              </a:ext>
            </a:extLst>
          </p:cNvPr>
          <p:cNvSpPr>
            <a:spLocks noGrp="1"/>
          </p:cNvSpPr>
          <p:nvPr>
            <p:ph idx="1"/>
          </p:nvPr>
        </p:nvSpPr>
        <p:spPr>
          <a:xfrm>
            <a:off x="628650" y="1104405"/>
            <a:ext cx="8134350" cy="5388467"/>
          </a:xfrm>
        </p:spPr>
        <p:txBody>
          <a:bodyPr>
            <a:noAutofit/>
          </a:bodyPr>
          <a:lstStyle/>
          <a:p>
            <a:pPr algn="just">
              <a:lnSpc>
                <a:spcPct val="150000"/>
              </a:lnSpc>
            </a:pPr>
            <a:r>
              <a:rPr lang="en-US" sz="2000" b="0" i="0" u="none" strike="noStrike" baseline="0" dirty="0">
                <a:solidFill>
                  <a:srgbClr val="231F20"/>
                </a:solidFill>
                <a:latin typeface="Times New Roman" panose="02020603050405020304" pitchFamily="18" charset="0"/>
                <a:cs typeface="Times New Roman" panose="02020603050405020304" pitchFamily="18" charset="0"/>
              </a:rPr>
              <a:t>The fundamental principle of the OFDM system is to decompose the high-rate data stream (bandwidth = </a:t>
            </a:r>
            <a:r>
              <a:rPr lang="en-US" sz="2000" b="0" i="1" u="none" strike="noStrike" baseline="0" dirty="0">
                <a:solidFill>
                  <a:srgbClr val="231F20"/>
                </a:solidFill>
                <a:latin typeface="Times New Roman" panose="02020603050405020304" pitchFamily="18" charset="0"/>
                <a:cs typeface="Times New Roman" panose="02020603050405020304" pitchFamily="18" charset="0"/>
              </a:rPr>
              <a:t>W </a:t>
            </a:r>
            <a:r>
              <a:rPr lang="en-US" sz="2000" b="0" i="0" u="none" strike="noStrike" baseline="0" dirty="0">
                <a:solidFill>
                  <a:srgbClr val="231F20"/>
                </a:solidFill>
                <a:latin typeface="Times New Roman" panose="02020603050405020304" pitchFamily="18" charset="0"/>
                <a:cs typeface="Times New Roman" panose="02020603050405020304" pitchFamily="18" charset="0"/>
              </a:rPr>
              <a:t>) into </a:t>
            </a:r>
            <a:r>
              <a:rPr lang="en-US" sz="2000" b="0" i="1" u="none" strike="noStrike" baseline="0" dirty="0">
                <a:solidFill>
                  <a:srgbClr val="231F20"/>
                </a:solidFill>
                <a:latin typeface="Times New Roman" panose="02020603050405020304" pitchFamily="18" charset="0"/>
                <a:cs typeface="Times New Roman" panose="02020603050405020304" pitchFamily="18" charset="0"/>
              </a:rPr>
              <a:t>N </a:t>
            </a:r>
            <a:r>
              <a:rPr lang="en-US" sz="2000" b="0" i="0" u="none" strike="noStrike" baseline="0" dirty="0">
                <a:solidFill>
                  <a:srgbClr val="231F20"/>
                </a:solidFill>
                <a:latin typeface="Times New Roman" panose="02020603050405020304" pitchFamily="18" charset="0"/>
                <a:cs typeface="Times New Roman" panose="02020603050405020304" pitchFamily="18" charset="0"/>
              </a:rPr>
              <a:t>lower rate data streams and then to transmit them simultaneously over a large number of subcarriers. </a:t>
            </a:r>
          </a:p>
          <a:p>
            <a:pPr algn="just">
              <a:lnSpc>
                <a:spcPct val="150000"/>
              </a:lnSpc>
            </a:pPr>
            <a:r>
              <a:rPr lang="en-US" sz="2000" dirty="0">
                <a:solidFill>
                  <a:srgbClr val="231F20"/>
                </a:solidFill>
                <a:latin typeface="Times New Roman" panose="02020603050405020304" pitchFamily="18" charset="0"/>
                <a:cs typeface="Times New Roman" panose="02020603050405020304" pitchFamily="18" charset="0"/>
              </a:rPr>
              <a:t>A sufficiently high value of </a:t>
            </a:r>
            <a:r>
              <a:rPr lang="en-US" sz="2000" i="1" dirty="0">
                <a:solidFill>
                  <a:srgbClr val="231F20"/>
                </a:solidFill>
                <a:latin typeface="Times New Roman" panose="02020603050405020304" pitchFamily="18" charset="0"/>
                <a:cs typeface="Times New Roman" panose="02020603050405020304" pitchFamily="18" charset="0"/>
              </a:rPr>
              <a:t>N </a:t>
            </a:r>
            <a:r>
              <a:rPr lang="en-US" sz="2000" dirty="0">
                <a:solidFill>
                  <a:srgbClr val="231F20"/>
                </a:solidFill>
                <a:latin typeface="Times New Roman" panose="02020603050405020304" pitchFamily="18" charset="0"/>
                <a:cs typeface="Times New Roman" panose="02020603050405020304" pitchFamily="18" charset="0"/>
              </a:rPr>
              <a:t>makes the individual bandwidth (</a:t>
            </a:r>
            <a:r>
              <a:rPr lang="en-US" sz="2000" i="1" dirty="0">
                <a:solidFill>
                  <a:srgbClr val="231F20"/>
                </a:solidFill>
                <a:latin typeface="Times New Roman" panose="02020603050405020304" pitchFamily="18" charset="0"/>
                <a:cs typeface="Times New Roman" panose="02020603050405020304" pitchFamily="18" charset="0"/>
              </a:rPr>
              <a:t>W/N </a:t>
            </a:r>
            <a:r>
              <a:rPr lang="en-US" sz="2000" dirty="0">
                <a:solidFill>
                  <a:srgbClr val="231F20"/>
                </a:solidFill>
                <a:latin typeface="Times New Roman" panose="02020603050405020304" pitchFamily="18" charset="0"/>
                <a:cs typeface="Times New Roman" panose="02020603050405020304" pitchFamily="18" charset="0"/>
              </a:rPr>
              <a:t>) of subcarriers narrower than the coherence bandwidth (</a:t>
            </a:r>
            <a:r>
              <a:rPr lang="en-US" sz="2000" i="1" dirty="0" err="1">
                <a:solidFill>
                  <a:srgbClr val="231F20"/>
                </a:solidFill>
                <a:latin typeface="Times New Roman" panose="02020603050405020304" pitchFamily="18" charset="0"/>
                <a:cs typeface="Times New Roman" panose="02020603050405020304" pitchFamily="18" charset="0"/>
              </a:rPr>
              <a:t>Bc</a:t>
            </a:r>
            <a:r>
              <a:rPr lang="en-US" sz="2000" i="1" dirty="0">
                <a:solidFill>
                  <a:srgbClr val="231F20"/>
                </a:solidFill>
                <a:latin typeface="Times New Roman" panose="02020603050405020304" pitchFamily="18" charset="0"/>
                <a:cs typeface="Times New Roman" panose="02020603050405020304" pitchFamily="18" charset="0"/>
              </a:rPr>
              <a:t> </a:t>
            </a:r>
            <a:r>
              <a:rPr lang="en-US" sz="2000" dirty="0">
                <a:solidFill>
                  <a:srgbClr val="231F20"/>
                </a:solidFill>
                <a:latin typeface="Times New Roman" panose="02020603050405020304" pitchFamily="18" charset="0"/>
                <a:cs typeface="Times New Roman" panose="02020603050405020304" pitchFamily="18" charset="0"/>
              </a:rPr>
              <a:t>) of the channel.</a:t>
            </a:r>
          </a:p>
          <a:p>
            <a:pPr algn="just">
              <a:lnSpc>
                <a:spcPct val="150000"/>
              </a:lnSpc>
            </a:pPr>
            <a:r>
              <a:rPr lang="en-US" sz="2000" dirty="0">
                <a:solidFill>
                  <a:srgbClr val="231F20"/>
                </a:solidFill>
                <a:latin typeface="Times New Roman" panose="02020603050405020304" pitchFamily="18" charset="0"/>
                <a:cs typeface="Times New Roman" panose="02020603050405020304" pitchFamily="18" charset="0"/>
              </a:rPr>
              <a:t>The choice of individual subcarrier is such that they are orthogonal to each other, which allows for the overlapping of subcarriers because the orthogonality ensures the separation of subcarriers at the receiver end. </a:t>
            </a:r>
          </a:p>
          <a:p>
            <a:pPr algn="just">
              <a:lnSpc>
                <a:spcPct val="150000"/>
              </a:lnSpc>
            </a:pPr>
            <a:r>
              <a:rPr lang="en-US" sz="2000" dirty="0">
                <a:solidFill>
                  <a:srgbClr val="231F20"/>
                </a:solidFill>
                <a:latin typeface="Times New Roman" panose="02020603050405020304" pitchFamily="18" charset="0"/>
                <a:cs typeface="Times New Roman" panose="02020603050405020304" pitchFamily="18" charset="0"/>
              </a:rPr>
              <a:t>This approach results in a better spectral efficiency than that of FDMA systems, where no spectral overlap of carriers is allowed.</a:t>
            </a: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solidFill>
                <a:srgbClr val="231F20"/>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93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465E6-E0CB-4F11-6754-1DBE0CBF3EF2}"/>
              </a:ext>
            </a:extLst>
          </p:cNvPr>
          <p:cNvSpPr>
            <a:spLocks noGrp="1"/>
          </p:cNvSpPr>
          <p:nvPr>
            <p:ph type="title"/>
          </p:nvPr>
        </p:nvSpPr>
        <p:spPr>
          <a:xfrm>
            <a:off x="628650" y="365126"/>
            <a:ext cx="7886700" cy="581931"/>
          </a:xfrm>
        </p:spPr>
        <p:txBody>
          <a:bodyPr>
            <a:noAutofit/>
          </a:bodyPr>
          <a:lstStyle/>
          <a:p>
            <a:r>
              <a:rPr lang="en-US" sz="4000" b="1" i="0" u="none" strike="noStrike" baseline="0" dirty="0">
                <a:latin typeface="Arial" panose="020B0604020202020204" pitchFamily="34" charset="0"/>
                <a:cs typeface="Arial" panose="020B0604020202020204" pitchFamily="34" charset="0"/>
              </a:rPr>
              <a:t>OFDM Transmission Scheme</a:t>
            </a:r>
            <a:endParaRPr lang="en-US" sz="40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1B50500-B283-EED8-53A4-30E54B99B522}"/>
              </a:ext>
            </a:extLst>
          </p:cNvPr>
          <p:cNvPicPr>
            <a:picLocks noChangeAspect="1"/>
          </p:cNvPicPr>
          <p:nvPr/>
        </p:nvPicPr>
        <p:blipFill>
          <a:blip r:embed="rId2"/>
          <a:stretch>
            <a:fillRect/>
          </a:stretch>
        </p:blipFill>
        <p:spPr>
          <a:xfrm>
            <a:off x="908952" y="947057"/>
            <a:ext cx="7326095" cy="2837066"/>
          </a:xfrm>
          <a:prstGeom prst="rect">
            <a:avLst/>
          </a:prstGeom>
        </p:spPr>
      </p:pic>
      <p:pic>
        <p:nvPicPr>
          <p:cNvPr id="7" name="Picture 6">
            <a:extLst>
              <a:ext uri="{FF2B5EF4-FFF2-40B4-BE49-F238E27FC236}">
                <a16:creationId xmlns:a16="http://schemas.microsoft.com/office/drawing/2014/main" id="{C52740F6-FC8B-5933-41D0-A83A529DCE76}"/>
              </a:ext>
            </a:extLst>
          </p:cNvPr>
          <p:cNvPicPr>
            <a:picLocks noChangeAspect="1"/>
          </p:cNvPicPr>
          <p:nvPr/>
        </p:nvPicPr>
        <p:blipFill>
          <a:blip r:embed="rId3"/>
          <a:stretch>
            <a:fillRect/>
          </a:stretch>
        </p:blipFill>
        <p:spPr>
          <a:xfrm>
            <a:off x="326541" y="4132253"/>
            <a:ext cx="8116934" cy="2598843"/>
          </a:xfrm>
          <a:prstGeom prst="rect">
            <a:avLst/>
          </a:prstGeom>
        </p:spPr>
      </p:pic>
    </p:spTree>
    <p:extLst>
      <p:ext uri="{BB962C8B-B14F-4D97-AF65-F5344CB8AC3E}">
        <p14:creationId xmlns:p14="http://schemas.microsoft.com/office/powerpoint/2010/main" val="1851340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977D9-AE9E-821B-5B41-5F833D77B77E}"/>
              </a:ext>
            </a:extLst>
          </p:cNvPr>
          <p:cNvSpPr>
            <a:spLocks noGrp="1"/>
          </p:cNvSpPr>
          <p:nvPr>
            <p:ph type="title"/>
          </p:nvPr>
        </p:nvSpPr>
        <p:spPr>
          <a:xfrm>
            <a:off x="628650" y="365126"/>
            <a:ext cx="7886700" cy="685461"/>
          </a:xfrm>
        </p:spPr>
        <p:txBody>
          <a:bodyPr>
            <a:noAutofit/>
          </a:bodyPr>
          <a:lstStyle/>
          <a:p>
            <a:r>
              <a:rPr lang="en-US" sz="4000" b="1" i="0" u="none" strike="noStrike" baseline="0" dirty="0">
                <a:solidFill>
                  <a:srgbClr val="231F20"/>
                </a:solidFill>
                <a:latin typeface="Univers-Condensed"/>
              </a:rPr>
              <a:t>Spectra of OFDM individual subcarrier.</a:t>
            </a:r>
            <a:endParaRPr lang="en-US" sz="4000" b="1" dirty="0"/>
          </a:p>
        </p:txBody>
      </p:sp>
      <p:pic>
        <p:nvPicPr>
          <p:cNvPr id="5" name="Picture 4">
            <a:extLst>
              <a:ext uri="{FF2B5EF4-FFF2-40B4-BE49-F238E27FC236}">
                <a16:creationId xmlns:a16="http://schemas.microsoft.com/office/drawing/2014/main" id="{2AA25677-7787-BD33-5E0C-050269E7487B}"/>
              </a:ext>
            </a:extLst>
          </p:cNvPr>
          <p:cNvPicPr>
            <a:picLocks noChangeAspect="1"/>
          </p:cNvPicPr>
          <p:nvPr/>
        </p:nvPicPr>
        <p:blipFill>
          <a:blip r:embed="rId2"/>
          <a:stretch>
            <a:fillRect/>
          </a:stretch>
        </p:blipFill>
        <p:spPr>
          <a:xfrm>
            <a:off x="1184074" y="1460665"/>
            <a:ext cx="6569139" cy="5032209"/>
          </a:xfrm>
          <a:prstGeom prst="rect">
            <a:avLst/>
          </a:prstGeom>
        </p:spPr>
      </p:pic>
    </p:spTree>
    <p:extLst>
      <p:ext uri="{BB962C8B-B14F-4D97-AF65-F5344CB8AC3E}">
        <p14:creationId xmlns:p14="http://schemas.microsoft.com/office/powerpoint/2010/main" val="260410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5167C-2D10-8574-5ADF-94E370C1A453}"/>
              </a:ext>
            </a:extLst>
          </p:cNvPr>
          <p:cNvSpPr>
            <a:spLocks noGrp="1"/>
          </p:cNvSpPr>
          <p:nvPr>
            <p:ph type="title"/>
          </p:nvPr>
        </p:nvSpPr>
        <p:spPr>
          <a:xfrm>
            <a:off x="628650" y="365126"/>
            <a:ext cx="7886700" cy="734331"/>
          </a:xfrm>
        </p:spPr>
        <p:txBody>
          <a:bodyPr>
            <a:normAutofit/>
          </a:bodyPr>
          <a:lstStyle/>
          <a:p>
            <a:r>
              <a:rPr lang="en-US" sz="4000" b="1" i="0" u="none" strike="noStrike" baseline="0" dirty="0">
                <a:solidFill>
                  <a:srgbClr val="231F20"/>
                </a:solidFill>
                <a:latin typeface="Univers-Condensed"/>
              </a:rPr>
              <a:t>Spectra of OFDM symbol.</a:t>
            </a:r>
            <a:endParaRPr lang="en-US" sz="4000" b="1" dirty="0"/>
          </a:p>
        </p:txBody>
      </p:sp>
      <p:pic>
        <p:nvPicPr>
          <p:cNvPr id="5" name="Picture 4">
            <a:extLst>
              <a:ext uri="{FF2B5EF4-FFF2-40B4-BE49-F238E27FC236}">
                <a16:creationId xmlns:a16="http://schemas.microsoft.com/office/drawing/2014/main" id="{B70EAC46-6339-2481-D44C-3780A55E1780}"/>
              </a:ext>
            </a:extLst>
          </p:cNvPr>
          <p:cNvPicPr>
            <a:picLocks noChangeAspect="1"/>
          </p:cNvPicPr>
          <p:nvPr/>
        </p:nvPicPr>
        <p:blipFill>
          <a:blip r:embed="rId2"/>
          <a:stretch>
            <a:fillRect/>
          </a:stretch>
        </p:blipFill>
        <p:spPr>
          <a:xfrm>
            <a:off x="926275" y="1081709"/>
            <a:ext cx="7083406" cy="5574903"/>
          </a:xfrm>
          <a:prstGeom prst="rect">
            <a:avLst/>
          </a:prstGeom>
        </p:spPr>
      </p:pic>
    </p:spTree>
    <p:extLst>
      <p:ext uri="{BB962C8B-B14F-4D97-AF65-F5344CB8AC3E}">
        <p14:creationId xmlns:p14="http://schemas.microsoft.com/office/powerpoint/2010/main" val="43079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8" name="Rectangle 103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0" name="Freeform: Shape 103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7" name="Rectangle 103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Freeform: Shape 104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3" name="Isosceles Triangle 1042">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Principle of OFDM and Multi-carrier Modulations | SpringerLink">
            <a:extLst>
              <a:ext uri="{FF2B5EF4-FFF2-40B4-BE49-F238E27FC236}">
                <a16:creationId xmlns:a16="http://schemas.microsoft.com/office/drawing/2014/main" id="{0E9FB65B-21AC-D473-9D4C-4FBC2FC508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93431" y="643467"/>
            <a:ext cx="5557136"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45" name="Isosceles Triangle 104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762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6"/>
            <a:ext cx="7886700" cy="799645"/>
          </a:xfrm>
        </p:spPr>
        <p:txBody>
          <a:bodyPr>
            <a:normAutofit/>
          </a:bodyPr>
          <a:lstStyle/>
          <a:p>
            <a:r>
              <a:rPr lang="en-GB" sz="4000" b="1" dirty="0">
                <a:latin typeface="Arial" panose="020B0604020202020204" pitchFamily="34" charset="0"/>
                <a:cs typeface="Arial" panose="020B0604020202020204" pitchFamily="34" charset="0"/>
              </a:rPr>
              <a:t>OFDM Implementation</a:t>
            </a:r>
          </a:p>
        </p:txBody>
      </p:sp>
      <p:sp>
        <p:nvSpPr>
          <p:cNvPr id="6" name="Content Placeholder 5"/>
          <p:cNvSpPr>
            <a:spLocks noGrp="1"/>
          </p:cNvSpPr>
          <p:nvPr>
            <p:ph idx="1"/>
          </p:nvPr>
        </p:nvSpPr>
        <p:spPr>
          <a:xfrm>
            <a:off x="304800" y="1352551"/>
            <a:ext cx="8443664" cy="4743450"/>
          </a:xfrm>
        </p:spPr>
        <p:txBody>
          <a:bodyPr>
            <a:normAutofit/>
          </a:bodyPr>
          <a:lstStyle/>
          <a:p>
            <a:pPr>
              <a:spcBef>
                <a:spcPts val="0"/>
              </a:spcBef>
              <a:spcAft>
                <a:spcPts val="1800"/>
              </a:spcAft>
            </a:pPr>
            <a:r>
              <a:rPr lang="en-US" sz="2000" dirty="0"/>
              <a:t>Multicarrier modulation was invented in the 1950s but the use of separate modulators and demodulators was far too complex for most systems at the time.</a:t>
            </a:r>
          </a:p>
          <a:p>
            <a:pPr>
              <a:spcBef>
                <a:spcPts val="0"/>
              </a:spcBef>
              <a:spcAft>
                <a:spcPts val="1800"/>
              </a:spcAft>
            </a:pPr>
            <a:r>
              <a:rPr lang="en-US" sz="2000" dirty="0"/>
              <a:t>Twenty years later, cheap implementations of the discrete Fourier transform (DFT) and the inverse DFT as well as the </a:t>
            </a:r>
            <a:r>
              <a:rPr lang="en-US" sz="2000" dirty="0" err="1"/>
              <a:t>realisation</a:t>
            </a:r>
            <a:r>
              <a:rPr lang="en-US" sz="2000" dirty="0"/>
              <a:t> that multicarrier modulation could be implemented using these algorithms, ignited interest and led to the invention of OFDM.</a:t>
            </a:r>
          </a:p>
          <a:p>
            <a:pPr>
              <a:spcBef>
                <a:spcPts val="0"/>
              </a:spcBef>
              <a:spcAft>
                <a:spcPts val="1800"/>
              </a:spcAft>
            </a:pPr>
            <a:r>
              <a:rPr lang="en-US" sz="2000" dirty="0"/>
              <a:t>Orthogonal Frequency Division Multiplexing (also known as DMT: discrete multi-tone in DSL systems) improves spectral efficiency of multicarrier modulation by allowing the </a:t>
            </a:r>
            <a:r>
              <a:rPr lang="en-US" sz="2000" i="1" dirty="0"/>
              <a:t>N</a:t>
            </a:r>
            <a:r>
              <a:rPr lang="en-US" sz="2000" dirty="0"/>
              <a:t> sub-channels to overlap.</a:t>
            </a:r>
          </a:p>
          <a:p>
            <a:pPr>
              <a:spcBef>
                <a:spcPts val="0"/>
              </a:spcBef>
              <a:spcAft>
                <a:spcPts val="1800"/>
              </a:spcAft>
            </a:pPr>
            <a:r>
              <a:rPr lang="en-US" sz="2000" dirty="0"/>
              <a:t>The selected subcarriers need to form a set of orthogonal</a:t>
            </a:r>
            <a:r>
              <a:rPr lang="en-US" sz="2000" i="1" dirty="0"/>
              <a:t> </a:t>
            </a:r>
            <a:r>
              <a:rPr lang="en-US" sz="2000" dirty="0"/>
              <a:t>functions; when this is achieved, the </a:t>
            </a:r>
            <a:r>
              <a:rPr lang="en-US" sz="2000" i="1" dirty="0"/>
              <a:t>N</a:t>
            </a:r>
            <a:r>
              <a:rPr lang="en-US" sz="2000" dirty="0"/>
              <a:t> signals transmitted on each sub-channel can be separated out at the receiver.</a:t>
            </a:r>
          </a:p>
        </p:txBody>
      </p:sp>
    </p:spTree>
    <p:extLst>
      <p:ext uri="{BB962C8B-B14F-4D97-AF65-F5344CB8AC3E}">
        <p14:creationId xmlns:p14="http://schemas.microsoft.com/office/powerpoint/2010/main" val="1258207133"/>
      </p:ext>
    </p:extLst>
  </p:cSld>
  <p:clrMapOvr>
    <a:masterClrMapping/>
  </p:clrMapOvr>
  <mc:AlternateContent xmlns:mc="http://schemas.openxmlformats.org/markup-compatibility/2006" xmlns:p14="http://schemas.microsoft.com/office/powerpoint/2010/main">
    <mc:Choice Requires="p14">
      <p:transition spd="slow" p14:dur="2000" advTm="101770"/>
    </mc:Choice>
    <mc:Fallback xmlns="">
      <p:transition spd="slow" advTm="1017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2" name="Rectangle 308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147A6C-7568-33BE-65B4-CED916D2010B}"/>
              </a:ext>
            </a:extLst>
          </p:cNvPr>
          <p:cNvSpPr>
            <a:spLocks noGrp="1"/>
          </p:cNvSpPr>
          <p:nvPr>
            <p:ph type="title"/>
          </p:nvPr>
        </p:nvSpPr>
        <p:spPr>
          <a:xfrm>
            <a:off x="524784" y="248038"/>
            <a:ext cx="7336681" cy="1159200"/>
          </a:xfrm>
        </p:spPr>
        <p:txBody>
          <a:bodyPr vert="horz" lIns="91440" tIns="45720" rIns="91440" bIns="45720" rtlCol="0" anchor="ctr">
            <a:normAutofit/>
          </a:bodyPr>
          <a:lstStyle/>
          <a:p>
            <a:r>
              <a:rPr lang="en-US" sz="4000" b="1" kern="1200" dirty="0">
                <a:solidFill>
                  <a:srgbClr val="FFFFFF"/>
                </a:solidFill>
                <a:latin typeface="+mj-lt"/>
                <a:ea typeface="+mj-ea"/>
                <a:cs typeface="+mj-cs"/>
              </a:rPr>
              <a:t>OFDM Time vs Frequency Domain</a:t>
            </a:r>
          </a:p>
        </p:txBody>
      </p:sp>
      <p:pic>
        <p:nvPicPr>
          <p:cNvPr id="3074" name="Picture 2" descr="Multicarrier Modulation - an overview | ScienceDirect Topics">
            <a:extLst>
              <a:ext uri="{FF2B5EF4-FFF2-40B4-BE49-F238E27FC236}">
                <a16:creationId xmlns:a16="http://schemas.microsoft.com/office/drawing/2014/main" id="{85C6B670-23A6-B2CD-4550-EE4DC713F01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15153" y="1832587"/>
            <a:ext cx="7293703" cy="477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635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D6EB0B-5937-A678-85C9-8DC422DE27A1}"/>
              </a:ext>
            </a:extLst>
          </p:cNvPr>
          <p:cNvSpPr>
            <a:spLocks noGrp="1"/>
          </p:cNvSpPr>
          <p:nvPr>
            <p:ph type="title"/>
          </p:nvPr>
        </p:nvSpPr>
        <p:spPr>
          <a:xfrm>
            <a:off x="473202" y="502920"/>
            <a:ext cx="2564892" cy="1463040"/>
          </a:xfrm>
        </p:spPr>
        <p:txBody>
          <a:bodyPr vert="horz" lIns="91440" tIns="45720" rIns="91440" bIns="45720" rtlCol="0" anchor="ctr">
            <a:normAutofit/>
          </a:bodyPr>
          <a:lstStyle/>
          <a:p>
            <a:r>
              <a:rPr lang="en-US" sz="4000" b="1" kern="1200" dirty="0">
                <a:solidFill>
                  <a:schemeClr val="tx1"/>
                </a:solidFill>
                <a:latin typeface="+mj-lt"/>
                <a:ea typeface="+mj-ea"/>
                <a:cs typeface="+mj-cs"/>
              </a:rPr>
              <a:t>Orthogonal Sub-Carrier</a:t>
            </a:r>
          </a:p>
        </p:txBody>
      </p:sp>
      <p:sp>
        <p:nvSpPr>
          <p:cNvPr id="4105"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6AA1E1-AC1B-DE90-7E50-01444A2B2D70}"/>
              </a:ext>
            </a:extLst>
          </p:cNvPr>
          <p:cNvSpPr txBox="1"/>
          <p:nvPr/>
        </p:nvSpPr>
        <p:spPr>
          <a:xfrm>
            <a:off x="3490721" y="502920"/>
            <a:ext cx="5170932" cy="1463040"/>
          </a:xfrm>
          <a:prstGeom prst="rect">
            <a:avLst/>
          </a:prstGeom>
        </p:spPr>
        <p:txBody>
          <a:bodyPr vert="horz" lIns="91440" tIns="45720" rIns="91440" bIns="45720" rtlCol="0" anchor="ctr">
            <a:normAutofit/>
          </a:bodyPr>
          <a:lstStyle/>
          <a:p>
            <a:pPr defTabSz="914400">
              <a:lnSpc>
                <a:spcPct val="90000"/>
              </a:lnSpc>
              <a:spcAft>
                <a:spcPts val="600"/>
              </a:spcAft>
            </a:pPr>
            <a:r>
              <a:rPr lang="en-US" sz="2400" b="0" i="0" dirty="0">
                <a:effectLst/>
              </a:rPr>
              <a:t>Orthogonal means that the subcarriers are mutually perpendicular or do not interfere with each other</a:t>
            </a:r>
            <a:endParaRPr lang="en-US" sz="2400" dirty="0"/>
          </a:p>
        </p:txBody>
      </p:sp>
      <p:pic>
        <p:nvPicPr>
          <p:cNvPr id="4098" name="Picture 2" descr="Spectrum of Orthogonal OFDM subcarriers [12] | Download Scientific Diagram">
            <a:extLst>
              <a:ext uri="{FF2B5EF4-FFF2-40B4-BE49-F238E27FC236}">
                <a16:creationId xmlns:a16="http://schemas.microsoft.com/office/drawing/2014/main" id="{F6F19B58-3321-155F-5EAD-6DE9D7366DA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3202" y="2652922"/>
            <a:ext cx="8188452" cy="3235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6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76E2-F28A-4D9A-85F1-8FB148902C3F}"/>
              </a:ext>
            </a:extLst>
          </p:cNvPr>
          <p:cNvSpPr>
            <a:spLocks noGrp="1"/>
          </p:cNvSpPr>
          <p:nvPr>
            <p:ph type="title"/>
          </p:nvPr>
        </p:nvSpPr>
        <p:spPr>
          <a:xfrm>
            <a:off x="628650" y="365126"/>
            <a:ext cx="7886700" cy="695189"/>
          </a:xfrm>
        </p:spPr>
        <p:txBody>
          <a:bodyPr>
            <a:normAutofit/>
          </a:bodyPr>
          <a:lstStyle/>
          <a:p>
            <a:r>
              <a:rPr lang="en-US" sz="4000" b="1" dirty="0">
                <a:latin typeface="Arial" panose="020B0604020202020204" pitchFamily="34" charset="0"/>
                <a:cs typeface="Arial" panose="020B0604020202020204" pitchFamily="34" charset="0"/>
              </a:rPr>
              <a:t>Orthogonality of Sub-carriers</a:t>
            </a:r>
          </a:p>
        </p:txBody>
      </p:sp>
      <p:pic>
        <p:nvPicPr>
          <p:cNvPr id="4" name="Picture 3">
            <a:extLst>
              <a:ext uri="{FF2B5EF4-FFF2-40B4-BE49-F238E27FC236}">
                <a16:creationId xmlns:a16="http://schemas.microsoft.com/office/drawing/2014/main" id="{08699127-7AE3-42A2-BB7A-46DBED3B9ED9}"/>
              </a:ext>
            </a:extLst>
          </p:cNvPr>
          <p:cNvPicPr>
            <a:picLocks noChangeAspect="1"/>
          </p:cNvPicPr>
          <p:nvPr/>
        </p:nvPicPr>
        <p:blipFill>
          <a:blip r:embed="rId2"/>
          <a:stretch>
            <a:fillRect/>
          </a:stretch>
        </p:blipFill>
        <p:spPr>
          <a:xfrm>
            <a:off x="170234" y="1014017"/>
            <a:ext cx="8803532" cy="5843983"/>
          </a:xfrm>
          <a:prstGeom prst="rect">
            <a:avLst/>
          </a:prstGeom>
        </p:spPr>
      </p:pic>
    </p:spTree>
    <p:extLst>
      <p:ext uri="{BB962C8B-B14F-4D97-AF65-F5344CB8AC3E}">
        <p14:creationId xmlns:p14="http://schemas.microsoft.com/office/powerpoint/2010/main" val="1092099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bject 2">
            <a:extLst>
              <a:ext uri="{FF2B5EF4-FFF2-40B4-BE49-F238E27FC236}">
                <a16:creationId xmlns:a16="http://schemas.microsoft.com/office/drawing/2014/main" id="{1FD5E1AB-F4F8-418E-8CA4-B51D3CF3B9E3}"/>
              </a:ext>
            </a:extLst>
          </p:cNvPr>
          <p:cNvSpPr>
            <a:spLocks/>
          </p:cNvSpPr>
          <p:nvPr/>
        </p:nvSpPr>
        <p:spPr bwMode="auto">
          <a:xfrm>
            <a:off x="4787900" y="1190625"/>
            <a:ext cx="3922713" cy="912813"/>
          </a:xfrm>
          <a:custGeom>
            <a:avLst/>
            <a:gdLst>
              <a:gd name="T0" fmla="*/ 0 w 3923029"/>
              <a:gd name="T1" fmla="*/ 912693 h 913130"/>
              <a:gd name="T2" fmla="*/ 1570786 w 3923029"/>
              <a:gd name="T3" fmla="*/ 0 h 913130"/>
              <a:gd name="T4" fmla="*/ 3922684 w 3923029"/>
              <a:gd name="T5" fmla="*/ 0 h 913130"/>
              <a:gd name="T6" fmla="*/ 2351836 w 3923029"/>
              <a:gd name="T7" fmla="*/ 912693 h 913130"/>
              <a:gd name="T8" fmla="*/ 0 w 3923029"/>
              <a:gd name="T9" fmla="*/ 912693 h 913130"/>
            </a:gdLst>
            <a:ahLst/>
            <a:cxnLst>
              <a:cxn ang="0">
                <a:pos x="T0" y="T1"/>
              </a:cxn>
              <a:cxn ang="0">
                <a:pos x="T2" y="T3"/>
              </a:cxn>
              <a:cxn ang="0">
                <a:pos x="T4" y="T5"/>
              </a:cxn>
              <a:cxn ang="0">
                <a:pos x="T6" y="T7"/>
              </a:cxn>
              <a:cxn ang="0">
                <a:pos x="T8" y="T9"/>
              </a:cxn>
            </a:cxnLst>
            <a:rect l="0" t="0" r="r" b="b"/>
            <a:pathLst>
              <a:path w="3923029" h="913130">
                <a:moveTo>
                  <a:pt x="0" y="912693"/>
                </a:moveTo>
                <a:lnTo>
                  <a:pt x="1570786" y="0"/>
                </a:lnTo>
                <a:lnTo>
                  <a:pt x="3922684" y="0"/>
                </a:lnTo>
                <a:lnTo>
                  <a:pt x="2351836" y="912693"/>
                </a:lnTo>
                <a:lnTo>
                  <a:pt x="0" y="912693"/>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47" name="object 3">
            <a:extLst>
              <a:ext uri="{FF2B5EF4-FFF2-40B4-BE49-F238E27FC236}">
                <a16:creationId xmlns:a16="http://schemas.microsoft.com/office/drawing/2014/main" id="{6F4BD802-8FB9-42A1-958B-204851F09152}"/>
              </a:ext>
            </a:extLst>
          </p:cNvPr>
          <p:cNvSpPr>
            <a:spLocks/>
          </p:cNvSpPr>
          <p:nvPr/>
        </p:nvSpPr>
        <p:spPr bwMode="auto">
          <a:xfrm>
            <a:off x="473075" y="1190625"/>
            <a:ext cx="3922713" cy="912813"/>
          </a:xfrm>
          <a:custGeom>
            <a:avLst/>
            <a:gdLst>
              <a:gd name="T0" fmla="*/ 0 w 3923029"/>
              <a:gd name="T1" fmla="*/ 912693 h 913130"/>
              <a:gd name="T2" fmla="*/ 1570826 w 3923029"/>
              <a:gd name="T3" fmla="*/ 0 h 913130"/>
              <a:gd name="T4" fmla="*/ 3922705 w 3923029"/>
              <a:gd name="T5" fmla="*/ 0 h 913130"/>
              <a:gd name="T6" fmla="*/ 2351876 w 3923029"/>
              <a:gd name="T7" fmla="*/ 912693 h 913130"/>
              <a:gd name="T8" fmla="*/ 0 w 3923029"/>
              <a:gd name="T9" fmla="*/ 912693 h 913130"/>
            </a:gdLst>
            <a:ahLst/>
            <a:cxnLst>
              <a:cxn ang="0">
                <a:pos x="T0" y="T1"/>
              </a:cxn>
              <a:cxn ang="0">
                <a:pos x="T2" y="T3"/>
              </a:cxn>
              <a:cxn ang="0">
                <a:pos x="T4" y="T5"/>
              </a:cxn>
              <a:cxn ang="0">
                <a:pos x="T6" y="T7"/>
              </a:cxn>
              <a:cxn ang="0">
                <a:pos x="T8" y="T9"/>
              </a:cxn>
            </a:cxnLst>
            <a:rect l="0" t="0" r="r" b="b"/>
            <a:pathLst>
              <a:path w="3923029" h="913130">
                <a:moveTo>
                  <a:pt x="0" y="912693"/>
                </a:moveTo>
                <a:lnTo>
                  <a:pt x="1570826" y="0"/>
                </a:lnTo>
                <a:lnTo>
                  <a:pt x="3922705" y="0"/>
                </a:lnTo>
                <a:lnTo>
                  <a:pt x="2351876" y="912693"/>
                </a:lnTo>
                <a:lnTo>
                  <a:pt x="0" y="912693"/>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48" name="object 4">
            <a:extLst>
              <a:ext uri="{FF2B5EF4-FFF2-40B4-BE49-F238E27FC236}">
                <a16:creationId xmlns:a16="http://schemas.microsoft.com/office/drawing/2014/main" id="{45C1B3F0-28B4-42DD-97FE-D38B23C68DCF}"/>
              </a:ext>
            </a:extLst>
          </p:cNvPr>
          <p:cNvSpPr>
            <a:spLocks/>
          </p:cNvSpPr>
          <p:nvPr/>
        </p:nvSpPr>
        <p:spPr bwMode="auto">
          <a:xfrm>
            <a:off x="460375" y="2103438"/>
            <a:ext cx="2376488" cy="936625"/>
          </a:xfrm>
          <a:custGeom>
            <a:avLst/>
            <a:gdLst>
              <a:gd name="T0" fmla="*/ 0 w 2376805"/>
              <a:gd name="T1" fmla="*/ 936104 h 936625"/>
              <a:gd name="T2" fmla="*/ 2376260 w 2376805"/>
              <a:gd name="T3" fmla="*/ 936104 h 936625"/>
              <a:gd name="T4" fmla="*/ 2376260 w 2376805"/>
              <a:gd name="T5" fmla="*/ 0 h 936625"/>
              <a:gd name="T6" fmla="*/ 0 w 2376805"/>
              <a:gd name="T7" fmla="*/ 0 h 936625"/>
              <a:gd name="T8" fmla="*/ 0 w 2376805"/>
              <a:gd name="T9" fmla="*/ 936104 h 936625"/>
            </a:gdLst>
            <a:ahLst/>
            <a:cxnLst>
              <a:cxn ang="0">
                <a:pos x="T0" y="T1"/>
              </a:cxn>
              <a:cxn ang="0">
                <a:pos x="T2" y="T3"/>
              </a:cxn>
              <a:cxn ang="0">
                <a:pos x="T4" y="T5"/>
              </a:cxn>
              <a:cxn ang="0">
                <a:pos x="T6" y="T7"/>
              </a:cxn>
              <a:cxn ang="0">
                <a:pos x="T8" y="T9"/>
              </a:cxn>
            </a:cxnLst>
            <a:rect l="0" t="0" r="r" b="b"/>
            <a:pathLst>
              <a:path w="2376805" h="936625">
                <a:moveTo>
                  <a:pt x="0" y="936104"/>
                </a:moveTo>
                <a:lnTo>
                  <a:pt x="2376260" y="936104"/>
                </a:lnTo>
                <a:lnTo>
                  <a:pt x="2376260" y="0"/>
                </a:lnTo>
                <a:lnTo>
                  <a:pt x="0" y="0"/>
                </a:lnTo>
                <a:lnTo>
                  <a:pt x="0" y="9361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149" name="object 5">
            <a:extLst>
              <a:ext uri="{FF2B5EF4-FFF2-40B4-BE49-F238E27FC236}">
                <a16:creationId xmlns:a16="http://schemas.microsoft.com/office/drawing/2014/main" id="{0F002BE2-760B-425D-BC11-77F8FE3E423E}"/>
              </a:ext>
            </a:extLst>
          </p:cNvPr>
          <p:cNvSpPr>
            <a:spLocks/>
          </p:cNvSpPr>
          <p:nvPr/>
        </p:nvSpPr>
        <p:spPr bwMode="auto">
          <a:xfrm>
            <a:off x="460375" y="2103438"/>
            <a:ext cx="2376488" cy="936625"/>
          </a:xfrm>
          <a:custGeom>
            <a:avLst/>
            <a:gdLst>
              <a:gd name="T0" fmla="*/ 0 w 2376805"/>
              <a:gd name="T1" fmla="*/ 936104 h 936625"/>
              <a:gd name="T2" fmla="*/ 2376260 w 2376805"/>
              <a:gd name="T3" fmla="*/ 936104 h 936625"/>
              <a:gd name="T4" fmla="*/ 2376260 w 2376805"/>
              <a:gd name="T5" fmla="*/ 0 h 936625"/>
              <a:gd name="T6" fmla="*/ 0 w 2376805"/>
              <a:gd name="T7" fmla="*/ 0 h 936625"/>
              <a:gd name="T8" fmla="*/ 0 w 2376805"/>
              <a:gd name="T9" fmla="*/ 936104 h 936625"/>
            </a:gdLst>
            <a:ahLst/>
            <a:cxnLst>
              <a:cxn ang="0">
                <a:pos x="T0" y="T1"/>
              </a:cxn>
              <a:cxn ang="0">
                <a:pos x="T2" y="T3"/>
              </a:cxn>
              <a:cxn ang="0">
                <a:pos x="T4" y="T5"/>
              </a:cxn>
              <a:cxn ang="0">
                <a:pos x="T6" y="T7"/>
              </a:cxn>
              <a:cxn ang="0">
                <a:pos x="T8" y="T9"/>
              </a:cxn>
            </a:cxnLst>
            <a:rect l="0" t="0" r="r" b="b"/>
            <a:pathLst>
              <a:path w="2376805" h="936625">
                <a:moveTo>
                  <a:pt x="0" y="936104"/>
                </a:moveTo>
                <a:lnTo>
                  <a:pt x="2376260" y="936104"/>
                </a:lnTo>
                <a:lnTo>
                  <a:pt x="2376260" y="0"/>
                </a:lnTo>
                <a:lnTo>
                  <a:pt x="0" y="0"/>
                </a:lnTo>
                <a:lnTo>
                  <a:pt x="0" y="936104"/>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50" name="object 6">
            <a:extLst>
              <a:ext uri="{FF2B5EF4-FFF2-40B4-BE49-F238E27FC236}">
                <a16:creationId xmlns:a16="http://schemas.microsoft.com/office/drawing/2014/main" id="{AF4E1165-B58A-48FE-A8EF-B6A263B48207}"/>
              </a:ext>
            </a:extLst>
          </p:cNvPr>
          <p:cNvSpPr>
            <a:spLocks noChangeArrowheads="1"/>
          </p:cNvSpPr>
          <p:nvPr/>
        </p:nvSpPr>
        <p:spPr bwMode="auto">
          <a:xfrm>
            <a:off x="0" y="2913063"/>
            <a:ext cx="3275013" cy="2921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151" name="object 7">
            <a:extLst>
              <a:ext uri="{FF2B5EF4-FFF2-40B4-BE49-F238E27FC236}">
                <a16:creationId xmlns:a16="http://schemas.microsoft.com/office/drawing/2014/main" id="{F0B05FFF-27A0-4A0F-8E53-F9C423687626}"/>
              </a:ext>
            </a:extLst>
          </p:cNvPr>
          <p:cNvSpPr>
            <a:spLocks/>
          </p:cNvSpPr>
          <p:nvPr/>
        </p:nvSpPr>
        <p:spPr bwMode="auto">
          <a:xfrm>
            <a:off x="133350" y="3040063"/>
            <a:ext cx="2971800" cy="0"/>
          </a:xfrm>
          <a:custGeom>
            <a:avLst/>
            <a:gdLst>
              <a:gd name="T0" fmla="*/ 0 w 2972435"/>
              <a:gd name="T1" fmla="*/ 2972198 w 2972435"/>
            </a:gdLst>
            <a:ahLst/>
            <a:cxnLst>
              <a:cxn ang="0">
                <a:pos x="T0" y="0"/>
              </a:cxn>
              <a:cxn ang="0">
                <a:pos x="T1" y="0"/>
              </a:cxn>
            </a:cxnLst>
            <a:rect l="0" t="0" r="r" b="b"/>
            <a:pathLst>
              <a:path w="2972435">
                <a:moveTo>
                  <a:pt x="0" y="0"/>
                </a:moveTo>
                <a:lnTo>
                  <a:pt x="2972198" y="0"/>
                </a:lnTo>
              </a:path>
            </a:pathLst>
          </a:custGeom>
          <a:noFill/>
          <a:ln w="25399">
            <a:solidFill>
              <a:srgbClr val="6095C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52" name="object 8">
            <a:extLst>
              <a:ext uri="{FF2B5EF4-FFF2-40B4-BE49-F238E27FC236}">
                <a16:creationId xmlns:a16="http://schemas.microsoft.com/office/drawing/2014/main" id="{0EA425F2-9EEF-4A1B-850F-03ABA036CEA9}"/>
              </a:ext>
            </a:extLst>
          </p:cNvPr>
          <p:cNvSpPr>
            <a:spLocks/>
          </p:cNvSpPr>
          <p:nvPr/>
        </p:nvSpPr>
        <p:spPr bwMode="auto">
          <a:xfrm>
            <a:off x="107950" y="2979738"/>
            <a:ext cx="115888" cy="119062"/>
          </a:xfrm>
          <a:custGeom>
            <a:avLst/>
            <a:gdLst>
              <a:gd name="T0" fmla="*/ 101072 w 116204"/>
              <a:gd name="T1" fmla="*/ 0 h 118110"/>
              <a:gd name="T2" fmla="*/ 0 w 116204"/>
              <a:gd name="T3" fmla="*/ 58948 h 118110"/>
              <a:gd name="T4" fmla="*/ 101072 w 116204"/>
              <a:gd name="T5" fmla="*/ 117896 h 118110"/>
              <a:gd name="T6" fmla="*/ 108847 w 116204"/>
              <a:gd name="T7" fmla="*/ 115854 h 118110"/>
              <a:gd name="T8" fmla="*/ 115907 w 116204"/>
              <a:gd name="T9" fmla="*/ 103753 h 118110"/>
              <a:gd name="T10" fmla="*/ 113859 w 116204"/>
              <a:gd name="T11" fmla="*/ 95951 h 118110"/>
              <a:gd name="T12" fmla="*/ 50411 w 116204"/>
              <a:gd name="T13" fmla="*/ 58948 h 118110"/>
              <a:gd name="T14" fmla="*/ 113859 w 116204"/>
              <a:gd name="T15" fmla="*/ 21945 h 118110"/>
              <a:gd name="T16" fmla="*/ 115907 w 116204"/>
              <a:gd name="T17" fmla="*/ 14142 h 118110"/>
              <a:gd name="T18" fmla="*/ 108847 w 116204"/>
              <a:gd name="T19" fmla="*/ 2042 h 118110"/>
              <a:gd name="T20" fmla="*/ 10107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072" y="0"/>
                </a:moveTo>
                <a:lnTo>
                  <a:pt x="0" y="58948"/>
                </a:lnTo>
                <a:lnTo>
                  <a:pt x="101072" y="117896"/>
                </a:lnTo>
                <a:lnTo>
                  <a:pt x="108847" y="115854"/>
                </a:lnTo>
                <a:lnTo>
                  <a:pt x="115907" y="103753"/>
                </a:lnTo>
                <a:lnTo>
                  <a:pt x="113859" y="95951"/>
                </a:lnTo>
                <a:lnTo>
                  <a:pt x="50411" y="58948"/>
                </a:lnTo>
                <a:lnTo>
                  <a:pt x="113859" y="21945"/>
                </a:lnTo>
                <a:lnTo>
                  <a:pt x="115907" y="14142"/>
                </a:lnTo>
                <a:lnTo>
                  <a:pt x="108847" y="2042"/>
                </a:lnTo>
                <a:lnTo>
                  <a:pt x="101072" y="0"/>
                </a:lnTo>
                <a:close/>
              </a:path>
            </a:pathLst>
          </a:custGeom>
          <a:solidFill>
            <a:srgbClr val="6095C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153" name="object 9">
            <a:extLst>
              <a:ext uri="{FF2B5EF4-FFF2-40B4-BE49-F238E27FC236}">
                <a16:creationId xmlns:a16="http://schemas.microsoft.com/office/drawing/2014/main" id="{CDE0FE66-B540-4E19-8745-24811E54CE9A}"/>
              </a:ext>
            </a:extLst>
          </p:cNvPr>
          <p:cNvSpPr>
            <a:spLocks/>
          </p:cNvSpPr>
          <p:nvPr/>
        </p:nvSpPr>
        <p:spPr bwMode="auto">
          <a:xfrm>
            <a:off x="3014663" y="2979738"/>
            <a:ext cx="115887" cy="119062"/>
          </a:xfrm>
          <a:custGeom>
            <a:avLst/>
            <a:gdLst>
              <a:gd name="T0" fmla="*/ 14846 w 116205"/>
              <a:gd name="T1" fmla="*/ 0 h 118110"/>
              <a:gd name="T2" fmla="*/ 7062 w 116205"/>
              <a:gd name="T3" fmla="*/ 2042 h 118110"/>
              <a:gd name="T4" fmla="*/ 3535 w 116205"/>
              <a:gd name="T5" fmla="*/ 8107 h 118110"/>
              <a:gd name="T6" fmla="*/ 0 w 116205"/>
              <a:gd name="T7" fmla="*/ 14142 h 118110"/>
              <a:gd name="T8" fmla="*/ 2048 w 116205"/>
              <a:gd name="T9" fmla="*/ 21945 h 118110"/>
              <a:gd name="T10" fmla="*/ 65501 w 116205"/>
              <a:gd name="T11" fmla="*/ 58948 h 118110"/>
              <a:gd name="T12" fmla="*/ 2048 w 116205"/>
              <a:gd name="T13" fmla="*/ 95951 h 118110"/>
              <a:gd name="T14" fmla="*/ 0 w 116205"/>
              <a:gd name="T15" fmla="*/ 103753 h 118110"/>
              <a:gd name="T16" fmla="*/ 3535 w 116205"/>
              <a:gd name="T17" fmla="*/ 109788 h 118110"/>
              <a:gd name="T18" fmla="*/ 7062 w 116205"/>
              <a:gd name="T19" fmla="*/ 115854 h 118110"/>
              <a:gd name="T20" fmla="*/ 14846 w 116205"/>
              <a:gd name="T21" fmla="*/ 117896 h 118110"/>
              <a:gd name="T22" fmla="*/ 115915 w 116205"/>
              <a:gd name="T23" fmla="*/ 58948 h 118110"/>
              <a:gd name="T24" fmla="*/ 14846 w 116205"/>
              <a:gd name="T25"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205" h="118110">
                <a:moveTo>
                  <a:pt x="14846" y="0"/>
                </a:moveTo>
                <a:lnTo>
                  <a:pt x="7062" y="2042"/>
                </a:lnTo>
                <a:lnTo>
                  <a:pt x="3535" y="8107"/>
                </a:lnTo>
                <a:lnTo>
                  <a:pt x="0" y="14142"/>
                </a:lnTo>
                <a:lnTo>
                  <a:pt x="2048" y="21945"/>
                </a:lnTo>
                <a:lnTo>
                  <a:pt x="65501" y="58948"/>
                </a:lnTo>
                <a:lnTo>
                  <a:pt x="2048" y="95951"/>
                </a:lnTo>
                <a:lnTo>
                  <a:pt x="0" y="103753"/>
                </a:lnTo>
                <a:lnTo>
                  <a:pt x="3535" y="109788"/>
                </a:lnTo>
                <a:lnTo>
                  <a:pt x="7062" y="115854"/>
                </a:lnTo>
                <a:lnTo>
                  <a:pt x="14846" y="117896"/>
                </a:lnTo>
                <a:lnTo>
                  <a:pt x="115915" y="58948"/>
                </a:lnTo>
                <a:lnTo>
                  <a:pt x="14846" y="0"/>
                </a:lnTo>
                <a:close/>
              </a:path>
            </a:pathLst>
          </a:custGeom>
          <a:solidFill>
            <a:srgbClr val="6095C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154" name="object 10">
            <a:extLst>
              <a:ext uri="{FF2B5EF4-FFF2-40B4-BE49-F238E27FC236}">
                <a16:creationId xmlns:a16="http://schemas.microsoft.com/office/drawing/2014/main" id="{A11F6A68-BA6D-47DE-BAC8-91C1B122FDF5}"/>
              </a:ext>
            </a:extLst>
          </p:cNvPr>
          <p:cNvSpPr>
            <a:spLocks noChangeArrowheads="1"/>
          </p:cNvSpPr>
          <p:nvPr/>
        </p:nvSpPr>
        <p:spPr bwMode="auto">
          <a:xfrm>
            <a:off x="1600200" y="1820863"/>
            <a:ext cx="115888" cy="1458912"/>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155" name="object 11">
            <a:extLst>
              <a:ext uri="{FF2B5EF4-FFF2-40B4-BE49-F238E27FC236}">
                <a16:creationId xmlns:a16="http://schemas.microsoft.com/office/drawing/2014/main" id="{8C376A1F-2236-48C5-936A-99F71A4E7F0E}"/>
              </a:ext>
            </a:extLst>
          </p:cNvPr>
          <p:cNvSpPr>
            <a:spLocks/>
          </p:cNvSpPr>
          <p:nvPr/>
        </p:nvSpPr>
        <p:spPr bwMode="auto">
          <a:xfrm>
            <a:off x="1660525" y="1844675"/>
            <a:ext cx="0" cy="1368425"/>
          </a:xfrm>
          <a:custGeom>
            <a:avLst/>
            <a:gdLst>
              <a:gd name="T0" fmla="*/ 1368125 h 1368425"/>
              <a:gd name="T1" fmla="*/ 0 h 1368425"/>
            </a:gdLst>
            <a:ahLst/>
            <a:cxnLst>
              <a:cxn ang="0">
                <a:pos x="0" y="T0"/>
              </a:cxn>
              <a:cxn ang="0">
                <a:pos x="0" y="T1"/>
              </a:cxn>
            </a:cxnLst>
            <a:rect l="0" t="0" r="r" b="b"/>
            <a:pathLst>
              <a:path h="1368425">
                <a:moveTo>
                  <a:pt x="0" y="1368125"/>
                </a:moveTo>
                <a:lnTo>
                  <a:pt x="0" y="0"/>
                </a:lnTo>
              </a:path>
            </a:pathLst>
          </a:custGeom>
          <a:noFill/>
          <a:ln w="25399">
            <a:solidFill>
              <a:srgbClr val="6095C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56" name="object 12">
            <a:extLst>
              <a:ext uri="{FF2B5EF4-FFF2-40B4-BE49-F238E27FC236}">
                <a16:creationId xmlns:a16="http://schemas.microsoft.com/office/drawing/2014/main" id="{725809E0-C705-4228-9A3C-6A9169E4351A}"/>
              </a:ext>
            </a:extLst>
          </p:cNvPr>
          <p:cNvSpPr>
            <a:spLocks/>
          </p:cNvSpPr>
          <p:nvPr/>
        </p:nvSpPr>
        <p:spPr bwMode="auto">
          <a:xfrm>
            <a:off x="4779963" y="2103438"/>
            <a:ext cx="2378075" cy="936625"/>
          </a:xfrm>
          <a:custGeom>
            <a:avLst/>
            <a:gdLst>
              <a:gd name="T0" fmla="*/ 0 w 2376804"/>
              <a:gd name="T1" fmla="*/ 936104 h 936625"/>
              <a:gd name="T2" fmla="*/ 2376260 w 2376804"/>
              <a:gd name="T3" fmla="*/ 936104 h 936625"/>
              <a:gd name="T4" fmla="*/ 2376260 w 2376804"/>
              <a:gd name="T5" fmla="*/ 0 h 936625"/>
              <a:gd name="T6" fmla="*/ 0 w 2376804"/>
              <a:gd name="T7" fmla="*/ 0 h 936625"/>
              <a:gd name="T8" fmla="*/ 0 w 2376804"/>
              <a:gd name="T9" fmla="*/ 936104 h 936625"/>
            </a:gdLst>
            <a:ahLst/>
            <a:cxnLst>
              <a:cxn ang="0">
                <a:pos x="T0" y="T1"/>
              </a:cxn>
              <a:cxn ang="0">
                <a:pos x="T2" y="T3"/>
              </a:cxn>
              <a:cxn ang="0">
                <a:pos x="T4" y="T5"/>
              </a:cxn>
              <a:cxn ang="0">
                <a:pos x="T6" y="T7"/>
              </a:cxn>
              <a:cxn ang="0">
                <a:pos x="T8" y="T9"/>
              </a:cxn>
            </a:cxnLst>
            <a:rect l="0" t="0" r="r" b="b"/>
            <a:pathLst>
              <a:path w="2376804" h="936625">
                <a:moveTo>
                  <a:pt x="0" y="936104"/>
                </a:moveTo>
                <a:lnTo>
                  <a:pt x="2376260" y="936104"/>
                </a:lnTo>
                <a:lnTo>
                  <a:pt x="2376260" y="0"/>
                </a:lnTo>
                <a:lnTo>
                  <a:pt x="0" y="0"/>
                </a:lnTo>
                <a:lnTo>
                  <a:pt x="0" y="9361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157" name="object 13">
            <a:extLst>
              <a:ext uri="{FF2B5EF4-FFF2-40B4-BE49-F238E27FC236}">
                <a16:creationId xmlns:a16="http://schemas.microsoft.com/office/drawing/2014/main" id="{BEF834E5-D28A-4299-A590-7121E209030C}"/>
              </a:ext>
            </a:extLst>
          </p:cNvPr>
          <p:cNvSpPr>
            <a:spLocks/>
          </p:cNvSpPr>
          <p:nvPr/>
        </p:nvSpPr>
        <p:spPr bwMode="auto">
          <a:xfrm>
            <a:off x="4779963" y="2103438"/>
            <a:ext cx="2378075" cy="936625"/>
          </a:xfrm>
          <a:custGeom>
            <a:avLst/>
            <a:gdLst>
              <a:gd name="T0" fmla="*/ 0 w 2376804"/>
              <a:gd name="T1" fmla="*/ 936104 h 936625"/>
              <a:gd name="T2" fmla="*/ 2376260 w 2376804"/>
              <a:gd name="T3" fmla="*/ 936104 h 936625"/>
              <a:gd name="T4" fmla="*/ 2376260 w 2376804"/>
              <a:gd name="T5" fmla="*/ 0 h 936625"/>
              <a:gd name="T6" fmla="*/ 0 w 2376804"/>
              <a:gd name="T7" fmla="*/ 0 h 936625"/>
              <a:gd name="T8" fmla="*/ 0 w 2376804"/>
              <a:gd name="T9" fmla="*/ 936104 h 936625"/>
            </a:gdLst>
            <a:ahLst/>
            <a:cxnLst>
              <a:cxn ang="0">
                <a:pos x="T0" y="T1"/>
              </a:cxn>
              <a:cxn ang="0">
                <a:pos x="T2" y="T3"/>
              </a:cxn>
              <a:cxn ang="0">
                <a:pos x="T4" y="T5"/>
              </a:cxn>
              <a:cxn ang="0">
                <a:pos x="T6" y="T7"/>
              </a:cxn>
              <a:cxn ang="0">
                <a:pos x="T8" y="T9"/>
              </a:cxn>
            </a:cxnLst>
            <a:rect l="0" t="0" r="r" b="b"/>
            <a:pathLst>
              <a:path w="2376804" h="936625">
                <a:moveTo>
                  <a:pt x="0" y="936104"/>
                </a:moveTo>
                <a:lnTo>
                  <a:pt x="2376260" y="936104"/>
                </a:lnTo>
                <a:lnTo>
                  <a:pt x="2376260" y="0"/>
                </a:lnTo>
                <a:lnTo>
                  <a:pt x="0" y="0"/>
                </a:lnTo>
                <a:lnTo>
                  <a:pt x="0" y="936104"/>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58" name="object 14">
            <a:extLst>
              <a:ext uri="{FF2B5EF4-FFF2-40B4-BE49-F238E27FC236}">
                <a16:creationId xmlns:a16="http://schemas.microsoft.com/office/drawing/2014/main" id="{E7684F90-D36E-4796-AC4D-E55977720638}"/>
              </a:ext>
            </a:extLst>
          </p:cNvPr>
          <p:cNvSpPr>
            <a:spLocks noChangeArrowheads="1"/>
          </p:cNvSpPr>
          <p:nvPr/>
        </p:nvSpPr>
        <p:spPr bwMode="auto">
          <a:xfrm>
            <a:off x="4281488" y="2913063"/>
            <a:ext cx="3316287" cy="2921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159" name="object 15">
            <a:extLst>
              <a:ext uri="{FF2B5EF4-FFF2-40B4-BE49-F238E27FC236}">
                <a16:creationId xmlns:a16="http://schemas.microsoft.com/office/drawing/2014/main" id="{67253927-EAFA-46D8-8997-E8FA87CED0B8}"/>
              </a:ext>
            </a:extLst>
          </p:cNvPr>
          <p:cNvSpPr>
            <a:spLocks/>
          </p:cNvSpPr>
          <p:nvPr/>
        </p:nvSpPr>
        <p:spPr bwMode="auto">
          <a:xfrm>
            <a:off x="4452938" y="3040063"/>
            <a:ext cx="2973387" cy="0"/>
          </a:xfrm>
          <a:custGeom>
            <a:avLst/>
            <a:gdLst>
              <a:gd name="T0" fmla="*/ 0 w 2972434"/>
              <a:gd name="T1" fmla="*/ 2972196 w 2972434"/>
            </a:gdLst>
            <a:ahLst/>
            <a:cxnLst>
              <a:cxn ang="0">
                <a:pos x="T0" y="0"/>
              </a:cxn>
              <a:cxn ang="0">
                <a:pos x="T1" y="0"/>
              </a:cxn>
            </a:cxnLst>
            <a:rect l="0" t="0" r="r" b="b"/>
            <a:pathLst>
              <a:path w="2972434">
                <a:moveTo>
                  <a:pt x="0" y="0"/>
                </a:moveTo>
                <a:lnTo>
                  <a:pt x="2972196" y="0"/>
                </a:lnTo>
              </a:path>
            </a:pathLst>
          </a:custGeom>
          <a:noFill/>
          <a:ln w="25399">
            <a:solidFill>
              <a:srgbClr val="6095C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60" name="object 16">
            <a:extLst>
              <a:ext uri="{FF2B5EF4-FFF2-40B4-BE49-F238E27FC236}">
                <a16:creationId xmlns:a16="http://schemas.microsoft.com/office/drawing/2014/main" id="{0D8C3C23-60FE-438A-BDA3-020A9762DF49}"/>
              </a:ext>
            </a:extLst>
          </p:cNvPr>
          <p:cNvSpPr>
            <a:spLocks/>
          </p:cNvSpPr>
          <p:nvPr/>
        </p:nvSpPr>
        <p:spPr bwMode="auto">
          <a:xfrm>
            <a:off x="4427538" y="2979738"/>
            <a:ext cx="115887" cy="119062"/>
          </a:xfrm>
          <a:custGeom>
            <a:avLst/>
            <a:gdLst>
              <a:gd name="T0" fmla="*/ 101071 w 116204"/>
              <a:gd name="T1" fmla="*/ 0 h 118110"/>
              <a:gd name="T2" fmla="*/ 0 w 116204"/>
              <a:gd name="T3" fmla="*/ 58948 h 118110"/>
              <a:gd name="T4" fmla="*/ 101071 w 116204"/>
              <a:gd name="T5" fmla="*/ 117896 h 118110"/>
              <a:gd name="T6" fmla="*/ 108844 w 116204"/>
              <a:gd name="T7" fmla="*/ 115854 h 118110"/>
              <a:gd name="T8" fmla="*/ 115915 w 116204"/>
              <a:gd name="T9" fmla="*/ 103753 h 118110"/>
              <a:gd name="T10" fmla="*/ 113873 w 116204"/>
              <a:gd name="T11" fmla="*/ 95951 h 118110"/>
              <a:gd name="T12" fmla="*/ 50413 w 116204"/>
              <a:gd name="T13" fmla="*/ 58948 h 118110"/>
              <a:gd name="T14" fmla="*/ 113873 w 116204"/>
              <a:gd name="T15" fmla="*/ 21945 h 118110"/>
              <a:gd name="T16" fmla="*/ 115915 w 116204"/>
              <a:gd name="T17" fmla="*/ 14142 h 118110"/>
              <a:gd name="T18" fmla="*/ 108844 w 116204"/>
              <a:gd name="T19" fmla="*/ 2042 h 118110"/>
              <a:gd name="T20" fmla="*/ 101071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071" y="0"/>
                </a:moveTo>
                <a:lnTo>
                  <a:pt x="0" y="58948"/>
                </a:lnTo>
                <a:lnTo>
                  <a:pt x="101071" y="117896"/>
                </a:lnTo>
                <a:lnTo>
                  <a:pt x="108844" y="115854"/>
                </a:lnTo>
                <a:lnTo>
                  <a:pt x="115915" y="103753"/>
                </a:lnTo>
                <a:lnTo>
                  <a:pt x="113873" y="95951"/>
                </a:lnTo>
                <a:lnTo>
                  <a:pt x="50413" y="58948"/>
                </a:lnTo>
                <a:lnTo>
                  <a:pt x="113873" y="21945"/>
                </a:lnTo>
                <a:lnTo>
                  <a:pt x="115915" y="14142"/>
                </a:lnTo>
                <a:lnTo>
                  <a:pt x="108844" y="2042"/>
                </a:lnTo>
                <a:lnTo>
                  <a:pt x="101071" y="0"/>
                </a:lnTo>
                <a:close/>
              </a:path>
            </a:pathLst>
          </a:custGeom>
          <a:solidFill>
            <a:srgbClr val="6095C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161" name="object 17">
            <a:extLst>
              <a:ext uri="{FF2B5EF4-FFF2-40B4-BE49-F238E27FC236}">
                <a16:creationId xmlns:a16="http://schemas.microsoft.com/office/drawing/2014/main" id="{E78DE106-8AA1-4B64-B349-3BEF8D323928}"/>
              </a:ext>
            </a:extLst>
          </p:cNvPr>
          <p:cNvSpPr>
            <a:spLocks/>
          </p:cNvSpPr>
          <p:nvPr/>
        </p:nvSpPr>
        <p:spPr bwMode="auto">
          <a:xfrm>
            <a:off x="7334250" y="2979738"/>
            <a:ext cx="115888" cy="119062"/>
          </a:xfrm>
          <a:custGeom>
            <a:avLst/>
            <a:gdLst>
              <a:gd name="T0" fmla="*/ 14843 w 116204"/>
              <a:gd name="T1" fmla="*/ 0 h 118110"/>
              <a:gd name="T2" fmla="*/ 7071 w 116204"/>
              <a:gd name="T3" fmla="*/ 2042 h 118110"/>
              <a:gd name="T4" fmla="*/ 0 w 116204"/>
              <a:gd name="T5" fmla="*/ 14142 h 118110"/>
              <a:gd name="T6" fmla="*/ 2042 w 116204"/>
              <a:gd name="T7" fmla="*/ 21945 h 118110"/>
              <a:gd name="T8" fmla="*/ 65501 w 116204"/>
              <a:gd name="T9" fmla="*/ 58948 h 118110"/>
              <a:gd name="T10" fmla="*/ 2042 w 116204"/>
              <a:gd name="T11" fmla="*/ 95951 h 118110"/>
              <a:gd name="T12" fmla="*/ 0 w 116204"/>
              <a:gd name="T13" fmla="*/ 103753 h 118110"/>
              <a:gd name="T14" fmla="*/ 7071 w 116204"/>
              <a:gd name="T15" fmla="*/ 115854 h 118110"/>
              <a:gd name="T16" fmla="*/ 14843 w 116204"/>
              <a:gd name="T17" fmla="*/ 117896 h 118110"/>
              <a:gd name="T18" fmla="*/ 115915 w 116204"/>
              <a:gd name="T19" fmla="*/ 58948 h 118110"/>
              <a:gd name="T20" fmla="*/ 14843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4843" y="0"/>
                </a:moveTo>
                <a:lnTo>
                  <a:pt x="7071" y="2042"/>
                </a:lnTo>
                <a:lnTo>
                  <a:pt x="0" y="14142"/>
                </a:lnTo>
                <a:lnTo>
                  <a:pt x="2042" y="21945"/>
                </a:lnTo>
                <a:lnTo>
                  <a:pt x="65501" y="58948"/>
                </a:lnTo>
                <a:lnTo>
                  <a:pt x="2042" y="95951"/>
                </a:lnTo>
                <a:lnTo>
                  <a:pt x="0" y="103753"/>
                </a:lnTo>
                <a:lnTo>
                  <a:pt x="7071" y="115854"/>
                </a:lnTo>
                <a:lnTo>
                  <a:pt x="14843" y="117896"/>
                </a:lnTo>
                <a:lnTo>
                  <a:pt x="115915" y="58948"/>
                </a:lnTo>
                <a:lnTo>
                  <a:pt x="14843" y="0"/>
                </a:lnTo>
                <a:close/>
              </a:path>
            </a:pathLst>
          </a:custGeom>
          <a:solidFill>
            <a:srgbClr val="6095C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162" name="object 18">
            <a:extLst>
              <a:ext uri="{FF2B5EF4-FFF2-40B4-BE49-F238E27FC236}">
                <a16:creationId xmlns:a16="http://schemas.microsoft.com/office/drawing/2014/main" id="{DF533587-F321-4965-9859-6F980B4D34ED}"/>
              </a:ext>
            </a:extLst>
          </p:cNvPr>
          <p:cNvSpPr>
            <a:spLocks noChangeArrowheads="1"/>
          </p:cNvSpPr>
          <p:nvPr/>
        </p:nvSpPr>
        <p:spPr bwMode="auto">
          <a:xfrm>
            <a:off x="5922963" y="1820863"/>
            <a:ext cx="115887" cy="1458912"/>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163" name="object 19">
            <a:extLst>
              <a:ext uri="{FF2B5EF4-FFF2-40B4-BE49-F238E27FC236}">
                <a16:creationId xmlns:a16="http://schemas.microsoft.com/office/drawing/2014/main" id="{4448A04D-C64A-4907-8723-78CAFB3B4637}"/>
              </a:ext>
            </a:extLst>
          </p:cNvPr>
          <p:cNvSpPr>
            <a:spLocks/>
          </p:cNvSpPr>
          <p:nvPr/>
        </p:nvSpPr>
        <p:spPr bwMode="auto">
          <a:xfrm>
            <a:off x="5980113" y="1844675"/>
            <a:ext cx="0" cy="1368425"/>
          </a:xfrm>
          <a:custGeom>
            <a:avLst/>
            <a:gdLst>
              <a:gd name="T0" fmla="*/ 1368125 h 1368425"/>
              <a:gd name="T1" fmla="*/ 0 h 1368425"/>
            </a:gdLst>
            <a:ahLst/>
            <a:cxnLst>
              <a:cxn ang="0">
                <a:pos x="0" y="T0"/>
              </a:cxn>
              <a:cxn ang="0">
                <a:pos x="0" y="T1"/>
              </a:cxn>
            </a:cxnLst>
            <a:rect l="0" t="0" r="r" b="b"/>
            <a:pathLst>
              <a:path h="1368425">
                <a:moveTo>
                  <a:pt x="0" y="1368125"/>
                </a:moveTo>
                <a:lnTo>
                  <a:pt x="0" y="0"/>
                </a:lnTo>
              </a:path>
            </a:pathLst>
          </a:custGeom>
          <a:noFill/>
          <a:ln w="25399">
            <a:solidFill>
              <a:srgbClr val="6095C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64" name="object 20">
            <a:extLst>
              <a:ext uri="{FF2B5EF4-FFF2-40B4-BE49-F238E27FC236}">
                <a16:creationId xmlns:a16="http://schemas.microsoft.com/office/drawing/2014/main" id="{4497A7B3-CDD9-4A39-8922-58B8DD0F5F9C}"/>
              </a:ext>
            </a:extLst>
          </p:cNvPr>
          <p:cNvSpPr>
            <a:spLocks/>
          </p:cNvSpPr>
          <p:nvPr/>
        </p:nvSpPr>
        <p:spPr bwMode="auto">
          <a:xfrm>
            <a:off x="5010150" y="2103438"/>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65" name="object 21">
            <a:extLst>
              <a:ext uri="{FF2B5EF4-FFF2-40B4-BE49-F238E27FC236}">
                <a16:creationId xmlns:a16="http://schemas.microsoft.com/office/drawing/2014/main" id="{59CD5141-9098-49A3-BB19-8342212ECBFF}"/>
              </a:ext>
            </a:extLst>
          </p:cNvPr>
          <p:cNvSpPr>
            <a:spLocks/>
          </p:cNvSpPr>
          <p:nvPr/>
        </p:nvSpPr>
        <p:spPr bwMode="auto">
          <a:xfrm>
            <a:off x="5010150" y="2103438"/>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66" name="object 22">
            <a:extLst>
              <a:ext uri="{FF2B5EF4-FFF2-40B4-BE49-F238E27FC236}">
                <a16:creationId xmlns:a16="http://schemas.microsoft.com/office/drawing/2014/main" id="{3EADC6CF-239D-4699-B3D5-848340880C27}"/>
              </a:ext>
            </a:extLst>
          </p:cNvPr>
          <p:cNvSpPr>
            <a:spLocks/>
          </p:cNvSpPr>
          <p:nvPr/>
        </p:nvSpPr>
        <p:spPr bwMode="auto">
          <a:xfrm>
            <a:off x="5253038"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67" name="object 23">
            <a:extLst>
              <a:ext uri="{FF2B5EF4-FFF2-40B4-BE49-F238E27FC236}">
                <a16:creationId xmlns:a16="http://schemas.microsoft.com/office/drawing/2014/main" id="{BA9F87DA-E640-4807-92A9-C19D2A0DC5F5}"/>
              </a:ext>
            </a:extLst>
          </p:cNvPr>
          <p:cNvSpPr>
            <a:spLocks/>
          </p:cNvSpPr>
          <p:nvPr/>
        </p:nvSpPr>
        <p:spPr bwMode="auto">
          <a:xfrm>
            <a:off x="5253038"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68" name="object 24">
            <a:extLst>
              <a:ext uri="{FF2B5EF4-FFF2-40B4-BE49-F238E27FC236}">
                <a16:creationId xmlns:a16="http://schemas.microsoft.com/office/drawing/2014/main" id="{202FDCF5-6AFB-4BC5-821A-901951558F61}"/>
              </a:ext>
            </a:extLst>
          </p:cNvPr>
          <p:cNvSpPr>
            <a:spLocks/>
          </p:cNvSpPr>
          <p:nvPr/>
        </p:nvSpPr>
        <p:spPr bwMode="auto">
          <a:xfrm>
            <a:off x="5483225"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69" name="object 25">
            <a:extLst>
              <a:ext uri="{FF2B5EF4-FFF2-40B4-BE49-F238E27FC236}">
                <a16:creationId xmlns:a16="http://schemas.microsoft.com/office/drawing/2014/main" id="{7847D7A1-3F12-4D08-900C-6408615541A8}"/>
              </a:ext>
            </a:extLst>
          </p:cNvPr>
          <p:cNvSpPr>
            <a:spLocks/>
          </p:cNvSpPr>
          <p:nvPr/>
        </p:nvSpPr>
        <p:spPr bwMode="auto">
          <a:xfrm>
            <a:off x="5483225"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0" name="object 26">
            <a:extLst>
              <a:ext uri="{FF2B5EF4-FFF2-40B4-BE49-F238E27FC236}">
                <a16:creationId xmlns:a16="http://schemas.microsoft.com/office/drawing/2014/main" id="{724FE083-ABFD-47B0-8B9C-BA807B033C3F}"/>
              </a:ext>
            </a:extLst>
          </p:cNvPr>
          <p:cNvSpPr>
            <a:spLocks/>
          </p:cNvSpPr>
          <p:nvPr/>
        </p:nvSpPr>
        <p:spPr bwMode="auto">
          <a:xfrm>
            <a:off x="5730875"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1" name="object 27">
            <a:extLst>
              <a:ext uri="{FF2B5EF4-FFF2-40B4-BE49-F238E27FC236}">
                <a16:creationId xmlns:a16="http://schemas.microsoft.com/office/drawing/2014/main" id="{F0AAB340-7A46-47BF-8453-19672C573AA3}"/>
              </a:ext>
            </a:extLst>
          </p:cNvPr>
          <p:cNvSpPr>
            <a:spLocks/>
          </p:cNvSpPr>
          <p:nvPr/>
        </p:nvSpPr>
        <p:spPr bwMode="auto">
          <a:xfrm>
            <a:off x="5730875"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2" name="object 28">
            <a:extLst>
              <a:ext uri="{FF2B5EF4-FFF2-40B4-BE49-F238E27FC236}">
                <a16:creationId xmlns:a16="http://schemas.microsoft.com/office/drawing/2014/main" id="{9124B180-49A4-4875-B03F-3A1DADC099E5}"/>
              </a:ext>
            </a:extLst>
          </p:cNvPr>
          <p:cNvSpPr>
            <a:spLocks/>
          </p:cNvSpPr>
          <p:nvPr/>
        </p:nvSpPr>
        <p:spPr bwMode="auto">
          <a:xfrm>
            <a:off x="5972175" y="2133600"/>
            <a:ext cx="0" cy="936625"/>
          </a:xfrm>
          <a:custGeom>
            <a:avLst/>
            <a:gdLst>
              <a:gd name="T0" fmla="*/ 0 h 936625"/>
              <a:gd name="T1" fmla="*/ 936071 h 936625"/>
            </a:gdLst>
            <a:ahLst/>
            <a:cxnLst>
              <a:cxn ang="0">
                <a:pos x="0" y="T0"/>
              </a:cxn>
              <a:cxn ang="0">
                <a:pos x="0" y="T1"/>
              </a:cxn>
            </a:cxnLst>
            <a:rect l="0" t="0" r="r" b="b"/>
            <a:pathLst>
              <a:path h="936625">
                <a:moveTo>
                  <a:pt x="0" y="0"/>
                </a:moveTo>
                <a:lnTo>
                  <a:pt x="0" y="93607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3" name="object 29">
            <a:extLst>
              <a:ext uri="{FF2B5EF4-FFF2-40B4-BE49-F238E27FC236}">
                <a16:creationId xmlns:a16="http://schemas.microsoft.com/office/drawing/2014/main" id="{A244F9D1-A7D3-42CB-A5D8-CDDD4B3A33BD}"/>
              </a:ext>
            </a:extLst>
          </p:cNvPr>
          <p:cNvSpPr>
            <a:spLocks/>
          </p:cNvSpPr>
          <p:nvPr/>
        </p:nvSpPr>
        <p:spPr bwMode="auto">
          <a:xfrm>
            <a:off x="5972175" y="2133600"/>
            <a:ext cx="0" cy="936625"/>
          </a:xfrm>
          <a:custGeom>
            <a:avLst/>
            <a:gdLst>
              <a:gd name="T0" fmla="*/ 0 h 936625"/>
              <a:gd name="T1" fmla="*/ 936071 h 936625"/>
            </a:gdLst>
            <a:ahLst/>
            <a:cxnLst>
              <a:cxn ang="0">
                <a:pos x="0" y="T0"/>
              </a:cxn>
              <a:cxn ang="0">
                <a:pos x="0" y="T1"/>
              </a:cxn>
            </a:cxnLst>
            <a:rect l="0" t="0" r="r" b="b"/>
            <a:pathLst>
              <a:path h="936625">
                <a:moveTo>
                  <a:pt x="0" y="0"/>
                </a:moveTo>
                <a:lnTo>
                  <a:pt x="0" y="93607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4" name="object 30">
            <a:extLst>
              <a:ext uri="{FF2B5EF4-FFF2-40B4-BE49-F238E27FC236}">
                <a16:creationId xmlns:a16="http://schemas.microsoft.com/office/drawing/2014/main" id="{E65AB242-E850-42AD-B52E-7F24F8627D54}"/>
              </a:ext>
            </a:extLst>
          </p:cNvPr>
          <p:cNvSpPr>
            <a:spLocks/>
          </p:cNvSpPr>
          <p:nvPr/>
        </p:nvSpPr>
        <p:spPr bwMode="auto">
          <a:xfrm>
            <a:off x="6211888"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5" name="object 31">
            <a:extLst>
              <a:ext uri="{FF2B5EF4-FFF2-40B4-BE49-F238E27FC236}">
                <a16:creationId xmlns:a16="http://schemas.microsoft.com/office/drawing/2014/main" id="{9D3640CB-237A-4E70-BB40-A6C753B0B98A}"/>
              </a:ext>
            </a:extLst>
          </p:cNvPr>
          <p:cNvSpPr>
            <a:spLocks/>
          </p:cNvSpPr>
          <p:nvPr/>
        </p:nvSpPr>
        <p:spPr bwMode="auto">
          <a:xfrm>
            <a:off x="6211888"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6" name="object 32">
            <a:extLst>
              <a:ext uri="{FF2B5EF4-FFF2-40B4-BE49-F238E27FC236}">
                <a16:creationId xmlns:a16="http://schemas.microsoft.com/office/drawing/2014/main" id="{A316E502-506A-4129-B9FE-EB2F976A2C50}"/>
              </a:ext>
            </a:extLst>
          </p:cNvPr>
          <p:cNvSpPr>
            <a:spLocks/>
          </p:cNvSpPr>
          <p:nvPr/>
        </p:nvSpPr>
        <p:spPr bwMode="auto">
          <a:xfrm>
            <a:off x="6459538"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7" name="object 33">
            <a:extLst>
              <a:ext uri="{FF2B5EF4-FFF2-40B4-BE49-F238E27FC236}">
                <a16:creationId xmlns:a16="http://schemas.microsoft.com/office/drawing/2014/main" id="{C6DDBBB8-6312-4EDD-ADA2-93C7DECBC19C}"/>
              </a:ext>
            </a:extLst>
          </p:cNvPr>
          <p:cNvSpPr>
            <a:spLocks/>
          </p:cNvSpPr>
          <p:nvPr/>
        </p:nvSpPr>
        <p:spPr bwMode="auto">
          <a:xfrm>
            <a:off x="6459538"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8" name="object 34">
            <a:extLst>
              <a:ext uri="{FF2B5EF4-FFF2-40B4-BE49-F238E27FC236}">
                <a16:creationId xmlns:a16="http://schemas.microsoft.com/office/drawing/2014/main" id="{4AC4E940-08C7-4D5D-8EBC-F91B71F129AB}"/>
              </a:ext>
            </a:extLst>
          </p:cNvPr>
          <p:cNvSpPr>
            <a:spLocks/>
          </p:cNvSpPr>
          <p:nvPr/>
        </p:nvSpPr>
        <p:spPr bwMode="auto">
          <a:xfrm>
            <a:off x="6675438"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79" name="object 35">
            <a:extLst>
              <a:ext uri="{FF2B5EF4-FFF2-40B4-BE49-F238E27FC236}">
                <a16:creationId xmlns:a16="http://schemas.microsoft.com/office/drawing/2014/main" id="{F2586A4A-FEAE-4186-BD56-2129E3968987}"/>
              </a:ext>
            </a:extLst>
          </p:cNvPr>
          <p:cNvSpPr>
            <a:spLocks/>
          </p:cNvSpPr>
          <p:nvPr/>
        </p:nvSpPr>
        <p:spPr bwMode="auto">
          <a:xfrm>
            <a:off x="6675438" y="211772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80" name="object 36">
            <a:extLst>
              <a:ext uri="{FF2B5EF4-FFF2-40B4-BE49-F238E27FC236}">
                <a16:creationId xmlns:a16="http://schemas.microsoft.com/office/drawing/2014/main" id="{52C87B9E-AE23-4812-8D79-1918ED6E51AC}"/>
              </a:ext>
            </a:extLst>
          </p:cNvPr>
          <p:cNvSpPr>
            <a:spLocks/>
          </p:cNvSpPr>
          <p:nvPr/>
        </p:nvSpPr>
        <p:spPr bwMode="auto">
          <a:xfrm>
            <a:off x="6916738" y="2133600"/>
            <a:ext cx="0" cy="936625"/>
          </a:xfrm>
          <a:custGeom>
            <a:avLst/>
            <a:gdLst>
              <a:gd name="T0" fmla="*/ 0 h 936625"/>
              <a:gd name="T1" fmla="*/ 936071 h 936625"/>
            </a:gdLst>
            <a:ahLst/>
            <a:cxnLst>
              <a:cxn ang="0">
                <a:pos x="0" y="T0"/>
              </a:cxn>
              <a:cxn ang="0">
                <a:pos x="0" y="T1"/>
              </a:cxn>
            </a:cxnLst>
            <a:rect l="0" t="0" r="r" b="b"/>
            <a:pathLst>
              <a:path h="936625">
                <a:moveTo>
                  <a:pt x="0" y="0"/>
                </a:moveTo>
                <a:lnTo>
                  <a:pt x="0" y="93607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81" name="object 37">
            <a:extLst>
              <a:ext uri="{FF2B5EF4-FFF2-40B4-BE49-F238E27FC236}">
                <a16:creationId xmlns:a16="http://schemas.microsoft.com/office/drawing/2014/main" id="{3334DBA3-A3CD-42DB-9691-9934962C9D51}"/>
              </a:ext>
            </a:extLst>
          </p:cNvPr>
          <p:cNvSpPr>
            <a:spLocks/>
          </p:cNvSpPr>
          <p:nvPr/>
        </p:nvSpPr>
        <p:spPr bwMode="auto">
          <a:xfrm>
            <a:off x="6916738" y="2133600"/>
            <a:ext cx="0" cy="936625"/>
          </a:xfrm>
          <a:custGeom>
            <a:avLst/>
            <a:gdLst>
              <a:gd name="T0" fmla="*/ 0 h 936625"/>
              <a:gd name="T1" fmla="*/ 936071 h 936625"/>
            </a:gdLst>
            <a:ahLst/>
            <a:cxnLst>
              <a:cxn ang="0">
                <a:pos x="0" y="T0"/>
              </a:cxn>
              <a:cxn ang="0">
                <a:pos x="0" y="T1"/>
              </a:cxn>
            </a:cxnLst>
            <a:rect l="0" t="0" r="r" b="b"/>
            <a:pathLst>
              <a:path h="936625">
                <a:moveTo>
                  <a:pt x="0" y="0"/>
                </a:moveTo>
                <a:lnTo>
                  <a:pt x="0" y="93607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82" name="object 38">
            <a:extLst>
              <a:ext uri="{FF2B5EF4-FFF2-40B4-BE49-F238E27FC236}">
                <a16:creationId xmlns:a16="http://schemas.microsoft.com/office/drawing/2014/main" id="{8CB74CB0-B852-4A89-862A-D186FE29EA3D}"/>
              </a:ext>
            </a:extLst>
          </p:cNvPr>
          <p:cNvSpPr>
            <a:spLocks/>
          </p:cNvSpPr>
          <p:nvPr/>
        </p:nvSpPr>
        <p:spPr bwMode="auto">
          <a:xfrm>
            <a:off x="2833688" y="1187450"/>
            <a:ext cx="1573212" cy="1865313"/>
          </a:xfrm>
          <a:custGeom>
            <a:avLst/>
            <a:gdLst>
              <a:gd name="T0" fmla="*/ 1570783 w 1573529"/>
              <a:gd name="T1" fmla="*/ 0 h 1864360"/>
              <a:gd name="T2" fmla="*/ 0 w 1573529"/>
              <a:gd name="T3" fmla="*/ 923422 h 1864360"/>
              <a:gd name="T4" fmla="*/ 2322 w 1573529"/>
              <a:gd name="T5" fmla="*/ 1864248 h 1864360"/>
              <a:gd name="T6" fmla="*/ 1573100 w 1573529"/>
              <a:gd name="T7" fmla="*/ 940826 h 1864360"/>
              <a:gd name="T8" fmla="*/ 1570783 w 1573529"/>
              <a:gd name="T9" fmla="*/ 0 h 1864360"/>
            </a:gdLst>
            <a:ahLst/>
            <a:cxnLst>
              <a:cxn ang="0">
                <a:pos x="T0" y="T1"/>
              </a:cxn>
              <a:cxn ang="0">
                <a:pos x="T2" y="T3"/>
              </a:cxn>
              <a:cxn ang="0">
                <a:pos x="T4" y="T5"/>
              </a:cxn>
              <a:cxn ang="0">
                <a:pos x="T6" y="T7"/>
              </a:cxn>
              <a:cxn ang="0">
                <a:pos x="T8" y="T9"/>
              </a:cxn>
            </a:cxnLst>
            <a:rect l="0" t="0" r="r" b="b"/>
            <a:pathLst>
              <a:path w="1573529" h="1864360">
                <a:moveTo>
                  <a:pt x="1570783" y="0"/>
                </a:moveTo>
                <a:lnTo>
                  <a:pt x="0" y="923422"/>
                </a:lnTo>
                <a:lnTo>
                  <a:pt x="2322" y="1864248"/>
                </a:lnTo>
                <a:lnTo>
                  <a:pt x="1573100" y="940826"/>
                </a:lnTo>
                <a:lnTo>
                  <a:pt x="157078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183" name="object 39">
            <a:extLst>
              <a:ext uri="{FF2B5EF4-FFF2-40B4-BE49-F238E27FC236}">
                <a16:creationId xmlns:a16="http://schemas.microsoft.com/office/drawing/2014/main" id="{A6383659-2988-446F-BA10-EE976C7D8802}"/>
              </a:ext>
            </a:extLst>
          </p:cNvPr>
          <p:cNvSpPr>
            <a:spLocks/>
          </p:cNvSpPr>
          <p:nvPr/>
        </p:nvSpPr>
        <p:spPr bwMode="auto">
          <a:xfrm>
            <a:off x="2833688" y="1187450"/>
            <a:ext cx="1573212" cy="1865313"/>
          </a:xfrm>
          <a:custGeom>
            <a:avLst/>
            <a:gdLst>
              <a:gd name="T0" fmla="*/ 1570783 w 1573529"/>
              <a:gd name="T1" fmla="*/ 0 h 1864360"/>
              <a:gd name="T2" fmla="*/ 1573100 w 1573529"/>
              <a:gd name="T3" fmla="*/ 940826 h 1864360"/>
              <a:gd name="T4" fmla="*/ 2322 w 1573529"/>
              <a:gd name="T5" fmla="*/ 1864248 h 1864360"/>
              <a:gd name="T6" fmla="*/ 0 w 1573529"/>
              <a:gd name="T7" fmla="*/ 923422 h 1864360"/>
              <a:gd name="T8" fmla="*/ 1570783 w 1573529"/>
              <a:gd name="T9" fmla="*/ 0 h 1864360"/>
            </a:gdLst>
            <a:ahLst/>
            <a:cxnLst>
              <a:cxn ang="0">
                <a:pos x="T0" y="T1"/>
              </a:cxn>
              <a:cxn ang="0">
                <a:pos x="T2" y="T3"/>
              </a:cxn>
              <a:cxn ang="0">
                <a:pos x="T4" y="T5"/>
              </a:cxn>
              <a:cxn ang="0">
                <a:pos x="T6" y="T7"/>
              </a:cxn>
              <a:cxn ang="0">
                <a:pos x="T8" y="T9"/>
              </a:cxn>
            </a:cxnLst>
            <a:rect l="0" t="0" r="r" b="b"/>
            <a:pathLst>
              <a:path w="1573529" h="1864360">
                <a:moveTo>
                  <a:pt x="1570783" y="0"/>
                </a:moveTo>
                <a:lnTo>
                  <a:pt x="1573100" y="940826"/>
                </a:lnTo>
                <a:lnTo>
                  <a:pt x="2322" y="1864248"/>
                </a:lnTo>
                <a:lnTo>
                  <a:pt x="0" y="923422"/>
                </a:lnTo>
                <a:lnTo>
                  <a:pt x="1570783" y="0"/>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40" name="object 40">
            <a:extLst>
              <a:ext uri="{FF2B5EF4-FFF2-40B4-BE49-F238E27FC236}">
                <a16:creationId xmlns:a16="http://schemas.microsoft.com/office/drawing/2014/main" id="{3DD4D305-2A8B-430D-BB32-178BD3A4C4A3}"/>
              </a:ext>
            </a:extLst>
          </p:cNvPr>
          <p:cNvSpPr txBox="1"/>
          <p:nvPr/>
        </p:nvSpPr>
        <p:spPr>
          <a:xfrm flipH="1">
            <a:off x="4218297" y="760486"/>
            <a:ext cx="288925" cy="320601"/>
          </a:xfrm>
          <a:prstGeom prst="rect">
            <a:avLst/>
          </a:prstGeom>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lnSpc>
                <a:spcPts val="2513"/>
              </a:lnSpc>
            </a:pP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t</a:t>
            </a:r>
          </a:p>
        </p:txBody>
      </p:sp>
      <p:sp>
        <p:nvSpPr>
          <p:cNvPr id="6185" name="object 41">
            <a:extLst>
              <a:ext uri="{FF2B5EF4-FFF2-40B4-BE49-F238E27FC236}">
                <a16:creationId xmlns:a16="http://schemas.microsoft.com/office/drawing/2014/main" id="{D9FA622F-CBF1-4138-95AE-81A620FFC4D2}"/>
              </a:ext>
            </a:extLst>
          </p:cNvPr>
          <p:cNvSpPr>
            <a:spLocks/>
          </p:cNvSpPr>
          <p:nvPr/>
        </p:nvSpPr>
        <p:spPr bwMode="auto">
          <a:xfrm>
            <a:off x="684213" y="1966913"/>
            <a:ext cx="2374900" cy="0"/>
          </a:xfrm>
          <a:custGeom>
            <a:avLst/>
            <a:gdLst>
              <a:gd name="T0" fmla="*/ 0 w 2374900"/>
              <a:gd name="T1" fmla="*/ 2374452 w 2374900"/>
            </a:gdLst>
            <a:ahLst/>
            <a:cxnLst>
              <a:cxn ang="0">
                <a:pos x="T0" y="0"/>
              </a:cxn>
              <a:cxn ang="0">
                <a:pos x="T1" y="0"/>
              </a:cxn>
            </a:cxnLst>
            <a:rect l="0" t="0" r="r" b="b"/>
            <a:pathLst>
              <a:path w="2374900">
                <a:moveTo>
                  <a:pt x="0" y="0"/>
                </a:moveTo>
                <a:lnTo>
                  <a:pt x="2374452" y="0"/>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86" name="object 42">
            <a:extLst>
              <a:ext uri="{FF2B5EF4-FFF2-40B4-BE49-F238E27FC236}">
                <a16:creationId xmlns:a16="http://schemas.microsoft.com/office/drawing/2014/main" id="{72DE4D47-9BE4-4E2E-9573-68EE5F00405B}"/>
              </a:ext>
            </a:extLst>
          </p:cNvPr>
          <p:cNvSpPr>
            <a:spLocks/>
          </p:cNvSpPr>
          <p:nvPr/>
        </p:nvSpPr>
        <p:spPr bwMode="auto">
          <a:xfrm>
            <a:off x="684213" y="1966913"/>
            <a:ext cx="2374900" cy="0"/>
          </a:xfrm>
          <a:custGeom>
            <a:avLst/>
            <a:gdLst>
              <a:gd name="T0" fmla="*/ 0 w 2374900"/>
              <a:gd name="T1" fmla="*/ 2374452 w 2374900"/>
            </a:gdLst>
            <a:ahLst/>
            <a:cxnLst>
              <a:cxn ang="0">
                <a:pos x="T0" y="0"/>
              </a:cxn>
              <a:cxn ang="0">
                <a:pos x="T1" y="0"/>
              </a:cxn>
            </a:cxnLst>
            <a:rect l="0" t="0" r="r" b="b"/>
            <a:pathLst>
              <a:path w="2374900">
                <a:moveTo>
                  <a:pt x="0" y="0"/>
                </a:moveTo>
                <a:lnTo>
                  <a:pt x="2374452"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87" name="object 43">
            <a:extLst>
              <a:ext uri="{FF2B5EF4-FFF2-40B4-BE49-F238E27FC236}">
                <a16:creationId xmlns:a16="http://schemas.microsoft.com/office/drawing/2014/main" id="{32951543-C7A2-4432-A3E4-148F2E48604D}"/>
              </a:ext>
            </a:extLst>
          </p:cNvPr>
          <p:cNvSpPr>
            <a:spLocks/>
          </p:cNvSpPr>
          <p:nvPr/>
        </p:nvSpPr>
        <p:spPr bwMode="auto">
          <a:xfrm>
            <a:off x="938213" y="1844675"/>
            <a:ext cx="2374900" cy="0"/>
          </a:xfrm>
          <a:custGeom>
            <a:avLst/>
            <a:gdLst>
              <a:gd name="T0" fmla="*/ 0 w 2374900"/>
              <a:gd name="T1" fmla="*/ 2374437 w 2374900"/>
            </a:gdLst>
            <a:ahLst/>
            <a:cxnLst>
              <a:cxn ang="0">
                <a:pos x="T0" y="0"/>
              </a:cxn>
              <a:cxn ang="0">
                <a:pos x="T1" y="0"/>
              </a:cxn>
            </a:cxnLst>
            <a:rect l="0" t="0" r="r" b="b"/>
            <a:pathLst>
              <a:path w="2374900">
                <a:moveTo>
                  <a:pt x="0" y="0"/>
                </a:moveTo>
                <a:lnTo>
                  <a:pt x="2374437" y="0"/>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88" name="object 44">
            <a:extLst>
              <a:ext uri="{FF2B5EF4-FFF2-40B4-BE49-F238E27FC236}">
                <a16:creationId xmlns:a16="http://schemas.microsoft.com/office/drawing/2014/main" id="{88ECA049-40AC-4795-9AFE-2E84BF19BB11}"/>
              </a:ext>
            </a:extLst>
          </p:cNvPr>
          <p:cNvSpPr>
            <a:spLocks/>
          </p:cNvSpPr>
          <p:nvPr/>
        </p:nvSpPr>
        <p:spPr bwMode="auto">
          <a:xfrm>
            <a:off x="938213" y="1844675"/>
            <a:ext cx="2374900" cy="0"/>
          </a:xfrm>
          <a:custGeom>
            <a:avLst/>
            <a:gdLst>
              <a:gd name="T0" fmla="*/ 0 w 2374900"/>
              <a:gd name="T1" fmla="*/ 2374437 w 2374900"/>
            </a:gdLst>
            <a:ahLst/>
            <a:cxnLst>
              <a:cxn ang="0">
                <a:pos x="T0" y="0"/>
              </a:cxn>
              <a:cxn ang="0">
                <a:pos x="T1" y="0"/>
              </a:cxn>
            </a:cxnLst>
            <a:rect l="0" t="0" r="r" b="b"/>
            <a:pathLst>
              <a:path w="2374900">
                <a:moveTo>
                  <a:pt x="0" y="0"/>
                </a:moveTo>
                <a:lnTo>
                  <a:pt x="2374437"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89" name="object 45">
            <a:extLst>
              <a:ext uri="{FF2B5EF4-FFF2-40B4-BE49-F238E27FC236}">
                <a16:creationId xmlns:a16="http://schemas.microsoft.com/office/drawing/2014/main" id="{28271ABC-D429-49E1-BF7F-59B1EE7A9776}"/>
              </a:ext>
            </a:extLst>
          </p:cNvPr>
          <p:cNvSpPr>
            <a:spLocks/>
          </p:cNvSpPr>
          <p:nvPr/>
        </p:nvSpPr>
        <p:spPr bwMode="auto">
          <a:xfrm>
            <a:off x="1162050" y="1717675"/>
            <a:ext cx="2374900" cy="0"/>
          </a:xfrm>
          <a:custGeom>
            <a:avLst/>
            <a:gdLst>
              <a:gd name="T0" fmla="*/ 0 w 2374900"/>
              <a:gd name="T1" fmla="*/ 2374462 w 2374900"/>
            </a:gdLst>
            <a:ahLst/>
            <a:cxnLst>
              <a:cxn ang="0">
                <a:pos x="T0" y="0"/>
              </a:cxn>
              <a:cxn ang="0">
                <a:pos x="T1" y="0"/>
              </a:cxn>
            </a:cxnLst>
            <a:rect l="0" t="0" r="r" b="b"/>
            <a:pathLst>
              <a:path w="2374900">
                <a:moveTo>
                  <a:pt x="0" y="0"/>
                </a:moveTo>
                <a:lnTo>
                  <a:pt x="2374462" y="0"/>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0" name="object 46">
            <a:extLst>
              <a:ext uri="{FF2B5EF4-FFF2-40B4-BE49-F238E27FC236}">
                <a16:creationId xmlns:a16="http://schemas.microsoft.com/office/drawing/2014/main" id="{600A7738-0A29-4B17-B030-11D3292AB41E}"/>
              </a:ext>
            </a:extLst>
          </p:cNvPr>
          <p:cNvSpPr>
            <a:spLocks/>
          </p:cNvSpPr>
          <p:nvPr/>
        </p:nvSpPr>
        <p:spPr bwMode="auto">
          <a:xfrm>
            <a:off x="1162050" y="1717675"/>
            <a:ext cx="2374900" cy="0"/>
          </a:xfrm>
          <a:custGeom>
            <a:avLst/>
            <a:gdLst>
              <a:gd name="T0" fmla="*/ 0 w 2374900"/>
              <a:gd name="T1" fmla="*/ 2374462 w 2374900"/>
            </a:gdLst>
            <a:ahLst/>
            <a:cxnLst>
              <a:cxn ang="0">
                <a:pos x="T0" y="0"/>
              </a:cxn>
              <a:cxn ang="0">
                <a:pos x="T1" y="0"/>
              </a:cxn>
            </a:cxnLst>
            <a:rect l="0" t="0" r="r" b="b"/>
            <a:pathLst>
              <a:path w="2374900">
                <a:moveTo>
                  <a:pt x="0" y="0"/>
                </a:moveTo>
                <a:lnTo>
                  <a:pt x="2374462"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1" name="object 47">
            <a:extLst>
              <a:ext uri="{FF2B5EF4-FFF2-40B4-BE49-F238E27FC236}">
                <a16:creationId xmlns:a16="http://schemas.microsoft.com/office/drawing/2014/main" id="{DC13CF46-68DB-4ACB-917E-EEE29324CCF4}"/>
              </a:ext>
            </a:extLst>
          </p:cNvPr>
          <p:cNvSpPr>
            <a:spLocks/>
          </p:cNvSpPr>
          <p:nvPr/>
        </p:nvSpPr>
        <p:spPr bwMode="auto">
          <a:xfrm>
            <a:off x="1360488" y="1606550"/>
            <a:ext cx="2374900" cy="0"/>
          </a:xfrm>
          <a:custGeom>
            <a:avLst/>
            <a:gdLst>
              <a:gd name="T0" fmla="*/ 0 w 2374900"/>
              <a:gd name="T1" fmla="*/ 0 h 634"/>
              <a:gd name="T2" fmla="*/ 2374459 w 2374900"/>
              <a:gd name="T3" fmla="*/ 30 h 634"/>
            </a:gdLst>
            <a:ahLst/>
            <a:cxnLst>
              <a:cxn ang="0">
                <a:pos x="T0" y="T1"/>
              </a:cxn>
              <a:cxn ang="0">
                <a:pos x="T2" y="T3"/>
              </a:cxn>
            </a:cxnLst>
            <a:rect l="0" t="0" r="r" b="b"/>
            <a:pathLst>
              <a:path w="2374900" h="634">
                <a:moveTo>
                  <a:pt x="0" y="0"/>
                </a:moveTo>
                <a:lnTo>
                  <a:pt x="2374459" y="3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2" name="object 48">
            <a:extLst>
              <a:ext uri="{FF2B5EF4-FFF2-40B4-BE49-F238E27FC236}">
                <a16:creationId xmlns:a16="http://schemas.microsoft.com/office/drawing/2014/main" id="{D6DE765C-832C-466A-AC0C-E220A11258F8}"/>
              </a:ext>
            </a:extLst>
          </p:cNvPr>
          <p:cNvSpPr>
            <a:spLocks/>
          </p:cNvSpPr>
          <p:nvPr/>
        </p:nvSpPr>
        <p:spPr bwMode="auto">
          <a:xfrm>
            <a:off x="1547813" y="1468438"/>
            <a:ext cx="2374900" cy="0"/>
          </a:xfrm>
          <a:custGeom>
            <a:avLst/>
            <a:gdLst>
              <a:gd name="T0" fmla="*/ 0 w 2374900"/>
              <a:gd name="T1" fmla="*/ 2374465 w 2374900"/>
            </a:gdLst>
            <a:ahLst/>
            <a:cxnLst>
              <a:cxn ang="0">
                <a:pos x="T0" y="0"/>
              </a:cxn>
              <a:cxn ang="0">
                <a:pos x="T1" y="0"/>
              </a:cxn>
            </a:cxnLst>
            <a:rect l="0" t="0" r="r" b="b"/>
            <a:pathLst>
              <a:path w="2374900">
                <a:moveTo>
                  <a:pt x="0" y="0"/>
                </a:moveTo>
                <a:lnTo>
                  <a:pt x="2374465" y="0"/>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3" name="object 49">
            <a:extLst>
              <a:ext uri="{FF2B5EF4-FFF2-40B4-BE49-F238E27FC236}">
                <a16:creationId xmlns:a16="http://schemas.microsoft.com/office/drawing/2014/main" id="{2ACCD2B7-9157-4874-A397-6744DB1C492E}"/>
              </a:ext>
            </a:extLst>
          </p:cNvPr>
          <p:cNvSpPr>
            <a:spLocks/>
          </p:cNvSpPr>
          <p:nvPr/>
        </p:nvSpPr>
        <p:spPr bwMode="auto">
          <a:xfrm>
            <a:off x="1547813" y="1468438"/>
            <a:ext cx="2374900" cy="0"/>
          </a:xfrm>
          <a:custGeom>
            <a:avLst/>
            <a:gdLst>
              <a:gd name="T0" fmla="*/ 0 w 2374900"/>
              <a:gd name="T1" fmla="*/ 2374465 w 2374900"/>
            </a:gdLst>
            <a:ahLst/>
            <a:cxnLst>
              <a:cxn ang="0">
                <a:pos x="T0" y="0"/>
              </a:cxn>
              <a:cxn ang="0">
                <a:pos x="T1" y="0"/>
              </a:cxn>
            </a:cxnLst>
            <a:rect l="0" t="0" r="r" b="b"/>
            <a:pathLst>
              <a:path w="2374900">
                <a:moveTo>
                  <a:pt x="0" y="0"/>
                </a:moveTo>
                <a:lnTo>
                  <a:pt x="2374465"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4" name="object 50">
            <a:extLst>
              <a:ext uri="{FF2B5EF4-FFF2-40B4-BE49-F238E27FC236}">
                <a16:creationId xmlns:a16="http://schemas.microsoft.com/office/drawing/2014/main" id="{538CFEE6-0FEC-4561-BE4C-F45C9A147DDA}"/>
              </a:ext>
            </a:extLst>
          </p:cNvPr>
          <p:cNvSpPr>
            <a:spLocks/>
          </p:cNvSpPr>
          <p:nvPr/>
        </p:nvSpPr>
        <p:spPr bwMode="auto">
          <a:xfrm>
            <a:off x="1782763" y="1341438"/>
            <a:ext cx="2374900" cy="0"/>
          </a:xfrm>
          <a:custGeom>
            <a:avLst/>
            <a:gdLst>
              <a:gd name="T0" fmla="*/ 0 w 2374900"/>
              <a:gd name="T1" fmla="*/ 0 h 634"/>
              <a:gd name="T2" fmla="*/ 2374449 w 2374900"/>
              <a:gd name="T3" fmla="*/ 30 h 634"/>
            </a:gdLst>
            <a:ahLst/>
            <a:cxnLst>
              <a:cxn ang="0">
                <a:pos x="T0" y="T1"/>
              </a:cxn>
              <a:cxn ang="0">
                <a:pos x="T2" y="T3"/>
              </a:cxn>
            </a:cxnLst>
            <a:rect l="0" t="0" r="r" b="b"/>
            <a:pathLst>
              <a:path w="2374900" h="634">
                <a:moveTo>
                  <a:pt x="0" y="0"/>
                </a:moveTo>
                <a:lnTo>
                  <a:pt x="2374449" y="3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5" name="object 51">
            <a:extLst>
              <a:ext uri="{FF2B5EF4-FFF2-40B4-BE49-F238E27FC236}">
                <a16:creationId xmlns:a16="http://schemas.microsoft.com/office/drawing/2014/main" id="{E54983D3-5FC6-4D9E-AC90-16FAFDF022A0}"/>
              </a:ext>
            </a:extLst>
          </p:cNvPr>
          <p:cNvSpPr>
            <a:spLocks/>
          </p:cNvSpPr>
          <p:nvPr/>
        </p:nvSpPr>
        <p:spPr bwMode="auto">
          <a:xfrm>
            <a:off x="3054350" y="2005013"/>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6" name="object 52">
            <a:extLst>
              <a:ext uri="{FF2B5EF4-FFF2-40B4-BE49-F238E27FC236}">
                <a16:creationId xmlns:a16="http://schemas.microsoft.com/office/drawing/2014/main" id="{4D53B51C-8A45-451F-965B-E8359C2E72E9}"/>
              </a:ext>
            </a:extLst>
          </p:cNvPr>
          <p:cNvSpPr>
            <a:spLocks/>
          </p:cNvSpPr>
          <p:nvPr/>
        </p:nvSpPr>
        <p:spPr bwMode="auto">
          <a:xfrm>
            <a:off x="3054350" y="2005013"/>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7" name="object 53">
            <a:extLst>
              <a:ext uri="{FF2B5EF4-FFF2-40B4-BE49-F238E27FC236}">
                <a16:creationId xmlns:a16="http://schemas.microsoft.com/office/drawing/2014/main" id="{1DF282B7-941D-4F7C-90A0-89E49158831A}"/>
              </a:ext>
            </a:extLst>
          </p:cNvPr>
          <p:cNvSpPr>
            <a:spLocks/>
          </p:cNvSpPr>
          <p:nvPr/>
        </p:nvSpPr>
        <p:spPr bwMode="auto">
          <a:xfrm>
            <a:off x="3276600" y="1878013"/>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8" name="object 54">
            <a:extLst>
              <a:ext uri="{FF2B5EF4-FFF2-40B4-BE49-F238E27FC236}">
                <a16:creationId xmlns:a16="http://schemas.microsoft.com/office/drawing/2014/main" id="{15F7D84E-D80A-4DB1-B65A-50D060DBEA96}"/>
              </a:ext>
            </a:extLst>
          </p:cNvPr>
          <p:cNvSpPr>
            <a:spLocks/>
          </p:cNvSpPr>
          <p:nvPr/>
        </p:nvSpPr>
        <p:spPr bwMode="auto">
          <a:xfrm>
            <a:off x="3276600" y="1878013"/>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99" name="object 55">
            <a:extLst>
              <a:ext uri="{FF2B5EF4-FFF2-40B4-BE49-F238E27FC236}">
                <a16:creationId xmlns:a16="http://schemas.microsoft.com/office/drawing/2014/main" id="{93F6B134-030C-4C97-9942-838B67E76F12}"/>
              </a:ext>
            </a:extLst>
          </p:cNvPr>
          <p:cNvSpPr>
            <a:spLocks/>
          </p:cNvSpPr>
          <p:nvPr/>
        </p:nvSpPr>
        <p:spPr bwMode="auto">
          <a:xfrm>
            <a:off x="3486150" y="1733550"/>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0" name="object 56">
            <a:extLst>
              <a:ext uri="{FF2B5EF4-FFF2-40B4-BE49-F238E27FC236}">
                <a16:creationId xmlns:a16="http://schemas.microsoft.com/office/drawing/2014/main" id="{8FF63B1E-28DE-4F31-9B9F-D243047C7BEC}"/>
              </a:ext>
            </a:extLst>
          </p:cNvPr>
          <p:cNvSpPr>
            <a:spLocks/>
          </p:cNvSpPr>
          <p:nvPr/>
        </p:nvSpPr>
        <p:spPr bwMode="auto">
          <a:xfrm>
            <a:off x="3486150" y="1733550"/>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1" name="object 57">
            <a:extLst>
              <a:ext uri="{FF2B5EF4-FFF2-40B4-BE49-F238E27FC236}">
                <a16:creationId xmlns:a16="http://schemas.microsoft.com/office/drawing/2014/main" id="{3A12911C-A7B1-4175-BB13-30E9D61D546C}"/>
              </a:ext>
            </a:extLst>
          </p:cNvPr>
          <p:cNvSpPr>
            <a:spLocks/>
          </p:cNvSpPr>
          <p:nvPr/>
        </p:nvSpPr>
        <p:spPr bwMode="auto">
          <a:xfrm>
            <a:off x="3684588" y="162877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2" name="object 58">
            <a:extLst>
              <a:ext uri="{FF2B5EF4-FFF2-40B4-BE49-F238E27FC236}">
                <a16:creationId xmlns:a16="http://schemas.microsoft.com/office/drawing/2014/main" id="{E6C596F7-906F-4522-95A6-9FD4F914453E}"/>
              </a:ext>
            </a:extLst>
          </p:cNvPr>
          <p:cNvSpPr>
            <a:spLocks/>
          </p:cNvSpPr>
          <p:nvPr/>
        </p:nvSpPr>
        <p:spPr bwMode="auto">
          <a:xfrm>
            <a:off x="3684588" y="1628775"/>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3" name="object 59">
            <a:extLst>
              <a:ext uri="{FF2B5EF4-FFF2-40B4-BE49-F238E27FC236}">
                <a16:creationId xmlns:a16="http://schemas.microsoft.com/office/drawing/2014/main" id="{636714FE-A33D-4198-870C-092F8A44E6E7}"/>
              </a:ext>
            </a:extLst>
          </p:cNvPr>
          <p:cNvSpPr>
            <a:spLocks/>
          </p:cNvSpPr>
          <p:nvPr/>
        </p:nvSpPr>
        <p:spPr bwMode="auto">
          <a:xfrm>
            <a:off x="3924300" y="1468438"/>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4" name="object 60">
            <a:extLst>
              <a:ext uri="{FF2B5EF4-FFF2-40B4-BE49-F238E27FC236}">
                <a16:creationId xmlns:a16="http://schemas.microsoft.com/office/drawing/2014/main" id="{F78D732E-0C53-4ABC-8FD5-1BB4461ADDB5}"/>
              </a:ext>
            </a:extLst>
          </p:cNvPr>
          <p:cNvSpPr>
            <a:spLocks/>
          </p:cNvSpPr>
          <p:nvPr/>
        </p:nvSpPr>
        <p:spPr bwMode="auto">
          <a:xfrm>
            <a:off x="3924300" y="1468438"/>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5" name="object 61">
            <a:extLst>
              <a:ext uri="{FF2B5EF4-FFF2-40B4-BE49-F238E27FC236}">
                <a16:creationId xmlns:a16="http://schemas.microsoft.com/office/drawing/2014/main" id="{CF7E5E61-5284-4060-85E2-3D8535AC5106}"/>
              </a:ext>
            </a:extLst>
          </p:cNvPr>
          <p:cNvSpPr>
            <a:spLocks/>
          </p:cNvSpPr>
          <p:nvPr/>
        </p:nvSpPr>
        <p:spPr bwMode="auto">
          <a:xfrm>
            <a:off x="4140200" y="1357313"/>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317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6" name="object 62">
            <a:extLst>
              <a:ext uri="{FF2B5EF4-FFF2-40B4-BE49-F238E27FC236}">
                <a16:creationId xmlns:a16="http://schemas.microsoft.com/office/drawing/2014/main" id="{3293FADA-AC53-49E5-BDFF-4F0E66A1C75F}"/>
              </a:ext>
            </a:extLst>
          </p:cNvPr>
          <p:cNvSpPr>
            <a:spLocks/>
          </p:cNvSpPr>
          <p:nvPr/>
        </p:nvSpPr>
        <p:spPr bwMode="auto">
          <a:xfrm>
            <a:off x="4140200" y="1357313"/>
            <a:ext cx="0" cy="936625"/>
          </a:xfrm>
          <a:custGeom>
            <a:avLst/>
            <a:gdLst>
              <a:gd name="T0" fmla="*/ 0 h 936625"/>
              <a:gd name="T1" fmla="*/ 936101 h 936625"/>
            </a:gdLst>
            <a:ahLst/>
            <a:cxnLst>
              <a:cxn ang="0">
                <a:pos x="0" y="T0"/>
              </a:cxn>
              <a:cxn ang="0">
                <a:pos x="0" y="T1"/>
              </a:cxn>
            </a:cxnLst>
            <a:rect l="0" t="0" r="r" b="b"/>
            <a:pathLst>
              <a:path h="936625">
                <a:moveTo>
                  <a:pt x="0" y="0"/>
                </a:moveTo>
                <a:lnTo>
                  <a:pt x="0" y="936101"/>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7" name="object 63">
            <a:extLst>
              <a:ext uri="{FF2B5EF4-FFF2-40B4-BE49-F238E27FC236}">
                <a16:creationId xmlns:a16="http://schemas.microsoft.com/office/drawing/2014/main" id="{824D9EBA-C704-45C3-AF2B-06EF98D90771}"/>
              </a:ext>
            </a:extLst>
          </p:cNvPr>
          <p:cNvSpPr>
            <a:spLocks/>
          </p:cNvSpPr>
          <p:nvPr/>
        </p:nvSpPr>
        <p:spPr bwMode="auto">
          <a:xfrm>
            <a:off x="7150100" y="1171575"/>
            <a:ext cx="1573213" cy="1865313"/>
          </a:xfrm>
          <a:custGeom>
            <a:avLst/>
            <a:gdLst>
              <a:gd name="T0" fmla="*/ 1570756 w 1573529"/>
              <a:gd name="T1" fmla="*/ 0 h 1864360"/>
              <a:gd name="T2" fmla="*/ 0 w 1573529"/>
              <a:gd name="T3" fmla="*/ 923422 h 1864360"/>
              <a:gd name="T4" fmla="*/ 2346 w 1573529"/>
              <a:gd name="T5" fmla="*/ 1864217 h 1864360"/>
              <a:gd name="T6" fmla="*/ 1573103 w 1573529"/>
              <a:gd name="T7" fmla="*/ 940795 h 1864360"/>
              <a:gd name="T8" fmla="*/ 1570756 w 1573529"/>
              <a:gd name="T9" fmla="*/ 0 h 1864360"/>
            </a:gdLst>
            <a:ahLst/>
            <a:cxnLst>
              <a:cxn ang="0">
                <a:pos x="T0" y="T1"/>
              </a:cxn>
              <a:cxn ang="0">
                <a:pos x="T2" y="T3"/>
              </a:cxn>
              <a:cxn ang="0">
                <a:pos x="T4" y="T5"/>
              </a:cxn>
              <a:cxn ang="0">
                <a:pos x="T6" y="T7"/>
              </a:cxn>
              <a:cxn ang="0">
                <a:pos x="T8" y="T9"/>
              </a:cxn>
            </a:cxnLst>
            <a:rect l="0" t="0" r="r" b="b"/>
            <a:pathLst>
              <a:path w="1573529" h="1864360">
                <a:moveTo>
                  <a:pt x="1570756" y="0"/>
                </a:moveTo>
                <a:lnTo>
                  <a:pt x="0" y="923422"/>
                </a:lnTo>
                <a:lnTo>
                  <a:pt x="2346" y="1864217"/>
                </a:lnTo>
                <a:lnTo>
                  <a:pt x="1573103" y="940795"/>
                </a:lnTo>
                <a:lnTo>
                  <a:pt x="157075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208" name="object 64">
            <a:extLst>
              <a:ext uri="{FF2B5EF4-FFF2-40B4-BE49-F238E27FC236}">
                <a16:creationId xmlns:a16="http://schemas.microsoft.com/office/drawing/2014/main" id="{B49B5D2B-B7FC-4774-97E8-0940D9861E42}"/>
              </a:ext>
            </a:extLst>
          </p:cNvPr>
          <p:cNvSpPr>
            <a:spLocks/>
          </p:cNvSpPr>
          <p:nvPr/>
        </p:nvSpPr>
        <p:spPr bwMode="auto">
          <a:xfrm>
            <a:off x="7150100" y="1171575"/>
            <a:ext cx="1573213" cy="1865313"/>
          </a:xfrm>
          <a:custGeom>
            <a:avLst/>
            <a:gdLst>
              <a:gd name="T0" fmla="*/ 1570756 w 1573529"/>
              <a:gd name="T1" fmla="*/ 0 h 1864360"/>
              <a:gd name="T2" fmla="*/ 1573103 w 1573529"/>
              <a:gd name="T3" fmla="*/ 940795 h 1864360"/>
              <a:gd name="T4" fmla="*/ 2316 w 1573529"/>
              <a:gd name="T5" fmla="*/ 1864217 h 1864360"/>
              <a:gd name="T6" fmla="*/ 0 w 1573529"/>
              <a:gd name="T7" fmla="*/ 923422 h 1864360"/>
              <a:gd name="T8" fmla="*/ 1570756 w 1573529"/>
              <a:gd name="T9" fmla="*/ 0 h 1864360"/>
            </a:gdLst>
            <a:ahLst/>
            <a:cxnLst>
              <a:cxn ang="0">
                <a:pos x="T0" y="T1"/>
              </a:cxn>
              <a:cxn ang="0">
                <a:pos x="T2" y="T3"/>
              </a:cxn>
              <a:cxn ang="0">
                <a:pos x="T4" y="T5"/>
              </a:cxn>
              <a:cxn ang="0">
                <a:pos x="T6" y="T7"/>
              </a:cxn>
              <a:cxn ang="0">
                <a:pos x="T8" y="T9"/>
              </a:cxn>
            </a:cxnLst>
            <a:rect l="0" t="0" r="r" b="b"/>
            <a:pathLst>
              <a:path w="1573529" h="1864360">
                <a:moveTo>
                  <a:pt x="1570756" y="0"/>
                </a:moveTo>
                <a:lnTo>
                  <a:pt x="1573103" y="940795"/>
                </a:lnTo>
                <a:lnTo>
                  <a:pt x="2316" y="1864217"/>
                </a:lnTo>
                <a:lnTo>
                  <a:pt x="0" y="923422"/>
                </a:lnTo>
                <a:lnTo>
                  <a:pt x="1570756" y="0"/>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09" name="object 65">
            <a:extLst>
              <a:ext uri="{FF2B5EF4-FFF2-40B4-BE49-F238E27FC236}">
                <a16:creationId xmlns:a16="http://schemas.microsoft.com/office/drawing/2014/main" id="{B9B94D2D-C9ED-457B-8F3E-DBC2AFAE5C51}"/>
              </a:ext>
            </a:extLst>
          </p:cNvPr>
          <p:cNvSpPr>
            <a:spLocks/>
          </p:cNvSpPr>
          <p:nvPr/>
        </p:nvSpPr>
        <p:spPr bwMode="auto">
          <a:xfrm>
            <a:off x="5057775" y="1190625"/>
            <a:ext cx="1501775" cy="890588"/>
          </a:xfrm>
          <a:custGeom>
            <a:avLst/>
            <a:gdLst>
              <a:gd name="T0" fmla="*/ 1500987 w 1501140"/>
              <a:gd name="T1" fmla="*/ 0 h 890905"/>
              <a:gd name="T2" fmla="*/ 0 w 1501140"/>
              <a:gd name="T3" fmla="*/ 890747 h 890905"/>
            </a:gdLst>
            <a:ahLst/>
            <a:cxnLst>
              <a:cxn ang="0">
                <a:pos x="T0" y="T1"/>
              </a:cxn>
              <a:cxn ang="0">
                <a:pos x="T2" y="T3"/>
              </a:cxn>
            </a:cxnLst>
            <a:rect l="0" t="0" r="r" b="b"/>
            <a:pathLst>
              <a:path w="1501140" h="890905">
                <a:moveTo>
                  <a:pt x="150098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0" name="object 66">
            <a:extLst>
              <a:ext uri="{FF2B5EF4-FFF2-40B4-BE49-F238E27FC236}">
                <a16:creationId xmlns:a16="http://schemas.microsoft.com/office/drawing/2014/main" id="{813EAF0A-16C4-4248-BEEA-80EC4C2BE29D}"/>
              </a:ext>
            </a:extLst>
          </p:cNvPr>
          <p:cNvSpPr>
            <a:spLocks/>
          </p:cNvSpPr>
          <p:nvPr/>
        </p:nvSpPr>
        <p:spPr bwMode="auto">
          <a:xfrm>
            <a:off x="5270500" y="1196975"/>
            <a:ext cx="1500188" cy="890588"/>
          </a:xfrm>
          <a:custGeom>
            <a:avLst/>
            <a:gdLst>
              <a:gd name="T0" fmla="*/ 1500987 w 1501140"/>
              <a:gd name="T1" fmla="*/ 0 h 890905"/>
              <a:gd name="T2" fmla="*/ 0 w 1501140"/>
              <a:gd name="T3" fmla="*/ 890747 h 890905"/>
            </a:gdLst>
            <a:ahLst/>
            <a:cxnLst>
              <a:cxn ang="0">
                <a:pos x="T0" y="T1"/>
              </a:cxn>
              <a:cxn ang="0">
                <a:pos x="T2" y="T3"/>
              </a:cxn>
            </a:cxnLst>
            <a:rect l="0" t="0" r="r" b="b"/>
            <a:pathLst>
              <a:path w="1501140" h="890905">
                <a:moveTo>
                  <a:pt x="150098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1" name="object 67">
            <a:extLst>
              <a:ext uri="{FF2B5EF4-FFF2-40B4-BE49-F238E27FC236}">
                <a16:creationId xmlns:a16="http://schemas.microsoft.com/office/drawing/2014/main" id="{EFE7C475-E89F-4D17-9089-1F99E056CFFC}"/>
              </a:ext>
            </a:extLst>
          </p:cNvPr>
          <p:cNvSpPr>
            <a:spLocks/>
          </p:cNvSpPr>
          <p:nvPr/>
        </p:nvSpPr>
        <p:spPr bwMode="auto">
          <a:xfrm>
            <a:off x="5502275" y="1196975"/>
            <a:ext cx="1501775" cy="890588"/>
          </a:xfrm>
          <a:custGeom>
            <a:avLst/>
            <a:gdLst>
              <a:gd name="T0" fmla="*/ 1500987 w 1501140"/>
              <a:gd name="T1" fmla="*/ 0 h 890905"/>
              <a:gd name="T2" fmla="*/ 0 w 1501140"/>
              <a:gd name="T3" fmla="*/ 890747 h 890905"/>
            </a:gdLst>
            <a:ahLst/>
            <a:cxnLst>
              <a:cxn ang="0">
                <a:pos x="T0" y="T1"/>
              </a:cxn>
              <a:cxn ang="0">
                <a:pos x="T2" y="T3"/>
              </a:cxn>
            </a:cxnLst>
            <a:rect l="0" t="0" r="r" b="b"/>
            <a:pathLst>
              <a:path w="1501140" h="890905">
                <a:moveTo>
                  <a:pt x="150098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2" name="object 68">
            <a:extLst>
              <a:ext uri="{FF2B5EF4-FFF2-40B4-BE49-F238E27FC236}">
                <a16:creationId xmlns:a16="http://schemas.microsoft.com/office/drawing/2014/main" id="{B2DE6B41-C69A-4665-94AF-9D742C3D57C0}"/>
              </a:ext>
            </a:extLst>
          </p:cNvPr>
          <p:cNvSpPr>
            <a:spLocks/>
          </p:cNvSpPr>
          <p:nvPr/>
        </p:nvSpPr>
        <p:spPr bwMode="auto">
          <a:xfrm>
            <a:off x="5735638" y="1192213"/>
            <a:ext cx="1500187" cy="890587"/>
          </a:xfrm>
          <a:custGeom>
            <a:avLst/>
            <a:gdLst>
              <a:gd name="T0" fmla="*/ 1500987 w 1501140"/>
              <a:gd name="T1" fmla="*/ 0 h 890905"/>
              <a:gd name="T2" fmla="*/ 0 w 1501140"/>
              <a:gd name="T3" fmla="*/ 890747 h 890905"/>
            </a:gdLst>
            <a:ahLst/>
            <a:cxnLst>
              <a:cxn ang="0">
                <a:pos x="T0" y="T1"/>
              </a:cxn>
              <a:cxn ang="0">
                <a:pos x="T2" y="T3"/>
              </a:cxn>
            </a:cxnLst>
            <a:rect l="0" t="0" r="r" b="b"/>
            <a:pathLst>
              <a:path w="1501140" h="890905">
                <a:moveTo>
                  <a:pt x="150098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3" name="object 69">
            <a:extLst>
              <a:ext uri="{FF2B5EF4-FFF2-40B4-BE49-F238E27FC236}">
                <a16:creationId xmlns:a16="http://schemas.microsoft.com/office/drawing/2014/main" id="{EA8919CD-9BC9-4536-943C-642BCBF441B8}"/>
              </a:ext>
            </a:extLst>
          </p:cNvPr>
          <p:cNvSpPr>
            <a:spLocks/>
          </p:cNvSpPr>
          <p:nvPr/>
        </p:nvSpPr>
        <p:spPr bwMode="auto">
          <a:xfrm>
            <a:off x="5957888" y="1196975"/>
            <a:ext cx="1500187" cy="890588"/>
          </a:xfrm>
          <a:custGeom>
            <a:avLst/>
            <a:gdLst>
              <a:gd name="T0" fmla="*/ 1500957 w 1501140"/>
              <a:gd name="T1" fmla="*/ 0 h 890905"/>
              <a:gd name="T2" fmla="*/ 0 w 1501140"/>
              <a:gd name="T3" fmla="*/ 890747 h 890905"/>
            </a:gdLst>
            <a:ahLst/>
            <a:cxnLst>
              <a:cxn ang="0">
                <a:pos x="T0" y="T1"/>
              </a:cxn>
              <a:cxn ang="0">
                <a:pos x="T2" y="T3"/>
              </a:cxn>
            </a:cxnLst>
            <a:rect l="0" t="0" r="r" b="b"/>
            <a:pathLst>
              <a:path w="1501140" h="890905">
                <a:moveTo>
                  <a:pt x="150095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4" name="object 70">
            <a:extLst>
              <a:ext uri="{FF2B5EF4-FFF2-40B4-BE49-F238E27FC236}">
                <a16:creationId xmlns:a16="http://schemas.microsoft.com/office/drawing/2014/main" id="{1CF8FA38-0726-405A-9C7A-662294150E9C}"/>
              </a:ext>
            </a:extLst>
          </p:cNvPr>
          <p:cNvSpPr>
            <a:spLocks/>
          </p:cNvSpPr>
          <p:nvPr/>
        </p:nvSpPr>
        <p:spPr bwMode="auto">
          <a:xfrm>
            <a:off x="6238875" y="1185863"/>
            <a:ext cx="1501775" cy="892175"/>
          </a:xfrm>
          <a:custGeom>
            <a:avLst/>
            <a:gdLst>
              <a:gd name="T0" fmla="*/ 1500957 w 1501140"/>
              <a:gd name="T1" fmla="*/ 0 h 890905"/>
              <a:gd name="T2" fmla="*/ 0 w 1501140"/>
              <a:gd name="T3" fmla="*/ 890747 h 890905"/>
            </a:gdLst>
            <a:ahLst/>
            <a:cxnLst>
              <a:cxn ang="0">
                <a:pos x="T0" y="T1"/>
              </a:cxn>
              <a:cxn ang="0">
                <a:pos x="T2" y="T3"/>
              </a:cxn>
            </a:cxnLst>
            <a:rect l="0" t="0" r="r" b="b"/>
            <a:pathLst>
              <a:path w="1501140" h="890905">
                <a:moveTo>
                  <a:pt x="150095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5" name="object 71">
            <a:extLst>
              <a:ext uri="{FF2B5EF4-FFF2-40B4-BE49-F238E27FC236}">
                <a16:creationId xmlns:a16="http://schemas.microsoft.com/office/drawing/2014/main" id="{3E86E9F0-77E9-4381-8A1E-B7DFCE368251}"/>
              </a:ext>
            </a:extLst>
          </p:cNvPr>
          <p:cNvSpPr>
            <a:spLocks/>
          </p:cNvSpPr>
          <p:nvPr/>
        </p:nvSpPr>
        <p:spPr bwMode="auto">
          <a:xfrm>
            <a:off x="6461125" y="1196975"/>
            <a:ext cx="1501775" cy="890588"/>
          </a:xfrm>
          <a:custGeom>
            <a:avLst/>
            <a:gdLst>
              <a:gd name="T0" fmla="*/ 1500987 w 1501140"/>
              <a:gd name="T1" fmla="*/ 0 h 890905"/>
              <a:gd name="T2" fmla="*/ 0 w 1501140"/>
              <a:gd name="T3" fmla="*/ 890747 h 890905"/>
            </a:gdLst>
            <a:ahLst/>
            <a:cxnLst>
              <a:cxn ang="0">
                <a:pos x="T0" y="T1"/>
              </a:cxn>
              <a:cxn ang="0">
                <a:pos x="T2" y="T3"/>
              </a:cxn>
            </a:cxnLst>
            <a:rect l="0" t="0" r="r" b="b"/>
            <a:pathLst>
              <a:path w="1501140" h="890905">
                <a:moveTo>
                  <a:pt x="150098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6" name="object 72">
            <a:extLst>
              <a:ext uri="{FF2B5EF4-FFF2-40B4-BE49-F238E27FC236}">
                <a16:creationId xmlns:a16="http://schemas.microsoft.com/office/drawing/2014/main" id="{B6CAB038-1883-4DE2-83B0-AD3C7969D9F2}"/>
              </a:ext>
            </a:extLst>
          </p:cNvPr>
          <p:cNvSpPr>
            <a:spLocks/>
          </p:cNvSpPr>
          <p:nvPr/>
        </p:nvSpPr>
        <p:spPr bwMode="auto">
          <a:xfrm>
            <a:off x="6710363" y="1196975"/>
            <a:ext cx="1501775" cy="890588"/>
          </a:xfrm>
          <a:custGeom>
            <a:avLst/>
            <a:gdLst>
              <a:gd name="T0" fmla="*/ 1500987 w 1501140"/>
              <a:gd name="T1" fmla="*/ 0 h 890905"/>
              <a:gd name="T2" fmla="*/ 0 w 1501140"/>
              <a:gd name="T3" fmla="*/ 890747 h 890905"/>
            </a:gdLst>
            <a:ahLst/>
            <a:cxnLst>
              <a:cxn ang="0">
                <a:pos x="T0" y="T1"/>
              </a:cxn>
              <a:cxn ang="0">
                <a:pos x="T2" y="T3"/>
              </a:cxn>
            </a:cxnLst>
            <a:rect l="0" t="0" r="r" b="b"/>
            <a:pathLst>
              <a:path w="1501140" h="890905">
                <a:moveTo>
                  <a:pt x="150098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7" name="object 73">
            <a:extLst>
              <a:ext uri="{FF2B5EF4-FFF2-40B4-BE49-F238E27FC236}">
                <a16:creationId xmlns:a16="http://schemas.microsoft.com/office/drawing/2014/main" id="{62C0D1AC-F79A-479A-A93E-6DFEEDBE6AA6}"/>
              </a:ext>
            </a:extLst>
          </p:cNvPr>
          <p:cNvSpPr>
            <a:spLocks/>
          </p:cNvSpPr>
          <p:nvPr/>
        </p:nvSpPr>
        <p:spPr bwMode="auto">
          <a:xfrm>
            <a:off x="6937375" y="1196975"/>
            <a:ext cx="1500188" cy="890588"/>
          </a:xfrm>
          <a:custGeom>
            <a:avLst/>
            <a:gdLst>
              <a:gd name="T0" fmla="*/ 1500987 w 1501140"/>
              <a:gd name="T1" fmla="*/ 0 h 890905"/>
              <a:gd name="T2" fmla="*/ 0 w 1501140"/>
              <a:gd name="T3" fmla="*/ 890747 h 890905"/>
            </a:gdLst>
            <a:ahLst/>
            <a:cxnLst>
              <a:cxn ang="0">
                <a:pos x="T0" y="T1"/>
              </a:cxn>
              <a:cxn ang="0">
                <a:pos x="T2" y="T3"/>
              </a:cxn>
            </a:cxnLst>
            <a:rect l="0" t="0" r="r" b="b"/>
            <a:pathLst>
              <a:path w="1501140" h="890905">
                <a:moveTo>
                  <a:pt x="1500987" y="0"/>
                </a:moveTo>
                <a:lnTo>
                  <a:pt x="0" y="89074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18" name="object 74">
            <a:extLst>
              <a:ext uri="{FF2B5EF4-FFF2-40B4-BE49-F238E27FC236}">
                <a16:creationId xmlns:a16="http://schemas.microsoft.com/office/drawing/2014/main" id="{BB12642E-5933-448D-8E25-AD3D8815C166}"/>
              </a:ext>
            </a:extLst>
          </p:cNvPr>
          <p:cNvSpPr>
            <a:spLocks noChangeArrowheads="1"/>
          </p:cNvSpPr>
          <p:nvPr/>
        </p:nvSpPr>
        <p:spPr bwMode="auto">
          <a:xfrm>
            <a:off x="1833563" y="2090738"/>
            <a:ext cx="298450" cy="1017587"/>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219" name="object 75">
            <a:extLst>
              <a:ext uri="{FF2B5EF4-FFF2-40B4-BE49-F238E27FC236}">
                <a16:creationId xmlns:a16="http://schemas.microsoft.com/office/drawing/2014/main" id="{3366E7DA-6686-48D6-8592-F6DF4A10786B}"/>
              </a:ext>
            </a:extLst>
          </p:cNvPr>
          <p:cNvSpPr>
            <a:spLocks noChangeArrowheads="1"/>
          </p:cNvSpPr>
          <p:nvPr/>
        </p:nvSpPr>
        <p:spPr bwMode="auto">
          <a:xfrm>
            <a:off x="1882775" y="2117725"/>
            <a:ext cx="196850" cy="917575"/>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220" name="object 76">
            <a:extLst>
              <a:ext uri="{FF2B5EF4-FFF2-40B4-BE49-F238E27FC236}">
                <a16:creationId xmlns:a16="http://schemas.microsoft.com/office/drawing/2014/main" id="{C99E91C2-630C-41E1-9092-7B0BAE11970C}"/>
              </a:ext>
            </a:extLst>
          </p:cNvPr>
          <p:cNvSpPr>
            <a:spLocks/>
          </p:cNvSpPr>
          <p:nvPr/>
        </p:nvSpPr>
        <p:spPr bwMode="auto">
          <a:xfrm>
            <a:off x="1882775" y="2117725"/>
            <a:ext cx="196850" cy="919163"/>
          </a:xfrm>
          <a:custGeom>
            <a:avLst/>
            <a:gdLst>
              <a:gd name="T0" fmla="*/ 0 w 198119"/>
              <a:gd name="T1" fmla="*/ 918996 h 919480"/>
              <a:gd name="T2" fmla="*/ 197727 w 198119"/>
              <a:gd name="T3" fmla="*/ 918996 h 919480"/>
              <a:gd name="T4" fmla="*/ 197727 w 198119"/>
              <a:gd name="T5" fmla="*/ 0 h 919480"/>
              <a:gd name="T6" fmla="*/ 0 w 198119"/>
              <a:gd name="T7" fmla="*/ 0 h 919480"/>
              <a:gd name="T8" fmla="*/ 0 w 198119"/>
              <a:gd name="T9" fmla="*/ 918996 h 919480"/>
            </a:gdLst>
            <a:ahLst/>
            <a:cxnLst>
              <a:cxn ang="0">
                <a:pos x="T0" y="T1"/>
              </a:cxn>
              <a:cxn ang="0">
                <a:pos x="T2" y="T3"/>
              </a:cxn>
              <a:cxn ang="0">
                <a:pos x="T4" y="T5"/>
              </a:cxn>
              <a:cxn ang="0">
                <a:pos x="T6" y="T7"/>
              </a:cxn>
              <a:cxn ang="0">
                <a:pos x="T8" y="T9"/>
              </a:cxn>
            </a:cxnLst>
            <a:rect l="0" t="0" r="r" b="b"/>
            <a:pathLst>
              <a:path w="198119" h="919480">
                <a:moveTo>
                  <a:pt x="0" y="918996"/>
                </a:moveTo>
                <a:lnTo>
                  <a:pt x="197727" y="918996"/>
                </a:lnTo>
                <a:lnTo>
                  <a:pt x="197727" y="0"/>
                </a:lnTo>
                <a:lnTo>
                  <a:pt x="0" y="0"/>
                </a:lnTo>
                <a:lnTo>
                  <a:pt x="0" y="918996"/>
                </a:lnTo>
                <a:close/>
              </a:path>
            </a:pathLst>
          </a:custGeom>
          <a:noFill/>
          <a:ln w="9524">
            <a:solidFill>
              <a:srgbClr val="CB615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21" name="object 77">
            <a:extLst>
              <a:ext uri="{FF2B5EF4-FFF2-40B4-BE49-F238E27FC236}">
                <a16:creationId xmlns:a16="http://schemas.microsoft.com/office/drawing/2014/main" id="{E10EB6D9-4D41-43DD-8A75-7FC24CFA579D}"/>
              </a:ext>
            </a:extLst>
          </p:cNvPr>
          <p:cNvSpPr>
            <a:spLocks noChangeArrowheads="1"/>
          </p:cNvSpPr>
          <p:nvPr/>
        </p:nvSpPr>
        <p:spPr bwMode="auto">
          <a:xfrm>
            <a:off x="1843088" y="1187450"/>
            <a:ext cx="1720850" cy="912813"/>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222" name="object 78">
            <a:extLst>
              <a:ext uri="{FF2B5EF4-FFF2-40B4-BE49-F238E27FC236}">
                <a16:creationId xmlns:a16="http://schemas.microsoft.com/office/drawing/2014/main" id="{FEEE1FF6-56BB-4581-A7D6-876BCBD4F097}"/>
              </a:ext>
            </a:extLst>
          </p:cNvPr>
          <p:cNvSpPr>
            <a:spLocks/>
          </p:cNvSpPr>
          <p:nvPr/>
        </p:nvSpPr>
        <p:spPr bwMode="auto">
          <a:xfrm>
            <a:off x="1843088" y="1187450"/>
            <a:ext cx="1720850" cy="912813"/>
          </a:xfrm>
          <a:custGeom>
            <a:avLst/>
            <a:gdLst>
              <a:gd name="T0" fmla="*/ 0 w 1721485"/>
              <a:gd name="T1" fmla="*/ 912174 h 912494"/>
              <a:gd name="T2" fmla="*/ 1519985 w 1721485"/>
              <a:gd name="T3" fmla="*/ 0 h 912494"/>
              <a:gd name="T4" fmla="*/ 1721489 w 1721485"/>
              <a:gd name="T5" fmla="*/ 0 h 912494"/>
              <a:gd name="T6" fmla="*/ 201524 w 1721485"/>
              <a:gd name="T7" fmla="*/ 912174 h 912494"/>
              <a:gd name="T8" fmla="*/ 0 w 1721485"/>
              <a:gd name="T9" fmla="*/ 912174 h 912494"/>
            </a:gdLst>
            <a:ahLst/>
            <a:cxnLst>
              <a:cxn ang="0">
                <a:pos x="T0" y="T1"/>
              </a:cxn>
              <a:cxn ang="0">
                <a:pos x="T2" y="T3"/>
              </a:cxn>
              <a:cxn ang="0">
                <a:pos x="T4" y="T5"/>
              </a:cxn>
              <a:cxn ang="0">
                <a:pos x="T6" y="T7"/>
              </a:cxn>
              <a:cxn ang="0">
                <a:pos x="T8" y="T9"/>
              </a:cxn>
            </a:cxnLst>
            <a:rect l="0" t="0" r="r" b="b"/>
            <a:pathLst>
              <a:path w="1721485" h="912494">
                <a:moveTo>
                  <a:pt x="0" y="912174"/>
                </a:moveTo>
                <a:lnTo>
                  <a:pt x="1519985" y="0"/>
                </a:lnTo>
                <a:lnTo>
                  <a:pt x="1721489" y="0"/>
                </a:lnTo>
                <a:lnTo>
                  <a:pt x="201524" y="912174"/>
                </a:lnTo>
                <a:lnTo>
                  <a:pt x="0" y="912174"/>
                </a:lnTo>
                <a:close/>
              </a:path>
            </a:pathLst>
          </a:custGeom>
          <a:noFill/>
          <a:ln w="9524">
            <a:solidFill>
              <a:srgbClr val="CB615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23" name="object 79">
            <a:extLst>
              <a:ext uri="{FF2B5EF4-FFF2-40B4-BE49-F238E27FC236}">
                <a16:creationId xmlns:a16="http://schemas.microsoft.com/office/drawing/2014/main" id="{84B8C43C-2AE6-428F-94E7-22B13FBB38B4}"/>
              </a:ext>
            </a:extLst>
          </p:cNvPr>
          <p:cNvSpPr>
            <a:spLocks noChangeArrowheads="1"/>
          </p:cNvSpPr>
          <p:nvPr/>
        </p:nvSpPr>
        <p:spPr bwMode="auto">
          <a:xfrm>
            <a:off x="6184900" y="2106613"/>
            <a:ext cx="298450" cy="1019175"/>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224" name="object 80">
            <a:extLst>
              <a:ext uri="{FF2B5EF4-FFF2-40B4-BE49-F238E27FC236}">
                <a16:creationId xmlns:a16="http://schemas.microsoft.com/office/drawing/2014/main" id="{1CA3D442-1C75-4A5A-870E-1BBB2449F1DB}"/>
              </a:ext>
            </a:extLst>
          </p:cNvPr>
          <p:cNvSpPr>
            <a:spLocks noChangeArrowheads="1"/>
          </p:cNvSpPr>
          <p:nvPr/>
        </p:nvSpPr>
        <p:spPr bwMode="auto">
          <a:xfrm>
            <a:off x="6235700" y="2133600"/>
            <a:ext cx="196850" cy="919163"/>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6225" name="object 81">
            <a:extLst>
              <a:ext uri="{FF2B5EF4-FFF2-40B4-BE49-F238E27FC236}">
                <a16:creationId xmlns:a16="http://schemas.microsoft.com/office/drawing/2014/main" id="{6402D9B8-C0A5-4186-A544-6AA35BEA0675}"/>
              </a:ext>
            </a:extLst>
          </p:cNvPr>
          <p:cNvSpPr>
            <a:spLocks/>
          </p:cNvSpPr>
          <p:nvPr/>
        </p:nvSpPr>
        <p:spPr bwMode="auto">
          <a:xfrm>
            <a:off x="6235700" y="2133600"/>
            <a:ext cx="196850" cy="919163"/>
          </a:xfrm>
          <a:custGeom>
            <a:avLst/>
            <a:gdLst>
              <a:gd name="T0" fmla="*/ 0 w 198120"/>
              <a:gd name="T1" fmla="*/ 918984 h 919480"/>
              <a:gd name="T2" fmla="*/ 197727 w 198120"/>
              <a:gd name="T3" fmla="*/ 918984 h 919480"/>
              <a:gd name="T4" fmla="*/ 197727 w 198120"/>
              <a:gd name="T5" fmla="*/ 0 h 919480"/>
              <a:gd name="T6" fmla="*/ 0 w 198120"/>
              <a:gd name="T7" fmla="*/ 0 h 919480"/>
              <a:gd name="T8" fmla="*/ 0 w 198120"/>
              <a:gd name="T9" fmla="*/ 918984 h 919480"/>
            </a:gdLst>
            <a:ahLst/>
            <a:cxnLst>
              <a:cxn ang="0">
                <a:pos x="T0" y="T1"/>
              </a:cxn>
              <a:cxn ang="0">
                <a:pos x="T2" y="T3"/>
              </a:cxn>
              <a:cxn ang="0">
                <a:pos x="T4" y="T5"/>
              </a:cxn>
              <a:cxn ang="0">
                <a:pos x="T6" y="T7"/>
              </a:cxn>
              <a:cxn ang="0">
                <a:pos x="T8" y="T9"/>
              </a:cxn>
            </a:cxnLst>
            <a:rect l="0" t="0" r="r" b="b"/>
            <a:pathLst>
              <a:path w="198120" h="919480">
                <a:moveTo>
                  <a:pt x="0" y="918984"/>
                </a:moveTo>
                <a:lnTo>
                  <a:pt x="197727" y="918984"/>
                </a:lnTo>
                <a:lnTo>
                  <a:pt x="197727" y="0"/>
                </a:lnTo>
                <a:lnTo>
                  <a:pt x="0" y="0"/>
                </a:lnTo>
                <a:lnTo>
                  <a:pt x="0" y="918984"/>
                </a:lnTo>
                <a:close/>
              </a:path>
            </a:pathLst>
          </a:custGeom>
          <a:noFill/>
          <a:ln w="9524">
            <a:solidFill>
              <a:srgbClr val="CB615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226" name="object 82">
            <a:extLst>
              <a:ext uri="{FF2B5EF4-FFF2-40B4-BE49-F238E27FC236}">
                <a16:creationId xmlns:a16="http://schemas.microsoft.com/office/drawing/2014/main" id="{F12FA468-3675-443B-8161-7FC2FFCB8A75}"/>
              </a:ext>
            </a:extLst>
          </p:cNvPr>
          <p:cNvSpPr>
            <a:spLocks noChangeArrowheads="1"/>
          </p:cNvSpPr>
          <p:nvPr/>
        </p:nvSpPr>
        <p:spPr bwMode="auto">
          <a:xfrm>
            <a:off x="6205538" y="1204913"/>
            <a:ext cx="1720850" cy="911225"/>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83" name="object 83">
            <a:extLst>
              <a:ext uri="{FF2B5EF4-FFF2-40B4-BE49-F238E27FC236}">
                <a16:creationId xmlns:a16="http://schemas.microsoft.com/office/drawing/2014/main" id="{92ED422A-C81B-47F9-8282-B2AF15CC52CE}"/>
              </a:ext>
            </a:extLst>
          </p:cNvPr>
          <p:cNvSpPr txBox="1"/>
          <p:nvPr/>
        </p:nvSpPr>
        <p:spPr>
          <a:xfrm>
            <a:off x="460376" y="3803651"/>
            <a:ext cx="8374866" cy="2544799"/>
          </a:xfrm>
          <a:prstGeom prst="rect">
            <a:avLst/>
          </a:prstGeom>
        </p:spPr>
        <p:txBody>
          <a:bodyPr wrap="square" lIns="0" tIns="0" rIns="0" bIns="0">
            <a:spAutoFit/>
          </a:bodyPr>
          <a:lstStyle>
            <a:lvl1pPr marL="603250">
              <a:tabLst>
                <a:tab pos="4918075" algn="l"/>
              </a:tabLst>
              <a:defRPr>
                <a:solidFill>
                  <a:schemeClr val="tx1"/>
                </a:solidFill>
                <a:latin typeface="Calibri" panose="020F0502020204030204" pitchFamily="34" charset="0"/>
              </a:defRPr>
            </a:lvl1pPr>
            <a:lvl2pPr marL="742950" indent="-285750">
              <a:tabLst>
                <a:tab pos="4918075" algn="l"/>
              </a:tabLst>
              <a:defRPr>
                <a:solidFill>
                  <a:schemeClr val="tx1"/>
                </a:solidFill>
                <a:latin typeface="Calibri" panose="020F0502020204030204" pitchFamily="34" charset="0"/>
              </a:defRPr>
            </a:lvl2pPr>
            <a:lvl3pPr marL="1143000" indent="-228600">
              <a:tabLst>
                <a:tab pos="4918075" algn="l"/>
              </a:tabLst>
              <a:defRPr>
                <a:solidFill>
                  <a:schemeClr val="tx1"/>
                </a:solidFill>
                <a:latin typeface="Calibri" panose="020F0502020204030204" pitchFamily="34" charset="0"/>
              </a:defRPr>
            </a:lvl3pPr>
            <a:lvl4pPr marL="1600200" indent="-228600">
              <a:tabLst>
                <a:tab pos="4918075" algn="l"/>
              </a:tabLst>
              <a:defRPr>
                <a:solidFill>
                  <a:schemeClr val="tx1"/>
                </a:solidFill>
                <a:latin typeface="Calibri" panose="020F0502020204030204" pitchFamily="34" charset="0"/>
              </a:defRPr>
            </a:lvl4pPr>
            <a:lvl5pPr marL="2057400" indent="-228600">
              <a:tabLst>
                <a:tab pos="4918075" algn="l"/>
              </a:tabLst>
              <a:defRPr>
                <a:solidFill>
                  <a:schemeClr val="tx1"/>
                </a:solidFill>
                <a:latin typeface="Calibri" panose="020F0502020204030204" pitchFamily="34" charset="0"/>
              </a:defRPr>
            </a:lvl5pPr>
            <a:lvl6pPr marL="2514600" indent="-228600" fontAlgn="base">
              <a:spcBef>
                <a:spcPct val="0"/>
              </a:spcBef>
              <a:spcAft>
                <a:spcPct val="0"/>
              </a:spcAft>
              <a:tabLst>
                <a:tab pos="4918075" algn="l"/>
              </a:tabLst>
              <a:defRPr>
                <a:solidFill>
                  <a:schemeClr val="tx1"/>
                </a:solidFill>
                <a:latin typeface="Calibri" panose="020F0502020204030204" pitchFamily="34" charset="0"/>
              </a:defRPr>
            </a:lvl6pPr>
            <a:lvl7pPr marL="2971800" indent="-228600" fontAlgn="base">
              <a:spcBef>
                <a:spcPct val="0"/>
              </a:spcBef>
              <a:spcAft>
                <a:spcPct val="0"/>
              </a:spcAft>
              <a:tabLst>
                <a:tab pos="4918075" algn="l"/>
              </a:tabLst>
              <a:defRPr>
                <a:solidFill>
                  <a:schemeClr val="tx1"/>
                </a:solidFill>
                <a:latin typeface="Calibri" panose="020F0502020204030204" pitchFamily="34" charset="0"/>
              </a:defRPr>
            </a:lvl7pPr>
            <a:lvl8pPr marL="3429000" indent="-228600" fontAlgn="base">
              <a:spcBef>
                <a:spcPct val="0"/>
              </a:spcBef>
              <a:spcAft>
                <a:spcPct val="0"/>
              </a:spcAft>
              <a:tabLst>
                <a:tab pos="4918075" algn="l"/>
              </a:tabLst>
              <a:defRPr>
                <a:solidFill>
                  <a:schemeClr val="tx1"/>
                </a:solidFill>
                <a:latin typeface="Calibri" panose="020F0502020204030204" pitchFamily="34" charset="0"/>
              </a:defRPr>
            </a:lvl8pPr>
            <a:lvl9pPr marL="3886200" indent="-228600" fontAlgn="base">
              <a:spcBef>
                <a:spcPct val="0"/>
              </a:spcBef>
              <a:spcAft>
                <a:spcPct val="0"/>
              </a:spcAft>
              <a:tabLst>
                <a:tab pos="4918075" algn="l"/>
              </a:tabLst>
              <a:defRPr>
                <a:solidFill>
                  <a:schemeClr val="tx1"/>
                </a:solidFill>
                <a:latin typeface="Calibri" panose="020F0502020204030204" pitchFamily="34" charset="0"/>
              </a:defRPr>
            </a:lvl9pPr>
          </a:lstStyle>
          <a:p>
            <a:pPr>
              <a:spcBef>
                <a:spcPts val="13"/>
              </a:spcBef>
            </a:pPr>
            <a:endParaRPr lang="en-US" altLang="en-US" sz="2400" dirty="0">
              <a:latin typeface="Times New Roman" panose="02020603050405020304" pitchFamily="18" charset="0"/>
              <a:cs typeface="Times New Roman" panose="02020603050405020304" pitchFamily="18" charset="0"/>
            </a:endParaRPr>
          </a:p>
          <a:p>
            <a:pPr>
              <a:lnSpc>
                <a:spcPts val="3400"/>
              </a:lnSpc>
              <a:buFont typeface="Arial" panose="020B0604020202020204" pitchFamily="34" charset="0"/>
              <a:buChar char="•"/>
            </a:pP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Multiple</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sub-channels</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(sub-carriers)</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carry</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samples</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sent</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at</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a</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lower</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rate</a:t>
            </a:r>
          </a:p>
          <a:p>
            <a:pPr>
              <a:spcBef>
                <a:spcPts val="875"/>
              </a:spcBef>
            </a:pPr>
            <a:r>
              <a:rPr lang="en-US" altLang="en-US" sz="2400" dirty="0">
                <a:latin typeface="Wingdings 3" panose="05040102010807070707" pitchFamily="18" charset="2"/>
                <a:ea typeface="Wingdings 3" panose="05040102010807070707" pitchFamily="18" charset="2"/>
                <a:cs typeface="Wingdings 3" panose="05040102010807070707" pitchFamily="18" charset="2"/>
              </a:rPr>
              <a:t>  </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Almost</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same</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bandwidth</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with</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wide-band</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channel</a:t>
            </a:r>
          </a:p>
          <a:p>
            <a:pPr>
              <a:lnSpc>
                <a:spcPct val="90000"/>
              </a:lnSpc>
              <a:spcBef>
                <a:spcPts val="1213"/>
              </a:spcBef>
              <a:buFont typeface="Arial" panose="020B0604020202020204" pitchFamily="34" charset="0"/>
              <a:buChar char="•"/>
            </a:pP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Only</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some</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of</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sub-channels</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are</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affected</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by</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interferers</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or</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multi-path</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rebuchet MS" panose="020B0603020202020204" pitchFamily="34" charset="0"/>
                <a:ea typeface="Trebuchet MS" panose="020B0603020202020204" pitchFamily="34" charset="0"/>
                <a:cs typeface="Trebuchet MS" panose="020B0603020202020204" pitchFamily="34" charset="0"/>
              </a:rPr>
              <a:t>effect</a:t>
            </a:r>
          </a:p>
        </p:txBody>
      </p:sp>
      <p:sp>
        <p:nvSpPr>
          <p:cNvPr id="84" name="object 84">
            <a:extLst>
              <a:ext uri="{FF2B5EF4-FFF2-40B4-BE49-F238E27FC236}">
                <a16:creationId xmlns:a16="http://schemas.microsoft.com/office/drawing/2014/main" id="{5F60240B-4493-4D20-B14C-EA97CCE0CC81}"/>
              </a:ext>
            </a:extLst>
          </p:cNvPr>
          <p:cNvSpPr txBox="1"/>
          <p:nvPr/>
        </p:nvSpPr>
        <p:spPr>
          <a:xfrm>
            <a:off x="7602538" y="2914650"/>
            <a:ext cx="139700" cy="330200"/>
          </a:xfrm>
          <a:prstGeom prst="rect">
            <a:avLst/>
          </a:prstGeom>
        </p:spPr>
        <p:txBody>
          <a:bodyPr lIns="0" tIns="0" rIns="0" bIns="0">
            <a:spAutoFit/>
          </a:bodyPr>
          <a:lstStyle/>
          <a:p>
            <a:pPr marL="12700" fontAlgn="auto">
              <a:spcBef>
                <a:spcPts val="0"/>
              </a:spcBef>
              <a:spcAft>
                <a:spcPts val="0"/>
              </a:spcAft>
              <a:defRPr/>
            </a:pPr>
            <a:r>
              <a:rPr sz="2400" spc="-10" dirty="0">
                <a:latin typeface="Trebuchet MS"/>
                <a:cs typeface="Trebuchet MS"/>
              </a:rPr>
              <a:t>f</a:t>
            </a:r>
            <a:endParaRPr sz="2400">
              <a:latin typeface="Trebuchet MS"/>
              <a:cs typeface="Trebuchet MS"/>
            </a:endParaRPr>
          </a:p>
        </p:txBody>
      </p:sp>
      <p:sp>
        <p:nvSpPr>
          <p:cNvPr id="85" name="object 85">
            <a:extLst>
              <a:ext uri="{FF2B5EF4-FFF2-40B4-BE49-F238E27FC236}">
                <a16:creationId xmlns:a16="http://schemas.microsoft.com/office/drawing/2014/main" id="{3352CB0A-1794-481E-883C-9341DE909940}"/>
              </a:ext>
            </a:extLst>
          </p:cNvPr>
          <p:cNvSpPr txBox="1"/>
          <p:nvPr/>
        </p:nvSpPr>
        <p:spPr>
          <a:xfrm>
            <a:off x="185738" y="2698750"/>
            <a:ext cx="139700" cy="330200"/>
          </a:xfrm>
          <a:prstGeom prst="rect">
            <a:avLst/>
          </a:prstGeom>
        </p:spPr>
        <p:txBody>
          <a:bodyPr lIns="0" tIns="0" rIns="0" bIns="0">
            <a:spAutoFit/>
          </a:bodyPr>
          <a:lstStyle/>
          <a:p>
            <a:pPr marL="12700" fontAlgn="auto">
              <a:spcBef>
                <a:spcPts val="0"/>
              </a:spcBef>
              <a:spcAft>
                <a:spcPts val="0"/>
              </a:spcAft>
              <a:defRPr/>
            </a:pPr>
            <a:r>
              <a:rPr sz="2400" spc="-10" dirty="0">
                <a:latin typeface="Trebuchet MS"/>
                <a:cs typeface="Trebuchet MS"/>
              </a:rPr>
              <a:t>f</a:t>
            </a:r>
            <a:endParaRPr sz="2400">
              <a:latin typeface="Trebuchet MS"/>
              <a:cs typeface="Trebuchet MS"/>
            </a:endParaRPr>
          </a:p>
        </p:txBody>
      </p:sp>
      <p:sp>
        <p:nvSpPr>
          <p:cNvPr id="6230" name="object 86">
            <a:extLst>
              <a:ext uri="{FF2B5EF4-FFF2-40B4-BE49-F238E27FC236}">
                <a16:creationId xmlns:a16="http://schemas.microsoft.com/office/drawing/2014/main" id="{94C29E09-48B4-45E3-BDDE-5513516DACF6}"/>
              </a:ext>
            </a:extLst>
          </p:cNvPr>
          <p:cNvSpPr txBox="1">
            <a:spLocks noChangeArrowheads="1"/>
          </p:cNvSpPr>
          <p:nvPr/>
        </p:nvSpPr>
        <p:spPr bwMode="auto">
          <a:xfrm>
            <a:off x="8693150" y="855663"/>
            <a:ext cx="1476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2400">
                <a:latin typeface="Trebuchet MS" panose="020B0603020202020204" pitchFamily="34" charset="0"/>
                <a:ea typeface="Trebuchet MS" panose="020B0603020202020204" pitchFamily="34" charset="0"/>
                <a:cs typeface="Trebuchet MS" panose="020B0603020202020204" pitchFamily="34" charset="0"/>
              </a:rPr>
              <a:t>t</a:t>
            </a:r>
          </a:p>
        </p:txBody>
      </p:sp>
      <p:sp>
        <p:nvSpPr>
          <p:cNvPr id="6231" name="object 87">
            <a:extLst>
              <a:ext uri="{FF2B5EF4-FFF2-40B4-BE49-F238E27FC236}">
                <a16:creationId xmlns:a16="http://schemas.microsoft.com/office/drawing/2014/main" id="{E12E71EB-6FEB-4F98-8E1E-2005D0DAE545}"/>
              </a:ext>
            </a:extLst>
          </p:cNvPr>
          <p:cNvSpPr>
            <a:spLocks/>
          </p:cNvSpPr>
          <p:nvPr/>
        </p:nvSpPr>
        <p:spPr bwMode="auto">
          <a:xfrm>
            <a:off x="6205538" y="1204913"/>
            <a:ext cx="1720850" cy="911225"/>
          </a:xfrm>
          <a:custGeom>
            <a:avLst/>
            <a:gdLst>
              <a:gd name="T0" fmla="*/ 0 w 1721484"/>
              <a:gd name="T1" fmla="*/ 912174 h 912494"/>
              <a:gd name="T2" fmla="*/ 1519976 w 1721484"/>
              <a:gd name="T3" fmla="*/ 0 h 912494"/>
              <a:gd name="T4" fmla="*/ 1721479 w 1721484"/>
              <a:gd name="T5" fmla="*/ 0 h 912494"/>
              <a:gd name="T6" fmla="*/ 201503 w 1721484"/>
              <a:gd name="T7" fmla="*/ 912174 h 912494"/>
              <a:gd name="T8" fmla="*/ 0 w 1721484"/>
              <a:gd name="T9" fmla="*/ 912174 h 912494"/>
            </a:gdLst>
            <a:ahLst/>
            <a:cxnLst>
              <a:cxn ang="0">
                <a:pos x="T0" y="T1"/>
              </a:cxn>
              <a:cxn ang="0">
                <a:pos x="T2" y="T3"/>
              </a:cxn>
              <a:cxn ang="0">
                <a:pos x="T4" y="T5"/>
              </a:cxn>
              <a:cxn ang="0">
                <a:pos x="T6" y="T7"/>
              </a:cxn>
              <a:cxn ang="0">
                <a:pos x="T8" y="T9"/>
              </a:cxn>
            </a:cxnLst>
            <a:rect l="0" t="0" r="r" b="b"/>
            <a:pathLst>
              <a:path w="1721484" h="912494">
                <a:moveTo>
                  <a:pt x="0" y="912174"/>
                </a:moveTo>
                <a:lnTo>
                  <a:pt x="1519976" y="0"/>
                </a:lnTo>
                <a:lnTo>
                  <a:pt x="1721479" y="0"/>
                </a:lnTo>
                <a:lnTo>
                  <a:pt x="201503" y="912174"/>
                </a:lnTo>
                <a:lnTo>
                  <a:pt x="0" y="912174"/>
                </a:lnTo>
                <a:close/>
              </a:path>
            </a:pathLst>
          </a:custGeom>
          <a:noFill/>
          <a:ln w="9524">
            <a:solidFill>
              <a:srgbClr val="CB615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88" name="object 88">
            <a:extLst>
              <a:ext uri="{FF2B5EF4-FFF2-40B4-BE49-F238E27FC236}">
                <a16:creationId xmlns:a16="http://schemas.microsoft.com/office/drawing/2014/main" id="{1FAFE963-B5E6-4692-8190-CDB0B9A73434}"/>
              </a:ext>
            </a:extLst>
          </p:cNvPr>
          <p:cNvSpPr txBox="1"/>
          <p:nvPr/>
        </p:nvSpPr>
        <p:spPr>
          <a:xfrm>
            <a:off x="2922588" y="2863850"/>
            <a:ext cx="344487" cy="398463"/>
          </a:xfrm>
          <a:prstGeom prst="rect">
            <a:avLst/>
          </a:prstGeom>
        </p:spPr>
        <p:txBody>
          <a:bodyPr lIns="0" tIns="0" rIns="0" bIns="0">
            <a:spAutoFit/>
          </a:bodyPr>
          <a:lstStyle/>
          <a:p>
            <a:pPr marL="12700" fontAlgn="auto">
              <a:spcBef>
                <a:spcPts val="0"/>
              </a:spcBef>
              <a:spcAft>
                <a:spcPts val="0"/>
              </a:spcAft>
              <a:defRPr/>
            </a:pPr>
            <a:r>
              <a:rPr sz="2700" spc="-15" baseline="-35493" dirty="0">
                <a:latin typeface="Calibri"/>
                <a:cs typeface="Calibri"/>
              </a:rPr>
              <a:t>0</a:t>
            </a:r>
            <a:r>
              <a:rPr sz="2700" spc="-15" baseline="-35493" dirty="0">
                <a:latin typeface="Times New Roman"/>
                <a:cs typeface="Times New Roman"/>
              </a:rPr>
              <a:t> </a:t>
            </a:r>
            <a:r>
              <a:rPr sz="2700" spc="-330" baseline="-35493" dirty="0">
                <a:latin typeface="Times New Roman"/>
                <a:cs typeface="Times New Roman"/>
              </a:rPr>
              <a:t> </a:t>
            </a:r>
            <a:r>
              <a:rPr spc="-10" dirty="0">
                <a:latin typeface="Calibri"/>
                <a:cs typeface="Calibri"/>
              </a:rPr>
              <a:t>1</a:t>
            </a:r>
            <a:endParaRPr>
              <a:latin typeface="Calibri"/>
              <a:cs typeface="Calibri"/>
            </a:endParaRPr>
          </a:p>
        </p:txBody>
      </p:sp>
      <p:sp>
        <p:nvSpPr>
          <p:cNvPr id="89" name="object 89">
            <a:extLst>
              <a:ext uri="{FF2B5EF4-FFF2-40B4-BE49-F238E27FC236}">
                <a16:creationId xmlns:a16="http://schemas.microsoft.com/office/drawing/2014/main" id="{B54D3A22-AB59-485D-8CEA-A9FCCE5CE156}"/>
              </a:ext>
            </a:extLst>
          </p:cNvPr>
          <p:cNvSpPr txBox="1"/>
          <p:nvPr/>
        </p:nvSpPr>
        <p:spPr>
          <a:xfrm>
            <a:off x="3354388" y="2638425"/>
            <a:ext cx="344487" cy="346075"/>
          </a:xfrm>
          <a:prstGeom prst="rect">
            <a:avLst/>
          </a:prstGeom>
        </p:spPr>
        <p:txBody>
          <a:bodyPr lIns="0" tIns="0" rIns="0" bIns="0">
            <a:spAutoFit/>
          </a:bodyPr>
          <a:lstStyle/>
          <a:p>
            <a:pPr marL="12700" fontAlgn="auto">
              <a:spcBef>
                <a:spcPts val="0"/>
              </a:spcBef>
              <a:spcAft>
                <a:spcPts val="0"/>
              </a:spcAft>
              <a:defRPr/>
            </a:pPr>
            <a:r>
              <a:rPr sz="2700" spc="-15" baseline="-23148" dirty="0">
                <a:latin typeface="Calibri"/>
                <a:cs typeface="Calibri"/>
              </a:rPr>
              <a:t>1</a:t>
            </a:r>
            <a:r>
              <a:rPr sz="2700" spc="-15" baseline="-23148" dirty="0">
                <a:latin typeface="Times New Roman"/>
                <a:cs typeface="Times New Roman"/>
              </a:rPr>
              <a:t> </a:t>
            </a:r>
            <a:r>
              <a:rPr sz="2700" spc="-330" baseline="-23148" dirty="0">
                <a:latin typeface="Times New Roman"/>
                <a:cs typeface="Times New Roman"/>
              </a:rPr>
              <a:t> </a:t>
            </a:r>
            <a:r>
              <a:rPr spc="-10" dirty="0">
                <a:latin typeface="Calibri"/>
                <a:cs typeface="Calibri"/>
              </a:rPr>
              <a:t>0</a:t>
            </a:r>
            <a:endParaRPr>
              <a:latin typeface="Calibri"/>
              <a:cs typeface="Calibri"/>
            </a:endParaRPr>
          </a:p>
        </p:txBody>
      </p:sp>
      <p:sp>
        <p:nvSpPr>
          <p:cNvPr id="90" name="object 90">
            <a:extLst>
              <a:ext uri="{FF2B5EF4-FFF2-40B4-BE49-F238E27FC236}">
                <a16:creationId xmlns:a16="http://schemas.microsoft.com/office/drawing/2014/main" id="{67FF8BFA-36D6-462A-97DD-F466233BBF54}"/>
              </a:ext>
            </a:extLst>
          </p:cNvPr>
          <p:cNvSpPr txBox="1"/>
          <p:nvPr/>
        </p:nvSpPr>
        <p:spPr>
          <a:xfrm>
            <a:off x="3773488" y="2360613"/>
            <a:ext cx="357187" cy="398462"/>
          </a:xfrm>
          <a:prstGeom prst="rect">
            <a:avLst/>
          </a:prstGeom>
        </p:spPr>
        <p:txBody>
          <a:bodyPr lIns="0" tIns="0" rIns="0" bIns="0">
            <a:spAutoFit/>
          </a:bodyPr>
          <a:lstStyle/>
          <a:p>
            <a:pPr marL="12700" fontAlgn="auto">
              <a:spcBef>
                <a:spcPts val="0"/>
              </a:spcBef>
              <a:spcAft>
                <a:spcPts val="0"/>
              </a:spcAft>
              <a:defRPr/>
            </a:pPr>
            <a:r>
              <a:rPr sz="2700" spc="-15" baseline="-35493" dirty="0">
                <a:latin typeface="Calibri"/>
                <a:cs typeface="Calibri"/>
              </a:rPr>
              <a:t>0</a:t>
            </a:r>
            <a:r>
              <a:rPr sz="2700" spc="-15" baseline="-35493" dirty="0">
                <a:latin typeface="Times New Roman"/>
                <a:cs typeface="Times New Roman"/>
              </a:rPr>
              <a:t> </a:t>
            </a:r>
            <a:r>
              <a:rPr sz="2700" spc="-172" baseline="-35493" dirty="0">
                <a:latin typeface="Times New Roman"/>
                <a:cs typeface="Times New Roman"/>
              </a:rPr>
              <a:t> </a:t>
            </a:r>
            <a:r>
              <a:rPr spc="-10" dirty="0">
                <a:latin typeface="Calibri"/>
                <a:cs typeface="Calibri"/>
              </a:rPr>
              <a:t>0</a:t>
            </a:r>
            <a:endParaRPr>
              <a:latin typeface="Calibri"/>
              <a:cs typeface="Calibri"/>
            </a:endParaRPr>
          </a:p>
        </p:txBody>
      </p:sp>
      <p:sp>
        <p:nvSpPr>
          <p:cNvPr id="91" name="object 91">
            <a:extLst>
              <a:ext uri="{FF2B5EF4-FFF2-40B4-BE49-F238E27FC236}">
                <a16:creationId xmlns:a16="http://schemas.microsoft.com/office/drawing/2014/main" id="{6B3A5B51-8554-48FD-B74F-7FC43423EE8D}"/>
              </a:ext>
            </a:extLst>
          </p:cNvPr>
          <p:cNvSpPr txBox="1"/>
          <p:nvPr/>
        </p:nvSpPr>
        <p:spPr>
          <a:xfrm>
            <a:off x="4214813" y="2227263"/>
            <a:ext cx="142875" cy="254000"/>
          </a:xfrm>
          <a:prstGeom prst="rect">
            <a:avLst/>
          </a:prstGeom>
        </p:spPr>
        <p:txBody>
          <a:bodyPr lIns="0" tIns="0" rIns="0" bIns="0">
            <a:spAutoFit/>
          </a:bodyPr>
          <a:lstStyle/>
          <a:p>
            <a:pPr marL="12700" fontAlgn="auto">
              <a:spcBef>
                <a:spcPts val="0"/>
              </a:spcBef>
              <a:spcAft>
                <a:spcPts val="0"/>
              </a:spcAft>
              <a:defRPr/>
            </a:pPr>
            <a:r>
              <a:rPr spc="-10" dirty="0">
                <a:latin typeface="Calibri"/>
                <a:cs typeface="Calibri"/>
              </a:rPr>
              <a:t>1</a:t>
            </a:r>
            <a:endParaRPr>
              <a:latin typeface="Calibri"/>
              <a:cs typeface="Calibri"/>
            </a:endParaRPr>
          </a:p>
        </p:txBody>
      </p:sp>
      <p:sp>
        <p:nvSpPr>
          <p:cNvPr id="92" name="object 92">
            <a:extLst>
              <a:ext uri="{FF2B5EF4-FFF2-40B4-BE49-F238E27FC236}">
                <a16:creationId xmlns:a16="http://schemas.microsoft.com/office/drawing/2014/main" id="{312B831A-AD90-4D25-8199-60347DF45739}"/>
              </a:ext>
            </a:extLst>
          </p:cNvPr>
          <p:cNvSpPr txBox="1"/>
          <p:nvPr/>
        </p:nvSpPr>
        <p:spPr>
          <a:xfrm>
            <a:off x="4805363" y="3049588"/>
            <a:ext cx="1138237" cy="276225"/>
          </a:xfrm>
          <a:prstGeom prst="rect">
            <a:avLst/>
          </a:prstGeom>
        </p:spPr>
        <p:txBody>
          <a:bodyPr lIns="0" tIns="0" rIns="0" bIns="0">
            <a:spAutoFit/>
          </a:bodyPr>
          <a:lstStyle/>
          <a:p>
            <a:pPr marL="12700" fontAlgn="auto">
              <a:spcBef>
                <a:spcPts val="0"/>
              </a:spcBef>
              <a:spcAft>
                <a:spcPts val="0"/>
              </a:spcAft>
              <a:tabLst>
                <a:tab pos="276225" algn="l"/>
                <a:tab pos="780415" algn="l"/>
              </a:tabLst>
              <a:defRPr/>
            </a:pPr>
            <a:r>
              <a:rPr sz="2700" spc="-15" baseline="3086" dirty="0">
                <a:latin typeface="Calibri"/>
                <a:cs typeface="Calibri"/>
              </a:rPr>
              <a:t>0</a:t>
            </a:r>
            <a:r>
              <a:rPr sz="2700" spc="-15" baseline="3086" dirty="0">
                <a:latin typeface="Times New Roman"/>
                <a:cs typeface="Times New Roman"/>
              </a:rPr>
              <a:t>	</a:t>
            </a:r>
            <a:r>
              <a:rPr sz="2700" spc="-15" baseline="3086" dirty="0">
                <a:latin typeface="Calibri"/>
                <a:cs typeface="Calibri"/>
              </a:rPr>
              <a:t>1</a:t>
            </a:r>
            <a:r>
              <a:rPr sz="2700" spc="-15" baseline="3086" dirty="0">
                <a:latin typeface="Times New Roman"/>
                <a:cs typeface="Times New Roman"/>
              </a:rPr>
              <a:t> </a:t>
            </a:r>
            <a:r>
              <a:rPr sz="2700" spc="112" baseline="3086" dirty="0">
                <a:latin typeface="Times New Roman"/>
                <a:cs typeface="Times New Roman"/>
              </a:rPr>
              <a:t> </a:t>
            </a:r>
            <a:r>
              <a:rPr spc="-10" dirty="0">
                <a:latin typeface="Calibri"/>
                <a:cs typeface="Calibri"/>
              </a:rPr>
              <a:t>1</a:t>
            </a:r>
            <a:r>
              <a:rPr dirty="0">
                <a:latin typeface="Times New Roman"/>
                <a:cs typeface="Times New Roman"/>
              </a:rPr>
              <a:t>	</a:t>
            </a:r>
            <a:r>
              <a:rPr sz="2700" spc="-15" baseline="3086" dirty="0">
                <a:latin typeface="Calibri"/>
                <a:cs typeface="Calibri"/>
              </a:rPr>
              <a:t>0</a:t>
            </a:r>
            <a:r>
              <a:rPr sz="2700" baseline="3086" dirty="0">
                <a:latin typeface="Times New Roman"/>
                <a:cs typeface="Times New Roman"/>
              </a:rPr>
              <a:t> </a:t>
            </a:r>
            <a:r>
              <a:rPr sz="2700" spc="-7" baseline="3086" dirty="0">
                <a:latin typeface="Times New Roman"/>
                <a:cs typeface="Times New Roman"/>
              </a:rPr>
              <a:t> </a:t>
            </a:r>
            <a:r>
              <a:rPr sz="2700" spc="-15" baseline="4629" dirty="0">
                <a:latin typeface="Calibri"/>
                <a:cs typeface="Calibri"/>
              </a:rPr>
              <a:t>0</a:t>
            </a:r>
            <a:endParaRPr sz="2700" baseline="4629">
              <a:latin typeface="Calibri"/>
              <a:cs typeface="Calibri"/>
            </a:endParaRPr>
          </a:p>
        </p:txBody>
      </p:sp>
      <p:sp>
        <p:nvSpPr>
          <p:cNvPr id="93" name="object 93">
            <a:extLst>
              <a:ext uri="{FF2B5EF4-FFF2-40B4-BE49-F238E27FC236}">
                <a16:creationId xmlns:a16="http://schemas.microsoft.com/office/drawing/2014/main" id="{1800186D-F98E-44A8-B51A-DA416ADFA956}"/>
              </a:ext>
            </a:extLst>
          </p:cNvPr>
          <p:cNvSpPr txBox="1"/>
          <p:nvPr/>
        </p:nvSpPr>
        <p:spPr>
          <a:xfrm>
            <a:off x="6067425" y="3008313"/>
            <a:ext cx="1058863" cy="306387"/>
          </a:xfrm>
          <a:prstGeom prst="rect">
            <a:avLst/>
          </a:prstGeom>
        </p:spPr>
        <p:txBody>
          <a:bodyPr lIns="0" tIns="0" rIns="0" bIns="0">
            <a:spAutoFit/>
          </a:bodyPr>
          <a:lstStyle/>
          <a:p>
            <a:pPr marL="12700" fontAlgn="auto">
              <a:spcBef>
                <a:spcPts val="0"/>
              </a:spcBef>
              <a:spcAft>
                <a:spcPts val="0"/>
              </a:spcAft>
              <a:defRPr/>
            </a:pPr>
            <a:r>
              <a:rPr sz="2700" spc="-15" baseline="-12345" dirty="0">
                <a:latin typeface="Calibri"/>
                <a:cs typeface="Calibri"/>
              </a:rPr>
              <a:t>0</a:t>
            </a:r>
            <a:r>
              <a:rPr sz="2700" spc="-15" baseline="-12345" dirty="0">
                <a:latin typeface="Times New Roman"/>
                <a:cs typeface="Times New Roman"/>
              </a:rPr>
              <a:t> </a:t>
            </a:r>
            <a:r>
              <a:rPr sz="2700" spc="-135" baseline="-12345" dirty="0">
                <a:latin typeface="Times New Roman"/>
                <a:cs typeface="Times New Roman"/>
              </a:rPr>
              <a:t> </a:t>
            </a:r>
            <a:r>
              <a:rPr sz="2700" spc="-15" baseline="-12345" dirty="0">
                <a:latin typeface="Calibri"/>
                <a:cs typeface="Calibri"/>
              </a:rPr>
              <a:t>1</a:t>
            </a:r>
            <a:r>
              <a:rPr sz="2700" spc="262" baseline="-12345" dirty="0">
                <a:latin typeface="Times New Roman"/>
                <a:cs typeface="Times New Roman"/>
              </a:rPr>
              <a:t> </a:t>
            </a:r>
            <a:r>
              <a:rPr spc="-5" dirty="0">
                <a:latin typeface="Calibri"/>
                <a:cs typeface="Calibri"/>
              </a:rPr>
              <a:t>…........</a:t>
            </a:r>
            <a:endParaRPr>
              <a:latin typeface="Calibri"/>
              <a:cs typeface="Calibri"/>
            </a:endParaRPr>
          </a:p>
        </p:txBody>
      </p:sp>
      <p:sp>
        <p:nvSpPr>
          <p:cNvPr id="2" name="Rectangle 1">
            <a:extLst>
              <a:ext uri="{FF2B5EF4-FFF2-40B4-BE49-F238E27FC236}">
                <a16:creationId xmlns:a16="http://schemas.microsoft.com/office/drawing/2014/main" id="{13716684-1C03-4183-A245-D6692B7A0DAF}"/>
              </a:ext>
            </a:extLst>
          </p:cNvPr>
          <p:cNvSpPr/>
          <p:nvPr/>
        </p:nvSpPr>
        <p:spPr>
          <a:xfrm>
            <a:off x="1338160" y="3351769"/>
            <a:ext cx="5707203" cy="369332"/>
          </a:xfrm>
          <a:prstGeom prst="rect">
            <a:avLst/>
          </a:prstGeom>
        </p:spPr>
        <p:txBody>
          <a:bodyPr wrap="none">
            <a:spAutoFit/>
          </a:bodyPr>
          <a:lstStyle/>
          <a:p>
            <a:r>
              <a:rPr lang="en-US" altLang="en-US" dirty="0">
                <a:cs typeface="Calibri" panose="020F0502020204030204" pitchFamily="34" charset="0"/>
              </a:rPr>
              <a:t>Wide‐band</a:t>
            </a:r>
            <a:r>
              <a:rPr lang="en-US" altLang="en-US" dirty="0">
                <a:latin typeface="Times New Roman" panose="02020603050405020304" pitchFamily="18" charset="0"/>
                <a:cs typeface="Times New Roman" panose="02020603050405020304" pitchFamily="18" charset="0"/>
              </a:rPr>
              <a:t>	                                               </a:t>
            </a:r>
            <a:r>
              <a:rPr lang="en-US" altLang="en-US" dirty="0">
                <a:cs typeface="Calibri" panose="020F0502020204030204" pitchFamily="34" charset="0"/>
              </a:rPr>
              <a:t>Narrow­‐band  </a:t>
            </a:r>
          </a:p>
        </p:txBody>
      </p:sp>
      <p:sp>
        <p:nvSpPr>
          <p:cNvPr id="4" name="TextBox 3">
            <a:extLst>
              <a:ext uri="{FF2B5EF4-FFF2-40B4-BE49-F238E27FC236}">
                <a16:creationId xmlns:a16="http://schemas.microsoft.com/office/drawing/2014/main" id="{EDBFBE44-3D1B-9179-90B0-9F13E81A41D9}"/>
              </a:ext>
            </a:extLst>
          </p:cNvPr>
          <p:cNvSpPr txBox="1"/>
          <p:nvPr/>
        </p:nvSpPr>
        <p:spPr>
          <a:xfrm>
            <a:off x="1782763" y="94371"/>
            <a:ext cx="5854782" cy="656590"/>
          </a:xfrm>
          <a:prstGeom prst="rect">
            <a:avLst/>
          </a:prstGeom>
          <a:noFill/>
        </p:spPr>
        <p:txBody>
          <a:bodyPr wrap="square">
            <a:spAutoFit/>
          </a:bodyPr>
          <a:lstStyle/>
          <a:p>
            <a:pPr algn="ctr">
              <a:lnSpc>
                <a:spcPts val="4438"/>
              </a:lnSpc>
            </a:pPr>
            <a:r>
              <a:rPr lang="en-US" altLang="en-US" sz="4000" b="1" dirty="0">
                <a:latin typeface="Trebuchet MS" panose="020B0603020202020204" pitchFamily="34" charset="0"/>
                <a:ea typeface="Trebuchet MS" panose="020B0603020202020204" pitchFamily="34" charset="0"/>
                <a:cs typeface="Trebuchet MS" panose="020B0603020202020204" pitchFamily="34" charset="0"/>
              </a:rPr>
              <a:t>Why</a:t>
            </a:r>
            <a:r>
              <a:rPr lang="en-US" altLang="en-US" sz="4000" b="1" dirty="0">
                <a:latin typeface="Times New Roman" panose="02020603050405020304" pitchFamily="18" charset="0"/>
                <a:cs typeface="Times New Roman" panose="02020603050405020304" pitchFamily="18" charset="0"/>
              </a:rPr>
              <a:t> </a:t>
            </a:r>
            <a:r>
              <a:rPr lang="en-US" altLang="en-US" sz="4000" b="1" dirty="0">
                <a:latin typeface="Trebuchet MS" panose="020B0603020202020204" pitchFamily="34" charset="0"/>
                <a:ea typeface="Trebuchet MS" panose="020B0603020202020204" pitchFamily="34" charset="0"/>
                <a:cs typeface="Trebuchet MS" panose="020B0603020202020204" pitchFamily="34" charset="0"/>
              </a:rPr>
              <a:t>OFDM</a:t>
            </a:r>
            <a:r>
              <a:rPr lang="en-US" altLang="en-US" sz="4000" b="1" dirty="0">
                <a:latin typeface="Times New Roman" panose="02020603050405020304" pitchFamily="18" charset="0"/>
                <a:cs typeface="Times New Roman" panose="02020603050405020304" pitchFamily="18" charset="0"/>
              </a:rPr>
              <a:t> </a:t>
            </a:r>
            <a:r>
              <a:rPr lang="en-US" altLang="en-US" sz="4000" b="1" dirty="0">
                <a:latin typeface="Trebuchet MS" panose="020B0603020202020204" pitchFamily="34" charset="0"/>
                <a:ea typeface="Trebuchet MS" panose="020B0603020202020204" pitchFamily="34" charset="0"/>
                <a:cs typeface="Trebuchet MS" panose="020B0603020202020204" pitchFamily="34" charset="0"/>
              </a:rPr>
              <a:t>is</a:t>
            </a:r>
            <a:r>
              <a:rPr lang="en-US" altLang="en-US" sz="4000" b="1" dirty="0">
                <a:latin typeface="Times New Roman" panose="02020603050405020304" pitchFamily="18" charset="0"/>
                <a:cs typeface="Times New Roman" panose="02020603050405020304" pitchFamily="18" charset="0"/>
              </a:rPr>
              <a:t> </a:t>
            </a:r>
            <a:r>
              <a:rPr lang="en-US" altLang="en-US" sz="4000" b="1" dirty="0">
                <a:latin typeface="Trebuchet MS" panose="020B0603020202020204" pitchFamily="34" charset="0"/>
                <a:ea typeface="Trebuchet MS" panose="020B0603020202020204" pitchFamily="34" charset="0"/>
                <a:cs typeface="Trebuchet MS" panose="020B0603020202020204" pitchFamily="34" charset="0"/>
              </a:rPr>
              <a:t>better?</a:t>
            </a:r>
            <a:endParaRPr lang="en-US" altLang="en-US" sz="4000" dirty="0">
              <a:latin typeface="Trebuchet MS" panose="020B0603020202020204" pitchFamily="34" charset="0"/>
              <a:ea typeface="Trebuchet MS" panose="020B0603020202020204" pitchFamily="34" charset="0"/>
              <a:cs typeface="Trebuchet MS" panose="020B0603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ED8ECF-79E8-433A-869D-02A09711E823}"/>
              </a:ext>
            </a:extLst>
          </p:cNvPr>
          <p:cNvPicPr>
            <a:picLocks noChangeAspect="1"/>
          </p:cNvPicPr>
          <p:nvPr/>
        </p:nvPicPr>
        <p:blipFill>
          <a:blip r:embed="rId3"/>
          <a:stretch>
            <a:fillRect/>
          </a:stretch>
        </p:blipFill>
        <p:spPr>
          <a:xfrm>
            <a:off x="192264" y="0"/>
            <a:ext cx="9047868" cy="3513957"/>
          </a:xfrm>
          <a:prstGeom prst="rect">
            <a:avLst/>
          </a:prstGeom>
        </p:spPr>
      </p:pic>
      <p:pic>
        <p:nvPicPr>
          <p:cNvPr id="6" name="Picture 5">
            <a:extLst>
              <a:ext uri="{FF2B5EF4-FFF2-40B4-BE49-F238E27FC236}">
                <a16:creationId xmlns:a16="http://schemas.microsoft.com/office/drawing/2014/main" id="{BAAFA6C7-5CBD-43F9-A080-F9BC5F1170BC}"/>
              </a:ext>
            </a:extLst>
          </p:cNvPr>
          <p:cNvPicPr>
            <a:picLocks noChangeAspect="1"/>
          </p:cNvPicPr>
          <p:nvPr/>
        </p:nvPicPr>
        <p:blipFill>
          <a:blip r:embed="rId4"/>
          <a:stretch>
            <a:fillRect/>
          </a:stretch>
        </p:blipFill>
        <p:spPr>
          <a:xfrm>
            <a:off x="0" y="3421171"/>
            <a:ext cx="9240132" cy="3436829"/>
          </a:xfrm>
          <a:prstGeom prst="rect">
            <a:avLst/>
          </a:prstGeom>
        </p:spPr>
      </p:pic>
      <p:sp>
        <p:nvSpPr>
          <p:cNvPr id="5" name="TextBox 4">
            <a:extLst>
              <a:ext uri="{FF2B5EF4-FFF2-40B4-BE49-F238E27FC236}">
                <a16:creationId xmlns:a16="http://schemas.microsoft.com/office/drawing/2014/main" id="{A892F749-A650-0392-F235-A7FF1D2804AD}"/>
              </a:ext>
            </a:extLst>
          </p:cNvPr>
          <p:cNvSpPr txBox="1"/>
          <p:nvPr/>
        </p:nvSpPr>
        <p:spPr>
          <a:xfrm>
            <a:off x="1411606" y="3421171"/>
            <a:ext cx="6817994" cy="584775"/>
          </a:xfrm>
          <a:prstGeom prst="rect">
            <a:avLst/>
          </a:prstGeom>
          <a:noFill/>
        </p:spPr>
        <p:txBody>
          <a:bodyPr wrap="square">
            <a:spAutoFit/>
          </a:bodyPr>
          <a:lstStyle/>
          <a:p>
            <a:pPr algn="ctr"/>
            <a:r>
              <a:rPr lang="en-US" sz="3200" b="1" dirty="0"/>
              <a:t>Frequency Domain vs Time Domain</a:t>
            </a:r>
            <a:endParaRPr lang="en-US" sz="3200" dirty="0"/>
          </a:p>
        </p:txBody>
      </p:sp>
    </p:spTree>
    <p:extLst>
      <p:ext uri="{BB962C8B-B14F-4D97-AF65-F5344CB8AC3E}">
        <p14:creationId xmlns:p14="http://schemas.microsoft.com/office/powerpoint/2010/main" val="364286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4975811-BD2A-4AFC-A9B3-4F5D813A96F4}"/>
              </a:ext>
            </a:extLst>
          </p:cNvPr>
          <p:cNvSpPr txBox="1">
            <a:spLocks noGrp="1"/>
          </p:cNvSpPr>
          <p:nvPr>
            <p:ph type="title"/>
          </p:nvPr>
        </p:nvSpPr>
        <p:spPr>
          <a:xfrm>
            <a:off x="511919" y="0"/>
            <a:ext cx="7886700" cy="1325563"/>
          </a:xfrm>
        </p:spPr>
        <p:txBody>
          <a:bodyPr rtlCol="0">
            <a:normAutofit/>
          </a:bodyPr>
          <a:lstStyle/>
          <a:p>
            <a:pPr marL="494665" eaLnBrk="1" fontAlgn="auto" hangingPunct="1">
              <a:spcBef>
                <a:spcPts val="0"/>
              </a:spcBef>
              <a:spcAft>
                <a:spcPts val="0"/>
              </a:spcAft>
              <a:defRPr/>
            </a:pPr>
            <a:r>
              <a:rPr sz="3600" b="1" spc="-5" dirty="0">
                <a:latin typeface="Abadi" panose="020B0604020104020204" pitchFamily="34" charset="0"/>
              </a:rPr>
              <a:t>OFD</a:t>
            </a:r>
            <a:r>
              <a:rPr sz="3600" b="1" dirty="0">
                <a:latin typeface="Abadi" panose="020B0604020104020204" pitchFamily="34" charset="0"/>
              </a:rPr>
              <a:t>M</a:t>
            </a:r>
            <a:r>
              <a:rPr sz="3600" b="1" spc="130" dirty="0">
                <a:latin typeface="Abadi" panose="020B0604020104020204" pitchFamily="34" charset="0"/>
                <a:cs typeface="Times New Roman"/>
              </a:rPr>
              <a:t> </a:t>
            </a:r>
            <a:r>
              <a:rPr sz="3600" b="1" spc="-440" dirty="0">
                <a:latin typeface="Abadi" panose="020B0604020104020204" pitchFamily="34" charset="0"/>
              </a:rPr>
              <a:t>T</a:t>
            </a:r>
            <a:r>
              <a:rPr sz="3600" b="1" spc="-125" dirty="0">
                <a:latin typeface="Abadi" panose="020B0604020104020204" pitchFamily="34" charset="0"/>
              </a:rPr>
              <a:t>r</a:t>
            </a:r>
            <a:r>
              <a:rPr sz="3600" b="1" dirty="0">
                <a:latin typeface="Abadi" panose="020B0604020104020204" pitchFamily="34" charset="0"/>
              </a:rPr>
              <a:t>ansmitter</a:t>
            </a:r>
            <a:r>
              <a:rPr sz="3600" b="1" spc="180" dirty="0">
                <a:latin typeface="Abadi" panose="020B0604020104020204" pitchFamily="34" charset="0"/>
                <a:cs typeface="Times New Roman"/>
              </a:rPr>
              <a:t> </a:t>
            </a:r>
            <a:r>
              <a:rPr sz="4000" b="1" spc="-25" dirty="0">
                <a:latin typeface="Abadi" panose="020B0604020104020204" pitchFamily="34" charset="0"/>
              </a:rPr>
              <a:t>and</a:t>
            </a:r>
            <a:r>
              <a:rPr sz="3600" b="1" spc="200" dirty="0">
                <a:latin typeface="Abadi" panose="020B0604020104020204" pitchFamily="34" charset="0"/>
                <a:cs typeface="Times New Roman"/>
              </a:rPr>
              <a:t> </a:t>
            </a:r>
            <a:r>
              <a:rPr sz="3600" b="1" spc="-25" dirty="0">
                <a:latin typeface="Abadi" panose="020B0604020104020204" pitchFamily="34" charset="0"/>
              </a:rPr>
              <a:t>Receiver</a:t>
            </a:r>
          </a:p>
        </p:txBody>
      </p:sp>
      <p:sp>
        <p:nvSpPr>
          <p:cNvPr id="10243" name="object 3">
            <a:extLst>
              <a:ext uri="{FF2B5EF4-FFF2-40B4-BE49-F238E27FC236}">
                <a16:creationId xmlns:a16="http://schemas.microsoft.com/office/drawing/2014/main" id="{CC5644CC-4E26-45D4-B852-B99AEE621E33}"/>
              </a:ext>
            </a:extLst>
          </p:cNvPr>
          <p:cNvSpPr>
            <a:spLocks noChangeArrowheads="1"/>
          </p:cNvSpPr>
          <p:nvPr/>
        </p:nvSpPr>
        <p:spPr bwMode="auto">
          <a:xfrm>
            <a:off x="843122" y="1325563"/>
            <a:ext cx="7454900" cy="2415175"/>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10244" name="object 4">
            <a:extLst>
              <a:ext uri="{FF2B5EF4-FFF2-40B4-BE49-F238E27FC236}">
                <a16:creationId xmlns:a16="http://schemas.microsoft.com/office/drawing/2014/main" id="{476D6A5E-8E4D-4B89-AF38-F0E9B582CD3D}"/>
              </a:ext>
            </a:extLst>
          </p:cNvPr>
          <p:cNvSpPr>
            <a:spLocks noChangeArrowheads="1"/>
          </p:cNvSpPr>
          <p:nvPr/>
        </p:nvSpPr>
        <p:spPr bwMode="auto">
          <a:xfrm>
            <a:off x="914348" y="3783254"/>
            <a:ext cx="7312448" cy="231448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nimBg="1"/>
      <p:bldP spid="1024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77000A0-7EF1-42E1-B33C-A7C356C843BE}"/>
              </a:ext>
            </a:extLst>
          </p:cNvPr>
          <p:cNvSpPr txBox="1">
            <a:spLocks noGrp="1"/>
          </p:cNvSpPr>
          <p:nvPr>
            <p:ph type="title"/>
          </p:nvPr>
        </p:nvSpPr>
        <p:spPr>
          <a:xfrm>
            <a:off x="595313" y="112712"/>
            <a:ext cx="7886700" cy="969963"/>
          </a:xfrm>
        </p:spPr>
        <p:txBody>
          <a:bodyPr rtlCol="0">
            <a:normAutofit/>
          </a:bodyPr>
          <a:lstStyle/>
          <a:p>
            <a:pPr marL="2535555" eaLnBrk="1" fontAlgn="auto" hangingPunct="1">
              <a:lnSpc>
                <a:spcPts val="4765"/>
              </a:lnSpc>
              <a:spcBef>
                <a:spcPts val="0"/>
              </a:spcBef>
              <a:spcAft>
                <a:spcPts val="0"/>
              </a:spcAft>
              <a:defRPr/>
            </a:pPr>
            <a:r>
              <a:rPr dirty="0">
                <a:solidFill>
                  <a:schemeClr val="tx1"/>
                </a:solidFill>
              </a:rPr>
              <a:t>OF</a:t>
            </a:r>
            <a:r>
              <a:rPr spc="-30" dirty="0">
                <a:solidFill>
                  <a:schemeClr val="tx1"/>
                </a:solidFill>
              </a:rPr>
              <a:t>DM</a:t>
            </a:r>
            <a:r>
              <a:rPr spc="204" dirty="0">
                <a:solidFill>
                  <a:schemeClr val="tx1"/>
                </a:solidFill>
                <a:latin typeface="Times New Roman"/>
                <a:cs typeface="Times New Roman"/>
              </a:rPr>
              <a:t> </a:t>
            </a:r>
            <a:r>
              <a:rPr spc="-30" dirty="0">
                <a:solidFill>
                  <a:schemeClr val="tx1"/>
                </a:solidFill>
              </a:rPr>
              <a:t>D</a:t>
            </a:r>
            <a:r>
              <a:rPr spc="-5" dirty="0">
                <a:solidFill>
                  <a:schemeClr val="tx1"/>
                </a:solidFill>
              </a:rPr>
              <a:t>i</a:t>
            </a:r>
            <a:r>
              <a:rPr spc="-25" dirty="0">
                <a:solidFill>
                  <a:schemeClr val="tx1"/>
                </a:solidFill>
              </a:rPr>
              <a:t>ag</a:t>
            </a:r>
            <a:r>
              <a:rPr spc="-130" dirty="0">
                <a:solidFill>
                  <a:schemeClr val="tx1"/>
                </a:solidFill>
              </a:rPr>
              <a:t>r</a:t>
            </a:r>
            <a:r>
              <a:rPr spc="-25" dirty="0">
                <a:solidFill>
                  <a:schemeClr val="tx1"/>
                </a:solidFill>
              </a:rPr>
              <a:t>a</a:t>
            </a:r>
            <a:r>
              <a:rPr dirty="0">
                <a:solidFill>
                  <a:schemeClr val="tx1"/>
                </a:solidFill>
              </a:rPr>
              <a:t>m</a:t>
            </a:r>
          </a:p>
        </p:txBody>
      </p:sp>
      <p:grpSp>
        <p:nvGrpSpPr>
          <p:cNvPr id="3" name="Group 2">
            <a:extLst>
              <a:ext uri="{FF2B5EF4-FFF2-40B4-BE49-F238E27FC236}">
                <a16:creationId xmlns:a16="http://schemas.microsoft.com/office/drawing/2014/main" id="{FE1DD6C6-8ACB-7557-FD0C-CBF7ECBD03C3}"/>
              </a:ext>
            </a:extLst>
          </p:cNvPr>
          <p:cNvGrpSpPr/>
          <p:nvPr/>
        </p:nvGrpSpPr>
        <p:grpSpPr>
          <a:xfrm>
            <a:off x="817593" y="1189553"/>
            <a:ext cx="7886700" cy="5299899"/>
            <a:chOff x="1063625" y="1228725"/>
            <a:chExt cx="7418388" cy="4997450"/>
          </a:xfrm>
        </p:grpSpPr>
        <p:sp>
          <p:nvSpPr>
            <p:cNvPr id="22531" name="object 3">
              <a:extLst>
                <a:ext uri="{FF2B5EF4-FFF2-40B4-BE49-F238E27FC236}">
                  <a16:creationId xmlns:a16="http://schemas.microsoft.com/office/drawing/2014/main" id="{C62387F4-DF65-4389-8249-87287B1AFBD0}"/>
                </a:ext>
              </a:extLst>
            </p:cNvPr>
            <p:cNvSpPr>
              <a:spLocks/>
            </p:cNvSpPr>
            <p:nvPr/>
          </p:nvSpPr>
          <p:spPr bwMode="auto">
            <a:xfrm>
              <a:off x="1187450" y="2298700"/>
              <a:ext cx="479425" cy="0"/>
            </a:xfrm>
            <a:custGeom>
              <a:avLst/>
              <a:gdLst>
                <a:gd name="T0" fmla="*/ 0 w 479425"/>
                <a:gd name="T1" fmla="*/ 478819 w 479425"/>
              </a:gdLst>
              <a:ahLst/>
              <a:cxnLst>
                <a:cxn ang="0">
                  <a:pos x="T0" y="0"/>
                </a:cxn>
                <a:cxn ang="0">
                  <a:pos x="T1" y="0"/>
                </a:cxn>
              </a:cxnLst>
              <a:rect l="0" t="0" r="r" b="b"/>
              <a:pathLst>
                <a:path w="479425">
                  <a:moveTo>
                    <a:pt x="0" y="0"/>
                  </a:moveTo>
                  <a:lnTo>
                    <a:pt x="478819"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32" name="object 4">
              <a:extLst>
                <a:ext uri="{FF2B5EF4-FFF2-40B4-BE49-F238E27FC236}">
                  <a16:creationId xmlns:a16="http://schemas.microsoft.com/office/drawing/2014/main" id="{C7FA0A98-9ADD-473F-A2E0-4AA73DF3E871}"/>
                </a:ext>
              </a:extLst>
            </p:cNvPr>
            <p:cNvSpPr>
              <a:spLocks/>
            </p:cNvSpPr>
            <p:nvPr/>
          </p:nvSpPr>
          <p:spPr bwMode="auto">
            <a:xfrm>
              <a:off x="1576388" y="2239963"/>
              <a:ext cx="115887" cy="119062"/>
            </a:xfrm>
            <a:custGeom>
              <a:avLst/>
              <a:gdLst>
                <a:gd name="T0" fmla="*/ 14846 w 116205"/>
                <a:gd name="T1" fmla="*/ 0 h 118110"/>
                <a:gd name="T2" fmla="*/ 7071 w 116205"/>
                <a:gd name="T3" fmla="*/ 2072 h 118110"/>
                <a:gd name="T4" fmla="*/ 0 w 116205"/>
                <a:gd name="T5" fmla="*/ 14173 h 118110"/>
                <a:gd name="T6" fmla="*/ 2045 w 116205"/>
                <a:gd name="T7" fmla="*/ 21945 h 118110"/>
                <a:gd name="T8" fmla="*/ 65495 w 116205"/>
                <a:gd name="T9" fmla="*/ 58978 h 118110"/>
                <a:gd name="T10" fmla="*/ 2045 w 116205"/>
                <a:gd name="T11" fmla="*/ 95981 h 118110"/>
                <a:gd name="T12" fmla="*/ 0 w 116205"/>
                <a:gd name="T13" fmla="*/ 103753 h 118110"/>
                <a:gd name="T14" fmla="*/ 7071 w 116205"/>
                <a:gd name="T15" fmla="*/ 115884 h 118110"/>
                <a:gd name="T16" fmla="*/ 14846 w 116205"/>
                <a:gd name="T17" fmla="*/ 117927 h 118110"/>
                <a:gd name="T18" fmla="*/ 115906 w 116205"/>
                <a:gd name="T19" fmla="*/ 58978 h 118110"/>
                <a:gd name="T20" fmla="*/ 14846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4846" y="0"/>
                  </a:moveTo>
                  <a:lnTo>
                    <a:pt x="7071" y="2072"/>
                  </a:lnTo>
                  <a:lnTo>
                    <a:pt x="0" y="14173"/>
                  </a:lnTo>
                  <a:lnTo>
                    <a:pt x="2045" y="21945"/>
                  </a:lnTo>
                  <a:lnTo>
                    <a:pt x="65495" y="58978"/>
                  </a:lnTo>
                  <a:lnTo>
                    <a:pt x="2045" y="95981"/>
                  </a:lnTo>
                  <a:lnTo>
                    <a:pt x="0" y="103753"/>
                  </a:lnTo>
                  <a:lnTo>
                    <a:pt x="7071" y="115884"/>
                  </a:lnTo>
                  <a:lnTo>
                    <a:pt x="14846" y="117927"/>
                  </a:lnTo>
                  <a:lnTo>
                    <a:pt x="115906" y="58978"/>
                  </a:lnTo>
                  <a:lnTo>
                    <a:pt x="1484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33" name="object 5">
              <a:extLst>
                <a:ext uri="{FF2B5EF4-FFF2-40B4-BE49-F238E27FC236}">
                  <a16:creationId xmlns:a16="http://schemas.microsoft.com/office/drawing/2014/main" id="{F81961AB-F652-49F9-A4CF-622F7BE1EA37}"/>
                </a:ext>
              </a:extLst>
            </p:cNvPr>
            <p:cNvSpPr>
              <a:spLocks/>
            </p:cNvSpPr>
            <p:nvPr/>
          </p:nvSpPr>
          <p:spPr bwMode="auto">
            <a:xfrm>
              <a:off x="1692275" y="1636713"/>
              <a:ext cx="368300" cy="1323975"/>
            </a:xfrm>
            <a:custGeom>
              <a:avLst/>
              <a:gdLst>
                <a:gd name="T0" fmla="*/ 0 w 369569"/>
                <a:gd name="T1" fmla="*/ 1323725 h 1323975"/>
                <a:gd name="T2" fmla="*/ 369332 w 369569"/>
                <a:gd name="T3" fmla="*/ 1323725 h 1323975"/>
                <a:gd name="T4" fmla="*/ 369332 w 369569"/>
                <a:gd name="T5" fmla="*/ 0 h 1323975"/>
                <a:gd name="T6" fmla="*/ 0 w 369569"/>
                <a:gd name="T7" fmla="*/ 0 h 1323975"/>
                <a:gd name="T8" fmla="*/ 0 w 369569"/>
                <a:gd name="T9" fmla="*/ 1323725 h 1323975"/>
              </a:gdLst>
              <a:ahLst/>
              <a:cxnLst>
                <a:cxn ang="0">
                  <a:pos x="T0" y="T1"/>
                </a:cxn>
                <a:cxn ang="0">
                  <a:pos x="T2" y="T3"/>
                </a:cxn>
                <a:cxn ang="0">
                  <a:pos x="T4" y="T5"/>
                </a:cxn>
                <a:cxn ang="0">
                  <a:pos x="T6" y="T7"/>
                </a:cxn>
                <a:cxn ang="0">
                  <a:pos x="T8" y="T9"/>
                </a:cxn>
              </a:cxnLst>
              <a:rect l="0" t="0" r="r" b="b"/>
              <a:pathLst>
                <a:path w="369569" h="1323975">
                  <a:moveTo>
                    <a:pt x="0" y="1323725"/>
                  </a:moveTo>
                  <a:lnTo>
                    <a:pt x="369332" y="1323725"/>
                  </a:lnTo>
                  <a:lnTo>
                    <a:pt x="369332" y="0"/>
                  </a:lnTo>
                  <a:lnTo>
                    <a:pt x="0" y="0"/>
                  </a:lnTo>
                  <a:lnTo>
                    <a:pt x="0" y="1323725"/>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 name="object 6">
              <a:extLst>
                <a:ext uri="{FF2B5EF4-FFF2-40B4-BE49-F238E27FC236}">
                  <a16:creationId xmlns:a16="http://schemas.microsoft.com/office/drawing/2014/main" id="{B90FAE30-858E-42C9-B02E-24F70CE8F20B}"/>
                </a:ext>
              </a:extLst>
            </p:cNvPr>
            <p:cNvSpPr txBox="1"/>
            <p:nvPr/>
          </p:nvSpPr>
          <p:spPr>
            <a:xfrm>
              <a:off x="1768439" y="1728849"/>
              <a:ext cx="254000" cy="1153795"/>
            </a:xfrm>
            <a:prstGeom prst="rect">
              <a:avLst/>
            </a:prstGeom>
          </p:spPr>
          <p:txBody>
            <a:bodyPr vert="vert270" lIns="0" tIns="0" rIns="0" bIns="0">
              <a:spAutoFit/>
            </a:bodyPr>
            <a:lstStyle/>
            <a:p>
              <a:pPr marL="12700" fontAlgn="auto">
                <a:spcBef>
                  <a:spcPts val="0"/>
                </a:spcBef>
                <a:spcAft>
                  <a:spcPts val="0"/>
                </a:spcAft>
                <a:defRPr/>
              </a:pPr>
              <a:r>
                <a:rPr dirty="0">
                  <a:latin typeface="Trebuchet MS"/>
                  <a:cs typeface="Trebuchet MS"/>
                </a:rPr>
                <a:t>M</a:t>
              </a:r>
              <a:r>
                <a:rPr spc="-5" dirty="0">
                  <a:latin typeface="Trebuchet MS"/>
                  <a:cs typeface="Trebuchet MS"/>
                </a:rPr>
                <a:t>o</a:t>
              </a:r>
              <a:r>
                <a:rPr dirty="0">
                  <a:latin typeface="Trebuchet MS"/>
                  <a:cs typeface="Trebuchet MS"/>
                </a:rPr>
                <a:t>du</a:t>
              </a:r>
              <a:r>
                <a:rPr spc="-5" dirty="0">
                  <a:latin typeface="Trebuchet MS"/>
                  <a:cs typeface="Trebuchet MS"/>
                </a:rPr>
                <a:t>l</a:t>
              </a:r>
              <a:r>
                <a:rPr dirty="0">
                  <a:latin typeface="Trebuchet MS"/>
                  <a:cs typeface="Trebuchet MS"/>
                </a:rPr>
                <a:t>ation</a:t>
              </a:r>
              <a:endParaRPr>
                <a:latin typeface="Trebuchet MS"/>
                <a:cs typeface="Trebuchet MS"/>
              </a:endParaRPr>
            </a:p>
          </p:txBody>
        </p:sp>
        <p:sp>
          <p:nvSpPr>
            <p:cNvPr id="22535" name="object 7">
              <a:extLst>
                <a:ext uri="{FF2B5EF4-FFF2-40B4-BE49-F238E27FC236}">
                  <a16:creationId xmlns:a16="http://schemas.microsoft.com/office/drawing/2014/main" id="{54622430-8E04-4D8F-B2DB-1CE00362E2E1}"/>
                </a:ext>
              </a:extLst>
            </p:cNvPr>
            <p:cNvSpPr>
              <a:spLocks/>
            </p:cNvSpPr>
            <p:nvPr/>
          </p:nvSpPr>
          <p:spPr bwMode="auto">
            <a:xfrm>
              <a:off x="2411413" y="1636713"/>
              <a:ext cx="541337" cy="1319212"/>
            </a:xfrm>
            <a:custGeom>
              <a:avLst/>
              <a:gdLst>
                <a:gd name="T0" fmla="*/ 0 w 541655"/>
                <a:gd name="T1" fmla="*/ 1318522 h 1318895"/>
                <a:gd name="T2" fmla="*/ 541294 w 541655"/>
                <a:gd name="T3" fmla="*/ 1318522 h 1318895"/>
                <a:gd name="T4" fmla="*/ 541294 w 541655"/>
                <a:gd name="T5" fmla="*/ 0 h 1318895"/>
                <a:gd name="T6" fmla="*/ 0 w 541655"/>
                <a:gd name="T7" fmla="*/ 0 h 1318895"/>
                <a:gd name="T8" fmla="*/ 0 w 541655"/>
                <a:gd name="T9" fmla="*/ 1318522 h 1318895"/>
              </a:gdLst>
              <a:ahLst/>
              <a:cxnLst>
                <a:cxn ang="0">
                  <a:pos x="T0" y="T1"/>
                </a:cxn>
                <a:cxn ang="0">
                  <a:pos x="T2" y="T3"/>
                </a:cxn>
                <a:cxn ang="0">
                  <a:pos x="T4" y="T5"/>
                </a:cxn>
                <a:cxn ang="0">
                  <a:pos x="T6" y="T7"/>
                </a:cxn>
                <a:cxn ang="0">
                  <a:pos x="T8" y="T9"/>
                </a:cxn>
              </a:cxnLst>
              <a:rect l="0" t="0" r="r" b="b"/>
              <a:pathLst>
                <a:path w="541655" h="1318895">
                  <a:moveTo>
                    <a:pt x="0" y="1318522"/>
                  </a:moveTo>
                  <a:lnTo>
                    <a:pt x="541294" y="1318522"/>
                  </a:lnTo>
                  <a:lnTo>
                    <a:pt x="541294"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8" name="object 8">
              <a:extLst>
                <a:ext uri="{FF2B5EF4-FFF2-40B4-BE49-F238E27FC236}">
                  <a16:creationId xmlns:a16="http://schemas.microsoft.com/office/drawing/2014/main" id="{923E82CE-9EA1-49FC-AD06-90617731D9C1}"/>
                </a:ext>
              </a:extLst>
            </p:cNvPr>
            <p:cNvSpPr txBox="1"/>
            <p:nvPr/>
          </p:nvSpPr>
          <p:spPr>
            <a:xfrm>
              <a:off x="2490788" y="2190750"/>
              <a:ext cx="382587" cy="254000"/>
            </a:xfrm>
            <a:prstGeom prst="rect">
              <a:avLst/>
            </a:prstGeom>
          </p:spPr>
          <p:txBody>
            <a:bodyPr lIns="0" tIns="0" rIns="0" bIns="0">
              <a:spAutoFit/>
            </a:bodyPr>
            <a:lstStyle/>
            <a:p>
              <a:pPr marL="12700" fontAlgn="auto">
                <a:spcBef>
                  <a:spcPts val="0"/>
                </a:spcBef>
                <a:spcAft>
                  <a:spcPts val="0"/>
                </a:spcAft>
                <a:defRPr/>
              </a:pPr>
              <a:r>
                <a:rPr dirty="0">
                  <a:latin typeface="Trebuchet MS"/>
                  <a:cs typeface="Trebuchet MS"/>
                </a:rPr>
                <a:t>S/</a:t>
              </a:r>
              <a:r>
                <a:rPr spc="-10" dirty="0">
                  <a:latin typeface="Trebuchet MS"/>
                  <a:cs typeface="Trebuchet MS"/>
                </a:rPr>
                <a:t>P</a:t>
              </a:r>
              <a:endParaRPr>
                <a:latin typeface="Trebuchet MS"/>
                <a:cs typeface="Trebuchet MS"/>
              </a:endParaRPr>
            </a:p>
          </p:txBody>
        </p:sp>
        <p:sp>
          <p:nvSpPr>
            <p:cNvPr id="22537" name="object 9">
              <a:extLst>
                <a:ext uri="{FF2B5EF4-FFF2-40B4-BE49-F238E27FC236}">
                  <a16:creationId xmlns:a16="http://schemas.microsoft.com/office/drawing/2014/main" id="{663FCFCF-AB1F-4E98-97B8-BD15B8A4D4D1}"/>
                </a:ext>
              </a:extLst>
            </p:cNvPr>
            <p:cNvSpPr>
              <a:spLocks/>
            </p:cNvSpPr>
            <p:nvPr/>
          </p:nvSpPr>
          <p:spPr bwMode="auto">
            <a:xfrm>
              <a:off x="2060575" y="2297113"/>
              <a:ext cx="325438" cy="3175"/>
            </a:xfrm>
            <a:custGeom>
              <a:avLst/>
              <a:gdLst>
                <a:gd name="T0" fmla="*/ 0 w 325755"/>
                <a:gd name="T1" fmla="*/ 2225 h 2539"/>
                <a:gd name="T2" fmla="*/ 325636 w 325755"/>
                <a:gd name="T3" fmla="*/ 0 h 2539"/>
              </a:gdLst>
              <a:ahLst/>
              <a:cxnLst>
                <a:cxn ang="0">
                  <a:pos x="T0" y="T1"/>
                </a:cxn>
                <a:cxn ang="0">
                  <a:pos x="T2" y="T3"/>
                </a:cxn>
              </a:cxnLst>
              <a:rect l="0" t="0" r="r" b="b"/>
              <a:pathLst>
                <a:path w="325755" h="2539">
                  <a:moveTo>
                    <a:pt x="0" y="2225"/>
                  </a:moveTo>
                  <a:lnTo>
                    <a:pt x="325636"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38" name="object 10">
              <a:extLst>
                <a:ext uri="{FF2B5EF4-FFF2-40B4-BE49-F238E27FC236}">
                  <a16:creationId xmlns:a16="http://schemas.microsoft.com/office/drawing/2014/main" id="{0173B513-8154-455C-8A2E-198E1AEF865B}"/>
                </a:ext>
              </a:extLst>
            </p:cNvPr>
            <p:cNvSpPr>
              <a:spLocks/>
            </p:cNvSpPr>
            <p:nvPr/>
          </p:nvSpPr>
          <p:spPr bwMode="auto">
            <a:xfrm>
              <a:off x="2295525" y="2238375"/>
              <a:ext cx="115888" cy="119063"/>
            </a:xfrm>
            <a:custGeom>
              <a:avLst/>
              <a:gdLst>
                <a:gd name="T0" fmla="*/ 14740 w 116205"/>
                <a:gd name="T1" fmla="*/ 0 h 118110"/>
                <a:gd name="T2" fmla="*/ 6976 w 116205"/>
                <a:gd name="T3" fmla="*/ 2103 h 118110"/>
                <a:gd name="T4" fmla="*/ 0 w 116205"/>
                <a:gd name="T5" fmla="*/ 14264 h 118110"/>
                <a:gd name="T6" fmla="*/ 2097 w 116205"/>
                <a:gd name="T7" fmla="*/ 22037 h 118110"/>
                <a:gd name="T8" fmla="*/ 65794 w 116205"/>
                <a:gd name="T9" fmla="*/ 58613 h 118110"/>
                <a:gd name="T10" fmla="*/ 2596 w 116205"/>
                <a:gd name="T11" fmla="*/ 96042 h 118110"/>
                <a:gd name="T12" fmla="*/ 606 w 116205"/>
                <a:gd name="T13" fmla="*/ 103845 h 118110"/>
                <a:gd name="T14" fmla="*/ 7751 w 116205"/>
                <a:gd name="T15" fmla="*/ 115915 h 118110"/>
                <a:gd name="T16" fmla="*/ 15550 w 116205"/>
                <a:gd name="T17" fmla="*/ 117896 h 118110"/>
                <a:gd name="T18" fmla="*/ 116204 w 116205"/>
                <a:gd name="T19" fmla="*/ 58277 h 118110"/>
                <a:gd name="T20" fmla="*/ 14740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4740" y="0"/>
                  </a:moveTo>
                  <a:lnTo>
                    <a:pt x="6976" y="2103"/>
                  </a:lnTo>
                  <a:lnTo>
                    <a:pt x="0" y="14264"/>
                  </a:lnTo>
                  <a:lnTo>
                    <a:pt x="2097" y="22037"/>
                  </a:lnTo>
                  <a:lnTo>
                    <a:pt x="65794" y="58613"/>
                  </a:lnTo>
                  <a:lnTo>
                    <a:pt x="2596" y="96042"/>
                  </a:lnTo>
                  <a:lnTo>
                    <a:pt x="606" y="103845"/>
                  </a:lnTo>
                  <a:lnTo>
                    <a:pt x="7751" y="115915"/>
                  </a:lnTo>
                  <a:lnTo>
                    <a:pt x="15550" y="117896"/>
                  </a:lnTo>
                  <a:lnTo>
                    <a:pt x="116204" y="58277"/>
                  </a:lnTo>
                  <a:lnTo>
                    <a:pt x="147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39" name="object 11">
              <a:extLst>
                <a:ext uri="{FF2B5EF4-FFF2-40B4-BE49-F238E27FC236}">
                  <a16:creationId xmlns:a16="http://schemas.microsoft.com/office/drawing/2014/main" id="{6D591F0C-BE4A-4E65-BBC1-8BEA35F7EA0B}"/>
                </a:ext>
              </a:extLst>
            </p:cNvPr>
            <p:cNvSpPr>
              <a:spLocks/>
            </p:cNvSpPr>
            <p:nvPr/>
          </p:nvSpPr>
          <p:spPr bwMode="auto">
            <a:xfrm>
              <a:off x="3249613" y="1639888"/>
              <a:ext cx="633412" cy="1317625"/>
            </a:xfrm>
            <a:custGeom>
              <a:avLst/>
              <a:gdLst>
                <a:gd name="T0" fmla="*/ 0 w 633729"/>
                <a:gd name="T1" fmla="*/ 1318522 h 1318895"/>
                <a:gd name="T2" fmla="*/ 633209 w 633729"/>
                <a:gd name="T3" fmla="*/ 1318522 h 1318895"/>
                <a:gd name="T4" fmla="*/ 633209 w 633729"/>
                <a:gd name="T5" fmla="*/ 0 h 1318895"/>
                <a:gd name="T6" fmla="*/ 0 w 633729"/>
                <a:gd name="T7" fmla="*/ 0 h 1318895"/>
                <a:gd name="T8" fmla="*/ 0 w 633729"/>
                <a:gd name="T9" fmla="*/ 1318522 h 1318895"/>
              </a:gdLst>
              <a:ahLst/>
              <a:cxnLst>
                <a:cxn ang="0">
                  <a:pos x="T0" y="T1"/>
                </a:cxn>
                <a:cxn ang="0">
                  <a:pos x="T2" y="T3"/>
                </a:cxn>
                <a:cxn ang="0">
                  <a:pos x="T4" y="T5"/>
                </a:cxn>
                <a:cxn ang="0">
                  <a:pos x="T6" y="T7"/>
                </a:cxn>
                <a:cxn ang="0">
                  <a:pos x="T8" y="T9"/>
                </a:cxn>
              </a:cxnLst>
              <a:rect l="0" t="0" r="r" b="b"/>
              <a:pathLst>
                <a:path w="633729" h="1318895">
                  <a:moveTo>
                    <a:pt x="0" y="1318522"/>
                  </a:moveTo>
                  <a:lnTo>
                    <a:pt x="633209" y="1318522"/>
                  </a:lnTo>
                  <a:lnTo>
                    <a:pt x="633209"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2" name="object 12">
              <a:extLst>
                <a:ext uri="{FF2B5EF4-FFF2-40B4-BE49-F238E27FC236}">
                  <a16:creationId xmlns:a16="http://schemas.microsoft.com/office/drawing/2014/main" id="{ED74A7CD-33DA-457E-A8A4-00C00E927D3D}"/>
                </a:ext>
              </a:extLst>
            </p:cNvPr>
            <p:cNvSpPr txBox="1"/>
            <p:nvPr/>
          </p:nvSpPr>
          <p:spPr>
            <a:xfrm>
              <a:off x="3327400" y="2192338"/>
              <a:ext cx="461963" cy="254000"/>
            </a:xfrm>
            <a:prstGeom prst="rect">
              <a:avLst/>
            </a:prstGeom>
          </p:spPr>
          <p:txBody>
            <a:bodyPr lIns="0" tIns="0" rIns="0" bIns="0">
              <a:spAutoFit/>
            </a:bodyPr>
            <a:lstStyle/>
            <a:p>
              <a:pPr marL="12700" fontAlgn="auto">
                <a:spcBef>
                  <a:spcPts val="0"/>
                </a:spcBef>
                <a:spcAft>
                  <a:spcPts val="0"/>
                </a:spcAft>
                <a:defRPr/>
              </a:pPr>
              <a:r>
                <a:rPr spc="-10" dirty="0">
                  <a:latin typeface="Trebuchet MS"/>
                  <a:cs typeface="Trebuchet MS"/>
                </a:rPr>
                <a:t>IFFT</a:t>
              </a:r>
              <a:endParaRPr>
                <a:latin typeface="Trebuchet MS"/>
                <a:cs typeface="Trebuchet MS"/>
              </a:endParaRPr>
            </a:p>
          </p:txBody>
        </p:sp>
        <p:sp>
          <p:nvSpPr>
            <p:cNvPr id="22541" name="object 13">
              <a:extLst>
                <a:ext uri="{FF2B5EF4-FFF2-40B4-BE49-F238E27FC236}">
                  <a16:creationId xmlns:a16="http://schemas.microsoft.com/office/drawing/2014/main" id="{C7E8EB11-304C-4946-9C6A-01BE37D25024}"/>
                </a:ext>
              </a:extLst>
            </p:cNvPr>
            <p:cNvSpPr>
              <a:spLocks/>
            </p:cNvSpPr>
            <p:nvPr/>
          </p:nvSpPr>
          <p:spPr bwMode="auto">
            <a:xfrm>
              <a:off x="2952750" y="2297113"/>
              <a:ext cx="271463" cy="1587"/>
            </a:xfrm>
            <a:custGeom>
              <a:avLst/>
              <a:gdLst>
                <a:gd name="T0" fmla="*/ 0 w 271144"/>
                <a:gd name="T1" fmla="*/ 0 h 1905"/>
                <a:gd name="T2" fmla="*/ 270851 w 271144"/>
                <a:gd name="T3" fmla="*/ 1432 h 1905"/>
              </a:gdLst>
              <a:ahLst/>
              <a:cxnLst>
                <a:cxn ang="0">
                  <a:pos x="T0" y="T1"/>
                </a:cxn>
                <a:cxn ang="0">
                  <a:pos x="T2" y="T3"/>
                </a:cxn>
              </a:cxnLst>
              <a:rect l="0" t="0" r="r" b="b"/>
              <a:pathLst>
                <a:path w="271144" h="1905">
                  <a:moveTo>
                    <a:pt x="0" y="0"/>
                  </a:moveTo>
                  <a:lnTo>
                    <a:pt x="270851"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42" name="object 14">
              <a:extLst>
                <a:ext uri="{FF2B5EF4-FFF2-40B4-BE49-F238E27FC236}">
                  <a16:creationId xmlns:a16="http://schemas.microsoft.com/office/drawing/2014/main" id="{DBC748AF-2A85-4A82-8AAC-C9D91281846F}"/>
                </a:ext>
              </a:extLst>
            </p:cNvPr>
            <p:cNvSpPr>
              <a:spLocks/>
            </p:cNvSpPr>
            <p:nvPr/>
          </p:nvSpPr>
          <p:spPr bwMode="auto">
            <a:xfrm>
              <a:off x="3133725" y="2238375"/>
              <a:ext cx="115888" cy="119063"/>
            </a:xfrm>
            <a:custGeom>
              <a:avLst/>
              <a:gdLst>
                <a:gd name="T0" fmla="*/ 15392 w 116205"/>
                <a:gd name="T1" fmla="*/ 0 h 118110"/>
                <a:gd name="T2" fmla="*/ 7619 w 116205"/>
                <a:gd name="T3" fmla="*/ 1981 h 118110"/>
                <a:gd name="T4" fmla="*/ 4023 w 116205"/>
                <a:gd name="T5" fmla="*/ 8046 h 118110"/>
                <a:gd name="T6" fmla="*/ 487 w 116205"/>
                <a:gd name="T7" fmla="*/ 14081 h 118110"/>
                <a:gd name="T8" fmla="*/ 2468 w 116205"/>
                <a:gd name="T9" fmla="*/ 21854 h 118110"/>
                <a:gd name="T10" fmla="*/ 65714 w 116205"/>
                <a:gd name="T11" fmla="*/ 59222 h 118110"/>
                <a:gd name="T12" fmla="*/ 2072 w 116205"/>
                <a:gd name="T13" fmla="*/ 95890 h 118110"/>
                <a:gd name="T14" fmla="*/ 0 w 116205"/>
                <a:gd name="T15" fmla="*/ 103662 h 118110"/>
                <a:gd name="T16" fmla="*/ 3474 w 116205"/>
                <a:gd name="T17" fmla="*/ 109727 h 118110"/>
                <a:gd name="T18" fmla="*/ 6979 w 116205"/>
                <a:gd name="T19" fmla="*/ 115793 h 118110"/>
                <a:gd name="T20" fmla="*/ 14752 w 116205"/>
                <a:gd name="T21" fmla="*/ 117896 h 118110"/>
                <a:gd name="T22" fmla="*/ 116128 w 116205"/>
                <a:gd name="T23" fmla="*/ 59496 h 118110"/>
                <a:gd name="T24" fmla="*/ 15392 w 116205"/>
                <a:gd name="T25"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205" h="118110">
                  <a:moveTo>
                    <a:pt x="15392" y="0"/>
                  </a:moveTo>
                  <a:lnTo>
                    <a:pt x="7619" y="1981"/>
                  </a:lnTo>
                  <a:lnTo>
                    <a:pt x="4023" y="8046"/>
                  </a:lnTo>
                  <a:lnTo>
                    <a:pt x="487" y="14081"/>
                  </a:lnTo>
                  <a:lnTo>
                    <a:pt x="2468" y="21854"/>
                  </a:lnTo>
                  <a:lnTo>
                    <a:pt x="65714" y="59222"/>
                  </a:lnTo>
                  <a:lnTo>
                    <a:pt x="2072" y="95890"/>
                  </a:lnTo>
                  <a:lnTo>
                    <a:pt x="0" y="103662"/>
                  </a:lnTo>
                  <a:lnTo>
                    <a:pt x="3474" y="109727"/>
                  </a:lnTo>
                  <a:lnTo>
                    <a:pt x="6979" y="115793"/>
                  </a:lnTo>
                  <a:lnTo>
                    <a:pt x="14752" y="117896"/>
                  </a:lnTo>
                  <a:lnTo>
                    <a:pt x="116128"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43" name="object 15">
              <a:extLst>
                <a:ext uri="{FF2B5EF4-FFF2-40B4-BE49-F238E27FC236}">
                  <a16:creationId xmlns:a16="http://schemas.microsoft.com/office/drawing/2014/main" id="{88835053-922F-4456-9858-6584956C4600}"/>
                </a:ext>
              </a:extLst>
            </p:cNvPr>
            <p:cNvSpPr>
              <a:spLocks/>
            </p:cNvSpPr>
            <p:nvPr/>
          </p:nvSpPr>
          <p:spPr bwMode="auto">
            <a:xfrm>
              <a:off x="2967038" y="2155825"/>
              <a:ext cx="271462" cy="1588"/>
            </a:xfrm>
            <a:custGeom>
              <a:avLst/>
              <a:gdLst>
                <a:gd name="T0" fmla="*/ 0 w 271144"/>
                <a:gd name="T1" fmla="*/ 0 h 1905"/>
                <a:gd name="T2" fmla="*/ 270875 w 271144"/>
                <a:gd name="T3" fmla="*/ 1432 h 1905"/>
              </a:gdLst>
              <a:ahLst/>
              <a:cxnLst>
                <a:cxn ang="0">
                  <a:pos x="T0" y="T1"/>
                </a:cxn>
                <a:cxn ang="0">
                  <a:pos x="T2" y="T3"/>
                </a:cxn>
              </a:cxnLst>
              <a:rect l="0" t="0" r="r" b="b"/>
              <a:pathLst>
                <a:path w="271144"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44" name="object 16">
              <a:extLst>
                <a:ext uri="{FF2B5EF4-FFF2-40B4-BE49-F238E27FC236}">
                  <a16:creationId xmlns:a16="http://schemas.microsoft.com/office/drawing/2014/main" id="{E81D9D89-3BCF-4091-9135-D09F854FB5BA}"/>
                </a:ext>
              </a:extLst>
            </p:cNvPr>
            <p:cNvSpPr>
              <a:spLocks/>
            </p:cNvSpPr>
            <p:nvPr/>
          </p:nvSpPr>
          <p:spPr bwMode="auto">
            <a:xfrm>
              <a:off x="3146425" y="2097088"/>
              <a:ext cx="117475" cy="119062"/>
            </a:xfrm>
            <a:custGeom>
              <a:avLst/>
              <a:gdLst>
                <a:gd name="T0" fmla="*/ 15392 w 116204"/>
                <a:gd name="T1" fmla="*/ 0 h 118110"/>
                <a:gd name="T2" fmla="*/ 7619 w 116204"/>
                <a:gd name="T3" fmla="*/ 2011 h 118110"/>
                <a:gd name="T4" fmla="*/ 487 w 116204"/>
                <a:gd name="T5" fmla="*/ 14081 h 118110"/>
                <a:gd name="T6" fmla="*/ 2499 w 116204"/>
                <a:gd name="T7" fmla="*/ 21854 h 118110"/>
                <a:gd name="T8" fmla="*/ 65745 w 116204"/>
                <a:gd name="T9" fmla="*/ 59222 h 118110"/>
                <a:gd name="T10" fmla="*/ 2103 w 116204"/>
                <a:gd name="T11" fmla="*/ 95890 h 118110"/>
                <a:gd name="T12" fmla="*/ 0 w 116204"/>
                <a:gd name="T13" fmla="*/ 103662 h 118110"/>
                <a:gd name="T14" fmla="*/ 7010 w 116204"/>
                <a:gd name="T15" fmla="*/ 115823 h 118110"/>
                <a:gd name="T16" fmla="*/ 14782 w 116204"/>
                <a:gd name="T17" fmla="*/ 117896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99" y="21854"/>
                  </a:lnTo>
                  <a:lnTo>
                    <a:pt x="65745" y="59222"/>
                  </a:lnTo>
                  <a:lnTo>
                    <a:pt x="2103" y="95890"/>
                  </a:lnTo>
                  <a:lnTo>
                    <a:pt x="0" y="103662"/>
                  </a:lnTo>
                  <a:lnTo>
                    <a:pt x="7010" y="115823"/>
                  </a:lnTo>
                  <a:lnTo>
                    <a:pt x="1478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45" name="object 17">
              <a:extLst>
                <a:ext uri="{FF2B5EF4-FFF2-40B4-BE49-F238E27FC236}">
                  <a16:creationId xmlns:a16="http://schemas.microsoft.com/office/drawing/2014/main" id="{7C9EA27D-5621-4C56-BD0D-D2163AF9094A}"/>
                </a:ext>
              </a:extLst>
            </p:cNvPr>
            <p:cNvSpPr>
              <a:spLocks/>
            </p:cNvSpPr>
            <p:nvPr/>
          </p:nvSpPr>
          <p:spPr bwMode="auto">
            <a:xfrm>
              <a:off x="2967038" y="2011363"/>
              <a:ext cx="271462" cy="1587"/>
            </a:xfrm>
            <a:custGeom>
              <a:avLst/>
              <a:gdLst>
                <a:gd name="T0" fmla="*/ 0 w 271144"/>
                <a:gd name="T1" fmla="*/ 0 h 1905"/>
                <a:gd name="T2" fmla="*/ 270875 w 271144"/>
                <a:gd name="T3" fmla="*/ 1432 h 1905"/>
              </a:gdLst>
              <a:ahLst/>
              <a:cxnLst>
                <a:cxn ang="0">
                  <a:pos x="T0" y="T1"/>
                </a:cxn>
                <a:cxn ang="0">
                  <a:pos x="T2" y="T3"/>
                </a:cxn>
              </a:cxnLst>
              <a:rect l="0" t="0" r="r" b="b"/>
              <a:pathLst>
                <a:path w="271144"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46" name="object 18">
              <a:extLst>
                <a:ext uri="{FF2B5EF4-FFF2-40B4-BE49-F238E27FC236}">
                  <a16:creationId xmlns:a16="http://schemas.microsoft.com/office/drawing/2014/main" id="{51D7F88F-BA3D-4EEF-8DF7-B7485C29F723}"/>
                </a:ext>
              </a:extLst>
            </p:cNvPr>
            <p:cNvSpPr>
              <a:spLocks/>
            </p:cNvSpPr>
            <p:nvPr/>
          </p:nvSpPr>
          <p:spPr bwMode="auto">
            <a:xfrm>
              <a:off x="3146425" y="1952625"/>
              <a:ext cx="117475" cy="119063"/>
            </a:xfrm>
            <a:custGeom>
              <a:avLst/>
              <a:gdLst>
                <a:gd name="T0" fmla="*/ 15392 w 116204"/>
                <a:gd name="T1" fmla="*/ 0 h 118110"/>
                <a:gd name="T2" fmla="*/ 7619 w 116204"/>
                <a:gd name="T3" fmla="*/ 2011 h 118110"/>
                <a:gd name="T4" fmla="*/ 487 w 116204"/>
                <a:gd name="T5" fmla="*/ 14081 h 118110"/>
                <a:gd name="T6" fmla="*/ 2499 w 116204"/>
                <a:gd name="T7" fmla="*/ 21884 h 118110"/>
                <a:gd name="T8" fmla="*/ 65745 w 116204"/>
                <a:gd name="T9" fmla="*/ 59222 h 118110"/>
                <a:gd name="T10" fmla="*/ 2103 w 116204"/>
                <a:gd name="T11" fmla="*/ 95890 h 118110"/>
                <a:gd name="T12" fmla="*/ 0 w 116204"/>
                <a:gd name="T13" fmla="*/ 103662 h 118110"/>
                <a:gd name="T14" fmla="*/ 7010 w 116204"/>
                <a:gd name="T15" fmla="*/ 115823 h 118110"/>
                <a:gd name="T16" fmla="*/ 14782 w 116204"/>
                <a:gd name="T17" fmla="*/ 117927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99" y="21884"/>
                  </a:lnTo>
                  <a:lnTo>
                    <a:pt x="65745" y="59222"/>
                  </a:lnTo>
                  <a:lnTo>
                    <a:pt x="2103" y="95890"/>
                  </a:lnTo>
                  <a:lnTo>
                    <a:pt x="0" y="103662"/>
                  </a:lnTo>
                  <a:lnTo>
                    <a:pt x="7010" y="115823"/>
                  </a:lnTo>
                  <a:lnTo>
                    <a:pt x="14782" y="117927"/>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47" name="object 19">
              <a:extLst>
                <a:ext uri="{FF2B5EF4-FFF2-40B4-BE49-F238E27FC236}">
                  <a16:creationId xmlns:a16="http://schemas.microsoft.com/office/drawing/2014/main" id="{7E407836-8496-4792-B6AA-D80BE4158136}"/>
                </a:ext>
              </a:extLst>
            </p:cNvPr>
            <p:cNvSpPr>
              <a:spLocks/>
            </p:cNvSpPr>
            <p:nvPr/>
          </p:nvSpPr>
          <p:spPr bwMode="auto">
            <a:xfrm>
              <a:off x="2967038" y="2441575"/>
              <a:ext cx="271462" cy="1588"/>
            </a:xfrm>
            <a:custGeom>
              <a:avLst/>
              <a:gdLst>
                <a:gd name="T0" fmla="*/ 0 w 271144"/>
                <a:gd name="T1" fmla="*/ 0 h 1905"/>
                <a:gd name="T2" fmla="*/ 270875 w 271144"/>
                <a:gd name="T3" fmla="*/ 1432 h 1905"/>
              </a:gdLst>
              <a:ahLst/>
              <a:cxnLst>
                <a:cxn ang="0">
                  <a:pos x="T0" y="T1"/>
                </a:cxn>
                <a:cxn ang="0">
                  <a:pos x="T2" y="T3"/>
                </a:cxn>
              </a:cxnLst>
              <a:rect l="0" t="0" r="r" b="b"/>
              <a:pathLst>
                <a:path w="271144"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48" name="object 20">
              <a:extLst>
                <a:ext uri="{FF2B5EF4-FFF2-40B4-BE49-F238E27FC236}">
                  <a16:creationId xmlns:a16="http://schemas.microsoft.com/office/drawing/2014/main" id="{BA545280-D975-4758-8285-AB3FFE8D88AB}"/>
                </a:ext>
              </a:extLst>
            </p:cNvPr>
            <p:cNvSpPr>
              <a:spLocks/>
            </p:cNvSpPr>
            <p:nvPr/>
          </p:nvSpPr>
          <p:spPr bwMode="auto">
            <a:xfrm>
              <a:off x="3146425" y="2382838"/>
              <a:ext cx="117475" cy="119062"/>
            </a:xfrm>
            <a:custGeom>
              <a:avLst/>
              <a:gdLst>
                <a:gd name="T0" fmla="*/ 15392 w 116204"/>
                <a:gd name="T1" fmla="*/ 0 h 118110"/>
                <a:gd name="T2" fmla="*/ 7619 w 116204"/>
                <a:gd name="T3" fmla="*/ 2011 h 118110"/>
                <a:gd name="T4" fmla="*/ 487 w 116204"/>
                <a:gd name="T5" fmla="*/ 14081 h 118110"/>
                <a:gd name="T6" fmla="*/ 2499 w 116204"/>
                <a:gd name="T7" fmla="*/ 21854 h 118110"/>
                <a:gd name="T8" fmla="*/ 65745 w 116204"/>
                <a:gd name="T9" fmla="*/ 59222 h 118110"/>
                <a:gd name="T10" fmla="*/ 2103 w 116204"/>
                <a:gd name="T11" fmla="*/ 95890 h 118110"/>
                <a:gd name="T12" fmla="*/ 0 w 116204"/>
                <a:gd name="T13" fmla="*/ 103662 h 118110"/>
                <a:gd name="T14" fmla="*/ 7010 w 116204"/>
                <a:gd name="T15" fmla="*/ 115823 h 118110"/>
                <a:gd name="T16" fmla="*/ 14782 w 116204"/>
                <a:gd name="T17" fmla="*/ 117896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99" y="21854"/>
                  </a:lnTo>
                  <a:lnTo>
                    <a:pt x="65745" y="59222"/>
                  </a:lnTo>
                  <a:lnTo>
                    <a:pt x="2103" y="95890"/>
                  </a:lnTo>
                  <a:lnTo>
                    <a:pt x="0" y="103662"/>
                  </a:lnTo>
                  <a:lnTo>
                    <a:pt x="7010" y="115823"/>
                  </a:lnTo>
                  <a:lnTo>
                    <a:pt x="1478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49" name="object 21">
              <a:extLst>
                <a:ext uri="{FF2B5EF4-FFF2-40B4-BE49-F238E27FC236}">
                  <a16:creationId xmlns:a16="http://schemas.microsoft.com/office/drawing/2014/main" id="{7591ACEB-AB7B-44BB-8302-7CC502FCA75E}"/>
                </a:ext>
              </a:extLst>
            </p:cNvPr>
            <p:cNvSpPr>
              <a:spLocks/>
            </p:cNvSpPr>
            <p:nvPr/>
          </p:nvSpPr>
          <p:spPr bwMode="auto">
            <a:xfrm>
              <a:off x="2959100" y="2587625"/>
              <a:ext cx="271463" cy="1588"/>
            </a:xfrm>
            <a:custGeom>
              <a:avLst/>
              <a:gdLst>
                <a:gd name="T0" fmla="*/ 0 w 271144"/>
                <a:gd name="T1" fmla="*/ 0 h 1905"/>
                <a:gd name="T2" fmla="*/ 270881 w 271144"/>
                <a:gd name="T3" fmla="*/ 1432 h 1905"/>
              </a:gdLst>
              <a:ahLst/>
              <a:cxnLst>
                <a:cxn ang="0">
                  <a:pos x="T0" y="T1"/>
                </a:cxn>
                <a:cxn ang="0">
                  <a:pos x="T2" y="T3"/>
                </a:cxn>
              </a:cxnLst>
              <a:rect l="0" t="0" r="r" b="b"/>
              <a:pathLst>
                <a:path w="271144" h="1905">
                  <a:moveTo>
                    <a:pt x="0" y="0"/>
                  </a:moveTo>
                  <a:lnTo>
                    <a:pt x="270881"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50" name="object 22">
              <a:extLst>
                <a:ext uri="{FF2B5EF4-FFF2-40B4-BE49-F238E27FC236}">
                  <a16:creationId xmlns:a16="http://schemas.microsoft.com/office/drawing/2014/main" id="{55AEAAC3-EE91-4B79-843A-7B05731EAC97}"/>
                </a:ext>
              </a:extLst>
            </p:cNvPr>
            <p:cNvSpPr>
              <a:spLocks/>
            </p:cNvSpPr>
            <p:nvPr/>
          </p:nvSpPr>
          <p:spPr bwMode="auto">
            <a:xfrm>
              <a:off x="3138488" y="2528888"/>
              <a:ext cx="117475" cy="119062"/>
            </a:xfrm>
            <a:custGeom>
              <a:avLst/>
              <a:gdLst>
                <a:gd name="T0" fmla="*/ 15392 w 116204"/>
                <a:gd name="T1" fmla="*/ 0 h 118110"/>
                <a:gd name="T2" fmla="*/ 7619 w 116204"/>
                <a:gd name="T3" fmla="*/ 2011 h 118110"/>
                <a:gd name="T4" fmla="*/ 4023 w 116204"/>
                <a:gd name="T5" fmla="*/ 8046 h 118110"/>
                <a:gd name="T6" fmla="*/ 487 w 116204"/>
                <a:gd name="T7" fmla="*/ 14081 h 118110"/>
                <a:gd name="T8" fmla="*/ 2468 w 116204"/>
                <a:gd name="T9" fmla="*/ 21854 h 118110"/>
                <a:gd name="T10" fmla="*/ 65745 w 116204"/>
                <a:gd name="T11" fmla="*/ 59222 h 118110"/>
                <a:gd name="T12" fmla="*/ 2072 w 116204"/>
                <a:gd name="T13" fmla="*/ 95890 h 118110"/>
                <a:gd name="T14" fmla="*/ 0 w 116204"/>
                <a:gd name="T15" fmla="*/ 103662 h 118110"/>
                <a:gd name="T16" fmla="*/ 3474 w 116204"/>
                <a:gd name="T17" fmla="*/ 109727 h 118110"/>
                <a:gd name="T18" fmla="*/ 7010 w 116204"/>
                <a:gd name="T19" fmla="*/ 115823 h 118110"/>
                <a:gd name="T20" fmla="*/ 14752 w 116204"/>
                <a:gd name="T21" fmla="*/ 117896 h 118110"/>
                <a:gd name="T22" fmla="*/ 116159 w 116204"/>
                <a:gd name="T23" fmla="*/ 59496 h 118110"/>
                <a:gd name="T24" fmla="*/ 15392 w 116204"/>
                <a:gd name="T25"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204" h="118110">
                  <a:moveTo>
                    <a:pt x="15392" y="0"/>
                  </a:moveTo>
                  <a:lnTo>
                    <a:pt x="7619" y="2011"/>
                  </a:lnTo>
                  <a:lnTo>
                    <a:pt x="4023" y="8046"/>
                  </a:lnTo>
                  <a:lnTo>
                    <a:pt x="487" y="14081"/>
                  </a:lnTo>
                  <a:lnTo>
                    <a:pt x="2468" y="21854"/>
                  </a:lnTo>
                  <a:lnTo>
                    <a:pt x="65745" y="59222"/>
                  </a:lnTo>
                  <a:lnTo>
                    <a:pt x="2072" y="95890"/>
                  </a:lnTo>
                  <a:lnTo>
                    <a:pt x="0" y="103662"/>
                  </a:lnTo>
                  <a:lnTo>
                    <a:pt x="3474" y="109727"/>
                  </a:lnTo>
                  <a:lnTo>
                    <a:pt x="7010" y="115823"/>
                  </a:lnTo>
                  <a:lnTo>
                    <a:pt x="1475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51" name="object 23">
              <a:extLst>
                <a:ext uri="{FF2B5EF4-FFF2-40B4-BE49-F238E27FC236}">
                  <a16:creationId xmlns:a16="http://schemas.microsoft.com/office/drawing/2014/main" id="{F2C05DC5-CE81-43EB-81A2-EA6843C244CC}"/>
                </a:ext>
              </a:extLst>
            </p:cNvPr>
            <p:cNvSpPr>
              <a:spLocks/>
            </p:cNvSpPr>
            <p:nvPr/>
          </p:nvSpPr>
          <p:spPr bwMode="auto">
            <a:xfrm>
              <a:off x="2957513" y="2719388"/>
              <a:ext cx="271462" cy="1587"/>
            </a:xfrm>
            <a:custGeom>
              <a:avLst/>
              <a:gdLst>
                <a:gd name="T0" fmla="*/ 0 w 271144"/>
                <a:gd name="T1" fmla="*/ 0 h 1905"/>
                <a:gd name="T2" fmla="*/ 270863 w 271144"/>
                <a:gd name="T3" fmla="*/ 1463 h 1905"/>
              </a:gdLst>
              <a:ahLst/>
              <a:cxnLst>
                <a:cxn ang="0">
                  <a:pos x="T0" y="T1"/>
                </a:cxn>
                <a:cxn ang="0">
                  <a:pos x="T2" y="T3"/>
                </a:cxn>
              </a:cxnLst>
              <a:rect l="0" t="0" r="r" b="b"/>
              <a:pathLst>
                <a:path w="271144" h="1905">
                  <a:moveTo>
                    <a:pt x="0" y="0"/>
                  </a:moveTo>
                  <a:lnTo>
                    <a:pt x="270863"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52" name="object 24">
              <a:extLst>
                <a:ext uri="{FF2B5EF4-FFF2-40B4-BE49-F238E27FC236}">
                  <a16:creationId xmlns:a16="http://schemas.microsoft.com/office/drawing/2014/main" id="{52091518-C942-4A77-84F5-0AE1199F3380}"/>
                </a:ext>
              </a:extLst>
            </p:cNvPr>
            <p:cNvSpPr>
              <a:spLocks/>
            </p:cNvSpPr>
            <p:nvPr/>
          </p:nvSpPr>
          <p:spPr bwMode="auto">
            <a:xfrm>
              <a:off x="3136900" y="2660650"/>
              <a:ext cx="115888" cy="119063"/>
            </a:xfrm>
            <a:custGeom>
              <a:avLst/>
              <a:gdLst>
                <a:gd name="T0" fmla="*/ 15422 w 116204"/>
                <a:gd name="T1" fmla="*/ 0 h 118110"/>
                <a:gd name="T2" fmla="*/ 7619 w 116204"/>
                <a:gd name="T3" fmla="*/ 2011 h 118110"/>
                <a:gd name="T4" fmla="*/ 487 w 116204"/>
                <a:gd name="T5" fmla="*/ 14112 h 118110"/>
                <a:gd name="T6" fmla="*/ 2499 w 116204"/>
                <a:gd name="T7" fmla="*/ 21884 h 118110"/>
                <a:gd name="T8" fmla="*/ 65745 w 116204"/>
                <a:gd name="T9" fmla="*/ 59222 h 118110"/>
                <a:gd name="T10" fmla="*/ 2103 w 116204"/>
                <a:gd name="T11" fmla="*/ 95920 h 118110"/>
                <a:gd name="T12" fmla="*/ 0 w 116204"/>
                <a:gd name="T13" fmla="*/ 103692 h 118110"/>
                <a:gd name="T14" fmla="*/ 7010 w 116204"/>
                <a:gd name="T15" fmla="*/ 115823 h 118110"/>
                <a:gd name="T16" fmla="*/ 14782 w 116204"/>
                <a:gd name="T17" fmla="*/ 117927 h 118110"/>
                <a:gd name="T18" fmla="*/ 116159 w 116204"/>
                <a:gd name="T19" fmla="*/ 59496 h 118110"/>
                <a:gd name="T20" fmla="*/ 1542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422" y="0"/>
                  </a:moveTo>
                  <a:lnTo>
                    <a:pt x="7619" y="2011"/>
                  </a:lnTo>
                  <a:lnTo>
                    <a:pt x="487" y="14112"/>
                  </a:lnTo>
                  <a:lnTo>
                    <a:pt x="2499" y="21884"/>
                  </a:lnTo>
                  <a:lnTo>
                    <a:pt x="65745" y="59222"/>
                  </a:lnTo>
                  <a:lnTo>
                    <a:pt x="2103" y="95920"/>
                  </a:lnTo>
                  <a:lnTo>
                    <a:pt x="0" y="103692"/>
                  </a:lnTo>
                  <a:lnTo>
                    <a:pt x="7010" y="115823"/>
                  </a:lnTo>
                  <a:lnTo>
                    <a:pt x="14782" y="117927"/>
                  </a:lnTo>
                  <a:lnTo>
                    <a:pt x="116159" y="59496"/>
                  </a:lnTo>
                  <a:lnTo>
                    <a:pt x="154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53" name="object 25">
              <a:extLst>
                <a:ext uri="{FF2B5EF4-FFF2-40B4-BE49-F238E27FC236}">
                  <a16:creationId xmlns:a16="http://schemas.microsoft.com/office/drawing/2014/main" id="{FAC838B0-C394-4E15-A1F9-933B015F0A29}"/>
                </a:ext>
              </a:extLst>
            </p:cNvPr>
            <p:cNvSpPr>
              <a:spLocks/>
            </p:cNvSpPr>
            <p:nvPr/>
          </p:nvSpPr>
          <p:spPr bwMode="auto">
            <a:xfrm>
              <a:off x="2967038" y="2852738"/>
              <a:ext cx="271462" cy="1587"/>
            </a:xfrm>
            <a:custGeom>
              <a:avLst/>
              <a:gdLst>
                <a:gd name="T0" fmla="*/ 0 w 271144"/>
                <a:gd name="T1" fmla="*/ 0 h 1905"/>
                <a:gd name="T2" fmla="*/ 270875 w 271144"/>
                <a:gd name="T3" fmla="*/ 1463 h 1905"/>
              </a:gdLst>
              <a:ahLst/>
              <a:cxnLst>
                <a:cxn ang="0">
                  <a:pos x="T0" y="T1"/>
                </a:cxn>
                <a:cxn ang="0">
                  <a:pos x="T2" y="T3"/>
                </a:cxn>
              </a:cxnLst>
              <a:rect l="0" t="0" r="r" b="b"/>
              <a:pathLst>
                <a:path w="271144" h="1905">
                  <a:moveTo>
                    <a:pt x="0" y="0"/>
                  </a:moveTo>
                  <a:lnTo>
                    <a:pt x="27087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54" name="object 26">
              <a:extLst>
                <a:ext uri="{FF2B5EF4-FFF2-40B4-BE49-F238E27FC236}">
                  <a16:creationId xmlns:a16="http://schemas.microsoft.com/office/drawing/2014/main" id="{2665D0B6-725A-4801-89FD-F30939E346DF}"/>
                </a:ext>
              </a:extLst>
            </p:cNvPr>
            <p:cNvSpPr>
              <a:spLocks/>
            </p:cNvSpPr>
            <p:nvPr/>
          </p:nvSpPr>
          <p:spPr bwMode="auto">
            <a:xfrm>
              <a:off x="3146425" y="2795588"/>
              <a:ext cx="117475" cy="117475"/>
            </a:xfrm>
            <a:custGeom>
              <a:avLst/>
              <a:gdLst>
                <a:gd name="T0" fmla="*/ 15392 w 116204"/>
                <a:gd name="T1" fmla="*/ 0 h 118110"/>
                <a:gd name="T2" fmla="*/ 7619 w 116204"/>
                <a:gd name="T3" fmla="*/ 2011 h 118110"/>
                <a:gd name="T4" fmla="*/ 487 w 116204"/>
                <a:gd name="T5" fmla="*/ 14081 h 118110"/>
                <a:gd name="T6" fmla="*/ 2499 w 116204"/>
                <a:gd name="T7" fmla="*/ 21884 h 118110"/>
                <a:gd name="T8" fmla="*/ 65745 w 116204"/>
                <a:gd name="T9" fmla="*/ 59222 h 118110"/>
                <a:gd name="T10" fmla="*/ 2103 w 116204"/>
                <a:gd name="T11" fmla="*/ 95890 h 118110"/>
                <a:gd name="T12" fmla="*/ 0 w 116204"/>
                <a:gd name="T13" fmla="*/ 103662 h 118110"/>
                <a:gd name="T14" fmla="*/ 7010 w 116204"/>
                <a:gd name="T15" fmla="*/ 115823 h 118110"/>
                <a:gd name="T16" fmla="*/ 14782 w 116204"/>
                <a:gd name="T17" fmla="*/ 117927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99" y="21884"/>
                  </a:lnTo>
                  <a:lnTo>
                    <a:pt x="65745" y="59222"/>
                  </a:lnTo>
                  <a:lnTo>
                    <a:pt x="2103" y="95890"/>
                  </a:lnTo>
                  <a:lnTo>
                    <a:pt x="0" y="103662"/>
                  </a:lnTo>
                  <a:lnTo>
                    <a:pt x="7010" y="115823"/>
                  </a:lnTo>
                  <a:lnTo>
                    <a:pt x="14782" y="117927"/>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55" name="object 27">
              <a:extLst>
                <a:ext uri="{FF2B5EF4-FFF2-40B4-BE49-F238E27FC236}">
                  <a16:creationId xmlns:a16="http://schemas.microsoft.com/office/drawing/2014/main" id="{88899B75-E618-410A-8A59-FA067AE099C2}"/>
                </a:ext>
              </a:extLst>
            </p:cNvPr>
            <p:cNvSpPr>
              <a:spLocks/>
            </p:cNvSpPr>
            <p:nvPr/>
          </p:nvSpPr>
          <p:spPr bwMode="auto">
            <a:xfrm>
              <a:off x="5162550" y="1639888"/>
              <a:ext cx="541338" cy="1317625"/>
            </a:xfrm>
            <a:custGeom>
              <a:avLst/>
              <a:gdLst>
                <a:gd name="T0" fmla="*/ 0 w 541654"/>
                <a:gd name="T1" fmla="*/ 1318522 h 1318895"/>
                <a:gd name="T2" fmla="*/ 541282 w 541654"/>
                <a:gd name="T3" fmla="*/ 1318522 h 1318895"/>
                <a:gd name="T4" fmla="*/ 541282 w 541654"/>
                <a:gd name="T5" fmla="*/ 0 h 1318895"/>
                <a:gd name="T6" fmla="*/ 0 w 541654"/>
                <a:gd name="T7" fmla="*/ 0 h 1318895"/>
                <a:gd name="T8" fmla="*/ 0 w 541654"/>
                <a:gd name="T9" fmla="*/ 1318522 h 1318895"/>
              </a:gdLst>
              <a:ahLst/>
              <a:cxnLst>
                <a:cxn ang="0">
                  <a:pos x="T0" y="T1"/>
                </a:cxn>
                <a:cxn ang="0">
                  <a:pos x="T2" y="T3"/>
                </a:cxn>
                <a:cxn ang="0">
                  <a:pos x="T4" y="T5"/>
                </a:cxn>
                <a:cxn ang="0">
                  <a:pos x="T6" y="T7"/>
                </a:cxn>
                <a:cxn ang="0">
                  <a:pos x="T8" y="T9"/>
                </a:cxn>
              </a:cxnLst>
              <a:rect l="0" t="0" r="r" b="b"/>
              <a:pathLst>
                <a:path w="541654" h="1318895">
                  <a:moveTo>
                    <a:pt x="0" y="1318522"/>
                  </a:moveTo>
                  <a:lnTo>
                    <a:pt x="541282" y="1318522"/>
                  </a:lnTo>
                  <a:lnTo>
                    <a:pt x="541282"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8" name="object 28">
              <a:extLst>
                <a:ext uri="{FF2B5EF4-FFF2-40B4-BE49-F238E27FC236}">
                  <a16:creationId xmlns:a16="http://schemas.microsoft.com/office/drawing/2014/main" id="{3AE56DB0-EA92-4315-975F-3EE6F713B18C}"/>
                </a:ext>
              </a:extLst>
            </p:cNvPr>
            <p:cNvSpPr txBox="1"/>
            <p:nvPr/>
          </p:nvSpPr>
          <p:spPr>
            <a:xfrm>
              <a:off x="5240338" y="2192338"/>
              <a:ext cx="384175" cy="254000"/>
            </a:xfrm>
            <a:prstGeom prst="rect">
              <a:avLst/>
            </a:prstGeom>
          </p:spPr>
          <p:txBody>
            <a:bodyPr lIns="0" tIns="0" rIns="0" bIns="0">
              <a:spAutoFit/>
            </a:bodyPr>
            <a:lstStyle/>
            <a:p>
              <a:pPr marL="12700" fontAlgn="auto">
                <a:spcBef>
                  <a:spcPts val="0"/>
                </a:spcBef>
                <a:spcAft>
                  <a:spcPts val="0"/>
                </a:spcAft>
                <a:defRPr/>
              </a:pPr>
              <a:r>
                <a:rPr spc="-10" dirty="0">
                  <a:latin typeface="Trebuchet MS"/>
                  <a:cs typeface="Trebuchet MS"/>
                </a:rPr>
                <a:t>P/S</a:t>
              </a:r>
              <a:endParaRPr>
                <a:latin typeface="Trebuchet MS"/>
                <a:cs typeface="Trebuchet MS"/>
              </a:endParaRPr>
            </a:p>
          </p:txBody>
        </p:sp>
        <p:sp>
          <p:nvSpPr>
            <p:cNvPr id="22557" name="object 29">
              <a:extLst>
                <a:ext uri="{FF2B5EF4-FFF2-40B4-BE49-F238E27FC236}">
                  <a16:creationId xmlns:a16="http://schemas.microsoft.com/office/drawing/2014/main" id="{463D4D7A-147A-40C5-8304-34B0FDA18F1A}"/>
                </a:ext>
              </a:extLst>
            </p:cNvPr>
            <p:cNvSpPr>
              <a:spLocks/>
            </p:cNvSpPr>
            <p:nvPr/>
          </p:nvSpPr>
          <p:spPr bwMode="auto">
            <a:xfrm>
              <a:off x="4868863" y="2297113"/>
              <a:ext cx="271462" cy="1587"/>
            </a:xfrm>
            <a:custGeom>
              <a:avLst/>
              <a:gdLst>
                <a:gd name="T0" fmla="*/ 0 w 271145"/>
                <a:gd name="T1" fmla="*/ 0 h 1905"/>
                <a:gd name="T2" fmla="*/ 270875 w 271145"/>
                <a:gd name="T3" fmla="*/ 1432 h 1905"/>
              </a:gdLst>
              <a:ahLst/>
              <a:cxnLst>
                <a:cxn ang="0">
                  <a:pos x="T0" y="T1"/>
                </a:cxn>
                <a:cxn ang="0">
                  <a:pos x="T2" y="T3"/>
                </a:cxn>
              </a:cxnLst>
              <a:rect l="0" t="0" r="r" b="b"/>
              <a:pathLst>
                <a:path w="271145"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58" name="object 30">
              <a:extLst>
                <a:ext uri="{FF2B5EF4-FFF2-40B4-BE49-F238E27FC236}">
                  <a16:creationId xmlns:a16="http://schemas.microsoft.com/office/drawing/2014/main" id="{2481CC2E-A633-4722-99DB-A8EEE9106F7A}"/>
                </a:ext>
              </a:extLst>
            </p:cNvPr>
            <p:cNvSpPr>
              <a:spLocks/>
            </p:cNvSpPr>
            <p:nvPr/>
          </p:nvSpPr>
          <p:spPr bwMode="auto">
            <a:xfrm>
              <a:off x="5048250" y="2238375"/>
              <a:ext cx="115888" cy="119063"/>
            </a:xfrm>
            <a:custGeom>
              <a:avLst/>
              <a:gdLst>
                <a:gd name="T0" fmla="*/ 15392 w 116204"/>
                <a:gd name="T1" fmla="*/ 0 h 118110"/>
                <a:gd name="T2" fmla="*/ 7619 w 116204"/>
                <a:gd name="T3" fmla="*/ 1981 h 118110"/>
                <a:gd name="T4" fmla="*/ 487 w 116204"/>
                <a:gd name="T5" fmla="*/ 14081 h 118110"/>
                <a:gd name="T6" fmla="*/ 2499 w 116204"/>
                <a:gd name="T7" fmla="*/ 21854 h 118110"/>
                <a:gd name="T8" fmla="*/ 65745 w 116204"/>
                <a:gd name="T9" fmla="*/ 59222 h 118110"/>
                <a:gd name="T10" fmla="*/ 2103 w 116204"/>
                <a:gd name="T11" fmla="*/ 95890 h 118110"/>
                <a:gd name="T12" fmla="*/ 0 w 116204"/>
                <a:gd name="T13" fmla="*/ 103662 h 118110"/>
                <a:gd name="T14" fmla="*/ 7010 w 116204"/>
                <a:gd name="T15" fmla="*/ 115793 h 118110"/>
                <a:gd name="T16" fmla="*/ 14782 w 116204"/>
                <a:gd name="T17" fmla="*/ 117896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1981"/>
                  </a:lnTo>
                  <a:lnTo>
                    <a:pt x="487" y="14081"/>
                  </a:lnTo>
                  <a:lnTo>
                    <a:pt x="2499" y="21854"/>
                  </a:lnTo>
                  <a:lnTo>
                    <a:pt x="65745" y="59222"/>
                  </a:lnTo>
                  <a:lnTo>
                    <a:pt x="2103" y="95890"/>
                  </a:lnTo>
                  <a:lnTo>
                    <a:pt x="0" y="103662"/>
                  </a:lnTo>
                  <a:lnTo>
                    <a:pt x="7010" y="115793"/>
                  </a:lnTo>
                  <a:lnTo>
                    <a:pt x="1478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59" name="object 31">
              <a:extLst>
                <a:ext uri="{FF2B5EF4-FFF2-40B4-BE49-F238E27FC236}">
                  <a16:creationId xmlns:a16="http://schemas.microsoft.com/office/drawing/2014/main" id="{F5FFD0F1-521A-4C3A-BD3C-F6D5C54A9C30}"/>
                </a:ext>
              </a:extLst>
            </p:cNvPr>
            <p:cNvSpPr>
              <a:spLocks/>
            </p:cNvSpPr>
            <p:nvPr/>
          </p:nvSpPr>
          <p:spPr bwMode="auto">
            <a:xfrm>
              <a:off x="4883150" y="2155825"/>
              <a:ext cx="271463" cy="1588"/>
            </a:xfrm>
            <a:custGeom>
              <a:avLst/>
              <a:gdLst>
                <a:gd name="T0" fmla="*/ 0 w 271145"/>
                <a:gd name="T1" fmla="*/ 0 h 1905"/>
                <a:gd name="T2" fmla="*/ 270875 w 271145"/>
                <a:gd name="T3" fmla="*/ 1432 h 1905"/>
              </a:gdLst>
              <a:ahLst/>
              <a:cxnLst>
                <a:cxn ang="0">
                  <a:pos x="T0" y="T1"/>
                </a:cxn>
                <a:cxn ang="0">
                  <a:pos x="T2" y="T3"/>
                </a:cxn>
              </a:cxnLst>
              <a:rect l="0" t="0" r="r" b="b"/>
              <a:pathLst>
                <a:path w="271145"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60" name="object 32">
              <a:extLst>
                <a:ext uri="{FF2B5EF4-FFF2-40B4-BE49-F238E27FC236}">
                  <a16:creationId xmlns:a16="http://schemas.microsoft.com/office/drawing/2014/main" id="{A0B5B827-7E56-4A4A-8912-6DF69A25A811}"/>
                </a:ext>
              </a:extLst>
            </p:cNvPr>
            <p:cNvSpPr>
              <a:spLocks/>
            </p:cNvSpPr>
            <p:nvPr/>
          </p:nvSpPr>
          <p:spPr bwMode="auto">
            <a:xfrm>
              <a:off x="5062538" y="2097088"/>
              <a:ext cx="115887" cy="119062"/>
            </a:xfrm>
            <a:custGeom>
              <a:avLst/>
              <a:gdLst>
                <a:gd name="T0" fmla="*/ 15392 w 116204"/>
                <a:gd name="T1" fmla="*/ 0 h 118110"/>
                <a:gd name="T2" fmla="*/ 7619 w 116204"/>
                <a:gd name="T3" fmla="*/ 2011 h 118110"/>
                <a:gd name="T4" fmla="*/ 487 w 116204"/>
                <a:gd name="T5" fmla="*/ 14081 h 118110"/>
                <a:gd name="T6" fmla="*/ 2468 w 116204"/>
                <a:gd name="T7" fmla="*/ 21854 h 118110"/>
                <a:gd name="T8" fmla="*/ 65745 w 116204"/>
                <a:gd name="T9" fmla="*/ 59222 h 118110"/>
                <a:gd name="T10" fmla="*/ 2072 w 116204"/>
                <a:gd name="T11" fmla="*/ 95890 h 118110"/>
                <a:gd name="T12" fmla="*/ 0 w 116204"/>
                <a:gd name="T13" fmla="*/ 103662 h 118110"/>
                <a:gd name="T14" fmla="*/ 7010 w 116204"/>
                <a:gd name="T15" fmla="*/ 115823 h 118110"/>
                <a:gd name="T16" fmla="*/ 14752 w 116204"/>
                <a:gd name="T17" fmla="*/ 117896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68" y="21854"/>
                  </a:lnTo>
                  <a:lnTo>
                    <a:pt x="65745" y="59222"/>
                  </a:lnTo>
                  <a:lnTo>
                    <a:pt x="2072" y="95890"/>
                  </a:lnTo>
                  <a:lnTo>
                    <a:pt x="0" y="103662"/>
                  </a:lnTo>
                  <a:lnTo>
                    <a:pt x="7010" y="115823"/>
                  </a:lnTo>
                  <a:lnTo>
                    <a:pt x="1475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61" name="object 33">
              <a:extLst>
                <a:ext uri="{FF2B5EF4-FFF2-40B4-BE49-F238E27FC236}">
                  <a16:creationId xmlns:a16="http://schemas.microsoft.com/office/drawing/2014/main" id="{957CBDBD-0A1B-40F6-BFE4-42AA0492AA16}"/>
                </a:ext>
              </a:extLst>
            </p:cNvPr>
            <p:cNvSpPr>
              <a:spLocks/>
            </p:cNvSpPr>
            <p:nvPr/>
          </p:nvSpPr>
          <p:spPr bwMode="auto">
            <a:xfrm>
              <a:off x="4883150" y="2011363"/>
              <a:ext cx="271463" cy="1587"/>
            </a:xfrm>
            <a:custGeom>
              <a:avLst/>
              <a:gdLst>
                <a:gd name="T0" fmla="*/ 0 w 271145"/>
                <a:gd name="T1" fmla="*/ 0 h 1905"/>
                <a:gd name="T2" fmla="*/ 270875 w 271145"/>
                <a:gd name="T3" fmla="*/ 1432 h 1905"/>
              </a:gdLst>
              <a:ahLst/>
              <a:cxnLst>
                <a:cxn ang="0">
                  <a:pos x="T0" y="T1"/>
                </a:cxn>
                <a:cxn ang="0">
                  <a:pos x="T2" y="T3"/>
                </a:cxn>
              </a:cxnLst>
              <a:rect l="0" t="0" r="r" b="b"/>
              <a:pathLst>
                <a:path w="271145"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62" name="object 34">
              <a:extLst>
                <a:ext uri="{FF2B5EF4-FFF2-40B4-BE49-F238E27FC236}">
                  <a16:creationId xmlns:a16="http://schemas.microsoft.com/office/drawing/2014/main" id="{0CE38225-39CC-4E5E-AF89-FCCB2373E771}"/>
                </a:ext>
              </a:extLst>
            </p:cNvPr>
            <p:cNvSpPr>
              <a:spLocks/>
            </p:cNvSpPr>
            <p:nvPr/>
          </p:nvSpPr>
          <p:spPr bwMode="auto">
            <a:xfrm>
              <a:off x="5062538" y="1952625"/>
              <a:ext cx="115887" cy="119063"/>
            </a:xfrm>
            <a:custGeom>
              <a:avLst/>
              <a:gdLst>
                <a:gd name="T0" fmla="*/ 15392 w 116204"/>
                <a:gd name="T1" fmla="*/ 0 h 118110"/>
                <a:gd name="T2" fmla="*/ 7619 w 116204"/>
                <a:gd name="T3" fmla="*/ 2011 h 118110"/>
                <a:gd name="T4" fmla="*/ 487 w 116204"/>
                <a:gd name="T5" fmla="*/ 14081 h 118110"/>
                <a:gd name="T6" fmla="*/ 2468 w 116204"/>
                <a:gd name="T7" fmla="*/ 21884 h 118110"/>
                <a:gd name="T8" fmla="*/ 65745 w 116204"/>
                <a:gd name="T9" fmla="*/ 59222 h 118110"/>
                <a:gd name="T10" fmla="*/ 2072 w 116204"/>
                <a:gd name="T11" fmla="*/ 95890 h 118110"/>
                <a:gd name="T12" fmla="*/ 0 w 116204"/>
                <a:gd name="T13" fmla="*/ 103662 h 118110"/>
                <a:gd name="T14" fmla="*/ 7010 w 116204"/>
                <a:gd name="T15" fmla="*/ 115823 h 118110"/>
                <a:gd name="T16" fmla="*/ 14752 w 116204"/>
                <a:gd name="T17" fmla="*/ 117927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68" y="21884"/>
                  </a:lnTo>
                  <a:lnTo>
                    <a:pt x="65745" y="59222"/>
                  </a:lnTo>
                  <a:lnTo>
                    <a:pt x="2072" y="95890"/>
                  </a:lnTo>
                  <a:lnTo>
                    <a:pt x="0" y="103662"/>
                  </a:lnTo>
                  <a:lnTo>
                    <a:pt x="7010" y="115823"/>
                  </a:lnTo>
                  <a:lnTo>
                    <a:pt x="14752" y="117927"/>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63" name="object 35">
              <a:extLst>
                <a:ext uri="{FF2B5EF4-FFF2-40B4-BE49-F238E27FC236}">
                  <a16:creationId xmlns:a16="http://schemas.microsoft.com/office/drawing/2014/main" id="{A991021D-2C43-4AE2-8271-6005629CE5F6}"/>
                </a:ext>
              </a:extLst>
            </p:cNvPr>
            <p:cNvSpPr>
              <a:spLocks/>
            </p:cNvSpPr>
            <p:nvPr/>
          </p:nvSpPr>
          <p:spPr bwMode="auto">
            <a:xfrm>
              <a:off x="4872038" y="2441575"/>
              <a:ext cx="271462" cy="1588"/>
            </a:xfrm>
            <a:custGeom>
              <a:avLst/>
              <a:gdLst>
                <a:gd name="T0" fmla="*/ 0 w 271145"/>
                <a:gd name="T1" fmla="*/ 0 h 1905"/>
                <a:gd name="T2" fmla="*/ 270875 w 271145"/>
                <a:gd name="T3" fmla="*/ 1432 h 1905"/>
              </a:gdLst>
              <a:ahLst/>
              <a:cxnLst>
                <a:cxn ang="0">
                  <a:pos x="T0" y="T1"/>
                </a:cxn>
                <a:cxn ang="0">
                  <a:pos x="T2" y="T3"/>
                </a:cxn>
              </a:cxnLst>
              <a:rect l="0" t="0" r="r" b="b"/>
              <a:pathLst>
                <a:path w="271145"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64" name="object 36">
              <a:extLst>
                <a:ext uri="{FF2B5EF4-FFF2-40B4-BE49-F238E27FC236}">
                  <a16:creationId xmlns:a16="http://schemas.microsoft.com/office/drawing/2014/main" id="{E613CF7A-7144-41DE-96AB-461734C70E07}"/>
                </a:ext>
              </a:extLst>
            </p:cNvPr>
            <p:cNvSpPr>
              <a:spLocks/>
            </p:cNvSpPr>
            <p:nvPr/>
          </p:nvSpPr>
          <p:spPr bwMode="auto">
            <a:xfrm>
              <a:off x="5053013" y="2382838"/>
              <a:ext cx="115887" cy="119062"/>
            </a:xfrm>
            <a:custGeom>
              <a:avLst/>
              <a:gdLst>
                <a:gd name="T0" fmla="*/ 15392 w 116204"/>
                <a:gd name="T1" fmla="*/ 0 h 118110"/>
                <a:gd name="T2" fmla="*/ 7619 w 116204"/>
                <a:gd name="T3" fmla="*/ 2011 h 118110"/>
                <a:gd name="T4" fmla="*/ 487 w 116204"/>
                <a:gd name="T5" fmla="*/ 14081 h 118110"/>
                <a:gd name="T6" fmla="*/ 2499 w 116204"/>
                <a:gd name="T7" fmla="*/ 21854 h 118110"/>
                <a:gd name="T8" fmla="*/ 65745 w 116204"/>
                <a:gd name="T9" fmla="*/ 59222 h 118110"/>
                <a:gd name="T10" fmla="*/ 2103 w 116204"/>
                <a:gd name="T11" fmla="*/ 95890 h 118110"/>
                <a:gd name="T12" fmla="*/ 0 w 116204"/>
                <a:gd name="T13" fmla="*/ 103662 h 118110"/>
                <a:gd name="T14" fmla="*/ 7010 w 116204"/>
                <a:gd name="T15" fmla="*/ 115823 h 118110"/>
                <a:gd name="T16" fmla="*/ 14782 w 116204"/>
                <a:gd name="T17" fmla="*/ 117896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99" y="21854"/>
                  </a:lnTo>
                  <a:lnTo>
                    <a:pt x="65745" y="59222"/>
                  </a:lnTo>
                  <a:lnTo>
                    <a:pt x="2103" y="95890"/>
                  </a:lnTo>
                  <a:lnTo>
                    <a:pt x="0" y="103662"/>
                  </a:lnTo>
                  <a:lnTo>
                    <a:pt x="7010" y="115823"/>
                  </a:lnTo>
                  <a:lnTo>
                    <a:pt x="1478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65" name="object 37">
              <a:extLst>
                <a:ext uri="{FF2B5EF4-FFF2-40B4-BE49-F238E27FC236}">
                  <a16:creationId xmlns:a16="http://schemas.microsoft.com/office/drawing/2014/main" id="{DC3BAADC-FE0F-4A16-850A-61E2026DD02E}"/>
                </a:ext>
              </a:extLst>
            </p:cNvPr>
            <p:cNvSpPr>
              <a:spLocks/>
            </p:cNvSpPr>
            <p:nvPr/>
          </p:nvSpPr>
          <p:spPr bwMode="auto">
            <a:xfrm>
              <a:off x="4875213" y="2587625"/>
              <a:ext cx="271462" cy="1588"/>
            </a:xfrm>
            <a:custGeom>
              <a:avLst/>
              <a:gdLst>
                <a:gd name="T0" fmla="*/ 0 w 271145"/>
                <a:gd name="T1" fmla="*/ 0 h 1905"/>
                <a:gd name="T2" fmla="*/ 270845 w 271145"/>
                <a:gd name="T3" fmla="*/ 1432 h 1905"/>
              </a:gdLst>
              <a:ahLst/>
              <a:cxnLst>
                <a:cxn ang="0">
                  <a:pos x="T0" y="T1"/>
                </a:cxn>
                <a:cxn ang="0">
                  <a:pos x="T2" y="T3"/>
                </a:cxn>
              </a:cxnLst>
              <a:rect l="0" t="0" r="r" b="b"/>
              <a:pathLst>
                <a:path w="271145" h="1905">
                  <a:moveTo>
                    <a:pt x="0" y="0"/>
                  </a:moveTo>
                  <a:lnTo>
                    <a:pt x="27084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66" name="object 38">
              <a:extLst>
                <a:ext uri="{FF2B5EF4-FFF2-40B4-BE49-F238E27FC236}">
                  <a16:creationId xmlns:a16="http://schemas.microsoft.com/office/drawing/2014/main" id="{11AA40F4-A0DB-4143-BA0E-34C1956913B4}"/>
                </a:ext>
              </a:extLst>
            </p:cNvPr>
            <p:cNvSpPr>
              <a:spLocks/>
            </p:cNvSpPr>
            <p:nvPr/>
          </p:nvSpPr>
          <p:spPr bwMode="auto">
            <a:xfrm>
              <a:off x="5054600" y="2528888"/>
              <a:ext cx="115888" cy="119062"/>
            </a:xfrm>
            <a:custGeom>
              <a:avLst/>
              <a:gdLst>
                <a:gd name="T0" fmla="*/ 15422 w 116204"/>
                <a:gd name="T1" fmla="*/ 0 h 118110"/>
                <a:gd name="T2" fmla="*/ 7619 w 116204"/>
                <a:gd name="T3" fmla="*/ 2011 h 118110"/>
                <a:gd name="T4" fmla="*/ 487 w 116204"/>
                <a:gd name="T5" fmla="*/ 14081 h 118110"/>
                <a:gd name="T6" fmla="*/ 2499 w 116204"/>
                <a:gd name="T7" fmla="*/ 21854 h 118110"/>
                <a:gd name="T8" fmla="*/ 65745 w 116204"/>
                <a:gd name="T9" fmla="*/ 59222 h 118110"/>
                <a:gd name="T10" fmla="*/ 2103 w 116204"/>
                <a:gd name="T11" fmla="*/ 95890 h 118110"/>
                <a:gd name="T12" fmla="*/ 0 w 116204"/>
                <a:gd name="T13" fmla="*/ 103662 h 118110"/>
                <a:gd name="T14" fmla="*/ 7010 w 116204"/>
                <a:gd name="T15" fmla="*/ 115823 h 118110"/>
                <a:gd name="T16" fmla="*/ 14782 w 116204"/>
                <a:gd name="T17" fmla="*/ 117896 h 118110"/>
                <a:gd name="T18" fmla="*/ 116159 w 116204"/>
                <a:gd name="T19" fmla="*/ 59496 h 118110"/>
                <a:gd name="T20" fmla="*/ 1542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422" y="0"/>
                  </a:moveTo>
                  <a:lnTo>
                    <a:pt x="7619" y="2011"/>
                  </a:lnTo>
                  <a:lnTo>
                    <a:pt x="487" y="14081"/>
                  </a:lnTo>
                  <a:lnTo>
                    <a:pt x="2499" y="21854"/>
                  </a:lnTo>
                  <a:lnTo>
                    <a:pt x="65745" y="59222"/>
                  </a:lnTo>
                  <a:lnTo>
                    <a:pt x="2103" y="95890"/>
                  </a:lnTo>
                  <a:lnTo>
                    <a:pt x="0" y="103662"/>
                  </a:lnTo>
                  <a:lnTo>
                    <a:pt x="7010" y="115823"/>
                  </a:lnTo>
                  <a:lnTo>
                    <a:pt x="14782" y="117896"/>
                  </a:lnTo>
                  <a:lnTo>
                    <a:pt x="116159" y="59496"/>
                  </a:lnTo>
                  <a:lnTo>
                    <a:pt x="154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67" name="object 39">
              <a:extLst>
                <a:ext uri="{FF2B5EF4-FFF2-40B4-BE49-F238E27FC236}">
                  <a16:creationId xmlns:a16="http://schemas.microsoft.com/office/drawing/2014/main" id="{C94FB4B5-9D9E-474B-B60B-338664383E6C}"/>
                </a:ext>
              </a:extLst>
            </p:cNvPr>
            <p:cNvSpPr>
              <a:spLocks/>
            </p:cNvSpPr>
            <p:nvPr/>
          </p:nvSpPr>
          <p:spPr bwMode="auto">
            <a:xfrm>
              <a:off x="4872038" y="2719388"/>
              <a:ext cx="271462" cy="1587"/>
            </a:xfrm>
            <a:custGeom>
              <a:avLst/>
              <a:gdLst>
                <a:gd name="T0" fmla="*/ 0 w 271145"/>
                <a:gd name="T1" fmla="*/ 0 h 1905"/>
                <a:gd name="T2" fmla="*/ 270845 w 271145"/>
                <a:gd name="T3" fmla="*/ 1463 h 1905"/>
              </a:gdLst>
              <a:ahLst/>
              <a:cxnLst>
                <a:cxn ang="0">
                  <a:pos x="T0" y="T1"/>
                </a:cxn>
                <a:cxn ang="0">
                  <a:pos x="T2" y="T3"/>
                </a:cxn>
              </a:cxnLst>
              <a:rect l="0" t="0" r="r" b="b"/>
              <a:pathLst>
                <a:path w="271145" h="1905">
                  <a:moveTo>
                    <a:pt x="0" y="0"/>
                  </a:moveTo>
                  <a:lnTo>
                    <a:pt x="27084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68" name="object 40">
              <a:extLst>
                <a:ext uri="{FF2B5EF4-FFF2-40B4-BE49-F238E27FC236}">
                  <a16:creationId xmlns:a16="http://schemas.microsoft.com/office/drawing/2014/main" id="{B7CECD48-5252-4F21-84D7-92FCF741EE0B}"/>
                </a:ext>
              </a:extLst>
            </p:cNvPr>
            <p:cNvSpPr>
              <a:spLocks/>
            </p:cNvSpPr>
            <p:nvPr/>
          </p:nvSpPr>
          <p:spPr bwMode="auto">
            <a:xfrm>
              <a:off x="5053013" y="2660650"/>
              <a:ext cx="115887" cy="119063"/>
            </a:xfrm>
            <a:custGeom>
              <a:avLst/>
              <a:gdLst>
                <a:gd name="T0" fmla="*/ 15392 w 116204"/>
                <a:gd name="T1" fmla="*/ 0 h 118110"/>
                <a:gd name="T2" fmla="*/ 7589 w 116204"/>
                <a:gd name="T3" fmla="*/ 2011 h 118110"/>
                <a:gd name="T4" fmla="*/ 487 w 116204"/>
                <a:gd name="T5" fmla="*/ 14112 h 118110"/>
                <a:gd name="T6" fmla="*/ 2499 w 116204"/>
                <a:gd name="T7" fmla="*/ 21884 h 118110"/>
                <a:gd name="T8" fmla="*/ 65745 w 116204"/>
                <a:gd name="T9" fmla="*/ 59222 h 118110"/>
                <a:gd name="T10" fmla="*/ 2072 w 116204"/>
                <a:gd name="T11" fmla="*/ 95920 h 118110"/>
                <a:gd name="T12" fmla="*/ 0 w 116204"/>
                <a:gd name="T13" fmla="*/ 103692 h 118110"/>
                <a:gd name="T14" fmla="*/ 7010 w 116204"/>
                <a:gd name="T15" fmla="*/ 115823 h 118110"/>
                <a:gd name="T16" fmla="*/ 14752 w 116204"/>
                <a:gd name="T17" fmla="*/ 117927 h 118110"/>
                <a:gd name="T18" fmla="*/ 116128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589" y="2011"/>
                  </a:lnTo>
                  <a:lnTo>
                    <a:pt x="487" y="14112"/>
                  </a:lnTo>
                  <a:lnTo>
                    <a:pt x="2499" y="21884"/>
                  </a:lnTo>
                  <a:lnTo>
                    <a:pt x="65745" y="59222"/>
                  </a:lnTo>
                  <a:lnTo>
                    <a:pt x="2072" y="95920"/>
                  </a:lnTo>
                  <a:lnTo>
                    <a:pt x="0" y="103692"/>
                  </a:lnTo>
                  <a:lnTo>
                    <a:pt x="7010" y="115823"/>
                  </a:lnTo>
                  <a:lnTo>
                    <a:pt x="14752" y="117927"/>
                  </a:lnTo>
                  <a:lnTo>
                    <a:pt x="116128"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69" name="object 41">
              <a:extLst>
                <a:ext uri="{FF2B5EF4-FFF2-40B4-BE49-F238E27FC236}">
                  <a16:creationId xmlns:a16="http://schemas.microsoft.com/office/drawing/2014/main" id="{E8B649AB-DD70-4725-99C6-07BF641698F0}"/>
                </a:ext>
              </a:extLst>
            </p:cNvPr>
            <p:cNvSpPr>
              <a:spLocks/>
            </p:cNvSpPr>
            <p:nvPr/>
          </p:nvSpPr>
          <p:spPr bwMode="auto">
            <a:xfrm>
              <a:off x="4883150" y="2852738"/>
              <a:ext cx="271463" cy="1587"/>
            </a:xfrm>
            <a:custGeom>
              <a:avLst/>
              <a:gdLst>
                <a:gd name="T0" fmla="*/ 0 w 271145"/>
                <a:gd name="T1" fmla="*/ 0 h 1905"/>
                <a:gd name="T2" fmla="*/ 270875 w 271145"/>
                <a:gd name="T3" fmla="*/ 1463 h 1905"/>
              </a:gdLst>
              <a:ahLst/>
              <a:cxnLst>
                <a:cxn ang="0">
                  <a:pos x="T0" y="T1"/>
                </a:cxn>
                <a:cxn ang="0">
                  <a:pos x="T2" y="T3"/>
                </a:cxn>
              </a:cxnLst>
              <a:rect l="0" t="0" r="r" b="b"/>
              <a:pathLst>
                <a:path w="271145" h="1905">
                  <a:moveTo>
                    <a:pt x="0" y="0"/>
                  </a:moveTo>
                  <a:lnTo>
                    <a:pt x="27087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70" name="object 42">
              <a:extLst>
                <a:ext uri="{FF2B5EF4-FFF2-40B4-BE49-F238E27FC236}">
                  <a16:creationId xmlns:a16="http://schemas.microsoft.com/office/drawing/2014/main" id="{39B28C22-7E73-42B7-A438-4F331267E232}"/>
                </a:ext>
              </a:extLst>
            </p:cNvPr>
            <p:cNvSpPr>
              <a:spLocks/>
            </p:cNvSpPr>
            <p:nvPr/>
          </p:nvSpPr>
          <p:spPr bwMode="auto">
            <a:xfrm>
              <a:off x="5062538" y="2795588"/>
              <a:ext cx="115887" cy="117475"/>
            </a:xfrm>
            <a:custGeom>
              <a:avLst/>
              <a:gdLst>
                <a:gd name="T0" fmla="*/ 15392 w 116204"/>
                <a:gd name="T1" fmla="*/ 0 h 118110"/>
                <a:gd name="T2" fmla="*/ 7619 w 116204"/>
                <a:gd name="T3" fmla="*/ 2011 h 118110"/>
                <a:gd name="T4" fmla="*/ 487 w 116204"/>
                <a:gd name="T5" fmla="*/ 14081 h 118110"/>
                <a:gd name="T6" fmla="*/ 2468 w 116204"/>
                <a:gd name="T7" fmla="*/ 21884 h 118110"/>
                <a:gd name="T8" fmla="*/ 65745 w 116204"/>
                <a:gd name="T9" fmla="*/ 59222 h 118110"/>
                <a:gd name="T10" fmla="*/ 2072 w 116204"/>
                <a:gd name="T11" fmla="*/ 95890 h 118110"/>
                <a:gd name="T12" fmla="*/ 0 w 116204"/>
                <a:gd name="T13" fmla="*/ 103662 h 118110"/>
                <a:gd name="T14" fmla="*/ 7010 w 116204"/>
                <a:gd name="T15" fmla="*/ 115823 h 118110"/>
                <a:gd name="T16" fmla="*/ 14752 w 116204"/>
                <a:gd name="T17" fmla="*/ 117927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68" y="21884"/>
                  </a:lnTo>
                  <a:lnTo>
                    <a:pt x="65745" y="59222"/>
                  </a:lnTo>
                  <a:lnTo>
                    <a:pt x="2072" y="95890"/>
                  </a:lnTo>
                  <a:lnTo>
                    <a:pt x="0" y="103662"/>
                  </a:lnTo>
                  <a:lnTo>
                    <a:pt x="7010" y="115823"/>
                  </a:lnTo>
                  <a:lnTo>
                    <a:pt x="14752" y="117927"/>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71" name="object 43">
              <a:extLst>
                <a:ext uri="{FF2B5EF4-FFF2-40B4-BE49-F238E27FC236}">
                  <a16:creationId xmlns:a16="http://schemas.microsoft.com/office/drawing/2014/main" id="{0CFF693C-443C-4389-AE9C-7737223328B2}"/>
                </a:ext>
              </a:extLst>
            </p:cNvPr>
            <p:cNvSpPr>
              <a:spLocks/>
            </p:cNvSpPr>
            <p:nvPr/>
          </p:nvSpPr>
          <p:spPr bwMode="auto">
            <a:xfrm>
              <a:off x="4883150" y="1866900"/>
              <a:ext cx="271463" cy="1588"/>
            </a:xfrm>
            <a:custGeom>
              <a:avLst/>
              <a:gdLst>
                <a:gd name="T0" fmla="*/ 0 w 271145"/>
                <a:gd name="T1" fmla="*/ 0 h 1905"/>
                <a:gd name="T2" fmla="*/ 270875 w 271145"/>
                <a:gd name="T3" fmla="*/ 1463 h 1905"/>
              </a:gdLst>
              <a:ahLst/>
              <a:cxnLst>
                <a:cxn ang="0">
                  <a:pos x="T0" y="T1"/>
                </a:cxn>
                <a:cxn ang="0">
                  <a:pos x="T2" y="T3"/>
                </a:cxn>
              </a:cxnLst>
              <a:rect l="0" t="0" r="r" b="b"/>
              <a:pathLst>
                <a:path w="271145" h="1905">
                  <a:moveTo>
                    <a:pt x="0" y="0"/>
                  </a:moveTo>
                  <a:lnTo>
                    <a:pt x="27087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72" name="object 44">
              <a:extLst>
                <a:ext uri="{FF2B5EF4-FFF2-40B4-BE49-F238E27FC236}">
                  <a16:creationId xmlns:a16="http://schemas.microsoft.com/office/drawing/2014/main" id="{660CAC8E-32FF-4D70-BD29-3C6CE014ECA3}"/>
                </a:ext>
              </a:extLst>
            </p:cNvPr>
            <p:cNvSpPr>
              <a:spLocks/>
            </p:cNvSpPr>
            <p:nvPr/>
          </p:nvSpPr>
          <p:spPr bwMode="auto">
            <a:xfrm>
              <a:off x="5062538" y="1809750"/>
              <a:ext cx="115887" cy="117475"/>
            </a:xfrm>
            <a:custGeom>
              <a:avLst/>
              <a:gdLst>
                <a:gd name="T0" fmla="*/ 15392 w 116204"/>
                <a:gd name="T1" fmla="*/ 0 h 118110"/>
                <a:gd name="T2" fmla="*/ 7619 w 116204"/>
                <a:gd name="T3" fmla="*/ 2011 h 118110"/>
                <a:gd name="T4" fmla="*/ 487 w 116204"/>
                <a:gd name="T5" fmla="*/ 14081 h 118110"/>
                <a:gd name="T6" fmla="*/ 2468 w 116204"/>
                <a:gd name="T7" fmla="*/ 21884 h 118110"/>
                <a:gd name="T8" fmla="*/ 65745 w 116204"/>
                <a:gd name="T9" fmla="*/ 59222 h 118110"/>
                <a:gd name="T10" fmla="*/ 2072 w 116204"/>
                <a:gd name="T11" fmla="*/ 95890 h 118110"/>
                <a:gd name="T12" fmla="*/ 0 w 116204"/>
                <a:gd name="T13" fmla="*/ 103662 h 118110"/>
                <a:gd name="T14" fmla="*/ 7010 w 116204"/>
                <a:gd name="T15" fmla="*/ 115823 h 118110"/>
                <a:gd name="T16" fmla="*/ 14752 w 116204"/>
                <a:gd name="T17" fmla="*/ 117927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68" y="21884"/>
                  </a:lnTo>
                  <a:lnTo>
                    <a:pt x="65745" y="59222"/>
                  </a:lnTo>
                  <a:lnTo>
                    <a:pt x="2072" y="95890"/>
                  </a:lnTo>
                  <a:lnTo>
                    <a:pt x="0" y="103662"/>
                  </a:lnTo>
                  <a:lnTo>
                    <a:pt x="7010" y="115823"/>
                  </a:lnTo>
                  <a:lnTo>
                    <a:pt x="14752" y="117927"/>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73" name="object 45">
              <a:extLst>
                <a:ext uri="{FF2B5EF4-FFF2-40B4-BE49-F238E27FC236}">
                  <a16:creationId xmlns:a16="http://schemas.microsoft.com/office/drawing/2014/main" id="{B9343694-DCB0-4A77-9857-072D8D8C12E8}"/>
                </a:ext>
              </a:extLst>
            </p:cNvPr>
            <p:cNvSpPr>
              <a:spLocks/>
            </p:cNvSpPr>
            <p:nvPr/>
          </p:nvSpPr>
          <p:spPr bwMode="auto">
            <a:xfrm>
              <a:off x="4883150" y="1733550"/>
              <a:ext cx="271463" cy="1588"/>
            </a:xfrm>
            <a:custGeom>
              <a:avLst/>
              <a:gdLst>
                <a:gd name="T0" fmla="*/ 0 w 271145"/>
                <a:gd name="T1" fmla="*/ 0 h 1905"/>
                <a:gd name="T2" fmla="*/ 270875 w 271145"/>
                <a:gd name="T3" fmla="*/ 1432 h 1905"/>
              </a:gdLst>
              <a:ahLst/>
              <a:cxnLst>
                <a:cxn ang="0">
                  <a:pos x="T0" y="T1"/>
                </a:cxn>
                <a:cxn ang="0">
                  <a:pos x="T2" y="T3"/>
                </a:cxn>
              </a:cxnLst>
              <a:rect l="0" t="0" r="r" b="b"/>
              <a:pathLst>
                <a:path w="271145"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74" name="object 46">
              <a:extLst>
                <a:ext uri="{FF2B5EF4-FFF2-40B4-BE49-F238E27FC236}">
                  <a16:creationId xmlns:a16="http://schemas.microsoft.com/office/drawing/2014/main" id="{29E56833-483C-48DB-BC97-C8100A5AD5C2}"/>
                </a:ext>
              </a:extLst>
            </p:cNvPr>
            <p:cNvSpPr>
              <a:spLocks/>
            </p:cNvSpPr>
            <p:nvPr/>
          </p:nvSpPr>
          <p:spPr bwMode="auto">
            <a:xfrm>
              <a:off x="5062538" y="1676400"/>
              <a:ext cx="115887" cy="117475"/>
            </a:xfrm>
            <a:custGeom>
              <a:avLst/>
              <a:gdLst>
                <a:gd name="T0" fmla="*/ 15392 w 116204"/>
                <a:gd name="T1" fmla="*/ 0 h 118110"/>
                <a:gd name="T2" fmla="*/ 7619 w 116204"/>
                <a:gd name="T3" fmla="*/ 2011 h 118110"/>
                <a:gd name="T4" fmla="*/ 487 w 116204"/>
                <a:gd name="T5" fmla="*/ 14081 h 118110"/>
                <a:gd name="T6" fmla="*/ 2468 w 116204"/>
                <a:gd name="T7" fmla="*/ 21854 h 118110"/>
                <a:gd name="T8" fmla="*/ 65745 w 116204"/>
                <a:gd name="T9" fmla="*/ 59222 h 118110"/>
                <a:gd name="T10" fmla="*/ 2072 w 116204"/>
                <a:gd name="T11" fmla="*/ 95890 h 118110"/>
                <a:gd name="T12" fmla="*/ 0 w 116204"/>
                <a:gd name="T13" fmla="*/ 103662 h 118110"/>
                <a:gd name="T14" fmla="*/ 7010 w 116204"/>
                <a:gd name="T15" fmla="*/ 115823 h 118110"/>
                <a:gd name="T16" fmla="*/ 14752 w 116204"/>
                <a:gd name="T17" fmla="*/ 117896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68" y="21854"/>
                  </a:lnTo>
                  <a:lnTo>
                    <a:pt x="65745" y="59222"/>
                  </a:lnTo>
                  <a:lnTo>
                    <a:pt x="2072" y="95890"/>
                  </a:lnTo>
                  <a:lnTo>
                    <a:pt x="0" y="103662"/>
                  </a:lnTo>
                  <a:lnTo>
                    <a:pt x="7010" y="115823"/>
                  </a:lnTo>
                  <a:lnTo>
                    <a:pt x="1475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75" name="object 47">
              <a:extLst>
                <a:ext uri="{FF2B5EF4-FFF2-40B4-BE49-F238E27FC236}">
                  <a16:creationId xmlns:a16="http://schemas.microsoft.com/office/drawing/2014/main" id="{81D9B622-57A1-4ADF-9E3B-F9F1F7FC961D}"/>
                </a:ext>
              </a:extLst>
            </p:cNvPr>
            <p:cNvSpPr>
              <a:spLocks/>
            </p:cNvSpPr>
            <p:nvPr/>
          </p:nvSpPr>
          <p:spPr bwMode="auto">
            <a:xfrm>
              <a:off x="4140200" y="1628775"/>
              <a:ext cx="719138" cy="1319213"/>
            </a:xfrm>
            <a:custGeom>
              <a:avLst/>
              <a:gdLst>
                <a:gd name="T0" fmla="*/ 0 w 720089"/>
                <a:gd name="T1" fmla="*/ 1318522 h 1318895"/>
                <a:gd name="T2" fmla="*/ 720089 w 720089"/>
                <a:gd name="T3" fmla="*/ 1318522 h 1318895"/>
                <a:gd name="T4" fmla="*/ 720089 w 720089"/>
                <a:gd name="T5" fmla="*/ 0 h 1318895"/>
                <a:gd name="T6" fmla="*/ 0 w 720089"/>
                <a:gd name="T7" fmla="*/ 0 h 1318895"/>
                <a:gd name="T8" fmla="*/ 0 w 720089"/>
                <a:gd name="T9" fmla="*/ 1318522 h 1318895"/>
              </a:gdLst>
              <a:ahLst/>
              <a:cxnLst>
                <a:cxn ang="0">
                  <a:pos x="T0" y="T1"/>
                </a:cxn>
                <a:cxn ang="0">
                  <a:pos x="T2" y="T3"/>
                </a:cxn>
                <a:cxn ang="0">
                  <a:pos x="T4" y="T5"/>
                </a:cxn>
                <a:cxn ang="0">
                  <a:pos x="T6" y="T7"/>
                </a:cxn>
                <a:cxn ang="0">
                  <a:pos x="T8" y="T9"/>
                </a:cxn>
              </a:cxnLst>
              <a:rect l="0" t="0" r="r" b="b"/>
              <a:pathLst>
                <a:path w="720089" h="1318895">
                  <a:moveTo>
                    <a:pt x="0" y="1318522"/>
                  </a:moveTo>
                  <a:lnTo>
                    <a:pt x="720089" y="1318522"/>
                  </a:lnTo>
                  <a:lnTo>
                    <a:pt x="720089"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48" name="object 48">
              <a:extLst>
                <a:ext uri="{FF2B5EF4-FFF2-40B4-BE49-F238E27FC236}">
                  <a16:creationId xmlns:a16="http://schemas.microsoft.com/office/drawing/2014/main" id="{E7624422-5C37-4317-869F-0E842BAA8229}"/>
                </a:ext>
              </a:extLst>
            </p:cNvPr>
            <p:cNvSpPr txBox="1"/>
            <p:nvPr/>
          </p:nvSpPr>
          <p:spPr>
            <a:xfrm>
              <a:off x="4192588" y="2044700"/>
              <a:ext cx="611187" cy="520700"/>
            </a:xfrm>
            <a:prstGeom prst="rect">
              <a:avLst/>
            </a:prstGeom>
          </p:spPr>
          <p:txBody>
            <a:bodyPr lIns="0" tIns="0" rIns="0" bIns="0">
              <a:spAutoFit/>
            </a:bodyPr>
            <a:lstStyle>
              <a:lvl1pPr marL="177800" indent="-1651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ts val="2100"/>
                </a:lnSpc>
              </a:pPr>
              <a:r>
                <a:rPr lang="en-US" altLang="en-US">
                  <a:latin typeface="Trebuchet MS" panose="020B0603020202020204" pitchFamily="34" charset="0"/>
                  <a:ea typeface="Trebuchet MS" panose="020B0603020202020204" pitchFamily="34" charset="0"/>
                  <a:cs typeface="Trebuchet MS" panose="020B0603020202020204" pitchFamily="34" charset="0"/>
                </a:rPr>
                <a:t>Insert</a:t>
              </a:r>
              <a:r>
                <a:rPr lang="en-US" altLang="en-US">
                  <a:latin typeface="Times New Roman" panose="02020603050405020304" pitchFamily="18" charset="0"/>
                  <a:cs typeface="Times New Roman" panose="02020603050405020304" pitchFamily="18" charset="0"/>
                </a:rPr>
                <a:t> </a:t>
              </a:r>
              <a:r>
                <a:rPr lang="en-US" altLang="en-US">
                  <a:latin typeface="Trebuchet MS" panose="020B0603020202020204" pitchFamily="34" charset="0"/>
                  <a:ea typeface="Trebuchet MS" panose="020B0603020202020204" pitchFamily="34" charset="0"/>
                  <a:cs typeface="Trebuchet MS" panose="020B0603020202020204" pitchFamily="34" charset="0"/>
                </a:rPr>
                <a:t>CP</a:t>
              </a:r>
            </a:p>
          </p:txBody>
        </p:sp>
        <p:sp>
          <p:nvSpPr>
            <p:cNvPr id="22577" name="object 49">
              <a:extLst>
                <a:ext uri="{FF2B5EF4-FFF2-40B4-BE49-F238E27FC236}">
                  <a16:creationId xmlns:a16="http://schemas.microsoft.com/office/drawing/2014/main" id="{F20A3596-DEE7-4250-A786-B7DD15A4A056}"/>
                </a:ext>
              </a:extLst>
            </p:cNvPr>
            <p:cNvSpPr>
              <a:spLocks/>
            </p:cNvSpPr>
            <p:nvPr/>
          </p:nvSpPr>
          <p:spPr bwMode="auto">
            <a:xfrm>
              <a:off x="5940425" y="1628775"/>
              <a:ext cx="719138" cy="1319213"/>
            </a:xfrm>
            <a:custGeom>
              <a:avLst/>
              <a:gdLst>
                <a:gd name="T0" fmla="*/ 0 w 720090"/>
                <a:gd name="T1" fmla="*/ 1318522 h 1318895"/>
                <a:gd name="T2" fmla="*/ 720077 w 720090"/>
                <a:gd name="T3" fmla="*/ 1318522 h 1318895"/>
                <a:gd name="T4" fmla="*/ 720077 w 720090"/>
                <a:gd name="T5" fmla="*/ 0 h 1318895"/>
                <a:gd name="T6" fmla="*/ 0 w 720090"/>
                <a:gd name="T7" fmla="*/ 0 h 1318895"/>
                <a:gd name="T8" fmla="*/ 0 w 720090"/>
                <a:gd name="T9" fmla="*/ 1318522 h 1318895"/>
              </a:gdLst>
              <a:ahLst/>
              <a:cxnLst>
                <a:cxn ang="0">
                  <a:pos x="T0" y="T1"/>
                </a:cxn>
                <a:cxn ang="0">
                  <a:pos x="T2" y="T3"/>
                </a:cxn>
                <a:cxn ang="0">
                  <a:pos x="T4" y="T5"/>
                </a:cxn>
                <a:cxn ang="0">
                  <a:pos x="T6" y="T7"/>
                </a:cxn>
                <a:cxn ang="0">
                  <a:pos x="T8" y="T9"/>
                </a:cxn>
              </a:cxnLst>
              <a:rect l="0" t="0" r="r" b="b"/>
              <a:pathLst>
                <a:path w="720090" h="1318895">
                  <a:moveTo>
                    <a:pt x="0" y="1318522"/>
                  </a:moveTo>
                  <a:lnTo>
                    <a:pt x="720077" y="1318522"/>
                  </a:lnTo>
                  <a:lnTo>
                    <a:pt x="720077"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78" name="object 50">
              <a:extLst>
                <a:ext uri="{FF2B5EF4-FFF2-40B4-BE49-F238E27FC236}">
                  <a16:creationId xmlns:a16="http://schemas.microsoft.com/office/drawing/2014/main" id="{E48BAB09-7BCC-4ADF-B568-8507C7A7A1AF}"/>
                </a:ext>
              </a:extLst>
            </p:cNvPr>
            <p:cNvSpPr txBox="1">
              <a:spLocks noChangeArrowheads="1"/>
            </p:cNvSpPr>
            <p:nvPr/>
          </p:nvSpPr>
          <p:spPr bwMode="auto">
            <a:xfrm>
              <a:off x="6094413" y="2181225"/>
              <a:ext cx="4206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latin typeface="Trebuchet MS" panose="020B0603020202020204" pitchFamily="34" charset="0"/>
                  <a:ea typeface="Trebuchet MS" panose="020B0603020202020204" pitchFamily="34" charset="0"/>
                  <a:cs typeface="Trebuchet MS" panose="020B0603020202020204" pitchFamily="34" charset="0"/>
                </a:rPr>
                <a:t>D/A</a:t>
              </a:r>
            </a:p>
          </p:txBody>
        </p:sp>
        <p:sp>
          <p:nvSpPr>
            <p:cNvPr id="22579" name="object 51">
              <a:extLst>
                <a:ext uri="{FF2B5EF4-FFF2-40B4-BE49-F238E27FC236}">
                  <a16:creationId xmlns:a16="http://schemas.microsoft.com/office/drawing/2014/main" id="{F7F73992-0551-43FB-83A4-B6A6E7455DEE}"/>
                </a:ext>
              </a:extLst>
            </p:cNvPr>
            <p:cNvSpPr>
              <a:spLocks/>
            </p:cNvSpPr>
            <p:nvPr/>
          </p:nvSpPr>
          <p:spPr bwMode="auto">
            <a:xfrm>
              <a:off x="5703888" y="2289175"/>
              <a:ext cx="211137" cy="9525"/>
            </a:xfrm>
            <a:custGeom>
              <a:avLst/>
              <a:gdLst>
                <a:gd name="T0" fmla="*/ 0 w 211454"/>
                <a:gd name="T1" fmla="*/ 9204 h 9525"/>
                <a:gd name="T2" fmla="*/ 211348 w 211454"/>
                <a:gd name="T3" fmla="*/ 0 h 9525"/>
              </a:gdLst>
              <a:ahLst/>
              <a:cxnLst>
                <a:cxn ang="0">
                  <a:pos x="T0" y="T1"/>
                </a:cxn>
                <a:cxn ang="0">
                  <a:pos x="T2" y="T3"/>
                </a:cxn>
              </a:cxnLst>
              <a:rect l="0" t="0" r="r" b="b"/>
              <a:pathLst>
                <a:path w="211454" h="9525">
                  <a:moveTo>
                    <a:pt x="0" y="9204"/>
                  </a:moveTo>
                  <a:lnTo>
                    <a:pt x="211348"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80" name="object 52">
              <a:extLst>
                <a:ext uri="{FF2B5EF4-FFF2-40B4-BE49-F238E27FC236}">
                  <a16:creationId xmlns:a16="http://schemas.microsoft.com/office/drawing/2014/main" id="{C4DC69A0-4A68-4516-BC58-CADEFE2099B7}"/>
                </a:ext>
              </a:extLst>
            </p:cNvPr>
            <p:cNvSpPr>
              <a:spLocks/>
            </p:cNvSpPr>
            <p:nvPr/>
          </p:nvSpPr>
          <p:spPr bwMode="auto">
            <a:xfrm>
              <a:off x="5822950" y="2233613"/>
              <a:ext cx="117475" cy="117475"/>
            </a:xfrm>
            <a:custGeom>
              <a:avLst/>
              <a:gdLst>
                <a:gd name="T0" fmla="*/ 14234 w 118110"/>
                <a:gd name="T1" fmla="*/ 0 h 118110"/>
                <a:gd name="T2" fmla="*/ 6553 w 118110"/>
                <a:gd name="T3" fmla="*/ 2377 h 118110"/>
                <a:gd name="T4" fmla="*/ 3261 w 118110"/>
                <a:gd name="T5" fmla="*/ 8595 h 118110"/>
                <a:gd name="T6" fmla="*/ 0 w 118110"/>
                <a:gd name="T7" fmla="*/ 14813 h 118110"/>
                <a:gd name="T8" fmla="*/ 2377 w 118110"/>
                <a:gd name="T9" fmla="*/ 22494 h 118110"/>
                <a:gd name="T10" fmla="*/ 67391 w 118110"/>
                <a:gd name="T11" fmla="*/ 56692 h 118110"/>
                <a:gd name="T12" fmla="*/ 5608 w 118110"/>
                <a:gd name="T13" fmla="*/ 96438 h 118110"/>
                <a:gd name="T14" fmla="*/ 3901 w 118110"/>
                <a:gd name="T15" fmla="*/ 104302 h 118110"/>
                <a:gd name="T16" fmla="*/ 7711 w 118110"/>
                <a:gd name="T17" fmla="*/ 110185 h 118110"/>
                <a:gd name="T18" fmla="*/ 11490 w 118110"/>
                <a:gd name="T19" fmla="*/ 116098 h 118110"/>
                <a:gd name="T20" fmla="*/ 19354 w 118110"/>
                <a:gd name="T21" fmla="*/ 117805 h 118110"/>
                <a:gd name="T22" fmla="*/ 117744 w 118110"/>
                <a:gd name="T23" fmla="*/ 54498 h 118110"/>
                <a:gd name="T24" fmla="*/ 14234 w 118110"/>
                <a:gd name="T25"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110" h="118110">
                  <a:moveTo>
                    <a:pt x="14234" y="0"/>
                  </a:moveTo>
                  <a:lnTo>
                    <a:pt x="6553" y="2377"/>
                  </a:lnTo>
                  <a:lnTo>
                    <a:pt x="3261" y="8595"/>
                  </a:lnTo>
                  <a:lnTo>
                    <a:pt x="0" y="14813"/>
                  </a:lnTo>
                  <a:lnTo>
                    <a:pt x="2377" y="22494"/>
                  </a:lnTo>
                  <a:lnTo>
                    <a:pt x="67391" y="56692"/>
                  </a:lnTo>
                  <a:lnTo>
                    <a:pt x="5608" y="96438"/>
                  </a:lnTo>
                  <a:lnTo>
                    <a:pt x="3901" y="104302"/>
                  </a:lnTo>
                  <a:lnTo>
                    <a:pt x="7711" y="110185"/>
                  </a:lnTo>
                  <a:lnTo>
                    <a:pt x="11490" y="116098"/>
                  </a:lnTo>
                  <a:lnTo>
                    <a:pt x="19354" y="117805"/>
                  </a:lnTo>
                  <a:lnTo>
                    <a:pt x="117744" y="54498"/>
                  </a:lnTo>
                  <a:lnTo>
                    <a:pt x="142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81" name="object 53">
              <a:extLst>
                <a:ext uri="{FF2B5EF4-FFF2-40B4-BE49-F238E27FC236}">
                  <a16:creationId xmlns:a16="http://schemas.microsoft.com/office/drawing/2014/main" id="{51A1D141-D8C5-439C-B6E8-DEC094E21273}"/>
                </a:ext>
              </a:extLst>
            </p:cNvPr>
            <p:cNvSpPr>
              <a:spLocks/>
            </p:cNvSpPr>
            <p:nvPr/>
          </p:nvSpPr>
          <p:spPr bwMode="auto">
            <a:xfrm>
              <a:off x="6659563" y="2287588"/>
              <a:ext cx="577850" cy="635000"/>
            </a:xfrm>
            <a:custGeom>
              <a:avLst/>
              <a:gdLst>
                <a:gd name="T0" fmla="*/ 0 w 576579"/>
                <a:gd name="T1" fmla="*/ 0 h 635000"/>
                <a:gd name="T2" fmla="*/ 576285 w 576579"/>
                <a:gd name="T3" fmla="*/ 0 h 635000"/>
                <a:gd name="T4" fmla="*/ 576285 w 576579"/>
                <a:gd name="T5" fmla="*/ 634380 h 635000"/>
              </a:gdLst>
              <a:ahLst/>
              <a:cxnLst>
                <a:cxn ang="0">
                  <a:pos x="T0" y="T1"/>
                </a:cxn>
                <a:cxn ang="0">
                  <a:pos x="T2" y="T3"/>
                </a:cxn>
                <a:cxn ang="0">
                  <a:pos x="T4" y="T5"/>
                </a:cxn>
              </a:cxnLst>
              <a:rect l="0" t="0" r="r" b="b"/>
              <a:pathLst>
                <a:path w="576579" h="635000">
                  <a:moveTo>
                    <a:pt x="0" y="0"/>
                  </a:moveTo>
                  <a:lnTo>
                    <a:pt x="576285" y="0"/>
                  </a:lnTo>
                  <a:lnTo>
                    <a:pt x="576285" y="63438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82" name="object 54">
              <a:extLst>
                <a:ext uri="{FF2B5EF4-FFF2-40B4-BE49-F238E27FC236}">
                  <a16:creationId xmlns:a16="http://schemas.microsoft.com/office/drawing/2014/main" id="{6741EA94-AC53-4E28-81E5-84A80465E281}"/>
                </a:ext>
              </a:extLst>
            </p:cNvPr>
            <p:cNvSpPr>
              <a:spLocks/>
            </p:cNvSpPr>
            <p:nvPr/>
          </p:nvSpPr>
          <p:spPr bwMode="auto">
            <a:xfrm>
              <a:off x="7177088" y="2832100"/>
              <a:ext cx="119062" cy="115888"/>
            </a:xfrm>
            <a:custGeom>
              <a:avLst/>
              <a:gdLst>
                <a:gd name="T0" fmla="*/ 14142 w 118109"/>
                <a:gd name="T1" fmla="*/ 0 h 116205"/>
                <a:gd name="T2" fmla="*/ 2042 w 118109"/>
                <a:gd name="T3" fmla="*/ 7071 h 116205"/>
                <a:gd name="T4" fmla="*/ 0 w 118109"/>
                <a:gd name="T5" fmla="*/ 14874 h 116205"/>
                <a:gd name="T6" fmla="*/ 58948 w 118109"/>
                <a:gd name="T7" fmla="*/ 115915 h 116205"/>
                <a:gd name="T8" fmla="*/ 88352 w 118109"/>
                <a:gd name="T9" fmla="*/ 65501 h 116205"/>
                <a:gd name="T10" fmla="*/ 58948 w 118109"/>
                <a:gd name="T11" fmla="*/ 65501 h 116205"/>
                <a:gd name="T12" fmla="*/ 21945 w 118109"/>
                <a:gd name="T13" fmla="*/ 2072 h 116205"/>
                <a:gd name="T14" fmla="*/ 14142 w 118109"/>
                <a:gd name="T15" fmla="*/ 0 h 116205"/>
                <a:gd name="T16" fmla="*/ 103723 w 118109"/>
                <a:gd name="T17" fmla="*/ 0 h 116205"/>
                <a:gd name="T18" fmla="*/ 95951 w 118109"/>
                <a:gd name="T19" fmla="*/ 2072 h 116205"/>
                <a:gd name="T20" fmla="*/ 58948 w 118109"/>
                <a:gd name="T21" fmla="*/ 65501 h 116205"/>
                <a:gd name="T22" fmla="*/ 88352 w 118109"/>
                <a:gd name="T23" fmla="*/ 65501 h 116205"/>
                <a:gd name="T24" fmla="*/ 117896 w 118109"/>
                <a:gd name="T25" fmla="*/ 14874 h 116205"/>
                <a:gd name="T26" fmla="*/ 115854 w 118109"/>
                <a:gd name="T27" fmla="*/ 7071 h 116205"/>
                <a:gd name="T28" fmla="*/ 103723 w 118109"/>
                <a:gd name="T29" fmla="*/ 0 h 116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8109" h="116205">
                  <a:moveTo>
                    <a:pt x="14142" y="0"/>
                  </a:moveTo>
                  <a:lnTo>
                    <a:pt x="2042" y="7071"/>
                  </a:lnTo>
                  <a:lnTo>
                    <a:pt x="0" y="14874"/>
                  </a:lnTo>
                  <a:lnTo>
                    <a:pt x="58948" y="115915"/>
                  </a:lnTo>
                  <a:lnTo>
                    <a:pt x="88352" y="65501"/>
                  </a:lnTo>
                  <a:lnTo>
                    <a:pt x="58948" y="65501"/>
                  </a:lnTo>
                  <a:lnTo>
                    <a:pt x="21945" y="2072"/>
                  </a:lnTo>
                  <a:lnTo>
                    <a:pt x="14142" y="0"/>
                  </a:lnTo>
                  <a:close/>
                </a:path>
                <a:path w="118109" h="116205">
                  <a:moveTo>
                    <a:pt x="103723" y="0"/>
                  </a:moveTo>
                  <a:lnTo>
                    <a:pt x="95951" y="2072"/>
                  </a:lnTo>
                  <a:lnTo>
                    <a:pt x="58948" y="65501"/>
                  </a:lnTo>
                  <a:lnTo>
                    <a:pt x="88352" y="65501"/>
                  </a:lnTo>
                  <a:lnTo>
                    <a:pt x="117896" y="14874"/>
                  </a:lnTo>
                  <a:lnTo>
                    <a:pt x="115854" y="7071"/>
                  </a:lnTo>
                  <a:lnTo>
                    <a:pt x="1037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5" name="object 55">
              <a:extLst>
                <a:ext uri="{FF2B5EF4-FFF2-40B4-BE49-F238E27FC236}">
                  <a16:creationId xmlns:a16="http://schemas.microsoft.com/office/drawing/2014/main" id="{29A33D59-C284-4510-B154-AAD0D898A995}"/>
                </a:ext>
              </a:extLst>
            </p:cNvPr>
            <p:cNvSpPr txBox="1"/>
            <p:nvPr/>
          </p:nvSpPr>
          <p:spPr>
            <a:xfrm>
              <a:off x="6783388" y="3068638"/>
              <a:ext cx="825500" cy="254000"/>
            </a:xfrm>
            <a:prstGeom prst="rect">
              <a:avLst/>
            </a:prstGeom>
          </p:spPr>
          <p:txBody>
            <a:bodyPr lIns="0" tIns="0" rIns="0" bIns="0">
              <a:spAutoFit/>
            </a:bodyPr>
            <a:lstStyle/>
            <a:p>
              <a:pPr marL="12700" fontAlgn="auto">
                <a:spcBef>
                  <a:spcPts val="0"/>
                </a:spcBef>
                <a:spcAft>
                  <a:spcPts val="0"/>
                </a:spcAft>
                <a:defRPr/>
              </a:pPr>
              <a:r>
                <a:rPr spc="-5" dirty="0">
                  <a:latin typeface="Trebuchet MS"/>
                  <a:cs typeface="Trebuchet MS"/>
                </a:rPr>
                <a:t>channel</a:t>
              </a:r>
              <a:endParaRPr>
                <a:latin typeface="Trebuchet MS"/>
                <a:cs typeface="Trebuchet MS"/>
              </a:endParaRPr>
            </a:p>
          </p:txBody>
        </p:sp>
        <p:sp>
          <p:nvSpPr>
            <p:cNvPr id="56" name="object 56">
              <a:extLst>
                <a:ext uri="{FF2B5EF4-FFF2-40B4-BE49-F238E27FC236}">
                  <a16:creationId xmlns:a16="http://schemas.microsoft.com/office/drawing/2014/main" id="{B9DF491C-FF46-4A76-B883-842B31C27044}"/>
                </a:ext>
              </a:extLst>
            </p:cNvPr>
            <p:cNvSpPr txBox="1"/>
            <p:nvPr/>
          </p:nvSpPr>
          <p:spPr>
            <a:xfrm>
              <a:off x="7926388" y="3683000"/>
              <a:ext cx="555625" cy="254000"/>
            </a:xfrm>
            <a:prstGeom prst="rect">
              <a:avLst/>
            </a:prstGeom>
          </p:spPr>
          <p:txBody>
            <a:bodyPr lIns="0" tIns="0" rIns="0" bIns="0">
              <a:spAutoFit/>
            </a:bodyPr>
            <a:lstStyle/>
            <a:p>
              <a:pPr marL="12700" fontAlgn="auto">
                <a:spcBef>
                  <a:spcPts val="0"/>
                </a:spcBef>
                <a:spcAft>
                  <a:spcPts val="0"/>
                </a:spcAft>
                <a:defRPr/>
              </a:pPr>
              <a:r>
                <a:rPr dirty="0">
                  <a:latin typeface="Trebuchet MS"/>
                  <a:cs typeface="Trebuchet MS"/>
                </a:rPr>
                <a:t>n</a:t>
              </a:r>
              <a:r>
                <a:rPr spc="-5" dirty="0">
                  <a:latin typeface="Trebuchet MS"/>
                  <a:cs typeface="Trebuchet MS"/>
                </a:rPr>
                <a:t>o</a:t>
              </a:r>
              <a:r>
                <a:rPr spc="-10" dirty="0">
                  <a:latin typeface="Trebuchet MS"/>
                  <a:cs typeface="Trebuchet MS"/>
                </a:rPr>
                <a:t>i</a:t>
              </a:r>
              <a:r>
                <a:rPr spc="-15" dirty="0">
                  <a:latin typeface="Trebuchet MS"/>
                  <a:cs typeface="Trebuchet MS"/>
                </a:rPr>
                <a:t>s</a:t>
              </a:r>
              <a:r>
                <a:rPr dirty="0">
                  <a:latin typeface="Trebuchet MS"/>
                  <a:cs typeface="Trebuchet MS"/>
                </a:rPr>
                <a:t>e</a:t>
              </a:r>
              <a:endParaRPr>
                <a:latin typeface="Trebuchet MS"/>
                <a:cs typeface="Trebuchet MS"/>
              </a:endParaRPr>
            </a:p>
          </p:txBody>
        </p:sp>
        <p:sp>
          <p:nvSpPr>
            <p:cNvPr id="22585" name="object 57">
              <a:extLst>
                <a:ext uri="{FF2B5EF4-FFF2-40B4-BE49-F238E27FC236}">
                  <a16:creationId xmlns:a16="http://schemas.microsoft.com/office/drawing/2014/main" id="{BA446549-CE4F-4CBB-997E-F21932AF095C}"/>
                </a:ext>
              </a:extLst>
            </p:cNvPr>
            <p:cNvSpPr>
              <a:spLocks/>
            </p:cNvSpPr>
            <p:nvPr/>
          </p:nvSpPr>
          <p:spPr bwMode="auto">
            <a:xfrm>
              <a:off x="7092950" y="3640138"/>
              <a:ext cx="287338" cy="315912"/>
            </a:xfrm>
            <a:custGeom>
              <a:avLst/>
              <a:gdLst>
                <a:gd name="T0" fmla="*/ 0 w 288290"/>
                <a:gd name="T1" fmla="*/ 157493 h 315595"/>
                <a:gd name="T2" fmla="*/ 5864 w 288290"/>
                <a:gd name="T3" fmla="*/ 112720 h 315595"/>
                <a:gd name="T4" fmla="*/ 22339 w 288290"/>
                <a:gd name="T5" fmla="*/ 72937 h 315595"/>
                <a:gd name="T6" fmla="*/ 47744 w 288290"/>
                <a:gd name="T7" fmla="*/ 39983 h 315595"/>
                <a:gd name="T8" fmla="*/ 80399 w 288290"/>
                <a:gd name="T9" fmla="*/ 15702 h 315595"/>
                <a:gd name="T10" fmla="*/ 118624 w 288290"/>
                <a:gd name="T11" fmla="*/ 1934 h 315595"/>
                <a:gd name="T12" fmla="*/ 132313 w 288290"/>
                <a:gd name="T13" fmla="*/ 0 h 315595"/>
                <a:gd name="T14" fmla="*/ 147690 w 288290"/>
                <a:gd name="T15" fmla="*/ 599 h 315595"/>
                <a:gd name="T16" fmla="*/ 190249 w 288290"/>
                <a:gd name="T17" fmla="*/ 10165 h 315595"/>
                <a:gd name="T18" fmla="*/ 226563 w 288290"/>
                <a:gd name="T19" fmla="*/ 30092 h 315595"/>
                <a:gd name="T20" fmla="*/ 255493 w 288290"/>
                <a:gd name="T21" fmla="*/ 58726 h 315595"/>
                <a:gd name="T22" fmla="*/ 275899 w 288290"/>
                <a:gd name="T23" fmla="*/ 94410 h 315595"/>
                <a:gd name="T24" fmla="*/ 286643 w 288290"/>
                <a:gd name="T25" fmla="*/ 135490 h 315595"/>
                <a:gd name="T26" fmla="*/ 287880 w 288290"/>
                <a:gd name="T27" fmla="*/ 150096 h 315595"/>
                <a:gd name="T28" fmla="*/ 287267 w 288290"/>
                <a:gd name="T29" fmla="*/ 166285 h 315595"/>
                <a:gd name="T30" fmla="*/ 278212 w 288290"/>
                <a:gd name="T31" fmla="*/ 211421 h 315595"/>
                <a:gd name="T32" fmla="*/ 259543 w 288290"/>
                <a:gd name="T33" fmla="*/ 250269 h 315595"/>
                <a:gd name="T34" fmla="*/ 232814 w 288290"/>
                <a:gd name="T35" fmla="*/ 281357 h 315595"/>
                <a:gd name="T36" fmla="*/ 199582 w 288290"/>
                <a:gd name="T37" fmla="*/ 303216 h 315595"/>
                <a:gd name="T38" fmla="*/ 161403 w 288290"/>
                <a:gd name="T39" fmla="*/ 314375 h 315595"/>
                <a:gd name="T40" fmla="*/ 147846 w 288290"/>
                <a:gd name="T41" fmla="*/ 315462 h 315595"/>
                <a:gd name="T42" fmla="*/ 133378 w 288290"/>
                <a:gd name="T43" fmla="*/ 314751 h 315595"/>
                <a:gd name="T44" fmla="*/ 92864 w 288290"/>
                <a:gd name="T45" fmla="*/ 304502 h 315595"/>
                <a:gd name="T46" fmla="*/ 57846 w 288290"/>
                <a:gd name="T47" fmla="*/ 283457 h 315595"/>
                <a:gd name="T48" fmla="*/ 29820 w 288290"/>
                <a:gd name="T49" fmla="*/ 253394 h 315595"/>
                <a:gd name="T50" fmla="*/ 10278 w 288290"/>
                <a:gd name="T51" fmla="*/ 216087 h 315595"/>
                <a:gd name="T52" fmla="*/ 713 w 288290"/>
                <a:gd name="T53" fmla="*/ 173315 h 315595"/>
                <a:gd name="T54" fmla="*/ 0 w 288290"/>
                <a:gd name="T55" fmla="*/ 157493 h 315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8290" h="315595">
                  <a:moveTo>
                    <a:pt x="0" y="157493"/>
                  </a:moveTo>
                  <a:lnTo>
                    <a:pt x="5864" y="112720"/>
                  </a:lnTo>
                  <a:lnTo>
                    <a:pt x="22339" y="72937"/>
                  </a:lnTo>
                  <a:lnTo>
                    <a:pt x="47744" y="39983"/>
                  </a:lnTo>
                  <a:lnTo>
                    <a:pt x="80399" y="15702"/>
                  </a:lnTo>
                  <a:lnTo>
                    <a:pt x="118624" y="1934"/>
                  </a:lnTo>
                  <a:lnTo>
                    <a:pt x="132313" y="0"/>
                  </a:lnTo>
                  <a:lnTo>
                    <a:pt x="147690" y="599"/>
                  </a:lnTo>
                  <a:lnTo>
                    <a:pt x="190249" y="10165"/>
                  </a:lnTo>
                  <a:lnTo>
                    <a:pt x="226563" y="30092"/>
                  </a:lnTo>
                  <a:lnTo>
                    <a:pt x="255493" y="58726"/>
                  </a:lnTo>
                  <a:lnTo>
                    <a:pt x="275899" y="94410"/>
                  </a:lnTo>
                  <a:lnTo>
                    <a:pt x="286643" y="135490"/>
                  </a:lnTo>
                  <a:lnTo>
                    <a:pt x="287880" y="150096"/>
                  </a:lnTo>
                  <a:lnTo>
                    <a:pt x="287267" y="166285"/>
                  </a:lnTo>
                  <a:lnTo>
                    <a:pt x="278212" y="211421"/>
                  </a:lnTo>
                  <a:lnTo>
                    <a:pt x="259543" y="250269"/>
                  </a:lnTo>
                  <a:lnTo>
                    <a:pt x="232814" y="281357"/>
                  </a:lnTo>
                  <a:lnTo>
                    <a:pt x="199582" y="303216"/>
                  </a:lnTo>
                  <a:lnTo>
                    <a:pt x="161403" y="314375"/>
                  </a:lnTo>
                  <a:lnTo>
                    <a:pt x="147846" y="315462"/>
                  </a:lnTo>
                  <a:lnTo>
                    <a:pt x="133378" y="314751"/>
                  </a:lnTo>
                  <a:lnTo>
                    <a:pt x="92864" y="304502"/>
                  </a:lnTo>
                  <a:lnTo>
                    <a:pt x="57846" y="283457"/>
                  </a:lnTo>
                  <a:lnTo>
                    <a:pt x="29820" y="253394"/>
                  </a:lnTo>
                  <a:lnTo>
                    <a:pt x="10278" y="216087"/>
                  </a:lnTo>
                  <a:lnTo>
                    <a:pt x="713" y="173315"/>
                  </a:lnTo>
                  <a:lnTo>
                    <a:pt x="0" y="157493"/>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86" name="object 58">
              <a:extLst>
                <a:ext uri="{FF2B5EF4-FFF2-40B4-BE49-F238E27FC236}">
                  <a16:creationId xmlns:a16="http://schemas.microsoft.com/office/drawing/2014/main" id="{7A8D2F8C-313B-40D5-8412-DE33A1EC7C52}"/>
                </a:ext>
              </a:extLst>
            </p:cNvPr>
            <p:cNvSpPr>
              <a:spLocks/>
            </p:cNvSpPr>
            <p:nvPr/>
          </p:nvSpPr>
          <p:spPr bwMode="auto">
            <a:xfrm>
              <a:off x="7235825" y="3360738"/>
              <a:ext cx="0" cy="254000"/>
            </a:xfrm>
            <a:custGeom>
              <a:avLst/>
              <a:gdLst>
                <a:gd name="T0" fmla="*/ 0 h 252729"/>
                <a:gd name="T1" fmla="*/ 252618 h 252729"/>
              </a:gdLst>
              <a:ahLst/>
              <a:cxnLst>
                <a:cxn ang="0">
                  <a:pos x="0" y="T0"/>
                </a:cxn>
                <a:cxn ang="0">
                  <a:pos x="0" y="T1"/>
                </a:cxn>
              </a:cxnLst>
              <a:rect l="0" t="0" r="r" b="b"/>
              <a:pathLst>
                <a:path h="252729">
                  <a:moveTo>
                    <a:pt x="0" y="0"/>
                  </a:moveTo>
                  <a:lnTo>
                    <a:pt x="0" y="252618"/>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87" name="object 59">
              <a:extLst>
                <a:ext uri="{FF2B5EF4-FFF2-40B4-BE49-F238E27FC236}">
                  <a16:creationId xmlns:a16="http://schemas.microsoft.com/office/drawing/2014/main" id="{A36201FC-617C-4435-940A-C229C5CA21C5}"/>
                </a:ext>
              </a:extLst>
            </p:cNvPr>
            <p:cNvSpPr>
              <a:spLocks/>
            </p:cNvSpPr>
            <p:nvPr/>
          </p:nvSpPr>
          <p:spPr bwMode="auto">
            <a:xfrm>
              <a:off x="7177088" y="3522663"/>
              <a:ext cx="119062" cy="117475"/>
            </a:xfrm>
            <a:custGeom>
              <a:avLst/>
              <a:gdLst>
                <a:gd name="T0" fmla="*/ 14173 w 118109"/>
                <a:gd name="T1" fmla="*/ 0 h 116204"/>
                <a:gd name="T2" fmla="*/ 2042 w 118109"/>
                <a:gd name="T3" fmla="*/ 7040 h 116204"/>
                <a:gd name="T4" fmla="*/ 0 w 118109"/>
                <a:gd name="T5" fmla="*/ 14843 h 116204"/>
                <a:gd name="T6" fmla="*/ 58948 w 118109"/>
                <a:gd name="T7" fmla="*/ 115915 h 116204"/>
                <a:gd name="T8" fmla="*/ 88359 w 118109"/>
                <a:gd name="T9" fmla="*/ 65501 h 116204"/>
                <a:gd name="T10" fmla="*/ 58948 w 118109"/>
                <a:gd name="T11" fmla="*/ 65501 h 116204"/>
                <a:gd name="T12" fmla="*/ 21945 w 118109"/>
                <a:gd name="T13" fmla="*/ 2042 h 116204"/>
                <a:gd name="T14" fmla="*/ 14173 w 118109"/>
                <a:gd name="T15" fmla="*/ 0 h 116204"/>
                <a:gd name="T16" fmla="*/ 103753 w 118109"/>
                <a:gd name="T17" fmla="*/ 0 h 116204"/>
                <a:gd name="T18" fmla="*/ 95981 w 118109"/>
                <a:gd name="T19" fmla="*/ 2042 h 116204"/>
                <a:gd name="T20" fmla="*/ 58948 w 118109"/>
                <a:gd name="T21" fmla="*/ 65501 h 116204"/>
                <a:gd name="T22" fmla="*/ 88359 w 118109"/>
                <a:gd name="T23" fmla="*/ 65501 h 116204"/>
                <a:gd name="T24" fmla="*/ 117896 w 118109"/>
                <a:gd name="T25" fmla="*/ 14843 h 116204"/>
                <a:gd name="T26" fmla="*/ 115854 w 118109"/>
                <a:gd name="T27" fmla="*/ 7040 h 116204"/>
                <a:gd name="T28" fmla="*/ 103753 w 118109"/>
                <a:gd name="T29" fmla="*/ 0 h 116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8109" h="116204">
                  <a:moveTo>
                    <a:pt x="14173" y="0"/>
                  </a:moveTo>
                  <a:lnTo>
                    <a:pt x="2042" y="7040"/>
                  </a:lnTo>
                  <a:lnTo>
                    <a:pt x="0" y="14843"/>
                  </a:lnTo>
                  <a:lnTo>
                    <a:pt x="58948" y="115915"/>
                  </a:lnTo>
                  <a:lnTo>
                    <a:pt x="88359" y="65501"/>
                  </a:lnTo>
                  <a:lnTo>
                    <a:pt x="58948" y="65501"/>
                  </a:lnTo>
                  <a:lnTo>
                    <a:pt x="21945" y="2042"/>
                  </a:lnTo>
                  <a:lnTo>
                    <a:pt x="14173" y="0"/>
                  </a:lnTo>
                  <a:close/>
                </a:path>
                <a:path w="118109" h="116204">
                  <a:moveTo>
                    <a:pt x="103753" y="0"/>
                  </a:moveTo>
                  <a:lnTo>
                    <a:pt x="95981" y="2042"/>
                  </a:lnTo>
                  <a:lnTo>
                    <a:pt x="58948" y="65501"/>
                  </a:lnTo>
                  <a:lnTo>
                    <a:pt x="88359" y="65501"/>
                  </a:lnTo>
                  <a:lnTo>
                    <a:pt x="117896" y="14843"/>
                  </a:lnTo>
                  <a:lnTo>
                    <a:pt x="115854" y="7040"/>
                  </a:lnTo>
                  <a:lnTo>
                    <a:pt x="1037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88" name="object 60">
              <a:extLst>
                <a:ext uri="{FF2B5EF4-FFF2-40B4-BE49-F238E27FC236}">
                  <a16:creationId xmlns:a16="http://schemas.microsoft.com/office/drawing/2014/main" id="{A134B4CB-68FC-48DD-BE2D-75993CA18919}"/>
                </a:ext>
              </a:extLst>
            </p:cNvPr>
            <p:cNvSpPr>
              <a:spLocks/>
            </p:cNvSpPr>
            <p:nvPr/>
          </p:nvSpPr>
          <p:spPr bwMode="auto">
            <a:xfrm>
              <a:off x="7405688" y="3790950"/>
              <a:ext cx="442912" cy="6350"/>
            </a:xfrm>
            <a:custGeom>
              <a:avLst/>
              <a:gdLst>
                <a:gd name="T0" fmla="*/ 442813 w 443229"/>
                <a:gd name="T1" fmla="*/ 0 h 6985"/>
                <a:gd name="T2" fmla="*/ 0 w 443229"/>
                <a:gd name="T3" fmla="*/ 6644 h 6985"/>
              </a:gdLst>
              <a:ahLst/>
              <a:cxnLst>
                <a:cxn ang="0">
                  <a:pos x="T0" y="T1"/>
                </a:cxn>
                <a:cxn ang="0">
                  <a:pos x="T2" y="T3"/>
                </a:cxn>
              </a:cxnLst>
              <a:rect l="0" t="0" r="r" b="b"/>
              <a:pathLst>
                <a:path w="443229" h="6985">
                  <a:moveTo>
                    <a:pt x="442813" y="0"/>
                  </a:moveTo>
                  <a:lnTo>
                    <a:pt x="0" y="6644"/>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89" name="object 61">
              <a:extLst>
                <a:ext uri="{FF2B5EF4-FFF2-40B4-BE49-F238E27FC236}">
                  <a16:creationId xmlns:a16="http://schemas.microsoft.com/office/drawing/2014/main" id="{4063F5A6-8D02-4DE7-B7E5-70338CAA8638}"/>
                </a:ext>
              </a:extLst>
            </p:cNvPr>
            <p:cNvSpPr>
              <a:spLocks/>
            </p:cNvSpPr>
            <p:nvPr/>
          </p:nvSpPr>
          <p:spPr bwMode="auto">
            <a:xfrm>
              <a:off x="7380288" y="3736975"/>
              <a:ext cx="117475" cy="117475"/>
            </a:xfrm>
            <a:custGeom>
              <a:avLst/>
              <a:gdLst>
                <a:gd name="T0" fmla="*/ 100187 w 116840"/>
                <a:gd name="T1" fmla="*/ 0 h 118110"/>
                <a:gd name="T2" fmla="*/ 0 w 116840"/>
                <a:gd name="T3" fmla="*/ 60441 h 118110"/>
                <a:gd name="T4" fmla="*/ 101925 w 116840"/>
                <a:gd name="T5" fmla="*/ 117881 h 118110"/>
                <a:gd name="T6" fmla="*/ 109697 w 116840"/>
                <a:gd name="T7" fmla="*/ 115714 h 118110"/>
                <a:gd name="T8" fmla="*/ 116585 w 116840"/>
                <a:gd name="T9" fmla="*/ 103497 h 118110"/>
                <a:gd name="T10" fmla="*/ 114421 w 116840"/>
                <a:gd name="T11" fmla="*/ 95746 h 118110"/>
                <a:gd name="T12" fmla="*/ 50413 w 116840"/>
                <a:gd name="T13" fmla="*/ 59679 h 118110"/>
                <a:gd name="T14" fmla="*/ 113294 w 116840"/>
                <a:gd name="T15" fmla="*/ 21732 h 118110"/>
                <a:gd name="T16" fmla="*/ 115214 w 116840"/>
                <a:gd name="T17" fmla="*/ 13929 h 118110"/>
                <a:gd name="T18" fmla="*/ 111617 w 116840"/>
                <a:gd name="T19" fmla="*/ 7924 h 118110"/>
                <a:gd name="T20" fmla="*/ 107990 w 116840"/>
                <a:gd name="T21" fmla="*/ 1920 h 118110"/>
                <a:gd name="T22" fmla="*/ 100187 w 116840"/>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840" h="118110">
                  <a:moveTo>
                    <a:pt x="100187" y="0"/>
                  </a:moveTo>
                  <a:lnTo>
                    <a:pt x="0" y="60441"/>
                  </a:lnTo>
                  <a:lnTo>
                    <a:pt x="101925" y="117881"/>
                  </a:lnTo>
                  <a:lnTo>
                    <a:pt x="109697" y="115714"/>
                  </a:lnTo>
                  <a:lnTo>
                    <a:pt x="116585" y="103497"/>
                  </a:lnTo>
                  <a:lnTo>
                    <a:pt x="114421" y="95746"/>
                  </a:lnTo>
                  <a:lnTo>
                    <a:pt x="50413" y="59679"/>
                  </a:lnTo>
                  <a:lnTo>
                    <a:pt x="113294" y="21732"/>
                  </a:lnTo>
                  <a:lnTo>
                    <a:pt x="115214" y="13929"/>
                  </a:lnTo>
                  <a:lnTo>
                    <a:pt x="111617" y="7924"/>
                  </a:lnTo>
                  <a:lnTo>
                    <a:pt x="107990" y="1920"/>
                  </a:lnTo>
                  <a:lnTo>
                    <a:pt x="10018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90" name="object 62">
              <a:extLst>
                <a:ext uri="{FF2B5EF4-FFF2-40B4-BE49-F238E27FC236}">
                  <a16:creationId xmlns:a16="http://schemas.microsoft.com/office/drawing/2014/main" id="{07850AEA-D595-4527-A5E7-C3A054F99B01}"/>
                </a:ext>
              </a:extLst>
            </p:cNvPr>
            <p:cNvSpPr txBox="1">
              <a:spLocks noChangeArrowheads="1"/>
            </p:cNvSpPr>
            <p:nvPr/>
          </p:nvSpPr>
          <p:spPr bwMode="auto">
            <a:xfrm>
              <a:off x="7131050" y="3573463"/>
              <a:ext cx="228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sz="3200">
                  <a:cs typeface="Calibri" panose="020F0502020204030204" pitchFamily="34" charset="0"/>
                </a:rPr>
                <a:t>+</a:t>
              </a:r>
            </a:p>
          </p:txBody>
        </p:sp>
        <p:sp>
          <p:nvSpPr>
            <p:cNvPr id="22591" name="object 63">
              <a:extLst>
                <a:ext uri="{FF2B5EF4-FFF2-40B4-BE49-F238E27FC236}">
                  <a16:creationId xmlns:a16="http://schemas.microsoft.com/office/drawing/2014/main" id="{0222EF07-791F-4B55-B0C9-86884454C1F2}"/>
                </a:ext>
              </a:extLst>
            </p:cNvPr>
            <p:cNvSpPr>
              <a:spLocks/>
            </p:cNvSpPr>
            <p:nvPr/>
          </p:nvSpPr>
          <p:spPr bwMode="auto">
            <a:xfrm>
              <a:off x="6684963" y="4035425"/>
              <a:ext cx="563562" cy="1082675"/>
            </a:xfrm>
            <a:custGeom>
              <a:avLst/>
              <a:gdLst>
                <a:gd name="T0" fmla="*/ 562051 w 562609"/>
                <a:gd name="T1" fmla="*/ 0 h 1082675"/>
                <a:gd name="T2" fmla="*/ 562051 w 562609"/>
                <a:gd name="T3" fmla="*/ 1082600 h 1082675"/>
                <a:gd name="T4" fmla="*/ 0 w 562609"/>
                <a:gd name="T5" fmla="*/ 1082600 h 1082675"/>
              </a:gdLst>
              <a:ahLst/>
              <a:cxnLst>
                <a:cxn ang="0">
                  <a:pos x="T0" y="T1"/>
                </a:cxn>
                <a:cxn ang="0">
                  <a:pos x="T2" y="T3"/>
                </a:cxn>
                <a:cxn ang="0">
                  <a:pos x="T4" y="T5"/>
                </a:cxn>
              </a:cxnLst>
              <a:rect l="0" t="0" r="r" b="b"/>
              <a:pathLst>
                <a:path w="562609" h="1082675">
                  <a:moveTo>
                    <a:pt x="562051" y="0"/>
                  </a:moveTo>
                  <a:lnTo>
                    <a:pt x="562051" y="1082600"/>
                  </a:lnTo>
                  <a:lnTo>
                    <a:pt x="0" y="108260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92" name="object 64">
              <a:extLst>
                <a:ext uri="{FF2B5EF4-FFF2-40B4-BE49-F238E27FC236}">
                  <a16:creationId xmlns:a16="http://schemas.microsoft.com/office/drawing/2014/main" id="{3DEB211D-3A03-49C7-AFE3-FC88E5403218}"/>
                </a:ext>
              </a:extLst>
            </p:cNvPr>
            <p:cNvSpPr>
              <a:spLocks/>
            </p:cNvSpPr>
            <p:nvPr/>
          </p:nvSpPr>
          <p:spPr bwMode="auto">
            <a:xfrm>
              <a:off x="6659563" y="5059363"/>
              <a:ext cx="117475" cy="119062"/>
            </a:xfrm>
            <a:custGeom>
              <a:avLst/>
              <a:gdLst>
                <a:gd name="T0" fmla="*/ 101041 w 116204"/>
                <a:gd name="T1" fmla="*/ 0 h 118110"/>
                <a:gd name="T2" fmla="*/ 0 w 116204"/>
                <a:gd name="T3" fmla="*/ 58960 h 118110"/>
                <a:gd name="T4" fmla="*/ 101041 w 116204"/>
                <a:gd name="T5" fmla="*/ 117908 h 118110"/>
                <a:gd name="T6" fmla="*/ 108813 w 116204"/>
                <a:gd name="T7" fmla="*/ 115860 h 118110"/>
                <a:gd name="T8" fmla="*/ 115884 w 116204"/>
                <a:gd name="T9" fmla="*/ 103750 h 118110"/>
                <a:gd name="T10" fmla="*/ 113842 w 116204"/>
                <a:gd name="T11" fmla="*/ 95963 h 118110"/>
                <a:gd name="T12" fmla="*/ 50383 w 116204"/>
                <a:gd name="T13" fmla="*/ 58960 h 118110"/>
                <a:gd name="T14" fmla="*/ 113842 w 116204"/>
                <a:gd name="T15" fmla="*/ 21942 h 118110"/>
                <a:gd name="T16" fmla="*/ 115884 w 116204"/>
                <a:gd name="T17" fmla="*/ 14167 h 118110"/>
                <a:gd name="T18" fmla="*/ 108813 w 116204"/>
                <a:gd name="T19" fmla="*/ 2048 h 118110"/>
                <a:gd name="T20" fmla="*/ 101041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041" y="0"/>
                  </a:moveTo>
                  <a:lnTo>
                    <a:pt x="0" y="58960"/>
                  </a:lnTo>
                  <a:lnTo>
                    <a:pt x="101041" y="117908"/>
                  </a:lnTo>
                  <a:lnTo>
                    <a:pt x="108813" y="115860"/>
                  </a:lnTo>
                  <a:lnTo>
                    <a:pt x="115884" y="103750"/>
                  </a:lnTo>
                  <a:lnTo>
                    <a:pt x="113842" y="95963"/>
                  </a:lnTo>
                  <a:lnTo>
                    <a:pt x="50383" y="58960"/>
                  </a:lnTo>
                  <a:lnTo>
                    <a:pt x="113842" y="21942"/>
                  </a:lnTo>
                  <a:lnTo>
                    <a:pt x="115884" y="14167"/>
                  </a:lnTo>
                  <a:lnTo>
                    <a:pt x="108813" y="2048"/>
                  </a:lnTo>
                  <a:lnTo>
                    <a:pt x="1010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593" name="object 65">
              <a:extLst>
                <a:ext uri="{FF2B5EF4-FFF2-40B4-BE49-F238E27FC236}">
                  <a16:creationId xmlns:a16="http://schemas.microsoft.com/office/drawing/2014/main" id="{305EB9CF-BD2E-4CB1-BFAE-C7DF3FDE8200}"/>
                </a:ext>
              </a:extLst>
            </p:cNvPr>
            <p:cNvSpPr>
              <a:spLocks/>
            </p:cNvSpPr>
            <p:nvPr/>
          </p:nvSpPr>
          <p:spPr bwMode="auto">
            <a:xfrm>
              <a:off x="5940425" y="4459288"/>
              <a:ext cx="719138" cy="1319212"/>
            </a:xfrm>
            <a:custGeom>
              <a:avLst/>
              <a:gdLst>
                <a:gd name="T0" fmla="*/ 0 w 720090"/>
                <a:gd name="T1" fmla="*/ 1318522 h 1318895"/>
                <a:gd name="T2" fmla="*/ 720077 w 720090"/>
                <a:gd name="T3" fmla="*/ 1318522 h 1318895"/>
                <a:gd name="T4" fmla="*/ 720077 w 720090"/>
                <a:gd name="T5" fmla="*/ 0 h 1318895"/>
                <a:gd name="T6" fmla="*/ 0 w 720090"/>
                <a:gd name="T7" fmla="*/ 0 h 1318895"/>
                <a:gd name="T8" fmla="*/ 0 w 720090"/>
                <a:gd name="T9" fmla="*/ 1318522 h 1318895"/>
              </a:gdLst>
              <a:ahLst/>
              <a:cxnLst>
                <a:cxn ang="0">
                  <a:pos x="T0" y="T1"/>
                </a:cxn>
                <a:cxn ang="0">
                  <a:pos x="T2" y="T3"/>
                </a:cxn>
                <a:cxn ang="0">
                  <a:pos x="T4" y="T5"/>
                </a:cxn>
                <a:cxn ang="0">
                  <a:pos x="T6" y="T7"/>
                </a:cxn>
                <a:cxn ang="0">
                  <a:pos x="T8" y="T9"/>
                </a:cxn>
              </a:cxnLst>
              <a:rect l="0" t="0" r="r" b="b"/>
              <a:pathLst>
                <a:path w="720090" h="1318895">
                  <a:moveTo>
                    <a:pt x="0" y="1318522"/>
                  </a:moveTo>
                  <a:lnTo>
                    <a:pt x="720077" y="1318522"/>
                  </a:lnTo>
                  <a:lnTo>
                    <a:pt x="720077"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94" name="object 66">
              <a:extLst>
                <a:ext uri="{FF2B5EF4-FFF2-40B4-BE49-F238E27FC236}">
                  <a16:creationId xmlns:a16="http://schemas.microsoft.com/office/drawing/2014/main" id="{ABC6A0A3-2DB4-4853-AF26-8F9611A32504}"/>
                </a:ext>
              </a:extLst>
            </p:cNvPr>
            <p:cNvSpPr txBox="1">
              <a:spLocks noChangeArrowheads="1"/>
            </p:cNvSpPr>
            <p:nvPr/>
          </p:nvSpPr>
          <p:spPr bwMode="auto">
            <a:xfrm>
              <a:off x="6094413" y="5013325"/>
              <a:ext cx="4222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a:latin typeface="Trebuchet MS" panose="020B0603020202020204" pitchFamily="34" charset="0"/>
                  <a:ea typeface="Trebuchet MS" panose="020B0603020202020204" pitchFamily="34" charset="0"/>
                  <a:cs typeface="Trebuchet MS" panose="020B0603020202020204" pitchFamily="34" charset="0"/>
                </a:rPr>
                <a:t>A/D</a:t>
              </a:r>
            </a:p>
          </p:txBody>
        </p:sp>
        <p:sp>
          <p:nvSpPr>
            <p:cNvPr id="22595" name="object 67">
              <a:extLst>
                <a:ext uri="{FF2B5EF4-FFF2-40B4-BE49-F238E27FC236}">
                  <a16:creationId xmlns:a16="http://schemas.microsoft.com/office/drawing/2014/main" id="{70A6AFF2-A0C1-455F-B1FF-FD67BBE02697}"/>
                </a:ext>
              </a:extLst>
            </p:cNvPr>
            <p:cNvSpPr>
              <a:spLocks/>
            </p:cNvSpPr>
            <p:nvPr/>
          </p:nvSpPr>
          <p:spPr bwMode="auto">
            <a:xfrm>
              <a:off x="1568450" y="4433888"/>
              <a:ext cx="369888" cy="1341437"/>
            </a:xfrm>
            <a:custGeom>
              <a:avLst/>
              <a:gdLst>
                <a:gd name="T0" fmla="*/ 0 w 369569"/>
                <a:gd name="T1" fmla="*/ 1340894 h 1341120"/>
                <a:gd name="T2" fmla="*/ 369332 w 369569"/>
                <a:gd name="T3" fmla="*/ 1340894 h 1341120"/>
                <a:gd name="T4" fmla="*/ 369332 w 369569"/>
                <a:gd name="T5" fmla="*/ 0 h 1341120"/>
                <a:gd name="T6" fmla="*/ 0 w 369569"/>
                <a:gd name="T7" fmla="*/ 0 h 1341120"/>
                <a:gd name="T8" fmla="*/ 0 w 369569"/>
                <a:gd name="T9" fmla="*/ 1340894 h 1341120"/>
              </a:gdLst>
              <a:ahLst/>
              <a:cxnLst>
                <a:cxn ang="0">
                  <a:pos x="T0" y="T1"/>
                </a:cxn>
                <a:cxn ang="0">
                  <a:pos x="T2" y="T3"/>
                </a:cxn>
                <a:cxn ang="0">
                  <a:pos x="T4" y="T5"/>
                </a:cxn>
                <a:cxn ang="0">
                  <a:pos x="T6" y="T7"/>
                </a:cxn>
                <a:cxn ang="0">
                  <a:pos x="T8" y="T9"/>
                </a:cxn>
              </a:cxnLst>
              <a:rect l="0" t="0" r="r" b="b"/>
              <a:pathLst>
                <a:path w="369569" h="1341120">
                  <a:moveTo>
                    <a:pt x="0" y="1340894"/>
                  </a:moveTo>
                  <a:lnTo>
                    <a:pt x="369332" y="1340894"/>
                  </a:lnTo>
                  <a:lnTo>
                    <a:pt x="369332" y="0"/>
                  </a:lnTo>
                  <a:lnTo>
                    <a:pt x="0" y="0"/>
                  </a:lnTo>
                  <a:lnTo>
                    <a:pt x="0" y="1340894"/>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8" name="object 68">
              <a:extLst>
                <a:ext uri="{FF2B5EF4-FFF2-40B4-BE49-F238E27FC236}">
                  <a16:creationId xmlns:a16="http://schemas.microsoft.com/office/drawing/2014/main" id="{3DD6393E-D3CA-4F8F-93F5-D825DF848DCC}"/>
                </a:ext>
              </a:extLst>
            </p:cNvPr>
            <p:cNvSpPr txBox="1"/>
            <p:nvPr/>
          </p:nvSpPr>
          <p:spPr>
            <a:xfrm>
              <a:off x="1646862" y="4691310"/>
              <a:ext cx="254000" cy="814069"/>
            </a:xfrm>
            <a:prstGeom prst="rect">
              <a:avLst/>
            </a:prstGeom>
          </p:spPr>
          <p:txBody>
            <a:bodyPr vert="vert270" lIns="0" tIns="0" rIns="0" bIns="0">
              <a:spAutoFit/>
            </a:bodyPr>
            <a:lstStyle/>
            <a:p>
              <a:pPr marL="12700" fontAlgn="auto">
                <a:spcBef>
                  <a:spcPts val="0"/>
                </a:spcBef>
                <a:spcAft>
                  <a:spcPts val="0"/>
                </a:spcAft>
                <a:defRPr/>
              </a:pPr>
              <a:r>
                <a:rPr dirty="0">
                  <a:latin typeface="Trebuchet MS"/>
                  <a:cs typeface="Trebuchet MS"/>
                </a:rPr>
                <a:t>De-m</a:t>
              </a:r>
              <a:r>
                <a:rPr spc="-5" dirty="0">
                  <a:latin typeface="Trebuchet MS"/>
                  <a:cs typeface="Trebuchet MS"/>
                </a:rPr>
                <a:t>o</a:t>
              </a:r>
              <a:r>
                <a:rPr dirty="0">
                  <a:latin typeface="Trebuchet MS"/>
                  <a:cs typeface="Trebuchet MS"/>
                </a:rPr>
                <a:t>d</a:t>
              </a:r>
              <a:endParaRPr>
                <a:latin typeface="Trebuchet MS"/>
                <a:cs typeface="Trebuchet MS"/>
              </a:endParaRPr>
            </a:p>
          </p:txBody>
        </p:sp>
        <p:sp>
          <p:nvSpPr>
            <p:cNvPr id="22597" name="object 69">
              <a:extLst>
                <a:ext uri="{FF2B5EF4-FFF2-40B4-BE49-F238E27FC236}">
                  <a16:creationId xmlns:a16="http://schemas.microsoft.com/office/drawing/2014/main" id="{971DCEEC-648A-49CE-8B07-81A3B999AF3F}"/>
                </a:ext>
              </a:extLst>
            </p:cNvPr>
            <p:cNvSpPr>
              <a:spLocks/>
            </p:cNvSpPr>
            <p:nvPr/>
          </p:nvSpPr>
          <p:spPr bwMode="auto">
            <a:xfrm>
              <a:off x="2289175" y="4441825"/>
              <a:ext cx="541338" cy="1319213"/>
            </a:xfrm>
            <a:custGeom>
              <a:avLst/>
              <a:gdLst>
                <a:gd name="T0" fmla="*/ 0 w 541655"/>
                <a:gd name="T1" fmla="*/ 1318522 h 1318895"/>
                <a:gd name="T2" fmla="*/ 541282 w 541655"/>
                <a:gd name="T3" fmla="*/ 1318522 h 1318895"/>
                <a:gd name="T4" fmla="*/ 541282 w 541655"/>
                <a:gd name="T5" fmla="*/ 0 h 1318895"/>
                <a:gd name="T6" fmla="*/ 0 w 541655"/>
                <a:gd name="T7" fmla="*/ 0 h 1318895"/>
                <a:gd name="T8" fmla="*/ 0 w 541655"/>
                <a:gd name="T9" fmla="*/ 1318522 h 1318895"/>
              </a:gdLst>
              <a:ahLst/>
              <a:cxnLst>
                <a:cxn ang="0">
                  <a:pos x="T0" y="T1"/>
                </a:cxn>
                <a:cxn ang="0">
                  <a:pos x="T2" y="T3"/>
                </a:cxn>
                <a:cxn ang="0">
                  <a:pos x="T4" y="T5"/>
                </a:cxn>
                <a:cxn ang="0">
                  <a:pos x="T6" y="T7"/>
                </a:cxn>
                <a:cxn ang="0">
                  <a:pos x="T8" y="T9"/>
                </a:cxn>
              </a:cxnLst>
              <a:rect l="0" t="0" r="r" b="b"/>
              <a:pathLst>
                <a:path w="541655" h="1318895">
                  <a:moveTo>
                    <a:pt x="0" y="1318522"/>
                  </a:moveTo>
                  <a:lnTo>
                    <a:pt x="541282" y="1318522"/>
                  </a:lnTo>
                  <a:lnTo>
                    <a:pt x="541282"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0" name="object 70">
              <a:extLst>
                <a:ext uri="{FF2B5EF4-FFF2-40B4-BE49-F238E27FC236}">
                  <a16:creationId xmlns:a16="http://schemas.microsoft.com/office/drawing/2014/main" id="{D98FE864-D21E-41E5-97E3-8AADB483E671}"/>
                </a:ext>
              </a:extLst>
            </p:cNvPr>
            <p:cNvSpPr txBox="1"/>
            <p:nvPr/>
          </p:nvSpPr>
          <p:spPr>
            <a:xfrm>
              <a:off x="2366963" y="4995863"/>
              <a:ext cx="382587" cy="254000"/>
            </a:xfrm>
            <a:prstGeom prst="rect">
              <a:avLst/>
            </a:prstGeom>
          </p:spPr>
          <p:txBody>
            <a:bodyPr lIns="0" tIns="0" rIns="0" bIns="0">
              <a:spAutoFit/>
            </a:bodyPr>
            <a:lstStyle/>
            <a:p>
              <a:pPr marL="12700" fontAlgn="auto">
                <a:spcBef>
                  <a:spcPts val="0"/>
                </a:spcBef>
                <a:spcAft>
                  <a:spcPts val="0"/>
                </a:spcAft>
                <a:defRPr/>
              </a:pPr>
              <a:r>
                <a:rPr spc="-10" dirty="0">
                  <a:latin typeface="Trebuchet MS"/>
                  <a:cs typeface="Trebuchet MS"/>
                </a:rPr>
                <a:t>P/S</a:t>
              </a:r>
              <a:endParaRPr>
                <a:latin typeface="Trebuchet MS"/>
                <a:cs typeface="Trebuchet MS"/>
              </a:endParaRPr>
            </a:p>
          </p:txBody>
        </p:sp>
        <p:sp>
          <p:nvSpPr>
            <p:cNvPr id="22599" name="object 71">
              <a:extLst>
                <a:ext uri="{FF2B5EF4-FFF2-40B4-BE49-F238E27FC236}">
                  <a16:creationId xmlns:a16="http://schemas.microsoft.com/office/drawing/2014/main" id="{136480BA-975C-489A-A787-E6CE1D919B21}"/>
                </a:ext>
              </a:extLst>
            </p:cNvPr>
            <p:cNvSpPr>
              <a:spLocks/>
            </p:cNvSpPr>
            <p:nvPr/>
          </p:nvSpPr>
          <p:spPr bwMode="auto">
            <a:xfrm>
              <a:off x="3125788" y="4443413"/>
              <a:ext cx="633412" cy="1319212"/>
            </a:xfrm>
            <a:custGeom>
              <a:avLst/>
              <a:gdLst>
                <a:gd name="T0" fmla="*/ 0 w 633729"/>
                <a:gd name="T1" fmla="*/ 1318522 h 1318895"/>
                <a:gd name="T2" fmla="*/ 633221 w 633729"/>
                <a:gd name="T3" fmla="*/ 1318522 h 1318895"/>
                <a:gd name="T4" fmla="*/ 633221 w 633729"/>
                <a:gd name="T5" fmla="*/ 0 h 1318895"/>
                <a:gd name="T6" fmla="*/ 0 w 633729"/>
                <a:gd name="T7" fmla="*/ 0 h 1318895"/>
                <a:gd name="T8" fmla="*/ 0 w 633729"/>
                <a:gd name="T9" fmla="*/ 1318522 h 1318895"/>
              </a:gdLst>
              <a:ahLst/>
              <a:cxnLst>
                <a:cxn ang="0">
                  <a:pos x="T0" y="T1"/>
                </a:cxn>
                <a:cxn ang="0">
                  <a:pos x="T2" y="T3"/>
                </a:cxn>
                <a:cxn ang="0">
                  <a:pos x="T4" y="T5"/>
                </a:cxn>
                <a:cxn ang="0">
                  <a:pos x="T6" y="T7"/>
                </a:cxn>
                <a:cxn ang="0">
                  <a:pos x="T8" y="T9"/>
                </a:cxn>
              </a:cxnLst>
              <a:rect l="0" t="0" r="r" b="b"/>
              <a:pathLst>
                <a:path w="633729" h="1318895">
                  <a:moveTo>
                    <a:pt x="0" y="1318522"/>
                  </a:moveTo>
                  <a:lnTo>
                    <a:pt x="633221" y="1318522"/>
                  </a:lnTo>
                  <a:lnTo>
                    <a:pt x="633221"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2" name="object 72">
              <a:extLst>
                <a:ext uri="{FF2B5EF4-FFF2-40B4-BE49-F238E27FC236}">
                  <a16:creationId xmlns:a16="http://schemas.microsoft.com/office/drawing/2014/main" id="{5172878E-22EA-47EF-8441-9CB15ADFE468}"/>
                </a:ext>
              </a:extLst>
            </p:cNvPr>
            <p:cNvSpPr txBox="1"/>
            <p:nvPr/>
          </p:nvSpPr>
          <p:spPr>
            <a:xfrm>
              <a:off x="3203575" y="4997450"/>
              <a:ext cx="398463" cy="254000"/>
            </a:xfrm>
            <a:prstGeom prst="rect">
              <a:avLst/>
            </a:prstGeom>
          </p:spPr>
          <p:txBody>
            <a:bodyPr lIns="0" tIns="0" rIns="0" bIns="0">
              <a:spAutoFit/>
            </a:bodyPr>
            <a:lstStyle/>
            <a:p>
              <a:pPr marL="12700" fontAlgn="auto">
                <a:spcBef>
                  <a:spcPts val="0"/>
                </a:spcBef>
                <a:spcAft>
                  <a:spcPts val="0"/>
                </a:spcAft>
                <a:defRPr/>
              </a:pPr>
              <a:r>
                <a:rPr spc="-10" dirty="0">
                  <a:latin typeface="Trebuchet MS"/>
                  <a:cs typeface="Trebuchet MS"/>
                </a:rPr>
                <a:t>FFT</a:t>
              </a:r>
              <a:endParaRPr>
                <a:latin typeface="Trebuchet MS"/>
                <a:cs typeface="Trebuchet MS"/>
              </a:endParaRPr>
            </a:p>
          </p:txBody>
        </p:sp>
        <p:sp>
          <p:nvSpPr>
            <p:cNvPr id="22601" name="object 73">
              <a:extLst>
                <a:ext uri="{FF2B5EF4-FFF2-40B4-BE49-F238E27FC236}">
                  <a16:creationId xmlns:a16="http://schemas.microsoft.com/office/drawing/2014/main" id="{37A262D1-FC1A-4E06-B871-16DC8B2EFDEE}"/>
                </a:ext>
              </a:extLst>
            </p:cNvPr>
            <p:cNvSpPr>
              <a:spLocks/>
            </p:cNvSpPr>
            <p:nvPr/>
          </p:nvSpPr>
          <p:spPr bwMode="auto">
            <a:xfrm>
              <a:off x="5162550" y="4443413"/>
              <a:ext cx="541338" cy="1319212"/>
            </a:xfrm>
            <a:custGeom>
              <a:avLst/>
              <a:gdLst>
                <a:gd name="T0" fmla="*/ 0 w 541654"/>
                <a:gd name="T1" fmla="*/ 1318522 h 1318895"/>
                <a:gd name="T2" fmla="*/ 541282 w 541654"/>
                <a:gd name="T3" fmla="*/ 1318522 h 1318895"/>
                <a:gd name="T4" fmla="*/ 541282 w 541654"/>
                <a:gd name="T5" fmla="*/ 0 h 1318895"/>
                <a:gd name="T6" fmla="*/ 0 w 541654"/>
                <a:gd name="T7" fmla="*/ 0 h 1318895"/>
                <a:gd name="T8" fmla="*/ 0 w 541654"/>
                <a:gd name="T9" fmla="*/ 1318522 h 1318895"/>
              </a:gdLst>
              <a:ahLst/>
              <a:cxnLst>
                <a:cxn ang="0">
                  <a:pos x="T0" y="T1"/>
                </a:cxn>
                <a:cxn ang="0">
                  <a:pos x="T2" y="T3"/>
                </a:cxn>
                <a:cxn ang="0">
                  <a:pos x="T4" y="T5"/>
                </a:cxn>
                <a:cxn ang="0">
                  <a:pos x="T6" y="T7"/>
                </a:cxn>
                <a:cxn ang="0">
                  <a:pos x="T8" y="T9"/>
                </a:cxn>
              </a:cxnLst>
              <a:rect l="0" t="0" r="r" b="b"/>
              <a:pathLst>
                <a:path w="541654" h="1318895">
                  <a:moveTo>
                    <a:pt x="0" y="1318522"/>
                  </a:moveTo>
                  <a:lnTo>
                    <a:pt x="541282" y="1318522"/>
                  </a:lnTo>
                  <a:lnTo>
                    <a:pt x="541282"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4" name="object 74">
              <a:extLst>
                <a:ext uri="{FF2B5EF4-FFF2-40B4-BE49-F238E27FC236}">
                  <a16:creationId xmlns:a16="http://schemas.microsoft.com/office/drawing/2014/main" id="{DC1CA1F0-3710-4A8E-9717-29C32E6A20DF}"/>
                </a:ext>
              </a:extLst>
            </p:cNvPr>
            <p:cNvSpPr txBox="1"/>
            <p:nvPr/>
          </p:nvSpPr>
          <p:spPr>
            <a:xfrm>
              <a:off x="5240338" y="4997450"/>
              <a:ext cx="384175" cy="254000"/>
            </a:xfrm>
            <a:prstGeom prst="rect">
              <a:avLst/>
            </a:prstGeom>
          </p:spPr>
          <p:txBody>
            <a:bodyPr lIns="0" tIns="0" rIns="0" bIns="0">
              <a:spAutoFit/>
            </a:bodyPr>
            <a:lstStyle/>
            <a:p>
              <a:pPr marL="12700" fontAlgn="auto">
                <a:spcBef>
                  <a:spcPts val="0"/>
                </a:spcBef>
                <a:spcAft>
                  <a:spcPts val="0"/>
                </a:spcAft>
                <a:defRPr/>
              </a:pPr>
              <a:r>
                <a:rPr dirty="0">
                  <a:latin typeface="Trebuchet MS"/>
                  <a:cs typeface="Trebuchet MS"/>
                </a:rPr>
                <a:t>S/</a:t>
              </a:r>
              <a:r>
                <a:rPr spc="-10" dirty="0">
                  <a:latin typeface="Trebuchet MS"/>
                  <a:cs typeface="Trebuchet MS"/>
                </a:rPr>
                <a:t>P</a:t>
              </a:r>
              <a:endParaRPr>
                <a:latin typeface="Trebuchet MS"/>
                <a:cs typeface="Trebuchet MS"/>
              </a:endParaRPr>
            </a:p>
          </p:txBody>
        </p:sp>
        <p:sp>
          <p:nvSpPr>
            <p:cNvPr id="22603" name="object 75">
              <a:extLst>
                <a:ext uri="{FF2B5EF4-FFF2-40B4-BE49-F238E27FC236}">
                  <a16:creationId xmlns:a16="http://schemas.microsoft.com/office/drawing/2014/main" id="{F9B99809-48DB-40D1-AEEF-3909F2FDA795}"/>
                </a:ext>
              </a:extLst>
            </p:cNvPr>
            <p:cNvSpPr>
              <a:spLocks/>
            </p:cNvSpPr>
            <p:nvPr/>
          </p:nvSpPr>
          <p:spPr bwMode="auto">
            <a:xfrm>
              <a:off x="4037013" y="4433888"/>
              <a:ext cx="846137" cy="1319212"/>
            </a:xfrm>
            <a:custGeom>
              <a:avLst/>
              <a:gdLst>
                <a:gd name="T0" fmla="*/ 0 w 846454"/>
                <a:gd name="T1" fmla="*/ 1318522 h 1318895"/>
                <a:gd name="T2" fmla="*/ 846380 w 846454"/>
                <a:gd name="T3" fmla="*/ 1318522 h 1318895"/>
                <a:gd name="T4" fmla="*/ 846380 w 846454"/>
                <a:gd name="T5" fmla="*/ 0 h 1318895"/>
                <a:gd name="T6" fmla="*/ 0 w 846454"/>
                <a:gd name="T7" fmla="*/ 0 h 1318895"/>
                <a:gd name="T8" fmla="*/ 0 w 846454"/>
                <a:gd name="T9" fmla="*/ 1318522 h 1318895"/>
              </a:gdLst>
              <a:ahLst/>
              <a:cxnLst>
                <a:cxn ang="0">
                  <a:pos x="T0" y="T1"/>
                </a:cxn>
                <a:cxn ang="0">
                  <a:pos x="T2" y="T3"/>
                </a:cxn>
                <a:cxn ang="0">
                  <a:pos x="T4" y="T5"/>
                </a:cxn>
                <a:cxn ang="0">
                  <a:pos x="T6" y="T7"/>
                </a:cxn>
                <a:cxn ang="0">
                  <a:pos x="T8" y="T9"/>
                </a:cxn>
              </a:cxnLst>
              <a:rect l="0" t="0" r="r" b="b"/>
              <a:pathLst>
                <a:path w="846454" h="1318895">
                  <a:moveTo>
                    <a:pt x="0" y="1318522"/>
                  </a:moveTo>
                  <a:lnTo>
                    <a:pt x="846380" y="1318522"/>
                  </a:lnTo>
                  <a:lnTo>
                    <a:pt x="846380" y="0"/>
                  </a:lnTo>
                  <a:lnTo>
                    <a:pt x="0" y="0"/>
                  </a:lnTo>
                  <a:lnTo>
                    <a:pt x="0" y="1318522"/>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6" name="object 76">
              <a:extLst>
                <a:ext uri="{FF2B5EF4-FFF2-40B4-BE49-F238E27FC236}">
                  <a16:creationId xmlns:a16="http://schemas.microsoft.com/office/drawing/2014/main" id="{B1A828A2-F187-401F-9576-827F1A9E3FBF}"/>
                </a:ext>
              </a:extLst>
            </p:cNvPr>
            <p:cNvSpPr txBox="1"/>
            <p:nvPr/>
          </p:nvSpPr>
          <p:spPr>
            <a:xfrm>
              <a:off x="4065588" y="4849813"/>
              <a:ext cx="787400" cy="520700"/>
            </a:xfrm>
            <a:prstGeom prst="rect">
              <a:avLst/>
            </a:prstGeom>
          </p:spPr>
          <p:txBody>
            <a:bodyPr lIns="0" tIns="0" rIns="0" bIns="0">
              <a:spAutoFit/>
            </a:bodyPr>
            <a:lstStyle>
              <a:lvl1pPr marL="266700" indent="-2540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ts val="2100"/>
                </a:lnSpc>
              </a:pPr>
              <a:r>
                <a:rPr lang="en-US" altLang="en-US">
                  <a:latin typeface="Trebuchet MS" panose="020B0603020202020204" pitchFamily="34" charset="0"/>
                  <a:ea typeface="Trebuchet MS" panose="020B0603020202020204" pitchFamily="34" charset="0"/>
                  <a:cs typeface="Trebuchet MS" panose="020B0603020202020204" pitchFamily="34" charset="0"/>
                </a:rPr>
                <a:t>remove</a:t>
              </a:r>
              <a:r>
                <a:rPr lang="en-US" altLang="en-US">
                  <a:latin typeface="Times New Roman" panose="02020603050405020304" pitchFamily="18" charset="0"/>
                  <a:cs typeface="Times New Roman" panose="02020603050405020304" pitchFamily="18" charset="0"/>
                </a:rPr>
                <a:t> </a:t>
              </a:r>
              <a:r>
                <a:rPr lang="en-US" altLang="en-US">
                  <a:latin typeface="Trebuchet MS" panose="020B0603020202020204" pitchFamily="34" charset="0"/>
                  <a:ea typeface="Trebuchet MS" panose="020B0603020202020204" pitchFamily="34" charset="0"/>
                  <a:cs typeface="Trebuchet MS" panose="020B0603020202020204" pitchFamily="34" charset="0"/>
                </a:rPr>
                <a:t>CP</a:t>
              </a:r>
            </a:p>
          </p:txBody>
        </p:sp>
        <p:sp>
          <p:nvSpPr>
            <p:cNvPr id="22605" name="object 77">
              <a:extLst>
                <a:ext uri="{FF2B5EF4-FFF2-40B4-BE49-F238E27FC236}">
                  <a16:creationId xmlns:a16="http://schemas.microsoft.com/office/drawing/2014/main" id="{1BFD4242-C8CD-482E-BBFF-896311393BB6}"/>
                </a:ext>
              </a:extLst>
            </p:cNvPr>
            <p:cNvSpPr>
              <a:spLocks/>
            </p:cNvSpPr>
            <p:nvPr/>
          </p:nvSpPr>
          <p:spPr bwMode="auto">
            <a:xfrm>
              <a:off x="1089025" y="5168900"/>
              <a:ext cx="479425" cy="0"/>
            </a:xfrm>
            <a:custGeom>
              <a:avLst/>
              <a:gdLst>
                <a:gd name="T0" fmla="*/ 0 w 479425"/>
                <a:gd name="T1" fmla="*/ 478831 w 479425"/>
              </a:gdLst>
              <a:ahLst/>
              <a:cxnLst>
                <a:cxn ang="0">
                  <a:pos x="T0" y="0"/>
                </a:cxn>
                <a:cxn ang="0">
                  <a:pos x="T1" y="0"/>
                </a:cxn>
              </a:cxnLst>
              <a:rect l="0" t="0" r="r" b="b"/>
              <a:pathLst>
                <a:path w="479425">
                  <a:moveTo>
                    <a:pt x="0" y="0"/>
                  </a:moveTo>
                  <a:lnTo>
                    <a:pt x="478831"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06" name="object 78">
              <a:extLst>
                <a:ext uri="{FF2B5EF4-FFF2-40B4-BE49-F238E27FC236}">
                  <a16:creationId xmlns:a16="http://schemas.microsoft.com/office/drawing/2014/main" id="{2AF67389-2273-43A0-BAA0-A571B33B5E68}"/>
                </a:ext>
              </a:extLst>
            </p:cNvPr>
            <p:cNvSpPr>
              <a:spLocks/>
            </p:cNvSpPr>
            <p:nvPr/>
          </p:nvSpPr>
          <p:spPr bwMode="auto">
            <a:xfrm>
              <a:off x="1063625" y="5110163"/>
              <a:ext cx="117475" cy="117475"/>
            </a:xfrm>
            <a:custGeom>
              <a:avLst/>
              <a:gdLst>
                <a:gd name="T0" fmla="*/ 101071 w 116205"/>
                <a:gd name="T1" fmla="*/ 0 h 118110"/>
                <a:gd name="T2" fmla="*/ 0 w 116205"/>
                <a:gd name="T3" fmla="*/ 58960 h 118110"/>
                <a:gd name="T4" fmla="*/ 101071 w 116205"/>
                <a:gd name="T5" fmla="*/ 117908 h 118110"/>
                <a:gd name="T6" fmla="*/ 108847 w 116205"/>
                <a:gd name="T7" fmla="*/ 115860 h 118110"/>
                <a:gd name="T8" fmla="*/ 115918 w 116205"/>
                <a:gd name="T9" fmla="*/ 103741 h 118110"/>
                <a:gd name="T10" fmla="*/ 113870 w 116205"/>
                <a:gd name="T11" fmla="*/ 95966 h 118110"/>
                <a:gd name="T12" fmla="*/ 50410 w 116205"/>
                <a:gd name="T13" fmla="*/ 58960 h 118110"/>
                <a:gd name="T14" fmla="*/ 113870 w 116205"/>
                <a:gd name="T15" fmla="*/ 21945 h 118110"/>
                <a:gd name="T16" fmla="*/ 115918 w 116205"/>
                <a:gd name="T17" fmla="*/ 14170 h 118110"/>
                <a:gd name="T18" fmla="*/ 108847 w 116205"/>
                <a:gd name="T19" fmla="*/ 2048 h 118110"/>
                <a:gd name="T20" fmla="*/ 101071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1071" y="0"/>
                  </a:moveTo>
                  <a:lnTo>
                    <a:pt x="0" y="58960"/>
                  </a:lnTo>
                  <a:lnTo>
                    <a:pt x="101071" y="117908"/>
                  </a:lnTo>
                  <a:lnTo>
                    <a:pt x="108847" y="115860"/>
                  </a:lnTo>
                  <a:lnTo>
                    <a:pt x="115918" y="103741"/>
                  </a:lnTo>
                  <a:lnTo>
                    <a:pt x="113870" y="95966"/>
                  </a:lnTo>
                  <a:lnTo>
                    <a:pt x="50410" y="58960"/>
                  </a:lnTo>
                  <a:lnTo>
                    <a:pt x="113870" y="21945"/>
                  </a:lnTo>
                  <a:lnTo>
                    <a:pt x="115918" y="14170"/>
                  </a:lnTo>
                  <a:lnTo>
                    <a:pt x="108847" y="2048"/>
                  </a:lnTo>
                  <a:lnTo>
                    <a:pt x="1010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07" name="object 79">
              <a:extLst>
                <a:ext uri="{FF2B5EF4-FFF2-40B4-BE49-F238E27FC236}">
                  <a16:creationId xmlns:a16="http://schemas.microsoft.com/office/drawing/2014/main" id="{CF8B8BCE-DC76-4C79-86BC-9B142DA66403}"/>
                </a:ext>
              </a:extLst>
            </p:cNvPr>
            <p:cNvSpPr>
              <a:spLocks/>
            </p:cNvSpPr>
            <p:nvPr/>
          </p:nvSpPr>
          <p:spPr bwMode="auto">
            <a:xfrm>
              <a:off x="1962150" y="5167313"/>
              <a:ext cx="327025" cy="1587"/>
            </a:xfrm>
            <a:custGeom>
              <a:avLst/>
              <a:gdLst>
                <a:gd name="T0" fmla="*/ 0 w 325755"/>
                <a:gd name="T1" fmla="*/ 2203 h 2539"/>
                <a:gd name="T2" fmla="*/ 325636 w 325755"/>
                <a:gd name="T3" fmla="*/ 0 h 2539"/>
              </a:gdLst>
              <a:ahLst/>
              <a:cxnLst>
                <a:cxn ang="0">
                  <a:pos x="T0" y="T1"/>
                </a:cxn>
                <a:cxn ang="0">
                  <a:pos x="T2" y="T3"/>
                </a:cxn>
              </a:cxnLst>
              <a:rect l="0" t="0" r="r" b="b"/>
              <a:pathLst>
                <a:path w="325755" h="2539">
                  <a:moveTo>
                    <a:pt x="0" y="2203"/>
                  </a:moveTo>
                  <a:lnTo>
                    <a:pt x="325636"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08" name="object 80">
              <a:extLst>
                <a:ext uri="{FF2B5EF4-FFF2-40B4-BE49-F238E27FC236}">
                  <a16:creationId xmlns:a16="http://schemas.microsoft.com/office/drawing/2014/main" id="{704E4458-7FF0-4FE0-865F-8FAB79DAD9BB}"/>
                </a:ext>
              </a:extLst>
            </p:cNvPr>
            <p:cNvSpPr>
              <a:spLocks/>
            </p:cNvSpPr>
            <p:nvPr/>
          </p:nvSpPr>
          <p:spPr bwMode="auto">
            <a:xfrm>
              <a:off x="1938338" y="5110163"/>
              <a:ext cx="115887" cy="117475"/>
            </a:xfrm>
            <a:custGeom>
              <a:avLst/>
              <a:gdLst>
                <a:gd name="T0" fmla="*/ 100654 w 116205"/>
                <a:gd name="T1" fmla="*/ 0 h 118110"/>
                <a:gd name="T2" fmla="*/ 0 w 116205"/>
                <a:gd name="T3" fmla="*/ 59649 h 118110"/>
                <a:gd name="T4" fmla="*/ 101464 w 116205"/>
                <a:gd name="T5" fmla="*/ 117905 h 118110"/>
                <a:gd name="T6" fmla="*/ 109228 w 116205"/>
                <a:gd name="T7" fmla="*/ 115811 h 118110"/>
                <a:gd name="T8" fmla="*/ 116204 w 116205"/>
                <a:gd name="T9" fmla="*/ 103644 h 118110"/>
                <a:gd name="T10" fmla="*/ 114107 w 116205"/>
                <a:gd name="T11" fmla="*/ 95880 h 118110"/>
                <a:gd name="T12" fmla="*/ 50410 w 116205"/>
                <a:gd name="T13" fmla="*/ 59304 h 118110"/>
                <a:gd name="T14" fmla="*/ 113608 w 116205"/>
                <a:gd name="T15" fmla="*/ 21860 h 118110"/>
                <a:gd name="T16" fmla="*/ 115598 w 116205"/>
                <a:gd name="T17" fmla="*/ 14072 h 118110"/>
                <a:gd name="T18" fmla="*/ 108453 w 116205"/>
                <a:gd name="T19" fmla="*/ 1999 h 118110"/>
                <a:gd name="T20" fmla="*/ 100654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0654" y="0"/>
                  </a:moveTo>
                  <a:lnTo>
                    <a:pt x="0" y="59649"/>
                  </a:lnTo>
                  <a:lnTo>
                    <a:pt x="101464" y="117905"/>
                  </a:lnTo>
                  <a:lnTo>
                    <a:pt x="109228" y="115811"/>
                  </a:lnTo>
                  <a:lnTo>
                    <a:pt x="116204" y="103644"/>
                  </a:lnTo>
                  <a:lnTo>
                    <a:pt x="114107" y="95880"/>
                  </a:lnTo>
                  <a:lnTo>
                    <a:pt x="50410" y="59304"/>
                  </a:lnTo>
                  <a:lnTo>
                    <a:pt x="113608" y="21860"/>
                  </a:lnTo>
                  <a:lnTo>
                    <a:pt x="115598" y="14072"/>
                  </a:lnTo>
                  <a:lnTo>
                    <a:pt x="108453" y="1999"/>
                  </a:lnTo>
                  <a:lnTo>
                    <a:pt x="1006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09" name="object 81">
              <a:extLst>
                <a:ext uri="{FF2B5EF4-FFF2-40B4-BE49-F238E27FC236}">
                  <a16:creationId xmlns:a16="http://schemas.microsoft.com/office/drawing/2014/main" id="{5DF45D40-49E8-4001-9F37-A89C86EB79AF}"/>
                </a:ext>
              </a:extLst>
            </p:cNvPr>
            <p:cNvSpPr>
              <a:spLocks/>
            </p:cNvSpPr>
            <p:nvPr/>
          </p:nvSpPr>
          <p:spPr bwMode="auto">
            <a:xfrm>
              <a:off x="2854325" y="5227638"/>
              <a:ext cx="271463" cy="1587"/>
            </a:xfrm>
            <a:custGeom>
              <a:avLst/>
              <a:gdLst>
                <a:gd name="T0" fmla="*/ 0 w 271144"/>
                <a:gd name="T1" fmla="*/ 0 h 1904"/>
                <a:gd name="T2" fmla="*/ 270872 w 271144"/>
                <a:gd name="T3" fmla="*/ 1450 h 1904"/>
              </a:gdLst>
              <a:ahLst/>
              <a:cxnLst>
                <a:cxn ang="0">
                  <a:pos x="T0" y="T1"/>
                </a:cxn>
                <a:cxn ang="0">
                  <a:pos x="T2" y="T3"/>
                </a:cxn>
              </a:cxnLst>
              <a:rect l="0" t="0" r="r" b="b"/>
              <a:pathLst>
                <a:path w="271144" h="1904">
                  <a:moveTo>
                    <a:pt x="0" y="0"/>
                  </a:moveTo>
                  <a:lnTo>
                    <a:pt x="270872" y="145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10" name="object 82">
              <a:extLst>
                <a:ext uri="{FF2B5EF4-FFF2-40B4-BE49-F238E27FC236}">
                  <a16:creationId xmlns:a16="http://schemas.microsoft.com/office/drawing/2014/main" id="{C2AC915E-2739-4F9D-BC27-00E594208A73}"/>
                </a:ext>
              </a:extLst>
            </p:cNvPr>
            <p:cNvSpPr>
              <a:spLocks/>
            </p:cNvSpPr>
            <p:nvPr/>
          </p:nvSpPr>
          <p:spPr bwMode="auto">
            <a:xfrm>
              <a:off x="2828925" y="5168900"/>
              <a:ext cx="117475" cy="119063"/>
            </a:xfrm>
            <a:custGeom>
              <a:avLst/>
              <a:gdLst>
                <a:gd name="T0" fmla="*/ 101382 w 116205"/>
                <a:gd name="T1" fmla="*/ 0 h 118110"/>
                <a:gd name="T2" fmla="*/ 0 w 116205"/>
                <a:gd name="T3" fmla="*/ 58411 h 118110"/>
                <a:gd name="T4" fmla="*/ 100751 w 116205"/>
                <a:gd name="T5" fmla="*/ 117905 h 118110"/>
                <a:gd name="T6" fmla="*/ 108536 w 116205"/>
                <a:gd name="T7" fmla="*/ 115906 h 118110"/>
                <a:gd name="T8" fmla="*/ 115668 w 116205"/>
                <a:gd name="T9" fmla="*/ 103820 h 118110"/>
                <a:gd name="T10" fmla="*/ 113669 w 116205"/>
                <a:gd name="T11" fmla="*/ 96036 h 118110"/>
                <a:gd name="T12" fmla="*/ 50410 w 116205"/>
                <a:gd name="T13" fmla="*/ 58686 h 118110"/>
                <a:gd name="T14" fmla="*/ 114062 w 116205"/>
                <a:gd name="T15" fmla="*/ 22012 h 118110"/>
                <a:gd name="T16" fmla="*/ 116147 w 116205"/>
                <a:gd name="T17" fmla="*/ 14240 h 118110"/>
                <a:gd name="T18" fmla="*/ 109145 w 116205"/>
                <a:gd name="T19" fmla="*/ 2093 h 118110"/>
                <a:gd name="T20" fmla="*/ 101382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1382" y="0"/>
                  </a:moveTo>
                  <a:lnTo>
                    <a:pt x="0" y="58411"/>
                  </a:lnTo>
                  <a:lnTo>
                    <a:pt x="100751" y="117905"/>
                  </a:lnTo>
                  <a:lnTo>
                    <a:pt x="108536" y="115906"/>
                  </a:lnTo>
                  <a:lnTo>
                    <a:pt x="115668" y="103820"/>
                  </a:lnTo>
                  <a:lnTo>
                    <a:pt x="113669" y="96036"/>
                  </a:lnTo>
                  <a:lnTo>
                    <a:pt x="50410" y="58686"/>
                  </a:lnTo>
                  <a:lnTo>
                    <a:pt x="114062" y="22012"/>
                  </a:lnTo>
                  <a:lnTo>
                    <a:pt x="116147" y="14240"/>
                  </a:lnTo>
                  <a:lnTo>
                    <a:pt x="109145" y="2093"/>
                  </a:lnTo>
                  <a:lnTo>
                    <a:pt x="1013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11" name="object 83">
              <a:extLst>
                <a:ext uri="{FF2B5EF4-FFF2-40B4-BE49-F238E27FC236}">
                  <a16:creationId xmlns:a16="http://schemas.microsoft.com/office/drawing/2014/main" id="{7EF496CC-8497-4538-B876-59EE6C0B9F0A}"/>
                </a:ext>
              </a:extLst>
            </p:cNvPr>
            <p:cNvSpPr>
              <a:spLocks/>
            </p:cNvSpPr>
            <p:nvPr/>
          </p:nvSpPr>
          <p:spPr bwMode="auto">
            <a:xfrm>
              <a:off x="2868613" y="5086350"/>
              <a:ext cx="271462" cy="1588"/>
            </a:xfrm>
            <a:custGeom>
              <a:avLst/>
              <a:gdLst>
                <a:gd name="T0" fmla="*/ 0 w 271144"/>
                <a:gd name="T1" fmla="*/ 0 h 1904"/>
                <a:gd name="T2" fmla="*/ 270854 w 271144"/>
                <a:gd name="T3" fmla="*/ 1453 h 1904"/>
              </a:gdLst>
              <a:ahLst/>
              <a:cxnLst>
                <a:cxn ang="0">
                  <a:pos x="T0" y="T1"/>
                </a:cxn>
                <a:cxn ang="0">
                  <a:pos x="T2" y="T3"/>
                </a:cxn>
              </a:cxnLst>
              <a:rect l="0" t="0" r="r" b="b"/>
              <a:pathLst>
                <a:path w="271144" h="1904">
                  <a:moveTo>
                    <a:pt x="0" y="0"/>
                  </a:moveTo>
                  <a:lnTo>
                    <a:pt x="270854"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12" name="object 84">
              <a:extLst>
                <a:ext uri="{FF2B5EF4-FFF2-40B4-BE49-F238E27FC236}">
                  <a16:creationId xmlns:a16="http://schemas.microsoft.com/office/drawing/2014/main" id="{DA13F01C-0903-4D95-AC22-3F3C75533D98}"/>
                </a:ext>
              </a:extLst>
            </p:cNvPr>
            <p:cNvSpPr>
              <a:spLocks/>
            </p:cNvSpPr>
            <p:nvPr/>
          </p:nvSpPr>
          <p:spPr bwMode="auto">
            <a:xfrm>
              <a:off x="2843213" y="5027613"/>
              <a:ext cx="117475" cy="119062"/>
            </a:xfrm>
            <a:custGeom>
              <a:avLst/>
              <a:gdLst>
                <a:gd name="T0" fmla="*/ 101382 w 116205"/>
                <a:gd name="T1" fmla="*/ 0 h 118110"/>
                <a:gd name="T2" fmla="*/ 0 w 116205"/>
                <a:gd name="T3" fmla="*/ 58411 h 118110"/>
                <a:gd name="T4" fmla="*/ 100751 w 116205"/>
                <a:gd name="T5" fmla="*/ 117908 h 118110"/>
                <a:gd name="T6" fmla="*/ 108536 w 116205"/>
                <a:gd name="T7" fmla="*/ 115897 h 118110"/>
                <a:gd name="T8" fmla="*/ 115668 w 116205"/>
                <a:gd name="T9" fmla="*/ 103824 h 118110"/>
                <a:gd name="T10" fmla="*/ 113656 w 116205"/>
                <a:gd name="T11" fmla="*/ 96036 h 118110"/>
                <a:gd name="T12" fmla="*/ 50410 w 116205"/>
                <a:gd name="T13" fmla="*/ 58673 h 118110"/>
                <a:gd name="T14" fmla="*/ 114062 w 116205"/>
                <a:gd name="T15" fmla="*/ 22003 h 118110"/>
                <a:gd name="T16" fmla="*/ 116144 w 116205"/>
                <a:gd name="T17" fmla="*/ 14240 h 118110"/>
                <a:gd name="T18" fmla="*/ 109142 w 116205"/>
                <a:gd name="T19" fmla="*/ 2084 h 118110"/>
                <a:gd name="T20" fmla="*/ 101382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1382" y="0"/>
                  </a:moveTo>
                  <a:lnTo>
                    <a:pt x="0" y="58411"/>
                  </a:lnTo>
                  <a:lnTo>
                    <a:pt x="100751" y="117908"/>
                  </a:lnTo>
                  <a:lnTo>
                    <a:pt x="108536" y="115897"/>
                  </a:lnTo>
                  <a:lnTo>
                    <a:pt x="115668" y="103824"/>
                  </a:lnTo>
                  <a:lnTo>
                    <a:pt x="113656" y="96036"/>
                  </a:lnTo>
                  <a:lnTo>
                    <a:pt x="50410" y="58673"/>
                  </a:lnTo>
                  <a:lnTo>
                    <a:pt x="114062" y="22003"/>
                  </a:lnTo>
                  <a:lnTo>
                    <a:pt x="116144" y="14240"/>
                  </a:lnTo>
                  <a:lnTo>
                    <a:pt x="109142" y="2084"/>
                  </a:lnTo>
                  <a:lnTo>
                    <a:pt x="1013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13" name="object 85">
              <a:extLst>
                <a:ext uri="{FF2B5EF4-FFF2-40B4-BE49-F238E27FC236}">
                  <a16:creationId xmlns:a16="http://schemas.microsoft.com/office/drawing/2014/main" id="{6E932043-0164-47D8-BC2E-665B068760DC}"/>
                </a:ext>
              </a:extLst>
            </p:cNvPr>
            <p:cNvSpPr>
              <a:spLocks/>
            </p:cNvSpPr>
            <p:nvPr/>
          </p:nvSpPr>
          <p:spPr bwMode="auto">
            <a:xfrm>
              <a:off x="2868613" y="4941888"/>
              <a:ext cx="271462" cy="3175"/>
            </a:xfrm>
            <a:custGeom>
              <a:avLst/>
              <a:gdLst>
                <a:gd name="T0" fmla="*/ 0 w 271144"/>
                <a:gd name="T1" fmla="*/ 0 h 1904"/>
                <a:gd name="T2" fmla="*/ 270854 w 271144"/>
                <a:gd name="T3" fmla="*/ 1453 h 1904"/>
              </a:gdLst>
              <a:ahLst/>
              <a:cxnLst>
                <a:cxn ang="0">
                  <a:pos x="T0" y="T1"/>
                </a:cxn>
                <a:cxn ang="0">
                  <a:pos x="T2" y="T3"/>
                </a:cxn>
              </a:cxnLst>
              <a:rect l="0" t="0" r="r" b="b"/>
              <a:pathLst>
                <a:path w="271144" h="1904">
                  <a:moveTo>
                    <a:pt x="0" y="0"/>
                  </a:moveTo>
                  <a:lnTo>
                    <a:pt x="270854"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14" name="object 86">
              <a:extLst>
                <a:ext uri="{FF2B5EF4-FFF2-40B4-BE49-F238E27FC236}">
                  <a16:creationId xmlns:a16="http://schemas.microsoft.com/office/drawing/2014/main" id="{D58EDCE0-93CA-48FC-8F46-236DFB3F8847}"/>
                </a:ext>
              </a:extLst>
            </p:cNvPr>
            <p:cNvSpPr>
              <a:spLocks/>
            </p:cNvSpPr>
            <p:nvPr/>
          </p:nvSpPr>
          <p:spPr bwMode="auto">
            <a:xfrm>
              <a:off x="2843213" y="4884738"/>
              <a:ext cx="117475" cy="117475"/>
            </a:xfrm>
            <a:custGeom>
              <a:avLst/>
              <a:gdLst>
                <a:gd name="T0" fmla="*/ 101382 w 116205"/>
                <a:gd name="T1" fmla="*/ 0 h 118110"/>
                <a:gd name="T2" fmla="*/ 0 w 116205"/>
                <a:gd name="T3" fmla="*/ 58411 h 118110"/>
                <a:gd name="T4" fmla="*/ 100751 w 116205"/>
                <a:gd name="T5" fmla="*/ 117908 h 118110"/>
                <a:gd name="T6" fmla="*/ 108536 w 116205"/>
                <a:gd name="T7" fmla="*/ 115897 h 118110"/>
                <a:gd name="T8" fmla="*/ 115668 w 116205"/>
                <a:gd name="T9" fmla="*/ 103824 h 118110"/>
                <a:gd name="T10" fmla="*/ 113656 w 116205"/>
                <a:gd name="T11" fmla="*/ 96036 h 118110"/>
                <a:gd name="T12" fmla="*/ 50410 w 116205"/>
                <a:gd name="T13" fmla="*/ 58686 h 118110"/>
                <a:gd name="T14" fmla="*/ 114062 w 116205"/>
                <a:gd name="T15" fmla="*/ 22003 h 118110"/>
                <a:gd name="T16" fmla="*/ 116144 w 116205"/>
                <a:gd name="T17" fmla="*/ 14240 h 118110"/>
                <a:gd name="T18" fmla="*/ 109142 w 116205"/>
                <a:gd name="T19" fmla="*/ 2084 h 118110"/>
                <a:gd name="T20" fmla="*/ 101382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1382" y="0"/>
                  </a:moveTo>
                  <a:lnTo>
                    <a:pt x="0" y="58411"/>
                  </a:lnTo>
                  <a:lnTo>
                    <a:pt x="100751" y="117908"/>
                  </a:lnTo>
                  <a:lnTo>
                    <a:pt x="108536" y="115897"/>
                  </a:lnTo>
                  <a:lnTo>
                    <a:pt x="115668" y="103824"/>
                  </a:lnTo>
                  <a:lnTo>
                    <a:pt x="113656" y="96036"/>
                  </a:lnTo>
                  <a:lnTo>
                    <a:pt x="50410" y="58686"/>
                  </a:lnTo>
                  <a:lnTo>
                    <a:pt x="114062" y="22003"/>
                  </a:lnTo>
                  <a:lnTo>
                    <a:pt x="116144" y="14240"/>
                  </a:lnTo>
                  <a:lnTo>
                    <a:pt x="109142" y="2084"/>
                  </a:lnTo>
                  <a:lnTo>
                    <a:pt x="1013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15" name="object 87">
              <a:extLst>
                <a:ext uri="{FF2B5EF4-FFF2-40B4-BE49-F238E27FC236}">
                  <a16:creationId xmlns:a16="http://schemas.microsoft.com/office/drawing/2014/main" id="{46C8E778-218F-465F-A649-F43705011A02}"/>
                </a:ext>
              </a:extLst>
            </p:cNvPr>
            <p:cNvSpPr>
              <a:spLocks/>
            </p:cNvSpPr>
            <p:nvPr/>
          </p:nvSpPr>
          <p:spPr bwMode="auto">
            <a:xfrm>
              <a:off x="2868613" y="5372100"/>
              <a:ext cx="271462" cy="3175"/>
            </a:xfrm>
            <a:custGeom>
              <a:avLst/>
              <a:gdLst>
                <a:gd name="T0" fmla="*/ 0 w 271144"/>
                <a:gd name="T1" fmla="*/ 0 h 1904"/>
                <a:gd name="T2" fmla="*/ 270854 w 271144"/>
                <a:gd name="T3" fmla="*/ 1450 h 1904"/>
              </a:gdLst>
              <a:ahLst/>
              <a:cxnLst>
                <a:cxn ang="0">
                  <a:pos x="T0" y="T1"/>
                </a:cxn>
                <a:cxn ang="0">
                  <a:pos x="T2" y="T3"/>
                </a:cxn>
              </a:cxnLst>
              <a:rect l="0" t="0" r="r" b="b"/>
              <a:pathLst>
                <a:path w="271144" h="1904">
                  <a:moveTo>
                    <a:pt x="0" y="0"/>
                  </a:moveTo>
                  <a:lnTo>
                    <a:pt x="270854" y="145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16" name="object 88">
              <a:extLst>
                <a:ext uri="{FF2B5EF4-FFF2-40B4-BE49-F238E27FC236}">
                  <a16:creationId xmlns:a16="http://schemas.microsoft.com/office/drawing/2014/main" id="{EB5EE164-BDD6-4C32-AEA8-C20CCC16F416}"/>
                </a:ext>
              </a:extLst>
            </p:cNvPr>
            <p:cNvSpPr>
              <a:spLocks/>
            </p:cNvSpPr>
            <p:nvPr/>
          </p:nvSpPr>
          <p:spPr bwMode="auto">
            <a:xfrm>
              <a:off x="2843213" y="5314950"/>
              <a:ext cx="117475" cy="117475"/>
            </a:xfrm>
            <a:custGeom>
              <a:avLst/>
              <a:gdLst>
                <a:gd name="T0" fmla="*/ 101382 w 116205"/>
                <a:gd name="T1" fmla="*/ 0 h 118110"/>
                <a:gd name="T2" fmla="*/ 0 w 116205"/>
                <a:gd name="T3" fmla="*/ 58411 h 118110"/>
                <a:gd name="T4" fmla="*/ 100751 w 116205"/>
                <a:gd name="T5" fmla="*/ 117905 h 118110"/>
                <a:gd name="T6" fmla="*/ 108536 w 116205"/>
                <a:gd name="T7" fmla="*/ 115894 h 118110"/>
                <a:gd name="T8" fmla="*/ 115668 w 116205"/>
                <a:gd name="T9" fmla="*/ 103820 h 118110"/>
                <a:gd name="T10" fmla="*/ 113656 w 116205"/>
                <a:gd name="T11" fmla="*/ 96036 h 118110"/>
                <a:gd name="T12" fmla="*/ 50410 w 116205"/>
                <a:gd name="T13" fmla="*/ 58673 h 118110"/>
                <a:gd name="T14" fmla="*/ 114062 w 116205"/>
                <a:gd name="T15" fmla="*/ 22003 h 118110"/>
                <a:gd name="T16" fmla="*/ 116144 w 116205"/>
                <a:gd name="T17" fmla="*/ 14240 h 118110"/>
                <a:gd name="T18" fmla="*/ 109142 w 116205"/>
                <a:gd name="T19" fmla="*/ 2081 h 118110"/>
                <a:gd name="T20" fmla="*/ 101382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1382" y="0"/>
                  </a:moveTo>
                  <a:lnTo>
                    <a:pt x="0" y="58411"/>
                  </a:lnTo>
                  <a:lnTo>
                    <a:pt x="100751" y="117905"/>
                  </a:lnTo>
                  <a:lnTo>
                    <a:pt x="108536" y="115894"/>
                  </a:lnTo>
                  <a:lnTo>
                    <a:pt x="115668" y="103820"/>
                  </a:lnTo>
                  <a:lnTo>
                    <a:pt x="113656" y="96036"/>
                  </a:lnTo>
                  <a:lnTo>
                    <a:pt x="50410" y="58673"/>
                  </a:lnTo>
                  <a:lnTo>
                    <a:pt x="114062" y="22003"/>
                  </a:lnTo>
                  <a:lnTo>
                    <a:pt x="116144" y="14240"/>
                  </a:lnTo>
                  <a:lnTo>
                    <a:pt x="109142" y="2081"/>
                  </a:lnTo>
                  <a:lnTo>
                    <a:pt x="1013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17" name="object 89">
              <a:extLst>
                <a:ext uri="{FF2B5EF4-FFF2-40B4-BE49-F238E27FC236}">
                  <a16:creationId xmlns:a16="http://schemas.microsoft.com/office/drawing/2014/main" id="{04749715-0E4B-443C-A6A5-1F05B13CB269}"/>
                </a:ext>
              </a:extLst>
            </p:cNvPr>
            <p:cNvSpPr>
              <a:spLocks/>
            </p:cNvSpPr>
            <p:nvPr/>
          </p:nvSpPr>
          <p:spPr bwMode="auto">
            <a:xfrm>
              <a:off x="2860675" y="5518150"/>
              <a:ext cx="271463" cy="3175"/>
            </a:xfrm>
            <a:custGeom>
              <a:avLst/>
              <a:gdLst>
                <a:gd name="T0" fmla="*/ 0 w 271144"/>
                <a:gd name="T1" fmla="*/ 0 h 1904"/>
                <a:gd name="T2" fmla="*/ 270872 w 271144"/>
                <a:gd name="T3" fmla="*/ 1453 h 1904"/>
              </a:gdLst>
              <a:ahLst/>
              <a:cxnLst>
                <a:cxn ang="0">
                  <a:pos x="T0" y="T1"/>
                </a:cxn>
                <a:cxn ang="0">
                  <a:pos x="T2" y="T3"/>
                </a:cxn>
              </a:cxnLst>
              <a:rect l="0" t="0" r="r" b="b"/>
              <a:pathLst>
                <a:path w="271144" h="1904">
                  <a:moveTo>
                    <a:pt x="0" y="0"/>
                  </a:moveTo>
                  <a:lnTo>
                    <a:pt x="270872"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18" name="object 90">
              <a:extLst>
                <a:ext uri="{FF2B5EF4-FFF2-40B4-BE49-F238E27FC236}">
                  <a16:creationId xmlns:a16="http://schemas.microsoft.com/office/drawing/2014/main" id="{2C6034C7-E42A-4EA1-8D5B-543462730303}"/>
                </a:ext>
              </a:extLst>
            </p:cNvPr>
            <p:cNvSpPr>
              <a:spLocks/>
            </p:cNvSpPr>
            <p:nvPr/>
          </p:nvSpPr>
          <p:spPr bwMode="auto">
            <a:xfrm>
              <a:off x="2835275" y="5459413"/>
              <a:ext cx="117475" cy="119062"/>
            </a:xfrm>
            <a:custGeom>
              <a:avLst/>
              <a:gdLst>
                <a:gd name="T0" fmla="*/ 101382 w 116205"/>
                <a:gd name="T1" fmla="*/ 0 h 118110"/>
                <a:gd name="T2" fmla="*/ 0 w 116205"/>
                <a:gd name="T3" fmla="*/ 58411 h 118110"/>
                <a:gd name="T4" fmla="*/ 100751 w 116205"/>
                <a:gd name="T5" fmla="*/ 117908 h 118110"/>
                <a:gd name="T6" fmla="*/ 108536 w 116205"/>
                <a:gd name="T7" fmla="*/ 115909 h 118110"/>
                <a:gd name="T8" fmla="*/ 115668 w 116205"/>
                <a:gd name="T9" fmla="*/ 103824 h 118110"/>
                <a:gd name="T10" fmla="*/ 113669 w 116205"/>
                <a:gd name="T11" fmla="*/ 96036 h 118110"/>
                <a:gd name="T12" fmla="*/ 50410 w 116205"/>
                <a:gd name="T13" fmla="*/ 58686 h 118110"/>
                <a:gd name="T14" fmla="*/ 114062 w 116205"/>
                <a:gd name="T15" fmla="*/ 22015 h 118110"/>
                <a:gd name="T16" fmla="*/ 116156 w 116205"/>
                <a:gd name="T17" fmla="*/ 14252 h 118110"/>
                <a:gd name="T18" fmla="*/ 109142 w 116205"/>
                <a:gd name="T19" fmla="*/ 2097 h 118110"/>
                <a:gd name="T20" fmla="*/ 101382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1382" y="0"/>
                  </a:moveTo>
                  <a:lnTo>
                    <a:pt x="0" y="58411"/>
                  </a:lnTo>
                  <a:lnTo>
                    <a:pt x="100751" y="117908"/>
                  </a:lnTo>
                  <a:lnTo>
                    <a:pt x="108536" y="115909"/>
                  </a:lnTo>
                  <a:lnTo>
                    <a:pt x="115668" y="103824"/>
                  </a:lnTo>
                  <a:lnTo>
                    <a:pt x="113669" y="96036"/>
                  </a:lnTo>
                  <a:lnTo>
                    <a:pt x="50410" y="58686"/>
                  </a:lnTo>
                  <a:lnTo>
                    <a:pt x="114062" y="22015"/>
                  </a:lnTo>
                  <a:lnTo>
                    <a:pt x="116156" y="14252"/>
                  </a:lnTo>
                  <a:lnTo>
                    <a:pt x="109142" y="2097"/>
                  </a:lnTo>
                  <a:lnTo>
                    <a:pt x="1013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19" name="object 91">
              <a:extLst>
                <a:ext uri="{FF2B5EF4-FFF2-40B4-BE49-F238E27FC236}">
                  <a16:creationId xmlns:a16="http://schemas.microsoft.com/office/drawing/2014/main" id="{F248436C-C1DC-4393-AF7C-1158EBAFFCE8}"/>
                </a:ext>
              </a:extLst>
            </p:cNvPr>
            <p:cNvSpPr>
              <a:spLocks/>
            </p:cNvSpPr>
            <p:nvPr/>
          </p:nvSpPr>
          <p:spPr bwMode="auto">
            <a:xfrm>
              <a:off x="2859088" y="5649913"/>
              <a:ext cx="271462" cy="1587"/>
            </a:xfrm>
            <a:custGeom>
              <a:avLst/>
              <a:gdLst>
                <a:gd name="T0" fmla="*/ 0 w 271144"/>
                <a:gd name="T1" fmla="*/ 0 h 1904"/>
                <a:gd name="T2" fmla="*/ 270854 w 271144"/>
                <a:gd name="T3" fmla="*/ 1450 h 1904"/>
              </a:gdLst>
              <a:ahLst/>
              <a:cxnLst>
                <a:cxn ang="0">
                  <a:pos x="T0" y="T1"/>
                </a:cxn>
                <a:cxn ang="0">
                  <a:pos x="T2" y="T3"/>
                </a:cxn>
              </a:cxnLst>
              <a:rect l="0" t="0" r="r" b="b"/>
              <a:pathLst>
                <a:path w="271144" h="1904">
                  <a:moveTo>
                    <a:pt x="0" y="0"/>
                  </a:moveTo>
                  <a:lnTo>
                    <a:pt x="270854" y="145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20" name="object 92">
              <a:extLst>
                <a:ext uri="{FF2B5EF4-FFF2-40B4-BE49-F238E27FC236}">
                  <a16:creationId xmlns:a16="http://schemas.microsoft.com/office/drawing/2014/main" id="{7DE8BD89-CF6D-45D1-83C1-D4630ACCE425}"/>
                </a:ext>
              </a:extLst>
            </p:cNvPr>
            <p:cNvSpPr>
              <a:spLocks/>
            </p:cNvSpPr>
            <p:nvPr/>
          </p:nvSpPr>
          <p:spPr bwMode="auto">
            <a:xfrm>
              <a:off x="2833688" y="5591175"/>
              <a:ext cx="115887" cy="119063"/>
            </a:xfrm>
            <a:custGeom>
              <a:avLst/>
              <a:gdLst>
                <a:gd name="T0" fmla="*/ 101382 w 116205"/>
                <a:gd name="T1" fmla="*/ 0 h 118110"/>
                <a:gd name="T2" fmla="*/ 0 w 116205"/>
                <a:gd name="T3" fmla="*/ 58411 h 118110"/>
                <a:gd name="T4" fmla="*/ 100751 w 116205"/>
                <a:gd name="T5" fmla="*/ 117905 h 118110"/>
                <a:gd name="T6" fmla="*/ 108536 w 116205"/>
                <a:gd name="T7" fmla="*/ 115906 h 118110"/>
                <a:gd name="T8" fmla="*/ 115668 w 116205"/>
                <a:gd name="T9" fmla="*/ 103820 h 118110"/>
                <a:gd name="T10" fmla="*/ 113669 w 116205"/>
                <a:gd name="T11" fmla="*/ 96036 h 118110"/>
                <a:gd name="T12" fmla="*/ 50410 w 116205"/>
                <a:gd name="T13" fmla="*/ 58686 h 118110"/>
                <a:gd name="T14" fmla="*/ 114062 w 116205"/>
                <a:gd name="T15" fmla="*/ 22012 h 118110"/>
                <a:gd name="T16" fmla="*/ 116147 w 116205"/>
                <a:gd name="T17" fmla="*/ 14240 h 118110"/>
                <a:gd name="T18" fmla="*/ 109145 w 116205"/>
                <a:gd name="T19" fmla="*/ 2081 h 118110"/>
                <a:gd name="T20" fmla="*/ 101382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1382" y="0"/>
                  </a:moveTo>
                  <a:lnTo>
                    <a:pt x="0" y="58411"/>
                  </a:lnTo>
                  <a:lnTo>
                    <a:pt x="100751" y="117905"/>
                  </a:lnTo>
                  <a:lnTo>
                    <a:pt x="108536" y="115906"/>
                  </a:lnTo>
                  <a:lnTo>
                    <a:pt x="115668" y="103820"/>
                  </a:lnTo>
                  <a:lnTo>
                    <a:pt x="113669" y="96036"/>
                  </a:lnTo>
                  <a:lnTo>
                    <a:pt x="50410" y="58686"/>
                  </a:lnTo>
                  <a:lnTo>
                    <a:pt x="114062" y="22012"/>
                  </a:lnTo>
                  <a:lnTo>
                    <a:pt x="116147" y="14240"/>
                  </a:lnTo>
                  <a:lnTo>
                    <a:pt x="109145" y="2081"/>
                  </a:lnTo>
                  <a:lnTo>
                    <a:pt x="1013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21" name="object 93">
              <a:extLst>
                <a:ext uri="{FF2B5EF4-FFF2-40B4-BE49-F238E27FC236}">
                  <a16:creationId xmlns:a16="http://schemas.microsoft.com/office/drawing/2014/main" id="{277FA0E1-81F8-425A-A418-FFCCDB5005D0}"/>
                </a:ext>
              </a:extLst>
            </p:cNvPr>
            <p:cNvSpPr>
              <a:spLocks/>
            </p:cNvSpPr>
            <p:nvPr/>
          </p:nvSpPr>
          <p:spPr bwMode="auto">
            <a:xfrm>
              <a:off x="4894263" y="5118100"/>
              <a:ext cx="271462" cy="3175"/>
            </a:xfrm>
            <a:custGeom>
              <a:avLst/>
              <a:gdLst>
                <a:gd name="T0" fmla="*/ 0 w 271145"/>
                <a:gd name="T1" fmla="*/ 0 h 1904"/>
                <a:gd name="T2" fmla="*/ 270875 w 271145"/>
                <a:gd name="T3" fmla="*/ 1450 h 1904"/>
              </a:gdLst>
              <a:ahLst/>
              <a:cxnLst>
                <a:cxn ang="0">
                  <a:pos x="T0" y="T1"/>
                </a:cxn>
                <a:cxn ang="0">
                  <a:pos x="T2" y="T3"/>
                </a:cxn>
              </a:cxnLst>
              <a:rect l="0" t="0" r="r" b="b"/>
              <a:pathLst>
                <a:path w="271145" h="1904">
                  <a:moveTo>
                    <a:pt x="0" y="0"/>
                  </a:moveTo>
                  <a:lnTo>
                    <a:pt x="270875" y="145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22" name="object 94">
              <a:extLst>
                <a:ext uri="{FF2B5EF4-FFF2-40B4-BE49-F238E27FC236}">
                  <a16:creationId xmlns:a16="http://schemas.microsoft.com/office/drawing/2014/main" id="{0D59BD71-89A5-438B-8493-796D4650E517}"/>
                </a:ext>
              </a:extLst>
            </p:cNvPr>
            <p:cNvSpPr>
              <a:spLocks/>
            </p:cNvSpPr>
            <p:nvPr/>
          </p:nvSpPr>
          <p:spPr bwMode="auto">
            <a:xfrm>
              <a:off x="4868863" y="5060950"/>
              <a:ext cx="115887" cy="117475"/>
            </a:xfrm>
            <a:custGeom>
              <a:avLst/>
              <a:gdLst>
                <a:gd name="T0" fmla="*/ 101376 w 116204"/>
                <a:gd name="T1" fmla="*/ 0 h 118110"/>
                <a:gd name="T2" fmla="*/ 0 w 116204"/>
                <a:gd name="T3" fmla="*/ 58411 h 118110"/>
                <a:gd name="T4" fmla="*/ 100766 w 116204"/>
                <a:gd name="T5" fmla="*/ 117905 h 118110"/>
                <a:gd name="T6" fmla="*/ 108539 w 116204"/>
                <a:gd name="T7" fmla="*/ 115894 h 118110"/>
                <a:gd name="T8" fmla="*/ 115671 w 116204"/>
                <a:gd name="T9" fmla="*/ 103820 h 118110"/>
                <a:gd name="T10" fmla="*/ 113659 w 116204"/>
                <a:gd name="T11" fmla="*/ 96036 h 118110"/>
                <a:gd name="T12" fmla="*/ 50413 w 116204"/>
                <a:gd name="T13" fmla="*/ 58686 h 118110"/>
                <a:gd name="T14" fmla="*/ 114056 w 116204"/>
                <a:gd name="T15" fmla="*/ 22003 h 118110"/>
                <a:gd name="T16" fmla="*/ 116159 w 116204"/>
                <a:gd name="T17" fmla="*/ 14240 h 118110"/>
                <a:gd name="T18" fmla="*/ 109148 w 116204"/>
                <a:gd name="T19" fmla="*/ 2081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66" y="117905"/>
                  </a:lnTo>
                  <a:lnTo>
                    <a:pt x="108539" y="115894"/>
                  </a:lnTo>
                  <a:lnTo>
                    <a:pt x="115671" y="103820"/>
                  </a:lnTo>
                  <a:lnTo>
                    <a:pt x="113659" y="96036"/>
                  </a:lnTo>
                  <a:lnTo>
                    <a:pt x="50413" y="58686"/>
                  </a:lnTo>
                  <a:lnTo>
                    <a:pt x="114056" y="22003"/>
                  </a:lnTo>
                  <a:lnTo>
                    <a:pt x="116159" y="14240"/>
                  </a:lnTo>
                  <a:lnTo>
                    <a:pt x="109148" y="2081"/>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23" name="object 95">
              <a:extLst>
                <a:ext uri="{FF2B5EF4-FFF2-40B4-BE49-F238E27FC236}">
                  <a16:creationId xmlns:a16="http://schemas.microsoft.com/office/drawing/2014/main" id="{3335F3A5-3DC7-4C28-96AD-BEB9264D838D}"/>
                </a:ext>
              </a:extLst>
            </p:cNvPr>
            <p:cNvSpPr>
              <a:spLocks/>
            </p:cNvSpPr>
            <p:nvPr/>
          </p:nvSpPr>
          <p:spPr bwMode="auto">
            <a:xfrm>
              <a:off x="4908550" y="4976813"/>
              <a:ext cx="269875" cy="3175"/>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24" name="object 96">
              <a:extLst>
                <a:ext uri="{FF2B5EF4-FFF2-40B4-BE49-F238E27FC236}">
                  <a16:creationId xmlns:a16="http://schemas.microsoft.com/office/drawing/2014/main" id="{0C0F2183-4344-4D8C-A71F-71CD8E4F91B0}"/>
                </a:ext>
              </a:extLst>
            </p:cNvPr>
            <p:cNvSpPr>
              <a:spLocks/>
            </p:cNvSpPr>
            <p:nvPr/>
          </p:nvSpPr>
          <p:spPr bwMode="auto">
            <a:xfrm>
              <a:off x="4883150" y="4918075"/>
              <a:ext cx="115888" cy="119063"/>
            </a:xfrm>
            <a:custGeom>
              <a:avLst/>
              <a:gdLst>
                <a:gd name="T0" fmla="*/ 101376 w 116204"/>
                <a:gd name="T1" fmla="*/ 0 h 118110"/>
                <a:gd name="T2" fmla="*/ 0 w 116204"/>
                <a:gd name="T3" fmla="*/ 58399 h 118110"/>
                <a:gd name="T4" fmla="*/ 100736 w 116204"/>
                <a:gd name="T5" fmla="*/ 117896 h 118110"/>
                <a:gd name="T6" fmla="*/ 108539 w 116204"/>
                <a:gd name="T7" fmla="*/ 115897 h 118110"/>
                <a:gd name="T8" fmla="*/ 115671 w 116204"/>
                <a:gd name="T9" fmla="*/ 103811 h 118110"/>
                <a:gd name="T10" fmla="*/ 113659 w 116204"/>
                <a:gd name="T11" fmla="*/ 96036 h 118110"/>
                <a:gd name="T12" fmla="*/ 50413 w 116204"/>
                <a:gd name="T13" fmla="*/ 58673 h 118110"/>
                <a:gd name="T14" fmla="*/ 114056 w 116204"/>
                <a:gd name="T15" fmla="*/ 22003 h 118110"/>
                <a:gd name="T16" fmla="*/ 116128 w 116204"/>
                <a:gd name="T17" fmla="*/ 14240 h 118110"/>
                <a:gd name="T18" fmla="*/ 112654 w 116204"/>
                <a:gd name="T19" fmla="*/ 8156 h 118110"/>
                <a:gd name="T20" fmla="*/ 109148 w 116204"/>
                <a:gd name="T21" fmla="*/ 2084 h 118110"/>
                <a:gd name="T22" fmla="*/ 101376 w 116204"/>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204" h="118110">
                  <a:moveTo>
                    <a:pt x="101376" y="0"/>
                  </a:moveTo>
                  <a:lnTo>
                    <a:pt x="0" y="58399"/>
                  </a:lnTo>
                  <a:lnTo>
                    <a:pt x="100736" y="117896"/>
                  </a:lnTo>
                  <a:lnTo>
                    <a:pt x="108539" y="115897"/>
                  </a:lnTo>
                  <a:lnTo>
                    <a:pt x="115671" y="103811"/>
                  </a:lnTo>
                  <a:lnTo>
                    <a:pt x="113659" y="96036"/>
                  </a:lnTo>
                  <a:lnTo>
                    <a:pt x="50413" y="58673"/>
                  </a:lnTo>
                  <a:lnTo>
                    <a:pt x="114056" y="22003"/>
                  </a:lnTo>
                  <a:lnTo>
                    <a:pt x="116128" y="14240"/>
                  </a:lnTo>
                  <a:lnTo>
                    <a:pt x="112654" y="8156"/>
                  </a:lnTo>
                  <a:lnTo>
                    <a:pt x="109148" y="2084"/>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25" name="object 97">
              <a:extLst>
                <a:ext uri="{FF2B5EF4-FFF2-40B4-BE49-F238E27FC236}">
                  <a16:creationId xmlns:a16="http://schemas.microsoft.com/office/drawing/2014/main" id="{0D764D17-B0B9-4BD9-ACF7-A7230C30908C}"/>
                </a:ext>
              </a:extLst>
            </p:cNvPr>
            <p:cNvSpPr>
              <a:spLocks/>
            </p:cNvSpPr>
            <p:nvPr/>
          </p:nvSpPr>
          <p:spPr bwMode="auto">
            <a:xfrm>
              <a:off x="4908550" y="4833938"/>
              <a:ext cx="269875" cy="1587"/>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26" name="object 98">
              <a:extLst>
                <a:ext uri="{FF2B5EF4-FFF2-40B4-BE49-F238E27FC236}">
                  <a16:creationId xmlns:a16="http://schemas.microsoft.com/office/drawing/2014/main" id="{E071B324-D506-442C-9684-201350E82ED8}"/>
                </a:ext>
              </a:extLst>
            </p:cNvPr>
            <p:cNvSpPr>
              <a:spLocks/>
            </p:cNvSpPr>
            <p:nvPr/>
          </p:nvSpPr>
          <p:spPr bwMode="auto">
            <a:xfrm>
              <a:off x="4883150" y="4775200"/>
              <a:ext cx="115888" cy="117475"/>
            </a:xfrm>
            <a:custGeom>
              <a:avLst/>
              <a:gdLst>
                <a:gd name="T0" fmla="*/ 101376 w 116204"/>
                <a:gd name="T1" fmla="*/ 0 h 118110"/>
                <a:gd name="T2" fmla="*/ 0 w 116204"/>
                <a:gd name="T3" fmla="*/ 58411 h 118110"/>
                <a:gd name="T4" fmla="*/ 100736 w 116204"/>
                <a:gd name="T5" fmla="*/ 117908 h 118110"/>
                <a:gd name="T6" fmla="*/ 108539 w 116204"/>
                <a:gd name="T7" fmla="*/ 115897 h 118110"/>
                <a:gd name="T8" fmla="*/ 115671 w 116204"/>
                <a:gd name="T9" fmla="*/ 103824 h 118110"/>
                <a:gd name="T10" fmla="*/ 113659 w 116204"/>
                <a:gd name="T11" fmla="*/ 96036 h 118110"/>
                <a:gd name="T12" fmla="*/ 50413 w 116204"/>
                <a:gd name="T13" fmla="*/ 58673 h 118110"/>
                <a:gd name="T14" fmla="*/ 114056 w 116204"/>
                <a:gd name="T15" fmla="*/ 22003 h 118110"/>
                <a:gd name="T16" fmla="*/ 116128 w 116204"/>
                <a:gd name="T17" fmla="*/ 14240 h 118110"/>
                <a:gd name="T18" fmla="*/ 112654 w 116204"/>
                <a:gd name="T19" fmla="*/ 8156 h 118110"/>
                <a:gd name="T20" fmla="*/ 109148 w 116204"/>
                <a:gd name="T21" fmla="*/ 2084 h 118110"/>
                <a:gd name="T22" fmla="*/ 101376 w 116204"/>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204" h="118110">
                  <a:moveTo>
                    <a:pt x="101376" y="0"/>
                  </a:moveTo>
                  <a:lnTo>
                    <a:pt x="0" y="58411"/>
                  </a:lnTo>
                  <a:lnTo>
                    <a:pt x="100736" y="117908"/>
                  </a:lnTo>
                  <a:lnTo>
                    <a:pt x="108539" y="115897"/>
                  </a:lnTo>
                  <a:lnTo>
                    <a:pt x="115671" y="103824"/>
                  </a:lnTo>
                  <a:lnTo>
                    <a:pt x="113659" y="96036"/>
                  </a:lnTo>
                  <a:lnTo>
                    <a:pt x="50413" y="58673"/>
                  </a:lnTo>
                  <a:lnTo>
                    <a:pt x="114056" y="22003"/>
                  </a:lnTo>
                  <a:lnTo>
                    <a:pt x="116128" y="14240"/>
                  </a:lnTo>
                  <a:lnTo>
                    <a:pt x="112654" y="8156"/>
                  </a:lnTo>
                  <a:lnTo>
                    <a:pt x="109148" y="2084"/>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27" name="object 99">
              <a:extLst>
                <a:ext uri="{FF2B5EF4-FFF2-40B4-BE49-F238E27FC236}">
                  <a16:creationId xmlns:a16="http://schemas.microsoft.com/office/drawing/2014/main" id="{B9993502-9906-43A3-A9C1-7558CD8E9EA3}"/>
                </a:ext>
              </a:extLst>
            </p:cNvPr>
            <p:cNvSpPr>
              <a:spLocks/>
            </p:cNvSpPr>
            <p:nvPr/>
          </p:nvSpPr>
          <p:spPr bwMode="auto">
            <a:xfrm>
              <a:off x="4897438" y="5264150"/>
              <a:ext cx="271462" cy="1588"/>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28" name="object 100">
              <a:extLst>
                <a:ext uri="{FF2B5EF4-FFF2-40B4-BE49-F238E27FC236}">
                  <a16:creationId xmlns:a16="http://schemas.microsoft.com/office/drawing/2014/main" id="{E870AF1F-618A-451A-B134-6A5550AE396D}"/>
                </a:ext>
              </a:extLst>
            </p:cNvPr>
            <p:cNvSpPr>
              <a:spLocks/>
            </p:cNvSpPr>
            <p:nvPr/>
          </p:nvSpPr>
          <p:spPr bwMode="auto">
            <a:xfrm>
              <a:off x="4872038" y="5205413"/>
              <a:ext cx="117475" cy="117475"/>
            </a:xfrm>
            <a:custGeom>
              <a:avLst/>
              <a:gdLst>
                <a:gd name="T0" fmla="*/ 101376 w 116204"/>
                <a:gd name="T1" fmla="*/ 0 h 118110"/>
                <a:gd name="T2" fmla="*/ 0 w 116204"/>
                <a:gd name="T3" fmla="*/ 58411 h 118110"/>
                <a:gd name="T4" fmla="*/ 100766 w 116204"/>
                <a:gd name="T5" fmla="*/ 117908 h 118110"/>
                <a:gd name="T6" fmla="*/ 108539 w 116204"/>
                <a:gd name="T7" fmla="*/ 115906 h 118110"/>
                <a:gd name="T8" fmla="*/ 115671 w 116204"/>
                <a:gd name="T9" fmla="*/ 103824 h 118110"/>
                <a:gd name="T10" fmla="*/ 113659 w 116204"/>
                <a:gd name="T11" fmla="*/ 96048 h 118110"/>
                <a:gd name="T12" fmla="*/ 50413 w 116204"/>
                <a:gd name="T13" fmla="*/ 58686 h 118110"/>
                <a:gd name="T14" fmla="*/ 114056 w 116204"/>
                <a:gd name="T15" fmla="*/ 22015 h 118110"/>
                <a:gd name="T16" fmla="*/ 116159 w 116204"/>
                <a:gd name="T17" fmla="*/ 14252 h 118110"/>
                <a:gd name="T18" fmla="*/ 109148 w 116204"/>
                <a:gd name="T19" fmla="*/ 2097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66" y="117908"/>
                  </a:lnTo>
                  <a:lnTo>
                    <a:pt x="108539" y="115906"/>
                  </a:lnTo>
                  <a:lnTo>
                    <a:pt x="115671" y="103824"/>
                  </a:lnTo>
                  <a:lnTo>
                    <a:pt x="113659" y="96048"/>
                  </a:lnTo>
                  <a:lnTo>
                    <a:pt x="50413" y="58686"/>
                  </a:lnTo>
                  <a:lnTo>
                    <a:pt x="114056" y="22015"/>
                  </a:lnTo>
                  <a:lnTo>
                    <a:pt x="116159" y="14252"/>
                  </a:lnTo>
                  <a:lnTo>
                    <a:pt x="109148" y="2097"/>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29" name="object 101">
              <a:extLst>
                <a:ext uri="{FF2B5EF4-FFF2-40B4-BE49-F238E27FC236}">
                  <a16:creationId xmlns:a16="http://schemas.microsoft.com/office/drawing/2014/main" id="{1D2A6499-C877-4EF1-8D99-175F293B0D2B}"/>
                </a:ext>
              </a:extLst>
            </p:cNvPr>
            <p:cNvSpPr>
              <a:spLocks/>
            </p:cNvSpPr>
            <p:nvPr/>
          </p:nvSpPr>
          <p:spPr bwMode="auto">
            <a:xfrm>
              <a:off x="4900613" y="5408613"/>
              <a:ext cx="271462" cy="3175"/>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30" name="object 102">
              <a:extLst>
                <a:ext uri="{FF2B5EF4-FFF2-40B4-BE49-F238E27FC236}">
                  <a16:creationId xmlns:a16="http://schemas.microsoft.com/office/drawing/2014/main" id="{0025C9DE-43D4-4F65-BDBA-07C0353D8D8E}"/>
                </a:ext>
              </a:extLst>
            </p:cNvPr>
            <p:cNvSpPr>
              <a:spLocks/>
            </p:cNvSpPr>
            <p:nvPr/>
          </p:nvSpPr>
          <p:spPr bwMode="auto">
            <a:xfrm>
              <a:off x="4875213" y="5351463"/>
              <a:ext cx="115887" cy="117475"/>
            </a:xfrm>
            <a:custGeom>
              <a:avLst/>
              <a:gdLst>
                <a:gd name="T0" fmla="*/ 101345 w 116204"/>
                <a:gd name="T1" fmla="*/ 0 h 118110"/>
                <a:gd name="T2" fmla="*/ 0 w 116204"/>
                <a:gd name="T3" fmla="*/ 58411 h 118110"/>
                <a:gd name="T4" fmla="*/ 100736 w 116204"/>
                <a:gd name="T5" fmla="*/ 117908 h 118110"/>
                <a:gd name="T6" fmla="*/ 108508 w 116204"/>
                <a:gd name="T7" fmla="*/ 115909 h 118110"/>
                <a:gd name="T8" fmla="*/ 115641 w 116204"/>
                <a:gd name="T9" fmla="*/ 103824 h 118110"/>
                <a:gd name="T10" fmla="*/ 113659 w 116204"/>
                <a:gd name="T11" fmla="*/ 96036 h 118110"/>
                <a:gd name="T12" fmla="*/ 50383 w 116204"/>
                <a:gd name="T13" fmla="*/ 58686 h 118110"/>
                <a:gd name="T14" fmla="*/ 114025 w 116204"/>
                <a:gd name="T15" fmla="*/ 22015 h 118110"/>
                <a:gd name="T16" fmla="*/ 116128 w 116204"/>
                <a:gd name="T17" fmla="*/ 14240 h 118110"/>
                <a:gd name="T18" fmla="*/ 109118 w 116204"/>
                <a:gd name="T19" fmla="*/ 2084 h 118110"/>
                <a:gd name="T20" fmla="*/ 101345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45" y="0"/>
                  </a:moveTo>
                  <a:lnTo>
                    <a:pt x="0" y="58411"/>
                  </a:lnTo>
                  <a:lnTo>
                    <a:pt x="100736" y="117908"/>
                  </a:lnTo>
                  <a:lnTo>
                    <a:pt x="108508" y="115909"/>
                  </a:lnTo>
                  <a:lnTo>
                    <a:pt x="115641" y="103824"/>
                  </a:lnTo>
                  <a:lnTo>
                    <a:pt x="113659" y="96036"/>
                  </a:lnTo>
                  <a:lnTo>
                    <a:pt x="50383" y="58686"/>
                  </a:lnTo>
                  <a:lnTo>
                    <a:pt x="114025" y="22015"/>
                  </a:lnTo>
                  <a:lnTo>
                    <a:pt x="116128" y="14240"/>
                  </a:lnTo>
                  <a:lnTo>
                    <a:pt x="109118" y="2084"/>
                  </a:lnTo>
                  <a:lnTo>
                    <a:pt x="1013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31" name="object 103">
              <a:extLst>
                <a:ext uri="{FF2B5EF4-FFF2-40B4-BE49-F238E27FC236}">
                  <a16:creationId xmlns:a16="http://schemas.microsoft.com/office/drawing/2014/main" id="{15448A61-55D5-4811-8F2B-5A57FB35B04E}"/>
                </a:ext>
              </a:extLst>
            </p:cNvPr>
            <p:cNvSpPr>
              <a:spLocks/>
            </p:cNvSpPr>
            <p:nvPr/>
          </p:nvSpPr>
          <p:spPr bwMode="auto">
            <a:xfrm>
              <a:off x="4897438" y="5540375"/>
              <a:ext cx="271462" cy="3175"/>
            </a:xfrm>
            <a:custGeom>
              <a:avLst/>
              <a:gdLst>
                <a:gd name="T0" fmla="*/ 0 w 271145"/>
                <a:gd name="T1" fmla="*/ 0 h 1904"/>
                <a:gd name="T2" fmla="*/ 270845 w 271145"/>
                <a:gd name="T3" fmla="*/ 1453 h 1904"/>
              </a:gdLst>
              <a:ahLst/>
              <a:cxnLst>
                <a:cxn ang="0">
                  <a:pos x="T0" y="T1"/>
                </a:cxn>
                <a:cxn ang="0">
                  <a:pos x="T2" y="T3"/>
                </a:cxn>
              </a:cxnLst>
              <a:rect l="0" t="0" r="r" b="b"/>
              <a:pathLst>
                <a:path w="271145" h="1904">
                  <a:moveTo>
                    <a:pt x="0" y="0"/>
                  </a:moveTo>
                  <a:lnTo>
                    <a:pt x="27084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32" name="object 104">
              <a:extLst>
                <a:ext uri="{FF2B5EF4-FFF2-40B4-BE49-F238E27FC236}">
                  <a16:creationId xmlns:a16="http://schemas.microsoft.com/office/drawing/2014/main" id="{F0D8D1D4-898A-4616-88A9-76067C85CCBC}"/>
                </a:ext>
              </a:extLst>
            </p:cNvPr>
            <p:cNvSpPr>
              <a:spLocks/>
            </p:cNvSpPr>
            <p:nvPr/>
          </p:nvSpPr>
          <p:spPr bwMode="auto">
            <a:xfrm>
              <a:off x="4872038" y="5483225"/>
              <a:ext cx="117475" cy="117475"/>
            </a:xfrm>
            <a:custGeom>
              <a:avLst/>
              <a:gdLst>
                <a:gd name="T0" fmla="*/ 101376 w 116204"/>
                <a:gd name="T1" fmla="*/ 0 h 118110"/>
                <a:gd name="T2" fmla="*/ 0 w 116204"/>
                <a:gd name="T3" fmla="*/ 58411 h 118110"/>
                <a:gd name="T4" fmla="*/ 100736 w 116204"/>
                <a:gd name="T5" fmla="*/ 117908 h 118110"/>
                <a:gd name="T6" fmla="*/ 108539 w 116204"/>
                <a:gd name="T7" fmla="*/ 115894 h 118110"/>
                <a:gd name="T8" fmla="*/ 115671 w 116204"/>
                <a:gd name="T9" fmla="*/ 103820 h 118110"/>
                <a:gd name="T10" fmla="*/ 113659 w 116204"/>
                <a:gd name="T11" fmla="*/ 96036 h 118110"/>
                <a:gd name="T12" fmla="*/ 50413 w 116204"/>
                <a:gd name="T13" fmla="*/ 58673 h 118110"/>
                <a:gd name="T14" fmla="*/ 114056 w 116204"/>
                <a:gd name="T15" fmla="*/ 22003 h 118110"/>
                <a:gd name="T16" fmla="*/ 116159 w 116204"/>
                <a:gd name="T17" fmla="*/ 14240 h 118110"/>
                <a:gd name="T18" fmla="*/ 109148 w 116204"/>
                <a:gd name="T19" fmla="*/ 2084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36" y="117908"/>
                  </a:lnTo>
                  <a:lnTo>
                    <a:pt x="108539" y="115894"/>
                  </a:lnTo>
                  <a:lnTo>
                    <a:pt x="115671" y="103820"/>
                  </a:lnTo>
                  <a:lnTo>
                    <a:pt x="113659" y="96036"/>
                  </a:lnTo>
                  <a:lnTo>
                    <a:pt x="50413" y="58673"/>
                  </a:lnTo>
                  <a:lnTo>
                    <a:pt x="114056" y="22003"/>
                  </a:lnTo>
                  <a:lnTo>
                    <a:pt x="116159" y="14240"/>
                  </a:lnTo>
                  <a:lnTo>
                    <a:pt x="109148" y="2084"/>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33" name="object 105">
              <a:extLst>
                <a:ext uri="{FF2B5EF4-FFF2-40B4-BE49-F238E27FC236}">
                  <a16:creationId xmlns:a16="http://schemas.microsoft.com/office/drawing/2014/main" id="{26028806-7DCE-405F-906A-2795D273BFD5}"/>
                </a:ext>
              </a:extLst>
            </p:cNvPr>
            <p:cNvSpPr>
              <a:spLocks/>
            </p:cNvSpPr>
            <p:nvPr/>
          </p:nvSpPr>
          <p:spPr bwMode="auto">
            <a:xfrm>
              <a:off x="4908550" y="4689475"/>
              <a:ext cx="269875" cy="1588"/>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34" name="object 106">
              <a:extLst>
                <a:ext uri="{FF2B5EF4-FFF2-40B4-BE49-F238E27FC236}">
                  <a16:creationId xmlns:a16="http://schemas.microsoft.com/office/drawing/2014/main" id="{82A896E5-046C-4D7F-8E54-FF2B40A9C344}"/>
                </a:ext>
              </a:extLst>
            </p:cNvPr>
            <p:cNvSpPr>
              <a:spLocks/>
            </p:cNvSpPr>
            <p:nvPr/>
          </p:nvSpPr>
          <p:spPr bwMode="auto">
            <a:xfrm>
              <a:off x="4883150" y="4630738"/>
              <a:ext cx="115888" cy="117475"/>
            </a:xfrm>
            <a:custGeom>
              <a:avLst/>
              <a:gdLst>
                <a:gd name="T0" fmla="*/ 101376 w 116204"/>
                <a:gd name="T1" fmla="*/ 0 h 118110"/>
                <a:gd name="T2" fmla="*/ 0 w 116204"/>
                <a:gd name="T3" fmla="*/ 58411 h 118110"/>
                <a:gd name="T4" fmla="*/ 100736 w 116204"/>
                <a:gd name="T5" fmla="*/ 117908 h 118110"/>
                <a:gd name="T6" fmla="*/ 108539 w 116204"/>
                <a:gd name="T7" fmla="*/ 115897 h 118110"/>
                <a:gd name="T8" fmla="*/ 115671 w 116204"/>
                <a:gd name="T9" fmla="*/ 103824 h 118110"/>
                <a:gd name="T10" fmla="*/ 113659 w 116204"/>
                <a:gd name="T11" fmla="*/ 96036 h 118110"/>
                <a:gd name="T12" fmla="*/ 50413 w 116204"/>
                <a:gd name="T13" fmla="*/ 58673 h 118110"/>
                <a:gd name="T14" fmla="*/ 114056 w 116204"/>
                <a:gd name="T15" fmla="*/ 22003 h 118110"/>
                <a:gd name="T16" fmla="*/ 116128 w 116204"/>
                <a:gd name="T17" fmla="*/ 14240 h 118110"/>
                <a:gd name="T18" fmla="*/ 112654 w 116204"/>
                <a:gd name="T19" fmla="*/ 8168 h 118110"/>
                <a:gd name="T20" fmla="*/ 109148 w 116204"/>
                <a:gd name="T21" fmla="*/ 2084 h 118110"/>
                <a:gd name="T22" fmla="*/ 101376 w 116204"/>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204" h="118110">
                  <a:moveTo>
                    <a:pt x="101376" y="0"/>
                  </a:moveTo>
                  <a:lnTo>
                    <a:pt x="0" y="58411"/>
                  </a:lnTo>
                  <a:lnTo>
                    <a:pt x="100736" y="117908"/>
                  </a:lnTo>
                  <a:lnTo>
                    <a:pt x="108539" y="115897"/>
                  </a:lnTo>
                  <a:lnTo>
                    <a:pt x="115671" y="103824"/>
                  </a:lnTo>
                  <a:lnTo>
                    <a:pt x="113659" y="96036"/>
                  </a:lnTo>
                  <a:lnTo>
                    <a:pt x="50413" y="58673"/>
                  </a:lnTo>
                  <a:lnTo>
                    <a:pt x="114056" y="22003"/>
                  </a:lnTo>
                  <a:lnTo>
                    <a:pt x="116128" y="14240"/>
                  </a:lnTo>
                  <a:lnTo>
                    <a:pt x="112654" y="8168"/>
                  </a:lnTo>
                  <a:lnTo>
                    <a:pt x="109148" y="2084"/>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35" name="object 107">
              <a:extLst>
                <a:ext uri="{FF2B5EF4-FFF2-40B4-BE49-F238E27FC236}">
                  <a16:creationId xmlns:a16="http://schemas.microsoft.com/office/drawing/2014/main" id="{3A239EA5-454E-4405-BA4C-93D8914E492B}"/>
                </a:ext>
              </a:extLst>
            </p:cNvPr>
            <p:cNvSpPr>
              <a:spLocks/>
            </p:cNvSpPr>
            <p:nvPr/>
          </p:nvSpPr>
          <p:spPr bwMode="auto">
            <a:xfrm>
              <a:off x="4908550" y="4556125"/>
              <a:ext cx="269875" cy="1588"/>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36" name="object 108">
              <a:extLst>
                <a:ext uri="{FF2B5EF4-FFF2-40B4-BE49-F238E27FC236}">
                  <a16:creationId xmlns:a16="http://schemas.microsoft.com/office/drawing/2014/main" id="{4897161F-43DF-4166-9FD4-974F29362913}"/>
                </a:ext>
              </a:extLst>
            </p:cNvPr>
            <p:cNvSpPr>
              <a:spLocks/>
            </p:cNvSpPr>
            <p:nvPr/>
          </p:nvSpPr>
          <p:spPr bwMode="auto">
            <a:xfrm>
              <a:off x="4883150" y="4497388"/>
              <a:ext cx="115888" cy="117475"/>
            </a:xfrm>
            <a:custGeom>
              <a:avLst/>
              <a:gdLst>
                <a:gd name="T0" fmla="*/ 101376 w 116204"/>
                <a:gd name="T1" fmla="*/ 0 h 118110"/>
                <a:gd name="T2" fmla="*/ 0 w 116204"/>
                <a:gd name="T3" fmla="*/ 58411 h 118110"/>
                <a:gd name="T4" fmla="*/ 100736 w 116204"/>
                <a:gd name="T5" fmla="*/ 117908 h 118110"/>
                <a:gd name="T6" fmla="*/ 108539 w 116204"/>
                <a:gd name="T7" fmla="*/ 115906 h 118110"/>
                <a:gd name="T8" fmla="*/ 115671 w 116204"/>
                <a:gd name="T9" fmla="*/ 103824 h 118110"/>
                <a:gd name="T10" fmla="*/ 113659 w 116204"/>
                <a:gd name="T11" fmla="*/ 96036 h 118110"/>
                <a:gd name="T12" fmla="*/ 50413 w 116204"/>
                <a:gd name="T13" fmla="*/ 58686 h 118110"/>
                <a:gd name="T14" fmla="*/ 114056 w 116204"/>
                <a:gd name="T15" fmla="*/ 22015 h 118110"/>
                <a:gd name="T16" fmla="*/ 116128 w 116204"/>
                <a:gd name="T17" fmla="*/ 14240 h 118110"/>
                <a:gd name="T18" fmla="*/ 112654 w 116204"/>
                <a:gd name="T19" fmla="*/ 8168 h 118110"/>
                <a:gd name="T20" fmla="*/ 109148 w 116204"/>
                <a:gd name="T21" fmla="*/ 2084 h 118110"/>
                <a:gd name="T22" fmla="*/ 101376 w 116204"/>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204" h="118110">
                  <a:moveTo>
                    <a:pt x="101376" y="0"/>
                  </a:moveTo>
                  <a:lnTo>
                    <a:pt x="0" y="58411"/>
                  </a:lnTo>
                  <a:lnTo>
                    <a:pt x="100736" y="117908"/>
                  </a:lnTo>
                  <a:lnTo>
                    <a:pt x="108539" y="115906"/>
                  </a:lnTo>
                  <a:lnTo>
                    <a:pt x="115671" y="103824"/>
                  </a:lnTo>
                  <a:lnTo>
                    <a:pt x="113659" y="96036"/>
                  </a:lnTo>
                  <a:lnTo>
                    <a:pt x="50413" y="58686"/>
                  </a:lnTo>
                  <a:lnTo>
                    <a:pt x="114056" y="22015"/>
                  </a:lnTo>
                  <a:lnTo>
                    <a:pt x="116128" y="14240"/>
                  </a:lnTo>
                  <a:lnTo>
                    <a:pt x="112654" y="8168"/>
                  </a:lnTo>
                  <a:lnTo>
                    <a:pt x="109148" y="2084"/>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37" name="object 109">
              <a:extLst>
                <a:ext uri="{FF2B5EF4-FFF2-40B4-BE49-F238E27FC236}">
                  <a16:creationId xmlns:a16="http://schemas.microsoft.com/office/drawing/2014/main" id="{5E675CA4-57CB-4046-8F1F-D3DEE3EA44EB}"/>
                </a:ext>
              </a:extLst>
            </p:cNvPr>
            <p:cNvSpPr>
              <a:spLocks/>
            </p:cNvSpPr>
            <p:nvPr/>
          </p:nvSpPr>
          <p:spPr bwMode="auto">
            <a:xfrm>
              <a:off x="5729288" y="5157788"/>
              <a:ext cx="211137" cy="9525"/>
            </a:xfrm>
            <a:custGeom>
              <a:avLst/>
              <a:gdLst>
                <a:gd name="T0" fmla="*/ 0 w 211454"/>
                <a:gd name="T1" fmla="*/ 9229 h 9525"/>
                <a:gd name="T2" fmla="*/ 211348 w 211454"/>
                <a:gd name="T3" fmla="*/ 0 h 9525"/>
              </a:gdLst>
              <a:ahLst/>
              <a:cxnLst>
                <a:cxn ang="0">
                  <a:pos x="T0" y="T1"/>
                </a:cxn>
                <a:cxn ang="0">
                  <a:pos x="T2" y="T3"/>
                </a:cxn>
              </a:cxnLst>
              <a:rect l="0" t="0" r="r" b="b"/>
              <a:pathLst>
                <a:path w="211454" h="9525">
                  <a:moveTo>
                    <a:pt x="0" y="9229"/>
                  </a:moveTo>
                  <a:lnTo>
                    <a:pt x="211348"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38" name="object 110">
              <a:extLst>
                <a:ext uri="{FF2B5EF4-FFF2-40B4-BE49-F238E27FC236}">
                  <a16:creationId xmlns:a16="http://schemas.microsoft.com/office/drawing/2014/main" id="{265D623E-4F1A-4CD7-BB1E-07032A5CD7F5}"/>
                </a:ext>
              </a:extLst>
            </p:cNvPr>
            <p:cNvSpPr>
              <a:spLocks/>
            </p:cNvSpPr>
            <p:nvPr/>
          </p:nvSpPr>
          <p:spPr bwMode="auto">
            <a:xfrm>
              <a:off x="5703888" y="5105400"/>
              <a:ext cx="117475" cy="117475"/>
            </a:xfrm>
            <a:custGeom>
              <a:avLst/>
              <a:gdLst>
                <a:gd name="T0" fmla="*/ 98389 w 118110"/>
                <a:gd name="T1" fmla="*/ 0 h 118110"/>
                <a:gd name="T2" fmla="*/ 0 w 118110"/>
                <a:gd name="T3" fmla="*/ 63303 h 118110"/>
                <a:gd name="T4" fmla="*/ 103540 w 118110"/>
                <a:gd name="T5" fmla="*/ 117799 h 118110"/>
                <a:gd name="T6" fmla="*/ 111221 w 118110"/>
                <a:gd name="T7" fmla="*/ 115418 h 118110"/>
                <a:gd name="T8" fmla="*/ 117744 w 118110"/>
                <a:gd name="T9" fmla="*/ 102998 h 118110"/>
                <a:gd name="T10" fmla="*/ 115366 w 118110"/>
                <a:gd name="T11" fmla="*/ 95320 h 118110"/>
                <a:gd name="T12" fmla="*/ 50352 w 118110"/>
                <a:gd name="T13" fmla="*/ 61100 h 118110"/>
                <a:gd name="T14" fmla="*/ 112135 w 118110"/>
                <a:gd name="T15" fmla="*/ 21357 h 118110"/>
                <a:gd name="T16" fmla="*/ 113842 w 118110"/>
                <a:gd name="T17" fmla="*/ 13499 h 118110"/>
                <a:gd name="T18" fmla="*/ 110032 w 118110"/>
                <a:gd name="T19" fmla="*/ 7607 h 118110"/>
                <a:gd name="T20" fmla="*/ 106253 w 118110"/>
                <a:gd name="T21" fmla="*/ 1700 h 118110"/>
                <a:gd name="T22" fmla="*/ 98389 w 118110"/>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8110" h="118110">
                  <a:moveTo>
                    <a:pt x="98389" y="0"/>
                  </a:moveTo>
                  <a:lnTo>
                    <a:pt x="0" y="63303"/>
                  </a:lnTo>
                  <a:lnTo>
                    <a:pt x="103540" y="117799"/>
                  </a:lnTo>
                  <a:lnTo>
                    <a:pt x="111221" y="115418"/>
                  </a:lnTo>
                  <a:lnTo>
                    <a:pt x="117744" y="102998"/>
                  </a:lnTo>
                  <a:lnTo>
                    <a:pt x="115366" y="95320"/>
                  </a:lnTo>
                  <a:lnTo>
                    <a:pt x="50352" y="61100"/>
                  </a:lnTo>
                  <a:lnTo>
                    <a:pt x="112135" y="21357"/>
                  </a:lnTo>
                  <a:lnTo>
                    <a:pt x="113842" y="13499"/>
                  </a:lnTo>
                  <a:lnTo>
                    <a:pt x="110032" y="7607"/>
                  </a:lnTo>
                  <a:lnTo>
                    <a:pt x="106253" y="1700"/>
                  </a:lnTo>
                  <a:lnTo>
                    <a:pt x="983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11" name="object 111">
              <a:extLst>
                <a:ext uri="{FF2B5EF4-FFF2-40B4-BE49-F238E27FC236}">
                  <a16:creationId xmlns:a16="http://schemas.microsoft.com/office/drawing/2014/main" id="{AF7EC727-04A4-4095-AB9C-739B4A21E1EF}"/>
                </a:ext>
              </a:extLst>
            </p:cNvPr>
            <p:cNvSpPr txBox="1"/>
            <p:nvPr/>
          </p:nvSpPr>
          <p:spPr>
            <a:xfrm>
              <a:off x="3498850" y="1228725"/>
              <a:ext cx="1604963" cy="304800"/>
            </a:xfrm>
            <a:prstGeom prst="rect">
              <a:avLst/>
            </a:prstGeom>
          </p:spPr>
          <p:txBody>
            <a:bodyPr lIns="0" tIns="0" rIns="0" bIns="0">
              <a:spAutoFit/>
            </a:bodyPr>
            <a:lstStyle/>
            <a:p>
              <a:pPr marL="12700" fontAlgn="auto">
                <a:lnSpc>
                  <a:spcPts val="2860"/>
                </a:lnSpc>
                <a:spcBef>
                  <a:spcPts val="0"/>
                </a:spcBef>
                <a:spcAft>
                  <a:spcPts val="0"/>
                </a:spcAft>
                <a:defRPr/>
              </a:pPr>
              <a:r>
                <a:rPr sz="2400" spc="-280" dirty="0">
                  <a:latin typeface="Trebuchet MS"/>
                  <a:cs typeface="Trebuchet MS"/>
                </a:rPr>
                <a:t>T</a:t>
              </a:r>
              <a:r>
                <a:rPr sz="2400" spc="-10" dirty="0">
                  <a:latin typeface="Trebuchet MS"/>
                  <a:cs typeface="Trebuchet MS"/>
                </a:rPr>
                <a:t>r</a:t>
              </a:r>
              <a:r>
                <a:rPr sz="2400" dirty="0">
                  <a:latin typeface="Trebuchet MS"/>
                  <a:cs typeface="Trebuchet MS"/>
                </a:rPr>
                <a:t>an</a:t>
              </a:r>
              <a:r>
                <a:rPr sz="2400" spc="-15" dirty="0">
                  <a:latin typeface="Trebuchet MS"/>
                  <a:cs typeface="Trebuchet MS"/>
                </a:rPr>
                <a:t>s</a:t>
              </a:r>
              <a:r>
                <a:rPr sz="2400" spc="-5" dirty="0">
                  <a:latin typeface="Trebuchet MS"/>
                  <a:cs typeface="Trebuchet MS"/>
                </a:rPr>
                <a:t>m</a:t>
              </a:r>
              <a:r>
                <a:rPr sz="2400" dirty="0">
                  <a:latin typeface="Trebuchet MS"/>
                  <a:cs typeface="Trebuchet MS"/>
                </a:rPr>
                <a:t>itte</a:t>
              </a:r>
              <a:r>
                <a:rPr sz="2400" spc="-10" dirty="0">
                  <a:latin typeface="Trebuchet MS"/>
                  <a:cs typeface="Trebuchet MS"/>
                </a:rPr>
                <a:t>r</a:t>
              </a:r>
              <a:endParaRPr sz="2400">
                <a:latin typeface="Trebuchet MS"/>
                <a:cs typeface="Trebuchet MS"/>
              </a:endParaRPr>
            </a:p>
          </p:txBody>
        </p:sp>
        <p:sp>
          <p:nvSpPr>
            <p:cNvPr id="112" name="object 112">
              <a:extLst>
                <a:ext uri="{FF2B5EF4-FFF2-40B4-BE49-F238E27FC236}">
                  <a16:creationId xmlns:a16="http://schemas.microsoft.com/office/drawing/2014/main" id="{75BDBAD8-0A2C-4469-AEC3-F2BC1A7117D3}"/>
                </a:ext>
              </a:extLst>
            </p:cNvPr>
            <p:cNvSpPr txBox="1"/>
            <p:nvPr/>
          </p:nvSpPr>
          <p:spPr>
            <a:xfrm>
              <a:off x="3644900" y="5895975"/>
              <a:ext cx="1195388" cy="330200"/>
            </a:xfrm>
            <a:prstGeom prst="rect">
              <a:avLst/>
            </a:prstGeom>
          </p:spPr>
          <p:txBody>
            <a:bodyPr lIns="0" tIns="0" rIns="0" bIns="0">
              <a:spAutoFit/>
            </a:bodyPr>
            <a:lstStyle/>
            <a:p>
              <a:pPr marL="12700" fontAlgn="auto">
                <a:spcBef>
                  <a:spcPts val="0"/>
                </a:spcBef>
                <a:spcAft>
                  <a:spcPts val="0"/>
                </a:spcAft>
                <a:defRPr/>
              </a:pPr>
              <a:r>
                <a:rPr sz="2400" spc="-100" dirty="0">
                  <a:latin typeface="Trebuchet MS"/>
                  <a:cs typeface="Trebuchet MS"/>
                </a:rPr>
                <a:t>R</a:t>
              </a:r>
              <a:r>
                <a:rPr sz="2400" dirty="0">
                  <a:latin typeface="Trebuchet MS"/>
                  <a:cs typeface="Trebuchet MS"/>
                </a:rPr>
                <a:t>ecei</a:t>
              </a:r>
              <a:r>
                <a:rPr sz="2400" spc="-20" dirty="0">
                  <a:latin typeface="Trebuchet MS"/>
                  <a:cs typeface="Trebuchet MS"/>
                </a:rPr>
                <a:t>v</a:t>
              </a:r>
              <a:r>
                <a:rPr sz="2400" dirty="0">
                  <a:latin typeface="Trebuchet MS"/>
                  <a:cs typeface="Trebuchet MS"/>
                </a:rPr>
                <a:t>e</a:t>
              </a:r>
              <a:r>
                <a:rPr sz="2400" spc="-10" dirty="0">
                  <a:latin typeface="Trebuchet MS"/>
                  <a:cs typeface="Trebuchet MS"/>
                </a:rPr>
                <a:t>r</a:t>
              </a:r>
              <a:endParaRPr sz="2400">
                <a:latin typeface="Trebuchet MS"/>
                <a:cs typeface="Trebuchet MS"/>
              </a:endParaRPr>
            </a:p>
          </p:txBody>
        </p:sp>
        <p:sp>
          <p:nvSpPr>
            <p:cNvPr id="22641" name="object 113">
              <a:extLst>
                <a:ext uri="{FF2B5EF4-FFF2-40B4-BE49-F238E27FC236}">
                  <a16:creationId xmlns:a16="http://schemas.microsoft.com/office/drawing/2014/main" id="{B003E979-0F42-4107-8E16-BD8905FFDBB4}"/>
                </a:ext>
              </a:extLst>
            </p:cNvPr>
            <p:cNvSpPr>
              <a:spLocks/>
            </p:cNvSpPr>
            <p:nvPr/>
          </p:nvSpPr>
          <p:spPr bwMode="auto">
            <a:xfrm>
              <a:off x="3865563" y="2295525"/>
              <a:ext cx="269875" cy="1588"/>
            </a:xfrm>
            <a:custGeom>
              <a:avLst/>
              <a:gdLst>
                <a:gd name="T0" fmla="*/ 0 w 271145"/>
                <a:gd name="T1" fmla="*/ 0 h 1905"/>
                <a:gd name="T2" fmla="*/ 270875 w 271145"/>
                <a:gd name="T3" fmla="*/ 1432 h 1905"/>
              </a:gdLst>
              <a:ahLst/>
              <a:cxnLst>
                <a:cxn ang="0">
                  <a:pos x="T0" y="T1"/>
                </a:cxn>
                <a:cxn ang="0">
                  <a:pos x="T2" y="T3"/>
                </a:cxn>
              </a:cxnLst>
              <a:rect l="0" t="0" r="r" b="b"/>
              <a:pathLst>
                <a:path w="271145"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42" name="object 114">
              <a:extLst>
                <a:ext uri="{FF2B5EF4-FFF2-40B4-BE49-F238E27FC236}">
                  <a16:creationId xmlns:a16="http://schemas.microsoft.com/office/drawing/2014/main" id="{03C55A7B-8CCB-4C29-82CC-3D8A09DB3BD3}"/>
                </a:ext>
              </a:extLst>
            </p:cNvPr>
            <p:cNvSpPr>
              <a:spLocks/>
            </p:cNvSpPr>
            <p:nvPr/>
          </p:nvSpPr>
          <p:spPr bwMode="auto">
            <a:xfrm>
              <a:off x="4044950" y="2236788"/>
              <a:ext cx="115888" cy="119062"/>
            </a:xfrm>
            <a:custGeom>
              <a:avLst/>
              <a:gdLst>
                <a:gd name="T0" fmla="*/ 15392 w 116204"/>
                <a:gd name="T1" fmla="*/ 0 h 118110"/>
                <a:gd name="T2" fmla="*/ 7619 w 116204"/>
                <a:gd name="T3" fmla="*/ 2011 h 118110"/>
                <a:gd name="T4" fmla="*/ 487 w 116204"/>
                <a:gd name="T5" fmla="*/ 14081 h 118110"/>
                <a:gd name="T6" fmla="*/ 2499 w 116204"/>
                <a:gd name="T7" fmla="*/ 21854 h 118110"/>
                <a:gd name="T8" fmla="*/ 65745 w 116204"/>
                <a:gd name="T9" fmla="*/ 59222 h 118110"/>
                <a:gd name="T10" fmla="*/ 2103 w 116204"/>
                <a:gd name="T11" fmla="*/ 95890 h 118110"/>
                <a:gd name="T12" fmla="*/ 0 w 116204"/>
                <a:gd name="T13" fmla="*/ 103662 h 118110"/>
                <a:gd name="T14" fmla="*/ 7010 w 116204"/>
                <a:gd name="T15" fmla="*/ 115823 h 118110"/>
                <a:gd name="T16" fmla="*/ 14782 w 116204"/>
                <a:gd name="T17" fmla="*/ 117896 h 118110"/>
                <a:gd name="T18" fmla="*/ 116159 w 116204"/>
                <a:gd name="T19" fmla="*/ 59496 h 118110"/>
                <a:gd name="T20" fmla="*/ 1539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392" y="0"/>
                  </a:moveTo>
                  <a:lnTo>
                    <a:pt x="7619" y="2011"/>
                  </a:lnTo>
                  <a:lnTo>
                    <a:pt x="487" y="14081"/>
                  </a:lnTo>
                  <a:lnTo>
                    <a:pt x="2499" y="21854"/>
                  </a:lnTo>
                  <a:lnTo>
                    <a:pt x="65745" y="59222"/>
                  </a:lnTo>
                  <a:lnTo>
                    <a:pt x="2103" y="95890"/>
                  </a:lnTo>
                  <a:lnTo>
                    <a:pt x="0" y="103662"/>
                  </a:lnTo>
                  <a:lnTo>
                    <a:pt x="7010" y="115823"/>
                  </a:lnTo>
                  <a:lnTo>
                    <a:pt x="1478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43" name="object 115">
              <a:extLst>
                <a:ext uri="{FF2B5EF4-FFF2-40B4-BE49-F238E27FC236}">
                  <a16:creationId xmlns:a16="http://schemas.microsoft.com/office/drawing/2014/main" id="{16052A2F-BDF4-479B-9C7E-5A5703C5AE07}"/>
                </a:ext>
              </a:extLst>
            </p:cNvPr>
            <p:cNvSpPr>
              <a:spLocks/>
            </p:cNvSpPr>
            <p:nvPr/>
          </p:nvSpPr>
          <p:spPr bwMode="auto">
            <a:xfrm>
              <a:off x="3878263" y="2154238"/>
              <a:ext cx="271462" cy="1587"/>
            </a:xfrm>
            <a:custGeom>
              <a:avLst/>
              <a:gdLst>
                <a:gd name="T0" fmla="*/ 0 w 271145"/>
                <a:gd name="T1" fmla="*/ 0 h 1905"/>
                <a:gd name="T2" fmla="*/ 270875 w 271145"/>
                <a:gd name="T3" fmla="*/ 1463 h 1905"/>
              </a:gdLst>
              <a:ahLst/>
              <a:cxnLst>
                <a:cxn ang="0">
                  <a:pos x="T0" y="T1"/>
                </a:cxn>
                <a:cxn ang="0">
                  <a:pos x="T2" y="T3"/>
                </a:cxn>
              </a:cxnLst>
              <a:rect l="0" t="0" r="r" b="b"/>
              <a:pathLst>
                <a:path w="271145" h="1905">
                  <a:moveTo>
                    <a:pt x="0" y="0"/>
                  </a:moveTo>
                  <a:lnTo>
                    <a:pt x="27087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44" name="object 116">
              <a:extLst>
                <a:ext uri="{FF2B5EF4-FFF2-40B4-BE49-F238E27FC236}">
                  <a16:creationId xmlns:a16="http://schemas.microsoft.com/office/drawing/2014/main" id="{4A83C9A4-DB84-463C-8878-9D01B955253C}"/>
                </a:ext>
              </a:extLst>
            </p:cNvPr>
            <p:cNvSpPr>
              <a:spLocks/>
            </p:cNvSpPr>
            <p:nvPr/>
          </p:nvSpPr>
          <p:spPr bwMode="auto">
            <a:xfrm>
              <a:off x="4059238" y="2095500"/>
              <a:ext cx="115887" cy="117475"/>
            </a:xfrm>
            <a:custGeom>
              <a:avLst/>
              <a:gdLst>
                <a:gd name="T0" fmla="*/ 15392 w 116204"/>
                <a:gd name="T1" fmla="*/ 0 h 118110"/>
                <a:gd name="T2" fmla="*/ 7619 w 116204"/>
                <a:gd name="T3" fmla="*/ 2011 h 118110"/>
                <a:gd name="T4" fmla="*/ 4023 w 116204"/>
                <a:gd name="T5" fmla="*/ 8046 h 118110"/>
                <a:gd name="T6" fmla="*/ 487 w 116204"/>
                <a:gd name="T7" fmla="*/ 14081 h 118110"/>
                <a:gd name="T8" fmla="*/ 2468 w 116204"/>
                <a:gd name="T9" fmla="*/ 21884 h 118110"/>
                <a:gd name="T10" fmla="*/ 65745 w 116204"/>
                <a:gd name="T11" fmla="*/ 59222 h 118110"/>
                <a:gd name="T12" fmla="*/ 2072 w 116204"/>
                <a:gd name="T13" fmla="*/ 95920 h 118110"/>
                <a:gd name="T14" fmla="*/ 0 w 116204"/>
                <a:gd name="T15" fmla="*/ 103662 h 118110"/>
                <a:gd name="T16" fmla="*/ 3474 w 116204"/>
                <a:gd name="T17" fmla="*/ 109758 h 118110"/>
                <a:gd name="T18" fmla="*/ 6979 w 116204"/>
                <a:gd name="T19" fmla="*/ 115823 h 118110"/>
                <a:gd name="T20" fmla="*/ 14752 w 116204"/>
                <a:gd name="T21" fmla="*/ 117896 h 118110"/>
                <a:gd name="T22" fmla="*/ 116159 w 116204"/>
                <a:gd name="T23" fmla="*/ 59496 h 118110"/>
                <a:gd name="T24" fmla="*/ 15392 w 116204"/>
                <a:gd name="T25"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204" h="118110">
                  <a:moveTo>
                    <a:pt x="15392" y="0"/>
                  </a:moveTo>
                  <a:lnTo>
                    <a:pt x="7619" y="2011"/>
                  </a:lnTo>
                  <a:lnTo>
                    <a:pt x="4023" y="8046"/>
                  </a:lnTo>
                  <a:lnTo>
                    <a:pt x="487" y="14081"/>
                  </a:lnTo>
                  <a:lnTo>
                    <a:pt x="2468" y="21884"/>
                  </a:lnTo>
                  <a:lnTo>
                    <a:pt x="65745" y="59222"/>
                  </a:lnTo>
                  <a:lnTo>
                    <a:pt x="2072" y="95920"/>
                  </a:lnTo>
                  <a:lnTo>
                    <a:pt x="0" y="103662"/>
                  </a:lnTo>
                  <a:lnTo>
                    <a:pt x="3474" y="109758"/>
                  </a:lnTo>
                  <a:lnTo>
                    <a:pt x="6979" y="115823"/>
                  </a:lnTo>
                  <a:lnTo>
                    <a:pt x="1475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45" name="object 117">
              <a:extLst>
                <a:ext uri="{FF2B5EF4-FFF2-40B4-BE49-F238E27FC236}">
                  <a16:creationId xmlns:a16="http://schemas.microsoft.com/office/drawing/2014/main" id="{ABE9F33F-EF9E-4DF0-8559-47CDCF74B5C9}"/>
                </a:ext>
              </a:extLst>
            </p:cNvPr>
            <p:cNvSpPr>
              <a:spLocks/>
            </p:cNvSpPr>
            <p:nvPr/>
          </p:nvSpPr>
          <p:spPr bwMode="auto">
            <a:xfrm>
              <a:off x="3878263" y="2009775"/>
              <a:ext cx="271462" cy="1588"/>
            </a:xfrm>
            <a:custGeom>
              <a:avLst/>
              <a:gdLst>
                <a:gd name="T0" fmla="*/ 0 w 271145"/>
                <a:gd name="T1" fmla="*/ 0 h 1905"/>
                <a:gd name="T2" fmla="*/ 270875 w 271145"/>
                <a:gd name="T3" fmla="*/ 1463 h 1905"/>
              </a:gdLst>
              <a:ahLst/>
              <a:cxnLst>
                <a:cxn ang="0">
                  <a:pos x="T0" y="T1"/>
                </a:cxn>
                <a:cxn ang="0">
                  <a:pos x="T2" y="T3"/>
                </a:cxn>
              </a:cxnLst>
              <a:rect l="0" t="0" r="r" b="b"/>
              <a:pathLst>
                <a:path w="271145" h="1905">
                  <a:moveTo>
                    <a:pt x="0" y="0"/>
                  </a:moveTo>
                  <a:lnTo>
                    <a:pt x="27087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46" name="object 118">
              <a:extLst>
                <a:ext uri="{FF2B5EF4-FFF2-40B4-BE49-F238E27FC236}">
                  <a16:creationId xmlns:a16="http://schemas.microsoft.com/office/drawing/2014/main" id="{C7174FBA-055F-4CE3-95DB-87C89D9DB1E5}"/>
                </a:ext>
              </a:extLst>
            </p:cNvPr>
            <p:cNvSpPr>
              <a:spLocks/>
            </p:cNvSpPr>
            <p:nvPr/>
          </p:nvSpPr>
          <p:spPr bwMode="auto">
            <a:xfrm>
              <a:off x="4059238" y="1951038"/>
              <a:ext cx="115887" cy="119062"/>
            </a:xfrm>
            <a:custGeom>
              <a:avLst/>
              <a:gdLst>
                <a:gd name="T0" fmla="*/ 15392 w 116204"/>
                <a:gd name="T1" fmla="*/ 0 h 118110"/>
                <a:gd name="T2" fmla="*/ 7619 w 116204"/>
                <a:gd name="T3" fmla="*/ 2011 h 118110"/>
                <a:gd name="T4" fmla="*/ 4023 w 116204"/>
                <a:gd name="T5" fmla="*/ 8046 h 118110"/>
                <a:gd name="T6" fmla="*/ 487 w 116204"/>
                <a:gd name="T7" fmla="*/ 14081 h 118110"/>
                <a:gd name="T8" fmla="*/ 2468 w 116204"/>
                <a:gd name="T9" fmla="*/ 21884 h 118110"/>
                <a:gd name="T10" fmla="*/ 65745 w 116204"/>
                <a:gd name="T11" fmla="*/ 59222 h 118110"/>
                <a:gd name="T12" fmla="*/ 2072 w 116204"/>
                <a:gd name="T13" fmla="*/ 95920 h 118110"/>
                <a:gd name="T14" fmla="*/ 0 w 116204"/>
                <a:gd name="T15" fmla="*/ 103662 h 118110"/>
                <a:gd name="T16" fmla="*/ 3474 w 116204"/>
                <a:gd name="T17" fmla="*/ 109758 h 118110"/>
                <a:gd name="T18" fmla="*/ 6979 w 116204"/>
                <a:gd name="T19" fmla="*/ 115823 h 118110"/>
                <a:gd name="T20" fmla="*/ 14752 w 116204"/>
                <a:gd name="T21" fmla="*/ 117896 h 118110"/>
                <a:gd name="T22" fmla="*/ 116159 w 116204"/>
                <a:gd name="T23" fmla="*/ 59496 h 118110"/>
                <a:gd name="T24" fmla="*/ 15392 w 116204"/>
                <a:gd name="T25"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204" h="118110">
                  <a:moveTo>
                    <a:pt x="15392" y="0"/>
                  </a:moveTo>
                  <a:lnTo>
                    <a:pt x="7619" y="2011"/>
                  </a:lnTo>
                  <a:lnTo>
                    <a:pt x="4023" y="8046"/>
                  </a:lnTo>
                  <a:lnTo>
                    <a:pt x="487" y="14081"/>
                  </a:lnTo>
                  <a:lnTo>
                    <a:pt x="2468" y="21884"/>
                  </a:lnTo>
                  <a:lnTo>
                    <a:pt x="65745" y="59222"/>
                  </a:lnTo>
                  <a:lnTo>
                    <a:pt x="2072" y="95920"/>
                  </a:lnTo>
                  <a:lnTo>
                    <a:pt x="0" y="103662"/>
                  </a:lnTo>
                  <a:lnTo>
                    <a:pt x="3474" y="109758"/>
                  </a:lnTo>
                  <a:lnTo>
                    <a:pt x="6979" y="115823"/>
                  </a:lnTo>
                  <a:lnTo>
                    <a:pt x="1475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47" name="object 119">
              <a:extLst>
                <a:ext uri="{FF2B5EF4-FFF2-40B4-BE49-F238E27FC236}">
                  <a16:creationId xmlns:a16="http://schemas.microsoft.com/office/drawing/2014/main" id="{CDF73BB7-B294-4014-B365-A232FDBBB161}"/>
                </a:ext>
              </a:extLst>
            </p:cNvPr>
            <p:cNvSpPr>
              <a:spLocks/>
            </p:cNvSpPr>
            <p:nvPr/>
          </p:nvSpPr>
          <p:spPr bwMode="auto">
            <a:xfrm>
              <a:off x="3878263" y="2439988"/>
              <a:ext cx="271462" cy="1587"/>
            </a:xfrm>
            <a:custGeom>
              <a:avLst/>
              <a:gdLst>
                <a:gd name="T0" fmla="*/ 0 w 271145"/>
                <a:gd name="T1" fmla="*/ 0 h 1905"/>
                <a:gd name="T2" fmla="*/ 270875 w 271145"/>
                <a:gd name="T3" fmla="*/ 1463 h 1905"/>
              </a:gdLst>
              <a:ahLst/>
              <a:cxnLst>
                <a:cxn ang="0">
                  <a:pos x="T0" y="T1"/>
                </a:cxn>
                <a:cxn ang="0">
                  <a:pos x="T2" y="T3"/>
                </a:cxn>
              </a:cxnLst>
              <a:rect l="0" t="0" r="r" b="b"/>
              <a:pathLst>
                <a:path w="271145" h="1905">
                  <a:moveTo>
                    <a:pt x="0" y="0"/>
                  </a:moveTo>
                  <a:lnTo>
                    <a:pt x="27087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48" name="object 120">
              <a:extLst>
                <a:ext uri="{FF2B5EF4-FFF2-40B4-BE49-F238E27FC236}">
                  <a16:creationId xmlns:a16="http://schemas.microsoft.com/office/drawing/2014/main" id="{DE8F95F8-F180-4BD8-A42F-5E1277A7A638}"/>
                </a:ext>
              </a:extLst>
            </p:cNvPr>
            <p:cNvSpPr>
              <a:spLocks/>
            </p:cNvSpPr>
            <p:nvPr/>
          </p:nvSpPr>
          <p:spPr bwMode="auto">
            <a:xfrm>
              <a:off x="4059238" y="2381250"/>
              <a:ext cx="115887" cy="119063"/>
            </a:xfrm>
            <a:custGeom>
              <a:avLst/>
              <a:gdLst>
                <a:gd name="T0" fmla="*/ 15392 w 116204"/>
                <a:gd name="T1" fmla="*/ 0 h 118110"/>
                <a:gd name="T2" fmla="*/ 7619 w 116204"/>
                <a:gd name="T3" fmla="*/ 2011 h 118110"/>
                <a:gd name="T4" fmla="*/ 4023 w 116204"/>
                <a:gd name="T5" fmla="*/ 8046 h 118110"/>
                <a:gd name="T6" fmla="*/ 487 w 116204"/>
                <a:gd name="T7" fmla="*/ 14081 h 118110"/>
                <a:gd name="T8" fmla="*/ 2468 w 116204"/>
                <a:gd name="T9" fmla="*/ 21884 h 118110"/>
                <a:gd name="T10" fmla="*/ 65745 w 116204"/>
                <a:gd name="T11" fmla="*/ 59222 h 118110"/>
                <a:gd name="T12" fmla="*/ 2072 w 116204"/>
                <a:gd name="T13" fmla="*/ 95890 h 118110"/>
                <a:gd name="T14" fmla="*/ 0 w 116204"/>
                <a:gd name="T15" fmla="*/ 103662 h 118110"/>
                <a:gd name="T16" fmla="*/ 6979 w 116204"/>
                <a:gd name="T17" fmla="*/ 115823 h 118110"/>
                <a:gd name="T18" fmla="*/ 14752 w 116204"/>
                <a:gd name="T19" fmla="*/ 117896 h 118110"/>
                <a:gd name="T20" fmla="*/ 116159 w 116204"/>
                <a:gd name="T21" fmla="*/ 59496 h 118110"/>
                <a:gd name="T22" fmla="*/ 15392 w 116204"/>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204" h="118110">
                  <a:moveTo>
                    <a:pt x="15392" y="0"/>
                  </a:moveTo>
                  <a:lnTo>
                    <a:pt x="7619" y="2011"/>
                  </a:lnTo>
                  <a:lnTo>
                    <a:pt x="4023" y="8046"/>
                  </a:lnTo>
                  <a:lnTo>
                    <a:pt x="487" y="14081"/>
                  </a:lnTo>
                  <a:lnTo>
                    <a:pt x="2468" y="21884"/>
                  </a:lnTo>
                  <a:lnTo>
                    <a:pt x="65745" y="59222"/>
                  </a:lnTo>
                  <a:lnTo>
                    <a:pt x="2072" y="95890"/>
                  </a:lnTo>
                  <a:lnTo>
                    <a:pt x="0" y="103662"/>
                  </a:lnTo>
                  <a:lnTo>
                    <a:pt x="6979" y="115823"/>
                  </a:lnTo>
                  <a:lnTo>
                    <a:pt x="14752" y="117896"/>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49" name="object 121">
              <a:extLst>
                <a:ext uri="{FF2B5EF4-FFF2-40B4-BE49-F238E27FC236}">
                  <a16:creationId xmlns:a16="http://schemas.microsoft.com/office/drawing/2014/main" id="{5EE97050-2E93-469D-83AF-500A790BB29F}"/>
                </a:ext>
              </a:extLst>
            </p:cNvPr>
            <p:cNvSpPr>
              <a:spLocks/>
            </p:cNvSpPr>
            <p:nvPr/>
          </p:nvSpPr>
          <p:spPr bwMode="auto">
            <a:xfrm>
              <a:off x="3870325" y="2586038"/>
              <a:ext cx="271463" cy="1587"/>
            </a:xfrm>
            <a:custGeom>
              <a:avLst/>
              <a:gdLst>
                <a:gd name="T0" fmla="*/ 0 w 271145"/>
                <a:gd name="T1" fmla="*/ 0 h 1905"/>
                <a:gd name="T2" fmla="*/ 270875 w 271145"/>
                <a:gd name="T3" fmla="*/ 1432 h 1905"/>
              </a:gdLst>
              <a:ahLst/>
              <a:cxnLst>
                <a:cxn ang="0">
                  <a:pos x="T0" y="T1"/>
                </a:cxn>
                <a:cxn ang="0">
                  <a:pos x="T2" y="T3"/>
                </a:cxn>
              </a:cxnLst>
              <a:rect l="0" t="0" r="r" b="b"/>
              <a:pathLst>
                <a:path w="271145" h="1905">
                  <a:moveTo>
                    <a:pt x="0" y="0"/>
                  </a:moveTo>
                  <a:lnTo>
                    <a:pt x="270875" y="1432"/>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50" name="object 122">
              <a:extLst>
                <a:ext uri="{FF2B5EF4-FFF2-40B4-BE49-F238E27FC236}">
                  <a16:creationId xmlns:a16="http://schemas.microsoft.com/office/drawing/2014/main" id="{ABA001F0-ACCC-452F-B1EE-2B25F532A6EB}"/>
                </a:ext>
              </a:extLst>
            </p:cNvPr>
            <p:cNvSpPr>
              <a:spLocks/>
            </p:cNvSpPr>
            <p:nvPr/>
          </p:nvSpPr>
          <p:spPr bwMode="auto">
            <a:xfrm>
              <a:off x="4051300" y="2527300"/>
              <a:ext cx="115888" cy="119063"/>
            </a:xfrm>
            <a:custGeom>
              <a:avLst/>
              <a:gdLst>
                <a:gd name="T0" fmla="*/ 15422 w 116204"/>
                <a:gd name="T1" fmla="*/ 0 h 118110"/>
                <a:gd name="T2" fmla="*/ 7619 w 116204"/>
                <a:gd name="T3" fmla="*/ 2011 h 118110"/>
                <a:gd name="T4" fmla="*/ 487 w 116204"/>
                <a:gd name="T5" fmla="*/ 14081 h 118110"/>
                <a:gd name="T6" fmla="*/ 2499 w 116204"/>
                <a:gd name="T7" fmla="*/ 21854 h 118110"/>
                <a:gd name="T8" fmla="*/ 65745 w 116204"/>
                <a:gd name="T9" fmla="*/ 59222 h 118110"/>
                <a:gd name="T10" fmla="*/ 2103 w 116204"/>
                <a:gd name="T11" fmla="*/ 95890 h 118110"/>
                <a:gd name="T12" fmla="*/ 0 w 116204"/>
                <a:gd name="T13" fmla="*/ 103662 h 118110"/>
                <a:gd name="T14" fmla="*/ 7010 w 116204"/>
                <a:gd name="T15" fmla="*/ 115823 h 118110"/>
                <a:gd name="T16" fmla="*/ 14782 w 116204"/>
                <a:gd name="T17" fmla="*/ 117896 h 118110"/>
                <a:gd name="T18" fmla="*/ 116159 w 116204"/>
                <a:gd name="T19" fmla="*/ 59496 h 118110"/>
                <a:gd name="T20" fmla="*/ 15422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5422" y="0"/>
                  </a:moveTo>
                  <a:lnTo>
                    <a:pt x="7619" y="2011"/>
                  </a:lnTo>
                  <a:lnTo>
                    <a:pt x="487" y="14081"/>
                  </a:lnTo>
                  <a:lnTo>
                    <a:pt x="2499" y="21854"/>
                  </a:lnTo>
                  <a:lnTo>
                    <a:pt x="65745" y="59222"/>
                  </a:lnTo>
                  <a:lnTo>
                    <a:pt x="2103" y="95890"/>
                  </a:lnTo>
                  <a:lnTo>
                    <a:pt x="0" y="103662"/>
                  </a:lnTo>
                  <a:lnTo>
                    <a:pt x="7010" y="115823"/>
                  </a:lnTo>
                  <a:lnTo>
                    <a:pt x="14782" y="117896"/>
                  </a:lnTo>
                  <a:lnTo>
                    <a:pt x="116159" y="59496"/>
                  </a:lnTo>
                  <a:lnTo>
                    <a:pt x="154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51" name="object 123">
              <a:extLst>
                <a:ext uri="{FF2B5EF4-FFF2-40B4-BE49-F238E27FC236}">
                  <a16:creationId xmlns:a16="http://schemas.microsoft.com/office/drawing/2014/main" id="{224BBF99-06D8-446B-9638-8B404172F174}"/>
                </a:ext>
              </a:extLst>
            </p:cNvPr>
            <p:cNvSpPr>
              <a:spLocks/>
            </p:cNvSpPr>
            <p:nvPr/>
          </p:nvSpPr>
          <p:spPr bwMode="auto">
            <a:xfrm>
              <a:off x="3868738" y="2717800"/>
              <a:ext cx="271462" cy="1588"/>
            </a:xfrm>
            <a:custGeom>
              <a:avLst/>
              <a:gdLst>
                <a:gd name="T0" fmla="*/ 0 w 271145"/>
                <a:gd name="T1" fmla="*/ 0 h 1905"/>
                <a:gd name="T2" fmla="*/ 270875 w 271145"/>
                <a:gd name="T3" fmla="*/ 1463 h 1905"/>
              </a:gdLst>
              <a:ahLst/>
              <a:cxnLst>
                <a:cxn ang="0">
                  <a:pos x="T0" y="T1"/>
                </a:cxn>
                <a:cxn ang="0">
                  <a:pos x="T2" y="T3"/>
                </a:cxn>
              </a:cxnLst>
              <a:rect l="0" t="0" r="r" b="b"/>
              <a:pathLst>
                <a:path w="271145" h="1905">
                  <a:moveTo>
                    <a:pt x="0" y="0"/>
                  </a:moveTo>
                  <a:lnTo>
                    <a:pt x="27087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52" name="object 124">
              <a:extLst>
                <a:ext uri="{FF2B5EF4-FFF2-40B4-BE49-F238E27FC236}">
                  <a16:creationId xmlns:a16="http://schemas.microsoft.com/office/drawing/2014/main" id="{E2FB3641-5AD1-4492-AE9C-FA805C770E4E}"/>
                </a:ext>
              </a:extLst>
            </p:cNvPr>
            <p:cNvSpPr>
              <a:spLocks/>
            </p:cNvSpPr>
            <p:nvPr/>
          </p:nvSpPr>
          <p:spPr bwMode="auto">
            <a:xfrm>
              <a:off x="4048125" y="2659063"/>
              <a:ext cx="117475" cy="119062"/>
            </a:xfrm>
            <a:custGeom>
              <a:avLst/>
              <a:gdLst>
                <a:gd name="T0" fmla="*/ 15392 w 116204"/>
                <a:gd name="T1" fmla="*/ 0 h 118110"/>
                <a:gd name="T2" fmla="*/ 7619 w 116204"/>
                <a:gd name="T3" fmla="*/ 2011 h 118110"/>
                <a:gd name="T4" fmla="*/ 4023 w 116204"/>
                <a:gd name="T5" fmla="*/ 8046 h 118110"/>
                <a:gd name="T6" fmla="*/ 487 w 116204"/>
                <a:gd name="T7" fmla="*/ 14081 h 118110"/>
                <a:gd name="T8" fmla="*/ 2468 w 116204"/>
                <a:gd name="T9" fmla="*/ 21884 h 118110"/>
                <a:gd name="T10" fmla="*/ 65745 w 116204"/>
                <a:gd name="T11" fmla="*/ 59253 h 118110"/>
                <a:gd name="T12" fmla="*/ 2072 w 116204"/>
                <a:gd name="T13" fmla="*/ 95920 h 118110"/>
                <a:gd name="T14" fmla="*/ 0 w 116204"/>
                <a:gd name="T15" fmla="*/ 103692 h 118110"/>
                <a:gd name="T16" fmla="*/ 7010 w 116204"/>
                <a:gd name="T17" fmla="*/ 115823 h 118110"/>
                <a:gd name="T18" fmla="*/ 14752 w 116204"/>
                <a:gd name="T19" fmla="*/ 117927 h 118110"/>
                <a:gd name="T20" fmla="*/ 116128 w 116204"/>
                <a:gd name="T21" fmla="*/ 59496 h 118110"/>
                <a:gd name="T22" fmla="*/ 15392 w 116204"/>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204" h="118110">
                  <a:moveTo>
                    <a:pt x="15392" y="0"/>
                  </a:moveTo>
                  <a:lnTo>
                    <a:pt x="7619" y="2011"/>
                  </a:lnTo>
                  <a:lnTo>
                    <a:pt x="4023" y="8046"/>
                  </a:lnTo>
                  <a:lnTo>
                    <a:pt x="487" y="14081"/>
                  </a:lnTo>
                  <a:lnTo>
                    <a:pt x="2468" y="21884"/>
                  </a:lnTo>
                  <a:lnTo>
                    <a:pt x="65745" y="59253"/>
                  </a:lnTo>
                  <a:lnTo>
                    <a:pt x="2072" y="95920"/>
                  </a:lnTo>
                  <a:lnTo>
                    <a:pt x="0" y="103692"/>
                  </a:lnTo>
                  <a:lnTo>
                    <a:pt x="7010" y="115823"/>
                  </a:lnTo>
                  <a:lnTo>
                    <a:pt x="14752" y="117927"/>
                  </a:lnTo>
                  <a:lnTo>
                    <a:pt x="116128"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53" name="object 125">
              <a:extLst>
                <a:ext uri="{FF2B5EF4-FFF2-40B4-BE49-F238E27FC236}">
                  <a16:creationId xmlns:a16="http://schemas.microsoft.com/office/drawing/2014/main" id="{357B2491-1F23-450E-92DB-50163C8D8C4A}"/>
                </a:ext>
              </a:extLst>
            </p:cNvPr>
            <p:cNvSpPr>
              <a:spLocks/>
            </p:cNvSpPr>
            <p:nvPr/>
          </p:nvSpPr>
          <p:spPr bwMode="auto">
            <a:xfrm>
              <a:off x="3878263" y="2851150"/>
              <a:ext cx="271462" cy="1588"/>
            </a:xfrm>
            <a:custGeom>
              <a:avLst/>
              <a:gdLst>
                <a:gd name="T0" fmla="*/ 0 w 271145"/>
                <a:gd name="T1" fmla="*/ 0 h 1905"/>
                <a:gd name="T2" fmla="*/ 270875 w 271145"/>
                <a:gd name="T3" fmla="*/ 1463 h 1905"/>
              </a:gdLst>
              <a:ahLst/>
              <a:cxnLst>
                <a:cxn ang="0">
                  <a:pos x="T0" y="T1"/>
                </a:cxn>
                <a:cxn ang="0">
                  <a:pos x="T2" y="T3"/>
                </a:cxn>
              </a:cxnLst>
              <a:rect l="0" t="0" r="r" b="b"/>
              <a:pathLst>
                <a:path w="271145" h="1905">
                  <a:moveTo>
                    <a:pt x="0" y="0"/>
                  </a:moveTo>
                  <a:lnTo>
                    <a:pt x="270875" y="14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54" name="object 126">
              <a:extLst>
                <a:ext uri="{FF2B5EF4-FFF2-40B4-BE49-F238E27FC236}">
                  <a16:creationId xmlns:a16="http://schemas.microsoft.com/office/drawing/2014/main" id="{2E5D71EB-7D7D-4FBA-B746-D96CBA60D4A8}"/>
                </a:ext>
              </a:extLst>
            </p:cNvPr>
            <p:cNvSpPr>
              <a:spLocks/>
            </p:cNvSpPr>
            <p:nvPr/>
          </p:nvSpPr>
          <p:spPr bwMode="auto">
            <a:xfrm>
              <a:off x="4059238" y="2794000"/>
              <a:ext cx="115887" cy="117475"/>
            </a:xfrm>
            <a:custGeom>
              <a:avLst/>
              <a:gdLst>
                <a:gd name="T0" fmla="*/ 15392 w 116204"/>
                <a:gd name="T1" fmla="*/ 0 h 118110"/>
                <a:gd name="T2" fmla="*/ 7619 w 116204"/>
                <a:gd name="T3" fmla="*/ 2011 h 118110"/>
                <a:gd name="T4" fmla="*/ 4023 w 116204"/>
                <a:gd name="T5" fmla="*/ 8046 h 118110"/>
                <a:gd name="T6" fmla="*/ 487 w 116204"/>
                <a:gd name="T7" fmla="*/ 14081 h 118110"/>
                <a:gd name="T8" fmla="*/ 2468 w 116204"/>
                <a:gd name="T9" fmla="*/ 21884 h 118110"/>
                <a:gd name="T10" fmla="*/ 65745 w 116204"/>
                <a:gd name="T11" fmla="*/ 59253 h 118110"/>
                <a:gd name="T12" fmla="*/ 2072 w 116204"/>
                <a:gd name="T13" fmla="*/ 95920 h 118110"/>
                <a:gd name="T14" fmla="*/ 0 w 116204"/>
                <a:gd name="T15" fmla="*/ 103692 h 118110"/>
                <a:gd name="T16" fmla="*/ 3474 w 116204"/>
                <a:gd name="T17" fmla="*/ 109758 h 118110"/>
                <a:gd name="T18" fmla="*/ 6979 w 116204"/>
                <a:gd name="T19" fmla="*/ 115823 h 118110"/>
                <a:gd name="T20" fmla="*/ 14752 w 116204"/>
                <a:gd name="T21" fmla="*/ 117927 h 118110"/>
                <a:gd name="T22" fmla="*/ 116159 w 116204"/>
                <a:gd name="T23" fmla="*/ 59496 h 118110"/>
                <a:gd name="T24" fmla="*/ 15392 w 116204"/>
                <a:gd name="T25"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204" h="118110">
                  <a:moveTo>
                    <a:pt x="15392" y="0"/>
                  </a:moveTo>
                  <a:lnTo>
                    <a:pt x="7619" y="2011"/>
                  </a:lnTo>
                  <a:lnTo>
                    <a:pt x="4023" y="8046"/>
                  </a:lnTo>
                  <a:lnTo>
                    <a:pt x="487" y="14081"/>
                  </a:lnTo>
                  <a:lnTo>
                    <a:pt x="2468" y="21884"/>
                  </a:lnTo>
                  <a:lnTo>
                    <a:pt x="65745" y="59253"/>
                  </a:lnTo>
                  <a:lnTo>
                    <a:pt x="2072" y="95920"/>
                  </a:lnTo>
                  <a:lnTo>
                    <a:pt x="0" y="103692"/>
                  </a:lnTo>
                  <a:lnTo>
                    <a:pt x="3474" y="109758"/>
                  </a:lnTo>
                  <a:lnTo>
                    <a:pt x="6979" y="115823"/>
                  </a:lnTo>
                  <a:lnTo>
                    <a:pt x="14752" y="117927"/>
                  </a:lnTo>
                  <a:lnTo>
                    <a:pt x="116159" y="59496"/>
                  </a:lnTo>
                  <a:lnTo>
                    <a:pt x="153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55" name="object 127">
              <a:extLst>
                <a:ext uri="{FF2B5EF4-FFF2-40B4-BE49-F238E27FC236}">
                  <a16:creationId xmlns:a16="http://schemas.microsoft.com/office/drawing/2014/main" id="{5A65F02F-5A56-4975-93A9-641C51E1D57E}"/>
                </a:ext>
              </a:extLst>
            </p:cNvPr>
            <p:cNvSpPr>
              <a:spLocks/>
            </p:cNvSpPr>
            <p:nvPr/>
          </p:nvSpPr>
          <p:spPr bwMode="auto">
            <a:xfrm>
              <a:off x="3763963" y="5216525"/>
              <a:ext cx="271462" cy="1588"/>
            </a:xfrm>
            <a:custGeom>
              <a:avLst/>
              <a:gdLst>
                <a:gd name="T0" fmla="*/ 0 w 271145"/>
                <a:gd name="T1" fmla="*/ 0 h 1904"/>
                <a:gd name="T2" fmla="*/ 270875 w 271145"/>
                <a:gd name="T3" fmla="*/ 1450 h 1904"/>
              </a:gdLst>
              <a:ahLst/>
              <a:cxnLst>
                <a:cxn ang="0">
                  <a:pos x="T0" y="T1"/>
                </a:cxn>
                <a:cxn ang="0">
                  <a:pos x="T2" y="T3"/>
                </a:cxn>
              </a:cxnLst>
              <a:rect l="0" t="0" r="r" b="b"/>
              <a:pathLst>
                <a:path w="271145" h="1904">
                  <a:moveTo>
                    <a:pt x="0" y="0"/>
                  </a:moveTo>
                  <a:lnTo>
                    <a:pt x="270875" y="145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56" name="object 128">
              <a:extLst>
                <a:ext uri="{FF2B5EF4-FFF2-40B4-BE49-F238E27FC236}">
                  <a16:creationId xmlns:a16="http://schemas.microsoft.com/office/drawing/2014/main" id="{260141EA-DDBF-4B81-9420-6DBD64FBE8FA}"/>
                </a:ext>
              </a:extLst>
            </p:cNvPr>
            <p:cNvSpPr>
              <a:spLocks/>
            </p:cNvSpPr>
            <p:nvPr/>
          </p:nvSpPr>
          <p:spPr bwMode="auto">
            <a:xfrm>
              <a:off x="3738563" y="5157788"/>
              <a:ext cx="117475" cy="117475"/>
            </a:xfrm>
            <a:custGeom>
              <a:avLst/>
              <a:gdLst>
                <a:gd name="T0" fmla="*/ 101406 w 116204"/>
                <a:gd name="T1" fmla="*/ 0 h 118110"/>
                <a:gd name="T2" fmla="*/ 0 w 116204"/>
                <a:gd name="T3" fmla="*/ 58411 h 118110"/>
                <a:gd name="T4" fmla="*/ 100766 w 116204"/>
                <a:gd name="T5" fmla="*/ 117905 h 118110"/>
                <a:gd name="T6" fmla="*/ 108539 w 116204"/>
                <a:gd name="T7" fmla="*/ 115894 h 118110"/>
                <a:gd name="T8" fmla="*/ 112135 w 116204"/>
                <a:gd name="T9" fmla="*/ 109859 h 118110"/>
                <a:gd name="T10" fmla="*/ 115671 w 116204"/>
                <a:gd name="T11" fmla="*/ 103820 h 118110"/>
                <a:gd name="T12" fmla="*/ 113690 w 116204"/>
                <a:gd name="T13" fmla="*/ 96033 h 118110"/>
                <a:gd name="T14" fmla="*/ 50413 w 116204"/>
                <a:gd name="T15" fmla="*/ 58673 h 118110"/>
                <a:gd name="T16" fmla="*/ 114086 w 116204"/>
                <a:gd name="T17" fmla="*/ 22000 h 118110"/>
                <a:gd name="T18" fmla="*/ 116159 w 116204"/>
                <a:gd name="T19" fmla="*/ 14237 h 118110"/>
                <a:gd name="T20" fmla="*/ 109148 w 116204"/>
                <a:gd name="T21" fmla="*/ 2081 h 118110"/>
                <a:gd name="T22" fmla="*/ 101406 w 116204"/>
                <a:gd name="T23"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204" h="118110">
                  <a:moveTo>
                    <a:pt x="101406" y="0"/>
                  </a:moveTo>
                  <a:lnTo>
                    <a:pt x="0" y="58411"/>
                  </a:lnTo>
                  <a:lnTo>
                    <a:pt x="100766" y="117905"/>
                  </a:lnTo>
                  <a:lnTo>
                    <a:pt x="108539" y="115894"/>
                  </a:lnTo>
                  <a:lnTo>
                    <a:pt x="112135" y="109859"/>
                  </a:lnTo>
                  <a:lnTo>
                    <a:pt x="115671" y="103820"/>
                  </a:lnTo>
                  <a:lnTo>
                    <a:pt x="113690" y="96033"/>
                  </a:lnTo>
                  <a:lnTo>
                    <a:pt x="50413" y="58673"/>
                  </a:lnTo>
                  <a:lnTo>
                    <a:pt x="114086" y="22000"/>
                  </a:lnTo>
                  <a:lnTo>
                    <a:pt x="116159" y="14237"/>
                  </a:lnTo>
                  <a:lnTo>
                    <a:pt x="109148" y="2081"/>
                  </a:lnTo>
                  <a:lnTo>
                    <a:pt x="10140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57" name="object 129">
              <a:extLst>
                <a:ext uri="{FF2B5EF4-FFF2-40B4-BE49-F238E27FC236}">
                  <a16:creationId xmlns:a16="http://schemas.microsoft.com/office/drawing/2014/main" id="{5FB6A98F-AAAA-4BEF-A91A-6C359D5A49F6}"/>
                </a:ext>
              </a:extLst>
            </p:cNvPr>
            <p:cNvSpPr>
              <a:spLocks/>
            </p:cNvSpPr>
            <p:nvPr/>
          </p:nvSpPr>
          <p:spPr bwMode="auto">
            <a:xfrm>
              <a:off x="3778250" y="5075238"/>
              <a:ext cx="271463" cy="1587"/>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58" name="object 130">
              <a:extLst>
                <a:ext uri="{FF2B5EF4-FFF2-40B4-BE49-F238E27FC236}">
                  <a16:creationId xmlns:a16="http://schemas.microsoft.com/office/drawing/2014/main" id="{A2B76490-97E9-41B4-94D1-A5DF6CDA373B}"/>
                </a:ext>
              </a:extLst>
            </p:cNvPr>
            <p:cNvSpPr>
              <a:spLocks/>
            </p:cNvSpPr>
            <p:nvPr/>
          </p:nvSpPr>
          <p:spPr bwMode="auto">
            <a:xfrm>
              <a:off x="3752850" y="5016500"/>
              <a:ext cx="117475" cy="117475"/>
            </a:xfrm>
            <a:custGeom>
              <a:avLst/>
              <a:gdLst>
                <a:gd name="T0" fmla="*/ 101376 w 116204"/>
                <a:gd name="T1" fmla="*/ 0 h 118110"/>
                <a:gd name="T2" fmla="*/ 0 w 116204"/>
                <a:gd name="T3" fmla="*/ 58411 h 118110"/>
                <a:gd name="T4" fmla="*/ 100766 w 116204"/>
                <a:gd name="T5" fmla="*/ 117908 h 118110"/>
                <a:gd name="T6" fmla="*/ 108539 w 116204"/>
                <a:gd name="T7" fmla="*/ 115906 h 118110"/>
                <a:gd name="T8" fmla="*/ 115671 w 116204"/>
                <a:gd name="T9" fmla="*/ 103824 h 118110"/>
                <a:gd name="T10" fmla="*/ 113659 w 116204"/>
                <a:gd name="T11" fmla="*/ 96036 h 118110"/>
                <a:gd name="T12" fmla="*/ 50413 w 116204"/>
                <a:gd name="T13" fmla="*/ 58686 h 118110"/>
                <a:gd name="T14" fmla="*/ 114056 w 116204"/>
                <a:gd name="T15" fmla="*/ 22015 h 118110"/>
                <a:gd name="T16" fmla="*/ 116159 w 116204"/>
                <a:gd name="T17" fmla="*/ 14240 h 118110"/>
                <a:gd name="T18" fmla="*/ 109148 w 116204"/>
                <a:gd name="T19" fmla="*/ 2097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66" y="117908"/>
                  </a:lnTo>
                  <a:lnTo>
                    <a:pt x="108539" y="115906"/>
                  </a:lnTo>
                  <a:lnTo>
                    <a:pt x="115671" y="103824"/>
                  </a:lnTo>
                  <a:lnTo>
                    <a:pt x="113659" y="96036"/>
                  </a:lnTo>
                  <a:lnTo>
                    <a:pt x="50413" y="58686"/>
                  </a:lnTo>
                  <a:lnTo>
                    <a:pt x="114056" y="22015"/>
                  </a:lnTo>
                  <a:lnTo>
                    <a:pt x="116159" y="14240"/>
                  </a:lnTo>
                  <a:lnTo>
                    <a:pt x="109148" y="2097"/>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59" name="object 131">
              <a:extLst>
                <a:ext uri="{FF2B5EF4-FFF2-40B4-BE49-F238E27FC236}">
                  <a16:creationId xmlns:a16="http://schemas.microsoft.com/office/drawing/2014/main" id="{2E2442B6-80DD-4196-AAAF-DE232FBCF1BC}"/>
                </a:ext>
              </a:extLst>
            </p:cNvPr>
            <p:cNvSpPr>
              <a:spLocks/>
            </p:cNvSpPr>
            <p:nvPr/>
          </p:nvSpPr>
          <p:spPr bwMode="auto">
            <a:xfrm>
              <a:off x="3778250" y="4930775"/>
              <a:ext cx="271463" cy="1588"/>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60" name="object 132">
              <a:extLst>
                <a:ext uri="{FF2B5EF4-FFF2-40B4-BE49-F238E27FC236}">
                  <a16:creationId xmlns:a16="http://schemas.microsoft.com/office/drawing/2014/main" id="{44743932-E85B-4485-A9D1-818C41174142}"/>
                </a:ext>
              </a:extLst>
            </p:cNvPr>
            <p:cNvSpPr>
              <a:spLocks/>
            </p:cNvSpPr>
            <p:nvPr/>
          </p:nvSpPr>
          <p:spPr bwMode="auto">
            <a:xfrm>
              <a:off x="3752850" y="4872038"/>
              <a:ext cx="117475" cy="117475"/>
            </a:xfrm>
            <a:custGeom>
              <a:avLst/>
              <a:gdLst>
                <a:gd name="T0" fmla="*/ 101376 w 116204"/>
                <a:gd name="T1" fmla="*/ 0 h 118110"/>
                <a:gd name="T2" fmla="*/ 0 w 116204"/>
                <a:gd name="T3" fmla="*/ 58411 h 118110"/>
                <a:gd name="T4" fmla="*/ 100766 w 116204"/>
                <a:gd name="T5" fmla="*/ 117908 h 118110"/>
                <a:gd name="T6" fmla="*/ 108539 w 116204"/>
                <a:gd name="T7" fmla="*/ 115906 h 118110"/>
                <a:gd name="T8" fmla="*/ 115671 w 116204"/>
                <a:gd name="T9" fmla="*/ 103824 h 118110"/>
                <a:gd name="T10" fmla="*/ 113659 w 116204"/>
                <a:gd name="T11" fmla="*/ 96036 h 118110"/>
                <a:gd name="T12" fmla="*/ 50413 w 116204"/>
                <a:gd name="T13" fmla="*/ 58686 h 118110"/>
                <a:gd name="T14" fmla="*/ 114056 w 116204"/>
                <a:gd name="T15" fmla="*/ 22015 h 118110"/>
                <a:gd name="T16" fmla="*/ 116159 w 116204"/>
                <a:gd name="T17" fmla="*/ 14252 h 118110"/>
                <a:gd name="T18" fmla="*/ 109148 w 116204"/>
                <a:gd name="T19" fmla="*/ 2097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66" y="117908"/>
                  </a:lnTo>
                  <a:lnTo>
                    <a:pt x="108539" y="115906"/>
                  </a:lnTo>
                  <a:lnTo>
                    <a:pt x="115671" y="103824"/>
                  </a:lnTo>
                  <a:lnTo>
                    <a:pt x="113659" y="96036"/>
                  </a:lnTo>
                  <a:lnTo>
                    <a:pt x="50413" y="58686"/>
                  </a:lnTo>
                  <a:lnTo>
                    <a:pt x="114056" y="22015"/>
                  </a:lnTo>
                  <a:lnTo>
                    <a:pt x="116159" y="14252"/>
                  </a:lnTo>
                  <a:lnTo>
                    <a:pt x="109148" y="2097"/>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61" name="object 133">
              <a:extLst>
                <a:ext uri="{FF2B5EF4-FFF2-40B4-BE49-F238E27FC236}">
                  <a16:creationId xmlns:a16="http://schemas.microsoft.com/office/drawing/2014/main" id="{8554C415-FC51-44AF-9A34-346A8D0B73F7}"/>
                </a:ext>
              </a:extLst>
            </p:cNvPr>
            <p:cNvSpPr>
              <a:spLocks/>
            </p:cNvSpPr>
            <p:nvPr/>
          </p:nvSpPr>
          <p:spPr bwMode="auto">
            <a:xfrm>
              <a:off x="3778250" y="5360988"/>
              <a:ext cx="271463" cy="1587"/>
            </a:xfrm>
            <a:custGeom>
              <a:avLst/>
              <a:gdLst>
                <a:gd name="T0" fmla="*/ 0 w 271145"/>
                <a:gd name="T1" fmla="*/ 0 h 1904"/>
                <a:gd name="T2" fmla="*/ 270875 w 271145"/>
                <a:gd name="T3" fmla="*/ 1450 h 1904"/>
              </a:gdLst>
              <a:ahLst/>
              <a:cxnLst>
                <a:cxn ang="0">
                  <a:pos x="T0" y="T1"/>
                </a:cxn>
                <a:cxn ang="0">
                  <a:pos x="T2" y="T3"/>
                </a:cxn>
              </a:cxnLst>
              <a:rect l="0" t="0" r="r" b="b"/>
              <a:pathLst>
                <a:path w="271145" h="1904">
                  <a:moveTo>
                    <a:pt x="0" y="0"/>
                  </a:moveTo>
                  <a:lnTo>
                    <a:pt x="270875" y="145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62" name="object 134">
              <a:extLst>
                <a:ext uri="{FF2B5EF4-FFF2-40B4-BE49-F238E27FC236}">
                  <a16:creationId xmlns:a16="http://schemas.microsoft.com/office/drawing/2014/main" id="{0ED1D922-A1B3-4B7E-8AC2-20EA619CA741}"/>
                </a:ext>
              </a:extLst>
            </p:cNvPr>
            <p:cNvSpPr>
              <a:spLocks/>
            </p:cNvSpPr>
            <p:nvPr/>
          </p:nvSpPr>
          <p:spPr bwMode="auto">
            <a:xfrm>
              <a:off x="3752850" y="5302250"/>
              <a:ext cx="117475" cy="117475"/>
            </a:xfrm>
            <a:custGeom>
              <a:avLst/>
              <a:gdLst>
                <a:gd name="T0" fmla="*/ 101376 w 116204"/>
                <a:gd name="T1" fmla="*/ 0 h 118110"/>
                <a:gd name="T2" fmla="*/ 0 w 116204"/>
                <a:gd name="T3" fmla="*/ 58411 h 118110"/>
                <a:gd name="T4" fmla="*/ 100766 w 116204"/>
                <a:gd name="T5" fmla="*/ 117905 h 118110"/>
                <a:gd name="T6" fmla="*/ 108539 w 116204"/>
                <a:gd name="T7" fmla="*/ 115906 h 118110"/>
                <a:gd name="T8" fmla="*/ 115671 w 116204"/>
                <a:gd name="T9" fmla="*/ 103820 h 118110"/>
                <a:gd name="T10" fmla="*/ 113659 w 116204"/>
                <a:gd name="T11" fmla="*/ 96036 h 118110"/>
                <a:gd name="T12" fmla="*/ 50413 w 116204"/>
                <a:gd name="T13" fmla="*/ 58686 h 118110"/>
                <a:gd name="T14" fmla="*/ 114056 w 116204"/>
                <a:gd name="T15" fmla="*/ 22012 h 118110"/>
                <a:gd name="T16" fmla="*/ 116159 w 116204"/>
                <a:gd name="T17" fmla="*/ 14240 h 118110"/>
                <a:gd name="T18" fmla="*/ 109148 w 116204"/>
                <a:gd name="T19" fmla="*/ 2093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66" y="117905"/>
                  </a:lnTo>
                  <a:lnTo>
                    <a:pt x="108539" y="115906"/>
                  </a:lnTo>
                  <a:lnTo>
                    <a:pt x="115671" y="103820"/>
                  </a:lnTo>
                  <a:lnTo>
                    <a:pt x="113659" y="96036"/>
                  </a:lnTo>
                  <a:lnTo>
                    <a:pt x="50413" y="58686"/>
                  </a:lnTo>
                  <a:lnTo>
                    <a:pt x="114056" y="22012"/>
                  </a:lnTo>
                  <a:lnTo>
                    <a:pt x="116159" y="14240"/>
                  </a:lnTo>
                  <a:lnTo>
                    <a:pt x="109148" y="2093"/>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63" name="object 135">
              <a:extLst>
                <a:ext uri="{FF2B5EF4-FFF2-40B4-BE49-F238E27FC236}">
                  <a16:creationId xmlns:a16="http://schemas.microsoft.com/office/drawing/2014/main" id="{846BAEED-97CF-4B60-ABCF-81DACD0387D5}"/>
                </a:ext>
              </a:extLst>
            </p:cNvPr>
            <p:cNvSpPr>
              <a:spLocks/>
            </p:cNvSpPr>
            <p:nvPr/>
          </p:nvSpPr>
          <p:spPr bwMode="auto">
            <a:xfrm>
              <a:off x="3770313" y="5507038"/>
              <a:ext cx="271462" cy="1587"/>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64" name="object 136">
              <a:extLst>
                <a:ext uri="{FF2B5EF4-FFF2-40B4-BE49-F238E27FC236}">
                  <a16:creationId xmlns:a16="http://schemas.microsoft.com/office/drawing/2014/main" id="{4F5013EB-C6B5-456B-8546-4E667A50271E}"/>
                </a:ext>
              </a:extLst>
            </p:cNvPr>
            <p:cNvSpPr>
              <a:spLocks/>
            </p:cNvSpPr>
            <p:nvPr/>
          </p:nvSpPr>
          <p:spPr bwMode="auto">
            <a:xfrm>
              <a:off x="3744913" y="5448300"/>
              <a:ext cx="117475" cy="117475"/>
            </a:xfrm>
            <a:custGeom>
              <a:avLst/>
              <a:gdLst>
                <a:gd name="T0" fmla="*/ 101376 w 116204"/>
                <a:gd name="T1" fmla="*/ 0 h 118110"/>
                <a:gd name="T2" fmla="*/ 0 w 116204"/>
                <a:gd name="T3" fmla="*/ 58411 h 118110"/>
                <a:gd name="T4" fmla="*/ 100736 w 116204"/>
                <a:gd name="T5" fmla="*/ 117908 h 118110"/>
                <a:gd name="T6" fmla="*/ 108508 w 116204"/>
                <a:gd name="T7" fmla="*/ 115897 h 118110"/>
                <a:gd name="T8" fmla="*/ 112105 w 116204"/>
                <a:gd name="T9" fmla="*/ 109859 h 118110"/>
                <a:gd name="T10" fmla="*/ 115641 w 116204"/>
                <a:gd name="T11" fmla="*/ 103824 h 118110"/>
                <a:gd name="T12" fmla="*/ 113659 w 116204"/>
                <a:gd name="T13" fmla="*/ 96036 h 118110"/>
                <a:gd name="T14" fmla="*/ 50383 w 116204"/>
                <a:gd name="T15" fmla="*/ 58673 h 118110"/>
                <a:gd name="T16" fmla="*/ 114056 w 116204"/>
                <a:gd name="T17" fmla="*/ 22003 h 118110"/>
                <a:gd name="T18" fmla="*/ 116128 w 116204"/>
                <a:gd name="T19" fmla="*/ 14240 h 118110"/>
                <a:gd name="T20" fmla="*/ 112654 w 116204"/>
                <a:gd name="T21" fmla="*/ 8168 h 118110"/>
                <a:gd name="T22" fmla="*/ 109148 w 116204"/>
                <a:gd name="T23" fmla="*/ 2084 h 118110"/>
                <a:gd name="T24" fmla="*/ 101376 w 116204"/>
                <a:gd name="T25"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204" h="118110">
                  <a:moveTo>
                    <a:pt x="101376" y="0"/>
                  </a:moveTo>
                  <a:lnTo>
                    <a:pt x="0" y="58411"/>
                  </a:lnTo>
                  <a:lnTo>
                    <a:pt x="100736" y="117908"/>
                  </a:lnTo>
                  <a:lnTo>
                    <a:pt x="108508" y="115897"/>
                  </a:lnTo>
                  <a:lnTo>
                    <a:pt x="112105" y="109859"/>
                  </a:lnTo>
                  <a:lnTo>
                    <a:pt x="115641" y="103824"/>
                  </a:lnTo>
                  <a:lnTo>
                    <a:pt x="113659" y="96036"/>
                  </a:lnTo>
                  <a:lnTo>
                    <a:pt x="50383" y="58673"/>
                  </a:lnTo>
                  <a:lnTo>
                    <a:pt x="114056" y="22003"/>
                  </a:lnTo>
                  <a:lnTo>
                    <a:pt x="116128" y="14240"/>
                  </a:lnTo>
                  <a:lnTo>
                    <a:pt x="112654" y="8168"/>
                  </a:lnTo>
                  <a:lnTo>
                    <a:pt x="109148" y="2084"/>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65" name="object 137">
              <a:extLst>
                <a:ext uri="{FF2B5EF4-FFF2-40B4-BE49-F238E27FC236}">
                  <a16:creationId xmlns:a16="http://schemas.microsoft.com/office/drawing/2014/main" id="{9279E809-7317-49FF-8A19-9F62E5E27FEF}"/>
                </a:ext>
              </a:extLst>
            </p:cNvPr>
            <p:cNvSpPr>
              <a:spLocks/>
            </p:cNvSpPr>
            <p:nvPr/>
          </p:nvSpPr>
          <p:spPr bwMode="auto">
            <a:xfrm>
              <a:off x="3768725" y="5638800"/>
              <a:ext cx="271463" cy="1588"/>
            </a:xfrm>
            <a:custGeom>
              <a:avLst/>
              <a:gdLst>
                <a:gd name="T0" fmla="*/ 0 w 271145"/>
                <a:gd name="T1" fmla="*/ 0 h 1904"/>
                <a:gd name="T2" fmla="*/ 270875 w 271145"/>
                <a:gd name="T3" fmla="*/ 1450 h 1904"/>
              </a:gdLst>
              <a:ahLst/>
              <a:cxnLst>
                <a:cxn ang="0">
                  <a:pos x="T0" y="T1"/>
                </a:cxn>
                <a:cxn ang="0">
                  <a:pos x="T2" y="T3"/>
                </a:cxn>
              </a:cxnLst>
              <a:rect l="0" t="0" r="r" b="b"/>
              <a:pathLst>
                <a:path w="271145" h="1904">
                  <a:moveTo>
                    <a:pt x="0" y="0"/>
                  </a:moveTo>
                  <a:lnTo>
                    <a:pt x="270875" y="145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66" name="object 138">
              <a:extLst>
                <a:ext uri="{FF2B5EF4-FFF2-40B4-BE49-F238E27FC236}">
                  <a16:creationId xmlns:a16="http://schemas.microsoft.com/office/drawing/2014/main" id="{F0A8F77D-181D-41CC-943D-80C279C7BE4C}"/>
                </a:ext>
              </a:extLst>
            </p:cNvPr>
            <p:cNvSpPr>
              <a:spLocks/>
            </p:cNvSpPr>
            <p:nvPr/>
          </p:nvSpPr>
          <p:spPr bwMode="auto">
            <a:xfrm>
              <a:off x="3743325" y="5580063"/>
              <a:ext cx="115888" cy="117475"/>
            </a:xfrm>
            <a:custGeom>
              <a:avLst/>
              <a:gdLst>
                <a:gd name="T0" fmla="*/ 101376 w 116204"/>
                <a:gd name="T1" fmla="*/ 0 h 118110"/>
                <a:gd name="T2" fmla="*/ 0 w 116204"/>
                <a:gd name="T3" fmla="*/ 58411 h 118110"/>
                <a:gd name="T4" fmla="*/ 100736 w 116204"/>
                <a:gd name="T5" fmla="*/ 117905 h 118110"/>
                <a:gd name="T6" fmla="*/ 108539 w 116204"/>
                <a:gd name="T7" fmla="*/ 115906 h 118110"/>
                <a:gd name="T8" fmla="*/ 115671 w 116204"/>
                <a:gd name="T9" fmla="*/ 103833 h 118110"/>
                <a:gd name="T10" fmla="*/ 113659 w 116204"/>
                <a:gd name="T11" fmla="*/ 96036 h 118110"/>
                <a:gd name="T12" fmla="*/ 50413 w 116204"/>
                <a:gd name="T13" fmla="*/ 58686 h 118110"/>
                <a:gd name="T14" fmla="*/ 114056 w 116204"/>
                <a:gd name="T15" fmla="*/ 22012 h 118110"/>
                <a:gd name="T16" fmla="*/ 116159 w 116204"/>
                <a:gd name="T17" fmla="*/ 14252 h 118110"/>
                <a:gd name="T18" fmla="*/ 109148 w 116204"/>
                <a:gd name="T19" fmla="*/ 2093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36" y="117905"/>
                  </a:lnTo>
                  <a:lnTo>
                    <a:pt x="108539" y="115906"/>
                  </a:lnTo>
                  <a:lnTo>
                    <a:pt x="115671" y="103833"/>
                  </a:lnTo>
                  <a:lnTo>
                    <a:pt x="113659" y="96036"/>
                  </a:lnTo>
                  <a:lnTo>
                    <a:pt x="50413" y="58686"/>
                  </a:lnTo>
                  <a:lnTo>
                    <a:pt x="114056" y="22012"/>
                  </a:lnTo>
                  <a:lnTo>
                    <a:pt x="116159" y="14252"/>
                  </a:lnTo>
                  <a:lnTo>
                    <a:pt x="109148" y="2093"/>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67" name="object 139">
              <a:extLst>
                <a:ext uri="{FF2B5EF4-FFF2-40B4-BE49-F238E27FC236}">
                  <a16:creationId xmlns:a16="http://schemas.microsoft.com/office/drawing/2014/main" id="{CFE3F048-D0D5-4B6D-AFD2-A2F31ECA1E81}"/>
                </a:ext>
              </a:extLst>
            </p:cNvPr>
            <p:cNvSpPr>
              <a:spLocks/>
            </p:cNvSpPr>
            <p:nvPr/>
          </p:nvSpPr>
          <p:spPr bwMode="auto">
            <a:xfrm>
              <a:off x="4903788" y="5659438"/>
              <a:ext cx="271462" cy="1587"/>
            </a:xfrm>
            <a:custGeom>
              <a:avLst/>
              <a:gdLst>
                <a:gd name="T0" fmla="*/ 0 w 271145"/>
                <a:gd name="T1" fmla="*/ 0 h 1904"/>
                <a:gd name="T2" fmla="*/ 270845 w 271145"/>
                <a:gd name="T3" fmla="*/ 1450 h 1904"/>
              </a:gdLst>
              <a:ahLst/>
              <a:cxnLst>
                <a:cxn ang="0">
                  <a:pos x="T0" y="T1"/>
                </a:cxn>
                <a:cxn ang="0">
                  <a:pos x="T2" y="T3"/>
                </a:cxn>
              </a:cxnLst>
              <a:rect l="0" t="0" r="r" b="b"/>
              <a:pathLst>
                <a:path w="271145" h="1904">
                  <a:moveTo>
                    <a:pt x="0" y="0"/>
                  </a:moveTo>
                  <a:lnTo>
                    <a:pt x="270845" y="145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68" name="object 140">
              <a:extLst>
                <a:ext uri="{FF2B5EF4-FFF2-40B4-BE49-F238E27FC236}">
                  <a16:creationId xmlns:a16="http://schemas.microsoft.com/office/drawing/2014/main" id="{98638FA3-3BF3-4B2E-BCC5-82DB2F9F9F4E}"/>
                </a:ext>
              </a:extLst>
            </p:cNvPr>
            <p:cNvSpPr>
              <a:spLocks/>
            </p:cNvSpPr>
            <p:nvPr/>
          </p:nvSpPr>
          <p:spPr bwMode="auto">
            <a:xfrm>
              <a:off x="4878388" y="5600700"/>
              <a:ext cx="115887" cy="119063"/>
            </a:xfrm>
            <a:custGeom>
              <a:avLst/>
              <a:gdLst>
                <a:gd name="T0" fmla="*/ 101376 w 116204"/>
                <a:gd name="T1" fmla="*/ 0 h 118110"/>
                <a:gd name="T2" fmla="*/ 0 w 116204"/>
                <a:gd name="T3" fmla="*/ 58411 h 118110"/>
                <a:gd name="T4" fmla="*/ 100736 w 116204"/>
                <a:gd name="T5" fmla="*/ 117905 h 118110"/>
                <a:gd name="T6" fmla="*/ 108539 w 116204"/>
                <a:gd name="T7" fmla="*/ 115894 h 118110"/>
                <a:gd name="T8" fmla="*/ 115671 w 116204"/>
                <a:gd name="T9" fmla="*/ 103820 h 118110"/>
                <a:gd name="T10" fmla="*/ 113659 w 116204"/>
                <a:gd name="T11" fmla="*/ 96036 h 118110"/>
                <a:gd name="T12" fmla="*/ 50413 w 116204"/>
                <a:gd name="T13" fmla="*/ 58673 h 118110"/>
                <a:gd name="T14" fmla="*/ 114056 w 116204"/>
                <a:gd name="T15" fmla="*/ 22003 h 118110"/>
                <a:gd name="T16" fmla="*/ 116159 w 116204"/>
                <a:gd name="T17" fmla="*/ 14240 h 118110"/>
                <a:gd name="T18" fmla="*/ 109148 w 116204"/>
                <a:gd name="T19" fmla="*/ 2081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36" y="117905"/>
                  </a:lnTo>
                  <a:lnTo>
                    <a:pt x="108539" y="115894"/>
                  </a:lnTo>
                  <a:lnTo>
                    <a:pt x="115671" y="103820"/>
                  </a:lnTo>
                  <a:lnTo>
                    <a:pt x="113659" y="96036"/>
                  </a:lnTo>
                  <a:lnTo>
                    <a:pt x="50413" y="58673"/>
                  </a:lnTo>
                  <a:lnTo>
                    <a:pt x="114056" y="22003"/>
                  </a:lnTo>
                  <a:lnTo>
                    <a:pt x="116159" y="14240"/>
                  </a:lnTo>
                  <a:lnTo>
                    <a:pt x="109148" y="2081"/>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69" name="object 141">
              <a:extLst>
                <a:ext uri="{FF2B5EF4-FFF2-40B4-BE49-F238E27FC236}">
                  <a16:creationId xmlns:a16="http://schemas.microsoft.com/office/drawing/2014/main" id="{55A5EB36-F8AD-440C-9690-AB2AD3DB75C1}"/>
                </a:ext>
              </a:extLst>
            </p:cNvPr>
            <p:cNvSpPr>
              <a:spLocks/>
            </p:cNvSpPr>
            <p:nvPr/>
          </p:nvSpPr>
          <p:spPr bwMode="auto">
            <a:xfrm>
              <a:off x="2868613" y="4827588"/>
              <a:ext cx="271462" cy="1587"/>
            </a:xfrm>
            <a:custGeom>
              <a:avLst/>
              <a:gdLst>
                <a:gd name="T0" fmla="*/ 0 w 271144"/>
                <a:gd name="T1" fmla="*/ 0 h 1904"/>
                <a:gd name="T2" fmla="*/ 270854 w 271144"/>
                <a:gd name="T3" fmla="*/ 1453 h 1904"/>
              </a:gdLst>
              <a:ahLst/>
              <a:cxnLst>
                <a:cxn ang="0">
                  <a:pos x="T0" y="T1"/>
                </a:cxn>
                <a:cxn ang="0">
                  <a:pos x="T2" y="T3"/>
                </a:cxn>
              </a:cxnLst>
              <a:rect l="0" t="0" r="r" b="b"/>
              <a:pathLst>
                <a:path w="271144" h="1904">
                  <a:moveTo>
                    <a:pt x="0" y="0"/>
                  </a:moveTo>
                  <a:lnTo>
                    <a:pt x="270854"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70" name="object 142">
              <a:extLst>
                <a:ext uri="{FF2B5EF4-FFF2-40B4-BE49-F238E27FC236}">
                  <a16:creationId xmlns:a16="http://schemas.microsoft.com/office/drawing/2014/main" id="{78BA79CA-AF8B-466F-946E-8955BFD2F574}"/>
                </a:ext>
              </a:extLst>
            </p:cNvPr>
            <p:cNvSpPr>
              <a:spLocks/>
            </p:cNvSpPr>
            <p:nvPr/>
          </p:nvSpPr>
          <p:spPr bwMode="auto">
            <a:xfrm>
              <a:off x="2843213" y="4768850"/>
              <a:ext cx="117475" cy="119063"/>
            </a:xfrm>
            <a:custGeom>
              <a:avLst/>
              <a:gdLst>
                <a:gd name="T0" fmla="*/ 101382 w 116205"/>
                <a:gd name="T1" fmla="*/ 0 h 118110"/>
                <a:gd name="T2" fmla="*/ 0 w 116205"/>
                <a:gd name="T3" fmla="*/ 58411 h 118110"/>
                <a:gd name="T4" fmla="*/ 100751 w 116205"/>
                <a:gd name="T5" fmla="*/ 117908 h 118110"/>
                <a:gd name="T6" fmla="*/ 108536 w 116205"/>
                <a:gd name="T7" fmla="*/ 115909 h 118110"/>
                <a:gd name="T8" fmla="*/ 115668 w 116205"/>
                <a:gd name="T9" fmla="*/ 103824 h 118110"/>
                <a:gd name="T10" fmla="*/ 113656 w 116205"/>
                <a:gd name="T11" fmla="*/ 96036 h 118110"/>
                <a:gd name="T12" fmla="*/ 50410 w 116205"/>
                <a:gd name="T13" fmla="*/ 58686 h 118110"/>
                <a:gd name="T14" fmla="*/ 114062 w 116205"/>
                <a:gd name="T15" fmla="*/ 22015 h 118110"/>
                <a:gd name="T16" fmla="*/ 116144 w 116205"/>
                <a:gd name="T17" fmla="*/ 14252 h 118110"/>
                <a:gd name="T18" fmla="*/ 109142 w 116205"/>
                <a:gd name="T19" fmla="*/ 2097 h 118110"/>
                <a:gd name="T20" fmla="*/ 101382 w 116205"/>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5" h="118110">
                  <a:moveTo>
                    <a:pt x="101382" y="0"/>
                  </a:moveTo>
                  <a:lnTo>
                    <a:pt x="0" y="58411"/>
                  </a:lnTo>
                  <a:lnTo>
                    <a:pt x="100751" y="117908"/>
                  </a:lnTo>
                  <a:lnTo>
                    <a:pt x="108536" y="115909"/>
                  </a:lnTo>
                  <a:lnTo>
                    <a:pt x="115668" y="103824"/>
                  </a:lnTo>
                  <a:lnTo>
                    <a:pt x="113656" y="96036"/>
                  </a:lnTo>
                  <a:lnTo>
                    <a:pt x="50410" y="58686"/>
                  </a:lnTo>
                  <a:lnTo>
                    <a:pt x="114062" y="22015"/>
                  </a:lnTo>
                  <a:lnTo>
                    <a:pt x="116144" y="14252"/>
                  </a:lnTo>
                  <a:lnTo>
                    <a:pt x="109142" y="2097"/>
                  </a:lnTo>
                  <a:lnTo>
                    <a:pt x="1013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671" name="object 143">
              <a:extLst>
                <a:ext uri="{FF2B5EF4-FFF2-40B4-BE49-F238E27FC236}">
                  <a16:creationId xmlns:a16="http://schemas.microsoft.com/office/drawing/2014/main" id="{FC90338F-9019-4F8A-9563-732394EA3342}"/>
                </a:ext>
              </a:extLst>
            </p:cNvPr>
            <p:cNvSpPr>
              <a:spLocks/>
            </p:cNvSpPr>
            <p:nvPr/>
          </p:nvSpPr>
          <p:spPr bwMode="auto">
            <a:xfrm>
              <a:off x="3778250" y="4816475"/>
              <a:ext cx="271463" cy="1588"/>
            </a:xfrm>
            <a:custGeom>
              <a:avLst/>
              <a:gdLst>
                <a:gd name="T0" fmla="*/ 0 w 271145"/>
                <a:gd name="T1" fmla="*/ 0 h 1904"/>
                <a:gd name="T2" fmla="*/ 270875 w 271145"/>
                <a:gd name="T3" fmla="*/ 1453 h 1904"/>
              </a:gdLst>
              <a:ahLst/>
              <a:cxnLst>
                <a:cxn ang="0">
                  <a:pos x="T0" y="T1"/>
                </a:cxn>
                <a:cxn ang="0">
                  <a:pos x="T2" y="T3"/>
                </a:cxn>
              </a:cxnLst>
              <a:rect l="0" t="0" r="r" b="b"/>
              <a:pathLst>
                <a:path w="271145" h="1904">
                  <a:moveTo>
                    <a:pt x="0" y="0"/>
                  </a:moveTo>
                  <a:lnTo>
                    <a:pt x="270875" y="145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672" name="object 144">
              <a:extLst>
                <a:ext uri="{FF2B5EF4-FFF2-40B4-BE49-F238E27FC236}">
                  <a16:creationId xmlns:a16="http://schemas.microsoft.com/office/drawing/2014/main" id="{39CFABEF-C03B-4857-85A5-361C81F6F7FA}"/>
                </a:ext>
              </a:extLst>
            </p:cNvPr>
            <p:cNvSpPr>
              <a:spLocks/>
            </p:cNvSpPr>
            <p:nvPr/>
          </p:nvSpPr>
          <p:spPr bwMode="auto">
            <a:xfrm>
              <a:off x="3752850" y="4757738"/>
              <a:ext cx="117475" cy="117475"/>
            </a:xfrm>
            <a:custGeom>
              <a:avLst/>
              <a:gdLst>
                <a:gd name="T0" fmla="*/ 101376 w 116204"/>
                <a:gd name="T1" fmla="*/ 0 h 118110"/>
                <a:gd name="T2" fmla="*/ 0 w 116204"/>
                <a:gd name="T3" fmla="*/ 58411 h 118110"/>
                <a:gd name="T4" fmla="*/ 100766 w 116204"/>
                <a:gd name="T5" fmla="*/ 117908 h 118110"/>
                <a:gd name="T6" fmla="*/ 108539 w 116204"/>
                <a:gd name="T7" fmla="*/ 115894 h 118110"/>
                <a:gd name="T8" fmla="*/ 115671 w 116204"/>
                <a:gd name="T9" fmla="*/ 103824 h 118110"/>
                <a:gd name="T10" fmla="*/ 113659 w 116204"/>
                <a:gd name="T11" fmla="*/ 96036 h 118110"/>
                <a:gd name="T12" fmla="*/ 50413 w 116204"/>
                <a:gd name="T13" fmla="*/ 58673 h 118110"/>
                <a:gd name="T14" fmla="*/ 114056 w 116204"/>
                <a:gd name="T15" fmla="*/ 22003 h 118110"/>
                <a:gd name="T16" fmla="*/ 116159 w 116204"/>
                <a:gd name="T17" fmla="*/ 14240 h 118110"/>
                <a:gd name="T18" fmla="*/ 109148 w 116204"/>
                <a:gd name="T19" fmla="*/ 2084 h 118110"/>
                <a:gd name="T20" fmla="*/ 101376 w 116204"/>
                <a:gd name="T21" fmla="*/ 0 h 118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204" h="118110">
                  <a:moveTo>
                    <a:pt x="101376" y="0"/>
                  </a:moveTo>
                  <a:lnTo>
                    <a:pt x="0" y="58411"/>
                  </a:lnTo>
                  <a:lnTo>
                    <a:pt x="100766" y="117908"/>
                  </a:lnTo>
                  <a:lnTo>
                    <a:pt x="108539" y="115894"/>
                  </a:lnTo>
                  <a:lnTo>
                    <a:pt x="115671" y="103824"/>
                  </a:lnTo>
                  <a:lnTo>
                    <a:pt x="113659" y="96036"/>
                  </a:lnTo>
                  <a:lnTo>
                    <a:pt x="50413" y="58673"/>
                  </a:lnTo>
                  <a:lnTo>
                    <a:pt x="114056" y="22003"/>
                  </a:lnTo>
                  <a:lnTo>
                    <a:pt x="116159" y="14240"/>
                  </a:lnTo>
                  <a:lnTo>
                    <a:pt x="109148" y="2084"/>
                  </a:lnTo>
                  <a:lnTo>
                    <a:pt x="101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3DDBD15-18CA-4D77-96E9-3AC34E4B44CF}"/>
              </a:ext>
            </a:extLst>
          </p:cNvPr>
          <p:cNvPicPr>
            <a:picLocks noChangeAspect="1"/>
          </p:cNvPicPr>
          <p:nvPr/>
        </p:nvPicPr>
        <p:blipFill>
          <a:blip r:embed="rId2"/>
          <a:stretch>
            <a:fillRect/>
          </a:stretch>
        </p:blipFill>
        <p:spPr>
          <a:xfrm>
            <a:off x="0" y="155025"/>
            <a:ext cx="9144000" cy="6373773"/>
          </a:xfrm>
          <a:prstGeom prst="rect">
            <a:avLst/>
          </a:prstGeom>
        </p:spPr>
      </p:pic>
    </p:spTree>
    <p:extLst>
      <p:ext uri="{BB962C8B-B14F-4D97-AF65-F5344CB8AC3E}">
        <p14:creationId xmlns:p14="http://schemas.microsoft.com/office/powerpoint/2010/main" val="1733695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F322DC-3734-4109-8A03-2F7ABF88EBAB}"/>
              </a:ext>
            </a:extLst>
          </p:cNvPr>
          <p:cNvPicPr>
            <a:picLocks noChangeAspect="1"/>
          </p:cNvPicPr>
          <p:nvPr/>
        </p:nvPicPr>
        <p:blipFill>
          <a:blip r:embed="rId2"/>
          <a:stretch>
            <a:fillRect/>
          </a:stretch>
        </p:blipFill>
        <p:spPr>
          <a:xfrm>
            <a:off x="0" y="245867"/>
            <a:ext cx="9144000" cy="6366266"/>
          </a:xfrm>
          <a:prstGeom prst="rect">
            <a:avLst/>
          </a:prstGeom>
        </p:spPr>
      </p:pic>
    </p:spTree>
    <p:extLst>
      <p:ext uri="{BB962C8B-B14F-4D97-AF65-F5344CB8AC3E}">
        <p14:creationId xmlns:p14="http://schemas.microsoft.com/office/powerpoint/2010/main" val="2091933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A7E09-98D7-43D4-97B7-9951E666CED0}"/>
              </a:ext>
            </a:extLst>
          </p:cNvPr>
          <p:cNvSpPr>
            <a:spLocks noGrp="1"/>
          </p:cNvSpPr>
          <p:nvPr>
            <p:ph type="title"/>
          </p:nvPr>
        </p:nvSpPr>
        <p:spPr>
          <a:xfrm>
            <a:off x="628650" y="365127"/>
            <a:ext cx="7886700" cy="666006"/>
          </a:xfrm>
        </p:spPr>
        <p:txBody>
          <a:bodyPr>
            <a:normAutofit/>
          </a:bodyPr>
          <a:lstStyle/>
          <a:p>
            <a:r>
              <a:rPr lang="en-US" sz="3600" dirty="0"/>
              <a:t>Int</a:t>
            </a:r>
            <a:r>
              <a:rPr lang="en-US" sz="3600" spc="-5" dirty="0"/>
              <a:t>e</a:t>
            </a:r>
            <a:r>
              <a:rPr lang="en-US" sz="3600" dirty="0"/>
              <a:t>r</a:t>
            </a:r>
            <a:r>
              <a:rPr lang="en-US" sz="3600" spc="204" dirty="0">
                <a:latin typeface="Times New Roman"/>
                <a:cs typeface="Times New Roman"/>
              </a:rPr>
              <a:t> </a:t>
            </a:r>
            <a:r>
              <a:rPr lang="en-US" sz="3600" spc="-25" dirty="0"/>
              <a:t>S</a:t>
            </a:r>
            <a:r>
              <a:rPr lang="en-US" sz="3600" spc="-35" dirty="0"/>
              <a:t>ymb</a:t>
            </a:r>
            <a:r>
              <a:rPr lang="en-US" sz="3600" spc="-20" dirty="0"/>
              <a:t>ol</a:t>
            </a:r>
            <a:r>
              <a:rPr lang="en-US" sz="3600" spc="204" dirty="0">
                <a:latin typeface="Times New Roman"/>
                <a:cs typeface="Times New Roman"/>
              </a:rPr>
              <a:t> </a:t>
            </a:r>
            <a:r>
              <a:rPr lang="en-US" sz="3600" dirty="0"/>
              <a:t>Int</a:t>
            </a:r>
            <a:r>
              <a:rPr lang="en-US" sz="3600" spc="-5" dirty="0"/>
              <a:t>e</a:t>
            </a:r>
            <a:r>
              <a:rPr lang="en-US" sz="3600" spc="-20" dirty="0"/>
              <a:t>r</a:t>
            </a:r>
            <a:r>
              <a:rPr lang="en-US" sz="3600" spc="-25" dirty="0"/>
              <a:t>fe</a:t>
            </a:r>
            <a:r>
              <a:rPr lang="en-US" sz="3600" spc="-20" dirty="0"/>
              <a:t>r</a:t>
            </a:r>
            <a:r>
              <a:rPr lang="en-US" sz="3600" spc="-30" dirty="0"/>
              <a:t>e</a:t>
            </a:r>
            <a:r>
              <a:rPr lang="en-US" sz="3600" spc="-5" dirty="0"/>
              <a:t>nc</a:t>
            </a:r>
            <a:r>
              <a:rPr lang="en-US" sz="3600" spc="-25" dirty="0"/>
              <a:t>e</a:t>
            </a:r>
            <a:r>
              <a:rPr lang="en-US" sz="3600" spc="200" dirty="0">
                <a:latin typeface="Times New Roman"/>
                <a:cs typeface="Times New Roman"/>
              </a:rPr>
              <a:t> </a:t>
            </a:r>
            <a:r>
              <a:rPr lang="en-US" sz="3600" spc="-5" dirty="0"/>
              <a:t>(ISI)</a:t>
            </a:r>
            <a:endParaRPr lang="en-US" sz="3600" dirty="0"/>
          </a:p>
        </p:txBody>
      </p:sp>
      <p:grpSp>
        <p:nvGrpSpPr>
          <p:cNvPr id="3" name="Group 2">
            <a:extLst>
              <a:ext uri="{FF2B5EF4-FFF2-40B4-BE49-F238E27FC236}">
                <a16:creationId xmlns:a16="http://schemas.microsoft.com/office/drawing/2014/main" id="{DE576DF3-DB7B-A152-17C0-83FDD5A131F7}"/>
              </a:ext>
            </a:extLst>
          </p:cNvPr>
          <p:cNvGrpSpPr/>
          <p:nvPr/>
        </p:nvGrpSpPr>
        <p:grpSpPr>
          <a:xfrm>
            <a:off x="2311776" y="1933639"/>
            <a:ext cx="5152754" cy="1759210"/>
            <a:chOff x="2522538" y="2177738"/>
            <a:chExt cx="4076700" cy="1133475"/>
          </a:xfrm>
        </p:grpSpPr>
        <p:sp>
          <p:nvSpPr>
            <p:cNvPr id="6" name="object 7">
              <a:extLst>
                <a:ext uri="{FF2B5EF4-FFF2-40B4-BE49-F238E27FC236}">
                  <a16:creationId xmlns:a16="http://schemas.microsoft.com/office/drawing/2014/main" id="{7FFE075B-CD33-4728-81F6-191B181D3E7B}"/>
                </a:ext>
              </a:extLst>
            </p:cNvPr>
            <p:cNvSpPr>
              <a:spLocks/>
            </p:cNvSpPr>
            <p:nvPr/>
          </p:nvSpPr>
          <p:spPr bwMode="auto">
            <a:xfrm>
              <a:off x="5810250" y="2222188"/>
              <a:ext cx="217488" cy="1089025"/>
            </a:xfrm>
            <a:custGeom>
              <a:avLst/>
              <a:gdLst>
                <a:gd name="T0" fmla="*/ 0 w 217170"/>
                <a:gd name="T1" fmla="*/ 1087242 h 1087754"/>
                <a:gd name="T2" fmla="*/ 217003 w 217170"/>
                <a:gd name="T3" fmla="*/ 1087242 h 1087754"/>
                <a:gd name="T4" fmla="*/ 217003 w 217170"/>
                <a:gd name="T5" fmla="*/ 0 h 1087754"/>
                <a:gd name="T6" fmla="*/ 0 w 217170"/>
                <a:gd name="T7" fmla="*/ 0 h 1087754"/>
                <a:gd name="T8" fmla="*/ 0 w 217170"/>
                <a:gd name="T9" fmla="*/ 1087242 h 1087754"/>
              </a:gdLst>
              <a:ahLst/>
              <a:cxnLst>
                <a:cxn ang="0">
                  <a:pos x="T0" y="T1"/>
                </a:cxn>
                <a:cxn ang="0">
                  <a:pos x="T2" y="T3"/>
                </a:cxn>
                <a:cxn ang="0">
                  <a:pos x="T4" y="T5"/>
                </a:cxn>
                <a:cxn ang="0">
                  <a:pos x="T6" y="T7"/>
                </a:cxn>
                <a:cxn ang="0">
                  <a:pos x="T8" y="T9"/>
                </a:cxn>
              </a:cxnLst>
              <a:rect l="0" t="0" r="r" b="b"/>
              <a:pathLst>
                <a:path w="217170" h="1087754">
                  <a:moveTo>
                    <a:pt x="0" y="1087242"/>
                  </a:moveTo>
                  <a:lnTo>
                    <a:pt x="217003" y="1087242"/>
                  </a:lnTo>
                  <a:lnTo>
                    <a:pt x="217003" y="0"/>
                  </a:lnTo>
                  <a:lnTo>
                    <a:pt x="0" y="0"/>
                  </a:lnTo>
                  <a:lnTo>
                    <a:pt x="0" y="1087242"/>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7" name="object 8">
              <a:extLst>
                <a:ext uri="{FF2B5EF4-FFF2-40B4-BE49-F238E27FC236}">
                  <a16:creationId xmlns:a16="http://schemas.microsoft.com/office/drawing/2014/main" id="{7C4FA85A-7BFA-48CC-BE88-E793BFC486CC}"/>
                </a:ext>
              </a:extLst>
            </p:cNvPr>
            <p:cNvSpPr>
              <a:spLocks/>
            </p:cNvSpPr>
            <p:nvPr/>
          </p:nvSpPr>
          <p:spPr bwMode="auto">
            <a:xfrm>
              <a:off x="3424238" y="2188850"/>
              <a:ext cx="228600" cy="1087438"/>
            </a:xfrm>
            <a:custGeom>
              <a:avLst/>
              <a:gdLst>
                <a:gd name="T0" fmla="*/ 0 w 228600"/>
                <a:gd name="T1" fmla="*/ 1086112 h 1086485"/>
                <a:gd name="T2" fmla="*/ 228433 w 228600"/>
                <a:gd name="T3" fmla="*/ 1086112 h 1086485"/>
                <a:gd name="T4" fmla="*/ 228433 w 228600"/>
                <a:gd name="T5" fmla="*/ 0 h 1086485"/>
                <a:gd name="T6" fmla="*/ 0 w 228600"/>
                <a:gd name="T7" fmla="*/ 0 h 1086485"/>
                <a:gd name="T8" fmla="*/ 0 w 228600"/>
                <a:gd name="T9" fmla="*/ 1086112 h 1086485"/>
              </a:gdLst>
              <a:ahLst/>
              <a:cxnLst>
                <a:cxn ang="0">
                  <a:pos x="T0" y="T1"/>
                </a:cxn>
                <a:cxn ang="0">
                  <a:pos x="T2" y="T3"/>
                </a:cxn>
                <a:cxn ang="0">
                  <a:pos x="T4" y="T5"/>
                </a:cxn>
                <a:cxn ang="0">
                  <a:pos x="T6" y="T7"/>
                </a:cxn>
                <a:cxn ang="0">
                  <a:pos x="T8" y="T9"/>
                </a:cxn>
              </a:cxnLst>
              <a:rect l="0" t="0" r="r" b="b"/>
              <a:pathLst>
                <a:path w="228600" h="1086485">
                  <a:moveTo>
                    <a:pt x="0" y="1086112"/>
                  </a:moveTo>
                  <a:lnTo>
                    <a:pt x="228433" y="1086112"/>
                  </a:lnTo>
                  <a:lnTo>
                    <a:pt x="228433" y="0"/>
                  </a:lnTo>
                  <a:lnTo>
                    <a:pt x="0" y="0"/>
                  </a:lnTo>
                  <a:lnTo>
                    <a:pt x="0" y="1086112"/>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8" name="object 9">
              <a:extLst>
                <a:ext uri="{FF2B5EF4-FFF2-40B4-BE49-F238E27FC236}">
                  <a16:creationId xmlns:a16="http://schemas.microsoft.com/office/drawing/2014/main" id="{746DE620-A0D7-478A-AAC5-19027970ACA7}"/>
                </a:ext>
              </a:extLst>
            </p:cNvPr>
            <p:cNvSpPr>
              <a:spLocks/>
            </p:cNvSpPr>
            <p:nvPr/>
          </p:nvSpPr>
          <p:spPr bwMode="auto">
            <a:xfrm>
              <a:off x="4017963" y="2188850"/>
              <a:ext cx="228600" cy="1087438"/>
            </a:xfrm>
            <a:custGeom>
              <a:avLst/>
              <a:gdLst>
                <a:gd name="T0" fmla="*/ 0 w 228600"/>
                <a:gd name="T1" fmla="*/ 1086112 h 1086485"/>
                <a:gd name="T2" fmla="*/ 228433 w 228600"/>
                <a:gd name="T3" fmla="*/ 1086112 h 1086485"/>
                <a:gd name="T4" fmla="*/ 228433 w 228600"/>
                <a:gd name="T5" fmla="*/ 0 h 1086485"/>
                <a:gd name="T6" fmla="*/ 0 w 228600"/>
                <a:gd name="T7" fmla="*/ 0 h 1086485"/>
                <a:gd name="T8" fmla="*/ 0 w 228600"/>
                <a:gd name="T9" fmla="*/ 1086112 h 1086485"/>
              </a:gdLst>
              <a:ahLst/>
              <a:cxnLst>
                <a:cxn ang="0">
                  <a:pos x="T0" y="T1"/>
                </a:cxn>
                <a:cxn ang="0">
                  <a:pos x="T2" y="T3"/>
                </a:cxn>
                <a:cxn ang="0">
                  <a:pos x="T4" y="T5"/>
                </a:cxn>
                <a:cxn ang="0">
                  <a:pos x="T6" y="T7"/>
                </a:cxn>
                <a:cxn ang="0">
                  <a:pos x="T8" y="T9"/>
                </a:cxn>
              </a:cxnLst>
              <a:rect l="0" t="0" r="r" b="b"/>
              <a:pathLst>
                <a:path w="228600" h="1086485">
                  <a:moveTo>
                    <a:pt x="0" y="1086112"/>
                  </a:moveTo>
                  <a:lnTo>
                    <a:pt x="228433" y="1086112"/>
                  </a:lnTo>
                  <a:lnTo>
                    <a:pt x="228433" y="0"/>
                  </a:lnTo>
                  <a:lnTo>
                    <a:pt x="0" y="0"/>
                  </a:lnTo>
                  <a:lnTo>
                    <a:pt x="0" y="1086112"/>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9" name="object 10">
              <a:extLst>
                <a:ext uri="{FF2B5EF4-FFF2-40B4-BE49-F238E27FC236}">
                  <a16:creationId xmlns:a16="http://schemas.microsoft.com/office/drawing/2014/main" id="{E9107942-E870-45C6-A4CD-3B0E2BD7428C}"/>
                </a:ext>
              </a:extLst>
            </p:cNvPr>
            <p:cNvSpPr>
              <a:spLocks/>
            </p:cNvSpPr>
            <p:nvPr/>
          </p:nvSpPr>
          <p:spPr bwMode="auto">
            <a:xfrm>
              <a:off x="4622800" y="2188850"/>
              <a:ext cx="217488" cy="1087438"/>
            </a:xfrm>
            <a:custGeom>
              <a:avLst/>
              <a:gdLst>
                <a:gd name="T0" fmla="*/ 0 w 217170"/>
                <a:gd name="T1" fmla="*/ 1086112 h 1086485"/>
                <a:gd name="T2" fmla="*/ 217015 w 217170"/>
                <a:gd name="T3" fmla="*/ 1086112 h 1086485"/>
                <a:gd name="T4" fmla="*/ 217015 w 217170"/>
                <a:gd name="T5" fmla="*/ 0 h 1086485"/>
                <a:gd name="T6" fmla="*/ 0 w 217170"/>
                <a:gd name="T7" fmla="*/ 0 h 1086485"/>
                <a:gd name="T8" fmla="*/ 0 w 217170"/>
                <a:gd name="T9" fmla="*/ 1086112 h 1086485"/>
              </a:gdLst>
              <a:ahLst/>
              <a:cxnLst>
                <a:cxn ang="0">
                  <a:pos x="T0" y="T1"/>
                </a:cxn>
                <a:cxn ang="0">
                  <a:pos x="T2" y="T3"/>
                </a:cxn>
                <a:cxn ang="0">
                  <a:pos x="T4" y="T5"/>
                </a:cxn>
                <a:cxn ang="0">
                  <a:pos x="T6" y="T7"/>
                </a:cxn>
                <a:cxn ang="0">
                  <a:pos x="T8" y="T9"/>
                </a:cxn>
              </a:cxnLst>
              <a:rect l="0" t="0" r="r" b="b"/>
              <a:pathLst>
                <a:path w="217170" h="1086485">
                  <a:moveTo>
                    <a:pt x="0" y="1086112"/>
                  </a:moveTo>
                  <a:lnTo>
                    <a:pt x="217015" y="1086112"/>
                  </a:lnTo>
                  <a:lnTo>
                    <a:pt x="217015" y="0"/>
                  </a:lnTo>
                  <a:lnTo>
                    <a:pt x="0" y="0"/>
                  </a:lnTo>
                  <a:lnTo>
                    <a:pt x="0" y="1086112"/>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0" name="object 11">
              <a:extLst>
                <a:ext uri="{FF2B5EF4-FFF2-40B4-BE49-F238E27FC236}">
                  <a16:creationId xmlns:a16="http://schemas.microsoft.com/office/drawing/2014/main" id="{3A286939-BE3A-4319-8B6A-45F23955DF24}"/>
                </a:ext>
              </a:extLst>
            </p:cNvPr>
            <p:cNvSpPr>
              <a:spLocks/>
            </p:cNvSpPr>
            <p:nvPr/>
          </p:nvSpPr>
          <p:spPr bwMode="auto">
            <a:xfrm>
              <a:off x="5216525" y="2188850"/>
              <a:ext cx="228600" cy="1087438"/>
            </a:xfrm>
            <a:custGeom>
              <a:avLst/>
              <a:gdLst>
                <a:gd name="T0" fmla="*/ 0 w 228600"/>
                <a:gd name="T1" fmla="*/ 1086112 h 1086485"/>
                <a:gd name="T2" fmla="*/ 228433 w 228600"/>
                <a:gd name="T3" fmla="*/ 1086112 h 1086485"/>
                <a:gd name="T4" fmla="*/ 228433 w 228600"/>
                <a:gd name="T5" fmla="*/ 0 h 1086485"/>
                <a:gd name="T6" fmla="*/ 0 w 228600"/>
                <a:gd name="T7" fmla="*/ 0 h 1086485"/>
                <a:gd name="T8" fmla="*/ 0 w 228600"/>
                <a:gd name="T9" fmla="*/ 1086112 h 1086485"/>
              </a:gdLst>
              <a:ahLst/>
              <a:cxnLst>
                <a:cxn ang="0">
                  <a:pos x="T0" y="T1"/>
                </a:cxn>
                <a:cxn ang="0">
                  <a:pos x="T2" y="T3"/>
                </a:cxn>
                <a:cxn ang="0">
                  <a:pos x="T4" y="T5"/>
                </a:cxn>
                <a:cxn ang="0">
                  <a:pos x="T6" y="T7"/>
                </a:cxn>
                <a:cxn ang="0">
                  <a:pos x="T8" y="T9"/>
                </a:cxn>
              </a:cxnLst>
              <a:rect l="0" t="0" r="r" b="b"/>
              <a:pathLst>
                <a:path w="228600" h="1086485">
                  <a:moveTo>
                    <a:pt x="0" y="1086112"/>
                  </a:moveTo>
                  <a:lnTo>
                    <a:pt x="228433" y="1086112"/>
                  </a:lnTo>
                  <a:lnTo>
                    <a:pt x="228433" y="0"/>
                  </a:lnTo>
                  <a:lnTo>
                    <a:pt x="0" y="0"/>
                  </a:lnTo>
                  <a:lnTo>
                    <a:pt x="0" y="1086112"/>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1" name="object 12">
              <a:extLst>
                <a:ext uri="{FF2B5EF4-FFF2-40B4-BE49-F238E27FC236}">
                  <a16:creationId xmlns:a16="http://schemas.microsoft.com/office/drawing/2014/main" id="{64F1C91E-94EA-4109-BEC6-12A3D6AA10AB}"/>
                </a:ext>
              </a:extLst>
            </p:cNvPr>
            <p:cNvSpPr>
              <a:spLocks/>
            </p:cNvSpPr>
            <p:nvPr/>
          </p:nvSpPr>
          <p:spPr bwMode="auto">
            <a:xfrm>
              <a:off x="2828925" y="2188850"/>
              <a:ext cx="228600" cy="1087438"/>
            </a:xfrm>
            <a:custGeom>
              <a:avLst/>
              <a:gdLst>
                <a:gd name="T0" fmla="*/ 0 w 228600"/>
                <a:gd name="T1" fmla="*/ 1086112 h 1086485"/>
                <a:gd name="T2" fmla="*/ 228433 w 228600"/>
                <a:gd name="T3" fmla="*/ 1086112 h 1086485"/>
                <a:gd name="T4" fmla="*/ 228433 w 228600"/>
                <a:gd name="T5" fmla="*/ 0 h 1086485"/>
                <a:gd name="T6" fmla="*/ 0 w 228600"/>
                <a:gd name="T7" fmla="*/ 0 h 1086485"/>
                <a:gd name="T8" fmla="*/ 0 w 228600"/>
                <a:gd name="T9" fmla="*/ 1086112 h 1086485"/>
              </a:gdLst>
              <a:ahLst/>
              <a:cxnLst>
                <a:cxn ang="0">
                  <a:pos x="T0" y="T1"/>
                </a:cxn>
                <a:cxn ang="0">
                  <a:pos x="T2" y="T3"/>
                </a:cxn>
                <a:cxn ang="0">
                  <a:pos x="T4" y="T5"/>
                </a:cxn>
                <a:cxn ang="0">
                  <a:pos x="T6" y="T7"/>
                </a:cxn>
                <a:cxn ang="0">
                  <a:pos x="T8" y="T9"/>
                </a:cxn>
              </a:cxnLst>
              <a:rect l="0" t="0" r="r" b="b"/>
              <a:pathLst>
                <a:path w="228600" h="1086485">
                  <a:moveTo>
                    <a:pt x="0" y="1086112"/>
                  </a:moveTo>
                  <a:lnTo>
                    <a:pt x="228433" y="1086112"/>
                  </a:lnTo>
                  <a:lnTo>
                    <a:pt x="228433" y="0"/>
                  </a:lnTo>
                  <a:lnTo>
                    <a:pt x="0" y="0"/>
                  </a:lnTo>
                  <a:lnTo>
                    <a:pt x="0" y="1086112"/>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2" name="object 13">
              <a:extLst>
                <a:ext uri="{FF2B5EF4-FFF2-40B4-BE49-F238E27FC236}">
                  <a16:creationId xmlns:a16="http://schemas.microsoft.com/office/drawing/2014/main" id="{55F1F42B-935E-4142-A2C1-6819A72D3EE5}"/>
                </a:ext>
              </a:extLst>
            </p:cNvPr>
            <p:cNvSpPr>
              <a:spLocks/>
            </p:cNvSpPr>
            <p:nvPr/>
          </p:nvSpPr>
          <p:spPr bwMode="auto">
            <a:xfrm>
              <a:off x="2828925" y="2268225"/>
              <a:ext cx="584200" cy="893763"/>
            </a:xfrm>
            <a:custGeom>
              <a:avLst/>
              <a:gdLst>
                <a:gd name="T0" fmla="*/ 0 w 582929"/>
                <a:gd name="T1" fmla="*/ 457814 h 892810"/>
                <a:gd name="T2" fmla="*/ 57113 w 582929"/>
                <a:gd name="T3" fmla="*/ 194567 h 892810"/>
                <a:gd name="T4" fmla="*/ 79947 w 582929"/>
                <a:gd name="T5" fmla="*/ 114476 h 892810"/>
                <a:gd name="T6" fmla="*/ 102796 w 582929"/>
                <a:gd name="T7" fmla="*/ 57238 h 892810"/>
                <a:gd name="T8" fmla="*/ 125633 w 582929"/>
                <a:gd name="T9" fmla="*/ 11472 h 892810"/>
                <a:gd name="T10" fmla="*/ 137064 w 582929"/>
                <a:gd name="T11" fmla="*/ 0 h 892810"/>
                <a:gd name="T12" fmla="*/ 171328 w 582929"/>
                <a:gd name="T13" fmla="*/ 0 h 892810"/>
                <a:gd name="T14" fmla="*/ 205596 w 582929"/>
                <a:gd name="T15" fmla="*/ 45796 h 892810"/>
                <a:gd name="T16" fmla="*/ 228418 w 582929"/>
                <a:gd name="T17" fmla="*/ 103034 h 892810"/>
                <a:gd name="T18" fmla="*/ 251285 w 582929"/>
                <a:gd name="T19" fmla="*/ 171684 h 892810"/>
                <a:gd name="T20" fmla="*/ 285540 w 582929"/>
                <a:gd name="T21" fmla="*/ 320485 h 892810"/>
                <a:gd name="T22" fmla="*/ 296959 w 582929"/>
                <a:gd name="T23" fmla="*/ 446372 h 892810"/>
                <a:gd name="T24" fmla="*/ 296959 w 582929"/>
                <a:gd name="T25" fmla="*/ 492138 h 892810"/>
                <a:gd name="T26" fmla="*/ 308377 w 582929"/>
                <a:gd name="T27" fmla="*/ 560818 h 892810"/>
                <a:gd name="T28" fmla="*/ 342663 w 582929"/>
                <a:gd name="T29" fmla="*/ 709589 h 892810"/>
                <a:gd name="T30" fmla="*/ 354051 w 582929"/>
                <a:gd name="T31" fmla="*/ 789710 h 892810"/>
                <a:gd name="T32" fmla="*/ 376919 w 582929"/>
                <a:gd name="T33" fmla="*/ 846918 h 892810"/>
                <a:gd name="T34" fmla="*/ 399755 w 582929"/>
                <a:gd name="T35" fmla="*/ 881273 h 892810"/>
                <a:gd name="T36" fmla="*/ 411174 w 582929"/>
                <a:gd name="T37" fmla="*/ 892715 h 892810"/>
                <a:gd name="T38" fmla="*/ 434041 w 582929"/>
                <a:gd name="T39" fmla="*/ 892715 h 892810"/>
                <a:gd name="T40" fmla="*/ 445460 w 582929"/>
                <a:gd name="T41" fmla="*/ 881273 h 892810"/>
                <a:gd name="T42" fmla="*/ 468297 w 582929"/>
                <a:gd name="T43" fmla="*/ 835476 h 892810"/>
                <a:gd name="T44" fmla="*/ 513971 w 582929"/>
                <a:gd name="T45" fmla="*/ 709589 h 892810"/>
                <a:gd name="T46" fmla="*/ 559675 w 582929"/>
                <a:gd name="T47" fmla="*/ 572260 h 892810"/>
                <a:gd name="T48" fmla="*/ 582512 w 582929"/>
                <a:gd name="T49" fmla="*/ 469255 h 892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2929" h="892810">
                  <a:moveTo>
                    <a:pt x="0" y="457814"/>
                  </a:moveTo>
                  <a:lnTo>
                    <a:pt x="57113" y="194567"/>
                  </a:lnTo>
                  <a:lnTo>
                    <a:pt x="79947" y="114476"/>
                  </a:lnTo>
                  <a:lnTo>
                    <a:pt x="102796" y="57238"/>
                  </a:lnTo>
                  <a:lnTo>
                    <a:pt x="125633" y="11472"/>
                  </a:lnTo>
                  <a:lnTo>
                    <a:pt x="137064" y="0"/>
                  </a:lnTo>
                  <a:lnTo>
                    <a:pt x="171328" y="0"/>
                  </a:lnTo>
                  <a:lnTo>
                    <a:pt x="205596" y="45796"/>
                  </a:lnTo>
                  <a:lnTo>
                    <a:pt x="228418" y="103034"/>
                  </a:lnTo>
                  <a:lnTo>
                    <a:pt x="251285" y="171684"/>
                  </a:lnTo>
                  <a:lnTo>
                    <a:pt x="285540" y="320485"/>
                  </a:lnTo>
                  <a:lnTo>
                    <a:pt x="296959" y="446372"/>
                  </a:lnTo>
                  <a:lnTo>
                    <a:pt x="296959" y="492138"/>
                  </a:lnTo>
                  <a:lnTo>
                    <a:pt x="308377" y="560818"/>
                  </a:lnTo>
                  <a:lnTo>
                    <a:pt x="342663" y="709589"/>
                  </a:lnTo>
                  <a:lnTo>
                    <a:pt x="354051" y="789710"/>
                  </a:lnTo>
                  <a:lnTo>
                    <a:pt x="376919" y="846918"/>
                  </a:lnTo>
                  <a:lnTo>
                    <a:pt x="399755" y="881273"/>
                  </a:lnTo>
                  <a:lnTo>
                    <a:pt x="411174" y="892715"/>
                  </a:lnTo>
                  <a:lnTo>
                    <a:pt x="434041" y="892715"/>
                  </a:lnTo>
                  <a:lnTo>
                    <a:pt x="445460" y="881273"/>
                  </a:lnTo>
                  <a:lnTo>
                    <a:pt x="468297" y="835476"/>
                  </a:lnTo>
                  <a:lnTo>
                    <a:pt x="513971" y="709589"/>
                  </a:lnTo>
                  <a:lnTo>
                    <a:pt x="559675" y="572260"/>
                  </a:lnTo>
                  <a:lnTo>
                    <a:pt x="582512" y="469255"/>
                  </a:lnTo>
                </a:path>
              </a:pathLst>
            </a:custGeom>
            <a:noFill/>
            <a:ln w="11428">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 name="object 14">
              <a:extLst>
                <a:ext uri="{FF2B5EF4-FFF2-40B4-BE49-F238E27FC236}">
                  <a16:creationId xmlns:a16="http://schemas.microsoft.com/office/drawing/2014/main" id="{AF255D61-A9C0-4291-8DAB-D02B9077A478}"/>
                </a:ext>
              </a:extLst>
            </p:cNvPr>
            <p:cNvSpPr>
              <a:spLocks/>
            </p:cNvSpPr>
            <p:nvPr/>
          </p:nvSpPr>
          <p:spPr bwMode="auto">
            <a:xfrm>
              <a:off x="2795588" y="2714313"/>
              <a:ext cx="57150" cy="58737"/>
            </a:xfrm>
            <a:custGeom>
              <a:avLst/>
              <a:gdLst>
                <a:gd name="T0" fmla="*/ 34265 w 57150"/>
                <a:gd name="T1" fmla="*/ 0 h 57785"/>
                <a:gd name="T2" fmla="*/ 22847 w 57150"/>
                <a:gd name="T3" fmla="*/ 0 h 57785"/>
                <a:gd name="T4" fmla="*/ 0 w 57150"/>
                <a:gd name="T5" fmla="*/ 22890 h 57785"/>
                <a:gd name="T6" fmla="*/ 0 w 57150"/>
                <a:gd name="T7" fmla="*/ 34320 h 57785"/>
                <a:gd name="T8" fmla="*/ 11429 w 57150"/>
                <a:gd name="T9" fmla="*/ 45780 h 57785"/>
                <a:gd name="T10" fmla="*/ 11429 w 57150"/>
                <a:gd name="T11" fmla="*/ 57210 h 57785"/>
                <a:gd name="T12" fmla="*/ 45686 w 57150"/>
                <a:gd name="T13" fmla="*/ 57210 h 57785"/>
                <a:gd name="T14" fmla="*/ 57116 w 57150"/>
                <a:gd name="T15" fmla="*/ 45780 h 57785"/>
                <a:gd name="T16" fmla="*/ 57116 w 57150"/>
                <a:gd name="T17" fmla="*/ 11429 h 57785"/>
                <a:gd name="T18" fmla="*/ 45686 w 57150"/>
                <a:gd name="T19" fmla="*/ 11429 h 57785"/>
                <a:gd name="T20" fmla="*/ 34265 w 57150"/>
                <a:gd name="T21" fmla="*/ 0 h 57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150" h="57785">
                  <a:moveTo>
                    <a:pt x="34265" y="0"/>
                  </a:moveTo>
                  <a:lnTo>
                    <a:pt x="22847" y="0"/>
                  </a:lnTo>
                  <a:lnTo>
                    <a:pt x="0" y="22890"/>
                  </a:lnTo>
                  <a:lnTo>
                    <a:pt x="0" y="34320"/>
                  </a:lnTo>
                  <a:lnTo>
                    <a:pt x="11429" y="45780"/>
                  </a:lnTo>
                  <a:lnTo>
                    <a:pt x="11429" y="57210"/>
                  </a:lnTo>
                  <a:lnTo>
                    <a:pt x="45686" y="57210"/>
                  </a:lnTo>
                  <a:lnTo>
                    <a:pt x="57116" y="45780"/>
                  </a:lnTo>
                  <a:lnTo>
                    <a:pt x="57116" y="11429"/>
                  </a:lnTo>
                  <a:lnTo>
                    <a:pt x="45686" y="11429"/>
                  </a:lnTo>
                  <a:lnTo>
                    <a:pt x="34265"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4" name="object 15">
              <a:extLst>
                <a:ext uri="{FF2B5EF4-FFF2-40B4-BE49-F238E27FC236}">
                  <a16:creationId xmlns:a16="http://schemas.microsoft.com/office/drawing/2014/main" id="{18E8552C-B920-4AD7-8DAB-FFD30B42E730}"/>
                </a:ext>
              </a:extLst>
            </p:cNvPr>
            <p:cNvSpPr>
              <a:spLocks/>
            </p:cNvSpPr>
            <p:nvPr/>
          </p:nvSpPr>
          <p:spPr bwMode="auto">
            <a:xfrm>
              <a:off x="3435350" y="2268225"/>
              <a:ext cx="582613" cy="904875"/>
            </a:xfrm>
            <a:custGeom>
              <a:avLst/>
              <a:gdLst>
                <a:gd name="T0" fmla="*/ 582494 w 582929"/>
                <a:gd name="T1" fmla="*/ 457814 h 904239"/>
                <a:gd name="T2" fmla="*/ 559657 w 582929"/>
                <a:gd name="T3" fmla="*/ 354809 h 904239"/>
                <a:gd name="T4" fmla="*/ 525401 w 582929"/>
                <a:gd name="T5" fmla="*/ 194567 h 904239"/>
                <a:gd name="T6" fmla="*/ 479727 w 582929"/>
                <a:gd name="T7" fmla="*/ 57238 h 904239"/>
                <a:gd name="T8" fmla="*/ 456860 w 582929"/>
                <a:gd name="T9" fmla="*/ 22913 h 904239"/>
                <a:gd name="T10" fmla="*/ 434023 w 582929"/>
                <a:gd name="T11" fmla="*/ 0 h 904239"/>
                <a:gd name="T12" fmla="*/ 411186 w 582929"/>
                <a:gd name="T13" fmla="*/ 0 h 904239"/>
                <a:gd name="T14" fmla="*/ 376900 w 582929"/>
                <a:gd name="T15" fmla="*/ 57238 h 904239"/>
                <a:gd name="T16" fmla="*/ 354063 w 582929"/>
                <a:gd name="T17" fmla="*/ 114476 h 904239"/>
                <a:gd name="T18" fmla="*/ 331226 w 582929"/>
                <a:gd name="T19" fmla="*/ 183125 h 904239"/>
                <a:gd name="T20" fmla="*/ 296971 w 582929"/>
                <a:gd name="T21" fmla="*/ 331926 h 904239"/>
                <a:gd name="T22" fmla="*/ 285553 w 582929"/>
                <a:gd name="T23" fmla="*/ 446372 h 904239"/>
                <a:gd name="T24" fmla="*/ 274104 w 582929"/>
                <a:gd name="T25" fmla="*/ 572260 h 904239"/>
                <a:gd name="T26" fmla="*/ 239848 w 582929"/>
                <a:gd name="T27" fmla="*/ 721030 h 904239"/>
                <a:gd name="T28" fmla="*/ 228430 w 582929"/>
                <a:gd name="T29" fmla="*/ 789710 h 904239"/>
                <a:gd name="T30" fmla="*/ 205593 w 582929"/>
                <a:gd name="T31" fmla="*/ 846918 h 904239"/>
                <a:gd name="T32" fmla="*/ 182756 w 582929"/>
                <a:gd name="T33" fmla="*/ 892715 h 904239"/>
                <a:gd name="T34" fmla="*/ 171337 w 582929"/>
                <a:gd name="T35" fmla="*/ 892715 h 904239"/>
                <a:gd name="T36" fmla="*/ 159888 w 582929"/>
                <a:gd name="T37" fmla="*/ 904156 h 904239"/>
                <a:gd name="T38" fmla="*/ 137052 w 582929"/>
                <a:gd name="T39" fmla="*/ 881273 h 904239"/>
                <a:gd name="T40" fmla="*/ 114215 w 582929"/>
                <a:gd name="T41" fmla="*/ 846918 h 904239"/>
                <a:gd name="T42" fmla="*/ 68541 w 582929"/>
                <a:gd name="T43" fmla="*/ 721030 h 904239"/>
                <a:gd name="T44" fmla="*/ 22836 w 582929"/>
                <a:gd name="T45" fmla="*/ 572260 h 904239"/>
                <a:gd name="T46" fmla="*/ 0 w 582929"/>
                <a:gd name="T47" fmla="*/ 469255 h 904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2929" h="904239">
                  <a:moveTo>
                    <a:pt x="582494" y="457814"/>
                  </a:moveTo>
                  <a:lnTo>
                    <a:pt x="559657" y="354809"/>
                  </a:lnTo>
                  <a:lnTo>
                    <a:pt x="525401" y="194567"/>
                  </a:lnTo>
                  <a:lnTo>
                    <a:pt x="479727" y="57238"/>
                  </a:lnTo>
                  <a:lnTo>
                    <a:pt x="456860" y="22913"/>
                  </a:lnTo>
                  <a:lnTo>
                    <a:pt x="434023" y="0"/>
                  </a:lnTo>
                  <a:lnTo>
                    <a:pt x="411186" y="0"/>
                  </a:lnTo>
                  <a:lnTo>
                    <a:pt x="376900" y="57238"/>
                  </a:lnTo>
                  <a:lnTo>
                    <a:pt x="354063" y="114476"/>
                  </a:lnTo>
                  <a:lnTo>
                    <a:pt x="331226" y="183125"/>
                  </a:lnTo>
                  <a:lnTo>
                    <a:pt x="296971" y="331926"/>
                  </a:lnTo>
                  <a:lnTo>
                    <a:pt x="285553" y="446372"/>
                  </a:lnTo>
                  <a:lnTo>
                    <a:pt x="274104" y="572260"/>
                  </a:lnTo>
                  <a:lnTo>
                    <a:pt x="239848" y="721030"/>
                  </a:lnTo>
                  <a:lnTo>
                    <a:pt x="228430" y="789710"/>
                  </a:lnTo>
                  <a:lnTo>
                    <a:pt x="205593" y="846918"/>
                  </a:lnTo>
                  <a:lnTo>
                    <a:pt x="182756" y="892715"/>
                  </a:lnTo>
                  <a:lnTo>
                    <a:pt x="171337" y="892715"/>
                  </a:lnTo>
                  <a:lnTo>
                    <a:pt x="159888" y="904156"/>
                  </a:lnTo>
                  <a:lnTo>
                    <a:pt x="137052" y="881273"/>
                  </a:lnTo>
                  <a:lnTo>
                    <a:pt x="114215" y="846918"/>
                  </a:lnTo>
                  <a:lnTo>
                    <a:pt x="68541" y="721030"/>
                  </a:lnTo>
                  <a:lnTo>
                    <a:pt x="22836" y="572260"/>
                  </a:lnTo>
                  <a:lnTo>
                    <a:pt x="0" y="469255"/>
                  </a:lnTo>
                </a:path>
              </a:pathLst>
            </a:custGeom>
            <a:noFill/>
            <a:ln w="1142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5" name="object 16">
              <a:extLst>
                <a:ext uri="{FF2B5EF4-FFF2-40B4-BE49-F238E27FC236}">
                  <a16:creationId xmlns:a16="http://schemas.microsoft.com/office/drawing/2014/main" id="{BFAA11B7-336A-451D-AD4F-2EE6575F440A}"/>
                </a:ext>
              </a:extLst>
            </p:cNvPr>
            <p:cNvSpPr>
              <a:spLocks/>
            </p:cNvSpPr>
            <p:nvPr/>
          </p:nvSpPr>
          <p:spPr bwMode="auto">
            <a:xfrm>
              <a:off x="3435350" y="2268225"/>
              <a:ext cx="582613" cy="904875"/>
            </a:xfrm>
            <a:custGeom>
              <a:avLst/>
              <a:gdLst>
                <a:gd name="T0" fmla="*/ 582494 w 582929"/>
                <a:gd name="T1" fmla="*/ 457814 h 904239"/>
                <a:gd name="T2" fmla="*/ 559657 w 582929"/>
                <a:gd name="T3" fmla="*/ 354809 h 904239"/>
                <a:gd name="T4" fmla="*/ 525401 w 582929"/>
                <a:gd name="T5" fmla="*/ 194567 h 904239"/>
                <a:gd name="T6" fmla="*/ 479727 w 582929"/>
                <a:gd name="T7" fmla="*/ 57238 h 904239"/>
                <a:gd name="T8" fmla="*/ 456860 w 582929"/>
                <a:gd name="T9" fmla="*/ 22913 h 904239"/>
                <a:gd name="T10" fmla="*/ 434023 w 582929"/>
                <a:gd name="T11" fmla="*/ 0 h 904239"/>
                <a:gd name="T12" fmla="*/ 411186 w 582929"/>
                <a:gd name="T13" fmla="*/ 0 h 904239"/>
                <a:gd name="T14" fmla="*/ 376900 w 582929"/>
                <a:gd name="T15" fmla="*/ 57238 h 904239"/>
                <a:gd name="T16" fmla="*/ 354063 w 582929"/>
                <a:gd name="T17" fmla="*/ 114476 h 904239"/>
                <a:gd name="T18" fmla="*/ 331226 w 582929"/>
                <a:gd name="T19" fmla="*/ 183125 h 904239"/>
                <a:gd name="T20" fmla="*/ 296971 w 582929"/>
                <a:gd name="T21" fmla="*/ 331926 h 904239"/>
                <a:gd name="T22" fmla="*/ 285553 w 582929"/>
                <a:gd name="T23" fmla="*/ 446372 h 904239"/>
                <a:gd name="T24" fmla="*/ 274104 w 582929"/>
                <a:gd name="T25" fmla="*/ 572260 h 904239"/>
                <a:gd name="T26" fmla="*/ 239848 w 582929"/>
                <a:gd name="T27" fmla="*/ 721030 h 904239"/>
                <a:gd name="T28" fmla="*/ 228430 w 582929"/>
                <a:gd name="T29" fmla="*/ 789710 h 904239"/>
                <a:gd name="T30" fmla="*/ 205593 w 582929"/>
                <a:gd name="T31" fmla="*/ 846918 h 904239"/>
                <a:gd name="T32" fmla="*/ 182756 w 582929"/>
                <a:gd name="T33" fmla="*/ 892715 h 904239"/>
                <a:gd name="T34" fmla="*/ 171337 w 582929"/>
                <a:gd name="T35" fmla="*/ 892715 h 904239"/>
                <a:gd name="T36" fmla="*/ 159888 w 582929"/>
                <a:gd name="T37" fmla="*/ 904156 h 904239"/>
                <a:gd name="T38" fmla="*/ 137052 w 582929"/>
                <a:gd name="T39" fmla="*/ 881273 h 904239"/>
                <a:gd name="T40" fmla="*/ 114215 w 582929"/>
                <a:gd name="T41" fmla="*/ 846918 h 904239"/>
                <a:gd name="T42" fmla="*/ 68541 w 582929"/>
                <a:gd name="T43" fmla="*/ 721030 h 904239"/>
                <a:gd name="T44" fmla="*/ 22836 w 582929"/>
                <a:gd name="T45" fmla="*/ 572260 h 904239"/>
                <a:gd name="T46" fmla="*/ 0 w 582929"/>
                <a:gd name="T47" fmla="*/ 469255 h 904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2929" h="904239">
                  <a:moveTo>
                    <a:pt x="582494" y="457814"/>
                  </a:moveTo>
                  <a:lnTo>
                    <a:pt x="559657" y="354809"/>
                  </a:lnTo>
                  <a:lnTo>
                    <a:pt x="525401" y="194567"/>
                  </a:lnTo>
                  <a:lnTo>
                    <a:pt x="479727" y="57238"/>
                  </a:lnTo>
                  <a:lnTo>
                    <a:pt x="456860" y="22913"/>
                  </a:lnTo>
                  <a:lnTo>
                    <a:pt x="434023" y="0"/>
                  </a:lnTo>
                  <a:lnTo>
                    <a:pt x="411186" y="0"/>
                  </a:lnTo>
                  <a:lnTo>
                    <a:pt x="376900" y="57238"/>
                  </a:lnTo>
                  <a:lnTo>
                    <a:pt x="354063" y="114476"/>
                  </a:lnTo>
                  <a:lnTo>
                    <a:pt x="331226" y="183125"/>
                  </a:lnTo>
                  <a:lnTo>
                    <a:pt x="296971" y="331926"/>
                  </a:lnTo>
                  <a:lnTo>
                    <a:pt x="285553" y="446372"/>
                  </a:lnTo>
                  <a:lnTo>
                    <a:pt x="274104" y="572260"/>
                  </a:lnTo>
                  <a:lnTo>
                    <a:pt x="239848" y="721030"/>
                  </a:lnTo>
                  <a:lnTo>
                    <a:pt x="228430" y="789710"/>
                  </a:lnTo>
                  <a:lnTo>
                    <a:pt x="205593" y="846918"/>
                  </a:lnTo>
                  <a:lnTo>
                    <a:pt x="182756" y="892715"/>
                  </a:lnTo>
                  <a:lnTo>
                    <a:pt x="171337" y="892715"/>
                  </a:lnTo>
                  <a:lnTo>
                    <a:pt x="159888" y="904156"/>
                  </a:lnTo>
                  <a:lnTo>
                    <a:pt x="137052" y="881273"/>
                  </a:lnTo>
                  <a:lnTo>
                    <a:pt x="114215" y="846918"/>
                  </a:lnTo>
                  <a:lnTo>
                    <a:pt x="68541" y="721030"/>
                  </a:lnTo>
                  <a:lnTo>
                    <a:pt x="22836" y="572260"/>
                  </a:lnTo>
                  <a:lnTo>
                    <a:pt x="0" y="469255"/>
                  </a:lnTo>
                </a:path>
              </a:pathLst>
            </a:custGeom>
            <a:noFill/>
            <a:ln w="11428">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17">
              <a:extLst>
                <a:ext uri="{FF2B5EF4-FFF2-40B4-BE49-F238E27FC236}">
                  <a16:creationId xmlns:a16="http://schemas.microsoft.com/office/drawing/2014/main" id="{A2AA91FD-9809-4438-B688-67F6CAA9E8FA}"/>
                </a:ext>
              </a:extLst>
            </p:cNvPr>
            <p:cNvSpPr>
              <a:spLocks/>
            </p:cNvSpPr>
            <p:nvPr/>
          </p:nvSpPr>
          <p:spPr bwMode="auto">
            <a:xfrm>
              <a:off x="3435350" y="2268225"/>
              <a:ext cx="582613" cy="904875"/>
            </a:xfrm>
            <a:custGeom>
              <a:avLst/>
              <a:gdLst>
                <a:gd name="T0" fmla="*/ 582494 w 582929"/>
                <a:gd name="T1" fmla="*/ 457814 h 904239"/>
                <a:gd name="T2" fmla="*/ 559657 w 582929"/>
                <a:gd name="T3" fmla="*/ 354809 h 904239"/>
                <a:gd name="T4" fmla="*/ 525401 w 582929"/>
                <a:gd name="T5" fmla="*/ 194567 h 904239"/>
                <a:gd name="T6" fmla="*/ 479727 w 582929"/>
                <a:gd name="T7" fmla="*/ 57238 h 904239"/>
                <a:gd name="T8" fmla="*/ 456860 w 582929"/>
                <a:gd name="T9" fmla="*/ 22913 h 904239"/>
                <a:gd name="T10" fmla="*/ 434023 w 582929"/>
                <a:gd name="T11" fmla="*/ 0 h 904239"/>
                <a:gd name="T12" fmla="*/ 411186 w 582929"/>
                <a:gd name="T13" fmla="*/ 0 h 904239"/>
                <a:gd name="T14" fmla="*/ 376900 w 582929"/>
                <a:gd name="T15" fmla="*/ 57238 h 904239"/>
                <a:gd name="T16" fmla="*/ 354063 w 582929"/>
                <a:gd name="T17" fmla="*/ 114476 h 904239"/>
                <a:gd name="T18" fmla="*/ 331226 w 582929"/>
                <a:gd name="T19" fmla="*/ 183125 h 904239"/>
                <a:gd name="T20" fmla="*/ 296971 w 582929"/>
                <a:gd name="T21" fmla="*/ 331926 h 904239"/>
                <a:gd name="T22" fmla="*/ 285553 w 582929"/>
                <a:gd name="T23" fmla="*/ 446372 h 904239"/>
                <a:gd name="T24" fmla="*/ 274104 w 582929"/>
                <a:gd name="T25" fmla="*/ 572260 h 904239"/>
                <a:gd name="T26" fmla="*/ 239848 w 582929"/>
                <a:gd name="T27" fmla="*/ 721030 h 904239"/>
                <a:gd name="T28" fmla="*/ 228430 w 582929"/>
                <a:gd name="T29" fmla="*/ 789710 h 904239"/>
                <a:gd name="T30" fmla="*/ 205593 w 582929"/>
                <a:gd name="T31" fmla="*/ 846918 h 904239"/>
                <a:gd name="T32" fmla="*/ 182756 w 582929"/>
                <a:gd name="T33" fmla="*/ 892715 h 904239"/>
                <a:gd name="T34" fmla="*/ 171337 w 582929"/>
                <a:gd name="T35" fmla="*/ 892715 h 904239"/>
                <a:gd name="T36" fmla="*/ 159888 w 582929"/>
                <a:gd name="T37" fmla="*/ 904156 h 904239"/>
                <a:gd name="T38" fmla="*/ 137052 w 582929"/>
                <a:gd name="T39" fmla="*/ 881273 h 904239"/>
                <a:gd name="T40" fmla="*/ 114215 w 582929"/>
                <a:gd name="T41" fmla="*/ 846918 h 904239"/>
                <a:gd name="T42" fmla="*/ 68541 w 582929"/>
                <a:gd name="T43" fmla="*/ 721030 h 904239"/>
                <a:gd name="T44" fmla="*/ 22836 w 582929"/>
                <a:gd name="T45" fmla="*/ 572260 h 904239"/>
                <a:gd name="T46" fmla="*/ 0 w 582929"/>
                <a:gd name="T47" fmla="*/ 469255 h 904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2929" h="904239">
                  <a:moveTo>
                    <a:pt x="582494" y="457814"/>
                  </a:moveTo>
                  <a:lnTo>
                    <a:pt x="559657" y="354809"/>
                  </a:lnTo>
                  <a:lnTo>
                    <a:pt x="525401" y="194567"/>
                  </a:lnTo>
                  <a:lnTo>
                    <a:pt x="479727" y="57238"/>
                  </a:lnTo>
                  <a:lnTo>
                    <a:pt x="456860" y="22913"/>
                  </a:lnTo>
                  <a:lnTo>
                    <a:pt x="434023" y="0"/>
                  </a:lnTo>
                  <a:lnTo>
                    <a:pt x="411186" y="0"/>
                  </a:lnTo>
                  <a:lnTo>
                    <a:pt x="376900" y="57238"/>
                  </a:lnTo>
                  <a:lnTo>
                    <a:pt x="354063" y="114476"/>
                  </a:lnTo>
                  <a:lnTo>
                    <a:pt x="331226" y="183125"/>
                  </a:lnTo>
                  <a:lnTo>
                    <a:pt x="296971" y="331926"/>
                  </a:lnTo>
                  <a:lnTo>
                    <a:pt x="285553" y="446372"/>
                  </a:lnTo>
                  <a:lnTo>
                    <a:pt x="274104" y="572260"/>
                  </a:lnTo>
                  <a:lnTo>
                    <a:pt x="239848" y="721030"/>
                  </a:lnTo>
                  <a:lnTo>
                    <a:pt x="228430" y="789710"/>
                  </a:lnTo>
                  <a:lnTo>
                    <a:pt x="205593" y="846918"/>
                  </a:lnTo>
                  <a:lnTo>
                    <a:pt x="182756" y="892715"/>
                  </a:lnTo>
                  <a:lnTo>
                    <a:pt x="171337" y="892715"/>
                  </a:lnTo>
                  <a:lnTo>
                    <a:pt x="159888" y="904156"/>
                  </a:lnTo>
                  <a:lnTo>
                    <a:pt x="137052" y="881273"/>
                  </a:lnTo>
                  <a:lnTo>
                    <a:pt x="114215" y="846918"/>
                  </a:lnTo>
                  <a:lnTo>
                    <a:pt x="68541" y="721030"/>
                  </a:lnTo>
                  <a:lnTo>
                    <a:pt x="22836" y="572260"/>
                  </a:lnTo>
                  <a:lnTo>
                    <a:pt x="0" y="469255"/>
                  </a:lnTo>
                </a:path>
              </a:pathLst>
            </a:custGeom>
            <a:noFill/>
            <a:ln w="1142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7" name="object 18">
              <a:extLst>
                <a:ext uri="{FF2B5EF4-FFF2-40B4-BE49-F238E27FC236}">
                  <a16:creationId xmlns:a16="http://schemas.microsoft.com/office/drawing/2014/main" id="{9DC71C16-FE4E-436A-A2C9-2FDBE3994070}"/>
                </a:ext>
              </a:extLst>
            </p:cNvPr>
            <p:cNvSpPr>
              <a:spLocks/>
            </p:cNvSpPr>
            <p:nvPr/>
          </p:nvSpPr>
          <p:spPr bwMode="auto">
            <a:xfrm>
              <a:off x="3400425" y="2692088"/>
              <a:ext cx="57150" cy="57150"/>
            </a:xfrm>
            <a:custGeom>
              <a:avLst/>
              <a:gdLst>
                <a:gd name="T0" fmla="*/ 45689 w 57150"/>
                <a:gd name="T1" fmla="*/ 0 h 57785"/>
                <a:gd name="T2" fmla="*/ 22829 w 57150"/>
                <a:gd name="T3" fmla="*/ 0 h 57785"/>
                <a:gd name="T4" fmla="*/ 0 w 57150"/>
                <a:gd name="T5" fmla="*/ 11429 h 57785"/>
                <a:gd name="T6" fmla="*/ 0 w 57150"/>
                <a:gd name="T7" fmla="*/ 34320 h 57785"/>
                <a:gd name="T8" fmla="*/ 22829 w 57150"/>
                <a:gd name="T9" fmla="*/ 57210 h 57785"/>
                <a:gd name="T10" fmla="*/ 34259 w 57150"/>
                <a:gd name="T11" fmla="*/ 57210 h 57785"/>
                <a:gd name="T12" fmla="*/ 57119 w 57150"/>
                <a:gd name="T13" fmla="*/ 34320 h 57785"/>
                <a:gd name="T14" fmla="*/ 57119 w 57150"/>
                <a:gd name="T15" fmla="*/ 22890 h 57785"/>
                <a:gd name="T16" fmla="*/ 45689 w 57150"/>
                <a:gd name="T17" fmla="*/ 0 h 57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150" h="57785">
                  <a:moveTo>
                    <a:pt x="45689" y="0"/>
                  </a:moveTo>
                  <a:lnTo>
                    <a:pt x="22829" y="0"/>
                  </a:lnTo>
                  <a:lnTo>
                    <a:pt x="0" y="11429"/>
                  </a:lnTo>
                  <a:lnTo>
                    <a:pt x="0" y="34320"/>
                  </a:lnTo>
                  <a:lnTo>
                    <a:pt x="22829" y="57210"/>
                  </a:lnTo>
                  <a:lnTo>
                    <a:pt x="34259" y="57210"/>
                  </a:lnTo>
                  <a:lnTo>
                    <a:pt x="57119" y="34320"/>
                  </a:lnTo>
                  <a:lnTo>
                    <a:pt x="57119" y="22890"/>
                  </a:lnTo>
                  <a:lnTo>
                    <a:pt x="456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 name="object 19">
              <a:extLst>
                <a:ext uri="{FF2B5EF4-FFF2-40B4-BE49-F238E27FC236}">
                  <a16:creationId xmlns:a16="http://schemas.microsoft.com/office/drawing/2014/main" id="{D88E3B59-FB96-4B23-BE0D-04532B30E42D}"/>
                </a:ext>
              </a:extLst>
            </p:cNvPr>
            <p:cNvSpPr>
              <a:spLocks/>
            </p:cNvSpPr>
            <p:nvPr/>
          </p:nvSpPr>
          <p:spPr bwMode="auto">
            <a:xfrm>
              <a:off x="4017963" y="2279338"/>
              <a:ext cx="582612" cy="893762"/>
            </a:xfrm>
            <a:custGeom>
              <a:avLst/>
              <a:gdLst>
                <a:gd name="T0" fmla="*/ 0 w 582929"/>
                <a:gd name="T1" fmla="*/ 457783 h 892810"/>
                <a:gd name="T2" fmla="*/ 45704 w 582929"/>
                <a:gd name="T3" fmla="*/ 194567 h 892810"/>
                <a:gd name="T4" fmla="*/ 68541 w 582929"/>
                <a:gd name="T5" fmla="*/ 114445 h 892810"/>
                <a:gd name="T6" fmla="*/ 91378 w 582929"/>
                <a:gd name="T7" fmla="*/ 57207 h 892810"/>
                <a:gd name="T8" fmla="*/ 114215 w 582929"/>
                <a:gd name="T9" fmla="*/ 11441 h 892810"/>
                <a:gd name="T10" fmla="*/ 125664 w 582929"/>
                <a:gd name="T11" fmla="*/ 0 h 892810"/>
                <a:gd name="T12" fmla="*/ 159919 w 582929"/>
                <a:gd name="T13" fmla="*/ 0 h 892810"/>
                <a:gd name="T14" fmla="*/ 205593 w 582929"/>
                <a:gd name="T15" fmla="*/ 45766 h 892810"/>
                <a:gd name="T16" fmla="*/ 228430 w 582929"/>
                <a:gd name="T17" fmla="*/ 103004 h 892810"/>
                <a:gd name="T18" fmla="*/ 239879 w 582929"/>
                <a:gd name="T19" fmla="*/ 171653 h 892810"/>
                <a:gd name="T20" fmla="*/ 274134 w 582929"/>
                <a:gd name="T21" fmla="*/ 320454 h 892810"/>
                <a:gd name="T22" fmla="*/ 285553 w 582929"/>
                <a:gd name="T23" fmla="*/ 446342 h 892810"/>
                <a:gd name="T24" fmla="*/ 296971 w 582929"/>
                <a:gd name="T25" fmla="*/ 492108 h 892810"/>
                <a:gd name="T26" fmla="*/ 308389 w 582929"/>
                <a:gd name="T27" fmla="*/ 560788 h 892810"/>
                <a:gd name="T28" fmla="*/ 331226 w 582929"/>
                <a:gd name="T29" fmla="*/ 709558 h 892810"/>
                <a:gd name="T30" fmla="*/ 354094 w 582929"/>
                <a:gd name="T31" fmla="*/ 789680 h 892810"/>
                <a:gd name="T32" fmla="*/ 376931 w 582929"/>
                <a:gd name="T33" fmla="*/ 846887 h 892810"/>
                <a:gd name="T34" fmla="*/ 388349 w 582929"/>
                <a:gd name="T35" fmla="*/ 881243 h 892810"/>
                <a:gd name="T36" fmla="*/ 399768 w 582929"/>
                <a:gd name="T37" fmla="*/ 892684 h 892810"/>
                <a:gd name="T38" fmla="*/ 422605 w 582929"/>
                <a:gd name="T39" fmla="*/ 892684 h 892810"/>
                <a:gd name="T40" fmla="*/ 434023 w 582929"/>
                <a:gd name="T41" fmla="*/ 881243 h 892810"/>
                <a:gd name="T42" fmla="*/ 456860 w 582929"/>
                <a:gd name="T43" fmla="*/ 835446 h 892810"/>
                <a:gd name="T44" fmla="*/ 513983 w 582929"/>
                <a:gd name="T45" fmla="*/ 709558 h 892810"/>
                <a:gd name="T46" fmla="*/ 559657 w 582929"/>
                <a:gd name="T47" fmla="*/ 572229 h 892810"/>
                <a:gd name="T48" fmla="*/ 582524 w 582929"/>
                <a:gd name="T49" fmla="*/ 469225 h 892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2929" h="892810">
                  <a:moveTo>
                    <a:pt x="0" y="457783"/>
                  </a:moveTo>
                  <a:lnTo>
                    <a:pt x="45704" y="194567"/>
                  </a:lnTo>
                  <a:lnTo>
                    <a:pt x="68541" y="114445"/>
                  </a:lnTo>
                  <a:lnTo>
                    <a:pt x="91378" y="57207"/>
                  </a:lnTo>
                  <a:lnTo>
                    <a:pt x="114215" y="11441"/>
                  </a:lnTo>
                  <a:lnTo>
                    <a:pt x="125664" y="0"/>
                  </a:lnTo>
                  <a:lnTo>
                    <a:pt x="159919" y="0"/>
                  </a:lnTo>
                  <a:lnTo>
                    <a:pt x="205593" y="45766"/>
                  </a:lnTo>
                  <a:lnTo>
                    <a:pt x="228430" y="103004"/>
                  </a:lnTo>
                  <a:lnTo>
                    <a:pt x="239879" y="171653"/>
                  </a:lnTo>
                  <a:lnTo>
                    <a:pt x="274134" y="320454"/>
                  </a:lnTo>
                  <a:lnTo>
                    <a:pt x="285553" y="446342"/>
                  </a:lnTo>
                  <a:lnTo>
                    <a:pt x="296971" y="492108"/>
                  </a:lnTo>
                  <a:lnTo>
                    <a:pt x="308389" y="560788"/>
                  </a:lnTo>
                  <a:lnTo>
                    <a:pt x="331226" y="709558"/>
                  </a:lnTo>
                  <a:lnTo>
                    <a:pt x="354094" y="789680"/>
                  </a:lnTo>
                  <a:lnTo>
                    <a:pt x="376931" y="846887"/>
                  </a:lnTo>
                  <a:lnTo>
                    <a:pt x="388349" y="881243"/>
                  </a:lnTo>
                  <a:lnTo>
                    <a:pt x="399768" y="892684"/>
                  </a:lnTo>
                  <a:lnTo>
                    <a:pt x="422605" y="892684"/>
                  </a:lnTo>
                  <a:lnTo>
                    <a:pt x="434023" y="881243"/>
                  </a:lnTo>
                  <a:lnTo>
                    <a:pt x="456860" y="835446"/>
                  </a:lnTo>
                  <a:lnTo>
                    <a:pt x="513983" y="709558"/>
                  </a:lnTo>
                  <a:lnTo>
                    <a:pt x="559657" y="572229"/>
                  </a:lnTo>
                  <a:lnTo>
                    <a:pt x="582524" y="469225"/>
                  </a:lnTo>
                </a:path>
              </a:pathLst>
            </a:custGeom>
            <a:noFill/>
            <a:ln w="11428">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20">
              <a:extLst>
                <a:ext uri="{FF2B5EF4-FFF2-40B4-BE49-F238E27FC236}">
                  <a16:creationId xmlns:a16="http://schemas.microsoft.com/office/drawing/2014/main" id="{B39B8BEF-03AB-4483-907D-F7EE19E849D8}"/>
                </a:ext>
              </a:extLst>
            </p:cNvPr>
            <p:cNvSpPr>
              <a:spLocks/>
            </p:cNvSpPr>
            <p:nvPr/>
          </p:nvSpPr>
          <p:spPr bwMode="auto">
            <a:xfrm>
              <a:off x="3983038" y="2727013"/>
              <a:ext cx="57150" cy="57150"/>
            </a:xfrm>
            <a:custGeom>
              <a:avLst/>
              <a:gdLst>
                <a:gd name="T0" fmla="*/ 34259 w 57150"/>
                <a:gd name="T1" fmla="*/ 0 h 57785"/>
                <a:gd name="T2" fmla="*/ 22829 w 57150"/>
                <a:gd name="T3" fmla="*/ 0 h 57785"/>
                <a:gd name="T4" fmla="*/ 11429 w 57150"/>
                <a:gd name="T5" fmla="*/ 11460 h 57785"/>
                <a:gd name="T6" fmla="*/ 0 w 57150"/>
                <a:gd name="T7" fmla="*/ 11460 h 57785"/>
                <a:gd name="T8" fmla="*/ 0 w 57150"/>
                <a:gd name="T9" fmla="*/ 45780 h 57785"/>
                <a:gd name="T10" fmla="*/ 11429 w 57150"/>
                <a:gd name="T11" fmla="*/ 57241 h 57785"/>
                <a:gd name="T12" fmla="*/ 34259 w 57150"/>
                <a:gd name="T13" fmla="*/ 57241 h 57785"/>
                <a:gd name="T14" fmla="*/ 57119 w 57150"/>
                <a:gd name="T15" fmla="*/ 34350 h 57785"/>
                <a:gd name="T16" fmla="*/ 57119 w 57150"/>
                <a:gd name="T17" fmla="*/ 22890 h 57785"/>
                <a:gd name="T18" fmla="*/ 34259 w 57150"/>
                <a:gd name="T19" fmla="*/ 0 h 57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150" h="57785">
                  <a:moveTo>
                    <a:pt x="34259" y="0"/>
                  </a:moveTo>
                  <a:lnTo>
                    <a:pt x="22829" y="0"/>
                  </a:lnTo>
                  <a:lnTo>
                    <a:pt x="11429" y="11460"/>
                  </a:lnTo>
                  <a:lnTo>
                    <a:pt x="0" y="11460"/>
                  </a:lnTo>
                  <a:lnTo>
                    <a:pt x="0" y="45780"/>
                  </a:lnTo>
                  <a:lnTo>
                    <a:pt x="11429" y="57241"/>
                  </a:lnTo>
                  <a:lnTo>
                    <a:pt x="34259" y="57241"/>
                  </a:lnTo>
                  <a:lnTo>
                    <a:pt x="57119" y="34350"/>
                  </a:lnTo>
                  <a:lnTo>
                    <a:pt x="57119" y="22890"/>
                  </a:lnTo>
                  <a:lnTo>
                    <a:pt x="3425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0" name="object 21">
              <a:extLst>
                <a:ext uri="{FF2B5EF4-FFF2-40B4-BE49-F238E27FC236}">
                  <a16:creationId xmlns:a16="http://schemas.microsoft.com/office/drawing/2014/main" id="{E4AC157E-D60B-4579-B658-214A4CB86864}"/>
                </a:ext>
              </a:extLst>
            </p:cNvPr>
            <p:cNvSpPr>
              <a:spLocks/>
            </p:cNvSpPr>
            <p:nvPr/>
          </p:nvSpPr>
          <p:spPr bwMode="auto">
            <a:xfrm>
              <a:off x="4611688" y="2279338"/>
              <a:ext cx="582612" cy="893762"/>
            </a:xfrm>
            <a:custGeom>
              <a:avLst/>
              <a:gdLst>
                <a:gd name="T0" fmla="*/ 0 w 582929"/>
                <a:gd name="T1" fmla="*/ 457783 h 892810"/>
                <a:gd name="T2" fmla="*/ 45673 w 582929"/>
                <a:gd name="T3" fmla="*/ 194567 h 892810"/>
                <a:gd name="T4" fmla="*/ 68541 w 582929"/>
                <a:gd name="T5" fmla="*/ 114445 h 892810"/>
                <a:gd name="T6" fmla="*/ 91378 w 582929"/>
                <a:gd name="T7" fmla="*/ 57207 h 892810"/>
                <a:gd name="T8" fmla="*/ 114215 w 582929"/>
                <a:gd name="T9" fmla="*/ 11441 h 892810"/>
                <a:gd name="T10" fmla="*/ 125633 w 582929"/>
                <a:gd name="T11" fmla="*/ 0 h 892810"/>
                <a:gd name="T12" fmla="*/ 159888 w 582929"/>
                <a:gd name="T13" fmla="*/ 0 h 892810"/>
                <a:gd name="T14" fmla="*/ 205593 w 582929"/>
                <a:gd name="T15" fmla="*/ 45766 h 892810"/>
                <a:gd name="T16" fmla="*/ 228430 w 582929"/>
                <a:gd name="T17" fmla="*/ 103004 h 892810"/>
                <a:gd name="T18" fmla="*/ 239848 w 582929"/>
                <a:gd name="T19" fmla="*/ 171653 h 892810"/>
                <a:gd name="T20" fmla="*/ 274104 w 582929"/>
                <a:gd name="T21" fmla="*/ 320454 h 892810"/>
                <a:gd name="T22" fmla="*/ 285553 w 582929"/>
                <a:gd name="T23" fmla="*/ 446342 h 892810"/>
                <a:gd name="T24" fmla="*/ 296971 w 582929"/>
                <a:gd name="T25" fmla="*/ 492108 h 892810"/>
                <a:gd name="T26" fmla="*/ 308389 w 582929"/>
                <a:gd name="T27" fmla="*/ 560788 h 892810"/>
                <a:gd name="T28" fmla="*/ 331226 w 582929"/>
                <a:gd name="T29" fmla="*/ 709558 h 892810"/>
                <a:gd name="T30" fmla="*/ 354063 w 582929"/>
                <a:gd name="T31" fmla="*/ 789680 h 892810"/>
                <a:gd name="T32" fmla="*/ 376900 w 582929"/>
                <a:gd name="T33" fmla="*/ 846887 h 892810"/>
                <a:gd name="T34" fmla="*/ 388319 w 582929"/>
                <a:gd name="T35" fmla="*/ 881243 h 892810"/>
                <a:gd name="T36" fmla="*/ 399768 w 582929"/>
                <a:gd name="T37" fmla="*/ 892684 h 892810"/>
                <a:gd name="T38" fmla="*/ 422605 w 582929"/>
                <a:gd name="T39" fmla="*/ 892684 h 892810"/>
                <a:gd name="T40" fmla="*/ 434023 w 582929"/>
                <a:gd name="T41" fmla="*/ 881243 h 892810"/>
                <a:gd name="T42" fmla="*/ 456860 w 582929"/>
                <a:gd name="T43" fmla="*/ 835446 h 892810"/>
                <a:gd name="T44" fmla="*/ 513983 w 582929"/>
                <a:gd name="T45" fmla="*/ 709558 h 892810"/>
                <a:gd name="T46" fmla="*/ 559657 w 582929"/>
                <a:gd name="T47" fmla="*/ 572229 h 892810"/>
                <a:gd name="T48" fmla="*/ 582494 w 582929"/>
                <a:gd name="T49" fmla="*/ 469225 h 892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2929" h="892810">
                  <a:moveTo>
                    <a:pt x="0" y="457783"/>
                  </a:moveTo>
                  <a:lnTo>
                    <a:pt x="45673" y="194567"/>
                  </a:lnTo>
                  <a:lnTo>
                    <a:pt x="68541" y="114445"/>
                  </a:lnTo>
                  <a:lnTo>
                    <a:pt x="91378" y="57207"/>
                  </a:lnTo>
                  <a:lnTo>
                    <a:pt x="114215" y="11441"/>
                  </a:lnTo>
                  <a:lnTo>
                    <a:pt x="125633" y="0"/>
                  </a:lnTo>
                  <a:lnTo>
                    <a:pt x="159888" y="0"/>
                  </a:lnTo>
                  <a:lnTo>
                    <a:pt x="205593" y="45766"/>
                  </a:lnTo>
                  <a:lnTo>
                    <a:pt x="228430" y="103004"/>
                  </a:lnTo>
                  <a:lnTo>
                    <a:pt x="239848" y="171653"/>
                  </a:lnTo>
                  <a:lnTo>
                    <a:pt x="274104" y="320454"/>
                  </a:lnTo>
                  <a:lnTo>
                    <a:pt x="285553" y="446342"/>
                  </a:lnTo>
                  <a:lnTo>
                    <a:pt x="296971" y="492108"/>
                  </a:lnTo>
                  <a:lnTo>
                    <a:pt x="308389" y="560788"/>
                  </a:lnTo>
                  <a:lnTo>
                    <a:pt x="331226" y="709558"/>
                  </a:lnTo>
                  <a:lnTo>
                    <a:pt x="354063" y="789680"/>
                  </a:lnTo>
                  <a:lnTo>
                    <a:pt x="376900" y="846887"/>
                  </a:lnTo>
                  <a:lnTo>
                    <a:pt x="388319" y="881243"/>
                  </a:lnTo>
                  <a:lnTo>
                    <a:pt x="399768" y="892684"/>
                  </a:lnTo>
                  <a:lnTo>
                    <a:pt x="422605" y="892684"/>
                  </a:lnTo>
                  <a:lnTo>
                    <a:pt x="434023" y="881243"/>
                  </a:lnTo>
                  <a:lnTo>
                    <a:pt x="456860" y="835446"/>
                  </a:lnTo>
                  <a:lnTo>
                    <a:pt x="513983" y="709558"/>
                  </a:lnTo>
                  <a:lnTo>
                    <a:pt x="559657" y="572229"/>
                  </a:lnTo>
                  <a:lnTo>
                    <a:pt x="582494" y="469225"/>
                  </a:lnTo>
                </a:path>
              </a:pathLst>
            </a:custGeom>
            <a:noFill/>
            <a:ln w="11428">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22">
              <a:extLst>
                <a:ext uri="{FF2B5EF4-FFF2-40B4-BE49-F238E27FC236}">
                  <a16:creationId xmlns:a16="http://schemas.microsoft.com/office/drawing/2014/main" id="{B9641BB9-2A06-40BC-A766-60AC36AF4C53}"/>
                </a:ext>
              </a:extLst>
            </p:cNvPr>
            <p:cNvSpPr>
              <a:spLocks/>
            </p:cNvSpPr>
            <p:nvPr/>
          </p:nvSpPr>
          <p:spPr bwMode="auto">
            <a:xfrm>
              <a:off x="4576763" y="2727013"/>
              <a:ext cx="57150" cy="57150"/>
            </a:xfrm>
            <a:custGeom>
              <a:avLst/>
              <a:gdLst>
                <a:gd name="T0" fmla="*/ 34259 w 57150"/>
                <a:gd name="T1" fmla="*/ 0 h 57785"/>
                <a:gd name="T2" fmla="*/ 22829 w 57150"/>
                <a:gd name="T3" fmla="*/ 0 h 57785"/>
                <a:gd name="T4" fmla="*/ 11399 w 57150"/>
                <a:gd name="T5" fmla="*/ 11460 h 57785"/>
                <a:gd name="T6" fmla="*/ 0 w 57150"/>
                <a:gd name="T7" fmla="*/ 11460 h 57785"/>
                <a:gd name="T8" fmla="*/ 0 w 57150"/>
                <a:gd name="T9" fmla="*/ 45780 h 57785"/>
                <a:gd name="T10" fmla="*/ 11399 w 57150"/>
                <a:gd name="T11" fmla="*/ 57241 h 57785"/>
                <a:gd name="T12" fmla="*/ 34259 w 57150"/>
                <a:gd name="T13" fmla="*/ 57241 h 57785"/>
                <a:gd name="T14" fmla="*/ 57119 w 57150"/>
                <a:gd name="T15" fmla="*/ 34350 h 57785"/>
                <a:gd name="T16" fmla="*/ 57119 w 57150"/>
                <a:gd name="T17" fmla="*/ 22890 h 57785"/>
                <a:gd name="T18" fmla="*/ 34259 w 57150"/>
                <a:gd name="T19" fmla="*/ 0 h 57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150" h="57785">
                  <a:moveTo>
                    <a:pt x="34259" y="0"/>
                  </a:moveTo>
                  <a:lnTo>
                    <a:pt x="22829" y="0"/>
                  </a:lnTo>
                  <a:lnTo>
                    <a:pt x="11399" y="11460"/>
                  </a:lnTo>
                  <a:lnTo>
                    <a:pt x="0" y="11460"/>
                  </a:lnTo>
                  <a:lnTo>
                    <a:pt x="0" y="45780"/>
                  </a:lnTo>
                  <a:lnTo>
                    <a:pt x="11399" y="57241"/>
                  </a:lnTo>
                  <a:lnTo>
                    <a:pt x="34259" y="57241"/>
                  </a:lnTo>
                  <a:lnTo>
                    <a:pt x="57119" y="34350"/>
                  </a:lnTo>
                  <a:lnTo>
                    <a:pt x="57119" y="22890"/>
                  </a:lnTo>
                  <a:lnTo>
                    <a:pt x="3425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2" name="object 23">
              <a:extLst>
                <a:ext uri="{FF2B5EF4-FFF2-40B4-BE49-F238E27FC236}">
                  <a16:creationId xmlns:a16="http://schemas.microsoft.com/office/drawing/2014/main" id="{11BA7FDA-7A4A-440E-9B07-E159DA6B5C2B}"/>
                </a:ext>
              </a:extLst>
            </p:cNvPr>
            <p:cNvSpPr>
              <a:spLocks/>
            </p:cNvSpPr>
            <p:nvPr/>
          </p:nvSpPr>
          <p:spPr bwMode="auto">
            <a:xfrm>
              <a:off x="5216525" y="2268225"/>
              <a:ext cx="582613" cy="904875"/>
            </a:xfrm>
            <a:custGeom>
              <a:avLst/>
              <a:gdLst>
                <a:gd name="T0" fmla="*/ 582524 w 582929"/>
                <a:gd name="T1" fmla="*/ 457814 h 904239"/>
                <a:gd name="T2" fmla="*/ 559687 w 582929"/>
                <a:gd name="T3" fmla="*/ 354809 h 904239"/>
                <a:gd name="T4" fmla="*/ 525401 w 582929"/>
                <a:gd name="T5" fmla="*/ 194567 h 904239"/>
                <a:gd name="T6" fmla="*/ 479727 w 582929"/>
                <a:gd name="T7" fmla="*/ 57238 h 904239"/>
                <a:gd name="T8" fmla="*/ 456890 w 582929"/>
                <a:gd name="T9" fmla="*/ 22913 h 904239"/>
                <a:gd name="T10" fmla="*/ 434023 w 582929"/>
                <a:gd name="T11" fmla="*/ 0 h 904239"/>
                <a:gd name="T12" fmla="*/ 411186 w 582929"/>
                <a:gd name="T13" fmla="*/ 0 h 904239"/>
                <a:gd name="T14" fmla="*/ 376931 w 582929"/>
                <a:gd name="T15" fmla="*/ 57238 h 904239"/>
                <a:gd name="T16" fmla="*/ 354094 w 582929"/>
                <a:gd name="T17" fmla="*/ 114476 h 904239"/>
                <a:gd name="T18" fmla="*/ 331257 w 582929"/>
                <a:gd name="T19" fmla="*/ 183125 h 904239"/>
                <a:gd name="T20" fmla="*/ 296971 w 582929"/>
                <a:gd name="T21" fmla="*/ 331926 h 904239"/>
                <a:gd name="T22" fmla="*/ 285553 w 582929"/>
                <a:gd name="T23" fmla="*/ 446372 h 904239"/>
                <a:gd name="T24" fmla="*/ 274134 w 582929"/>
                <a:gd name="T25" fmla="*/ 572260 h 904239"/>
                <a:gd name="T26" fmla="*/ 239879 w 582929"/>
                <a:gd name="T27" fmla="*/ 721030 h 904239"/>
                <a:gd name="T28" fmla="*/ 228460 w 582929"/>
                <a:gd name="T29" fmla="*/ 789710 h 904239"/>
                <a:gd name="T30" fmla="*/ 205593 w 582929"/>
                <a:gd name="T31" fmla="*/ 846918 h 904239"/>
                <a:gd name="T32" fmla="*/ 182756 w 582929"/>
                <a:gd name="T33" fmla="*/ 892715 h 904239"/>
                <a:gd name="T34" fmla="*/ 171337 w 582929"/>
                <a:gd name="T35" fmla="*/ 892715 h 904239"/>
                <a:gd name="T36" fmla="*/ 159919 w 582929"/>
                <a:gd name="T37" fmla="*/ 904156 h 904239"/>
                <a:gd name="T38" fmla="*/ 137082 w 582929"/>
                <a:gd name="T39" fmla="*/ 881273 h 904239"/>
                <a:gd name="T40" fmla="*/ 114245 w 582929"/>
                <a:gd name="T41" fmla="*/ 846918 h 904239"/>
                <a:gd name="T42" fmla="*/ 68541 w 582929"/>
                <a:gd name="T43" fmla="*/ 721030 h 904239"/>
                <a:gd name="T44" fmla="*/ 22867 w 582929"/>
                <a:gd name="T45" fmla="*/ 572260 h 904239"/>
                <a:gd name="T46" fmla="*/ 0 w 582929"/>
                <a:gd name="T47" fmla="*/ 469255 h 904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2929" h="904239">
                  <a:moveTo>
                    <a:pt x="582524" y="457814"/>
                  </a:moveTo>
                  <a:lnTo>
                    <a:pt x="559687" y="354809"/>
                  </a:lnTo>
                  <a:lnTo>
                    <a:pt x="525401" y="194567"/>
                  </a:lnTo>
                  <a:lnTo>
                    <a:pt x="479727" y="57238"/>
                  </a:lnTo>
                  <a:lnTo>
                    <a:pt x="456890" y="22913"/>
                  </a:lnTo>
                  <a:lnTo>
                    <a:pt x="434023" y="0"/>
                  </a:lnTo>
                  <a:lnTo>
                    <a:pt x="411186" y="0"/>
                  </a:lnTo>
                  <a:lnTo>
                    <a:pt x="376931" y="57238"/>
                  </a:lnTo>
                  <a:lnTo>
                    <a:pt x="354094" y="114476"/>
                  </a:lnTo>
                  <a:lnTo>
                    <a:pt x="331257" y="183125"/>
                  </a:lnTo>
                  <a:lnTo>
                    <a:pt x="296971" y="331926"/>
                  </a:lnTo>
                  <a:lnTo>
                    <a:pt x="285553" y="446372"/>
                  </a:lnTo>
                  <a:lnTo>
                    <a:pt x="274134" y="572260"/>
                  </a:lnTo>
                  <a:lnTo>
                    <a:pt x="239879" y="721030"/>
                  </a:lnTo>
                  <a:lnTo>
                    <a:pt x="228460" y="789710"/>
                  </a:lnTo>
                  <a:lnTo>
                    <a:pt x="205593" y="846918"/>
                  </a:lnTo>
                  <a:lnTo>
                    <a:pt x="182756" y="892715"/>
                  </a:lnTo>
                  <a:lnTo>
                    <a:pt x="171337" y="892715"/>
                  </a:lnTo>
                  <a:lnTo>
                    <a:pt x="159919" y="904156"/>
                  </a:lnTo>
                  <a:lnTo>
                    <a:pt x="137082" y="881273"/>
                  </a:lnTo>
                  <a:lnTo>
                    <a:pt x="114245" y="846918"/>
                  </a:lnTo>
                  <a:lnTo>
                    <a:pt x="68541" y="721030"/>
                  </a:lnTo>
                  <a:lnTo>
                    <a:pt x="22867" y="572260"/>
                  </a:lnTo>
                  <a:lnTo>
                    <a:pt x="0" y="469255"/>
                  </a:lnTo>
                </a:path>
              </a:pathLst>
            </a:custGeom>
            <a:noFill/>
            <a:ln w="1142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3" name="object 24">
              <a:extLst>
                <a:ext uri="{FF2B5EF4-FFF2-40B4-BE49-F238E27FC236}">
                  <a16:creationId xmlns:a16="http://schemas.microsoft.com/office/drawing/2014/main" id="{C1369EDE-E517-41B1-9498-A4F6A74300CE}"/>
                </a:ext>
              </a:extLst>
            </p:cNvPr>
            <p:cNvSpPr>
              <a:spLocks/>
            </p:cNvSpPr>
            <p:nvPr/>
          </p:nvSpPr>
          <p:spPr bwMode="auto">
            <a:xfrm>
              <a:off x="5216525" y="2268225"/>
              <a:ext cx="582613" cy="904875"/>
            </a:xfrm>
            <a:custGeom>
              <a:avLst/>
              <a:gdLst>
                <a:gd name="T0" fmla="*/ 582524 w 582929"/>
                <a:gd name="T1" fmla="*/ 457814 h 904239"/>
                <a:gd name="T2" fmla="*/ 559687 w 582929"/>
                <a:gd name="T3" fmla="*/ 354809 h 904239"/>
                <a:gd name="T4" fmla="*/ 525401 w 582929"/>
                <a:gd name="T5" fmla="*/ 194567 h 904239"/>
                <a:gd name="T6" fmla="*/ 479727 w 582929"/>
                <a:gd name="T7" fmla="*/ 57238 h 904239"/>
                <a:gd name="T8" fmla="*/ 456890 w 582929"/>
                <a:gd name="T9" fmla="*/ 22913 h 904239"/>
                <a:gd name="T10" fmla="*/ 434023 w 582929"/>
                <a:gd name="T11" fmla="*/ 0 h 904239"/>
                <a:gd name="T12" fmla="*/ 411186 w 582929"/>
                <a:gd name="T13" fmla="*/ 0 h 904239"/>
                <a:gd name="T14" fmla="*/ 376931 w 582929"/>
                <a:gd name="T15" fmla="*/ 57238 h 904239"/>
                <a:gd name="T16" fmla="*/ 354094 w 582929"/>
                <a:gd name="T17" fmla="*/ 114476 h 904239"/>
                <a:gd name="T18" fmla="*/ 331257 w 582929"/>
                <a:gd name="T19" fmla="*/ 183125 h 904239"/>
                <a:gd name="T20" fmla="*/ 296971 w 582929"/>
                <a:gd name="T21" fmla="*/ 331926 h 904239"/>
                <a:gd name="T22" fmla="*/ 285553 w 582929"/>
                <a:gd name="T23" fmla="*/ 446372 h 904239"/>
                <a:gd name="T24" fmla="*/ 274134 w 582929"/>
                <a:gd name="T25" fmla="*/ 572260 h 904239"/>
                <a:gd name="T26" fmla="*/ 239879 w 582929"/>
                <a:gd name="T27" fmla="*/ 721030 h 904239"/>
                <a:gd name="T28" fmla="*/ 228460 w 582929"/>
                <a:gd name="T29" fmla="*/ 789710 h 904239"/>
                <a:gd name="T30" fmla="*/ 205593 w 582929"/>
                <a:gd name="T31" fmla="*/ 846918 h 904239"/>
                <a:gd name="T32" fmla="*/ 182756 w 582929"/>
                <a:gd name="T33" fmla="*/ 892715 h 904239"/>
                <a:gd name="T34" fmla="*/ 171337 w 582929"/>
                <a:gd name="T35" fmla="*/ 892715 h 904239"/>
                <a:gd name="T36" fmla="*/ 159919 w 582929"/>
                <a:gd name="T37" fmla="*/ 904156 h 904239"/>
                <a:gd name="T38" fmla="*/ 137082 w 582929"/>
                <a:gd name="T39" fmla="*/ 881273 h 904239"/>
                <a:gd name="T40" fmla="*/ 114245 w 582929"/>
                <a:gd name="T41" fmla="*/ 846918 h 904239"/>
                <a:gd name="T42" fmla="*/ 68541 w 582929"/>
                <a:gd name="T43" fmla="*/ 721030 h 904239"/>
                <a:gd name="T44" fmla="*/ 22867 w 582929"/>
                <a:gd name="T45" fmla="*/ 572260 h 904239"/>
                <a:gd name="T46" fmla="*/ 0 w 582929"/>
                <a:gd name="T47" fmla="*/ 469255 h 904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2929" h="904239">
                  <a:moveTo>
                    <a:pt x="582524" y="457814"/>
                  </a:moveTo>
                  <a:lnTo>
                    <a:pt x="559687" y="354809"/>
                  </a:lnTo>
                  <a:lnTo>
                    <a:pt x="525401" y="194567"/>
                  </a:lnTo>
                  <a:lnTo>
                    <a:pt x="479727" y="57238"/>
                  </a:lnTo>
                  <a:lnTo>
                    <a:pt x="456890" y="22913"/>
                  </a:lnTo>
                  <a:lnTo>
                    <a:pt x="434023" y="0"/>
                  </a:lnTo>
                  <a:lnTo>
                    <a:pt x="411186" y="0"/>
                  </a:lnTo>
                  <a:lnTo>
                    <a:pt x="376931" y="57238"/>
                  </a:lnTo>
                  <a:lnTo>
                    <a:pt x="354094" y="114476"/>
                  </a:lnTo>
                  <a:lnTo>
                    <a:pt x="331257" y="183125"/>
                  </a:lnTo>
                  <a:lnTo>
                    <a:pt x="296971" y="331926"/>
                  </a:lnTo>
                  <a:lnTo>
                    <a:pt x="285553" y="446372"/>
                  </a:lnTo>
                  <a:lnTo>
                    <a:pt x="274134" y="572260"/>
                  </a:lnTo>
                  <a:lnTo>
                    <a:pt x="239879" y="721030"/>
                  </a:lnTo>
                  <a:lnTo>
                    <a:pt x="228460" y="789710"/>
                  </a:lnTo>
                  <a:lnTo>
                    <a:pt x="205593" y="846918"/>
                  </a:lnTo>
                  <a:lnTo>
                    <a:pt x="182756" y="892715"/>
                  </a:lnTo>
                  <a:lnTo>
                    <a:pt x="171337" y="892715"/>
                  </a:lnTo>
                  <a:lnTo>
                    <a:pt x="159919" y="904156"/>
                  </a:lnTo>
                  <a:lnTo>
                    <a:pt x="137082" y="881273"/>
                  </a:lnTo>
                  <a:lnTo>
                    <a:pt x="114245" y="846918"/>
                  </a:lnTo>
                  <a:lnTo>
                    <a:pt x="68541" y="721030"/>
                  </a:lnTo>
                  <a:lnTo>
                    <a:pt x="22867" y="572260"/>
                  </a:lnTo>
                  <a:lnTo>
                    <a:pt x="0" y="469255"/>
                  </a:lnTo>
                </a:path>
              </a:pathLst>
            </a:custGeom>
            <a:noFill/>
            <a:ln w="11428">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4" name="object 25">
              <a:extLst>
                <a:ext uri="{FF2B5EF4-FFF2-40B4-BE49-F238E27FC236}">
                  <a16:creationId xmlns:a16="http://schemas.microsoft.com/office/drawing/2014/main" id="{38AAFC93-460A-44EF-948E-E2AA2AC3EEE4}"/>
                </a:ext>
              </a:extLst>
            </p:cNvPr>
            <p:cNvSpPr>
              <a:spLocks/>
            </p:cNvSpPr>
            <p:nvPr/>
          </p:nvSpPr>
          <p:spPr bwMode="auto">
            <a:xfrm>
              <a:off x="5216525" y="2268225"/>
              <a:ext cx="582613" cy="904875"/>
            </a:xfrm>
            <a:custGeom>
              <a:avLst/>
              <a:gdLst>
                <a:gd name="T0" fmla="*/ 582524 w 582929"/>
                <a:gd name="T1" fmla="*/ 457814 h 904239"/>
                <a:gd name="T2" fmla="*/ 559687 w 582929"/>
                <a:gd name="T3" fmla="*/ 354809 h 904239"/>
                <a:gd name="T4" fmla="*/ 525401 w 582929"/>
                <a:gd name="T5" fmla="*/ 194567 h 904239"/>
                <a:gd name="T6" fmla="*/ 479727 w 582929"/>
                <a:gd name="T7" fmla="*/ 57238 h 904239"/>
                <a:gd name="T8" fmla="*/ 456890 w 582929"/>
                <a:gd name="T9" fmla="*/ 22913 h 904239"/>
                <a:gd name="T10" fmla="*/ 434023 w 582929"/>
                <a:gd name="T11" fmla="*/ 0 h 904239"/>
                <a:gd name="T12" fmla="*/ 411186 w 582929"/>
                <a:gd name="T13" fmla="*/ 0 h 904239"/>
                <a:gd name="T14" fmla="*/ 376931 w 582929"/>
                <a:gd name="T15" fmla="*/ 57238 h 904239"/>
                <a:gd name="T16" fmla="*/ 354094 w 582929"/>
                <a:gd name="T17" fmla="*/ 114476 h 904239"/>
                <a:gd name="T18" fmla="*/ 331257 w 582929"/>
                <a:gd name="T19" fmla="*/ 183125 h 904239"/>
                <a:gd name="T20" fmla="*/ 296971 w 582929"/>
                <a:gd name="T21" fmla="*/ 331926 h 904239"/>
                <a:gd name="T22" fmla="*/ 285553 w 582929"/>
                <a:gd name="T23" fmla="*/ 446372 h 904239"/>
                <a:gd name="T24" fmla="*/ 274134 w 582929"/>
                <a:gd name="T25" fmla="*/ 572260 h 904239"/>
                <a:gd name="T26" fmla="*/ 239879 w 582929"/>
                <a:gd name="T27" fmla="*/ 721030 h 904239"/>
                <a:gd name="T28" fmla="*/ 228460 w 582929"/>
                <a:gd name="T29" fmla="*/ 789710 h 904239"/>
                <a:gd name="T30" fmla="*/ 205593 w 582929"/>
                <a:gd name="T31" fmla="*/ 846918 h 904239"/>
                <a:gd name="T32" fmla="*/ 182756 w 582929"/>
                <a:gd name="T33" fmla="*/ 892715 h 904239"/>
                <a:gd name="T34" fmla="*/ 171337 w 582929"/>
                <a:gd name="T35" fmla="*/ 892715 h 904239"/>
                <a:gd name="T36" fmla="*/ 159919 w 582929"/>
                <a:gd name="T37" fmla="*/ 904156 h 904239"/>
                <a:gd name="T38" fmla="*/ 137082 w 582929"/>
                <a:gd name="T39" fmla="*/ 881273 h 904239"/>
                <a:gd name="T40" fmla="*/ 114245 w 582929"/>
                <a:gd name="T41" fmla="*/ 846918 h 904239"/>
                <a:gd name="T42" fmla="*/ 68541 w 582929"/>
                <a:gd name="T43" fmla="*/ 721030 h 904239"/>
                <a:gd name="T44" fmla="*/ 22867 w 582929"/>
                <a:gd name="T45" fmla="*/ 572260 h 904239"/>
                <a:gd name="T46" fmla="*/ 0 w 582929"/>
                <a:gd name="T47" fmla="*/ 469255 h 904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2929" h="904239">
                  <a:moveTo>
                    <a:pt x="582524" y="457814"/>
                  </a:moveTo>
                  <a:lnTo>
                    <a:pt x="559687" y="354809"/>
                  </a:lnTo>
                  <a:lnTo>
                    <a:pt x="525401" y="194567"/>
                  </a:lnTo>
                  <a:lnTo>
                    <a:pt x="479727" y="57238"/>
                  </a:lnTo>
                  <a:lnTo>
                    <a:pt x="456890" y="22913"/>
                  </a:lnTo>
                  <a:lnTo>
                    <a:pt x="434023" y="0"/>
                  </a:lnTo>
                  <a:lnTo>
                    <a:pt x="411186" y="0"/>
                  </a:lnTo>
                  <a:lnTo>
                    <a:pt x="376931" y="57238"/>
                  </a:lnTo>
                  <a:lnTo>
                    <a:pt x="354094" y="114476"/>
                  </a:lnTo>
                  <a:lnTo>
                    <a:pt x="331257" y="183125"/>
                  </a:lnTo>
                  <a:lnTo>
                    <a:pt x="296971" y="331926"/>
                  </a:lnTo>
                  <a:lnTo>
                    <a:pt x="285553" y="446372"/>
                  </a:lnTo>
                  <a:lnTo>
                    <a:pt x="274134" y="572260"/>
                  </a:lnTo>
                  <a:lnTo>
                    <a:pt x="239879" y="721030"/>
                  </a:lnTo>
                  <a:lnTo>
                    <a:pt x="228460" y="789710"/>
                  </a:lnTo>
                  <a:lnTo>
                    <a:pt x="205593" y="846918"/>
                  </a:lnTo>
                  <a:lnTo>
                    <a:pt x="182756" y="892715"/>
                  </a:lnTo>
                  <a:lnTo>
                    <a:pt x="171337" y="892715"/>
                  </a:lnTo>
                  <a:lnTo>
                    <a:pt x="159919" y="904156"/>
                  </a:lnTo>
                  <a:lnTo>
                    <a:pt x="137082" y="881273"/>
                  </a:lnTo>
                  <a:lnTo>
                    <a:pt x="114245" y="846918"/>
                  </a:lnTo>
                  <a:lnTo>
                    <a:pt x="68541" y="721030"/>
                  </a:lnTo>
                  <a:lnTo>
                    <a:pt x="22867" y="572260"/>
                  </a:lnTo>
                  <a:lnTo>
                    <a:pt x="0" y="469255"/>
                  </a:lnTo>
                </a:path>
              </a:pathLst>
            </a:custGeom>
            <a:noFill/>
            <a:ln w="11428">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5" name="object 26">
              <a:extLst>
                <a:ext uri="{FF2B5EF4-FFF2-40B4-BE49-F238E27FC236}">
                  <a16:creationId xmlns:a16="http://schemas.microsoft.com/office/drawing/2014/main" id="{94CF4EC1-D04B-4880-A3EC-90AC0CA09A92}"/>
                </a:ext>
              </a:extLst>
            </p:cNvPr>
            <p:cNvSpPr>
              <a:spLocks/>
            </p:cNvSpPr>
            <p:nvPr/>
          </p:nvSpPr>
          <p:spPr bwMode="auto">
            <a:xfrm>
              <a:off x="5183188" y="2692088"/>
              <a:ext cx="57150" cy="57150"/>
            </a:xfrm>
            <a:custGeom>
              <a:avLst/>
              <a:gdLst>
                <a:gd name="T0" fmla="*/ 45689 w 57150"/>
                <a:gd name="T1" fmla="*/ 0 h 57785"/>
                <a:gd name="T2" fmla="*/ 22859 w 57150"/>
                <a:gd name="T3" fmla="*/ 0 h 57785"/>
                <a:gd name="T4" fmla="*/ 0 w 57150"/>
                <a:gd name="T5" fmla="*/ 11429 h 57785"/>
                <a:gd name="T6" fmla="*/ 0 w 57150"/>
                <a:gd name="T7" fmla="*/ 34320 h 57785"/>
                <a:gd name="T8" fmla="*/ 22859 w 57150"/>
                <a:gd name="T9" fmla="*/ 57210 h 57785"/>
                <a:gd name="T10" fmla="*/ 34289 w 57150"/>
                <a:gd name="T11" fmla="*/ 57210 h 57785"/>
                <a:gd name="T12" fmla="*/ 57119 w 57150"/>
                <a:gd name="T13" fmla="*/ 34320 h 57785"/>
                <a:gd name="T14" fmla="*/ 57119 w 57150"/>
                <a:gd name="T15" fmla="*/ 22890 h 57785"/>
                <a:gd name="T16" fmla="*/ 45689 w 57150"/>
                <a:gd name="T17" fmla="*/ 0 h 57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150" h="57785">
                  <a:moveTo>
                    <a:pt x="45689" y="0"/>
                  </a:moveTo>
                  <a:lnTo>
                    <a:pt x="22859" y="0"/>
                  </a:lnTo>
                  <a:lnTo>
                    <a:pt x="0" y="11429"/>
                  </a:lnTo>
                  <a:lnTo>
                    <a:pt x="0" y="34320"/>
                  </a:lnTo>
                  <a:lnTo>
                    <a:pt x="22859" y="57210"/>
                  </a:lnTo>
                  <a:lnTo>
                    <a:pt x="34289" y="57210"/>
                  </a:lnTo>
                  <a:lnTo>
                    <a:pt x="57119" y="34320"/>
                  </a:lnTo>
                  <a:lnTo>
                    <a:pt x="57119" y="22890"/>
                  </a:lnTo>
                  <a:lnTo>
                    <a:pt x="456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6" name="object 27">
              <a:extLst>
                <a:ext uri="{FF2B5EF4-FFF2-40B4-BE49-F238E27FC236}">
                  <a16:creationId xmlns:a16="http://schemas.microsoft.com/office/drawing/2014/main" id="{3AD6C5A0-2C57-476D-8338-E255BB4A8289}"/>
                </a:ext>
              </a:extLst>
            </p:cNvPr>
            <p:cNvSpPr>
              <a:spLocks/>
            </p:cNvSpPr>
            <p:nvPr/>
          </p:nvSpPr>
          <p:spPr bwMode="auto">
            <a:xfrm>
              <a:off x="2522538" y="2738125"/>
              <a:ext cx="4076700" cy="0"/>
            </a:xfrm>
            <a:custGeom>
              <a:avLst/>
              <a:gdLst>
                <a:gd name="T0" fmla="*/ 0 w 4076700"/>
                <a:gd name="T1" fmla="*/ 4076389 w 4076700"/>
              </a:gdLst>
              <a:ahLst/>
              <a:cxnLst>
                <a:cxn ang="0">
                  <a:pos x="T0" y="0"/>
                </a:cxn>
                <a:cxn ang="0">
                  <a:pos x="T1" y="0"/>
                </a:cxn>
              </a:cxnLst>
              <a:rect l="0" t="0" r="r" b="b"/>
              <a:pathLst>
                <a:path w="4076700">
                  <a:moveTo>
                    <a:pt x="0" y="0"/>
                  </a:moveTo>
                  <a:lnTo>
                    <a:pt x="4076389" y="0"/>
                  </a:lnTo>
                </a:path>
              </a:pathLst>
            </a:custGeom>
            <a:noFill/>
            <a:ln w="114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7" name="object 28">
              <a:extLst>
                <a:ext uri="{FF2B5EF4-FFF2-40B4-BE49-F238E27FC236}">
                  <a16:creationId xmlns:a16="http://schemas.microsoft.com/office/drawing/2014/main" id="{9C224AB7-7C02-4608-82F7-3ABE87DE8062}"/>
                </a:ext>
              </a:extLst>
            </p:cNvPr>
            <p:cNvSpPr>
              <a:spLocks/>
            </p:cNvSpPr>
            <p:nvPr/>
          </p:nvSpPr>
          <p:spPr bwMode="auto">
            <a:xfrm>
              <a:off x="2921000" y="2485713"/>
              <a:ext cx="663575" cy="469900"/>
            </a:xfrm>
            <a:custGeom>
              <a:avLst/>
              <a:gdLst>
                <a:gd name="T0" fmla="*/ 0 w 662939"/>
                <a:gd name="T1" fmla="*/ 240333 h 469264"/>
                <a:gd name="T2" fmla="*/ 22836 w 662939"/>
                <a:gd name="T3" fmla="*/ 183095 h 469264"/>
                <a:gd name="T4" fmla="*/ 57104 w 662939"/>
                <a:gd name="T5" fmla="*/ 103004 h 469264"/>
                <a:gd name="T6" fmla="*/ 79950 w 662939"/>
                <a:gd name="T7" fmla="*/ 68649 h 469264"/>
                <a:gd name="T8" fmla="*/ 137039 w 662939"/>
                <a:gd name="T9" fmla="*/ 11441 h 469264"/>
                <a:gd name="T10" fmla="*/ 171325 w 662939"/>
                <a:gd name="T11" fmla="*/ 0 h 469264"/>
                <a:gd name="T12" fmla="*/ 205581 w 662939"/>
                <a:gd name="T13" fmla="*/ 11441 h 469264"/>
                <a:gd name="T14" fmla="*/ 262673 w 662939"/>
                <a:gd name="T15" fmla="*/ 57207 h 469264"/>
                <a:gd name="T16" fmla="*/ 285540 w 662939"/>
                <a:gd name="T17" fmla="*/ 91562 h 469264"/>
                <a:gd name="T18" fmla="*/ 319796 w 662939"/>
                <a:gd name="T19" fmla="*/ 171653 h 469264"/>
                <a:gd name="T20" fmla="*/ 331214 w 662939"/>
                <a:gd name="T21" fmla="*/ 205978 h 469264"/>
                <a:gd name="T22" fmla="*/ 331214 w 662939"/>
                <a:gd name="T23" fmla="*/ 240333 h 469264"/>
                <a:gd name="T24" fmla="*/ 342663 w 662939"/>
                <a:gd name="T25" fmla="*/ 297541 h 469264"/>
                <a:gd name="T26" fmla="*/ 376919 w 662939"/>
                <a:gd name="T27" fmla="*/ 377662 h 469264"/>
                <a:gd name="T28" fmla="*/ 422592 w 662939"/>
                <a:gd name="T29" fmla="*/ 446342 h 469264"/>
                <a:gd name="T30" fmla="*/ 445429 w 662939"/>
                <a:gd name="T31" fmla="*/ 469225 h 469264"/>
                <a:gd name="T32" fmla="*/ 502552 w 662939"/>
                <a:gd name="T33" fmla="*/ 469225 h 469264"/>
                <a:gd name="T34" fmla="*/ 559644 w 662939"/>
                <a:gd name="T35" fmla="*/ 412017 h 469264"/>
                <a:gd name="T36" fmla="*/ 582512 w 662939"/>
                <a:gd name="T37" fmla="*/ 377662 h 469264"/>
                <a:gd name="T38" fmla="*/ 628186 w 662939"/>
                <a:gd name="T39" fmla="*/ 297541 h 469264"/>
                <a:gd name="T40" fmla="*/ 662441 w 662939"/>
                <a:gd name="T41" fmla="*/ 251775 h 469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2939" h="469264">
                  <a:moveTo>
                    <a:pt x="0" y="240333"/>
                  </a:moveTo>
                  <a:lnTo>
                    <a:pt x="22836" y="183095"/>
                  </a:lnTo>
                  <a:lnTo>
                    <a:pt x="57104" y="103004"/>
                  </a:lnTo>
                  <a:lnTo>
                    <a:pt x="79950" y="68649"/>
                  </a:lnTo>
                  <a:lnTo>
                    <a:pt x="137039" y="11441"/>
                  </a:lnTo>
                  <a:lnTo>
                    <a:pt x="171325" y="0"/>
                  </a:lnTo>
                  <a:lnTo>
                    <a:pt x="205581" y="11441"/>
                  </a:lnTo>
                  <a:lnTo>
                    <a:pt x="262673" y="57207"/>
                  </a:lnTo>
                  <a:lnTo>
                    <a:pt x="285540" y="91562"/>
                  </a:lnTo>
                  <a:lnTo>
                    <a:pt x="319796" y="171653"/>
                  </a:lnTo>
                  <a:lnTo>
                    <a:pt x="331214" y="205978"/>
                  </a:lnTo>
                  <a:lnTo>
                    <a:pt x="331214" y="240333"/>
                  </a:lnTo>
                  <a:lnTo>
                    <a:pt x="342663" y="297541"/>
                  </a:lnTo>
                  <a:lnTo>
                    <a:pt x="376919" y="377662"/>
                  </a:lnTo>
                  <a:lnTo>
                    <a:pt x="422592" y="446342"/>
                  </a:lnTo>
                  <a:lnTo>
                    <a:pt x="445429" y="469225"/>
                  </a:lnTo>
                  <a:lnTo>
                    <a:pt x="502552" y="469225"/>
                  </a:lnTo>
                  <a:lnTo>
                    <a:pt x="559644" y="412017"/>
                  </a:lnTo>
                  <a:lnTo>
                    <a:pt x="582512" y="377662"/>
                  </a:lnTo>
                  <a:lnTo>
                    <a:pt x="628186" y="297541"/>
                  </a:lnTo>
                  <a:lnTo>
                    <a:pt x="662441" y="251775"/>
                  </a:lnTo>
                </a:path>
              </a:pathLst>
            </a:custGeom>
            <a:noFill/>
            <a:ln w="11437">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8" name="object 29">
              <a:extLst>
                <a:ext uri="{FF2B5EF4-FFF2-40B4-BE49-F238E27FC236}">
                  <a16:creationId xmlns:a16="http://schemas.microsoft.com/office/drawing/2014/main" id="{6C3D7713-8267-47C3-AF69-15D6F346EABD}"/>
                </a:ext>
              </a:extLst>
            </p:cNvPr>
            <p:cNvSpPr>
              <a:spLocks/>
            </p:cNvSpPr>
            <p:nvPr/>
          </p:nvSpPr>
          <p:spPr bwMode="auto">
            <a:xfrm>
              <a:off x="2898775" y="2727013"/>
              <a:ext cx="33338" cy="22225"/>
            </a:xfrm>
            <a:custGeom>
              <a:avLst/>
              <a:gdLst>
                <a:gd name="T0" fmla="*/ 22847 w 34289"/>
                <a:gd name="T1" fmla="*/ 0 h 23494"/>
                <a:gd name="T2" fmla="*/ 0 w 34289"/>
                <a:gd name="T3" fmla="*/ 0 h 23494"/>
                <a:gd name="T4" fmla="*/ 0 w 34289"/>
                <a:gd name="T5" fmla="*/ 11460 h 23494"/>
                <a:gd name="T6" fmla="*/ 11417 w 34289"/>
                <a:gd name="T7" fmla="*/ 22890 h 23494"/>
                <a:gd name="T8" fmla="*/ 34265 w 34289"/>
                <a:gd name="T9" fmla="*/ 22890 h 23494"/>
                <a:gd name="T10" fmla="*/ 34265 w 34289"/>
                <a:gd name="T11" fmla="*/ 11460 h 23494"/>
                <a:gd name="T12" fmla="*/ 22847 w 34289"/>
                <a:gd name="T13" fmla="*/ 0 h 23494"/>
              </a:gdLst>
              <a:ahLst/>
              <a:cxnLst>
                <a:cxn ang="0">
                  <a:pos x="T0" y="T1"/>
                </a:cxn>
                <a:cxn ang="0">
                  <a:pos x="T2" y="T3"/>
                </a:cxn>
                <a:cxn ang="0">
                  <a:pos x="T4" y="T5"/>
                </a:cxn>
                <a:cxn ang="0">
                  <a:pos x="T6" y="T7"/>
                </a:cxn>
                <a:cxn ang="0">
                  <a:pos x="T8" y="T9"/>
                </a:cxn>
                <a:cxn ang="0">
                  <a:pos x="T10" y="T11"/>
                </a:cxn>
                <a:cxn ang="0">
                  <a:pos x="T12" y="T13"/>
                </a:cxn>
              </a:cxnLst>
              <a:rect l="0" t="0" r="r" b="b"/>
              <a:pathLst>
                <a:path w="34289" h="23494">
                  <a:moveTo>
                    <a:pt x="22847" y="0"/>
                  </a:moveTo>
                  <a:lnTo>
                    <a:pt x="0" y="0"/>
                  </a:lnTo>
                  <a:lnTo>
                    <a:pt x="0" y="11460"/>
                  </a:lnTo>
                  <a:lnTo>
                    <a:pt x="11417" y="22890"/>
                  </a:lnTo>
                  <a:lnTo>
                    <a:pt x="34265" y="22890"/>
                  </a:lnTo>
                  <a:lnTo>
                    <a:pt x="34265" y="11460"/>
                  </a:lnTo>
                  <a:lnTo>
                    <a:pt x="22847"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9" name="object 30">
              <a:extLst>
                <a:ext uri="{FF2B5EF4-FFF2-40B4-BE49-F238E27FC236}">
                  <a16:creationId xmlns:a16="http://schemas.microsoft.com/office/drawing/2014/main" id="{44DCDBBC-5B90-48C4-8BCA-1B6BEA25A2D8}"/>
                </a:ext>
              </a:extLst>
            </p:cNvPr>
            <p:cNvSpPr>
              <a:spLocks/>
            </p:cNvSpPr>
            <p:nvPr/>
          </p:nvSpPr>
          <p:spPr bwMode="auto">
            <a:xfrm>
              <a:off x="3481388" y="2496825"/>
              <a:ext cx="628650" cy="515938"/>
            </a:xfrm>
            <a:custGeom>
              <a:avLst/>
              <a:gdLst>
                <a:gd name="T0" fmla="*/ 628198 w 628650"/>
                <a:gd name="T1" fmla="*/ 263216 h 515620"/>
                <a:gd name="T2" fmla="*/ 571106 w 628650"/>
                <a:gd name="T3" fmla="*/ 114445 h 515620"/>
                <a:gd name="T4" fmla="*/ 559687 w 628650"/>
                <a:gd name="T5" fmla="*/ 68679 h 515620"/>
                <a:gd name="T6" fmla="*/ 525401 w 628650"/>
                <a:gd name="T7" fmla="*/ 34324 h 515620"/>
                <a:gd name="T8" fmla="*/ 513983 w 628650"/>
                <a:gd name="T9" fmla="*/ 11441 h 515620"/>
                <a:gd name="T10" fmla="*/ 502564 w 628650"/>
                <a:gd name="T11" fmla="*/ 0 h 515620"/>
                <a:gd name="T12" fmla="*/ 445472 w 628650"/>
                <a:gd name="T13" fmla="*/ 0 h 515620"/>
                <a:gd name="T14" fmla="*/ 411186 w 628650"/>
                <a:gd name="T15" fmla="*/ 22883 h 515620"/>
                <a:gd name="T16" fmla="*/ 388349 w 628650"/>
                <a:gd name="T17" fmla="*/ 57207 h 515620"/>
                <a:gd name="T18" fmla="*/ 365512 w 628650"/>
                <a:gd name="T19" fmla="*/ 103004 h 515620"/>
                <a:gd name="T20" fmla="*/ 342645 w 628650"/>
                <a:gd name="T21" fmla="*/ 137329 h 515620"/>
                <a:gd name="T22" fmla="*/ 319808 w 628650"/>
                <a:gd name="T23" fmla="*/ 228891 h 515620"/>
                <a:gd name="T24" fmla="*/ 319808 w 628650"/>
                <a:gd name="T25" fmla="*/ 251775 h 515620"/>
                <a:gd name="T26" fmla="*/ 296971 w 628650"/>
                <a:gd name="T27" fmla="*/ 320454 h 515620"/>
                <a:gd name="T28" fmla="*/ 262716 w 628650"/>
                <a:gd name="T29" fmla="*/ 412017 h 515620"/>
                <a:gd name="T30" fmla="*/ 228430 w 628650"/>
                <a:gd name="T31" fmla="*/ 492108 h 515620"/>
                <a:gd name="T32" fmla="*/ 205593 w 628650"/>
                <a:gd name="T33" fmla="*/ 515022 h 515620"/>
                <a:gd name="T34" fmla="*/ 182756 w 628650"/>
                <a:gd name="T35" fmla="*/ 515022 h 515620"/>
                <a:gd name="T36" fmla="*/ 148500 w 628650"/>
                <a:gd name="T37" fmla="*/ 503550 h 515620"/>
                <a:gd name="T38" fmla="*/ 125664 w 628650"/>
                <a:gd name="T39" fmla="*/ 480666 h 515620"/>
                <a:gd name="T40" fmla="*/ 68541 w 628650"/>
                <a:gd name="T41" fmla="*/ 412017 h 515620"/>
                <a:gd name="T42" fmla="*/ 22867 w 628650"/>
                <a:gd name="T43" fmla="*/ 331896 h 515620"/>
                <a:gd name="T44" fmla="*/ 0 w 628650"/>
                <a:gd name="T45" fmla="*/ 263216 h 515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8650" h="515620">
                  <a:moveTo>
                    <a:pt x="628198" y="263216"/>
                  </a:moveTo>
                  <a:lnTo>
                    <a:pt x="571106" y="114445"/>
                  </a:lnTo>
                  <a:lnTo>
                    <a:pt x="559687" y="68679"/>
                  </a:lnTo>
                  <a:lnTo>
                    <a:pt x="525401" y="34324"/>
                  </a:lnTo>
                  <a:lnTo>
                    <a:pt x="513983" y="11441"/>
                  </a:lnTo>
                  <a:lnTo>
                    <a:pt x="502564" y="0"/>
                  </a:lnTo>
                  <a:lnTo>
                    <a:pt x="445472" y="0"/>
                  </a:lnTo>
                  <a:lnTo>
                    <a:pt x="411186" y="22883"/>
                  </a:lnTo>
                  <a:lnTo>
                    <a:pt x="388349" y="57207"/>
                  </a:lnTo>
                  <a:lnTo>
                    <a:pt x="365512" y="103004"/>
                  </a:lnTo>
                  <a:lnTo>
                    <a:pt x="342645" y="137329"/>
                  </a:lnTo>
                  <a:lnTo>
                    <a:pt x="319808" y="228891"/>
                  </a:lnTo>
                  <a:lnTo>
                    <a:pt x="319808" y="251775"/>
                  </a:lnTo>
                  <a:lnTo>
                    <a:pt x="296971" y="320454"/>
                  </a:lnTo>
                  <a:lnTo>
                    <a:pt x="262716" y="412017"/>
                  </a:lnTo>
                  <a:lnTo>
                    <a:pt x="228430" y="492108"/>
                  </a:lnTo>
                  <a:lnTo>
                    <a:pt x="205593" y="515022"/>
                  </a:lnTo>
                  <a:lnTo>
                    <a:pt x="182756" y="515022"/>
                  </a:lnTo>
                  <a:lnTo>
                    <a:pt x="148500" y="503550"/>
                  </a:lnTo>
                  <a:lnTo>
                    <a:pt x="125664" y="480666"/>
                  </a:lnTo>
                  <a:lnTo>
                    <a:pt x="68541" y="412017"/>
                  </a:lnTo>
                  <a:lnTo>
                    <a:pt x="22867" y="331896"/>
                  </a:lnTo>
                  <a:lnTo>
                    <a:pt x="0" y="263216"/>
                  </a:lnTo>
                </a:path>
              </a:pathLst>
            </a:custGeom>
            <a:noFill/>
            <a:ln w="1143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31">
              <a:extLst>
                <a:ext uri="{FF2B5EF4-FFF2-40B4-BE49-F238E27FC236}">
                  <a16:creationId xmlns:a16="http://schemas.microsoft.com/office/drawing/2014/main" id="{BA234E2C-E04C-4BD7-8A04-93A7B1655520}"/>
                </a:ext>
              </a:extLst>
            </p:cNvPr>
            <p:cNvSpPr>
              <a:spLocks/>
            </p:cNvSpPr>
            <p:nvPr/>
          </p:nvSpPr>
          <p:spPr bwMode="auto">
            <a:xfrm>
              <a:off x="3457575" y="2738125"/>
              <a:ext cx="34925" cy="34925"/>
            </a:xfrm>
            <a:custGeom>
              <a:avLst/>
              <a:gdLst>
                <a:gd name="T0" fmla="*/ 22829 w 34289"/>
                <a:gd name="T1" fmla="*/ 0 h 34925"/>
                <a:gd name="T2" fmla="*/ 11399 w 34289"/>
                <a:gd name="T3" fmla="*/ 0 h 34925"/>
                <a:gd name="T4" fmla="*/ 0 w 34289"/>
                <a:gd name="T5" fmla="*/ 11429 h 34925"/>
                <a:gd name="T6" fmla="*/ 0 w 34289"/>
                <a:gd name="T7" fmla="*/ 22890 h 34925"/>
                <a:gd name="T8" fmla="*/ 11399 w 34289"/>
                <a:gd name="T9" fmla="*/ 34320 h 34925"/>
                <a:gd name="T10" fmla="*/ 22829 w 34289"/>
                <a:gd name="T11" fmla="*/ 34320 h 34925"/>
                <a:gd name="T12" fmla="*/ 34259 w 34289"/>
                <a:gd name="T13" fmla="*/ 22890 h 34925"/>
                <a:gd name="T14" fmla="*/ 34259 w 34289"/>
                <a:gd name="T15" fmla="*/ 11429 h 34925"/>
                <a:gd name="T16" fmla="*/ 22829 w 34289"/>
                <a:gd name="T17" fmla="*/ 0 h 34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289" h="34925">
                  <a:moveTo>
                    <a:pt x="22829" y="0"/>
                  </a:moveTo>
                  <a:lnTo>
                    <a:pt x="11399" y="0"/>
                  </a:lnTo>
                  <a:lnTo>
                    <a:pt x="0" y="11429"/>
                  </a:lnTo>
                  <a:lnTo>
                    <a:pt x="0" y="22890"/>
                  </a:lnTo>
                  <a:lnTo>
                    <a:pt x="11399" y="34320"/>
                  </a:lnTo>
                  <a:lnTo>
                    <a:pt x="22829" y="34320"/>
                  </a:lnTo>
                  <a:lnTo>
                    <a:pt x="34259" y="22890"/>
                  </a:lnTo>
                  <a:lnTo>
                    <a:pt x="34259" y="11429"/>
                  </a:lnTo>
                  <a:lnTo>
                    <a:pt x="228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1" name="object 55">
              <a:extLst>
                <a:ext uri="{FF2B5EF4-FFF2-40B4-BE49-F238E27FC236}">
                  <a16:creationId xmlns:a16="http://schemas.microsoft.com/office/drawing/2014/main" id="{2D7C8D1A-054F-4426-BBB2-0AF2B452F999}"/>
                </a:ext>
              </a:extLst>
            </p:cNvPr>
            <p:cNvSpPr>
              <a:spLocks/>
            </p:cNvSpPr>
            <p:nvPr/>
          </p:nvSpPr>
          <p:spPr bwMode="auto">
            <a:xfrm>
              <a:off x="3419475" y="2177738"/>
              <a:ext cx="144463" cy="1036637"/>
            </a:xfrm>
            <a:custGeom>
              <a:avLst/>
              <a:gdLst>
                <a:gd name="T0" fmla="*/ 0 w 144145"/>
                <a:gd name="T1" fmla="*/ 1036118 h 1036320"/>
                <a:gd name="T2" fmla="*/ 144017 w 144145"/>
                <a:gd name="T3" fmla="*/ 1036118 h 1036320"/>
                <a:gd name="T4" fmla="*/ 144017 w 144145"/>
                <a:gd name="T5" fmla="*/ 0 h 1036320"/>
                <a:gd name="T6" fmla="*/ 0 w 144145"/>
                <a:gd name="T7" fmla="*/ 0 h 1036320"/>
                <a:gd name="T8" fmla="*/ 0 w 144145"/>
                <a:gd name="T9" fmla="*/ 1036118 h 1036320"/>
              </a:gdLst>
              <a:ahLst/>
              <a:cxnLst>
                <a:cxn ang="0">
                  <a:pos x="T0" y="T1"/>
                </a:cxn>
                <a:cxn ang="0">
                  <a:pos x="T2" y="T3"/>
                </a:cxn>
                <a:cxn ang="0">
                  <a:pos x="T4" y="T5"/>
                </a:cxn>
                <a:cxn ang="0">
                  <a:pos x="T6" y="T7"/>
                </a:cxn>
                <a:cxn ang="0">
                  <a:pos x="T8" y="T9"/>
                </a:cxn>
              </a:cxnLst>
              <a:rect l="0" t="0" r="r" b="b"/>
              <a:pathLst>
                <a:path w="144145" h="1036320">
                  <a:moveTo>
                    <a:pt x="0" y="1036118"/>
                  </a:moveTo>
                  <a:lnTo>
                    <a:pt x="144017" y="1036118"/>
                  </a:lnTo>
                  <a:lnTo>
                    <a:pt x="144017" y="0"/>
                  </a:lnTo>
                  <a:lnTo>
                    <a:pt x="0" y="0"/>
                  </a:lnTo>
                  <a:lnTo>
                    <a:pt x="0" y="1036118"/>
                  </a:lnTo>
                  <a:close/>
                </a:path>
              </a:pathLst>
            </a:custGeom>
            <a:noFill/>
            <a:ln w="19049">
              <a:solidFill>
                <a:srgbClr val="6095C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56">
              <a:extLst>
                <a:ext uri="{FF2B5EF4-FFF2-40B4-BE49-F238E27FC236}">
                  <a16:creationId xmlns:a16="http://schemas.microsoft.com/office/drawing/2014/main" id="{38904ADD-A091-471C-9950-6B98F7DBEE28}"/>
                </a:ext>
              </a:extLst>
            </p:cNvPr>
            <p:cNvSpPr>
              <a:spLocks/>
            </p:cNvSpPr>
            <p:nvPr/>
          </p:nvSpPr>
          <p:spPr bwMode="auto">
            <a:xfrm>
              <a:off x="4006850" y="2177738"/>
              <a:ext cx="142875" cy="1036637"/>
            </a:xfrm>
            <a:custGeom>
              <a:avLst/>
              <a:gdLst>
                <a:gd name="T0" fmla="*/ 0 w 144145"/>
                <a:gd name="T1" fmla="*/ 1036118 h 1036320"/>
                <a:gd name="T2" fmla="*/ 144017 w 144145"/>
                <a:gd name="T3" fmla="*/ 1036118 h 1036320"/>
                <a:gd name="T4" fmla="*/ 144017 w 144145"/>
                <a:gd name="T5" fmla="*/ 0 h 1036320"/>
                <a:gd name="T6" fmla="*/ 0 w 144145"/>
                <a:gd name="T7" fmla="*/ 0 h 1036320"/>
                <a:gd name="T8" fmla="*/ 0 w 144145"/>
                <a:gd name="T9" fmla="*/ 1036118 h 1036320"/>
              </a:gdLst>
              <a:ahLst/>
              <a:cxnLst>
                <a:cxn ang="0">
                  <a:pos x="T0" y="T1"/>
                </a:cxn>
                <a:cxn ang="0">
                  <a:pos x="T2" y="T3"/>
                </a:cxn>
                <a:cxn ang="0">
                  <a:pos x="T4" y="T5"/>
                </a:cxn>
                <a:cxn ang="0">
                  <a:pos x="T6" y="T7"/>
                </a:cxn>
                <a:cxn ang="0">
                  <a:pos x="T8" y="T9"/>
                </a:cxn>
              </a:cxnLst>
              <a:rect l="0" t="0" r="r" b="b"/>
              <a:pathLst>
                <a:path w="144145" h="1036320">
                  <a:moveTo>
                    <a:pt x="0" y="1036118"/>
                  </a:moveTo>
                  <a:lnTo>
                    <a:pt x="144017" y="1036118"/>
                  </a:lnTo>
                  <a:lnTo>
                    <a:pt x="144017" y="0"/>
                  </a:lnTo>
                  <a:lnTo>
                    <a:pt x="0" y="0"/>
                  </a:lnTo>
                  <a:lnTo>
                    <a:pt x="0" y="1036118"/>
                  </a:lnTo>
                  <a:close/>
                </a:path>
              </a:pathLst>
            </a:custGeom>
            <a:noFill/>
            <a:ln w="19049">
              <a:solidFill>
                <a:srgbClr val="6095C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34" name="object 4">
            <a:extLst>
              <a:ext uri="{FF2B5EF4-FFF2-40B4-BE49-F238E27FC236}">
                <a16:creationId xmlns:a16="http://schemas.microsoft.com/office/drawing/2014/main" id="{C84E3FA7-E854-4E60-ABC8-BF202ADF3FE2}"/>
              </a:ext>
            </a:extLst>
          </p:cNvPr>
          <p:cNvSpPr txBox="1"/>
          <p:nvPr/>
        </p:nvSpPr>
        <p:spPr>
          <a:xfrm>
            <a:off x="834164" y="3968129"/>
            <a:ext cx="7765087" cy="295274"/>
          </a:xfrm>
          <a:prstGeom prst="rect">
            <a:avLst/>
          </a:prstGeom>
        </p:spPr>
        <p:txBody>
          <a:bodyPr wrap="square" lIns="0" tIns="0" rIns="0" bIns="0">
            <a:spAutoFit/>
          </a:bodyPr>
          <a:lstStyle>
            <a:lvl1pPr marL="355600" indent="-342900">
              <a:tabLst>
                <a:tab pos="355600" algn="l"/>
              </a:tabLst>
              <a:defRPr>
                <a:solidFill>
                  <a:schemeClr val="tx1"/>
                </a:solidFill>
                <a:latin typeface="Calibri" panose="020F0502020204030204" pitchFamily="34" charset="0"/>
              </a:defRPr>
            </a:lvl1pPr>
            <a:lvl2pPr marL="742950" indent="-285750">
              <a:tabLst>
                <a:tab pos="355600" algn="l"/>
              </a:tabLst>
              <a:defRPr>
                <a:solidFill>
                  <a:schemeClr val="tx1"/>
                </a:solidFill>
                <a:latin typeface="Calibri" panose="020F0502020204030204" pitchFamily="34" charset="0"/>
              </a:defRPr>
            </a:lvl2pPr>
            <a:lvl3pPr marL="1143000" indent="-228600">
              <a:tabLst>
                <a:tab pos="355600" algn="l"/>
              </a:tabLst>
              <a:defRPr>
                <a:solidFill>
                  <a:schemeClr val="tx1"/>
                </a:solidFill>
                <a:latin typeface="Calibri" panose="020F0502020204030204" pitchFamily="34" charset="0"/>
              </a:defRPr>
            </a:lvl3pPr>
            <a:lvl4pPr marL="1600200" indent="-228600">
              <a:tabLst>
                <a:tab pos="355600" algn="l"/>
              </a:tabLst>
              <a:defRPr>
                <a:solidFill>
                  <a:schemeClr val="tx1"/>
                </a:solidFill>
                <a:latin typeface="Calibri" panose="020F0502020204030204" pitchFamily="34" charset="0"/>
              </a:defRPr>
            </a:lvl4pPr>
            <a:lvl5pPr marL="2057400" indent="-228600">
              <a:tabLst>
                <a:tab pos="355600" algn="l"/>
              </a:tabLst>
              <a:defRPr>
                <a:solidFill>
                  <a:schemeClr val="tx1"/>
                </a:solidFill>
                <a:latin typeface="Calibri" panose="020F0502020204030204" pitchFamily="34" charset="0"/>
              </a:defRPr>
            </a:lvl5pPr>
            <a:lvl6pPr marL="2514600" indent="-228600" fontAlgn="base">
              <a:spcBef>
                <a:spcPct val="0"/>
              </a:spcBef>
              <a:spcAft>
                <a:spcPct val="0"/>
              </a:spcAft>
              <a:tabLst>
                <a:tab pos="355600" algn="l"/>
              </a:tabLst>
              <a:defRPr>
                <a:solidFill>
                  <a:schemeClr val="tx1"/>
                </a:solidFill>
                <a:latin typeface="Calibri" panose="020F0502020204030204" pitchFamily="34" charset="0"/>
              </a:defRPr>
            </a:lvl6pPr>
            <a:lvl7pPr marL="2971800" indent="-228600" fontAlgn="base">
              <a:spcBef>
                <a:spcPct val="0"/>
              </a:spcBef>
              <a:spcAft>
                <a:spcPct val="0"/>
              </a:spcAft>
              <a:tabLst>
                <a:tab pos="355600" algn="l"/>
              </a:tabLst>
              <a:defRPr>
                <a:solidFill>
                  <a:schemeClr val="tx1"/>
                </a:solidFill>
                <a:latin typeface="Calibri" panose="020F0502020204030204" pitchFamily="34" charset="0"/>
              </a:defRPr>
            </a:lvl7pPr>
            <a:lvl8pPr marL="3429000" indent="-228600" fontAlgn="base">
              <a:spcBef>
                <a:spcPct val="0"/>
              </a:spcBef>
              <a:spcAft>
                <a:spcPct val="0"/>
              </a:spcAft>
              <a:tabLst>
                <a:tab pos="355600" algn="l"/>
              </a:tabLst>
              <a:defRPr>
                <a:solidFill>
                  <a:schemeClr val="tx1"/>
                </a:solidFill>
                <a:latin typeface="Calibri" panose="020F0502020204030204" pitchFamily="34" charset="0"/>
              </a:defRPr>
            </a:lvl8pPr>
            <a:lvl9pPr marL="3886200" indent="-228600" fontAlgn="base">
              <a:spcBef>
                <a:spcPct val="0"/>
              </a:spcBef>
              <a:spcAft>
                <a:spcPct val="0"/>
              </a:spcAft>
              <a:tabLst>
                <a:tab pos="355600" algn="l"/>
              </a:tabLst>
              <a:defRPr>
                <a:solidFill>
                  <a:schemeClr val="tx1"/>
                </a:solidFill>
                <a:latin typeface="Calibri" panose="020F0502020204030204" pitchFamily="34" charset="0"/>
              </a:defRPr>
            </a:lvl9pPr>
          </a:lstStyle>
          <a:p>
            <a:pPr>
              <a:lnSpc>
                <a:spcPct val="102000"/>
              </a:lnSpc>
              <a:buFont typeface="Arial" panose="020B0604020202020204" pitchFamily="34" charset="0"/>
              <a:buChar char="•"/>
            </a:pP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One</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simple</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solution</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to</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avoid</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this</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is</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to</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introduce</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a</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guard-band</a:t>
            </a:r>
          </a:p>
        </p:txBody>
      </p:sp>
      <p:grpSp>
        <p:nvGrpSpPr>
          <p:cNvPr id="62" name="Group 61">
            <a:extLst>
              <a:ext uri="{FF2B5EF4-FFF2-40B4-BE49-F238E27FC236}">
                <a16:creationId xmlns:a16="http://schemas.microsoft.com/office/drawing/2014/main" id="{43C876EA-D43E-4FFF-9064-E6FE70AF632E}"/>
              </a:ext>
            </a:extLst>
          </p:cNvPr>
          <p:cNvGrpSpPr/>
          <p:nvPr/>
        </p:nvGrpSpPr>
        <p:grpSpPr>
          <a:xfrm>
            <a:off x="2351737" y="4626056"/>
            <a:ext cx="5410185" cy="2128748"/>
            <a:chOff x="2546283" y="4844294"/>
            <a:chExt cx="4360862" cy="1574602"/>
          </a:xfrm>
        </p:grpSpPr>
        <p:sp>
          <p:nvSpPr>
            <p:cNvPr id="35" name="object 32">
              <a:extLst>
                <a:ext uri="{FF2B5EF4-FFF2-40B4-BE49-F238E27FC236}">
                  <a16:creationId xmlns:a16="http://schemas.microsoft.com/office/drawing/2014/main" id="{8C538267-AAC9-443D-8B4E-0E0CC0DD4F6D}"/>
                </a:ext>
              </a:extLst>
            </p:cNvPr>
            <p:cNvSpPr>
              <a:spLocks/>
            </p:cNvSpPr>
            <p:nvPr/>
          </p:nvSpPr>
          <p:spPr bwMode="auto">
            <a:xfrm>
              <a:off x="6678545" y="4868107"/>
              <a:ext cx="228600" cy="1084262"/>
            </a:xfrm>
            <a:custGeom>
              <a:avLst/>
              <a:gdLst>
                <a:gd name="T0" fmla="*/ 0 w 229234"/>
                <a:gd name="T1" fmla="*/ 1084146 h 1084579"/>
                <a:gd name="T2" fmla="*/ 228969 w 229234"/>
                <a:gd name="T3" fmla="*/ 1084146 h 1084579"/>
                <a:gd name="T4" fmla="*/ 228969 w 229234"/>
                <a:gd name="T5" fmla="*/ 0 h 1084579"/>
                <a:gd name="T6" fmla="*/ 0 w 229234"/>
                <a:gd name="T7" fmla="*/ 0 h 1084579"/>
                <a:gd name="T8" fmla="*/ 0 w 229234"/>
                <a:gd name="T9" fmla="*/ 1084146 h 1084579"/>
              </a:gdLst>
              <a:ahLst/>
              <a:cxnLst>
                <a:cxn ang="0">
                  <a:pos x="T0" y="T1"/>
                </a:cxn>
                <a:cxn ang="0">
                  <a:pos x="T2" y="T3"/>
                </a:cxn>
                <a:cxn ang="0">
                  <a:pos x="T4" y="T5"/>
                </a:cxn>
                <a:cxn ang="0">
                  <a:pos x="T6" y="T7"/>
                </a:cxn>
                <a:cxn ang="0">
                  <a:pos x="T8" y="T9"/>
                </a:cxn>
              </a:cxnLst>
              <a:rect l="0" t="0" r="r" b="b"/>
              <a:pathLst>
                <a:path w="229234" h="1084579">
                  <a:moveTo>
                    <a:pt x="0" y="1084146"/>
                  </a:moveTo>
                  <a:lnTo>
                    <a:pt x="228969" y="1084146"/>
                  </a:lnTo>
                  <a:lnTo>
                    <a:pt x="228969" y="0"/>
                  </a:lnTo>
                  <a:lnTo>
                    <a:pt x="0" y="0"/>
                  </a:lnTo>
                  <a:lnTo>
                    <a:pt x="0" y="1084146"/>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36" name="object 33">
              <a:extLst>
                <a:ext uri="{FF2B5EF4-FFF2-40B4-BE49-F238E27FC236}">
                  <a16:creationId xmlns:a16="http://schemas.microsoft.com/office/drawing/2014/main" id="{F9C76D16-FE5F-4A06-AC5A-0724A7EAA257}"/>
                </a:ext>
              </a:extLst>
            </p:cNvPr>
            <p:cNvSpPr>
              <a:spLocks/>
            </p:cNvSpPr>
            <p:nvPr/>
          </p:nvSpPr>
          <p:spPr bwMode="auto">
            <a:xfrm>
              <a:off x="3370195" y="4844294"/>
              <a:ext cx="217488" cy="1085850"/>
            </a:xfrm>
            <a:custGeom>
              <a:avLst/>
              <a:gdLst>
                <a:gd name="T0" fmla="*/ 0 w 217804"/>
                <a:gd name="T1" fmla="*/ 1084146 h 1084579"/>
                <a:gd name="T2" fmla="*/ 217503 w 217804"/>
                <a:gd name="T3" fmla="*/ 1084146 h 1084579"/>
                <a:gd name="T4" fmla="*/ 217503 w 217804"/>
                <a:gd name="T5" fmla="*/ 0 h 1084579"/>
                <a:gd name="T6" fmla="*/ 0 w 217804"/>
                <a:gd name="T7" fmla="*/ 0 h 1084579"/>
                <a:gd name="T8" fmla="*/ 0 w 217804"/>
                <a:gd name="T9" fmla="*/ 1084146 h 1084579"/>
              </a:gdLst>
              <a:ahLst/>
              <a:cxnLst>
                <a:cxn ang="0">
                  <a:pos x="T0" y="T1"/>
                </a:cxn>
                <a:cxn ang="0">
                  <a:pos x="T2" y="T3"/>
                </a:cxn>
                <a:cxn ang="0">
                  <a:pos x="T4" y="T5"/>
                </a:cxn>
                <a:cxn ang="0">
                  <a:pos x="T6" y="T7"/>
                </a:cxn>
                <a:cxn ang="0">
                  <a:pos x="T8" y="T9"/>
                </a:cxn>
              </a:cxnLst>
              <a:rect l="0" t="0" r="r" b="b"/>
              <a:pathLst>
                <a:path w="217804" h="1084579">
                  <a:moveTo>
                    <a:pt x="0" y="1084146"/>
                  </a:moveTo>
                  <a:lnTo>
                    <a:pt x="217503" y="1084146"/>
                  </a:lnTo>
                  <a:lnTo>
                    <a:pt x="217503" y="0"/>
                  </a:lnTo>
                  <a:lnTo>
                    <a:pt x="0" y="0"/>
                  </a:lnTo>
                  <a:lnTo>
                    <a:pt x="0" y="1084146"/>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37" name="object 34">
              <a:extLst>
                <a:ext uri="{FF2B5EF4-FFF2-40B4-BE49-F238E27FC236}">
                  <a16:creationId xmlns:a16="http://schemas.microsoft.com/office/drawing/2014/main" id="{A40B0B50-F2A4-4751-AFAF-7817B9EEA32C}"/>
                </a:ext>
              </a:extLst>
            </p:cNvPr>
            <p:cNvSpPr>
              <a:spLocks/>
            </p:cNvSpPr>
            <p:nvPr/>
          </p:nvSpPr>
          <p:spPr bwMode="auto">
            <a:xfrm>
              <a:off x="4194108" y="4844294"/>
              <a:ext cx="228600" cy="1085850"/>
            </a:xfrm>
            <a:custGeom>
              <a:avLst/>
              <a:gdLst>
                <a:gd name="T0" fmla="*/ 0 w 229235"/>
                <a:gd name="T1" fmla="*/ 1084146 h 1084579"/>
                <a:gd name="T2" fmla="*/ 228957 w 229235"/>
                <a:gd name="T3" fmla="*/ 1084146 h 1084579"/>
                <a:gd name="T4" fmla="*/ 228957 w 229235"/>
                <a:gd name="T5" fmla="*/ 0 h 1084579"/>
                <a:gd name="T6" fmla="*/ 0 w 229235"/>
                <a:gd name="T7" fmla="*/ 0 h 1084579"/>
                <a:gd name="T8" fmla="*/ 0 w 229235"/>
                <a:gd name="T9" fmla="*/ 1084146 h 1084579"/>
              </a:gdLst>
              <a:ahLst/>
              <a:cxnLst>
                <a:cxn ang="0">
                  <a:pos x="T0" y="T1"/>
                </a:cxn>
                <a:cxn ang="0">
                  <a:pos x="T2" y="T3"/>
                </a:cxn>
                <a:cxn ang="0">
                  <a:pos x="T4" y="T5"/>
                </a:cxn>
                <a:cxn ang="0">
                  <a:pos x="T6" y="T7"/>
                </a:cxn>
                <a:cxn ang="0">
                  <a:pos x="T8" y="T9"/>
                </a:cxn>
              </a:cxnLst>
              <a:rect l="0" t="0" r="r" b="b"/>
              <a:pathLst>
                <a:path w="229235" h="1084579">
                  <a:moveTo>
                    <a:pt x="0" y="1084146"/>
                  </a:moveTo>
                  <a:lnTo>
                    <a:pt x="228957" y="1084146"/>
                  </a:lnTo>
                  <a:lnTo>
                    <a:pt x="228957" y="0"/>
                  </a:lnTo>
                  <a:lnTo>
                    <a:pt x="0" y="0"/>
                  </a:lnTo>
                  <a:lnTo>
                    <a:pt x="0" y="1084146"/>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38" name="object 35">
              <a:extLst>
                <a:ext uri="{FF2B5EF4-FFF2-40B4-BE49-F238E27FC236}">
                  <a16:creationId xmlns:a16="http://schemas.microsoft.com/office/drawing/2014/main" id="{AE01ED02-7592-45AF-805D-9FF856087DC3}"/>
                </a:ext>
              </a:extLst>
            </p:cNvPr>
            <p:cNvSpPr>
              <a:spLocks/>
            </p:cNvSpPr>
            <p:nvPr/>
          </p:nvSpPr>
          <p:spPr bwMode="auto">
            <a:xfrm>
              <a:off x="5029133" y="4844294"/>
              <a:ext cx="230187" cy="1096963"/>
            </a:xfrm>
            <a:custGeom>
              <a:avLst/>
              <a:gdLst>
                <a:gd name="T0" fmla="*/ 0 w 229235"/>
                <a:gd name="T1" fmla="*/ 1095576 h 1096010"/>
                <a:gd name="T2" fmla="*/ 228969 w 229235"/>
                <a:gd name="T3" fmla="*/ 1095576 h 1096010"/>
                <a:gd name="T4" fmla="*/ 228969 w 229235"/>
                <a:gd name="T5" fmla="*/ 0 h 1096010"/>
                <a:gd name="T6" fmla="*/ 0 w 229235"/>
                <a:gd name="T7" fmla="*/ 0 h 1096010"/>
                <a:gd name="T8" fmla="*/ 0 w 229235"/>
                <a:gd name="T9" fmla="*/ 1095576 h 1096010"/>
              </a:gdLst>
              <a:ahLst/>
              <a:cxnLst>
                <a:cxn ang="0">
                  <a:pos x="T0" y="T1"/>
                </a:cxn>
                <a:cxn ang="0">
                  <a:pos x="T2" y="T3"/>
                </a:cxn>
                <a:cxn ang="0">
                  <a:pos x="T4" y="T5"/>
                </a:cxn>
                <a:cxn ang="0">
                  <a:pos x="T6" y="T7"/>
                </a:cxn>
                <a:cxn ang="0">
                  <a:pos x="T8" y="T9"/>
                </a:cxn>
              </a:cxnLst>
              <a:rect l="0" t="0" r="r" b="b"/>
              <a:pathLst>
                <a:path w="229235" h="1096010">
                  <a:moveTo>
                    <a:pt x="0" y="1095576"/>
                  </a:moveTo>
                  <a:lnTo>
                    <a:pt x="228969" y="1095576"/>
                  </a:lnTo>
                  <a:lnTo>
                    <a:pt x="228969" y="0"/>
                  </a:lnTo>
                  <a:lnTo>
                    <a:pt x="0" y="0"/>
                  </a:lnTo>
                  <a:lnTo>
                    <a:pt x="0" y="1095576"/>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39" name="object 36">
              <a:extLst>
                <a:ext uri="{FF2B5EF4-FFF2-40B4-BE49-F238E27FC236}">
                  <a16:creationId xmlns:a16="http://schemas.microsoft.com/office/drawing/2014/main" id="{C2C677FA-A295-4B65-9AD1-1CFDD796E861}"/>
                </a:ext>
              </a:extLst>
            </p:cNvPr>
            <p:cNvSpPr>
              <a:spLocks/>
            </p:cNvSpPr>
            <p:nvPr/>
          </p:nvSpPr>
          <p:spPr bwMode="auto">
            <a:xfrm>
              <a:off x="5865745" y="4844294"/>
              <a:ext cx="217488" cy="1085850"/>
            </a:xfrm>
            <a:custGeom>
              <a:avLst/>
              <a:gdLst>
                <a:gd name="T0" fmla="*/ 0 w 217804"/>
                <a:gd name="T1" fmla="*/ 1084146 h 1084579"/>
                <a:gd name="T2" fmla="*/ 217515 w 217804"/>
                <a:gd name="T3" fmla="*/ 1084146 h 1084579"/>
                <a:gd name="T4" fmla="*/ 217515 w 217804"/>
                <a:gd name="T5" fmla="*/ 0 h 1084579"/>
                <a:gd name="T6" fmla="*/ 0 w 217804"/>
                <a:gd name="T7" fmla="*/ 0 h 1084579"/>
                <a:gd name="T8" fmla="*/ 0 w 217804"/>
                <a:gd name="T9" fmla="*/ 1084146 h 1084579"/>
              </a:gdLst>
              <a:ahLst/>
              <a:cxnLst>
                <a:cxn ang="0">
                  <a:pos x="T0" y="T1"/>
                </a:cxn>
                <a:cxn ang="0">
                  <a:pos x="T2" y="T3"/>
                </a:cxn>
                <a:cxn ang="0">
                  <a:pos x="T4" y="T5"/>
                </a:cxn>
                <a:cxn ang="0">
                  <a:pos x="T6" y="T7"/>
                </a:cxn>
                <a:cxn ang="0">
                  <a:pos x="T8" y="T9"/>
                </a:cxn>
              </a:cxnLst>
              <a:rect l="0" t="0" r="r" b="b"/>
              <a:pathLst>
                <a:path w="217804" h="1084579">
                  <a:moveTo>
                    <a:pt x="0" y="1084146"/>
                  </a:moveTo>
                  <a:lnTo>
                    <a:pt x="217515" y="1084146"/>
                  </a:lnTo>
                  <a:lnTo>
                    <a:pt x="217515" y="0"/>
                  </a:lnTo>
                  <a:lnTo>
                    <a:pt x="0" y="0"/>
                  </a:lnTo>
                  <a:lnTo>
                    <a:pt x="0" y="1084146"/>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40" name="object 37">
              <a:extLst>
                <a:ext uri="{FF2B5EF4-FFF2-40B4-BE49-F238E27FC236}">
                  <a16:creationId xmlns:a16="http://schemas.microsoft.com/office/drawing/2014/main" id="{4DCE7711-4729-4FFD-8181-EC9E31FD5388}"/>
                </a:ext>
              </a:extLst>
            </p:cNvPr>
            <p:cNvSpPr>
              <a:spLocks/>
            </p:cNvSpPr>
            <p:nvPr/>
          </p:nvSpPr>
          <p:spPr bwMode="auto">
            <a:xfrm>
              <a:off x="2546283" y="4844294"/>
              <a:ext cx="228600" cy="1085850"/>
            </a:xfrm>
            <a:custGeom>
              <a:avLst/>
              <a:gdLst>
                <a:gd name="T0" fmla="*/ 0 w 227964"/>
                <a:gd name="T1" fmla="*/ 1084146 h 1084579"/>
                <a:gd name="T2" fmla="*/ 227814 w 227964"/>
                <a:gd name="T3" fmla="*/ 1084146 h 1084579"/>
                <a:gd name="T4" fmla="*/ 227814 w 227964"/>
                <a:gd name="T5" fmla="*/ 0 h 1084579"/>
                <a:gd name="T6" fmla="*/ 0 w 227964"/>
                <a:gd name="T7" fmla="*/ 0 h 1084579"/>
                <a:gd name="T8" fmla="*/ 0 w 227964"/>
                <a:gd name="T9" fmla="*/ 1084146 h 1084579"/>
              </a:gdLst>
              <a:ahLst/>
              <a:cxnLst>
                <a:cxn ang="0">
                  <a:pos x="T0" y="T1"/>
                </a:cxn>
                <a:cxn ang="0">
                  <a:pos x="T2" y="T3"/>
                </a:cxn>
                <a:cxn ang="0">
                  <a:pos x="T4" y="T5"/>
                </a:cxn>
                <a:cxn ang="0">
                  <a:pos x="T6" y="T7"/>
                </a:cxn>
                <a:cxn ang="0">
                  <a:pos x="T8" y="T9"/>
                </a:cxn>
              </a:cxnLst>
              <a:rect l="0" t="0" r="r" b="b"/>
              <a:pathLst>
                <a:path w="227964" h="1084579">
                  <a:moveTo>
                    <a:pt x="0" y="1084146"/>
                  </a:moveTo>
                  <a:lnTo>
                    <a:pt x="227814" y="1084146"/>
                  </a:lnTo>
                  <a:lnTo>
                    <a:pt x="227814" y="0"/>
                  </a:lnTo>
                  <a:lnTo>
                    <a:pt x="0" y="0"/>
                  </a:lnTo>
                  <a:lnTo>
                    <a:pt x="0" y="1084146"/>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41" name="object 38">
              <a:extLst>
                <a:ext uri="{FF2B5EF4-FFF2-40B4-BE49-F238E27FC236}">
                  <a16:creationId xmlns:a16="http://schemas.microsoft.com/office/drawing/2014/main" id="{938948EB-DDA5-442D-B1A6-521C37677913}"/>
                </a:ext>
              </a:extLst>
            </p:cNvPr>
            <p:cNvSpPr>
              <a:spLocks/>
            </p:cNvSpPr>
            <p:nvPr/>
          </p:nvSpPr>
          <p:spPr bwMode="auto">
            <a:xfrm>
              <a:off x="2785995" y="4969707"/>
              <a:ext cx="584200" cy="903287"/>
            </a:xfrm>
            <a:custGeom>
              <a:avLst/>
              <a:gdLst>
                <a:gd name="T0" fmla="*/ 0 w 584200"/>
                <a:gd name="T1" fmla="*/ 456971 h 902970"/>
                <a:gd name="T2" fmla="*/ 45791 w 584200"/>
                <a:gd name="T3" fmla="*/ 194214 h 902970"/>
                <a:gd name="T4" fmla="*/ 91580 w 584200"/>
                <a:gd name="T5" fmla="*/ 57124 h 902970"/>
                <a:gd name="T6" fmla="*/ 114476 w 584200"/>
                <a:gd name="T7" fmla="*/ 22845 h 902970"/>
                <a:gd name="T8" fmla="*/ 125930 w 584200"/>
                <a:gd name="T9" fmla="*/ 0 h 902970"/>
                <a:gd name="T10" fmla="*/ 160268 w 584200"/>
                <a:gd name="T11" fmla="*/ 0 h 902970"/>
                <a:gd name="T12" fmla="*/ 171722 w 584200"/>
                <a:gd name="T13" fmla="*/ 11427 h 902970"/>
                <a:gd name="T14" fmla="*/ 194618 w 584200"/>
                <a:gd name="T15" fmla="*/ 57124 h 902970"/>
                <a:gd name="T16" fmla="*/ 228956 w 584200"/>
                <a:gd name="T17" fmla="*/ 114251 h 902970"/>
                <a:gd name="T18" fmla="*/ 240410 w 584200"/>
                <a:gd name="T19" fmla="*/ 182796 h 902970"/>
                <a:gd name="T20" fmla="*/ 274748 w 584200"/>
                <a:gd name="T21" fmla="*/ 331301 h 902970"/>
                <a:gd name="T22" fmla="*/ 286202 w 584200"/>
                <a:gd name="T23" fmla="*/ 445540 h 902970"/>
                <a:gd name="T24" fmla="*/ 297644 w 584200"/>
                <a:gd name="T25" fmla="*/ 502667 h 902970"/>
                <a:gd name="T26" fmla="*/ 297644 w 584200"/>
                <a:gd name="T27" fmla="*/ 571213 h 902970"/>
                <a:gd name="T28" fmla="*/ 331991 w 584200"/>
                <a:gd name="T29" fmla="*/ 719730 h 902970"/>
                <a:gd name="T30" fmla="*/ 354887 w 584200"/>
                <a:gd name="T31" fmla="*/ 788276 h 902970"/>
                <a:gd name="T32" fmla="*/ 366329 w 584200"/>
                <a:gd name="T33" fmla="*/ 845390 h 902970"/>
                <a:gd name="T34" fmla="*/ 389225 w 584200"/>
                <a:gd name="T35" fmla="*/ 879666 h 902970"/>
                <a:gd name="T36" fmla="*/ 412121 w 584200"/>
                <a:gd name="T37" fmla="*/ 902515 h 902970"/>
                <a:gd name="T38" fmla="*/ 435017 w 584200"/>
                <a:gd name="T39" fmla="*/ 879666 h 902970"/>
                <a:gd name="T40" fmla="*/ 457913 w 584200"/>
                <a:gd name="T41" fmla="*/ 845390 h 902970"/>
                <a:gd name="T42" fmla="*/ 515159 w 584200"/>
                <a:gd name="T43" fmla="*/ 719730 h 902970"/>
                <a:gd name="T44" fmla="*/ 549488 w 584200"/>
                <a:gd name="T45" fmla="*/ 571213 h 902970"/>
                <a:gd name="T46" fmla="*/ 583844 w 584200"/>
                <a:gd name="T47" fmla="*/ 468389 h 902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4200" h="902970">
                  <a:moveTo>
                    <a:pt x="0" y="456971"/>
                  </a:moveTo>
                  <a:lnTo>
                    <a:pt x="45791" y="194214"/>
                  </a:lnTo>
                  <a:lnTo>
                    <a:pt x="91580" y="57124"/>
                  </a:lnTo>
                  <a:lnTo>
                    <a:pt x="114476" y="22845"/>
                  </a:lnTo>
                  <a:lnTo>
                    <a:pt x="125930" y="0"/>
                  </a:lnTo>
                  <a:lnTo>
                    <a:pt x="160268" y="0"/>
                  </a:lnTo>
                  <a:lnTo>
                    <a:pt x="171722" y="11427"/>
                  </a:lnTo>
                  <a:lnTo>
                    <a:pt x="194618" y="57124"/>
                  </a:lnTo>
                  <a:lnTo>
                    <a:pt x="228956" y="114251"/>
                  </a:lnTo>
                  <a:lnTo>
                    <a:pt x="240410" y="182796"/>
                  </a:lnTo>
                  <a:lnTo>
                    <a:pt x="274748" y="331301"/>
                  </a:lnTo>
                  <a:lnTo>
                    <a:pt x="286202" y="445540"/>
                  </a:lnTo>
                  <a:lnTo>
                    <a:pt x="297644" y="502667"/>
                  </a:lnTo>
                  <a:lnTo>
                    <a:pt x="297644" y="571213"/>
                  </a:lnTo>
                  <a:lnTo>
                    <a:pt x="331991" y="719730"/>
                  </a:lnTo>
                  <a:lnTo>
                    <a:pt x="354887" y="788276"/>
                  </a:lnTo>
                  <a:lnTo>
                    <a:pt x="366329" y="845390"/>
                  </a:lnTo>
                  <a:lnTo>
                    <a:pt x="389225" y="879666"/>
                  </a:lnTo>
                  <a:lnTo>
                    <a:pt x="412121" y="902515"/>
                  </a:lnTo>
                  <a:lnTo>
                    <a:pt x="435017" y="879666"/>
                  </a:lnTo>
                  <a:lnTo>
                    <a:pt x="457913" y="845390"/>
                  </a:lnTo>
                  <a:lnTo>
                    <a:pt x="515159" y="719730"/>
                  </a:lnTo>
                  <a:lnTo>
                    <a:pt x="549488" y="571213"/>
                  </a:lnTo>
                  <a:lnTo>
                    <a:pt x="583844" y="468389"/>
                  </a:lnTo>
                </a:path>
              </a:pathLst>
            </a:custGeom>
            <a:noFill/>
            <a:ln w="11441">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42" name="object 39">
              <a:extLst>
                <a:ext uri="{FF2B5EF4-FFF2-40B4-BE49-F238E27FC236}">
                  <a16:creationId xmlns:a16="http://schemas.microsoft.com/office/drawing/2014/main" id="{96702C67-1980-4520-B879-B7BDD0ABF218}"/>
                </a:ext>
              </a:extLst>
            </p:cNvPr>
            <p:cNvSpPr>
              <a:spLocks/>
            </p:cNvSpPr>
            <p:nvPr/>
          </p:nvSpPr>
          <p:spPr bwMode="auto">
            <a:xfrm>
              <a:off x="2751070" y="5426907"/>
              <a:ext cx="58738" cy="57150"/>
            </a:xfrm>
            <a:custGeom>
              <a:avLst/>
              <a:gdLst>
                <a:gd name="T0" fmla="*/ 45802 w 57785"/>
                <a:gd name="T1" fmla="*/ 0 h 57150"/>
                <a:gd name="T2" fmla="*/ 11454 w 57785"/>
                <a:gd name="T3" fmla="*/ 0 h 57150"/>
                <a:gd name="T4" fmla="*/ 0 w 57785"/>
                <a:gd name="T5" fmla="*/ 11417 h 57150"/>
                <a:gd name="T6" fmla="*/ 0 w 57785"/>
                <a:gd name="T7" fmla="*/ 34268 h 57150"/>
                <a:gd name="T8" fmla="*/ 11454 w 57785"/>
                <a:gd name="T9" fmla="*/ 45698 h 57150"/>
                <a:gd name="T10" fmla="*/ 11454 w 57785"/>
                <a:gd name="T11" fmla="*/ 57116 h 57150"/>
                <a:gd name="T12" fmla="*/ 22896 w 57785"/>
                <a:gd name="T13" fmla="*/ 57116 h 57150"/>
                <a:gd name="T14" fmla="*/ 34350 w 57785"/>
                <a:gd name="T15" fmla="*/ 45698 h 57150"/>
                <a:gd name="T16" fmla="*/ 45802 w 57785"/>
                <a:gd name="T17" fmla="*/ 45698 h 57150"/>
                <a:gd name="T18" fmla="*/ 57244 w 57785"/>
                <a:gd name="T19" fmla="*/ 34268 h 57150"/>
                <a:gd name="T20" fmla="*/ 57244 w 57785"/>
                <a:gd name="T21" fmla="*/ 22847 h 57150"/>
                <a:gd name="T22" fmla="*/ 45802 w 57785"/>
                <a:gd name="T23" fmla="*/ 11417 h 57150"/>
                <a:gd name="T24" fmla="*/ 45802 w 57785"/>
                <a:gd name="T25" fmla="*/ 0 h 57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785" h="57150">
                  <a:moveTo>
                    <a:pt x="45802" y="0"/>
                  </a:moveTo>
                  <a:lnTo>
                    <a:pt x="11454" y="0"/>
                  </a:lnTo>
                  <a:lnTo>
                    <a:pt x="0" y="11417"/>
                  </a:lnTo>
                  <a:lnTo>
                    <a:pt x="0" y="34268"/>
                  </a:lnTo>
                  <a:lnTo>
                    <a:pt x="11454" y="45698"/>
                  </a:lnTo>
                  <a:lnTo>
                    <a:pt x="11454" y="57116"/>
                  </a:lnTo>
                  <a:lnTo>
                    <a:pt x="22896" y="57116"/>
                  </a:lnTo>
                  <a:lnTo>
                    <a:pt x="34350" y="45698"/>
                  </a:lnTo>
                  <a:lnTo>
                    <a:pt x="45802" y="45698"/>
                  </a:lnTo>
                  <a:lnTo>
                    <a:pt x="57244" y="34268"/>
                  </a:lnTo>
                  <a:lnTo>
                    <a:pt x="57244" y="22847"/>
                  </a:lnTo>
                  <a:lnTo>
                    <a:pt x="45802" y="11417"/>
                  </a:lnTo>
                  <a:lnTo>
                    <a:pt x="4580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43" name="object 40">
              <a:extLst>
                <a:ext uri="{FF2B5EF4-FFF2-40B4-BE49-F238E27FC236}">
                  <a16:creationId xmlns:a16="http://schemas.microsoft.com/office/drawing/2014/main" id="{3DE4832B-B870-438A-A910-FDBD25A94102}"/>
                </a:ext>
              </a:extLst>
            </p:cNvPr>
            <p:cNvSpPr>
              <a:spLocks/>
            </p:cNvSpPr>
            <p:nvPr/>
          </p:nvSpPr>
          <p:spPr bwMode="auto">
            <a:xfrm>
              <a:off x="3598795" y="5015744"/>
              <a:ext cx="584200" cy="890588"/>
            </a:xfrm>
            <a:custGeom>
              <a:avLst/>
              <a:gdLst>
                <a:gd name="T0" fmla="*/ 583841 w 584200"/>
                <a:gd name="T1" fmla="*/ 456974 h 891539"/>
                <a:gd name="T2" fmla="*/ 560957 w 584200"/>
                <a:gd name="T3" fmla="*/ 342735 h 891539"/>
                <a:gd name="T4" fmla="*/ 526601 w 584200"/>
                <a:gd name="T5" fmla="*/ 194214 h 891539"/>
                <a:gd name="T6" fmla="*/ 515159 w 584200"/>
                <a:gd name="T7" fmla="*/ 114254 h 891539"/>
                <a:gd name="T8" fmla="*/ 492275 w 584200"/>
                <a:gd name="T9" fmla="*/ 57127 h 891539"/>
                <a:gd name="T10" fmla="*/ 469361 w 584200"/>
                <a:gd name="T11" fmla="*/ 11430 h 891539"/>
                <a:gd name="T12" fmla="*/ 446477 w 584200"/>
                <a:gd name="T13" fmla="*/ 0 h 891539"/>
                <a:gd name="T14" fmla="*/ 423563 w 584200"/>
                <a:gd name="T15" fmla="*/ 0 h 891539"/>
                <a:gd name="T16" fmla="*/ 377795 w 584200"/>
                <a:gd name="T17" fmla="*/ 45696 h 891539"/>
                <a:gd name="T18" fmla="*/ 354881 w 584200"/>
                <a:gd name="T19" fmla="*/ 102823 h 891539"/>
                <a:gd name="T20" fmla="*/ 331997 w 584200"/>
                <a:gd name="T21" fmla="*/ 171369 h 891539"/>
                <a:gd name="T22" fmla="*/ 309083 w 584200"/>
                <a:gd name="T23" fmla="*/ 319886 h 891539"/>
                <a:gd name="T24" fmla="*/ 297641 w 584200"/>
                <a:gd name="T25" fmla="*/ 445543 h 891539"/>
                <a:gd name="T26" fmla="*/ 274757 w 584200"/>
                <a:gd name="T27" fmla="*/ 559785 h 891539"/>
                <a:gd name="T28" fmla="*/ 251843 w 584200"/>
                <a:gd name="T29" fmla="*/ 708303 h 891539"/>
                <a:gd name="T30" fmla="*/ 194603 w 584200"/>
                <a:gd name="T31" fmla="*/ 879669 h 891539"/>
                <a:gd name="T32" fmla="*/ 183161 w 584200"/>
                <a:gd name="T33" fmla="*/ 891087 h 891539"/>
                <a:gd name="T34" fmla="*/ 160277 w 584200"/>
                <a:gd name="T35" fmla="*/ 891087 h 891539"/>
                <a:gd name="T36" fmla="*/ 148836 w 584200"/>
                <a:gd name="T37" fmla="*/ 879669 h 891539"/>
                <a:gd name="T38" fmla="*/ 114479 w 584200"/>
                <a:gd name="T39" fmla="*/ 833972 h 891539"/>
                <a:gd name="T40" fmla="*/ 68681 w 584200"/>
                <a:gd name="T41" fmla="*/ 708303 h 891539"/>
                <a:gd name="T42" fmla="*/ 22883 w 584200"/>
                <a:gd name="T43" fmla="*/ 571216 h 891539"/>
                <a:gd name="T44" fmla="*/ 0 w 584200"/>
                <a:gd name="T45" fmla="*/ 468392 h 89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4200" h="891539">
                  <a:moveTo>
                    <a:pt x="583841" y="456974"/>
                  </a:moveTo>
                  <a:lnTo>
                    <a:pt x="560957" y="342735"/>
                  </a:lnTo>
                  <a:lnTo>
                    <a:pt x="526601" y="194214"/>
                  </a:lnTo>
                  <a:lnTo>
                    <a:pt x="515159" y="114254"/>
                  </a:lnTo>
                  <a:lnTo>
                    <a:pt x="492275" y="57127"/>
                  </a:lnTo>
                  <a:lnTo>
                    <a:pt x="469361" y="11430"/>
                  </a:lnTo>
                  <a:lnTo>
                    <a:pt x="446477" y="0"/>
                  </a:lnTo>
                  <a:lnTo>
                    <a:pt x="423563" y="0"/>
                  </a:lnTo>
                  <a:lnTo>
                    <a:pt x="377795" y="45696"/>
                  </a:lnTo>
                  <a:lnTo>
                    <a:pt x="354881" y="102823"/>
                  </a:lnTo>
                  <a:lnTo>
                    <a:pt x="331997" y="171369"/>
                  </a:lnTo>
                  <a:lnTo>
                    <a:pt x="309083" y="319886"/>
                  </a:lnTo>
                  <a:lnTo>
                    <a:pt x="297641" y="445543"/>
                  </a:lnTo>
                  <a:lnTo>
                    <a:pt x="274757" y="559785"/>
                  </a:lnTo>
                  <a:lnTo>
                    <a:pt x="251843" y="708303"/>
                  </a:lnTo>
                  <a:lnTo>
                    <a:pt x="194603" y="879669"/>
                  </a:lnTo>
                  <a:lnTo>
                    <a:pt x="183161" y="891087"/>
                  </a:lnTo>
                  <a:lnTo>
                    <a:pt x="160277" y="891087"/>
                  </a:lnTo>
                  <a:lnTo>
                    <a:pt x="148836" y="879669"/>
                  </a:lnTo>
                  <a:lnTo>
                    <a:pt x="114479" y="833972"/>
                  </a:lnTo>
                  <a:lnTo>
                    <a:pt x="68681" y="708303"/>
                  </a:lnTo>
                  <a:lnTo>
                    <a:pt x="22883" y="571216"/>
                  </a:lnTo>
                  <a:lnTo>
                    <a:pt x="0" y="468392"/>
                  </a:lnTo>
                </a:path>
              </a:pathLst>
            </a:custGeom>
            <a:noFill/>
            <a:ln w="1144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44" name="object 41">
              <a:extLst>
                <a:ext uri="{FF2B5EF4-FFF2-40B4-BE49-F238E27FC236}">
                  <a16:creationId xmlns:a16="http://schemas.microsoft.com/office/drawing/2014/main" id="{77796818-44EF-4A02-8216-A00CEC6C3E37}"/>
                </a:ext>
              </a:extLst>
            </p:cNvPr>
            <p:cNvSpPr>
              <a:spLocks/>
            </p:cNvSpPr>
            <p:nvPr/>
          </p:nvSpPr>
          <p:spPr bwMode="auto">
            <a:xfrm>
              <a:off x="3598795" y="5015744"/>
              <a:ext cx="584200" cy="890588"/>
            </a:xfrm>
            <a:custGeom>
              <a:avLst/>
              <a:gdLst>
                <a:gd name="T0" fmla="*/ 583841 w 584200"/>
                <a:gd name="T1" fmla="*/ 456974 h 891539"/>
                <a:gd name="T2" fmla="*/ 560957 w 584200"/>
                <a:gd name="T3" fmla="*/ 342735 h 891539"/>
                <a:gd name="T4" fmla="*/ 526601 w 584200"/>
                <a:gd name="T5" fmla="*/ 194214 h 891539"/>
                <a:gd name="T6" fmla="*/ 515159 w 584200"/>
                <a:gd name="T7" fmla="*/ 114254 h 891539"/>
                <a:gd name="T8" fmla="*/ 492275 w 584200"/>
                <a:gd name="T9" fmla="*/ 57127 h 891539"/>
                <a:gd name="T10" fmla="*/ 469361 w 584200"/>
                <a:gd name="T11" fmla="*/ 11430 h 891539"/>
                <a:gd name="T12" fmla="*/ 446477 w 584200"/>
                <a:gd name="T13" fmla="*/ 0 h 891539"/>
                <a:gd name="T14" fmla="*/ 423563 w 584200"/>
                <a:gd name="T15" fmla="*/ 0 h 891539"/>
                <a:gd name="T16" fmla="*/ 377795 w 584200"/>
                <a:gd name="T17" fmla="*/ 45696 h 891539"/>
                <a:gd name="T18" fmla="*/ 354881 w 584200"/>
                <a:gd name="T19" fmla="*/ 102823 h 891539"/>
                <a:gd name="T20" fmla="*/ 331997 w 584200"/>
                <a:gd name="T21" fmla="*/ 171369 h 891539"/>
                <a:gd name="T22" fmla="*/ 309083 w 584200"/>
                <a:gd name="T23" fmla="*/ 319886 h 891539"/>
                <a:gd name="T24" fmla="*/ 297641 w 584200"/>
                <a:gd name="T25" fmla="*/ 445543 h 891539"/>
                <a:gd name="T26" fmla="*/ 274757 w 584200"/>
                <a:gd name="T27" fmla="*/ 559785 h 891539"/>
                <a:gd name="T28" fmla="*/ 251843 w 584200"/>
                <a:gd name="T29" fmla="*/ 708303 h 891539"/>
                <a:gd name="T30" fmla="*/ 194603 w 584200"/>
                <a:gd name="T31" fmla="*/ 879669 h 891539"/>
                <a:gd name="T32" fmla="*/ 183161 w 584200"/>
                <a:gd name="T33" fmla="*/ 891087 h 891539"/>
                <a:gd name="T34" fmla="*/ 160277 w 584200"/>
                <a:gd name="T35" fmla="*/ 891087 h 891539"/>
                <a:gd name="T36" fmla="*/ 148836 w 584200"/>
                <a:gd name="T37" fmla="*/ 879669 h 891539"/>
                <a:gd name="T38" fmla="*/ 114479 w 584200"/>
                <a:gd name="T39" fmla="*/ 833972 h 891539"/>
                <a:gd name="T40" fmla="*/ 68681 w 584200"/>
                <a:gd name="T41" fmla="*/ 708303 h 891539"/>
                <a:gd name="T42" fmla="*/ 22883 w 584200"/>
                <a:gd name="T43" fmla="*/ 571216 h 891539"/>
                <a:gd name="T44" fmla="*/ 0 w 584200"/>
                <a:gd name="T45" fmla="*/ 468392 h 89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4200" h="891539">
                  <a:moveTo>
                    <a:pt x="583841" y="456974"/>
                  </a:moveTo>
                  <a:lnTo>
                    <a:pt x="560957" y="342735"/>
                  </a:lnTo>
                  <a:lnTo>
                    <a:pt x="526601" y="194214"/>
                  </a:lnTo>
                  <a:lnTo>
                    <a:pt x="515159" y="114254"/>
                  </a:lnTo>
                  <a:lnTo>
                    <a:pt x="492275" y="57127"/>
                  </a:lnTo>
                  <a:lnTo>
                    <a:pt x="469361" y="11430"/>
                  </a:lnTo>
                  <a:lnTo>
                    <a:pt x="446477" y="0"/>
                  </a:lnTo>
                  <a:lnTo>
                    <a:pt x="423563" y="0"/>
                  </a:lnTo>
                  <a:lnTo>
                    <a:pt x="377795" y="45696"/>
                  </a:lnTo>
                  <a:lnTo>
                    <a:pt x="354881" y="102823"/>
                  </a:lnTo>
                  <a:lnTo>
                    <a:pt x="331997" y="171369"/>
                  </a:lnTo>
                  <a:lnTo>
                    <a:pt x="309083" y="319886"/>
                  </a:lnTo>
                  <a:lnTo>
                    <a:pt x="297641" y="445543"/>
                  </a:lnTo>
                  <a:lnTo>
                    <a:pt x="274757" y="559785"/>
                  </a:lnTo>
                  <a:lnTo>
                    <a:pt x="251843" y="708303"/>
                  </a:lnTo>
                  <a:lnTo>
                    <a:pt x="194603" y="879669"/>
                  </a:lnTo>
                  <a:lnTo>
                    <a:pt x="183161" y="891087"/>
                  </a:lnTo>
                  <a:lnTo>
                    <a:pt x="160277" y="891087"/>
                  </a:lnTo>
                  <a:lnTo>
                    <a:pt x="148836" y="879669"/>
                  </a:lnTo>
                  <a:lnTo>
                    <a:pt x="114479" y="833972"/>
                  </a:lnTo>
                  <a:lnTo>
                    <a:pt x="68681" y="708303"/>
                  </a:lnTo>
                  <a:lnTo>
                    <a:pt x="22883" y="571216"/>
                  </a:lnTo>
                  <a:lnTo>
                    <a:pt x="0" y="468392"/>
                  </a:lnTo>
                </a:path>
              </a:pathLst>
            </a:custGeom>
            <a:noFill/>
            <a:ln w="1144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45" name="object 42">
              <a:extLst>
                <a:ext uri="{FF2B5EF4-FFF2-40B4-BE49-F238E27FC236}">
                  <a16:creationId xmlns:a16="http://schemas.microsoft.com/office/drawing/2014/main" id="{BDE9A20F-458F-4101-8F22-0E8DDE702C94}"/>
                </a:ext>
              </a:extLst>
            </p:cNvPr>
            <p:cNvSpPr>
              <a:spLocks/>
            </p:cNvSpPr>
            <p:nvPr/>
          </p:nvSpPr>
          <p:spPr bwMode="auto">
            <a:xfrm>
              <a:off x="3598795" y="5015744"/>
              <a:ext cx="584200" cy="890588"/>
            </a:xfrm>
            <a:custGeom>
              <a:avLst/>
              <a:gdLst>
                <a:gd name="T0" fmla="*/ 583841 w 584200"/>
                <a:gd name="T1" fmla="*/ 456974 h 891539"/>
                <a:gd name="T2" fmla="*/ 560957 w 584200"/>
                <a:gd name="T3" fmla="*/ 342735 h 891539"/>
                <a:gd name="T4" fmla="*/ 526601 w 584200"/>
                <a:gd name="T5" fmla="*/ 194214 h 891539"/>
                <a:gd name="T6" fmla="*/ 515159 w 584200"/>
                <a:gd name="T7" fmla="*/ 114254 h 891539"/>
                <a:gd name="T8" fmla="*/ 492275 w 584200"/>
                <a:gd name="T9" fmla="*/ 57127 h 891539"/>
                <a:gd name="T10" fmla="*/ 469361 w 584200"/>
                <a:gd name="T11" fmla="*/ 11430 h 891539"/>
                <a:gd name="T12" fmla="*/ 446477 w 584200"/>
                <a:gd name="T13" fmla="*/ 0 h 891539"/>
                <a:gd name="T14" fmla="*/ 423563 w 584200"/>
                <a:gd name="T15" fmla="*/ 0 h 891539"/>
                <a:gd name="T16" fmla="*/ 377795 w 584200"/>
                <a:gd name="T17" fmla="*/ 45696 h 891539"/>
                <a:gd name="T18" fmla="*/ 354881 w 584200"/>
                <a:gd name="T19" fmla="*/ 102823 h 891539"/>
                <a:gd name="T20" fmla="*/ 331997 w 584200"/>
                <a:gd name="T21" fmla="*/ 171369 h 891539"/>
                <a:gd name="T22" fmla="*/ 309083 w 584200"/>
                <a:gd name="T23" fmla="*/ 319886 h 891539"/>
                <a:gd name="T24" fmla="*/ 297641 w 584200"/>
                <a:gd name="T25" fmla="*/ 445543 h 891539"/>
                <a:gd name="T26" fmla="*/ 274757 w 584200"/>
                <a:gd name="T27" fmla="*/ 559785 h 891539"/>
                <a:gd name="T28" fmla="*/ 251843 w 584200"/>
                <a:gd name="T29" fmla="*/ 708303 h 891539"/>
                <a:gd name="T30" fmla="*/ 194603 w 584200"/>
                <a:gd name="T31" fmla="*/ 879669 h 891539"/>
                <a:gd name="T32" fmla="*/ 183161 w 584200"/>
                <a:gd name="T33" fmla="*/ 891087 h 891539"/>
                <a:gd name="T34" fmla="*/ 160277 w 584200"/>
                <a:gd name="T35" fmla="*/ 891087 h 891539"/>
                <a:gd name="T36" fmla="*/ 148836 w 584200"/>
                <a:gd name="T37" fmla="*/ 879669 h 891539"/>
                <a:gd name="T38" fmla="*/ 114479 w 584200"/>
                <a:gd name="T39" fmla="*/ 833972 h 891539"/>
                <a:gd name="T40" fmla="*/ 68681 w 584200"/>
                <a:gd name="T41" fmla="*/ 708303 h 891539"/>
                <a:gd name="T42" fmla="*/ 22883 w 584200"/>
                <a:gd name="T43" fmla="*/ 571216 h 891539"/>
                <a:gd name="T44" fmla="*/ 0 w 584200"/>
                <a:gd name="T45" fmla="*/ 468392 h 89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4200" h="891539">
                  <a:moveTo>
                    <a:pt x="583841" y="456974"/>
                  </a:moveTo>
                  <a:lnTo>
                    <a:pt x="560957" y="342735"/>
                  </a:lnTo>
                  <a:lnTo>
                    <a:pt x="526601" y="194214"/>
                  </a:lnTo>
                  <a:lnTo>
                    <a:pt x="515159" y="114254"/>
                  </a:lnTo>
                  <a:lnTo>
                    <a:pt x="492275" y="57127"/>
                  </a:lnTo>
                  <a:lnTo>
                    <a:pt x="469361" y="11430"/>
                  </a:lnTo>
                  <a:lnTo>
                    <a:pt x="446477" y="0"/>
                  </a:lnTo>
                  <a:lnTo>
                    <a:pt x="423563" y="0"/>
                  </a:lnTo>
                  <a:lnTo>
                    <a:pt x="377795" y="45696"/>
                  </a:lnTo>
                  <a:lnTo>
                    <a:pt x="354881" y="102823"/>
                  </a:lnTo>
                  <a:lnTo>
                    <a:pt x="331997" y="171369"/>
                  </a:lnTo>
                  <a:lnTo>
                    <a:pt x="309083" y="319886"/>
                  </a:lnTo>
                  <a:lnTo>
                    <a:pt x="297641" y="445543"/>
                  </a:lnTo>
                  <a:lnTo>
                    <a:pt x="274757" y="559785"/>
                  </a:lnTo>
                  <a:lnTo>
                    <a:pt x="251843" y="708303"/>
                  </a:lnTo>
                  <a:lnTo>
                    <a:pt x="194603" y="879669"/>
                  </a:lnTo>
                  <a:lnTo>
                    <a:pt x="183161" y="891087"/>
                  </a:lnTo>
                  <a:lnTo>
                    <a:pt x="160277" y="891087"/>
                  </a:lnTo>
                  <a:lnTo>
                    <a:pt x="148836" y="879669"/>
                  </a:lnTo>
                  <a:lnTo>
                    <a:pt x="114479" y="833972"/>
                  </a:lnTo>
                  <a:lnTo>
                    <a:pt x="68681" y="708303"/>
                  </a:lnTo>
                  <a:lnTo>
                    <a:pt x="22883" y="571216"/>
                  </a:lnTo>
                  <a:lnTo>
                    <a:pt x="0" y="468392"/>
                  </a:lnTo>
                </a:path>
              </a:pathLst>
            </a:custGeom>
            <a:noFill/>
            <a:ln w="1144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46" name="object 43">
              <a:extLst>
                <a:ext uri="{FF2B5EF4-FFF2-40B4-BE49-F238E27FC236}">
                  <a16:creationId xmlns:a16="http://schemas.microsoft.com/office/drawing/2014/main" id="{589F8551-5725-482F-B292-296C69CD248B}"/>
                </a:ext>
              </a:extLst>
            </p:cNvPr>
            <p:cNvSpPr>
              <a:spLocks/>
            </p:cNvSpPr>
            <p:nvPr/>
          </p:nvSpPr>
          <p:spPr bwMode="auto">
            <a:xfrm>
              <a:off x="3563870" y="5426907"/>
              <a:ext cx="58738" cy="57150"/>
            </a:xfrm>
            <a:custGeom>
              <a:avLst/>
              <a:gdLst>
                <a:gd name="T0" fmla="*/ 34350 w 57785"/>
                <a:gd name="T1" fmla="*/ 0 h 57150"/>
                <a:gd name="T2" fmla="*/ 22920 w 57785"/>
                <a:gd name="T3" fmla="*/ 0 h 57150"/>
                <a:gd name="T4" fmla="*/ 0 w 57785"/>
                <a:gd name="T5" fmla="*/ 22847 h 57150"/>
                <a:gd name="T6" fmla="*/ 0 w 57785"/>
                <a:gd name="T7" fmla="*/ 34268 h 57150"/>
                <a:gd name="T8" fmla="*/ 11460 w 57785"/>
                <a:gd name="T9" fmla="*/ 57116 h 57150"/>
                <a:gd name="T10" fmla="*/ 34350 w 57785"/>
                <a:gd name="T11" fmla="*/ 57116 h 57150"/>
                <a:gd name="T12" fmla="*/ 57271 w 57785"/>
                <a:gd name="T13" fmla="*/ 45698 h 57150"/>
                <a:gd name="T14" fmla="*/ 57271 w 57785"/>
                <a:gd name="T15" fmla="*/ 22847 h 57150"/>
                <a:gd name="T16" fmla="*/ 34350 w 57785"/>
                <a:gd name="T17" fmla="*/ 0 h 57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785" h="57150">
                  <a:moveTo>
                    <a:pt x="34350" y="0"/>
                  </a:moveTo>
                  <a:lnTo>
                    <a:pt x="22920" y="0"/>
                  </a:lnTo>
                  <a:lnTo>
                    <a:pt x="0" y="22847"/>
                  </a:lnTo>
                  <a:lnTo>
                    <a:pt x="0" y="34268"/>
                  </a:lnTo>
                  <a:lnTo>
                    <a:pt x="11460" y="57116"/>
                  </a:lnTo>
                  <a:lnTo>
                    <a:pt x="34350" y="57116"/>
                  </a:lnTo>
                  <a:lnTo>
                    <a:pt x="57271" y="45698"/>
                  </a:lnTo>
                  <a:lnTo>
                    <a:pt x="57271" y="22847"/>
                  </a:lnTo>
                  <a:lnTo>
                    <a:pt x="343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47" name="object 44">
              <a:extLst>
                <a:ext uri="{FF2B5EF4-FFF2-40B4-BE49-F238E27FC236}">
                  <a16:creationId xmlns:a16="http://schemas.microsoft.com/office/drawing/2014/main" id="{DB940100-E41F-4014-8B7F-B75BE0CAC770}"/>
                </a:ext>
              </a:extLst>
            </p:cNvPr>
            <p:cNvSpPr>
              <a:spLocks/>
            </p:cNvSpPr>
            <p:nvPr/>
          </p:nvSpPr>
          <p:spPr bwMode="auto">
            <a:xfrm>
              <a:off x="4433820" y="4969707"/>
              <a:ext cx="584200" cy="903287"/>
            </a:xfrm>
            <a:custGeom>
              <a:avLst/>
              <a:gdLst>
                <a:gd name="T0" fmla="*/ 0 w 584200"/>
                <a:gd name="T1" fmla="*/ 456971 h 902970"/>
                <a:gd name="T2" fmla="*/ 57270 w 584200"/>
                <a:gd name="T3" fmla="*/ 194214 h 902970"/>
                <a:gd name="T4" fmla="*/ 68712 w 584200"/>
                <a:gd name="T5" fmla="*/ 125669 h 902970"/>
                <a:gd name="T6" fmla="*/ 91596 w 584200"/>
                <a:gd name="T7" fmla="*/ 57124 h 902970"/>
                <a:gd name="T8" fmla="*/ 125952 w 584200"/>
                <a:gd name="T9" fmla="*/ 22845 h 902970"/>
                <a:gd name="T10" fmla="*/ 137394 w 584200"/>
                <a:gd name="T11" fmla="*/ 0 h 902970"/>
                <a:gd name="T12" fmla="*/ 160277 w 584200"/>
                <a:gd name="T13" fmla="*/ 0 h 902970"/>
                <a:gd name="T14" fmla="*/ 206076 w 584200"/>
                <a:gd name="T15" fmla="*/ 57124 h 902970"/>
                <a:gd name="T16" fmla="*/ 228959 w 584200"/>
                <a:gd name="T17" fmla="*/ 114251 h 902970"/>
                <a:gd name="T18" fmla="*/ 251874 w 584200"/>
                <a:gd name="T19" fmla="*/ 182796 h 902970"/>
                <a:gd name="T20" fmla="*/ 274757 w 584200"/>
                <a:gd name="T21" fmla="*/ 331301 h 902970"/>
                <a:gd name="T22" fmla="*/ 297672 w 584200"/>
                <a:gd name="T23" fmla="*/ 445540 h 902970"/>
                <a:gd name="T24" fmla="*/ 297672 w 584200"/>
                <a:gd name="T25" fmla="*/ 502667 h 902970"/>
                <a:gd name="T26" fmla="*/ 309114 w 584200"/>
                <a:gd name="T27" fmla="*/ 571213 h 902970"/>
                <a:gd name="T28" fmla="*/ 331997 w 584200"/>
                <a:gd name="T29" fmla="*/ 719730 h 902970"/>
                <a:gd name="T30" fmla="*/ 354912 w 584200"/>
                <a:gd name="T31" fmla="*/ 788276 h 902970"/>
                <a:gd name="T32" fmla="*/ 377795 w 584200"/>
                <a:gd name="T33" fmla="*/ 845390 h 902970"/>
                <a:gd name="T34" fmla="*/ 400710 w 584200"/>
                <a:gd name="T35" fmla="*/ 879666 h 902970"/>
                <a:gd name="T36" fmla="*/ 423593 w 584200"/>
                <a:gd name="T37" fmla="*/ 902515 h 902970"/>
                <a:gd name="T38" fmla="*/ 446477 w 584200"/>
                <a:gd name="T39" fmla="*/ 879666 h 902970"/>
                <a:gd name="T40" fmla="*/ 469391 w 584200"/>
                <a:gd name="T41" fmla="*/ 845390 h 902970"/>
                <a:gd name="T42" fmla="*/ 515159 w 584200"/>
                <a:gd name="T43" fmla="*/ 719730 h 902970"/>
                <a:gd name="T44" fmla="*/ 560957 w 584200"/>
                <a:gd name="T45" fmla="*/ 571213 h 902970"/>
                <a:gd name="T46" fmla="*/ 583871 w 584200"/>
                <a:gd name="T47" fmla="*/ 468389 h 902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4200" h="902970">
                  <a:moveTo>
                    <a:pt x="0" y="456971"/>
                  </a:moveTo>
                  <a:lnTo>
                    <a:pt x="57270" y="194214"/>
                  </a:lnTo>
                  <a:lnTo>
                    <a:pt x="68712" y="125669"/>
                  </a:lnTo>
                  <a:lnTo>
                    <a:pt x="91596" y="57124"/>
                  </a:lnTo>
                  <a:lnTo>
                    <a:pt x="125952" y="22845"/>
                  </a:lnTo>
                  <a:lnTo>
                    <a:pt x="137394" y="0"/>
                  </a:lnTo>
                  <a:lnTo>
                    <a:pt x="160277" y="0"/>
                  </a:lnTo>
                  <a:lnTo>
                    <a:pt x="206076" y="57124"/>
                  </a:lnTo>
                  <a:lnTo>
                    <a:pt x="228959" y="114251"/>
                  </a:lnTo>
                  <a:lnTo>
                    <a:pt x="251874" y="182796"/>
                  </a:lnTo>
                  <a:lnTo>
                    <a:pt x="274757" y="331301"/>
                  </a:lnTo>
                  <a:lnTo>
                    <a:pt x="297672" y="445540"/>
                  </a:lnTo>
                  <a:lnTo>
                    <a:pt x="297672" y="502667"/>
                  </a:lnTo>
                  <a:lnTo>
                    <a:pt x="309114" y="571213"/>
                  </a:lnTo>
                  <a:lnTo>
                    <a:pt x="331997" y="719730"/>
                  </a:lnTo>
                  <a:lnTo>
                    <a:pt x="354912" y="788276"/>
                  </a:lnTo>
                  <a:lnTo>
                    <a:pt x="377795" y="845390"/>
                  </a:lnTo>
                  <a:lnTo>
                    <a:pt x="400710" y="879666"/>
                  </a:lnTo>
                  <a:lnTo>
                    <a:pt x="423593" y="902515"/>
                  </a:lnTo>
                  <a:lnTo>
                    <a:pt x="446477" y="879666"/>
                  </a:lnTo>
                  <a:lnTo>
                    <a:pt x="469391" y="845390"/>
                  </a:lnTo>
                  <a:lnTo>
                    <a:pt x="515159" y="719730"/>
                  </a:lnTo>
                  <a:lnTo>
                    <a:pt x="560957" y="571213"/>
                  </a:lnTo>
                  <a:lnTo>
                    <a:pt x="583871" y="468389"/>
                  </a:lnTo>
                </a:path>
              </a:pathLst>
            </a:custGeom>
            <a:noFill/>
            <a:ln w="11441">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48" name="object 45">
              <a:extLst>
                <a:ext uri="{FF2B5EF4-FFF2-40B4-BE49-F238E27FC236}">
                  <a16:creationId xmlns:a16="http://schemas.microsoft.com/office/drawing/2014/main" id="{6D79AABC-E4FD-4A40-8272-B42053BDB8E0}"/>
                </a:ext>
              </a:extLst>
            </p:cNvPr>
            <p:cNvSpPr>
              <a:spLocks/>
            </p:cNvSpPr>
            <p:nvPr/>
          </p:nvSpPr>
          <p:spPr bwMode="auto">
            <a:xfrm>
              <a:off x="4400483" y="5426907"/>
              <a:ext cx="57150" cy="57150"/>
            </a:xfrm>
            <a:custGeom>
              <a:avLst/>
              <a:gdLst>
                <a:gd name="T0" fmla="*/ 45780 w 57785"/>
                <a:gd name="T1" fmla="*/ 0 h 57150"/>
                <a:gd name="T2" fmla="*/ 11429 w 57785"/>
                <a:gd name="T3" fmla="*/ 0 h 57150"/>
                <a:gd name="T4" fmla="*/ 11429 w 57785"/>
                <a:gd name="T5" fmla="*/ 11417 h 57150"/>
                <a:gd name="T6" fmla="*/ 0 w 57785"/>
                <a:gd name="T7" fmla="*/ 11417 h 57150"/>
                <a:gd name="T8" fmla="*/ 0 w 57785"/>
                <a:gd name="T9" fmla="*/ 34268 h 57150"/>
                <a:gd name="T10" fmla="*/ 22890 w 57785"/>
                <a:gd name="T11" fmla="*/ 57116 h 57150"/>
                <a:gd name="T12" fmla="*/ 34320 w 57785"/>
                <a:gd name="T13" fmla="*/ 57116 h 57150"/>
                <a:gd name="T14" fmla="*/ 45780 w 57785"/>
                <a:gd name="T15" fmla="*/ 45698 h 57150"/>
                <a:gd name="T16" fmla="*/ 57241 w 57785"/>
                <a:gd name="T17" fmla="*/ 45698 h 57150"/>
                <a:gd name="T18" fmla="*/ 57241 w 57785"/>
                <a:gd name="T19" fmla="*/ 11417 h 57150"/>
                <a:gd name="T20" fmla="*/ 45780 w 57785"/>
                <a:gd name="T21" fmla="*/ 0 h 57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785" h="57150">
                  <a:moveTo>
                    <a:pt x="45780" y="0"/>
                  </a:moveTo>
                  <a:lnTo>
                    <a:pt x="11429" y="0"/>
                  </a:lnTo>
                  <a:lnTo>
                    <a:pt x="11429" y="11417"/>
                  </a:lnTo>
                  <a:lnTo>
                    <a:pt x="0" y="11417"/>
                  </a:lnTo>
                  <a:lnTo>
                    <a:pt x="0" y="34268"/>
                  </a:lnTo>
                  <a:lnTo>
                    <a:pt x="22890" y="57116"/>
                  </a:lnTo>
                  <a:lnTo>
                    <a:pt x="34320" y="57116"/>
                  </a:lnTo>
                  <a:lnTo>
                    <a:pt x="45780" y="45698"/>
                  </a:lnTo>
                  <a:lnTo>
                    <a:pt x="57241" y="45698"/>
                  </a:lnTo>
                  <a:lnTo>
                    <a:pt x="57241" y="11417"/>
                  </a:lnTo>
                  <a:lnTo>
                    <a:pt x="4578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49" name="object 46">
              <a:extLst>
                <a:ext uri="{FF2B5EF4-FFF2-40B4-BE49-F238E27FC236}">
                  <a16:creationId xmlns:a16="http://schemas.microsoft.com/office/drawing/2014/main" id="{840AB184-89CF-48F5-B5EF-0A542C396D2D}"/>
                </a:ext>
              </a:extLst>
            </p:cNvPr>
            <p:cNvSpPr>
              <a:spLocks/>
            </p:cNvSpPr>
            <p:nvPr/>
          </p:nvSpPr>
          <p:spPr bwMode="auto">
            <a:xfrm>
              <a:off x="5270433" y="4969707"/>
              <a:ext cx="584200" cy="903287"/>
            </a:xfrm>
            <a:custGeom>
              <a:avLst/>
              <a:gdLst>
                <a:gd name="T0" fmla="*/ 0 w 584200"/>
                <a:gd name="T1" fmla="*/ 456971 h 902970"/>
                <a:gd name="T2" fmla="*/ 57239 w 584200"/>
                <a:gd name="T3" fmla="*/ 194214 h 902970"/>
                <a:gd name="T4" fmla="*/ 68681 w 584200"/>
                <a:gd name="T5" fmla="*/ 125669 h 902970"/>
                <a:gd name="T6" fmla="*/ 91596 w 584200"/>
                <a:gd name="T7" fmla="*/ 57124 h 902970"/>
                <a:gd name="T8" fmla="*/ 125921 w 584200"/>
                <a:gd name="T9" fmla="*/ 22845 h 902970"/>
                <a:gd name="T10" fmla="*/ 137363 w 584200"/>
                <a:gd name="T11" fmla="*/ 0 h 902970"/>
                <a:gd name="T12" fmla="*/ 160277 w 584200"/>
                <a:gd name="T13" fmla="*/ 0 h 902970"/>
                <a:gd name="T14" fmla="*/ 206045 w 584200"/>
                <a:gd name="T15" fmla="*/ 57124 h 902970"/>
                <a:gd name="T16" fmla="*/ 228959 w 584200"/>
                <a:gd name="T17" fmla="*/ 114251 h 902970"/>
                <a:gd name="T18" fmla="*/ 251843 w 584200"/>
                <a:gd name="T19" fmla="*/ 182796 h 902970"/>
                <a:gd name="T20" fmla="*/ 274757 w 584200"/>
                <a:gd name="T21" fmla="*/ 331301 h 902970"/>
                <a:gd name="T22" fmla="*/ 297641 w 584200"/>
                <a:gd name="T23" fmla="*/ 445540 h 902970"/>
                <a:gd name="T24" fmla="*/ 297641 w 584200"/>
                <a:gd name="T25" fmla="*/ 502667 h 902970"/>
                <a:gd name="T26" fmla="*/ 309083 w 584200"/>
                <a:gd name="T27" fmla="*/ 571213 h 902970"/>
                <a:gd name="T28" fmla="*/ 331997 w 584200"/>
                <a:gd name="T29" fmla="*/ 719730 h 902970"/>
                <a:gd name="T30" fmla="*/ 354881 w 584200"/>
                <a:gd name="T31" fmla="*/ 788276 h 902970"/>
                <a:gd name="T32" fmla="*/ 377795 w 584200"/>
                <a:gd name="T33" fmla="*/ 845390 h 902970"/>
                <a:gd name="T34" fmla="*/ 400679 w 584200"/>
                <a:gd name="T35" fmla="*/ 879666 h 902970"/>
                <a:gd name="T36" fmla="*/ 423563 w 584200"/>
                <a:gd name="T37" fmla="*/ 902515 h 902970"/>
                <a:gd name="T38" fmla="*/ 446477 w 584200"/>
                <a:gd name="T39" fmla="*/ 879666 h 902970"/>
                <a:gd name="T40" fmla="*/ 469361 w 584200"/>
                <a:gd name="T41" fmla="*/ 845390 h 902970"/>
                <a:gd name="T42" fmla="*/ 515159 w 584200"/>
                <a:gd name="T43" fmla="*/ 719730 h 902970"/>
                <a:gd name="T44" fmla="*/ 560957 w 584200"/>
                <a:gd name="T45" fmla="*/ 571213 h 902970"/>
                <a:gd name="T46" fmla="*/ 583841 w 584200"/>
                <a:gd name="T47" fmla="*/ 468389 h 902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4200" h="902970">
                  <a:moveTo>
                    <a:pt x="0" y="456971"/>
                  </a:moveTo>
                  <a:lnTo>
                    <a:pt x="57239" y="194214"/>
                  </a:lnTo>
                  <a:lnTo>
                    <a:pt x="68681" y="125669"/>
                  </a:lnTo>
                  <a:lnTo>
                    <a:pt x="91596" y="57124"/>
                  </a:lnTo>
                  <a:lnTo>
                    <a:pt x="125921" y="22845"/>
                  </a:lnTo>
                  <a:lnTo>
                    <a:pt x="137363" y="0"/>
                  </a:lnTo>
                  <a:lnTo>
                    <a:pt x="160277" y="0"/>
                  </a:lnTo>
                  <a:lnTo>
                    <a:pt x="206045" y="57124"/>
                  </a:lnTo>
                  <a:lnTo>
                    <a:pt x="228959" y="114251"/>
                  </a:lnTo>
                  <a:lnTo>
                    <a:pt x="251843" y="182796"/>
                  </a:lnTo>
                  <a:lnTo>
                    <a:pt x="274757" y="331301"/>
                  </a:lnTo>
                  <a:lnTo>
                    <a:pt x="297641" y="445540"/>
                  </a:lnTo>
                  <a:lnTo>
                    <a:pt x="297641" y="502667"/>
                  </a:lnTo>
                  <a:lnTo>
                    <a:pt x="309083" y="571213"/>
                  </a:lnTo>
                  <a:lnTo>
                    <a:pt x="331997" y="719730"/>
                  </a:lnTo>
                  <a:lnTo>
                    <a:pt x="354881" y="788276"/>
                  </a:lnTo>
                  <a:lnTo>
                    <a:pt x="377795" y="845390"/>
                  </a:lnTo>
                  <a:lnTo>
                    <a:pt x="400679" y="879666"/>
                  </a:lnTo>
                  <a:lnTo>
                    <a:pt x="423563" y="902515"/>
                  </a:lnTo>
                  <a:lnTo>
                    <a:pt x="446477" y="879666"/>
                  </a:lnTo>
                  <a:lnTo>
                    <a:pt x="469361" y="845390"/>
                  </a:lnTo>
                  <a:lnTo>
                    <a:pt x="515159" y="719730"/>
                  </a:lnTo>
                  <a:lnTo>
                    <a:pt x="560957" y="571213"/>
                  </a:lnTo>
                  <a:lnTo>
                    <a:pt x="583841" y="468389"/>
                  </a:lnTo>
                </a:path>
              </a:pathLst>
            </a:custGeom>
            <a:noFill/>
            <a:ln w="11441">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50" name="object 47">
              <a:extLst>
                <a:ext uri="{FF2B5EF4-FFF2-40B4-BE49-F238E27FC236}">
                  <a16:creationId xmlns:a16="http://schemas.microsoft.com/office/drawing/2014/main" id="{23C1EDB9-1953-4B5B-B837-712ED3418DC1}"/>
                </a:ext>
              </a:extLst>
            </p:cNvPr>
            <p:cNvSpPr>
              <a:spLocks/>
            </p:cNvSpPr>
            <p:nvPr/>
          </p:nvSpPr>
          <p:spPr bwMode="auto">
            <a:xfrm>
              <a:off x="5235508" y="5426907"/>
              <a:ext cx="58737" cy="57150"/>
            </a:xfrm>
            <a:custGeom>
              <a:avLst/>
              <a:gdLst>
                <a:gd name="T0" fmla="*/ 45780 w 57785"/>
                <a:gd name="T1" fmla="*/ 0 h 57150"/>
                <a:gd name="T2" fmla="*/ 11429 w 57785"/>
                <a:gd name="T3" fmla="*/ 0 h 57150"/>
                <a:gd name="T4" fmla="*/ 11429 w 57785"/>
                <a:gd name="T5" fmla="*/ 11417 h 57150"/>
                <a:gd name="T6" fmla="*/ 0 w 57785"/>
                <a:gd name="T7" fmla="*/ 11417 h 57150"/>
                <a:gd name="T8" fmla="*/ 0 w 57785"/>
                <a:gd name="T9" fmla="*/ 34268 h 57150"/>
                <a:gd name="T10" fmla="*/ 22890 w 57785"/>
                <a:gd name="T11" fmla="*/ 57116 h 57150"/>
                <a:gd name="T12" fmla="*/ 34320 w 57785"/>
                <a:gd name="T13" fmla="*/ 57116 h 57150"/>
                <a:gd name="T14" fmla="*/ 45780 w 57785"/>
                <a:gd name="T15" fmla="*/ 45698 h 57150"/>
                <a:gd name="T16" fmla="*/ 57210 w 57785"/>
                <a:gd name="T17" fmla="*/ 45698 h 57150"/>
                <a:gd name="T18" fmla="*/ 57210 w 57785"/>
                <a:gd name="T19" fmla="*/ 11417 h 57150"/>
                <a:gd name="T20" fmla="*/ 45780 w 57785"/>
                <a:gd name="T21" fmla="*/ 0 h 57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785" h="57150">
                  <a:moveTo>
                    <a:pt x="45780" y="0"/>
                  </a:moveTo>
                  <a:lnTo>
                    <a:pt x="11429" y="0"/>
                  </a:lnTo>
                  <a:lnTo>
                    <a:pt x="11429" y="11417"/>
                  </a:lnTo>
                  <a:lnTo>
                    <a:pt x="0" y="11417"/>
                  </a:lnTo>
                  <a:lnTo>
                    <a:pt x="0" y="34268"/>
                  </a:lnTo>
                  <a:lnTo>
                    <a:pt x="22890" y="57116"/>
                  </a:lnTo>
                  <a:lnTo>
                    <a:pt x="34320" y="57116"/>
                  </a:lnTo>
                  <a:lnTo>
                    <a:pt x="45780" y="45698"/>
                  </a:lnTo>
                  <a:lnTo>
                    <a:pt x="57210" y="45698"/>
                  </a:lnTo>
                  <a:lnTo>
                    <a:pt x="57210" y="11417"/>
                  </a:lnTo>
                  <a:lnTo>
                    <a:pt x="4578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51" name="object 48">
              <a:extLst>
                <a:ext uri="{FF2B5EF4-FFF2-40B4-BE49-F238E27FC236}">
                  <a16:creationId xmlns:a16="http://schemas.microsoft.com/office/drawing/2014/main" id="{404CE2A7-BC1D-4703-9EA8-F273567B8E43}"/>
                </a:ext>
              </a:extLst>
            </p:cNvPr>
            <p:cNvSpPr>
              <a:spLocks/>
            </p:cNvSpPr>
            <p:nvPr/>
          </p:nvSpPr>
          <p:spPr bwMode="auto">
            <a:xfrm>
              <a:off x="6083233" y="5015744"/>
              <a:ext cx="584200" cy="890588"/>
            </a:xfrm>
            <a:custGeom>
              <a:avLst/>
              <a:gdLst>
                <a:gd name="T0" fmla="*/ 583841 w 584200"/>
                <a:gd name="T1" fmla="*/ 456974 h 891539"/>
                <a:gd name="T2" fmla="*/ 560957 w 584200"/>
                <a:gd name="T3" fmla="*/ 342735 h 891539"/>
                <a:gd name="T4" fmla="*/ 526601 w 584200"/>
                <a:gd name="T5" fmla="*/ 194214 h 891539"/>
                <a:gd name="T6" fmla="*/ 515159 w 584200"/>
                <a:gd name="T7" fmla="*/ 114254 h 891539"/>
                <a:gd name="T8" fmla="*/ 492275 w 584200"/>
                <a:gd name="T9" fmla="*/ 57127 h 891539"/>
                <a:gd name="T10" fmla="*/ 469361 w 584200"/>
                <a:gd name="T11" fmla="*/ 11430 h 891539"/>
                <a:gd name="T12" fmla="*/ 446477 w 584200"/>
                <a:gd name="T13" fmla="*/ 0 h 891539"/>
                <a:gd name="T14" fmla="*/ 423563 w 584200"/>
                <a:gd name="T15" fmla="*/ 0 h 891539"/>
                <a:gd name="T16" fmla="*/ 377795 w 584200"/>
                <a:gd name="T17" fmla="*/ 45696 h 891539"/>
                <a:gd name="T18" fmla="*/ 354881 w 584200"/>
                <a:gd name="T19" fmla="*/ 102823 h 891539"/>
                <a:gd name="T20" fmla="*/ 331997 w 584200"/>
                <a:gd name="T21" fmla="*/ 171369 h 891539"/>
                <a:gd name="T22" fmla="*/ 309114 w 584200"/>
                <a:gd name="T23" fmla="*/ 319886 h 891539"/>
                <a:gd name="T24" fmla="*/ 297641 w 584200"/>
                <a:gd name="T25" fmla="*/ 445543 h 891539"/>
                <a:gd name="T26" fmla="*/ 274757 w 584200"/>
                <a:gd name="T27" fmla="*/ 559785 h 891539"/>
                <a:gd name="T28" fmla="*/ 251843 w 584200"/>
                <a:gd name="T29" fmla="*/ 708303 h 891539"/>
                <a:gd name="T30" fmla="*/ 194634 w 584200"/>
                <a:gd name="T31" fmla="*/ 879669 h 891539"/>
                <a:gd name="T32" fmla="*/ 183161 w 584200"/>
                <a:gd name="T33" fmla="*/ 891087 h 891539"/>
                <a:gd name="T34" fmla="*/ 160277 w 584200"/>
                <a:gd name="T35" fmla="*/ 891087 h 891539"/>
                <a:gd name="T36" fmla="*/ 148836 w 584200"/>
                <a:gd name="T37" fmla="*/ 879669 h 891539"/>
                <a:gd name="T38" fmla="*/ 114479 w 584200"/>
                <a:gd name="T39" fmla="*/ 833972 h 891539"/>
                <a:gd name="T40" fmla="*/ 68681 w 584200"/>
                <a:gd name="T41" fmla="*/ 708303 h 891539"/>
                <a:gd name="T42" fmla="*/ 22883 w 584200"/>
                <a:gd name="T43" fmla="*/ 571216 h 891539"/>
                <a:gd name="T44" fmla="*/ 0 w 584200"/>
                <a:gd name="T45" fmla="*/ 468392 h 89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4200" h="891539">
                  <a:moveTo>
                    <a:pt x="583841" y="456974"/>
                  </a:moveTo>
                  <a:lnTo>
                    <a:pt x="560957" y="342735"/>
                  </a:lnTo>
                  <a:lnTo>
                    <a:pt x="526601" y="194214"/>
                  </a:lnTo>
                  <a:lnTo>
                    <a:pt x="515159" y="114254"/>
                  </a:lnTo>
                  <a:lnTo>
                    <a:pt x="492275" y="57127"/>
                  </a:lnTo>
                  <a:lnTo>
                    <a:pt x="469361" y="11430"/>
                  </a:lnTo>
                  <a:lnTo>
                    <a:pt x="446477" y="0"/>
                  </a:lnTo>
                  <a:lnTo>
                    <a:pt x="423563" y="0"/>
                  </a:lnTo>
                  <a:lnTo>
                    <a:pt x="377795" y="45696"/>
                  </a:lnTo>
                  <a:lnTo>
                    <a:pt x="354881" y="102823"/>
                  </a:lnTo>
                  <a:lnTo>
                    <a:pt x="331997" y="171369"/>
                  </a:lnTo>
                  <a:lnTo>
                    <a:pt x="309114" y="319886"/>
                  </a:lnTo>
                  <a:lnTo>
                    <a:pt x="297641" y="445543"/>
                  </a:lnTo>
                  <a:lnTo>
                    <a:pt x="274757" y="559785"/>
                  </a:lnTo>
                  <a:lnTo>
                    <a:pt x="251843" y="708303"/>
                  </a:lnTo>
                  <a:lnTo>
                    <a:pt x="194634" y="879669"/>
                  </a:lnTo>
                  <a:lnTo>
                    <a:pt x="183161" y="891087"/>
                  </a:lnTo>
                  <a:lnTo>
                    <a:pt x="160277" y="891087"/>
                  </a:lnTo>
                  <a:lnTo>
                    <a:pt x="148836" y="879669"/>
                  </a:lnTo>
                  <a:lnTo>
                    <a:pt x="114479" y="833972"/>
                  </a:lnTo>
                  <a:lnTo>
                    <a:pt x="68681" y="708303"/>
                  </a:lnTo>
                  <a:lnTo>
                    <a:pt x="22883" y="571216"/>
                  </a:lnTo>
                  <a:lnTo>
                    <a:pt x="0" y="468392"/>
                  </a:lnTo>
                </a:path>
              </a:pathLst>
            </a:custGeom>
            <a:noFill/>
            <a:ln w="1144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52" name="object 49">
              <a:extLst>
                <a:ext uri="{FF2B5EF4-FFF2-40B4-BE49-F238E27FC236}">
                  <a16:creationId xmlns:a16="http://schemas.microsoft.com/office/drawing/2014/main" id="{D655180A-022F-417D-8391-1715FD1D1E7D}"/>
                </a:ext>
              </a:extLst>
            </p:cNvPr>
            <p:cNvSpPr>
              <a:spLocks/>
            </p:cNvSpPr>
            <p:nvPr/>
          </p:nvSpPr>
          <p:spPr bwMode="auto">
            <a:xfrm>
              <a:off x="6083233" y="5015744"/>
              <a:ext cx="584200" cy="890588"/>
            </a:xfrm>
            <a:custGeom>
              <a:avLst/>
              <a:gdLst>
                <a:gd name="T0" fmla="*/ 583841 w 584200"/>
                <a:gd name="T1" fmla="*/ 456974 h 891539"/>
                <a:gd name="T2" fmla="*/ 560957 w 584200"/>
                <a:gd name="T3" fmla="*/ 342735 h 891539"/>
                <a:gd name="T4" fmla="*/ 526601 w 584200"/>
                <a:gd name="T5" fmla="*/ 194214 h 891539"/>
                <a:gd name="T6" fmla="*/ 515159 w 584200"/>
                <a:gd name="T7" fmla="*/ 114254 h 891539"/>
                <a:gd name="T8" fmla="*/ 492275 w 584200"/>
                <a:gd name="T9" fmla="*/ 57127 h 891539"/>
                <a:gd name="T10" fmla="*/ 469361 w 584200"/>
                <a:gd name="T11" fmla="*/ 11430 h 891539"/>
                <a:gd name="T12" fmla="*/ 446477 w 584200"/>
                <a:gd name="T13" fmla="*/ 0 h 891539"/>
                <a:gd name="T14" fmla="*/ 423563 w 584200"/>
                <a:gd name="T15" fmla="*/ 0 h 891539"/>
                <a:gd name="T16" fmla="*/ 377795 w 584200"/>
                <a:gd name="T17" fmla="*/ 45696 h 891539"/>
                <a:gd name="T18" fmla="*/ 354881 w 584200"/>
                <a:gd name="T19" fmla="*/ 102823 h 891539"/>
                <a:gd name="T20" fmla="*/ 331997 w 584200"/>
                <a:gd name="T21" fmla="*/ 171369 h 891539"/>
                <a:gd name="T22" fmla="*/ 309114 w 584200"/>
                <a:gd name="T23" fmla="*/ 319886 h 891539"/>
                <a:gd name="T24" fmla="*/ 297641 w 584200"/>
                <a:gd name="T25" fmla="*/ 445543 h 891539"/>
                <a:gd name="T26" fmla="*/ 274757 w 584200"/>
                <a:gd name="T27" fmla="*/ 559785 h 891539"/>
                <a:gd name="T28" fmla="*/ 251843 w 584200"/>
                <a:gd name="T29" fmla="*/ 708303 h 891539"/>
                <a:gd name="T30" fmla="*/ 194634 w 584200"/>
                <a:gd name="T31" fmla="*/ 879669 h 891539"/>
                <a:gd name="T32" fmla="*/ 183161 w 584200"/>
                <a:gd name="T33" fmla="*/ 891087 h 891539"/>
                <a:gd name="T34" fmla="*/ 160277 w 584200"/>
                <a:gd name="T35" fmla="*/ 891087 h 891539"/>
                <a:gd name="T36" fmla="*/ 148836 w 584200"/>
                <a:gd name="T37" fmla="*/ 879669 h 891539"/>
                <a:gd name="T38" fmla="*/ 114479 w 584200"/>
                <a:gd name="T39" fmla="*/ 833972 h 891539"/>
                <a:gd name="T40" fmla="*/ 68681 w 584200"/>
                <a:gd name="T41" fmla="*/ 708303 h 891539"/>
                <a:gd name="T42" fmla="*/ 22883 w 584200"/>
                <a:gd name="T43" fmla="*/ 571216 h 891539"/>
                <a:gd name="T44" fmla="*/ 0 w 584200"/>
                <a:gd name="T45" fmla="*/ 468392 h 89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4200" h="891539">
                  <a:moveTo>
                    <a:pt x="583841" y="456974"/>
                  </a:moveTo>
                  <a:lnTo>
                    <a:pt x="560957" y="342735"/>
                  </a:lnTo>
                  <a:lnTo>
                    <a:pt x="526601" y="194214"/>
                  </a:lnTo>
                  <a:lnTo>
                    <a:pt x="515159" y="114254"/>
                  </a:lnTo>
                  <a:lnTo>
                    <a:pt x="492275" y="57127"/>
                  </a:lnTo>
                  <a:lnTo>
                    <a:pt x="469361" y="11430"/>
                  </a:lnTo>
                  <a:lnTo>
                    <a:pt x="446477" y="0"/>
                  </a:lnTo>
                  <a:lnTo>
                    <a:pt x="423563" y="0"/>
                  </a:lnTo>
                  <a:lnTo>
                    <a:pt x="377795" y="45696"/>
                  </a:lnTo>
                  <a:lnTo>
                    <a:pt x="354881" y="102823"/>
                  </a:lnTo>
                  <a:lnTo>
                    <a:pt x="331997" y="171369"/>
                  </a:lnTo>
                  <a:lnTo>
                    <a:pt x="309114" y="319886"/>
                  </a:lnTo>
                  <a:lnTo>
                    <a:pt x="297641" y="445543"/>
                  </a:lnTo>
                  <a:lnTo>
                    <a:pt x="274757" y="559785"/>
                  </a:lnTo>
                  <a:lnTo>
                    <a:pt x="251843" y="708303"/>
                  </a:lnTo>
                  <a:lnTo>
                    <a:pt x="194634" y="879669"/>
                  </a:lnTo>
                  <a:lnTo>
                    <a:pt x="183161" y="891087"/>
                  </a:lnTo>
                  <a:lnTo>
                    <a:pt x="160277" y="891087"/>
                  </a:lnTo>
                  <a:lnTo>
                    <a:pt x="148836" y="879669"/>
                  </a:lnTo>
                  <a:lnTo>
                    <a:pt x="114479" y="833972"/>
                  </a:lnTo>
                  <a:lnTo>
                    <a:pt x="68681" y="708303"/>
                  </a:lnTo>
                  <a:lnTo>
                    <a:pt x="22883" y="571216"/>
                  </a:lnTo>
                  <a:lnTo>
                    <a:pt x="0" y="468392"/>
                  </a:lnTo>
                </a:path>
              </a:pathLst>
            </a:custGeom>
            <a:noFill/>
            <a:ln w="1144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53" name="object 50">
              <a:extLst>
                <a:ext uri="{FF2B5EF4-FFF2-40B4-BE49-F238E27FC236}">
                  <a16:creationId xmlns:a16="http://schemas.microsoft.com/office/drawing/2014/main" id="{9F69E32C-2650-4CCE-926B-A453807E0D82}"/>
                </a:ext>
              </a:extLst>
            </p:cNvPr>
            <p:cNvSpPr>
              <a:spLocks/>
            </p:cNvSpPr>
            <p:nvPr/>
          </p:nvSpPr>
          <p:spPr bwMode="auto">
            <a:xfrm>
              <a:off x="6083233" y="5015744"/>
              <a:ext cx="584200" cy="890588"/>
            </a:xfrm>
            <a:custGeom>
              <a:avLst/>
              <a:gdLst>
                <a:gd name="T0" fmla="*/ 583841 w 584200"/>
                <a:gd name="T1" fmla="*/ 456974 h 891539"/>
                <a:gd name="T2" fmla="*/ 560957 w 584200"/>
                <a:gd name="T3" fmla="*/ 342735 h 891539"/>
                <a:gd name="T4" fmla="*/ 526601 w 584200"/>
                <a:gd name="T5" fmla="*/ 194214 h 891539"/>
                <a:gd name="T6" fmla="*/ 515159 w 584200"/>
                <a:gd name="T7" fmla="*/ 114254 h 891539"/>
                <a:gd name="T8" fmla="*/ 492275 w 584200"/>
                <a:gd name="T9" fmla="*/ 57127 h 891539"/>
                <a:gd name="T10" fmla="*/ 469361 w 584200"/>
                <a:gd name="T11" fmla="*/ 11430 h 891539"/>
                <a:gd name="T12" fmla="*/ 446477 w 584200"/>
                <a:gd name="T13" fmla="*/ 0 h 891539"/>
                <a:gd name="T14" fmla="*/ 423563 w 584200"/>
                <a:gd name="T15" fmla="*/ 0 h 891539"/>
                <a:gd name="T16" fmla="*/ 377795 w 584200"/>
                <a:gd name="T17" fmla="*/ 45696 h 891539"/>
                <a:gd name="T18" fmla="*/ 354881 w 584200"/>
                <a:gd name="T19" fmla="*/ 102823 h 891539"/>
                <a:gd name="T20" fmla="*/ 331997 w 584200"/>
                <a:gd name="T21" fmla="*/ 171369 h 891539"/>
                <a:gd name="T22" fmla="*/ 309114 w 584200"/>
                <a:gd name="T23" fmla="*/ 319886 h 891539"/>
                <a:gd name="T24" fmla="*/ 297641 w 584200"/>
                <a:gd name="T25" fmla="*/ 445543 h 891539"/>
                <a:gd name="T26" fmla="*/ 274757 w 584200"/>
                <a:gd name="T27" fmla="*/ 559785 h 891539"/>
                <a:gd name="T28" fmla="*/ 251843 w 584200"/>
                <a:gd name="T29" fmla="*/ 708303 h 891539"/>
                <a:gd name="T30" fmla="*/ 194634 w 584200"/>
                <a:gd name="T31" fmla="*/ 879669 h 891539"/>
                <a:gd name="T32" fmla="*/ 183161 w 584200"/>
                <a:gd name="T33" fmla="*/ 891087 h 891539"/>
                <a:gd name="T34" fmla="*/ 160277 w 584200"/>
                <a:gd name="T35" fmla="*/ 891087 h 891539"/>
                <a:gd name="T36" fmla="*/ 148836 w 584200"/>
                <a:gd name="T37" fmla="*/ 879669 h 891539"/>
                <a:gd name="T38" fmla="*/ 114479 w 584200"/>
                <a:gd name="T39" fmla="*/ 833972 h 891539"/>
                <a:gd name="T40" fmla="*/ 68681 w 584200"/>
                <a:gd name="T41" fmla="*/ 708303 h 891539"/>
                <a:gd name="T42" fmla="*/ 22883 w 584200"/>
                <a:gd name="T43" fmla="*/ 571216 h 891539"/>
                <a:gd name="T44" fmla="*/ 0 w 584200"/>
                <a:gd name="T45" fmla="*/ 468392 h 89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4200" h="891539">
                  <a:moveTo>
                    <a:pt x="583841" y="456974"/>
                  </a:moveTo>
                  <a:lnTo>
                    <a:pt x="560957" y="342735"/>
                  </a:lnTo>
                  <a:lnTo>
                    <a:pt x="526601" y="194214"/>
                  </a:lnTo>
                  <a:lnTo>
                    <a:pt x="515159" y="114254"/>
                  </a:lnTo>
                  <a:lnTo>
                    <a:pt x="492275" y="57127"/>
                  </a:lnTo>
                  <a:lnTo>
                    <a:pt x="469361" y="11430"/>
                  </a:lnTo>
                  <a:lnTo>
                    <a:pt x="446477" y="0"/>
                  </a:lnTo>
                  <a:lnTo>
                    <a:pt x="423563" y="0"/>
                  </a:lnTo>
                  <a:lnTo>
                    <a:pt x="377795" y="45696"/>
                  </a:lnTo>
                  <a:lnTo>
                    <a:pt x="354881" y="102823"/>
                  </a:lnTo>
                  <a:lnTo>
                    <a:pt x="331997" y="171369"/>
                  </a:lnTo>
                  <a:lnTo>
                    <a:pt x="309114" y="319886"/>
                  </a:lnTo>
                  <a:lnTo>
                    <a:pt x="297641" y="445543"/>
                  </a:lnTo>
                  <a:lnTo>
                    <a:pt x="274757" y="559785"/>
                  </a:lnTo>
                  <a:lnTo>
                    <a:pt x="251843" y="708303"/>
                  </a:lnTo>
                  <a:lnTo>
                    <a:pt x="194634" y="879669"/>
                  </a:lnTo>
                  <a:lnTo>
                    <a:pt x="183161" y="891087"/>
                  </a:lnTo>
                  <a:lnTo>
                    <a:pt x="160277" y="891087"/>
                  </a:lnTo>
                  <a:lnTo>
                    <a:pt x="148836" y="879669"/>
                  </a:lnTo>
                  <a:lnTo>
                    <a:pt x="114479" y="833972"/>
                  </a:lnTo>
                  <a:lnTo>
                    <a:pt x="68681" y="708303"/>
                  </a:lnTo>
                  <a:lnTo>
                    <a:pt x="22883" y="571216"/>
                  </a:lnTo>
                  <a:lnTo>
                    <a:pt x="0" y="468392"/>
                  </a:lnTo>
                </a:path>
              </a:pathLst>
            </a:custGeom>
            <a:noFill/>
            <a:ln w="1144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54" name="object 51">
              <a:extLst>
                <a:ext uri="{FF2B5EF4-FFF2-40B4-BE49-F238E27FC236}">
                  <a16:creationId xmlns:a16="http://schemas.microsoft.com/office/drawing/2014/main" id="{DFE13FEC-2C03-43E3-AF41-A2629FE8FFCE}"/>
                </a:ext>
              </a:extLst>
            </p:cNvPr>
            <p:cNvSpPr>
              <a:spLocks/>
            </p:cNvSpPr>
            <p:nvPr/>
          </p:nvSpPr>
          <p:spPr bwMode="auto">
            <a:xfrm>
              <a:off x="6048308" y="5426907"/>
              <a:ext cx="58737" cy="57150"/>
            </a:xfrm>
            <a:custGeom>
              <a:avLst/>
              <a:gdLst>
                <a:gd name="T0" fmla="*/ 34350 w 57785"/>
                <a:gd name="T1" fmla="*/ 0 h 57150"/>
                <a:gd name="T2" fmla="*/ 22890 w 57785"/>
                <a:gd name="T3" fmla="*/ 0 h 57150"/>
                <a:gd name="T4" fmla="*/ 0 w 57785"/>
                <a:gd name="T5" fmla="*/ 22847 h 57150"/>
                <a:gd name="T6" fmla="*/ 0 w 57785"/>
                <a:gd name="T7" fmla="*/ 34268 h 57150"/>
                <a:gd name="T8" fmla="*/ 11460 w 57785"/>
                <a:gd name="T9" fmla="*/ 57116 h 57150"/>
                <a:gd name="T10" fmla="*/ 34350 w 57785"/>
                <a:gd name="T11" fmla="*/ 57116 h 57150"/>
                <a:gd name="T12" fmla="*/ 57241 w 57785"/>
                <a:gd name="T13" fmla="*/ 45698 h 57150"/>
                <a:gd name="T14" fmla="*/ 57241 w 57785"/>
                <a:gd name="T15" fmla="*/ 22847 h 57150"/>
                <a:gd name="T16" fmla="*/ 34350 w 57785"/>
                <a:gd name="T17" fmla="*/ 0 h 57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785" h="57150">
                  <a:moveTo>
                    <a:pt x="34350" y="0"/>
                  </a:moveTo>
                  <a:lnTo>
                    <a:pt x="22890" y="0"/>
                  </a:lnTo>
                  <a:lnTo>
                    <a:pt x="0" y="22847"/>
                  </a:lnTo>
                  <a:lnTo>
                    <a:pt x="0" y="34268"/>
                  </a:lnTo>
                  <a:lnTo>
                    <a:pt x="11460" y="57116"/>
                  </a:lnTo>
                  <a:lnTo>
                    <a:pt x="34350" y="57116"/>
                  </a:lnTo>
                  <a:lnTo>
                    <a:pt x="57241" y="45698"/>
                  </a:lnTo>
                  <a:lnTo>
                    <a:pt x="57241" y="22847"/>
                  </a:lnTo>
                  <a:lnTo>
                    <a:pt x="343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55" name="object 52">
              <a:extLst>
                <a:ext uri="{FF2B5EF4-FFF2-40B4-BE49-F238E27FC236}">
                  <a16:creationId xmlns:a16="http://schemas.microsoft.com/office/drawing/2014/main" id="{B0C75D7C-0310-4D27-8225-77FAECCB174A}"/>
                </a:ext>
              </a:extLst>
            </p:cNvPr>
            <p:cNvSpPr>
              <a:spLocks/>
            </p:cNvSpPr>
            <p:nvPr/>
          </p:nvSpPr>
          <p:spPr bwMode="auto">
            <a:xfrm>
              <a:off x="2581208" y="5449132"/>
              <a:ext cx="4086225" cy="0"/>
            </a:xfrm>
            <a:custGeom>
              <a:avLst/>
              <a:gdLst>
                <a:gd name="T0" fmla="*/ 0 w 4086225"/>
                <a:gd name="T1" fmla="*/ 4085766 w 4086225"/>
              </a:gdLst>
              <a:ahLst/>
              <a:cxnLst>
                <a:cxn ang="0">
                  <a:pos x="T0" y="0"/>
                </a:cxn>
                <a:cxn ang="0">
                  <a:pos x="T1" y="0"/>
                </a:cxn>
              </a:cxnLst>
              <a:rect l="0" t="0" r="r" b="b"/>
              <a:pathLst>
                <a:path w="4086225">
                  <a:moveTo>
                    <a:pt x="0" y="0"/>
                  </a:moveTo>
                  <a:lnTo>
                    <a:pt x="4085766" y="0"/>
                  </a:lnTo>
                </a:path>
              </a:pathLst>
            </a:custGeom>
            <a:noFill/>
            <a:ln w="1142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56" name="object 53">
              <a:extLst>
                <a:ext uri="{FF2B5EF4-FFF2-40B4-BE49-F238E27FC236}">
                  <a16:creationId xmlns:a16="http://schemas.microsoft.com/office/drawing/2014/main" id="{A362551F-EF5E-435D-8715-3D5FCB8782D8}"/>
                </a:ext>
              </a:extLst>
            </p:cNvPr>
            <p:cNvSpPr>
              <a:spLocks/>
            </p:cNvSpPr>
            <p:nvPr/>
          </p:nvSpPr>
          <p:spPr bwMode="auto">
            <a:xfrm>
              <a:off x="2866958" y="5198307"/>
              <a:ext cx="663575" cy="479425"/>
            </a:xfrm>
            <a:custGeom>
              <a:avLst/>
              <a:gdLst>
                <a:gd name="T0" fmla="*/ 0 w 664210"/>
                <a:gd name="T1" fmla="*/ 239899 h 480060"/>
                <a:gd name="T2" fmla="*/ 22895 w 664210"/>
                <a:gd name="T3" fmla="*/ 182787 h 480060"/>
                <a:gd name="T4" fmla="*/ 57233 w 664210"/>
                <a:gd name="T5" fmla="*/ 102811 h 480060"/>
                <a:gd name="T6" fmla="*/ 103025 w 664210"/>
                <a:gd name="T7" fmla="*/ 34266 h 480060"/>
                <a:gd name="T8" fmla="*/ 137375 w 664210"/>
                <a:gd name="T9" fmla="*/ 11418 h 480060"/>
                <a:gd name="T10" fmla="*/ 171713 w 664210"/>
                <a:gd name="T11" fmla="*/ 0 h 480060"/>
                <a:gd name="T12" fmla="*/ 194609 w 664210"/>
                <a:gd name="T13" fmla="*/ 11418 h 480060"/>
                <a:gd name="T14" fmla="*/ 228959 w 664210"/>
                <a:gd name="T15" fmla="*/ 34266 h 480060"/>
                <a:gd name="T16" fmla="*/ 309086 w 664210"/>
                <a:gd name="T17" fmla="*/ 171356 h 480060"/>
                <a:gd name="T18" fmla="*/ 331982 w 664210"/>
                <a:gd name="T19" fmla="*/ 239899 h 480060"/>
                <a:gd name="T20" fmla="*/ 343436 w 664210"/>
                <a:gd name="T21" fmla="*/ 297026 h 480060"/>
                <a:gd name="T22" fmla="*/ 377774 w 664210"/>
                <a:gd name="T23" fmla="*/ 376989 h 480060"/>
                <a:gd name="T24" fmla="*/ 400670 w 664210"/>
                <a:gd name="T25" fmla="*/ 422686 h 480060"/>
                <a:gd name="T26" fmla="*/ 446462 w 664210"/>
                <a:gd name="T27" fmla="*/ 468392 h 480060"/>
                <a:gd name="T28" fmla="*/ 457907 w 664210"/>
                <a:gd name="T29" fmla="*/ 468392 h 480060"/>
                <a:gd name="T30" fmla="*/ 469349 w 664210"/>
                <a:gd name="T31" fmla="*/ 479810 h 480060"/>
                <a:gd name="T32" fmla="*/ 492263 w 664210"/>
                <a:gd name="T33" fmla="*/ 468392 h 480060"/>
                <a:gd name="T34" fmla="*/ 526589 w 664210"/>
                <a:gd name="T35" fmla="*/ 445531 h 480060"/>
                <a:gd name="T36" fmla="*/ 549503 w 664210"/>
                <a:gd name="T37" fmla="*/ 411268 h 480060"/>
                <a:gd name="T38" fmla="*/ 583829 w 664210"/>
                <a:gd name="T39" fmla="*/ 376989 h 480060"/>
                <a:gd name="T40" fmla="*/ 629627 w 664210"/>
                <a:gd name="T41" fmla="*/ 308444 h 480060"/>
                <a:gd name="T42" fmla="*/ 663983 w 664210"/>
                <a:gd name="T43" fmla="*/ 251329 h 480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4210" h="480060">
                  <a:moveTo>
                    <a:pt x="0" y="239899"/>
                  </a:moveTo>
                  <a:lnTo>
                    <a:pt x="22895" y="182787"/>
                  </a:lnTo>
                  <a:lnTo>
                    <a:pt x="57233" y="102811"/>
                  </a:lnTo>
                  <a:lnTo>
                    <a:pt x="103025" y="34266"/>
                  </a:lnTo>
                  <a:lnTo>
                    <a:pt x="137375" y="11418"/>
                  </a:lnTo>
                  <a:lnTo>
                    <a:pt x="171713" y="0"/>
                  </a:lnTo>
                  <a:lnTo>
                    <a:pt x="194609" y="11418"/>
                  </a:lnTo>
                  <a:lnTo>
                    <a:pt x="228959" y="34266"/>
                  </a:lnTo>
                  <a:lnTo>
                    <a:pt x="309086" y="171356"/>
                  </a:lnTo>
                  <a:lnTo>
                    <a:pt x="331982" y="239899"/>
                  </a:lnTo>
                  <a:lnTo>
                    <a:pt x="343436" y="297026"/>
                  </a:lnTo>
                  <a:lnTo>
                    <a:pt x="377774" y="376989"/>
                  </a:lnTo>
                  <a:lnTo>
                    <a:pt x="400670" y="422686"/>
                  </a:lnTo>
                  <a:lnTo>
                    <a:pt x="446462" y="468392"/>
                  </a:lnTo>
                  <a:lnTo>
                    <a:pt x="457907" y="468392"/>
                  </a:lnTo>
                  <a:lnTo>
                    <a:pt x="469349" y="479810"/>
                  </a:lnTo>
                  <a:lnTo>
                    <a:pt x="492263" y="468392"/>
                  </a:lnTo>
                  <a:lnTo>
                    <a:pt x="526589" y="445531"/>
                  </a:lnTo>
                  <a:lnTo>
                    <a:pt x="549503" y="411268"/>
                  </a:lnTo>
                  <a:lnTo>
                    <a:pt x="583829" y="376989"/>
                  </a:lnTo>
                  <a:lnTo>
                    <a:pt x="629627" y="308444"/>
                  </a:lnTo>
                  <a:lnTo>
                    <a:pt x="663983" y="251329"/>
                  </a:lnTo>
                </a:path>
              </a:pathLst>
            </a:custGeom>
            <a:noFill/>
            <a:ln w="11432">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57" name="object 54">
              <a:extLst>
                <a:ext uri="{FF2B5EF4-FFF2-40B4-BE49-F238E27FC236}">
                  <a16:creationId xmlns:a16="http://schemas.microsoft.com/office/drawing/2014/main" id="{6670E694-E5B2-44F3-B3C8-657DE46925DA}"/>
                </a:ext>
              </a:extLst>
            </p:cNvPr>
            <p:cNvSpPr>
              <a:spLocks/>
            </p:cNvSpPr>
            <p:nvPr/>
          </p:nvSpPr>
          <p:spPr bwMode="auto">
            <a:xfrm>
              <a:off x="2843145" y="5438019"/>
              <a:ext cx="34925" cy="33338"/>
            </a:xfrm>
            <a:custGeom>
              <a:avLst/>
              <a:gdLst>
                <a:gd name="T0" fmla="*/ 22896 w 34925"/>
                <a:gd name="T1" fmla="*/ 0 h 34289"/>
                <a:gd name="T2" fmla="*/ 11442 w 34925"/>
                <a:gd name="T3" fmla="*/ 0 h 34289"/>
                <a:gd name="T4" fmla="*/ 0 w 34925"/>
                <a:gd name="T5" fmla="*/ 11429 h 34289"/>
                <a:gd name="T6" fmla="*/ 0 w 34925"/>
                <a:gd name="T7" fmla="*/ 22850 h 34289"/>
                <a:gd name="T8" fmla="*/ 11442 w 34925"/>
                <a:gd name="T9" fmla="*/ 34280 h 34289"/>
                <a:gd name="T10" fmla="*/ 22896 w 34925"/>
                <a:gd name="T11" fmla="*/ 34280 h 34289"/>
                <a:gd name="T12" fmla="*/ 22896 w 34925"/>
                <a:gd name="T13" fmla="*/ 22850 h 34289"/>
                <a:gd name="T14" fmla="*/ 34338 w 34925"/>
                <a:gd name="T15" fmla="*/ 11429 h 34289"/>
                <a:gd name="T16" fmla="*/ 22896 w 34925"/>
                <a:gd name="T17" fmla="*/ 0 h 34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25" h="34289">
                  <a:moveTo>
                    <a:pt x="22896" y="0"/>
                  </a:moveTo>
                  <a:lnTo>
                    <a:pt x="11442" y="0"/>
                  </a:lnTo>
                  <a:lnTo>
                    <a:pt x="0" y="11429"/>
                  </a:lnTo>
                  <a:lnTo>
                    <a:pt x="0" y="22850"/>
                  </a:lnTo>
                  <a:lnTo>
                    <a:pt x="11442" y="34280"/>
                  </a:lnTo>
                  <a:lnTo>
                    <a:pt x="22896" y="34280"/>
                  </a:lnTo>
                  <a:lnTo>
                    <a:pt x="22896" y="22850"/>
                  </a:lnTo>
                  <a:lnTo>
                    <a:pt x="34338" y="11429"/>
                  </a:lnTo>
                  <a:lnTo>
                    <a:pt x="22896"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000"/>
            </a:p>
          </p:txBody>
        </p:sp>
        <p:sp>
          <p:nvSpPr>
            <p:cNvPr id="58" name="object 57">
              <a:extLst>
                <a:ext uri="{FF2B5EF4-FFF2-40B4-BE49-F238E27FC236}">
                  <a16:creationId xmlns:a16="http://schemas.microsoft.com/office/drawing/2014/main" id="{D0A685F9-7763-4FE0-B193-957E23BC108E}"/>
                </a:ext>
              </a:extLst>
            </p:cNvPr>
            <p:cNvSpPr>
              <a:spLocks/>
            </p:cNvSpPr>
            <p:nvPr/>
          </p:nvSpPr>
          <p:spPr bwMode="auto">
            <a:xfrm>
              <a:off x="3382895" y="4858582"/>
              <a:ext cx="182563" cy="1036637"/>
            </a:xfrm>
            <a:custGeom>
              <a:avLst/>
              <a:gdLst>
                <a:gd name="T0" fmla="*/ 0 w 182879"/>
                <a:gd name="T1" fmla="*/ 1036118 h 1036320"/>
                <a:gd name="T2" fmla="*/ 182463 w 182879"/>
                <a:gd name="T3" fmla="*/ 1036118 h 1036320"/>
                <a:gd name="T4" fmla="*/ 182463 w 182879"/>
                <a:gd name="T5" fmla="*/ 0 h 1036320"/>
                <a:gd name="T6" fmla="*/ 0 w 182879"/>
                <a:gd name="T7" fmla="*/ 0 h 1036320"/>
                <a:gd name="T8" fmla="*/ 0 w 182879"/>
                <a:gd name="T9" fmla="*/ 1036118 h 1036320"/>
              </a:gdLst>
              <a:ahLst/>
              <a:cxnLst>
                <a:cxn ang="0">
                  <a:pos x="T0" y="T1"/>
                </a:cxn>
                <a:cxn ang="0">
                  <a:pos x="T2" y="T3"/>
                </a:cxn>
                <a:cxn ang="0">
                  <a:pos x="T4" y="T5"/>
                </a:cxn>
                <a:cxn ang="0">
                  <a:pos x="T6" y="T7"/>
                </a:cxn>
                <a:cxn ang="0">
                  <a:pos x="T8" y="T9"/>
                </a:cxn>
              </a:cxnLst>
              <a:rect l="0" t="0" r="r" b="b"/>
              <a:pathLst>
                <a:path w="182879" h="1036320">
                  <a:moveTo>
                    <a:pt x="0" y="1036118"/>
                  </a:moveTo>
                  <a:lnTo>
                    <a:pt x="182463" y="1036118"/>
                  </a:lnTo>
                  <a:lnTo>
                    <a:pt x="182463" y="0"/>
                  </a:lnTo>
                  <a:lnTo>
                    <a:pt x="0" y="0"/>
                  </a:lnTo>
                  <a:lnTo>
                    <a:pt x="0" y="1036118"/>
                  </a:lnTo>
                  <a:close/>
                </a:path>
              </a:pathLst>
            </a:custGeom>
            <a:noFill/>
            <a:ln w="19049">
              <a:solidFill>
                <a:srgbClr val="6095C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000"/>
            </a:p>
          </p:txBody>
        </p:sp>
        <p:sp>
          <p:nvSpPr>
            <p:cNvPr id="59" name="object 58">
              <a:extLst>
                <a:ext uri="{FF2B5EF4-FFF2-40B4-BE49-F238E27FC236}">
                  <a16:creationId xmlns:a16="http://schemas.microsoft.com/office/drawing/2014/main" id="{984BAD8E-CDEF-41D3-B67E-7A95FC774E90}"/>
                </a:ext>
              </a:extLst>
            </p:cNvPr>
            <p:cNvSpPr txBox="1"/>
            <p:nvPr/>
          </p:nvSpPr>
          <p:spPr>
            <a:xfrm>
              <a:off x="2998720" y="6111119"/>
              <a:ext cx="1767833" cy="307777"/>
            </a:xfrm>
            <a:prstGeom prst="rect">
              <a:avLst/>
            </a:prstGeom>
          </p:spPr>
          <p:txBody>
            <a:bodyPr wrap="square" lIns="0" tIns="0" rIns="0" bIns="0">
              <a:spAutoFit/>
            </a:bodyPr>
            <a:lstStyle/>
            <a:p>
              <a:pPr marL="12700" fontAlgn="auto">
                <a:spcBef>
                  <a:spcPts val="0"/>
                </a:spcBef>
                <a:spcAft>
                  <a:spcPts val="0"/>
                </a:spcAft>
                <a:defRPr/>
              </a:pPr>
              <a:r>
                <a:rPr sz="2000" spc="-15" dirty="0">
                  <a:latin typeface="Calibri"/>
                  <a:cs typeface="Calibri"/>
                </a:rPr>
                <a:t>Gu</a:t>
              </a:r>
              <a:r>
                <a:rPr sz="2000" spc="-10" dirty="0">
                  <a:latin typeface="Calibri"/>
                  <a:cs typeface="Calibri"/>
                </a:rPr>
                <a:t>ard</a:t>
              </a:r>
              <a:r>
                <a:rPr sz="2000" spc="-45" dirty="0">
                  <a:latin typeface="Times New Roman"/>
                  <a:cs typeface="Times New Roman"/>
                </a:rPr>
                <a:t> </a:t>
              </a:r>
              <a:r>
                <a:rPr sz="2000" dirty="0">
                  <a:latin typeface="Calibri"/>
                  <a:cs typeface="Calibri"/>
                </a:rPr>
                <a:t>band</a:t>
              </a:r>
            </a:p>
          </p:txBody>
        </p:sp>
      </p:grpSp>
      <p:sp>
        <p:nvSpPr>
          <p:cNvPr id="61" name="Rectangle 60">
            <a:extLst>
              <a:ext uri="{FF2B5EF4-FFF2-40B4-BE49-F238E27FC236}">
                <a16:creationId xmlns:a16="http://schemas.microsoft.com/office/drawing/2014/main" id="{993E6872-67D4-483E-B18E-EFF20B640747}"/>
              </a:ext>
            </a:extLst>
          </p:cNvPr>
          <p:cNvSpPr/>
          <p:nvPr/>
        </p:nvSpPr>
        <p:spPr>
          <a:xfrm>
            <a:off x="834164" y="1167570"/>
            <a:ext cx="7681185" cy="511743"/>
          </a:xfrm>
          <a:prstGeom prst="rect">
            <a:avLst/>
          </a:prstGeom>
        </p:spPr>
        <p:txBody>
          <a:bodyPr wrap="square">
            <a:spAutoFit/>
          </a:bodyPr>
          <a:lstStyle/>
          <a:p>
            <a:pPr>
              <a:lnSpc>
                <a:spcPts val="3800"/>
              </a:lnSpc>
              <a:buFont typeface="Arial" panose="020B0604020202020204" pitchFamily="34" charset="0"/>
              <a:buChar char="•"/>
            </a:pPr>
            <a:r>
              <a:rPr lang="en-US" altLang="en-US"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delayed</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version</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of</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a</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symbol</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overlaps</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with</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adjacent</a:t>
            </a:r>
            <a:r>
              <a:rPr lang="en-US" altLang="en-US" dirty="0">
                <a:latin typeface="Times New Roman" panose="02020603050405020304" pitchFamily="18" charset="0"/>
                <a:cs typeface="Times New Roman" panose="02020603050405020304" pitchFamily="18" charset="0"/>
              </a:rPr>
              <a:t> </a:t>
            </a:r>
            <a:r>
              <a:rPr lang="en-US" altLang="en-US" dirty="0">
                <a:latin typeface="Trebuchet MS" panose="020B0603020202020204" pitchFamily="34" charset="0"/>
                <a:ea typeface="Trebuchet MS" panose="020B0603020202020204" pitchFamily="34" charset="0"/>
                <a:cs typeface="Trebuchet MS" panose="020B0603020202020204" pitchFamily="34" charset="0"/>
              </a:rPr>
              <a:t>symbol</a:t>
            </a:r>
          </a:p>
        </p:txBody>
      </p:sp>
    </p:spTree>
    <p:extLst>
      <p:ext uri="{BB962C8B-B14F-4D97-AF65-F5344CB8AC3E}">
        <p14:creationId xmlns:p14="http://schemas.microsoft.com/office/powerpoint/2010/main" val="3027727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2AC248-C6A4-4329-7805-C66CAC8D5708}"/>
              </a:ext>
            </a:extLst>
          </p:cNvPr>
          <p:cNvSpPr>
            <a:spLocks noGrp="1"/>
          </p:cNvSpPr>
          <p:nvPr>
            <p:ph idx="1"/>
          </p:nvPr>
        </p:nvSpPr>
        <p:spPr>
          <a:xfrm>
            <a:off x="628650" y="1253331"/>
            <a:ext cx="7886700" cy="2654640"/>
          </a:xfrm>
        </p:spPr>
        <p:txBody>
          <a:bodyPr>
            <a:normAutofit/>
          </a:bodyPr>
          <a:lstStyle/>
          <a:p>
            <a:r>
              <a:rPr lang="en-US" sz="2000" b="0" i="0" dirty="0">
                <a:solidFill>
                  <a:srgbClr val="333333"/>
                </a:solidFill>
                <a:effectLst/>
                <a:latin typeface="Open Sans" panose="020B0606030504020204" pitchFamily="34" charset="0"/>
              </a:rPr>
              <a:t>The cyclic prefix provides a guard interval to eliminate inter-symbol interference from the previous symbol.</a:t>
            </a:r>
          </a:p>
          <a:p>
            <a:r>
              <a:rPr lang="en-US" sz="2000" b="0" i="0" dirty="0">
                <a:solidFill>
                  <a:srgbClr val="333333"/>
                </a:solidFill>
                <a:effectLst/>
                <a:latin typeface="Open Sans" panose="020B0606030504020204" pitchFamily="34" charset="0"/>
              </a:rPr>
              <a:t>It repeats the end of the symbol so the linear convolution of a frequency-selective multipath channel can be modeled as circular convolution, which in turn may transform to the frequency domain via a discrete Fourier transform. This approach accommodates simple frequency domain processing, such as channel estimation and equalization.</a:t>
            </a:r>
          </a:p>
          <a:p>
            <a:endParaRPr lang="en-US" sz="2000" b="0" i="0" dirty="0">
              <a:solidFill>
                <a:srgbClr val="333333"/>
              </a:solidFill>
              <a:effectLst/>
              <a:latin typeface="Open Sans" panose="020B0606030504020204" pitchFamily="34" charset="0"/>
            </a:endParaRPr>
          </a:p>
          <a:p>
            <a:endParaRPr lang="en-US" sz="2000" dirty="0"/>
          </a:p>
        </p:txBody>
      </p:sp>
      <p:sp>
        <p:nvSpPr>
          <p:cNvPr id="5" name="Title 4">
            <a:extLst>
              <a:ext uri="{FF2B5EF4-FFF2-40B4-BE49-F238E27FC236}">
                <a16:creationId xmlns:a16="http://schemas.microsoft.com/office/drawing/2014/main" id="{18A1326C-69A8-9139-1952-80D8FBFE91CB}"/>
              </a:ext>
            </a:extLst>
          </p:cNvPr>
          <p:cNvSpPr>
            <a:spLocks noGrp="1"/>
          </p:cNvSpPr>
          <p:nvPr>
            <p:ph type="title"/>
          </p:nvPr>
        </p:nvSpPr>
        <p:spPr>
          <a:xfrm>
            <a:off x="628650" y="365127"/>
            <a:ext cx="7886700" cy="930274"/>
          </a:xfrm>
        </p:spPr>
        <p:txBody>
          <a:bodyPr>
            <a:normAutofit fontScale="90000"/>
          </a:bodyPr>
          <a:lstStyle/>
          <a:p>
            <a:r>
              <a:rPr lang="en-US" b="1" i="0" dirty="0">
                <a:solidFill>
                  <a:srgbClr val="333333"/>
                </a:solidFill>
                <a:effectLst/>
                <a:latin typeface="Open Sans" panose="020B0606030504020204" pitchFamily="34" charset="0"/>
              </a:rPr>
              <a:t>What is a cyclic prefix</a:t>
            </a:r>
            <a:br>
              <a:rPr lang="en-US" b="1" i="0" dirty="0">
                <a:solidFill>
                  <a:srgbClr val="333333"/>
                </a:solidFill>
                <a:effectLst/>
                <a:latin typeface="Open Sans" panose="020B0606030504020204" pitchFamily="34" charset="0"/>
              </a:rPr>
            </a:br>
            <a:endParaRPr lang="en-US" dirty="0"/>
          </a:p>
        </p:txBody>
      </p:sp>
      <p:pic>
        <p:nvPicPr>
          <p:cNvPr id="7" name="Picture 6">
            <a:extLst>
              <a:ext uri="{FF2B5EF4-FFF2-40B4-BE49-F238E27FC236}">
                <a16:creationId xmlns:a16="http://schemas.microsoft.com/office/drawing/2014/main" id="{F698E9B8-F15C-FFDB-126A-A5F5B6DF6505}"/>
              </a:ext>
            </a:extLst>
          </p:cNvPr>
          <p:cNvPicPr>
            <a:picLocks noChangeAspect="1"/>
          </p:cNvPicPr>
          <p:nvPr/>
        </p:nvPicPr>
        <p:blipFill>
          <a:blip r:embed="rId2"/>
          <a:stretch>
            <a:fillRect/>
          </a:stretch>
        </p:blipFill>
        <p:spPr>
          <a:xfrm>
            <a:off x="190650" y="4083131"/>
            <a:ext cx="8762700" cy="2409742"/>
          </a:xfrm>
          <a:prstGeom prst="rect">
            <a:avLst/>
          </a:prstGeom>
        </p:spPr>
      </p:pic>
    </p:spTree>
    <p:extLst>
      <p:ext uri="{BB962C8B-B14F-4D97-AF65-F5344CB8AC3E}">
        <p14:creationId xmlns:p14="http://schemas.microsoft.com/office/powerpoint/2010/main" val="3814363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C2D0236D-B3C9-4595-87F0-F98913F7415D}"/>
              </a:ext>
            </a:extLst>
          </p:cNvPr>
          <p:cNvSpPr txBox="1">
            <a:spLocks noGrp="1"/>
          </p:cNvSpPr>
          <p:nvPr>
            <p:ph type="title"/>
          </p:nvPr>
        </p:nvSpPr>
        <p:spPr>
          <a:xfrm>
            <a:off x="433388" y="182799"/>
            <a:ext cx="7886700" cy="596899"/>
          </a:xfrm>
        </p:spPr>
        <p:txBody>
          <a:bodyPr rtlCol="0">
            <a:noAutofit/>
          </a:bodyPr>
          <a:lstStyle/>
          <a:p>
            <a:pPr marL="2188210" eaLnBrk="1" fontAlgn="auto" hangingPunct="1">
              <a:lnSpc>
                <a:spcPts val="4765"/>
              </a:lnSpc>
              <a:spcBef>
                <a:spcPts val="0"/>
              </a:spcBef>
              <a:spcAft>
                <a:spcPts val="0"/>
              </a:spcAft>
              <a:defRPr/>
            </a:pPr>
            <a:r>
              <a:rPr sz="3600" b="1" spc="-20" dirty="0">
                <a:latin typeface="Arial" panose="020B0604020202020204" pitchFamily="34" charset="0"/>
                <a:cs typeface="Arial" panose="020B0604020202020204" pitchFamily="34" charset="0"/>
              </a:rPr>
              <a:t>Cyclic</a:t>
            </a:r>
            <a:r>
              <a:rPr sz="3600" b="1" spc="204" dirty="0">
                <a:latin typeface="Arial" panose="020B0604020202020204" pitchFamily="34" charset="0"/>
                <a:cs typeface="Arial" panose="020B0604020202020204" pitchFamily="34" charset="0"/>
              </a:rPr>
              <a:t> </a:t>
            </a:r>
            <a:r>
              <a:rPr sz="3600" b="1" spc="-25" dirty="0">
                <a:latin typeface="Arial" panose="020B0604020202020204" pitchFamily="34" charset="0"/>
                <a:cs typeface="Arial" panose="020B0604020202020204" pitchFamily="34" charset="0"/>
              </a:rPr>
              <a:t>Pref</a:t>
            </a:r>
            <a:r>
              <a:rPr sz="3600" b="1" spc="-15" dirty="0">
                <a:latin typeface="Arial" panose="020B0604020202020204" pitchFamily="34" charset="0"/>
                <a:cs typeface="Arial" panose="020B0604020202020204" pitchFamily="34" charset="0"/>
              </a:rPr>
              <a:t>i</a:t>
            </a:r>
            <a:r>
              <a:rPr sz="3600" b="1" dirty="0">
                <a:latin typeface="Arial" panose="020B0604020202020204" pitchFamily="34" charset="0"/>
                <a:cs typeface="Arial" panose="020B0604020202020204" pitchFamily="34" charset="0"/>
              </a:rPr>
              <a:t>x</a:t>
            </a:r>
            <a:r>
              <a:rPr sz="3600" b="1" spc="204" dirty="0">
                <a:latin typeface="Arial" panose="020B0604020202020204" pitchFamily="34" charset="0"/>
                <a:cs typeface="Arial" panose="020B0604020202020204" pitchFamily="34" charset="0"/>
              </a:rPr>
              <a:t> </a:t>
            </a:r>
            <a:r>
              <a:rPr sz="3600" b="1" spc="-5" dirty="0">
                <a:latin typeface="Arial" panose="020B0604020202020204" pitchFamily="34" charset="0"/>
                <a:cs typeface="Arial" panose="020B0604020202020204" pitchFamily="34" charset="0"/>
              </a:rPr>
              <a:t>(CP)</a:t>
            </a:r>
          </a:p>
        </p:txBody>
      </p:sp>
      <p:sp>
        <p:nvSpPr>
          <p:cNvPr id="3" name="object 3">
            <a:extLst>
              <a:ext uri="{FF2B5EF4-FFF2-40B4-BE49-F238E27FC236}">
                <a16:creationId xmlns:a16="http://schemas.microsoft.com/office/drawing/2014/main" id="{BCA72772-0C4E-4EBB-91F1-70C5E81FA6CB}"/>
              </a:ext>
            </a:extLst>
          </p:cNvPr>
          <p:cNvSpPr txBox="1"/>
          <p:nvPr/>
        </p:nvSpPr>
        <p:spPr>
          <a:xfrm>
            <a:off x="566737" y="917575"/>
            <a:ext cx="8010525" cy="3008313"/>
          </a:xfrm>
          <a:prstGeom prst="rect">
            <a:avLst/>
          </a:prstGeom>
        </p:spPr>
        <p:txBody>
          <a:bodyPr lIns="0" tIns="0" rIns="0" bIns="0">
            <a:spAutoFit/>
          </a:bodyPr>
          <a:lstStyle>
            <a:lvl1pPr marL="355600" indent="-342900">
              <a:tabLst>
                <a:tab pos="355600" algn="l"/>
              </a:tabLst>
              <a:defRPr>
                <a:solidFill>
                  <a:schemeClr val="tx1"/>
                </a:solidFill>
                <a:latin typeface="Calibri" panose="020F0502020204030204" pitchFamily="34" charset="0"/>
              </a:defRPr>
            </a:lvl1pPr>
            <a:lvl2pPr marL="742950" indent="-285750">
              <a:tabLst>
                <a:tab pos="355600" algn="l"/>
              </a:tabLst>
              <a:defRPr>
                <a:solidFill>
                  <a:schemeClr val="tx1"/>
                </a:solidFill>
                <a:latin typeface="Calibri" panose="020F0502020204030204" pitchFamily="34" charset="0"/>
              </a:defRPr>
            </a:lvl2pPr>
            <a:lvl3pPr marL="1143000" indent="-228600">
              <a:tabLst>
                <a:tab pos="355600" algn="l"/>
              </a:tabLst>
              <a:defRPr>
                <a:solidFill>
                  <a:schemeClr val="tx1"/>
                </a:solidFill>
                <a:latin typeface="Calibri" panose="020F0502020204030204" pitchFamily="34" charset="0"/>
              </a:defRPr>
            </a:lvl3pPr>
            <a:lvl4pPr marL="1600200" indent="-228600">
              <a:tabLst>
                <a:tab pos="355600" algn="l"/>
              </a:tabLst>
              <a:defRPr>
                <a:solidFill>
                  <a:schemeClr val="tx1"/>
                </a:solidFill>
                <a:latin typeface="Calibri" panose="020F0502020204030204" pitchFamily="34" charset="0"/>
              </a:defRPr>
            </a:lvl4pPr>
            <a:lvl5pPr marL="2057400" indent="-228600">
              <a:tabLst>
                <a:tab pos="355600" algn="l"/>
              </a:tabLst>
              <a:defRPr>
                <a:solidFill>
                  <a:schemeClr val="tx1"/>
                </a:solidFill>
                <a:latin typeface="Calibri" panose="020F0502020204030204" pitchFamily="34" charset="0"/>
              </a:defRPr>
            </a:lvl5pPr>
            <a:lvl6pPr marL="2514600" indent="-228600" fontAlgn="base">
              <a:spcBef>
                <a:spcPct val="0"/>
              </a:spcBef>
              <a:spcAft>
                <a:spcPct val="0"/>
              </a:spcAft>
              <a:tabLst>
                <a:tab pos="355600" algn="l"/>
              </a:tabLst>
              <a:defRPr>
                <a:solidFill>
                  <a:schemeClr val="tx1"/>
                </a:solidFill>
                <a:latin typeface="Calibri" panose="020F0502020204030204" pitchFamily="34" charset="0"/>
              </a:defRPr>
            </a:lvl6pPr>
            <a:lvl7pPr marL="2971800" indent="-228600" fontAlgn="base">
              <a:spcBef>
                <a:spcPct val="0"/>
              </a:spcBef>
              <a:spcAft>
                <a:spcPct val="0"/>
              </a:spcAft>
              <a:tabLst>
                <a:tab pos="355600" algn="l"/>
              </a:tabLst>
              <a:defRPr>
                <a:solidFill>
                  <a:schemeClr val="tx1"/>
                </a:solidFill>
                <a:latin typeface="Calibri" panose="020F0502020204030204" pitchFamily="34" charset="0"/>
              </a:defRPr>
            </a:lvl7pPr>
            <a:lvl8pPr marL="3429000" indent="-228600" fontAlgn="base">
              <a:spcBef>
                <a:spcPct val="0"/>
              </a:spcBef>
              <a:spcAft>
                <a:spcPct val="0"/>
              </a:spcAft>
              <a:tabLst>
                <a:tab pos="355600" algn="l"/>
              </a:tabLst>
              <a:defRPr>
                <a:solidFill>
                  <a:schemeClr val="tx1"/>
                </a:solidFill>
                <a:latin typeface="Calibri" panose="020F0502020204030204" pitchFamily="34" charset="0"/>
              </a:defRPr>
            </a:lvl8pPr>
            <a:lvl9pPr marL="3886200" indent="-228600" fontAlgn="base">
              <a:spcBef>
                <a:spcPct val="0"/>
              </a:spcBef>
              <a:spcAft>
                <a:spcPct val="0"/>
              </a:spcAft>
              <a:tabLst>
                <a:tab pos="355600" algn="l"/>
              </a:tabLst>
              <a:defRPr>
                <a:solidFill>
                  <a:schemeClr val="tx1"/>
                </a:solidFill>
                <a:latin typeface="Calibri" panose="020F0502020204030204" pitchFamily="34" charset="0"/>
              </a:defRPr>
            </a:lvl9pPr>
          </a:lstStyle>
          <a:p>
            <a:pPr>
              <a:lnSpc>
                <a:spcPts val="3300"/>
              </a:lnSpc>
              <a:buFont typeface="Arial" panose="020B0604020202020204" pitchFamily="34" charset="0"/>
              <a:buChar char="•"/>
            </a:pP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However,</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we</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don’t</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know</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delay</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spread</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exactly</a:t>
            </a:r>
          </a:p>
          <a:p>
            <a:pPr>
              <a:lnSpc>
                <a:spcPts val="2600"/>
              </a:lnSpc>
              <a:spcBef>
                <a:spcPts val="1263"/>
              </a:spcBef>
            </a:pPr>
            <a:r>
              <a:rPr lang="en-US" altLang="en-US" sz="1300" dirty="0">
                <a:latin typeface="Wingdings 3" panose="05040102010807070707" pitchFamily="18" charset="2"/>
                <a:ea typeface="Wingdings 3" panose="05040102010807070707" pitchFamily="18" charset="2"/>
                <a:cs typeface="Wingdings 3" panose="05040102010807070707" pitchFamily="18" charset="2"/>
              </a:rPr>
              <a:t></a:t>
            </a:r>
            <a:r>
              <a:rPr lang="en-US" altLang="en-US" sz="13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hardware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doesn’t</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allow</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blank</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space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because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it</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needs</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to</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send</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out</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signals</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continuously</a:t>
            </a:r>
          </a:p>
          <a:p>
            <a:pPr>
              <a:spcBef>
                <a:spcPts val="1175"/>
              </a:spcBef>
              <a:buFont typeface="Arial" panose="020B0604020202020204" pitchFamily="34" charset="0"/>
              <a:buChar char="•"/>
            </a:pP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Solution:</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Cyclic</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rebuchet MS" panose="020B0603020202020204" pitchFamily="34" charset="0"/>
                <a:ea typeface="Trebuchet MS" panose="020B0603020202020204" pitchFamily="34" charset="0"/>
                <a:cs typeface="Trebuchet MS" panose="020B0603020202020204" pitchFamily="34" charset="0"/>
              </a:rPr>
              <a:t>Prefix</a:t>
            </a:r>
          </a:p>
          <a:p>
            <a:pPr>
              <a:lnSpc>
                <a:spcPct val="102000"/>
              </a:lnSpc>
              <a:spcBef>
                <a:spcPts val="1075"/>
              </a:spcBef>
            </a:pPr>
            <a:r>
              <a:rPr lang="en-US" altLang="en-US" sz="1300" dirty="0">
                <a:latin typeface="Wingdings 3" panose="05040102010807070707" pitchFamily="18" charset="2"/>
                <a:ea typeface="Wingdings 3" panose="05040102010807070707" pitchFamily="18" charset="2"/>
                <a:cs typeface="Wingdings 3" panose="05040102010807070707" pitchFamily="18" charset="2"/>
              </a:rPr>
              <a:t></a:t>
            </a:r>
            <a:r>
              <a:rPr lang="en-US" altLang="en-US" sz="13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Make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symbol</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period</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longer</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by</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copying</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tail</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and</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glue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it</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in</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sz="2200" dirty="0">
                <a:latin typeface="Times New Roman" panose="02020603050405020304" pitchFamily="18" charset="0"/>
                <a:cs typeface="Times New Roman" panose="02020603050405020304" pitchFamily="18" charset="0"/>
              </a:rPr>
              <a:t> </a:t>
            </a:r>
            <a:r>
              <a:rPr lang="en-US" altLang="en-US" sz="2200" dirty="0">
                <a:latin typeface="Trebuchet MS" panose="020B0603020202020204" pitchFamily="34" charset="0"/>
                <a:ea typeface="Trebuchet MS" panose="020B0603020202020204" pitchFamily="34" charset="0"/>
                <a:cs typeface="Trebuchet MS" panose="020B0603020202020204" pitchFamily="34" charset="0"/>
              </a:rPr>
              <a:t>front</a:t>
            </a:r>
          </a:p>
        </p:txBody>
      </p:sp>
      <p:grpSp>
        <p:nvGrpSpPr>
          <p:cNvPr id="5" name="Group 4">
            <a:extLst>
              <a:ext uri="{FF2B5EF4-FFF2-40B4-BE49-F238E27FC236}">
                <a16:creationId xmlns:a16="http://schemas.microsoft.com/office/drawing/2014/main" id="{A211156E-90D0-4DBD-85D6-105125F1735F}"/>
              </a:ext>
            </a:extLst>
          </p:cNvPr>
          <p:cNvGrpSpPr/>
          <p:nvPr/>
        </p:nvGrpSpPr>
        <p:grpSpPr>
          <a:xfrm>
            <a:off x="746125" y="3914187"/>
            <a:ext cx="8124825" cy="2357437"/>
            <a:chOff x="746125" y="3914187"/>
            <a:chExt cx="8124825" cy="2357437"/>
          </a:xfrm>
        </p:grpSpPr>
        <p:sp>
          <p:nvSpPr>
            <p:cNvPr id="4" name="object 4">
              <a:extLst>
                <a:ext uri="{FF2B5EF4-FFF2-40B4-BE49-F238E27FC236}">
                  <a16:creationId xmlns:a16="http://schemas.microsoft.com/office/drawing/2014/main" id="{5873C4E8-0B4C-4362-9C49-942A49EA3AA2}"/>
                </a:ext>
              </a:extLst>
            </p:cNvPr>
            <p:cNvSpPr txBox="1"/>
            <p:nvPr/>
          </p:nvSpPr>
          <p:spPr>
            <a:xfrm>
              <a:off x="2395538" y="6120812"/>
              <a:ext cx="1182687" cy="141287"/>
            </a:xfrm>
            <a:prstGeom prst="rect">
              <a:avLst/>
            </a:prstGeom>
          </p:spPr>
          <p:txBody>
            <a:bodyPr lIns="0" tIns="0" rIns="0" bIns="0">
              <a:spAutoFit/>
            </a:bodyPr>
            <a:lstStyle/>
            <a:p>
              <a:pPr marL="12700" fontAlgn="auto">
                <a:spcBef>
                  <a:spcPts val="0"/>
                </a:spcBef>
                <a:spcAft>
                  <a:spcPts val="0"/>
                </a:spcAft>
                <a:defRPr/>
              </a:pPr>
              <a:r>
                <a:rPr sz="900" spc="190" dirty="0">
                  <a:latin typeface="Arial"/>
                  <a:cs typeface="Arial"/>
                </a:rPr>
                <a:t>Orig</a:t>
              </a:r>
              <a:r>
                <a:rPr sz="900" spc="90" dirty="0">
                  <a:latin typeface="Arial"/>
                  <a:cs typeface="Arial"/>
                </a:rPr>
                <a:t>i</a:t>
              </a:r>
              <a:r>
                <a:rPr sz="900" spc="225" dirty="0">
                  <a:latin typeface="Arial"/>
                  <a:cs typeface="Arial"/>
                </a:rPr>
                <a:t>na</a:t>
              </a:r>
              <a:r>
                <a:rPr sz="900" spc="90" dirty="0">
                  <a:latin typeface="Arial"/>
                  <a:cs typeface="Arial"/>
                </a:rPr>
                <a:t>l</a:t>
              </a:r>
              <a:r>
                <a:rPr sz="900" dirty="0">
                  <a:latin typeface="Times New Roman"/>
                  <a:cs typeface="Times New Roman"/>
                </a:rPr>
                <a:t> </a:t>
              </a:r>
              <a:r>
                <a:rPr sz="900" spc="-85" dirty="0">
                  <a:latin typeface="Times New Roman"/>
                  <a:cs typeface="Times New Roman"/>
                </a:rPr>
                <a:t> </a:t>
              </a:r>
              <a:r>
                <a:rPr sz="900" spc="245" dirty="0">
                  <a:latin typeface="Arial"/>
                  <a:cs typeface="Arial"/>
                </a:rPr>
                <a:t>sym</a:t>
              </a:r>
              <a:r>
                <a:rPr sz="900" spc="235" dirty="0">
                  <a:latin typeface="Arial"/>
                  <a:cs typeface="Arial"/>
                </a:rPr>
                <a:t>b</a:t>
              </a:r>
              <a:r>
                <a:rPr sz="900" spc="240" dirty="0">
                  <a:latin typeface="Arial"/>
                  <a:cs typeface="Arial"/>
                </a:rPr>
                <a:t>o</a:t>
              </a:r>
              <a:r>
                <a:rPr sz="900" spc="90" dirty="0">
                  <a:latin typeface="Arial"/>
                  <a:cs typeface="Arial"/>
                </a:rPr>
                <a:t>l</a:t>
              </a:r>
              <a:endParaRPr sz="900">
                <a:latin typeface="Arial"/>
                <a:cs typeface="Arial"/>
              </a:endParaRPr>
            </a:p>
          </p:txBody>
        </p:sp>
        <p:sp>
          <p:nvSpPr>
            <p:cNvPr id="18437" name="object 5">
              <a:extLst>
                <a:ext uri="{FF2B5EF4-FFF2-40B4-BE49-F238E27FC236}">
                  <a16:creationId xmlns:a16="http://schemas.microsoft.com/office/drawing/2014/main" id="{BDFEA877-9ACC-4FC9-8DE8-0EC20919E136}"/>
                </a:ext>
              </a:extLst>
            </p:cNvPr>
            <p:cNvSpPr>
              <a:spLocks noChangeArrowheads="1"/>
            </p:cNvSpPr>
            <p:nvPr/>
          </p:nvSpPr>
          <p:spPr bwMode="auto">
            <a:xfrm>
              <a:off x="1755775" y="4265024"/>
              <a:ext cx="1838325" cy="1538288"/>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18438" name="object 6">
              <a:extLst>
                <a:ext uri="{FF2B5EF4-FFF2-40B4-BE49-F238E27FC236}">
                  <a16:creationId xmlns:a16="http://schemas.microsoft.com/office/drawing/2014/main" id="{2B5C2387-5F54-4C8E-81B9-C3AB2CA50FFE}"/>
                </a:ext>
              </a:extLst>
            </p:cNvPr>
            <p:cNvSpPr>
              <a:spLocks noChangeArrowheads="1"/>
            </p:cNvSpPr>
            <p:nvPr/>
          </p:nvSpPr>
          <p:spPr bwMode="auto">
            <a:xfrm>
              <a:off x="4576763" y="4287249"/>
              <a:ext cx="1757362" cy="149066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18439" name="object 7">
              <a:extLst>
                <a:ext uri="{FF2B5EF4-FFF2-40B4-BE49-F238E27FC236}">
                  <a16:creationId xmlns:a16="http://schemas.microsoft.com/office/drawing/2014/main" id="{E79B5849-02F0-4A59-9545-26DB459710C3}"/>
                </a:ext>
              </a:extLst>
            </p:cNvPr>
            <p:cNvSpPr>
              <a:spLocks/>
            </p:cNvSpPr>
            <p:nvPr/>
          </p:nvSpPr>
          <p:spPr bwMode="auto">
            <a:xfrm>
              <a:off x="2343150" y="6096999"/>
              <a:ext cx="1290638" cy="0"/>
            </a:xfrm>
            <a:custGeom>
              <a:avLst/>
              <a:gdLst>
                <a:gd name="T0" fmla="*/ 0 w 1290954"/>
                <a:gd name="T1" fmla="*/ 1290888 w 1290954"/>
              </a:gdLst>
              <a:ahLst/>
              <a:cxnLst>
                <a:cxn ang="0">
                  <a:pos x="T0" y="0"/>
                </a:cxn>
                <a:cxn ang="0">
                  <a:pos x="T1" y="0"/>
                </a:cxn>
              </a:cxnLst>
              <a:rect l="0" t="0" r="r" b="b"/>
              <a:pathLst>
                <a:path w="1290954">
                  <a:moveTo>
                    <a:pt x="0" y="0"/>
                  </a:moveTo>
                  <a:lnTo>
                    <a:pt x="1290888" y="0"/>
                  </a:lnTo>
                </a:path>
              </a:pathLst>
            </a:custGeom>
            <a:noFill/>
            <a:ln w="18843">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8440" name="object 8">
              <a:extLst>
                <a:ext uri="{FF2B5EF4-FFF2-40B4-BE49-F238E27FC236}">
                  <a16:creationId xmlns:a16="http://schemas.microsoft.com/office/drawing/2014/main" id="{D3615D22-91D0-4F33-9B47-E9AD80C0F090}"/>
                </a:ext>
              </a:extLst>
            </p:cNvPr>
            <p:cNvSpPr>
              <a:spLocks/>
            </p:cNvSpPr>
            <p:nvPr/>
          </p:nvSpPr>
          <p:spPr bwMode="auto">
            <a:xfrm>
              <a:off x="2212975" y="6057312"/>
              <a:ext cx="139700" cy="77787"/>
            </a:xfrm>
            <a:custGeom>
              <a:avLst/>
              <a:gdLst>
                <a:gd name="T0" fmla="*/ 139826 w 140335"/>
                <a:gd name="T1" fmla="*/ 0 h 76834"/>
                <a:gd name="T2" fmla="*/ 0 w 140335"/>
                <a:gd name="T3" fmla="*/ 38194 h 76834"/>
                <a:gd name="T4" fmla="*/ 139826 w 140335"/>
                <a:gd name="T5" fmla="*/ 76379 h 76834"/>
                <a:gd name="T6" fmla="*/ 139826 w 140335"/>
                <a:gd name="T7" fmla="*/ 0 h 76834"/>
              </a:gdLst>
              <a:ahLst/>
              <a:cxnLst>
                <a:cxn ang="0">
                  <a:pos x="T0" y="T1"/>
                </a:cxn>
                <a:cxn ang="0">
                  <a:pos x="T2" y="T3"/>
                </a:cxn>
                <a:cxn ang="0">
                  <a:pos x="T4" y="T5"/>
                </a:cxn>
                <a:cxn ang="0">
                  <a:pos x="T6" y="T7"/>
                </a:cxn>
              </a:cxnLst>
              <a:rect l="0" t="0" r="r" b="b"/>
              <a:pathLst>
                <a:path w="140335" h="76834">
                  <a:moveTo>
                    <a:pt x="139826" y="0"/>
                  </a:moveTo>
                  <a:lnTo>
                    <a:pt x="0" y="38194"/>
                  </a:lnTo>
                  <a:lnTo>
                    <a:pt x="139826" y="76379"/>
                  </a:lnTo>
                  <a:lnTo>
                    <a:pt x="1398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441" name="object 9">
              <a:extLst>
                <a:ext uri="{FF2B5EF4-FFF2-40B4-BE49-F238E27FC236}">
                  <a16:creationId xmlns:a16="http://schemas.microsoft.com/office/drawing/2014/main" id="{22A43150-AF06-4B75-8B16-EE9AB3A13F83}"/>
                </a:ext>
              </a:extLst>
            </p:cNvPr>
            <p:cNvSpPr>
              <a:spLocks/>
            </p:cNvSpPr>
            <p:nvPr/>
          </p:nvSpPr>
          <p:spPr bwMode="auto">
            <a:xfrm>
              <a:off x="3624263" y="6057312"/>
              <a:ext cx="139700" cy="77787"/>
            </a:xfrm>
            <a:custGeom>
              <a:avLst/>
              <a:gdLst>
                <a:gd name="T0" fmla="*/ 0 w 140335"/>
                <a:gd name="T1" fmla="*/ 0 h 76834"/>
                <a:gd name="T2" fmla="*/ 0 w 140335"/>
                <a:gd name="T3" fmla="*/ 76379 h 76834"/>
                <a:gd name="T4" fmla="*/ 139842 w 140335"/>
                <a:gd name="T5" fmla="*/ 38194 h 76834"/>
                <a:gd name="T6" fmla="*/ 0 w 140335"/>
                <a:gd name="T7" fmla="*/ 0 h 76834"/>
              </a:gdLst>
              <a:ahLst/>
              <a:cxnLst>
                <a:cxn ang="0">
                  <a:pos x="T0" y="T1"/>
                </a:cxn>
                <a:cxn ang="0">
                  <a:pos x="T2" y="T3"/>
                </a:cxn>
                <a:cxn ang="0">
                  <a:pos x="T4" y="T5"/>
                </a:cxn>
                <a:cxn ang="0">
                  <a:pos x="T6" y="T7"/>
                </a:cxn>
              </a:cxnLst>
              <a:rect l="0" t="0" r="r" b="b"/>
              <a:pathLst>
                <a:path w="140335" h="76834">
                  <a:moveTo>
                    <a:pt x="0" y="0"/>
                  </a:moveTo>
                  <a:lnTo>
                    <a:pt x="0" y="76379"/>
                  </a:lnTo>
                  <a:lnTo>
                    <a:pt x="139842" y="3819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0" name="object 10">
              <a:extLst>
                <a:ext uri="{FF2B5EF4-FFF2-40B4-BE49-F238E27FC236}">
                  <a16:creationId xmlns:a16="http://schemas.microsoft.com/office/drawing/2014/main" id="{27552C0F-10B3-4A39-8B47-7D22E4D1E764}"/>
                </a:ext>
              </a:extLst>
            </p:cNvPr>
            <p:cNvSpPr txBox="1"/>
            <p:nvPr/>
          </p:nvSpPr>
          <p:spPr>
            <a:xfrm>
              <a:off x="746125" y="5225462"/>
              <a:ext cx="1225550" cy="152400"/>
            </a:xfrm>
            <a:prstGeom prst="rect">
              <a:avLst/>
            </a:prstGeom>
          </p:spPr>
          <p:txBody>
            <a:bodyPr lIns="0" tIns="0" rIns="0" bIns="0">
              <a:spAutoFit/>
            </a:bodyPr>
            <a:lstStyle/>
            <a:p>
              <a:pPr marL="12700" fontAlgn="auto">
                <a:spcBef>
                  <a:spcPts val="0"/>
                </a:spcBef>
                <a:spcAft>
                  <a:spcPts val="0"/>
                </a:spcAft>
                <a:defRPr/>
              </a:pPr>
              <a:r>
                <a:rPr sz="1000" spc="185" dirty="0">
                  <a:latin typeface="Arial"/>
                  <a:cs typeface="Arial"/>
                </a:rPr>
                <a:t>P</a:t>
              </a:r>
              <a:r>
                <a:rPr sz="1000" spc="165" dirty="0">
                  <a:latin typeface="Arial"/>
                  <a:cs typeface="Arial"/>
                </a:rPr>
                <a:t>o</a:t>
              </a:r>
              <a:r>
                <a:rPr sz="1000" spc="80" dirty="0">
                  <a:latin typeface="Arial"/>
                  <a:cs typeface="Arial"/>
                </a:rPr>
                <a:t>rt</a:t>
              </a:r>
              <a:r>
                <a:rPr sz="1000" spc="70" dirty="0">
                  <a:latin typeface="Arial"/>
                  <a:cs typeface="Arial"/>
                </a:rPr>
                <a:t>i</a:t>
              </a:r>
              <a:r>
                <a:rPr sz="1000" spc="150" dirty="0">
                  <a:latin typeface="Arial"/>
                  <a:cs typeface="Arial"/>
                </a:rPr>
                <a:t>o</a:t>
              </a:r>
              <a:r>
                <a:rPr sz="1000" spc="155" dirty="0">
                  <a:latin typeface="Arial"/>
                  <a:cs typeface="Arial"/>
                </a:rPr>
                <a:t>n</a:t>
              </a:r>
              <a:r>
                <a:rPr sz="1000" spc="114" dirty="0">
                  <a:latin typeface="Times New Roman"/>
                  <a:cs typeface="Times New Roman"/>
                </a:rPr>
                <a:t> </a:t>
              </a:r>
              <a:r>
                <a:rPr sz="1000" spc="150" dirty="0">
                  <a:latin typeface="Arial"/>
                  <a:cs typeface="Arial"/>
                </a:rPr>
                <a:t>a</a:t>
              </a:r>
              <a:r>
                <a:rPr sz="1000" spc="170" dirty="0">
                  <a:latin typeface="Arial"/>
                  <a:cs typeface="Arial"/>
                </a:rPr>
                <a:t>d</a:t>
              </a:r>
              <a:r>
                <a:rPr sz="1000" spc="160" dirty="0">
                  <a:latin typeface="Arial"/>
                  <a:cs typeface="Arial"/>
                </a:rPr>
                <a:t>d</a:t>
              </a:r>
              <a:r>
                <a:rPr sz="1000" spc="165" dirty="0">
                  <a:latin typeface="Arial"/>
                  <a:cs typeface="Arial"/>
                </a:rPr>
                <a:t>e</a:t>
              </a:r>
              <a:r>
                <a:rPr sz="1000" spc="155" dirty="0">
                  <a:latin typeface="Arial"/>
                  <a:cs typeface="Arial"/>
                </a:rPr>
                <a:t>d</a:t>
              </a:r>
              <a:r>
                <a:rPr sz="1000" spc="114" dirty="0">
                  <a:latin typeface="Times New Roman"/>
                  <a:cs typeface="Times New Roman"/>
                </a:rPr>
                <a:t> </a:t>
              </a:r>
              <a:r>
                <a:rPr sz="1000" spc="45" dirty="0">
                  <a:latin typeface="Arial"/>
                  <a:cs typeface="Arial"/>
                </a:rPr>
                <a:t>i</a:t>
              </a:r>
              <a:r>
                <a:rPr sz="1000" spc="155" dirty="0">
                  <a:latin typeface="Arial"/>
                  <a:cs typeface="Arial"/>
                </a:rPr>
                <a:t>n</a:t>
              </a:r>
              <a:endParaRPr sz="1000">
                <a:latin typeface="Arial"/>
                <a:cs typeface="Arial"/>
              </a:endParaRPr>
            </a:p>
          </p:txBody>
        </p:sp>
        <p:sp>
          <p:nvSpPr>
            <p:cNvPr id="11" name="object 11">
              <a:extLst>
                <a:ext uri="{FF2B5EF4-FFF2-40B4-BE49-F238E27FC236}">
                  <a16:creationId xmlns:a16="http://schemas.microsoft.com/office/drawing/2014/main" id="{44768AEA-2D72-4E48-89CB-2AD8786A77E3}"/>
                </a:ext>
              </a:extLst>
            </p:cNvPr>
            <p:cNvSpPr txBox="1"/>
            <p:nvPr/>
          </p:nvSpPr>
          <p:spPr>
            <a:xfrm>
              <a:off x="746125" y="5352462"/>
              <a:ext cx="630238" cy="152400"/>
            </a:xfrm>
            <a:prstGeom prst="rect">
              <a:avLst/>
            </a:prstGeom>
          </p:spPr>
          <p:txBody>
            <a:bodyPr lIns="0" tIns="0" rIns="0" bIns="0">
              <a:spAutoFit/>
            </a:bodyPr>
            <a:lstStyle/>
            <a:p>
              <a:pPr marL="12700" fontAlgn="auto">
                <a:spcBef>
                  <a:spcPts val="0"/>
                </a:spcBef>
                <a:spcAft>
                  <a:spcPts val="0"/>
                </a:spcAft>
                <a:defRPr/>
              </a:pPr>
              <a:r>
                <a:rPr sz="1000" spc="125" dirty="0">
                  <a:latin typeface="Arial"/>
                  <a:cs typeface="Arial"/>
                </a:rPr>
                <a:t>the</a:t>
              </a:r>
              <a:r>
                <a:rPr sz="1000" spc="110" dirty="0">
                  <a:latin typeface="Times New Roman"/>
                  <a:cs typeface="Times New Roman"/>
                </a:rPr>
                <a:t> </a:t>
              </a:r>
              <a:r>
                <a:rPr sz="1000" spc="85" dirty="0">
                  <a:latin typeface="Arial"/>
                  <a:cs typeface="Arial"/>
                </a:rPr>
                <a:t>f</a:t>
              </a:r>
              <a:r>
                <a:rPr sz="1000" spc="80" dirty="0">
                  <a:latin typeface="Arial"/>
                  <a:cs typeface="Arial"/>
                </a:rPr>
                <a:t>r</a:t>
              </a:r>
              <a:r>
                <a:rPr sz="1000" spc="165" dirty="0">
                  <a:latin typeface="Arial"/>
                  <a:cs typeface="Arial"/>
                </a:rPr>
                <a:t>o</a:t>
              </a:r>
              <a:r>
                <a:rPr sz="1000" spc="160" dirty="0">
                  <a:latin typeface="Arial"/>
                  <a:cs typeface="Arial"/>
                </a:rPr>
                <a:t>n</a:t>
              </a:r>
              <a:r>
                <a:rPr sz="1000" spc="75" dirty="0">
                  <a:latin typeface="Arial"/>
                  <a:cs typeface="Arial"/>
                </a:rPr>
                <a:t>t</a:t>
              </a:r>
              <a:endParaRPr sz="1000">
                <a:latin typeface="Arial"/>
                <a:cs typeface="Arial"/>
              </a:endParaRPr>
            </a:p>
          </p:txBody>
        </p:sp>
        <p:sp>
          <p:nvSpPr>
            <p:cNvPr id="12" name="object 12">
              <a:extLst>
                <a:ext uri="{FF2B5EF4-FFF2-40B4-BE49-F238E27FC236}">
                  <a16:creationId xmlns:a16="http://schemas.microsoft.com/office/drawing/2014/main" id="{47E175D8-1DFC-49D0-B843-66920D51160D}"/>
                </a:ext>
              </a:extLst>
            </p:cNvPr>
            <p:cNvSpPr txBox="1"/>
            <p:nvPr/>
          </p:nvSpPr>
          <p:spPr>
            <a:xfrm>
              <a:off x="2938463" y="4630149"/>
              <a:ext cx="1600200" cy="152400"/>
            </a:xfrm>
            <a:prstGeom prst="rect">
              <a:avLst/>
            </a:prstGeom>
          </p:spPr>
          <p:txBody>
            <a:bodyPr lIns="0" tIns="0" rIns="0" bIns="0">
              <a:spAutoFit/>
            </a:bodyPr>
            <a:lstStyle/>
            <a:p>
              <a:pPr marL="12700" fontAlgn="auto">
                <a:spcBef>
                  <a:spcPts val="0"/>
                </a:spcBef>
                <a:spcAft>
                  <a:spcPts val="0"/>
                </a:spcAft>
                <a:defRPr/>
              </a:pPr>
              <a:r>
                <a:rPr sz="1000" spc="210" dirty="0">
                  <a:latin typeface="Arial"/>
                  <a:cs typeface="Arial"/>
                </a:rPr>
                <a:t>C</a:t>
              </a:r>
              <a:r>
                <a:rPr sz="1000" spc="150" dirty="0">
                  <a:latin typeface="Arial"/>
                  <a:cs typeface="Arial"/>
                </a:rPr>
                <a:t>o</a:t>
              </a:r>
              <a:r>
                <a:rPr sz="1000" spc="165" dirty="0">
                  <a:latin typeface="Arial"/>
                  <a:cs typeface="Arial"/>
                </a:rPr>
                <a:t>p</a:t>
              </a:r>
              <a:r>
                <a:rPr sz="1000" spc="140" dirty="0">
                  <a:latin typeface="Arial"/>
                  <a:cs typeface="Arial"/>
                </a:rPr>
                <a:t>y</a:t>
              </a:r>
              <a:r>
                <a:rPr sz="1000" spc="114" dirty="0">
                  <a:latin typeface="Times New Roman"/>
                  <a:cs typeface="Times New Roman"/>
                </a:rPr>
                <a:t> </a:t>
              </a:r>
              <a:r>
                <a:rPr sz="1000" spc="105" dirty="0">
                  <a:latin typeface="Arial"/>
                  <a:cs typeface="Arial"/>
                </a:rPr>
                <a:t>this</a:t>
              </a:r>
              <a:r>
                <a:rPr sz="1000" spc="120" dirty="0">
                  <a:latin typeface="Times New Roman"/>
                  <a:cs typeface="Times New Roman"/>
                </a:rPr>
                <a:t> </a:t>
              </a:r>
              <a:r>
                <a:rPr sz="1000" spc="130" dirty="0">
                  <a:latin typeface="Arial"/>
                  <a:cs typeface="Arial"/>
                </a:rPr>
                <a:t>p</a:t>
              </a:r>
              <a:r>
                <a:rPr sz="1000" spc="165" dirty="0">
                  <a:latin typeface="Arial"/>
                  <a:cs typeface="Arial"/>
                </a:rPr>
                <a:t>a</a:t>
              </a:r>
              <a:r>
                <a:rPr sz="1000" spc="80" dirty="0">
                  <a:latin typeface="Arial"/>
                  <a:cs typeface="Arial"/>
                </a:rPr>
                <a:t>r</a:t>
              </a:r>
              <a:r>
                <a:rPr sz="1000" spc="75" dirty="0">
                  <a:latin typeface="Arial"/>
                  <a:cs typeface="Arial"/>
                </a:rPr>
                <a:t>t</a:t>
              </a:r>
              <a:r>
                <a:rPr sz="1000" spc="120" dirty="0">
                  <a:latin typeface="Times New Roman"/>
                  <a:cs typeface="Times New Roman"/>
                </a:rPr>
                <a:t> </a:t>
              </a:r>
              <a:r>
                <a:rPr sz="1000" spc="114" dirty="0">
                  <a:latin typeface="Arial"/>
                  <a:cs typeface="Arial"/>
                </a:rPr>
                <a:t>at</a:t>
              </a:r>
              <a:r>
                <a:rPr sz="1000" spc="110" dirty="0">
                  <a:latin typeface="Times New Roman"/>
                  <a:cs typeface="Times New Roman"/>
                </a:rPr>
                <a:t> </a:t>
              </a:r>
              <a:r>
                <a:rPr sz="1000" spc="75" dirty="0">
                  <a:latin typeface="Arial"/>
                  <a:cs typeface="Arial"/>
                </a:rPr>
                <a:t>f</a:t>
              </a:r>
              <a:r>
                <a:rPr sz="1000" spc="100" dirty="0">
                  <a:latin typeface="Arial"/>
                  <a:cs typeface="Arial"/>
                </a:rPr>
                <a:t>r</a:t>
              </a:r>
              <a:r>
                <a:rPr sz="1000" spc="125" dirty="0">
                  <a:latin typeface="Arial"/>
                  <a:cs typeface="Arial"/>
                </a:rPr>
                <a:t>ont</a:t>
              </a:r>
              <a:endParaRPr sz="1000">
                <a:latin typeface="Arial"/>
                <a:cs typeface="Arial"/>
              </a:endParaRPr>
            </a:p>
          </p:txBody>
        </p:sp>
        <p:sp>
          <p:nvSpPr>
            <p:cNvPr id="18445" name="object 13">
              <a:extLst>
                <a:ext uri="{FF2B5EF4-FFF2-40B4-BE49-F238E27FC236}">
                  <a16:creationId xmlns:a16="http://schemas.microsoft.com/office/drawing/2014/main" id="{B7E8BD35-CC3A-4D4D-8610-1B6FC1BD3378}"/>
                </a:ext>
              </a:extLst>
            </p:cNvPr>
            <p:cNvSpPr>
              <a:spLocks/>
            </p:cNvSpPr>
            <p:nvPr/>
          </p:nvSpPr>
          <p:spPr bwMode="auto">
            <a:xfrm>
              <a:off x="1411288" y="5058774"/>
              <a:ext cx="5591175" cy="0"/>
            </a:xfrm>
            <a:custGeom>
              <a:avLst/>
              <a:gdLst>
                <a:gd name="T0" fmla="*/ 0 w 5591175"/>
                <a:gd name="T1" fmla="*/ 5590824 w 5591175"/>
              </a:gdLst>
              <a:ahLst/>
              <a:cxnLst>
                <a:cxn ang="0">
                  <a:pos x="T0" y="0"/>
                </a:cxn>
                <a:cxn ang="0">
                  <a:pos x="T1" y="0"/>
                </a:cxn>
              </a:cxnLst>
              <a:rect l="0" t="0" r="r" b="b"/>
              <a:pathLst>
                <a:path w="5591175">
                  <a:moveTo>
                    <a:pt x="0" y="0"/>
                  </a:moveTo>
                  <a:lnTo>
                    <a:pt x="5590824" y="0"/>
                  </a:lnTo>
                </a:path>
              </a:pathLst>
            </a:custGeom>
            <a:noFill/>
            <a:ln w="1425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8446" name="object 14">
              <a:extLst>
                <a:ext uri="{FF2B5EF4-FFF2-40B4-BE49-F238E27FC236}">
                  <a16:creationId xmlns:a16="http://schemas.microsoft.com/office/drawing/2014/main" id="{1ECCD04F-ED10-4531-9210-84A7FB8530E2}"/>
                </a:ext>
              </a:extLst>
            </p:cNvPr>
            <p:cNvSpPr>
              <a:spLocks/>
            </p:cNvSpPr>
            <p:nvPr/>
          </p:nvSpPr>
          <p:spPr bwMode="auto">
            <a:xfrm>
              <a:off x="1525588" y="6096999"/>
              <a:ext cx="557212" cy="0"/>
            </a:xfrm>
            <a:custGeom>
              <a:avLst/>
              <a:gdLst>
                <a:gd name="T0" fmla="*/ 0 w 557530"/>
                <a:gd name="T1" fmla="*/ 557070 w 557530"/>
              </a:gdLst>
              <a:ahLst/>
              <a:cxnLst>
                <a:cxn ang="0">
                  <a:pos x="T0" y="0"/>
                </a:cxn>
                <a:cxn ang="0">
                  <a:pos x="T1" y="0"/>
                </a:cxn>
              </a:cxnLst>
              <a:rect l="0" t="0" r="r" b="b"/>
              <a:pathLst>
                <a:path w="557530">
                  <a:moveTo>
                    <a:pt x="0" y="0"/>
                  </a:moveTo>
                  <a:lnTo>
                    <a:pt x="557070" y="0"/>
                  </a:lnTo>
                </a:path>
              </a:pathLst>
            </a:custGeom>
            <a:noFill/>
            <a:ln w="18843">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8447" name="object 15">
              <a:extLst>
                <a:ext uri="{FF2B5EF4-FFF2-40B4-BE49-F238E27FC236}">
                  <a16:creationId xmlns:a16="http://schemas.microsoft.com/office/drawing/2014/main" id="{71ABE1D0-4F34-45CD-9397-B7D59E183AF0}"/>
                </a:ext>
              </a:extLst>
            </p:cNvPr>
            <p:cNvSpPr>
              <a:spLocks/>
            </p:cNvSpPr>
            <p:nvPr/>
          </p:nvSpPr>
          <p:spPr bwMode="auto">
            <a:xfrm>
              <a:off x="1395413" y="6057312"/>
              <a:ext cx="139700" cy="77787"/>
            </a:xfrm>
            <a:custGeom>
              <a:avLst/>
              <a:gdLst>
                <a:gd name="T0" fmla="*/ 139826 w 140334"/>
                <a:gd name="T1" fmla="*/ 0 h 76834"/>
                <a:gd name="T2" fmla="*/ 0 w 140334"/>
                <a:gd name="T3" fmla="*/ 38194 h 76834"/>
                <a:gd name="T4" fmla="*/ 139826 w 140334"/>
                <a:gd name="T5" fmla="*/ 76379 h 76834"/>
                <a:gd name="T6" fmla="*/ 139826 w 140334"/>
                <a:gd name="T7" fmla="*/ 0 h 76834"/>
              </a:gdLst>
              <a:ahLst/>
              <a:cxnLst>
                <a:cxn ang="0">
                  <a:pos x="T0" y="T1"/>
                </a:cxn>
                <a:cxn ang="0">
                  <a:pos x="T2" y="T3"/>
                </a:cxn>
                <a:cxn ang="0">
                  <a:pos x="T4" y="T5"/>
                </a:cxn>
                <a:cxn ang="0">
                  <a:pos x="T6" y="T7"/>
                </a:cxn>
              </a:cxnLst>
              <a:rect l="0" t="0" r="r" b="b"/>
              <a:pathLst>
                <a:path w="140334" h="76834">
                  <a:moveTo>
                    <a:pt x="139826" y="0"/>
                  </a:moveTo>
                  <a:lnTo>
                    <a:pt x="0" y="38194"/>
                  </a:lnTo>
                  <a:lnTo>
                    <a:pt x="139826" y="76379"/>
                  </a:lnTo>
                  <a:lnTo>
                    <a:pt x="1398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448" name="object 16">
              <a:extLst>
                <a:ext uri="{FF2B5EF4-FFF2-40B4-BE49-F238E27FC236}">
                  <a16:creationId xmlns:a16="http://schemas.microsoft.com/office/drawing/2014/main" id="{471BEB2B-170B-4640-8B3D-32019D464308}"/>
                </a:ext>
              </a:extLst>
            </p:cNvPr>
            <p:cNvSpPr>
              <a:spLocks/>
            </p:cNvSpPr>
            <p:nvPr/>
          </p:nvSpPr>
          <p:spPr bwMode="auto">
            <a:xfrm>
              <a:off x="2073275" y="6057312"/>
              <a:ext cx="139700" cy="77787"/>
            </a:xfrm>
            <a:custGeom>
              <a:avLst/>
              <a:gdLst>
                <a:gd name="T0" fmla="*/ 0 w 140335"/>
                <a:gd name="T1" fmla="*/ 0 h 76834"/>
                <a:gd name="T2" fmla="*/ 0 w 140335"/>
                <a:gd name="T3" fmla="*/ 76379 h 76834"/>
                <a:gd name="T4" fmla="*/ 139826 w 140335"/>
                <a:gd name="T5" fmla="*/ 38194 h 76834"/>
                <a:gd name="T6" fmla="*/ 0 w 140335"/>
                <a:gd name="T7" fmla="*/ 0 h 76834"/>
              </a:gdLst>
              <a:ahLst/>
              <a:cxnLst>
                <a:cxn ang="0">
                  <a:pos x="T0" y="T1"/>
                </a:cxn>
                <a:cxn ang="0">
                  <a:pos x="T2" y="T3"/>
                </a:cxn>
                <a:cxn ang="0">
                  <a:pos x="T4" y="T5"/>
                </a:cxn>
                <a:cxn ang="0">
                  <a:pos x="T6" y="T7"/>
                </a:cxn>
              </a:cxnLst>
              <a:rect l="0" t="0" r="r" b="b"/>
              <a:pathLst>
                <a:path w="140335" h="76834">
                  <a:moveTo>
                    <a:pt x="0" y="0"/>
                  </a:moveTo>
                  <a:lnTo>
                    <a:pt x="0" y="76379"/>
                  </a:lnTo>
                  <a:lnTo>
                    <a:pt x="139826" y="3819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449" name="object 17">
              <a:extLst>
                <a:ext uri="{FF2B5EF4-FFF2-40B4-BE49-F238E27FC236}">
                  <a16:creationId xmlns:a16="http://schemas.microsoft.com/office/drawing/2014/main" id="{FF5E6BBD-278A-4E65-B88F-B6271C9E4870}"/>
                </a:ext>
              </a:extLst>
            </p:cNvPr>
            <p:cNvSpPr>
              <a:spLocks/>
            </p:cNvSpPr>
            <p:nvPr/>
          </p:nvSpPr>
          <p:spPr bwMode="auto">
            <a:xfrm>
              <a:off x="4973638" y="3914187"/>
              <a:ext cx="1008062" cy="603250"/>
            </a:xfrm>
            <a:custGeom>
              <a:avLst/>
              <a:gdLst>
                <a:gd name="T0" fmla="*/ 712339 w 1009014"/>
                <a:gd name="T1" fmla="*/ 0 h 603250"/>
                <a:gd name="T2" fmla="*/ 657727 w 1009014"/>
                <a:gd name="T3" fmla="*/ 14514 h 603250"/>
                <a:gd name="T4" fmla="*/ 621944 w 1009014"/>
                <a:gd name="T5" fmla="*/ 30553 h 603250"/>
                <a:gd name="T6" fmla="*/ 585032 w 1009014"/>
                <a:gd name="T7" fmla="*/ 49652 h 603250"/>
                <a:gd name="T8" fmla="*/ 514563 w 1009014"/>
                <a:gd name="T9" fmla="*/ 97002 h 603250"/>
                <a:gd name="T10" fmla="*/ 445190 w 1009014"/>
                <a:gd name="T11" fmla="*/ 157343 h 603250"/>
                <a:gd name="T12" fmla="*/ 372495 w 1009014"/>
                <a:gd name="T13" fmla="*/ 223031 h 603250"/>
                <a:gd name="T14" fmla="*/ 238261 w 1009014"/>
                <a:gd name="T15" fmla="*/ 364333 h 603250"/>
                <a:gd name="T16" fmla="*/ 109636 w 1009014"/>
                <a:gd name="T17" fmla="*/ 497991 h 603250"/>
                <a:gd name="T18" fmla="*/ 53675 w 1009014"/>
                <a:gd name="T19" fmla="*/ 552224 h 603250"/>
                <a:gd name="T20" fmla="*/ 0 w 1009014"/>
                <a:gd name="T21" fmla="*/ 594993 h 603250"/>
                <a:gd name="T22" fmla="*/ 14538 w 1009014"/>
                <a:gd name="T23" fmla="*/ 602635 h 603250"/>
                <a:gd name="T24" fmla="*/ 68213 w 1009014"/>
                <a:gd name="T25" fmla="*/ 559856 h 603250"/>
                <a:gd name="T26" fmla="*/ 124144 w 1009014"/>
                <a:gd name="T27" fmla="*/ 505635 h 603250"/>
                <a:gd name="T28" fmla="*/ 387034 w 1009014"/>
                <a:gd name="T29" fmla="*/ 230672 h 603250"/>
                <a:gd name="T30" fmla="*/ 459760 w 1009014"/>
                <a:gd name="T31" fmla="*/ 165750 h 603250"/>
                <a:gd name="T32" fmla="*/ 526876 w 1009014"/>
                <a:gd name="T33" fmla="*/ 106933 h 603250"/>
                <a:gd name="T34" fmla="*/ 596218 w 1009014"/>
                <a:gd name="T35" fmla="*/ 58820 h 603250"/>
                <a:gd name="T36" fmla="*/ 632002 w 1009014"/>
                <a:gd name="T37" fmla="*/ 41245 h 603250"/>
                <a:gd name="T38" fmla="*/ 666688 w 1009014"/>
                <a:gd name="T39" fmla="*/ 25207 h 603250"/>
                <a:gd name="T40" fmla="*/ 729325 w 1009014"/>
                <a:gd name="T41" fmla="*/ 9930 h 603250"/>
                <a:gd name="T42" fmla="*/ 757305 w 1009014"/>
                <a:gd name="T43" fmla="*/ 7644 h 603250"/>
                <a:gd name="T44" fmla="*/ 813622 w 1009014"/>
                <a:gd name="T45" fmla="*/ 7644 h 603250"/>
                <a:gd name="T46" fmla="*/ 791961 w 1009014"/>
                <a:gd name="T47" fmla="*/ 3 h 603250"/>
                <a:gd name="T48" fmla="*/ 712339 w 1009014"/>
                <a:gd name="T49" fmla="*/ 0 h 603250"/>
                <a:gd name="T50" fmla="*/ 813622 w 1009014"/>
                <a:gd name="T51" fmla="*/ 7644 h 603250"/>
                <a:gd name="T52" fmla="*/ 757305 w 1009014"/>
                <a:gd name="T53" fmla="*/ 7644 h 603250"/>
                <a:gd name="T54" fmla="*/ 787480 w 1009014"/>
                <a:gd name="T55" fmla="*/ 12990 h 603250"/>
                <a:gd name="T56" fmla="*/ 815461 w 1009014"/>
                <a:gd name="T57" fmla="*/ 22146 h 603250"/>
                <a:gd name="T58" fmla="*/ 869167 w 1009014"/>
                <a:gd name="T59" fmla="*/ 58820 h 603250"/>
                <a:gd name="T60" fmla="*/ 897117 w 1009014"/>
                <a:gd name="T61" fmla="*/ 89370 h 603250"/>
                <a:gd name="T62" fmla="*/ 922842 w 1009014"/>
                <a:gd name="T63" fmla="*/ 127552 h 603250"/>
                <a:gd name="T64" fmla="*/ 946342 w 1009014"/>
                <a:gd name="T65" fmla="*/ 171855 h 603250"/>
                <a:gd name="T66" fmla="*/ 969842 w 1009014"/>
                <a:gd name="T67" fmla="*/ 226088 h 603250"/>
                <a:gd name="T68" fmla="*/ 989959 w 1009014"/>
                <a:gd name="T69" fmla="*/ 287953 h 603250"/>
                <a:gd name="T70" fmla="*/ 1008979 w 1009014"/>
                <a:gd name="T71" fmla="*/ 284893 h 603250"/>
                <a:gd name="T72" fmla="*/ 987734 w 1009014"/>
                <a:gd name="T73" fmla="*/ 223031 h 603250"/>
                <a:gd name="T74" fmla="*/ 964234 w 1009014"/>
                <a:gd name="T75" fmla="*/ 168798 h 603250"/>
                <a:gd name="T76" fmla="*/ 939637 w 1009014"/>
                <a:gd name="T77" fmla="*/ 120682 h 603250"/>
                <a:gd name="T78" fmla="*/ 913912 w 1009014"/>
                <a:gd name="T79" fmla="*/ 82488 h 603250"/>
                <a:gd name="T80" fmla="*/ 885931 w 1009014"/>
                <a:gd name="T81" fmla="*/ 52700 h 603250"/>
                <a:gd name="T82" fmla="*/ 824422 w 1009014"/>
                <a:gd name="T83" fmla="*/ 11454 h 603250"/>
                <a:gd name="T84" fmla="*/ 813622 w 1009014"/>
                <a:gd name="T85" fmla="*/ 7644 h 603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9014" h="603250">
                  <a:moveTo>
                    <a:pt x="712339" y="0"/>
                  </a:moveTo>
                  <a:lnTo>
                    <a:pt x="657727" y="14514"/>
                  </a:lnTo>
                  <a:lnTo>
                    <a:pt x="621944" y="30553"/>
                  </a:lnTo>
                  <a:lnTo>
                    <a:pt x="585032" y="49652"/>
                  </a:lnTo>
                  <a:lnTo>
                    <a:pt x="514563" y="97002"/>
                  </a:lnTo>
                  <a:lnTo>
                    <a:pt x="445190" y="157343"/>
                  </a:lnTo>
                  <a:lnTo>
                    <a:pt x="372495" y="223031"/>
                  </a:lnTo>
                  <a:lnTo>
                    <a:pt x="238261" y="364333"/>
                  </a:lnTo>
                  <a:lnTo>
                    <a:pt x="109636" y="497991"/>
                  </a:lnTo>
                  <a:lnTo>
                    <a:pt x="53675" y="552224"/>
                  </a:lnTo>
                  <a:lnTo>
                    <a:pt x="0" y="594993"/>
                  </a:lnTo>
                  <a:lnTo>
                    <a:pt x="14538" y="602635"/>
                  </a:lnTo>
                  <a:lnTo>
                    <a:pt x="68213" y="559856"/>
                  </a:lnTo>
                  <a:lnTo>
                    <a:pt x="124144" y="505635"/>
                  </a:lnTo>
                  <a:lnTo>
                    <a:pt x="387034" y="230672"/>
                  </a:lnTo>
                  <a:lnTo>
                    <a:pt x="459760" y="165750"/>
                  </a:lnTo>
                  <a:lnTo>
                    <a:pt x="526876" y="106933"/>
                  </a:lnTo>
                  <a:lnTo>
                    <a:pt x="596218" y="58820"/>
                  </a:lnTo>
                  <a:lnTo>
                    <a:pt x="632002" y="41245"/>
                  </a:lnTo>
                  <a:lnTo>
                    <a:pt x="666688" y="25207"/>
                  </a:lnTo>
                  <a:lnTo>
                    <a:pt x="729325" y="9930"/>
                  </a:lnTo>
                  <a:lnTo>
                    <a:pt x="757305" y="7644"/>
                  </a:lnTo>
                  <a:lnTo>
                    <a:pt x="813622" y="7644"/>
                  </a:lnTo>
                  <a:lnTo>
                    <a:pt x="791961" y="3"/>
                  </a:lnTo>
                  <a:lnTo>
                    <a:pt x="712339" y="0"/>
                  </a:lnTo>
                  <a:close/>
                </a:path>
                <a:path w="1009014" h="603250">
                  <a:moveTo>
                    <a:pt x="813622" y="7644"/>
                  </a:moveTo>
                  <a:lnTo>
                    <a:pt x="757305" y="7644"/>
                  </a:lnTo>
                  <a:lnTo>
                    <a:pt x="787480" y="12990"/>
                  </a:lnTo>
                  <a:lnTo>
                    <a:pt x="815461" y="22146"/>
                  </a:lnTo>
                  <a:lnTo>
                    <a:pt x="869167" y="58820"/>
                  </a:lnTo>
                  <a:lnTo>
                    <a:pt x="897117" y="89370"/>
                  </a:lnTo>
                  <a:lnTo>
                    <a:pt x="922842" y="127552"/>
                  </a:lnTo>
                  <a:lnTo>
                    <a:pt x="946342" y="171855"/>
                  </a:lnTo>
                  <a:lnTo>
                    <a:pt x="969842" y="226088"/>
                  </a:lnTo>
                  <a:lnTo>
                    <a:pt x="989959" y="287953"/>
                  </a:lnTo>
                  <a:lnTo>
                    <a:pt x="1008979" y="284893"/>
                  </a:lnTo>
                  <a:lnTo>
                    <a:pt x="987734" y="223031"/>
                  </a:lnTo>
                  <a:lnTo>
                    <a:pt x="964234" y="168798"/>
                  </a:lnTo>
                  <a:lnTo>
                    <a:pt x="939637" y="120682"/>
                  </a:lnTo>
                  <a:lnTo>
                    <a:pt x="913912" y="82488"/>
                  </a:lnTo>
                  <a:lnTo>
                    <a:pt x="885931" y="52700"/>
                  </a:lnTo>
                  <a:lnTo>
                    <a:pt x="824422" y="11454"/>
                  </a:lnTo>
                  <a:lnTo>
                    <a:pt x="813622" y="76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450" name="object 18">
              <a:extLst>
                <a:ext uri="{FF2B5EF4-FFF2-40B4-BE49-F238E27FC236}">
                  <a16:creationId xmlns:a16="http://schemas.microsoft.com/office/drawing/2014/main" id="{7A1076B8-08A7-4B7E-8985-5B636FE59000}"/>
                </a:ext>
              </a:extLst>
            </p:cNvPr>
            <p:cNvSpPr>
              <a:spLocks/>
            </p:cNvSpPr>
            <p:nvPr/>
          </p:nvSpPr>
          <p:spPr bwMode="auto">
            <a:xfrm>
              <a:off x="4906963" y="4487274"/>
              <a:ext cx="114300" cy="79375"/>
            </a:xfrm>
            <a:custGeom>
              <a:avLst/>
              <a:gdLst>
                <a:gd name="T0" fmla="*/ 45841 w 114300"/>
                <a:gd name="T1" fmla="*/ 0 h 80010"/>
                <a:gd name="T2" fmla="*/ 0 w 114300"/>
                <a:gd name="T3" fmla="*/ 79427 h 80010"/>
                <a:gd name="T4" fmla="*/ 114086 w 114300"/>
                <a:gd name="T5" fmla="*/ 42766 h 80010"/>
                <a:gd name="T6" fmla="*/ 79430 w 114300"/>
                <a:gd name="T7" fmla="*/ 22146 h 80010"/>
                <a:gd name="T8" fmla="*/ 45841 w 114300"/>
                <a:gd name="T9" fmla="*/ 0 h 80010"/>
              </a:gdLst>
              <a:ahLst/>
              <a:cxnLst>
                <a:cxn ang="0">
                  <a:pos x="T0" y="T1"/>
                </a:cxn>
                <a:cxn ang="0">
                  <a:pos x="T2" y="T3"/>
                </a:cxn>
                <a:cxn ang="0">
                  <a:pos x="T4" y="T5"/>
                </a:cxn>
                <a:cxn ang="0">
                  <a:pos x="T6" y="T7"/>
                </a:cxn>
                <a:cxn ang="0">
                  <a:pos x="T8" y="T9"/>
                </a:cxn>
              </a:cxnLst>
              <a:rect l="0" t="0" r="r" b="b"/>
              <a:pathLst>
                <a:path w="114300" h="80010">
                  <a:moveTo>
                    <a:pt x="45841" y="0"/>
                  </a:moveTo>
                  <a:lnTo>
                    <a:pt x="0" y="79427"/>
                  </a:lnTo>
                  <a:lnTo>
                    <a:pt x="114086" y="42766"/>
                  </a:lnTo>
                  <a:lnTo>
                    <a:pt x="79430" y="22146"/>
                  </a:lnTo>
                  <a:lnTo>
                    <a:pt x="458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451" name="object 19">
              <a:extLst>
                <a:ext uri="{FF2B5EF4-FFF2-40B4-BE49-F238E27FC236}">
                  <a16:creationId xmlns:a16="http://schemas.microsoft.com/office/drawing/2014/main" id="{B1AC0B47-6124-4199-9EE5-0963F11EA2FA}"/>
                </a:ext>
              </a:extLst>
            </p:cNvPr>
            <p:cNvSpPr>
              <a:spLocks/>
            </p:cNvSpPr>
            <p:nvPr/>
          </p:nvSpPr>
          <p:spPr bwMode="auto">
            <a:xfrm>
              <a:off x="5926138" y="4188824"/>
              <a:ext cx="90487" cy="85725"/>
            </a:xfrm>
            <a:custGeom>
              <a:avLst/>
              <a:gdLst>
                <a:gd name="T0" fmla="*/ 90617 w 90804"/>
                <a:gd name="T1" fmla="*/ 0 h 85089"/>
                <a:gd name="T2" fmla="*/ 44744 w 90804"/>
                <a:gd name="T3" fmla="*/ 6879 h 85089"/>
                <a:gd name="T4" fmla="*/ 0 w 90804"/>
                <a:gd name="T5" fmla="*/ 12987 h 85089"/>
                <a:gd name="T6" fmla="*/ 70469 w 90804"/>
                <a:gd name="T7" fmla="*/ 84783 h 85089"/>
                <a:gd name="T8" fmla="*/ 90617 w 90804"/>
                <a:gd name="T9" fmla="*/ 0 h 85089"/>
              </a:gdLst>
              <a:ahLst/>
              <a:cxnLst>
                <a:cxn ang="0">
                  <a:pos x="T0" y="T1"/>
                </a:cxn>
                <a:cxn ang="0">
                  <a:pos x="T2" y="T3"/>
                </a:cxn>
                <a:cxn ang="0">
                  <a:pos x="T4" y="T5"/>
                </a:cxn>
                <a:cxn ang="0">
                  <a:pos x="T6" y="T7"/>
                </a:cxn>
                <a:cxn ang="0">
                  <a:pos x="T8" y="T9"/>
                </a:cxn>
              </a:cxnLst>
              <a:rect l="0" t="0" r="r" b="b"/>
              <a:pathLst>
                <a:path w="90804" h="85089">
                  <a:moveTo>
                    <a:pt x="90617" y="0"/>
                  </a:moveTo>
                  <a:lnTo>
                    <a:pt x="44744" y="6879"/>
                  </a:lnTo>
                  <a:lnTo>
                    <a:pt x="0" y="12987"/>
                  </a:lnTo>
                  <a:lnTo>
                    <a:pt x="70469" y="84783"/>
                  </a:lnTo>
                  <a:lnTo>
                    <a:pt x="906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0" name="object 20">
              <a:extLst>
                <a:ext uri="{FF2B5EF4-FFF2-40B4-BE49-F238E27FC236}">
                  <a16:creationId xmlns:a16="http://schemas.microsoft.com/office/drawing/2014/main" id="{CA7408D9-A22B-4DD4-AE2E-37D2A7A5E308}"/>
                </a:ext>
              </a:extLst>
            </p:cNvPr>
            <p:cNvSpPr txBox="1"/>
            <p:nvPr/>
          </p:nvSpPr>
          <p:spPr>
            <a:xfrm>
              <a:off x="2003425" y="3966574"/>
              <a:ext cx="5580063" cy="157163"/>
            </a:xfrm>
            <a:prstGeom prst="rect">
              <a:avLst/>
            </a:prstGeom>
          </p:spPr>
          <p:txBody>
            <a:bodyPr lIns="0" tIns="0" rIns="0" bIns="0">
              <a:spAutoFit/>
            </a:bodyPr>
            <a:lstStyle/>
            <a:p>
              <a:pPr marL="12700" fontAlgn="auto">
                <a:spcBef>
                  <a:spcPts val="0"/>
                </a:spcBef>
                <a:spcAft>
                  <a:spcPts val="0"/>
                </a:spcAft>
                <a:tabLst>
                  <a:tab pos="3989070" algn="l"/>
                </a:tabLst>
                <a:defRPr/>
              </a:pPr>
              <a:r>
                <a:rPr sz="1000" spc="260" dirty="0">
                  <a:latin typeface="Arial"/>
                  <a:cs typeface="Arial"/>
                </a:rPr>
                <a:t>Sy</a:t>
              </a:r>
              <a:r>
                <a:rPr sz="1000" spc="390" dirty="0">
                  <a:latin typeface="Arial"/>
                  <a:cs typeface="Arial"/>
                </a:rPr>
                <a:t>m</a:t>
              </a:r>
              <a:r>
                <a:rPr sz="1000" spc="254" dirty="0">
                  <a:latin typeface="Arial"/>
                  <a:cs typeface="Arial"/>
                </a:rPr>
                <a:t>b</a:t>
              </a:r>
              <a:r>
                <a:rPr sz="1000" spc="250" dirty="0">
                  <a:latin typeface="Arial"/>
                  <a:cs typeface="Arial"/>
                </a:rPr>
                <a:t>o</a:t>
              </a:r>
              <a:r>
                <a:rPr sz="1000" spc="100" dirty="0">
                  <a:latin typeface="Arial"/>
                  <a:cs typeface="Arial"/>
                </a:rPr>
                <a:t>l</a:t>
              </a:r>
              <a:r>
                <a:rPr sz="1000" dirty="0">
                  <a:latin typeface="Times New Roman"/>
                  <a:cs typeface="Times New Roman"/>
                </a:rPr>
                <a:t> </a:t>
              </a:r>
              <a:r>
                <a:rPr sz="1000" spc="-100" dirty="0">
                  <a:latin typeface="Times New Roman"/>
                  <a:cs typeface="Times New Roman"/>
                </a:rPr>
                <a:t> </a:t>
              </a:r>
              <a:r>
                <a:rPr sz="1000" spc="254" dirty="0">
                  <a:latin typeface="Arial"/>
                  <a:cs typeface="Arial"/>
                </a:rPr>
                <a:t>1</a:t>
              </a:r>
              <a:r>
                <a:rPr sz="1000" dirty="0">
                  <a:latin typeface="Times New Roman"/>
                  <a:cs typeface="Times New Roman"/>
                </a:rPr>
                <a:t>	</a:t>
              </a:r>
              <a:r>
                <a:rPr sz="1000" spc="185" dirty="0">
                  <a:latin typeface="Arial"/>
                  <a:cs typeface="Arial"/>
                </a:rPr>
                <a:t>Co</a:t>
              </a:r>
              <a:r>
                <a:rPr sz="1000" spc="150" dirty="0">
                  <a:latin typeface="Arial"/>
                  <a:cs typeface="Arial"/>
                </a:rPr>
                <a:t>p</a:t>
              </a:r>
              <a:r>
                <a:rPr sz="1000" spc="140" dirty="0">
                  <a:latin typeface="Arial"/>
                  <a:cs typeface="Arial"/>
                </a:rPr>
                <a:t>y</a:t>
              </a:r>
              <a:r>
                <a:rPr sz="1000" spc="114" dirty="0">
                  <a:latin typeface="Times New Roman"/>
                  <a:cs typeface="Times New Roman"/>
                </a:rPr>
                <a:t> </a:t>
              </a:r>
              <a:r>
                <a:rPr sz="1000" spc="70" dirty="0">
                  <a:latin typeface="Arial"/>
                  <a:cs typeface="Arial"/>
                </a:rPr>
                <a:t>t</a:t>
              </a:r>
              <a:r>
                <a:rPr sz="1000" spc="160" dirty="0">
                  <a:latin typeface="Arial"/>
                  <a:cs typeface="Arial"/>
                </a:rPr>
                <a:t>h</a:t>
              </a:r>
              <a:r>
                <a:rPr sz="1000" spc="100" dirty="0">
                  <a:latin typeface="Arial"/>
                  <a:cs typeface="Arial"/>
                </a:rPr>
                <a:t>is</a:t>
              </a:r>
              <a:r>
                <a:rPr sz="1000" spc="110" dirty="0">
                  <a:latin typeface="Times New Roman"/>
                  <a:cs typeface="Times New Roman"/>
                </a:rPr>
                <a:t> </a:t>
              </a:r>
              <a:r>
                <a:rPr sz="1000" spc="160" dirty="0">
                  <a:latin typeface="Arial"/>
                  <a:cs typeface="Arial"/>
                </a:rPr>
                <a:t>p</a:t>
              </a:r>
              <a:r>
                <a:rPr sz="1000" spc="150" dirty="0">
                  <a:latin typeface="Arial"/>
                  <a:cs typeface="Arial"/>
                </a:rPr>
                <a:t>a</a:t>
              </a:r>
              <a:r>
                <a:rPr sz="1000" spc="100" dirty="0">
                  <a:latin typeface="Arial"/>
                  <a:cs typeface="Arial"/>
                </a:rPr>
                <a:t>r</a:t>
              </a:r>
              <a:r>
                <a:rPr sz="1000" spc="75" dirty="0">
                  <a:latin typeface="Arial"/>
                  <a:cs typeface="Arial"/>
                </a:rPr>
                <a:t>t</a:t>
              </a:r>
              <a:r>
                <a:rPr sz="1000" spc="105" dirty="0">
                  <a:latin typeface="Times New Roman"/>
                  <a:cs typeface="Times New Roman"/>
                </a:rPr>
                <a:t> </a:t>
              </a:r>
              <a:r>
                <a:rPr sz="1000" spc="150" dirty="0">
                  <a:latin typeface="Arial"/>
                  <a:cs typeface="Arial"/>
                </a:rPr>
                <a:t>a</a:t>
              </a:r>
              <a:r>
                <a:rPr sz="1000" spc="75" dirty="0">
                  <a:latin typeface="Arial"/>
                  <a:cs typeface="Arial"/>
                </a:rPr>
                <a:t>t</a:t>
              </a:r>
              <a:r>
                <a:rPr sz="1000" dirty="0">
                  <a:latin typeface="Times New Roman"/>
                  <a:cs typeface="Times New Roman"/>
                </a:rPr>
                <a:t> </a:t>
              </a:r>
              <a:r>
                <a:rPr sz="1000" spc="-120" dirty="0">
                  <a:latin typeface="Times New Roman"/>
                  <a:cs typeface="Times New Roman"/>
                </a:rPr>
                <a:t> </a:t>
              </a:r>
              <a:r>
                <a:rPr sz="1000" spc="60" dirty="0">
                  <a:latin typeface="Arial"/>
                  <a:cs typeface="Arial"/>
                </a:rPr>
                <a:t>f</a:t>
              </a:r>
              <a:r>
                <a:rPr sz="1000" spc="100" dirty="0">
                  <a:latin typeface="Arial"/>
                  <a:cs typeface="Arial"/>
                </a:rPr>
                <a:t>r</a:t>
              </a:r>
              <a:r>
                <a:rPr sz="1000" spc="150" dirty="0">
                  <a:latin typeface="Arial"/>
                  <a:cs typeface="Arial"/>
                </a:rPr>
                <a:t>o</a:t>
              </a:r>
              <a:r>
                <a:rPr sz="1000" spc="175" dirty="0">
                  <a:latin typeface="Arial"/>
                  <a:cs typeface="Arial"/>
                </a:rPr>
                <a:t>n</a:t>
              </a:r>
              <a:r>
                <a:rPr sz="1000" spc="75" dirty="0">
                  <a:latin typeface="Arial"/>
                  <a:cs typeface="Arial"/>
                </a:rPr>
                <a:t>t</a:t>
              </a:r>
              <a:endParaRPr sz="1000">
                <a:latin typeface="Arial"/>
                <a:cs typeface="Arial"/>
              </a:endParaRPr>
            </a:p>
          </p:txBody>
        </p:sp>
        <p:sp>
          <p:nvSpPr>
            <p:cNvPr id="21" name="object 21">
              <a:extLst>
                <a:ext uri="{FF2B5EF4-FFF2-40B4-BE49-F238E27FC236}">
                  <a16:creationId xmlns:a16="http://schemas.microsoft.com/office/drawing/2014/main" id="{3EDE0C8C-2E4D-4CEB-926C-96B3C761FF34}"/>
                </a:ext>
              </a:extLst>
            </p:cNvPr>
            <p:cNvSpPr txBox="1"/>
            <p:nvPr/>
          </p:nvSpPr>
          <p:spPr>
            <a:xfrm>
              <a:off x="4538663" y="3937999"/>
              <a:ext cx="803275" cy="152400"/>
            </a:xfrm>
            <a:prstGeom prst="rect">
              <a:avLst/>
            </a:prstGeom>
          </p:spPr>
          <p:txBody>
            <a:bodyPr lIns="0" tIns="0" rIns="0" bIns="0">
              <a:spAutoFit/>
            </a:bodyPr>
            <a:lstStyle/>
            <a:p>
              <a:pPr marL="12700" fontAlgn="auto">
                <a:spcBef>
                  <a:spcPts val="0"/>
                </a:spcBef>
                <a:spcAft>
                  <a:spcPts val="0"/>
                </a:spcAft>
                <a:defRPr/>
              </a:pPr>
              <a:r>
                <a:rPr sz="1000" spc="300" dirty="0">
                  <a:latin typeface="Arial"/>
                  <a:cs typeface="Arial"/>
                </a:rPr>
                <a:t>Sym</a:t>
              </a:r>
              <a:r>
                <a:rPr sz="1000" spc="265" dirty="0">
                  <a:latin typeface="Arial"/>
                  <a:cs typeface="Arial"/>
                </a:rPr>
                <a:t>b</a:t>
              </a:r>
              <a:r>
                <a:rPr sz="1000" spc="250" dirty="0">
                  <a:latin typeface="Arial"/>
                  <a:cs typeface="Arial"/>
                </a:rPr>
                <a:t>o</a:t>
              </a:r>
              <a:r>
                <a:rPr sz="1000" spc="100" dirty="0">
                  <a:latin typeface="Arial"/>
                  <a:cs typeface="Arial"/>
                </a:rPr>
                <a:t>l</a:t>
              </a:r>
              <a:r>
                <a:rPr sz="1000" dirty="0">
                  <a:latin typeface="Times New Roman"/>
                  <a:cs typeface="Times New Roman"/>
                </a:rPr>
                <a:t> </a:t>
              </a:r>
              <a:r>
                <a:rPr sz="1000" spc="-100" dirty="0">
                  <a:latin typeface="Times New Roman"/>
                  <a:cs typeface="Times New Roman"/>
                </a:rPr>
                <a:t> </a:t>
              </a:r>
              <a:r>
                <a:rPr sz="1000" spc="254" dirty="0">
                  <a:latin typeface="Arial"/>
                  <a:cs typeface="Arial"/>
                </a:rPr>
                <a:t>2</a:t>
              </a:r>
              <a:endParaRPr sz="1000">
                <a:latin typeface="Arial"/>
                <a:cs typeface="Arial"/>
              </a:endParaRPr>
            </a:p>
          </p:txBody>
        </p:sp>
        <p:sp>
          <p:nvSpPr>
            <p:cNvPr id="22" name="object 22">
              <a:extLst>
                <a:ext uri="{FF2B5EF4-FFF2-40B4-BE49-F238E27FC236}">
                  <a16:creationId xmlns:a16="http://schemas.microsoft.com/office/drawing/2014/main" id="{9F48F742-8D62-4C9C-BF7C-2649A38314A8}"/>
                </a:ext>
              </a:extLst>
            </p:cNvPr>
            <p:cNvSpPr txBox="1"/>
            <p:nvPr/>
          </p:nvSpPr>
          <p:spPr>
            <a:xfrm>
              <a:off x="5378450" y="6128749"/>
              <a:ext cx="1182688" cy="139700"/>
            </a:xfrm>
            <a:prstGeom prst="rect">
              <a:avLst/>
            </a:prstGeom>
          </p:spPr>
          <p:txBody>
            <a:bodyPr lIns="0" tIns="0" rIns="0" bIns="0">
              <a:spAutoFit/>
            </a:bodyPr>
            <a:lstStyle/>
            <a:p>
              <a:pPr marL="12700" fontAlgn="auto">
                <a:spcBef>
                  <a:spcPts val="0"/>
                </a:spcBef>
                <a:spcAft>
                  <a:spcPts val="0"/>
                </a:spcAft>
                <a:defRPr/>
              </a:pPr>
              <a:r>
                <a:rPr sz="900" spc="190" dirty="0">
                  <a:latin typeface="Arial"/>
                  <a:cs typeface="Arial"/>
                </a:rPr>
                <a:t>Orig</a:t>
              </a:r>
              <a:r>
                <a:rPr sz="900" spc="90" dirty="0">
                  <a:latin typeface="Arial"/>
                  <a:cs typeface="Arial"/>
                </a:rPr>
                <a:t>i</a:t>
              </a:r>
              <a:r>
                <a:rPr sz="900" spc="225" dirty="0">
                  <a:latin typeface="Arial"/>
                  <a:cs typeface="Arial"/>
                </a:rPr>
                <a:t>na</a:t>
              </a:r>
              <a:r>
                <a:rPr sz="900" spc="90" dirty="0">
                  <a:latin typeface="Arial"/>
                  <a:cs typeface="Arial"/>
                </a:rPr>
                <a:t>l</a:t>
              </a:r>
              <a:r>
                <a:rPr sz="900" dirty="0">
                  <a:latin typeface="Times New Roman"/>
                  <a:cs typeface="Times New Roman"/>
                </a:rPr>
                <a:t> </a:t>
              </a:r>
              <a:r>
                <a:rPr sz="900" spc="-85" dirty="0">
                  <a:latin typeface="Times New Roman"/>
                  <a:cs typeface="Times New Roman"/>
                </a:rPr>
                <a:t> </a:t>
              </a:r>
              <a:r>
                <a:rPr sz="900" spc="240" dirty="0">
                  <a:latin typeface="Arial"/>
                  <a:cs typeface="Arial"/>
                </a:rPr>
                <a:t>symb</a:t>
              </a:r>
              <a:r>
                <a:rPr sz="900" spc="250" dirty="0">
                  <a:latin typeface="Arial"/>
                  <a:cs typeface="Arial"/>
                </a:rPr>
                <a:t>o</a:t>
              </a:r>
              <a:r>
                <a:rPr sz="900" spc="90" dirty="0">
                  <a:latin typeface="Arial"/>
                  <a:cs typeface="Arial"/>
                </a:rPr>
                <a:t>l</a:t>
              </a:r>
              <a:endParaRPr sz="900">
                <a:latin typeface="Arial"/>
                <a:cs typeface="Arial"/>
              </a:endParaRPr>
            </a:p>
          </p:txBody>
        </p:sp>
        <p:sp>
          <p:nvSpPr>
            <p:cNvPr id="18455" name="object 23">
              <a:extLst>
                <a:ext uri="{FF2B5EF4-FFF2-40B4-BE49-F238E27FC236}">
                  <a16:creationId xmlns:a16="http://schemas.microsoft.com/office/drawing/2014/main" id="{52540729-6AC2-415E-9A7A-CEBD3DFB3C01}"/>
                </a:ext>
              </a:extLst>
            </p:cNvPr>
            <p:cNvSpPr>
              <a:spLocks/>
            </p:cNvSpPr>
            <p:nvPr/>
          </p:nvSpPr>
          <p:spPr bwMode="auto">
            <a:xfrm>
              <a:off x="5194300" y="6104937"/>
              <a:ext cx="1290638" cy="0"/>
            </a:xfrm>
            <a:custGeom>
              <a:avLst/>
              <a:gdLst>
                <a:gd name="T0" fmla="*/ 0 w 1290954"/>
                <a:gd name="T1" fmla="*/ 1290876 w 1290954"/>
              </a:gdLst>
              <a:ahLst/>
              <a:cxnLst>
                <a:cxn ang="0">
                  <a:pos x="T0" y="0"/>
                </a:cxn>
                <a:cxn ang="0">
                  <a:pos x="T1" y="0"/>
                </a:cxn>
              </a:cxnLst>
              <a:rect l="0" t="0" r="r" b="b"/>
              <a:pathLst>
                <a:path w="1290954">
                  <a:moveTo>
                    <a:pt x="0" y="0"/>
                  </a:moveTo>
                  <a:lnTo>
                    <a:pt x="1290876" y="0"/>
                  </a:lnTo>
                </a:path>
              </a:pathLst>
            </a:custGeom>
            <a:noFill/>
            <a:ln w="18831">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8456" name="object 24">
              <a:extLst>
                <a:ext uri="{FF2B5EF4-FFF2-40B4-BE49-F238E27FC236}">
                  <a16:creationId xmlns:a16="http://schemas.microsoft.com/office/drawing/2014/main" id="{ADCB6390-BE4B-4A11-AE9A-4BDF876D42F2}"/>
                </a:ext>
              </a:extLst>
            </p:cNvPr>
            <p:cNvSpPr>
              <a:spLocks/>
            </p:cNvSpPr>
            <p:nvPr/>
          </p:nvSpPr>
          <p:spPr bwMode="auto">
            <a:xfrm>
              <a:off x="5064125" y="6066837"/>
              <a:ext cx="139700" cy="76200"/>
            </a:xfrm>
            <a:custGeom>
              <a:avLst/>
              <a:gdLst>
                <a:gd name="T0" fmla="*/ 139842 w 140335"/>
                <a:gd name="T1" fmla="*/ 0 h 76834"/>
                <a:gd name="T2" fmla="*/ 0 w 140335"/>
                <a:gd name="T3" fmla="*/ 38194 h 76834"/>
                <a:gd name="T4" fmla="*/ 139842 w 140335"/>
                <a:gd name="T5" fmla="*/ 76376 h 76834"/>
                <a:gd name="T6" fmla="*/ 139842 w 140335"/>
                <a:gd name="T7" fmla="*/ 0 h 76834"/>
              </a:gdLst>
              <a:ahLst/>
              <a:cxnLst>
                <a:cxn ang="0">
                  <a:pos x="T0" y="T1"/>
                </a:cxn>
                <a:cxn ang="0">
                  <a:pos x="T2" y="T3"/>
                </a:cxn>
                <a:cxn ang="0">
                  <a:pos x="T4" y="T5"/>
                </a:cxn>
                <a:cxn ang="0">
                  <a:pos x="T6" y="T7"/>
                </a:cxn>
              </a:cxnLst>
              <a:rect l="0" t="0" r="r" b="b"/>
              <a:pathLst>
                <a:path w="140335" h="76834">
                  <a:moveTo>
                    <a:pt x="139842" y="0"/>
                  </a:moveTo>
                  <a:lnTo>
                    <a:pt x="0" y="38194"/>
                  </a:lnTo>
                  <a:lnTo>
                    <a:pt x="139842" y="76376"/>
                  </a:lnTo>
                  <a:lnTo>
                    <a:pt x="1398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457" name="object 25">
              <a:extLst>
                <a:ext uri="{FF2B5EF4-FFF2-40B4-BE49-F238E27FC236}">
                  <a16:creationId xmlns:a16="http://schemas.microsoft.com/office/drawing/2014/main" id="{E321A76A-48A6-41F8-A000-190F8A26AEEC}"/>
                </a:ext>
              </a:extLst>
            </p:cNvPr>
            <p:cNvSpPr>
              <a:spLocks/>
            </p:cNvSpPr>
            <p:nvPr/>
          </p:nvSpPr>
          <p:spPr bwMode="auto">
            <a:xfrm>
              <a:off x="6477000" y="6066837"/>
              <a:ext cx="139700" cy="76200"/>
            </a:xfrm>
            <a:custGeom>
              <a:avLst/>
              <a:gdLst>
                <a:gd name="T0" fmla="*/ 0 w 140334"/>
                <a:gd name="T1" fmla="*/ 0 h 76834"/>
                <a:gd name="T2" fmla="*/ 0 w 140334"/>
                <a:gd name="T3" fmla="*/ 76376 h 76834"/>
                <a:gd name="T4" fmla="*/ 139811 w 140334"/>
                <a:gd name="T5" fmla="*/ 38194 h 76834"/>
                <a:gd name="T6" fmla="*/ 0 w 140334"/>
                <a:gd name="T7" fmla="*/ 0 h 76834"/>
              </a:gdLst>
              <a:ahLst/>
              <a:cxnLst>
                <a:cxn ang="0">
                  <a:pos x="T0" y="T1"/>
                </a:cxn>
                <a:cxn ang="0">
                  <a:pos x="T2" y="T3"/>
                </a:cxn>
                <a:cxn ang="0">
                  <a:pos x="T4" y="T5"/>
                </a:cxn>
                <a:cxn ang="0">
                  <a:pos x="T6" y="T7"/>
                </a:cxn>
              </a:cxnLst>
              <a:rect l="0" t="0" r="r" b="b"/>
              <a:pathLst>
                <a:path w="140334" h="76834">
                  <a:moveTo>
                    <a:pt x="0" y="0"/>
                  </a:moveTo>
                  <a:lnTo>
                    <a:pt x="0" y="76376"/>
                  </a:lnTo>
                  <a:lnTo>
                    <a:pt x="139811" y="3819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458" name="object 26">
              <a:extLst>
                <a:ext uri="{FF2B5EF4-FFF2-40B4-BE49-F238E27FC236}">
                  <a16:creationId xmlns:a16="http://schemas.microsoft.com/office/drawing/2014/main" id="{AE690462-288E-4981-887E-0C0A09A3EFEE}"/>
                </a:ext>
              </a:extLst>
            </p:cNvPr>
            <p:cNvSpPr>
              <a:spLocks/>
            </p:cNvSpPr>
            <p:nvPr/>
          </p:nvSpPr>
          <p:spPr bwMode="auto">
            <a:xfrm>
              <a:off x="4376738" y="6104937"/>
              <a:ext cx="557212" cy="0"/>
            </a:xfrm>
            <a:custGeom>
              <a:avLst/>
              <a:gdLst>
                <a:gd name="T0" fmla="*/ 0 w 557529"/>
                <a:gd name="T1" fmla="*/ 557070 w 557529"/>
              </a:gdLst>
              <a:ahLst/>
              <a:cxnLst>
                <a:cxn ang="0">
                  <a:pos x="T0" y="0"/>
                </a:cxn>
                <a:cxn ang="0">
                  <a:pos x="T1" y="0"/>
                </a:cxn>
              </a:cxnLst>
              <a:rect l="0" t="0" r="r" b="b"/>
              <a:pathLst>
                <a:path w="557529">
                  <a:moveTo>
                    <a:pt x="0" y="0"/>
                  </a:moveTo>
                  <a:lnTo>
                    <a:pt x="557070" y="0"/>
                  </a:lnTo>
                </a:path>
              </a:pathLst>
            </a:custGeom>
            <a:noFill/>
            <a:ln w="18831">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8459" name="object 27">
              <a:extLst>
                <a:ext uri="{FF2B5EF4-FFF2-40B4-BE49-F238E27FC236}">
                  <a16:creationId xmlns:a16="http://schemas.microsoft.com/office/drawing/2014/main" id="{BD61B7F4-1DC0-4FCB-968C-327989E010D4}"/>
                </a:ext>
              </a:extLst>
            </p:cNvPr>
            <p:cNvSpPr>
              <a:spLocks/>
            </p:cNvSpPr>
            <p:nvPr/>
          </p:nvSpPr>
          <p:spPr bwMode="auto">
            <a:xfrm>
              <a:off x="4246563" y="6066837"/>
              <a:ext cx="139700" cy="76200"/>
            </a:xfrm>
            <a:custGeom>
              <a:avLst/>
              <a:gdLst>
                <a:gd name="T0" fmla="*/ 139811 w 140335"/>
                <a:gd name="T1" fmla="*/ 0 h 76834"/>
                <a:gd name="T2" fmla="*/ 0 w 140335"/>
                <a:gd name="T3" fmla="*/ 38194 h 76834"/>
                <a:gd name="T4" fmla="*/ 139811 w 140335"/>
                <a:gd name="T5" fmla="*/ 76376 h 76834"/>
                <a:gd name="T6" fmla="*/ 139811 w 140335"/>
                <a:gd name="T7" fmla="*/ 0 h 76834"/>
              </a:gdLst>
              <a:ahLst/>
              <a:cxnLst>
                <a:cxn ang="0">
                  <a:pos x="T0" y="T1"/>
                </a:cxn>
                <a:cxn ang="0">
                  <a:pos x="T2" y="T3"/>
                </a:cxn>
                <a:cxn ang="0">
                  <a:pos x="T4" y="T5"/>
                </a:cxn>
                <a:cxn ang="0">
                  <a:pos x="T6" y="T7"/>
                </a:cxn>
              </a:cxnLst>
              <a:rect l="0" t="0" r="r" b="b"/>
              <a:pathLst>
                <a:path w="140335" h="76834">
                  <a:moveTo>
                    <a:pt x="139811" y="0"/>
                  </a:moveTo>
                  <a:lnTo>
                    <a:pt x="0" y="38194"/>
                  </a:lnTo>
                  <a:lnTo>
                    <a:pt x="139811" y="76376"/>
                  </a:lnTo>
                  <a:lnTo>
                    <a:pt x="1398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8460" name="object 28">
              <a:extLst>
                <a:ext uri="{FF2B5EF4-FFF2-40B4-BE49-F238E27FC236}">
                  <a16:creationId xmlns:a16="http://schemas.microsoft.com/office/drawing/2014/main" id="{3097A1FE-17FE-4EBE-A024-0D16F3373234}"/>
                </a:ext>
              </a:extLst>
            </p:cNvPr>
            <p:cNvSpPr>
              <a:spLocks/>
            </p:cNvSpPr>
            <p:nvPr/>
          </p:nvSpPr>
          <p:spPr bwMode="auto">
            <a:xfrm>
              <a:off x="4924425" y="6066837"/>
              <a:ext cx="139700" cy="76200"/>
            </a:xfrm>
            <a:custGeom>
              <a:avLst/>
              <a:gdLst>
                <a:gd name="T0" fmla="*/ 0 w 140335"/>
                <a:gd name="T1" fmla="*/ 0 h 76834"/>
                <a:gd name="T2" fmla="*/ 0 w 140335"/>
                <a:gd name="T3" fmla="*/ 76376 h 76834"/>
                <a:gd name="T4" fmla="*/ 139811 w 140335"/>
                <a:gd name="T5" fmla="*/ 38194 h 76834"/>
                <a:gd name="T6" fmla="*/ 0 w 140335"/>
                <a:gd name="T7" fmla="*/ 0 h 76834"/>
              </a:gdLst>
              <a:ahLst/>
              <a:cxnLst>
                <a:cxn ang="0">
                  <a:pos x="T0" y="T1"/>
                </a:cxn>
                <a:cxn ang="0">
                  <a:pos x="T2" y="T3"/>
                </a:cxn>
                <a:cxn ang="0">
                  <a:pos x="T4" y="T5"/>
                </a:cxn>
                <a:cxn ang="0">
                  <a:pos x="T6" y="T7"/>
                </a:cxn>
              </a:cxnLst>
              <a:rect l="0" t="0" r="r" b="b"/>
              <a:pathLst>
                <a:path w="140335" h="76834">
                  <a:moveTo>
                    <a:pt x="0" y="0"/>
                  </a:moveTo>
                  <a:lnTo>
                    <a:pt x="0" y="76376"/>
                  </a:lnTo>
                  <a:lnTo>
                    <a:pt x="139811" y="3819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9" name="object 29">
              <a:extLst>
                <a:ext uri="{FF2B5EF4-FFF2-40B4-BE49-F238E27FC236}">
                  <a16:creationId xmlns:a16="http://schemas.microsoft.com/office/drawing/2014/main" id="{75201DE5-E966-4442-90EF-647C1BA7DDE8}"/>
                </a:ext>
              </a:extLst>
            </p:cNvPr>
            <p:cNvSpPr txBox="1"/>
            <p:nvPr/>
          </p:nvSpPr>
          <p:spPr>
            <a:xfrm>
              <a:off x="4333875" y="6131924"/>
              <a:ext cx="762000" cy="139700"/>
            </a:xfrm>
            <a:prstGeom prst="rect">
              <a:avLst/>
            </a:prstGeom>
          </p:spPr>
          <p:txBody>
            <a:bodyPr lIns="0" tIns="0" rIns="0" bIns="0">
              <a:spAutoFit/>
            </a:bodyPr>
            <a:lstStyle/>
            <a:p>
              <a:pPr marL="12700" fontAlgn="auto">
                <a:spcBef>
                  <a:spcPts val="0"/>
                </a:spcBef>
                <a:spcAft>
                  <a:spcPts val="0"/>
                </a:spcAft>
                <a:defRPr/>
              </a:pPr>
              <a:r>
                <a:rPr sz="900" spc="185" dirty="0">
                  <a:latin typeface="Arial"/>
                  <a:cs typeface="Arial"/>
                </a:rPr>
                <a:t>Extensi</a:t>
              </a:r>
              <a:r>
                <a:rPr sz="900" spc="229" dirty="0">
                  <a:latin typeface="Arial"/>
                  <a:cs typeface="Arial"/>
                </a:rPr>
                <a:t>on</a:t>
              </a:r>
              <a:endParaRPr sz="900">
                <a:latin typeface="Arial"/>
                <a:cs typeface="Arial"/>
              </a:endParaRPr>
            </a:p>
          </p:txBody>
        </p:sp>
        <p:sp>
          <p:nvSpPr>
            <p:cNvPr id="18462" name="object 30">
              <a:extLst>
                <a:ext uri="{FF2B5EF4-FFF2-40B4-BE49-F238E27FC236}">
                  <a16:creationId xmlns:a16="http://schemas.microsoft.com/office/drawing/2014/main" id="{B5720D80-14D7-43C9-B9D9-D496C57BC639}"/>
                </a:ext>
              </a:extLst>
            </p:cNvPr>
            <p:cNvSpPr>
              <a:spLocks/>
            </p:cNvSpPr>
            <p:nvPr/>
          </p:nvSpPr>
          <p:spPr bwMode="auto">
            <a:xfrm>
              <a:off x="5064125" y="4849224"/>
              <a:ext cx="0" cy="1057275"/>
            </a:xfrm>
            <a:custGeom>
              <a:avLst/>
              <a:gdLst>
                <a:gd name="T0" fmla="*/ 0 h 1056639"/>
                <a:gd name="T1" fmla="*/ 1056324 h 1056639"/>
              </a:gdLst>
              <a:ahLst/>
              <a:cxnLst>
                <a:cxn ang="0">
                  <a:pos x="0" y="T0"/>
                </a:cxn>
                <a:cxn ang="0">
                  <a:pos x="0" y="T1"/>
                </a:cxn>
              </a:cxnLst>
              <a:rect l="0" t="0" r="r" b="b"/>
              <a:pathLst>
                <a:path h="1056639">
                  <a:moveTo>
                    <a:pt x="0" y="0"/>
                  </a:moveTo>
                  <a:lnTo>
                    <a:pt x="0" y="1056324"/>
                  </a:lnTo>
                </a:path>
              </a:pathLst>
            </a:custGeom>
            <a:noFill/>
            <a:ln w="2028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8463" name="object 31">
              <a:extLst>
                <a:ext uri="{FF2B5EF4-FFF2-40B4-BE49-F238E27FC236}">
                  <a16:creationId xmlns:a16="http://schemas.microsoft.com/office/drawing/2014/main" id="{67FD51C5-F759-4BA3-A745-A54866B8093D}"/>
                </a:ext>
              </a:extLst>
            </p:cNvPr>
            <p:cNvSpPr>
              <a:spLocks/>
            </p:cNvSpPr>
            <p:nvPr/>
          </p:nvSpPr>
          <p:spPr bwMode="auto">
            <a:xfrm>
              <a:off x="2217738" y="4893674"/>
              <a:ext cx="0" cy="1057275"/>
            </a:xfrm>
            <a:custGeom>
              <a:avLst/>
              <a:gdLst>
                <a:gd name="T0" fmla="*/ 0 h 1056639"/>
                <a:gd name="T1" fmla="*/ 1056324 h 1056639"/>
              </a:gdLst>
              <a:ahLst/>
              <a:cxnLst>
                <a:cxn ang="0">
                  <a:pos x="0" y="T0"/>
                </a:cxn>
                <a:cxn ang="0">
                  <a:pos x="0" y="T1"/>
                </a:cxn>
              </a:cxnLst>
              <a:rect l="0" t="0" r="r" b="b"/>
              <a:pathLst>
                <a:path h="1056639">
                  <a:moveTo>
                    <a:pt x="0" y="0"/>
                  </a:moveTo>
                  <a:lnTo>
                    <a:pt x="0" y="1056324"/>
                  </a:lnTo>
                </a:path>
              </a:pathLst>
            </a:custGeom>
            <a:noFill/>
            <a:ln w="20296">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32">
              <a:extLst>
                <a:ext uri="{FF2B5EF4-FFF2-40B4-BE49-F238E27FC236}">
                  <a16:creationId xmlns:a16="http://schemas.microsoft.com/office/drawing/2014/main" id="{D0DCBDCC-184F-47B2-B051-9DEA6753F969}"/>
                </a:ext>
              </a:extLst>
            </p:cNvPr>
            <p:cNvSpPr txBox="1"/>
            <p:nvPr/>
          </p:nvSpPr>
          <p:spPr>
            <a:xfrm>
              <a:off x="7235825" y="4749212"/>
              <a:ext cx="1635125" cy="646112"/>
            </a:xfrm>
            <a:prstGeom prst="rect">
              <a:avLst/>
            </a:prstGeom>
            <a:solidFill>
              <a:srgbClr val="89A14C"/>
            </a:solidFill>
          </p:spPr>
          <p:txBody>
            <a:bodyPr lIns="0" tIns="0" rIns="0" bIns="0">
              <a:spAutoFit/>
            </a:bodyPr>
            <a:lstStyle/>
            <a:p>
              <a:pPr marL="91440" fontAlgn="auto">
                <a:lnSpc>
                  <a:spcPts val="2130"/>
                </a:lnSpc>
                <a:spcBef>
                  <a:spcPts val="0"/>
                </a:spcBef>
                <a:spcAft>
                  <a:spcPts val="0"/>
                </a:spcAft>
                <a:defRPr/>
              </a:pPr>
              <a:r>
                <a:rPr dirty="0">
                  <a:solidFill>
                    <a:srgbClr val="FFFFFF"/>
                  </a:solidFill>
                  <a:latin typeface="Calibri"/>
                  <a:cs typeface="Calibri"/>
                </a:rPr>
                <a:t>In</a:t>
              </a:r>
              <a:r>
                <a:rPr spc="-45" dirty="0">
                  <a:solidFill>
                    <a:srgbClr val="FFFFFF"/>
                  </a:solidFill>
                  <a:latin typeface="Times New Roman"/>
                  <a:cs typeface="Times New Roman"/>
                </a:rPr>
                <a:t> </a:t>
              </a:r>
              <a:r>
                <a:rPr spc="-10" dirty="0">
                  <a:solidFill>
                    <a:srgbClr val="FFFFFF"/>
                  </a:solidFill>
                  <a:latin typeface="Calibri"/>
                  <a:cs typeface="Calibri"/>
                </a:rPr>
                <a:t>802</a:t>
              </a:r>
              <a:r>
                <a:rPr dirty="0">
                  <a:solidFill>
                    <a:srgbClr val="FFFFFF"/>
                  </a:solidFill>
                  <a:latin typeface="Calibri"/>
                  <a:cs typeface="Calibri"/>
                </a:rPr>
                <a:t>.</a:t>
              </a:r>
              <a:r>
                <a:rPr spc="-10" dirty="0">
                  <a:solidFill>
                    <a:srgbClr val="FFFFFF"/>
                  </a:solidFill>
                  <a:latin typeface="Calibri"/>
                  <a:cs typeface="Calibri"/>
                </a:rPr>
                <a:t>11,</a:t>
              </a:r>
              <a:endParaRPr>
                <a:latin typeface="Calibri"/>
                <a:cs typeface="Calibri"/>
              </a:endParaRPr>
            </a:p>
            <a:p>
              <a:pPr marL="91440" fontAlgn="auto">
                <a:lnSpc>
                  <a:spcPts val="2130"/>
                </a:lnSpc>
                <a:spcBef>
                  <a:spcPts val="0"/>
                </a:spcBef>
                <a:spcAft>
                  <a:spcPts val="0"/>
                </a:spcAft>
                <a:defRPr/>
              </a:pPr>
              <a:r>
                <a:rPr dirty="0">
                  <a:solidFill>
                    <a:srgbClr val="FFFFFF"/>
                  </a:solidFill>
                  <a:latin typeface="Calibri"/>
                  <a:cs typeface="Calibri"/>
                </a:rPr>
                <a:t>C</a:t>
              </a:r>
              <a:r>
                <a:rPr spc="-10" dirty="0">
                  <a:solidFill>
                    <a:srgbClr val="FFFFFF"/>
                  </a:solidFill>
                  <a:latin typeface="Calibri"/>
                  <a:cs typeface="Calibri"/>
                </a:rPr>
                <a:t>P:data</a:t>
              </a:r>
              <a:r>
                <a:rPr spc="-45" dirty="0">
                  <a:solidFill>
                    <a:srgbClr val="FFFFFF"/>
                  </a:solidFill>
                  <a:latin typeface="Times New Roman"/>
                  <a:cs typeface="Times New Roman"/>
                </a:rPr>
                <a:t> </a:t>
              </a:r>
              <a:r>
                <a:rPr dirty="0">
                  <a:solidFill>
                    <a:srgbClr val="FFFFFF"/>
                  </a:solidFill>
                  <a:latin typeface="Calibri"/>
                  <a:cs typeface="Calibri"/>
                </a:rPr>
                <a:t>=</a:t>
              </a:r>
              <a:r>
                <a:rPr spc="-45" dirty="0">
                  <a:solidFill>
                    <a:srgbClr val="FFFFFF"/>
                  </a:solidFill>
                  <a:latin typeface="Times New Roman"/>
                  <a:cs typeface="Times New Roman"/>
                </a:rPr>
                <a:t> </a:t>
              </a:r>
              <a:r>
                <a:rPr spc="-10" dirty="0">
                  <a:solidFill>
                    <a:srgbClr val="FFFFFF"/>
                  </a:solidFill>
                  <a:latin typeface="Calibri"/>
                  <a:cs typeface="Calibri"/>
                </a:rPr>
                <a:t>1:4</a:t>
              </a:r>
              <a:endParaRPr>
                <a:latin typeface="Calibri"/>
                <a:cs typeface="Calibri"/>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49254-B658-CE19-20DA-EDDDCCCA62CA}"/>
              </a:ext>
            </a:extLst>
          </p:cNvPr>
          <p:cNvSpPr>
            <a:spLocks noGrp="1"/>
          </p:cNvSpPr>
          <p:nvPr>
            <p:ph type="title"/>
          </p:nvPr>
        </p:nvSpPr>
        <p:spPr>
          <a:xfrm>
            <a:off x="541101" y="70382"/>
            <a:ext cx="7886700" cy="1325563"/>
          </a:xfrm>
        </p:spPr>
        <p:txBody>
          <a:bodyPr>
            <a:normAutofit/>
          </a:bodyPr>
          <a:lstStyle/>
          <a:p>
            <a:r>
              <a:rPr lang="en-US" sz="3600" b="1" u="none" strike="noStrike" baseline="0" dirty="0">
                <a:latin typeface="Times-Roman"/>
              </a:rPr>
              <a:t>ISI effect of a multipath channel for each subcarrier</a:t>
            </a:r>
            <a:endParaRPr lang="en-US" sz="3600" b="1" dirty="0"/>
          </a:p>
        </p:txBody>
      </p:sp>
      <p:pic>
        <p:nvPicPr>
          <p:cNvPr id="5" name="Picture 4">
            <a:extLst>
              <a:ext uri="{FF2B5EF4-FFF2-40B4-BE49-F238E27FC236}">
                <a16:creationId xmlns:a16="http://schemas.microsoft.com/office/drawing/2014/main" id="{D5BFFDD4-DE37-40A5-BB01-D1AD3BB24BCA}"/>
              </a:ext>
            </a:extLst>
          </p:cNvPr>
          <p:cNvPicPr>
            <a:picLocks noChangeAspect="1"/>
          </p:cNvPicPr>
          <p:nvPr/>
        </p:nvPicPr>
        <p:blipFill>
          <a:blip r:embed="rId2"/>
          <a:stretch>
            <a:fillRect/>
          </a:stretch>
        </p:blipFill>
        <p:spPr>
          <a:xfrm>
            <a:off x="1067763" y="1395945"/>
            <a:ext cx="7360038" cy="5292613"/>
          </a:xfrm>
          <a:prstGeom prst="rect">
            <a:avLst/>
          </a:prstGeom>
        </p:spPr>
      </p:pic>
    </p:spTree>
    <p:extLst>
      <p:ext uri="{BB962C8B-B14F-4D97-AF65-F5344CB8AC3E}">
        <p14:creationId xmlns:p14="http://schemas.microsoft.com/office/powerpoint/2010/main" val="3335157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396CDFA8-DBB1-4305-89CF-5F655229F94F}"/>
              </a:ext>
            </a:extLst>
          </p:cNvPr>
          <p:cNvSpPr txBox="1">
            <a:spLocks noGrp="1"/>
          </p:cNvSpPr>
          <p:nvPr>
            <p:ph type="title"/>
          </p:nvPr>
        </p:nvSpPr>
        <p:spPr>
          <a:xfrm>
            <a:off x="536575" y="122238"/>
            <a:ext cx="7886700" cy="614362"/>
          </a:xfrm>
        </p:spPr>
        <p:txBody>
          <a:bodyPr rtlCol="0">
            <a:normAutofit/>
          </a:bodyPr>
          <a:lstStyle/>
          <a:p>
            <a:pPr marL="2188210" eaLnBrk="1" fontAlgn="auto" hangingPunct="1">
              <a:spcBef>
                <a:spcPts val="0"/>
              </a:spcBef>
              <a:spcAft>
                <a:spcPts val="0"/>
              </a:spcAft>
              <a:defRPr/>
            </a:pPr>
            <a:r>
              <a:rPr sz="3600" b="1" spc="-20" dirty="0">
                <a:latin typeface="Arial" panose="020B0604020202020204" pitchFamily="34" charset="0"/>
                <a:cs typeface="Arial" panose="020B0604020202020204" pitchFamily="34" charset="0"/>
              </a:rPr>
              <a:t>Cyclic</a:t>
            </a:r>
            <a:r>
              <a:rPr sz="3600" b="1" spc="204" dirty="0">
                <a:latin typeface="Arial" panose="020B0604020202020204" pitchFamily="34" charset="0"/>
                <a:cs typeface="Arial" panose="020B0604020202020204" pitchFamily="34" charset="0"/>
              </a:rPr>
              <a:t> </a:t>
            </a:r>
            <a:r>
              <a:rPr sz="3600" b="1" spc="-25" dirty="0">
                <a:latin typeface="Arial" panose="020B0604020202020204" pitchFamily="34" charset="0"/>
                <a:cs typeface="Arial" panose="020B0604020202020204" pitchFamily="34" charset="0"/>
              </a:rPr>
              <a:t>Pref</a:t>
            </a:r>
            <a:r>
              <a:rPr sz="3600" b="1" spc="-15" dirty="0">
                <a:latin typeface="Arial" panose="020B0604020202020204" pitchFamily="34" charset="0"/>
                <a:cs typeface="Arial" panose="020B0604020202020204" pitchFamily="34" charset="0"/>
              </a:rPr>
              <a:t>i</a:t>
            </a:r>
            <a:r>
              <a:rPr sz="3600" b="1" dirty="0">
                <a:latin typeface="Arial" panose="020B0604020202020204" pitchFamily="34" charset="0"/>
                <a:cs typeface="Arial" panose="020B0604020202020204" pitchFamily="34" charset="0"/>
              </a:rPr>
              <a:t>x</a:t>
            </a:r>
            <a:r>
              <a:rPr sz="3600" b="1" spc="204" dirty="0">
                <a:latin typeface="Arial" panose="020B0604020202020204" pitchFamily="34" charset="0"/>
                <a:cs typeface="Arial" panose="020B0604020202020204" pitchFamily="34" charset="0"/>
              </a:rPr>
              <a:t> </a:t>
            </a:r>
            <a:r>
              <a:rPr sz="3600" b="1" spc="-5" dirty="0">
                <a:latin typeface="Arial" panose="020B0604020202020204" pitchFamily="34" charset="0"/>
                <a:cs typeface="Arial" panose="020B0604020202020204" pitchFamily="34" charset="0"/>
              </a:rPr>
              <a:t>(CP)</a:t>
            </a:r>
          </a:p>
        </p:txBody>
      </p:sp>
      <p:pic>
        <p:nvPicPr>
          <p:cNvPr id="5" name="Picture 4">
            <a:extLst>
              <a:ext uri="{FF2B5EF4-FFF2-40B4-BE49-F238E27FC236}">
                <a16:creationId xmlns:a16="http://schemas.microsoft.com/office/drawing/2014/main" id="{659827EB-2615-43AA-B09B-DDAC09BAAC3F}"/>
              </a:ext>
            </a:extLst>
          </p:cNvPr>
          <p:cNvPicPr>
            <a:picLocks noChangeAspect="1"/>
          </p:cNvPicPr>
          <p:nvPr/>
        </p:nvPicPr>
        <p:blipFill>
          <a:blip r:embed="rId3"/>
          <a:stretch>
            <a:fillRect/>
          </a:stretch>
        </p:blipFill>
        <p:spPr>
          <a:xfrm>
            <a:off x="0" y="736600"/>
            <a:ext cx="9144000" cy="2139518"/>
          </a:xfrm>
          <a:prstGeom prst="rect">
            <a:avLst/>
          </a:prstGeom>
        </p:spPr>
      </p:pic>
      <p:pic>
        <p:nvPicPr>
          <p:cNvPr id="6" name="Picture 5">
            <a:extLst>
              <a:ext uri="{FF2B5EF4-FFF2-40B4-BE49-F238E27FC236}">
                <a16:creationId xmlns:a16="http://schemas.microsoft.com/office/drawing/2014/main" id="{B5E6A315-810C-4CBB-8B2B-5850684FCE4D}"/>
              </a:ext>
            </a:extLst>
          </p:cNvPr>
          <p:cNvPicPr>
            <a:picLocks noChangeAspect="1"/>
          </p:cNvPicPr>
          <p:nvPr/>
        </p:nvPicPr>
        <p:blipFill>
          <a:blip r:embed="rId4"/>
          <a:stretch>
            <a:fillRect/>
          </a:stretch>
        </p:blipFill>
        <p:spPr>
          <a:xfrm>
            <a:off x="1449422" y="2876118"/>
            <a:ext cx="6527260" cy="1858673"/>
          </a:xfrm>
          <a:prstGeom prst="rect">
            <a:avLst/>
          </a:prstGeom>
        </p:spPr>
      </p:pic>
      <p:sp>
        <p:nvSpPr>
          <p:cNvPr id="7" name="Rectangle 6">
            <a:extLst>
              <a:ext uri="{FF2B5EF4-FFF2-40B4-BE49-F238E27FC236}">
                <a16:creationId xmlns:a16="http://schemas.microsoft.com/office/drawing/2014/main" id="{3C97AFEC-A850-4C26-BC17-CA49F9E0253F}"/>
              </a:ext>
            </a:extLst>
          </p:cNvPr>
          <p:cNvSpPr/>
          <p:nvPr/>
        </p:nvSpPr>
        <p:spPr>
          <a:xfrm>
            <a:off x="875490" y="5015636"/>
            <a:ext cx="2587557" cy="1200329"/>
          </a:xfrm>
          <a:prstGeom prst="rect">
            <a:avLst/>
          </a:prstGeom>
        </p:spPr>
        <p:txBody>
          <a:bodyPr wrap="square">
            <a:spAutoFit/>
          </a:bodyPr>
          <a:lstStyle/>
          <a:p>
            <a:r>
              <a:rPr lang="en-US" dirty="0">
                <a:solidFill>
                  <a:srgbClr val="77943C"/>
                </a:solidFill>
                <a:latin typeface="TrebuchetMS"/>
              </a:rPr>
              <a:t>Delay in the time domain </a:t>
            </a:r>
            <a:r>
              <a:rPr lang="en-US" dirty="0">
                <a:solidFill>
                  <a:srgbClr val="000000"/>
                </a:solidFill>
                <a:latin typeface="TrebuchetMS"/>
              </a:rPr>
              <a:t>corresponds to</a:t>
            </a:r>
          </a:p>
          <a:p>
            <a:r>
              <a:rPr lang="en-US" dirty="0">
                <a:solidFill>
                  <a:srgbClr val="77943C"/>
                </a:solidFill>
                <a:latin typeface="TrebuchetMS"/>
              </a:rPr>
              <a:t>rotation in the frequency domain</a:t>
            </a:r>
            <a:endParaRPr lang="en-US" dirty="0"/>
          </a:p>
        </p:txBody>
      </p:sp>
      <p:sp>
        <p:nvSpPr>
          <p:cNvPr id="9" name="Rectangle 8">
            <a:extLst>
              <a:ext uri="{FF2B5EF4-FFF2-40B4-BE49-F238E27FC236}">
                <a16:creationId xmlns:a16="http://schemas.microsoft.com/office/drawing/2014/main" id="{8F7D4A17-E02A-4DBE-85E3-42510B284031}"/>
              </a:ext>
            </a:extLst>
          </p:cNvPr>
          <p:cNvSpPr/>
          <p:nvPr/>
        </p:nvSpPr>
        <p:spPr>
          <a:xfrm>
            <a:off x="3696510" y="4921505"/>
            <a:ext cx="4572000" cy="1139607"/>
          </a:xfrm>
          <a:prstGeom prst="rect">
            <a:avLst/>
          </a:prstGeom>
        </p:spPr>
        <p:txBody>
          <a:bodyPr>
            <a:spAutoFit/>
          </a:bodyPr>
          <a:lstStyle/>
          <a:p>
            <a:pPr lvl="1">
              <a:lnSpc>
                <a:spcPts val="2800"/>
              </a:lnSpc>
              <a:spcBef>
                <a:spcPts val="1400"/>
              </a:spcBef>
            </a:pP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Can</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still</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obtain</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correct</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signal</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in</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the</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frequency</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domain</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by</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compensating</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this</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rebuchet MS" panose="020B0603020202020204" pitchFamily="34" charset="0"/>
                <a:ea typeface="Trebuchet MS" panose="020B0603020202020204" pitchFamily="34" charset="0"/>
                <a:cs typeface="Trebuchet MS" panose="020B0603020202020204" pitchFamily="34" charset="0"/>
              </a:rPr>
              <a:t>rotation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7AA22-24EE-91C8-8910-9A10C9605CAF}"/>
              </a:ext>
            </a:extLst>
          </p:cNvPr>
          <p:cNvSpPr>
            <a:spLocks noGrp="1"/>
          </p:cNvSpPr>
          <p:nvPr>
            <p:ph type="title"/>
          </p:nvPr>
        </p:nvSpPr>
        <p:spPr>
          <a:xfrm>
            <a:off x="508907" y="180070"/>
            <a:ext cx="7886700" cy="777874"/>
          </a:xfrm>
        </p:spPr>
        <p:txBody>
          <a:bodyPr>
            <a:normAutofit fontScale="90000"/>
          </a:bodyPr>
          <a:lstStyle/>
          <a:p>
            <a:r>
              <a:rPr lang="en-US" sz="3600" b="1" i="0" u="none" strike="noStrike" baseline="0" dirty="0">
                <a:latin typeface="Arial" panose="020B0604020202020204" pitchFamily="34" charset="0"/>
                <a:cs typeface="Arial" panose="020B0604020202020204" pitchFamily="34" charset="0"/>
              </a:rPr>
              <a:t>OFDM Modulation and Demodulation</a:t>
            </a:r>
            <a:endParaRPr lang="en-US" sz="36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07072FF8-E73F-F5C6-F000-FAAACFC2284F}"/>
              </a:ext>
            </a:extLst>
          </p:cNvPr>
          <p:cNvSpPr txBox="1"/>
          <p:nvPr/>
        </p:nvSpPr>
        <p:spPr>
          <a:xfrm>
            <a:off x="508907" y="969255"/>
            <a:ext cx="8088086" cy="707886"/>
          </a:xfrm>
          <a:prstGeom prst="rect">
            <a:avLst/>
          </a:prstGeom>
          <a:noFill/>
        </p:spPr>
        <p:txBody>
          <a:bodyPr wrap="square">
            <a:spAutoFit/>
          </a:bodyPr>
          <a:lstStyle/>
          <a:p>
            <a:pPr algn="l"/>
            <a:r>
              <a:rPr lang="en-US" sz="2000" b="0" i="0" u="none" strike="noStrike" baseline="0" dirty="0">
                <a:latin typeface="AdvP41153C"/>
              </a:rPr>
              <a:t>The baseband OFDM signals in the continuous-time domain can be expressed respectively as</a:t>
            </a:r>
            <a:endParaRPr lang="en-US" sz="2000" dirty="0"/>
          </a:p>
        </p:txBody>
      </p:sp>
      <p:pic>
        <p:nvPicPr>
          <p:cNvPr id="15" name="Picture 14">
            <a:extLst>
              <a:ext uri="{FF2B5EF4-FFF2-40B4-BE49-F238E27FC236}">
                <a16:creationId xmlns:a16="http://schemas.microsoft.com/office/drawing/2014/main" id="{AE339852-8738-60C8-2AB1-4C46D7CCE990}"/>
              </a:ext>
            </a:extLst>
          </p:cNvPr>
          <p:cNvPicPr>
            <a:picLocks noChangeAspect="1"/>
          </p:cNvPicPr>
          <p:nvPr/>
        </p:nvPicPr>
        <p:blipFill>
          <a:blip r:embed="rId2"/>
          <a:stretch>
            <a:fillRect/>
          </a:stretch>
        </p:blipFill>
        <p:spPr>
          <a:xfrm>
            <a:off x="1075628" y="1688452"/>
            <a:ext cx="8068372" cy="1593117"/>
          </a:xfrm>
          <a:prstGeom prst="rect">
            <a:avLst/>
          </a:prstGeom>
        </p:spPr>
      </p:pic>
      <p:pic>
        <p:nvPicPr>
          <p:cNvPr id="17" name="Picture 16">
            <a:extLst>
              <a:ext uri="{FF2B5EF4-FFF2-40B4-BE49-F238E27FC236}">
                <a16:creationId xmlns:a16="http://schemas.microsoft.com/office/drawing/2014/main" id="{0B3A9B14-5A9A-3075-D52D-A258C886A935}"/>
              </a:ext>
            </a:extLst>
          </p:cNvPr>
          <p:cNvPicPr>
            <a:picLocks noChangeAspect="1"/>
          </p:cNvPicPr>
          <p:nvPr/>
        </p:nvPicPr>
        <p:blipFill>
          <a:blip r:embed="rId3"/>
          <a:stretch>
            <a:fillRect/>
          </a:stretch>
        </p:blipFill>
        <p:spPr>
          <a:xfrm>
            <a:off x="343874" y="3073941"/>
            <a:ext cx="8456252" cy="2969424"/>
          </a:xfrm>
          <a:prstGeom prst="rect">
            <a:avLst/>
          </a:prstGeom>
        </p:spPr>
      </p:pic>
    </p:spTree>
    <p:extLst>
      <p:ext uri="{BB962C8B-B14F-4D97-AF65-F5344CB8AC3E}">
        <p14:creationId xmlns:p14="http://schemas.microsoft.com/office/powerpoint/2010/main" val="1794503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6296D-333F-870F-1073-0268FD55E279}"/>
              </a:ext>
            </a:extLst>
          </p:cNvPr>
          <p:cNvSpPr>
            <a:spLocks noGrp="1"/>
          </p:cNvSpPr>
          <p:nvPr>
            <p:ph type="title"/>
          </p:nvPr>
        </p:nvSpPr>
        <p:spPr/>
        <p:txBody>
          <a:bodyPr/>
          <a:lstStyle/>
          <a:p>
            <a:r>
              <a:rPr lang="en-US" b="1" dirty="0"/>
              <a:t>OFDM Communication</a:t>
            </a:r>
          </a:p>
        </p:txBody>
      </p:sp>
      <p:pic>
        <p:nvPicPr>
          <p:cNvPr id="5" name="Picture 4">
            <a:extLst>
              <a:ext uri="{FF2B5EF4-FFF2-40B4-BE49-F238E27FC236}">
                <a16:creationId xmlns:a16="http://schemas.microsoft.com/office/drawing/2014/main" id="{624F574F-8728-BA2F-34A1-0D210173E0D7}"/>
              </a:ext>
            </a:extLst>
          </p:cNvPr>
          <p:cNvPicPr>
            <a:picLocks noChangeAspect="1"/>
          </p:cNvPicPr>
          <p:nvPr/>
        </p:nvPicPr>
        <p:blipFill>
          <a:blip r:embed="rId2"/>
          <a:stretch>
            <a:fillRect/>
          </a:stretch>
        </p:blipFill>
        <p:spPr>
          <a:xfrm>
            <a:off x="73883" y="1657321"/>
            <a:ext cx="9070117" cy="3971654"/>
          </a:xfrm>
          <a:prstGeom prst="rect">
            <a:avLst/>
          </a:prstGeom>
        </p:spPr>
      </p:pic>
    </p:spTree>
    <p:extLst>
      <p:ext uri="{BB962C8B-B14F-4D97-AF65-F5344CB8AC3E}">
        <p14:creationId xmlns:p14="http://schemas.microsoft.com/office/powerpoint/2010/main" val="5396770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7"/>
            <a:ext cx="7886700" cy="929284"/>
          </a:xfrm>
        </p:spPr>
        <p:txBody>
          <a:bodyPr>
            <a:normAutofit/>
          </a:bodyPr>
          <a:lstStyle/>
          <a:p>
            <a:r>
              <a:rPr lang="en-GB" sz="4000" b="1" dirty="0"/>
              <a:t>Advantages / Disadvantages</a:t>
            </a:r>
          </a:p>
        </p:txBody>
      </p:sp>
      <p:sp>
        <p:nvSpPr>
          <p:cNvPr id="6" name="Content Placeholder 5"/>
          <p:cNvSpPr>
            <a:spLocks noGrp="1"/>
          </p:cNvSpPr>
          <p:nvPr>
            <p:ph idx="1"/>
          </p:nvPr>
        </p:nvSpPr>
        <p:spPr>
          <a:xfrm>
            <a:off x="386172" y="1542556"/>
            <a:ext cx="4204607" cy="4751366"/>
          </a:xfrm>
        </p:spPr>
        <p:txBody>
          <a:bodyPr>
            <a:normAutofit fontScale="77500" lnSpcReduction="20000"/>
          </a:bodyPr>
          <a:lstStyle/>
          <a:p>
            <a:pPr marL="0" indent="0">
              <a:buNone/>
            </a:pPr>
            <a:r>
              <a:rPr lang="en-US" dirty="0"/>
              <a:t>✅ </a:t>
            </a:r>
            <a:r>
              <a:rPr lang="en-US" b="1" dirty="0"/>
              <a:t>Advantages</a:t>
            </a:r>
          </a:p>
          <a:p>
            <a:pPr marL="0" indent="0">
              <a:buNone/>
            </a:pPr>
            <a:endParaRPr lang="en-US" dirty="0"/>
          </a:p>
          <a:p>
            <a:pPr marL="0" indent="0">
              <a:buNone/>
            </a:pPr>
            <a:r>
              <a:rPr lang="en-US" dirty="0"/>
              <a:t>Resilient to multipath fading</a:t>
            </a:r>
          </a:p>
          <a:p>
            <a:pPr marL="0" indent="0">
              <a:buNone/>
            </a:pPr>
            <a:endParaRPr lang="en-US" dirty="0"/>
          </a:p>
          <a:p>
            <a:pPr marL="0" indent="0">
              <a:buNone/>
            </a:pPr>
            <a:r>
              <a:rPr lang="en-US" dirty="0"/>
              <a:t>Simple frequency-domain equalization</a:t>
            </a:r>
          </a:p>
          <a:p>
            <a:pPr marL="0" indent="0">
              <a:buNone/>
            </a:pPr>
            <a:endParaRPr lang="en-US" dirty="0"/>
          </a:p>
          <a:p>
            <a:pPr marL="0" indent="0">
              <a:buNone/>
            </a:pPr>
            <a:r>
              <a:rPr lang="en-US" dirty="0"/>
              <a:t>High spectral efficiency</a:t>
            </a:r>
          </a:p>
          <a:p>
            <a:pPr marL="0" indent="0">
              <a:buNone/>
            </a:pPr>
            <a:endParaRPr lang="en-US" dirty="0"/>
          </a:p>
          <a:p>
            <a:pPr marL="0" indent="0">
              <a:buNone/>
            </a:pPr>
            <a:r>
              <a:rPr lang="en-US" dirty="0"/>
              <a:t>Supports adaptive modulation per subcarrier</a:t>
            </a:r>
          </a:p>
          <a:p>
            <a:pPr marL="0" indent="0">
              <a:buNone/>
            </a:pPr>
            <a:endParaRPr lang="en-US" dirty="0"/>
          </a:p>
          <a:p>
            <a:pPr marL="0" indent="0">
              <a:buNone/>
            </a:pPr>
            <a:r>
              <a:rPr lang="en-US" dirty="0"/>
              <a:t>Widely implemented using IFFT/FFT</a:t>
            </a:r>
          </a:p>
          <a:p>
            <a:pPr marL="0" indent="0">
              <a:buNone/>
            </a:pPr>
            <a:endParaRPr lang="en-US" dirty="0"/>
          </a:p>
          <a:p>
            <a:pPr marL="0" indent="0">
              <a:spcBef>
                <a:spcPts val="0"/>
              </a:spcBef>
              <a:spcAft>
                <a:spcPts val="800"/>
              </a:spcAft>
              <a:buClr>
                <a:srgbClr val="00B050"/>
              </a:buClr>
              <a:buSzPct val="120000"/>
              <a:buNone/>
            </a:pPr>
            <a:endParaRPr lang="en-US" dirty="0"/>
          </a:p>
        </p:txBody>
      </p:sp>
      <p:sp>
        <p:nvSpPr>
          <p:cNvPr id="4" name="TextBox 3">
            <a:extLst>
              <a:ext uri="{FF2B5EF4-FFF2-40B4-BE49-F238E27FC236}">
                <a16:creationId xmlns:a16="http://schemas.microsoft.com/office/drawing/2014/main" id="{82A3309E-8E62-E44D-FA64-E64E628BABF3}"/>
              </a:ext>
            </a:extLst>
          </p:cNvPr>
          <p:cNvSpPr txBox="1"/>
          <p:nvPr/>
        </p:nvSpPr>
        <p:spPr>
          <a:xfrm>
            <a:off x="4833257" y="1400275"/>
            <a:ext cx="3924571" cy="4893647"/>
          </a:xfrm>
          <a:prstGeom prst="rect">
            <a:avLst/>
          </a:prstGeom>
          <a:noFill/>
        </p:spPr>
        <p:txBody>
          <a:bodyPr wrap="square">
            <a:spAutoFit/>
          </a:bodyPr>
          <a:lstStyle/>
          <a:p>
            <a:pPr marL="0" indent="0">
              <a:buNone/>
            </a:pPr>
            <a:r>
              <a:rPr lang="en-US" sz="2400" dirty="0"/>
              <a:t>⚠️ </a:t>
            </a:r>
            <a:r>
              <a:rPr lang="en-US" sz="2400" b="1" dirty="0"/>
              <a:t>Disadvantages</a:t>
            </a:r>
          </a:p>
          <a:p>
            <a:pPr marL="0" indent="0">
              <a:buNone/>
            </a:pPr>
            <a:endParaRPr lang="en-US" sz="2400" dirty="0"/>
          </a:p>
          <a:p>
            <a:pPr marL="0" indent="0">
              <a:buNone/>
            </a:pPr>
            <a:r>
              <a:rPr lang="en-US" sz="2400" dirty="0"/>
              <a:t>High PAPR (power amplifier stress)</a:t>
            </a:r>
          </a:p>
          <a:p>
            <a:pPr marL="0" indent="0">
              <a:buNone/>
            </a:pPr>
            <a:endParaRPr lang="en-US" sz="2400" dirty="0"/>
          </a:p>
          <a:p>
            <a:pPr marL="0" indent="0">
              <a:buNone/>
            </a:pPr>
            <a:r>
              <a:rPr lang="en-US" sz="2400" dirty="0"/>
              <a:t>Sensitive to frequency offset &amp; Doppler</a:t>
            </a:r>
          </a:p>
          <a:p>
            <a:pPr marL="0" indent="0">
              <a:buNone/>
            </a:pPr>
            <a:endParaRPr lang="en-US" sz="2400" dirty="0"/>
          </a:p>
          <a:p>
            <a:pPr marL="0" indent="0">
              <a:buNone/>
            </a:pPr>
            <a:r>
              <a:rPr lang="en-US" sz="2400" dirty="0"/>
              <a:t>Requires precise synchronization</a:t>
            </a:r>
          </a:p>
          <a:p>
            <a:pPr marL="0" indent="0">
              <a:buNone/>
            </a:pPr>
            <a:endParaRPr lang="en-US" sz="2400" dirty="0"/>
          </a:p>
          <a:p>
            <a:pPr marL="0" indent="0">
              <a:buNone/>
            </a:pPr>
            <a:r>
              <a:rPr lang="en-US" sz="2400" dirty="0"/>
              <a:t>More complex baseband processing</a:t>
            </a:r>
          </a:p>
        </p:txBody>
      </p:sp>
    </p:spTree>
    <p:extLst>
      <p:ext uri="{BB962C8B-B14F-4D97-AF65-F5344CB8AC3E}">
        <p14:creationId xmlns:p14="http://schemas.microsoft.com/office/powerpoint/2010/main" val="3132924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C9C902-9A98-8D31-8790-4281E7D8C13D}"/>
              </a:ext>
            </a:extLst>
          </p:cNvPr>
          <p:cNvSpPr>
            <a:spLocks noGrp="1"/>
          </p:cNvSpPr>
          <p:nvPr>
            <p:ph type="title"/>
          </p:nvPr>
        </p:nvSpPr>
        <p:spPr>
          <a:xfrm>
            <a:off x="628650" y="365125"/>
            <a:ext cx="7886700" cy="1325563"/>
          </a:xfrm>
        </p:spPr>
        <p:txBody>
          <a:bodyPr>
            <a:normAutofit/>
          </a:bodyPr>
          <a:lstStyle/>
          <a:p>
            <a:r>
              <a:rPr lang="en-US" sz="4700" b="1" dirty="0">
                <a:latin typeface="Times New Roman" panose="02020603050405020304" pitchFamily="18" charset="0"/>
                <a:cs typeface="Times New Roman" panose="02020603050405020304" pitchFamily="18" charset="0"/>
              </a:rPr>
              <a:t>Example-1</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61AD484-8289-36D6-9D9A-44474158CF72}"/>
              </a:ext>
            </a:extLst>
          </p:cNvPr>
          <p:cNvSpPr>
            <a:spLocks noGrp="1"/>
          </p:cNvSpPr>
          <p:nvPr>
            <p:ph idx="1"/>
          </p:nvPr>
        </p:nvSpPr>
        <p:spPr>
          <a:xfrm>
            <a:off x="501777" y="1918341"/>
            <a:ext cx="8297839" cy="4574533"/>
          </a:xfrm>
        </p:spPr>
        <p:txBody>
          <a:bodyPr>
            <a:normAutofit/>
          </a:bodyPr>
          <a:lstStyle/>
          <a:p>
            <a:pPr marL="0" indent="0">
              <a:buNone/>
            </a:pPr>
            <a:r>
              <a:rPr lang="en-US" sz="2000" b="1" dirty="0"/>
              <a:t>An OFDM system is designed with 2048 subcarriers over a total bandwidth of 40 </a:t>
            </a:r>
            <a:r>
              <a:rPr lang="en-US" sz="2000" b="1" dirty="0" err="1"/>
              <a:t>MHz.</a:t>
            </a:r>
            <a:r>
              <a:rPr lang="en-US" sz="2000" b="1" dirty="0"/>
              <a:t> To mitigate inter-symbol interference (ISI) caused by multipath propagation, a cyclic prefix (CP) is added before each OFDM symbol.</a:t>
            </a:r>
          </a:p>
          <a:p>
            <a:pPr marL="0" indent="0">
              <a:buNone/>
            </a:pPr>
            <a:r>
              <a:rPr lang="en-US" sz="2000" b="1" dirty="0" err="1"/>
              <a:t>i</a:t>
            </a:r>
            <a:r>
              <a:rPr lang="en-US" sz="2000" b="1" dirty="0"/>
              <a:t>)</a:t>
            </a:r>
            <a:r>
              <a:rPr lang="en-US" sz="2000" dirty="0"/>
              <a:t> Determine the subcarrier spacing for this system.</a:t>
            </a:r>
          </a:p>
          <a:p>
            <a:pPr marL="0" indent="0">
              <a:buNone/>
            </a:pPr>
            <a:r>
              <a:rPr lang="en-US" sz="2000" b="1" dirty="0"/>
              <a:t>ii)</a:t>
            </a:r>
            <a:r>
              <a:rPr lang="en-US" sz="2000" dirty="0"/>
              <a:t> If the cyclic prefix duration is 1/16 of the useful symbol duration, calculate both the useful symbol duration and the total symbol duration (including CP).</a:t>
            </a:r>
          </a:p>
          <a:p>
            <a:pPr marL="0" indent="0">
              <a:buNone/>
            </a:pPr>
            <a:r>
              <a:rPr lang="en-US" sz="2000" b="1" dirty="0"/>
              <a:t>iii)</a:t>
            </a:r>
            <a:r>
              <a:rPr lang="en-US" sz="2000" dirty="0"/>
              <a:t> The wireless channel has a maximum delay spread of 4 µs. Evaluate whether the chosen cyclic prefix is sufficient to eliminate ISI completely. Justify your answer with appropriate calculations.</a:t>
            </a:r>
          </a:p>
          <a:p>
            <a:pPr marL="0" indent="0">
              <a:buNone/>
            </a:pPr>
            <a:r>
              <a:rPr lang="en-US" sz="2000" b="1" dirty="0"/>
              <a:t>iv)</a:t>
            </a:r>
            <a:r>
              <a:rPr lang="en-US" sz="2000" dirty="0"/>
              <a:t> Discuss how decreasing the total bandwidth (while keeping the number of subcarriers fixed) affects the OFDM system’s sensitivity to Doppler shift and frequency offsets.</a:t>
            </a:r>
          </a:p>
          <a:p>
            <a:endParaRPr lang="en-US" sz="2000" dirty="0"/>
          </a:p>
        </p:txBody>
      </p:sp>
    </p:spTree>
    <p:extLst>
      <p:ext uri="{BB962C8B-B14F-4D97-AF65-F5344CB8AC3E}">
        <p14:creationId xmlns:p14="http://schemas.microsoft.com/office/powerpoint/2010/main" val="3591180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ACCD8-0D0C-9D5A-243C-04BFDACDA54C}"/>
              </a:ext>
            </a:extLst>
          </p:cNvPr>
          <p:cNvSpPr>
            <a:spLocks noGrp="1"/>
          </p:cNvSpPr>
          <p:nvPr>
            <p:ph type="title"/>
          </p:nvPr>
        </p:nvSpPr>
        <p:spPr>
          <a:xfrm>
            <a:off x="628650" y="365126"/>
            <a:ext cx="7886700" cy="881783"/>
          </a:xfrm>
        </p:spPr>
        <p:txBody>
          <a:bodyPr/>
          <a:lstStyle/>
          <a:p>
            <a:r>
              <a:rPr lang="en-US" b="1" dirty="0">
                <a:latin typeface="Times New Roman" panose="02020603050405020304" pitchFamily="18" charset="0"/>
                <a:cs typeface="Times New Roman" panose="02020603050405020304" pitchFamily="18" charset="0"/>
              </a:rPr>
              <a:t>Solution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38A428F-FC6E-085D-A301-1357650A20A0}"/>
                  </a:ext>
                </a:extLst>
              </p:cNvPr>
              <p:cNvSpPr>
                <a:spLocks noGrp="1"/>
              </p:cNvSpPr>
              <p:nvPr>
                <p:ph idx="1"/>
              </p:nvPr>
            </p:nvSpPr>
            <p:spPr/>
            <p:txBody>
              <a:bodyPr/>
              <a:lstStyle/>
              <a:p>
                <a:pPr marL="0" indent="0">
                  <a:buNone/>
                </a:pPr>
                <a:r>
                  <a:rPr lang="en-US" b="1" dirty="0"/>
                  <a:t>Given</a:t>
                </a:r>
              </a:p>
              <a:p>
                <a:pPr>
                  <a:buFont typeface="Wingdings" panose="05000000000000000000" pitchFamily="2" charset="2"/>
                  <a:buChar char="ü"/>
                </a:pPr>
                <a:r>
                  <a:rPr lang="en-US" dirty="0"/>
                  <a:t>Total bandwidth </a:t>
                </a:r>
                <a14:m>
                  <m:oMath xmlns:m="http://schemas.openxmlformats.org/officeDocument/2006/math">
                    <m:r>
                      <a:rPr lang="en-US" i="1"/>
                      <m:t>𝐵</m:t>
                    </m:r>
                    <m:r>
                      <a:rPr lang="en-US"/>
                      <m:t>=</m:t>
                    </m:r>
                    <m:r>
                      <a:rPr lang="en-US"/>
                      <m:t>40</m:t>
                    </m:r>
                    <m:r>
                      <m:rPr>
                        <m:nor/>
                      </m:rPr>
                      <a:rPr lang="en-US" i="1"/>
                      <m:t> </m:t>
                    </m:r>
                    <m:r>
                      <m:rPr>
                        <m:nor/>
                      </m:rPr>
                      <a:rPr lang="en-US" i="1"/>
                      <m:t>MHz</m:t>
                    </m:r>
                  </m:oMath>
                </a14:m>
                <a:endParaRPr lang="en-US" dirty="0"/>
              </a:p>
              <a:p>
                <a:pPr>
                  <a:buFont typeface="Wingdings" panose="05000000000000000000" pitchFamily="2" charset="2"/>
                  <a:buChar char="ü"/>
                </a:pPr>
                <a:r>
                  <a:rPr lang="en-US" dirty="0"/>
                  <a:t>Number of subcarriers </a:t>
                </a:r>
                <a14:m>
                  <m:oMath xmlns:m="http://schemas.openxmlformats.org/officeDocument/2006/math">
                    <m:r>
                      <a:rPr lang="en-US" i="1"/>
                      <m:t>𝑁</m:t>
                    </m:r>
                    <m:r>
                      <a:rPr lang="en-US"/>
                      <m:t>=</m:t>
                    </m:r>
                    <m:r>
                      <a:rPr lang="en-US"/>
                      <m:t>2048</m:t>
                    </m:r>
                  </m:oMath>
                </a14:m>
                <a:endParaRPr lang="en-US" dirty="0"/>
              </a:p>
              <a:p>
                <a:pPr>
                  <a:buFont typeface="Wingdings" panose="05000000000000000000" pitchFamily="2" charset="2"/>
                  <a:buChar char="ü"/>
                </a:pPr>
                <a:r>
                  <a:rPr lang="en-US" dirty="0"/>
                  <a:t>CP duration </a:t>
                </a:r>
                <a14:m>
                  <m:oMath xmlns:m="http://schemas.openxmlformats.org/officeDocument/2006/math">
                    <m:sSub>
                      <m:sSubPr>
                        <m:ctrlPr>
                          <a:rPr lang="ar-SA"/>
                        </m:ctrlPr>
                      </m:sSubPr>
                      <m:e>
                        <m:r>
                          <a:rPr lang="ar-SA" i="1"/>
                          <m:t>𝑇</m:t>
                        </m:r>
                      </m:e>
                      <m:sub>
                        <m:r>
                          <m:rPr>
                            <m:nor/>
                          </m:rPr>
                          <a:rPr lang="en-US" i="1"/>
                          <m:t>CP</m:t>
                        </m:r>
                      </m:sub>
                    </m:sSub>
                    <m:r>
                      <a:rPr lang="ar-SA"/>
                      <m:t>=</m:t>
                    </m:r>
                    <m:f>
                      <m:fPr>
                        <m:ctrlPr>
                          <a:rPr lang="ar-SA" i="1"/>
                        </m:ctrlPr>
                      </m:fPr>
                      <m:num>
                        <m:r>
                          <a:rPr lang="ar-SA"/>
                          <m:t>1</m:t>
                        </m:r>
                      </m:num>
                      <m:den>
                        <m:r>
                          <a:rPr lang="ar-SA"/>
                          <m:t>16</m:t>
                        </m:r>
                      </m:den>
                    </m:f>
                    <m:r>
                      <m:rPr>
                        <m:nor/>
                      </m:rPr>
                      <a:rPr lang="ar-SA" i="1"/>
                      <m:t> </m:t>
                    </m:r>
                    <m:sSub>
                      <m:sSubPr>
                        <m:ctrlPr>
                          <a:rPr lang="ar-SA" i="1"/>
                        </m:ctrlPr>
                      </m:sSubPr>
                      <m:e>
                        <m:r>
                          <a:rPr lang="ar-SA" i="1"/>
                          <m:t>𝑇</m:t>
                        </m:r>
                      </m:e>
                      <m:sub>
                        <m:r>
                          <a:rPr lang="ar-SA" i="1"/>
                          <m:t>𝑢</m:t>
                        </m:r>
                      </m:sub>
                    </m:sSub>
                  </m:oMath>
                </a14:m>
                <a:r>
                  <a:rPr lang="ar-SA" dirty="0"/>
                  <a:t>(</a:t>
                </a:r>
                <a:r>
                  <a:rPr lang="en-US" dirty="0"/>
                  <a:t>: where </a:t>
                </a:r>
                <a14:m>
                  <m:oMath xmlns:m="http://schemas.openxmlformats.org/officeDocument/2006/math">
                    <m:sSub>
                      <m:sSubPr>
                        <m:ctrlPr>
                          <a:rPr lang="ar-SA"/>
                        </m:ctrlPr>
                      </m:sSubPr>
                      <m:e>
                        <m:r>
                          <a:rPr lang="ar-SA" i="1"/>
                          <m:t>𝑇</m:t>
                        </m:r>
                      </m:e>
                      <m:sub>
                        <m:r>
                          <a:rPr lang="ar-SA" i="1"/>
                          <m:t>𝑢</m:t>
                        </m:r>
                      </m:sub>
                    </m:sSub>
                  </m:oMath>
                </a14:m>
                <a:r>
                  <a:rPr lang="en-US" dirty="0"/>
                  <a:t>is the useful symbol duration)</a:t>
                </a:r>
              </a:p>
              <a:p>
                <a:pPr>
                  <a:buFont typeface="Wingdings" panose="05000000000000000000" pitchFamily="2" charset="2"/>
                  <a:buChar char="ü"/>
                </a:pPr>
                <a:r>
                  <a:rPr lang="en-US" dirty="0"/>
                  <a:t>Channel maximum delay spread </a:t>
                </a:r>
                <a14:m>
                  <m:oMath xmlns:m="http://schemas.openxmlformats.org/officeDocument/2006/math">
                    <m:sSub>
                      <m:sSubPr>
                        <m:ctrlPr>
                          <a:rPr lang="ar-SA"/>
                        </m:ctrlPr>
                      </m:sSubPr>
                      <m:e>
                        <m:r>
                          <a:rPr lang="ar-SA" i="1"/>
                          <m:t>𝜏</m:t>
                        </m:r>
                      </m:e>
                      <m:sub>
                        <m:r>
                          <m:rPr>
                            <m:sty m:val="p"/>
                          </m:rPr>
                          <a:rPr lang="en-US"/>
                          <m:t>max</m:t>
                        </m:r>
                      </m:sub>
                    </m:sSub>
                    <m:r>
                      <a:rPr lang="ar-SA"/>
                      <m:t>=</m:t>
                    </m:r>
                    <m:r>
                      <a:rPr lang="ar-SA"/>
                      <m:t>4</m:t>
                    </m:r>
                    <m:r>
                      <m:rPr>
                        <m:nor/>
                      </m:rPr>
                      <a:rPr lang="ar-SA" i="1"/>
                      <m:t> </m:t>
                    </m:r>
                    <m:r>
                      <a:rPr lang="ar-SA" i="1"/>
                      <m:t>𝜇</m:t>
                    </m:r>
                    <m:r>
                      <m:rPr>
                        <m:nor/>
                      </m:rPr>
                      <a:rPr lang="en-US" i="1"/>
                      <m:t>s</m:t>
                    </m:r>
                  </m:oMath>
                </a14:m>
                <a:endParaRPr lang="en-US" dirty="0"/>
              </a:p>
              <a:p>
                <a:endParaRPr lang="en-US" dirty="0"/>
              </a:p>
            </p:txBody>
          </p:sp>
        </mc:Choice>
        <mc:Fallback>
          <p:sp>
            <p:nvSpPr>
              <p:cNvPr id="3" name="Content Placeholder 2">
                <a:extLst>
                  <a:ext uri="{FF2B5EF4-FFF2-40B4-BE49-F238E27FC236}">
                    <a16:creationId xmlns:a16="http://schemas.microsoft.com/office/drawing/2014/main" id="{138A428F-FC6E-085D-A301-1357650A20A0}"/>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en-US">
                    <a:noFill/>
                  </a:rPr>
                  <a:t> </a:t>
                </a:r>
              </a:p>
            </p:txBody>
          </p:sp>
        </mc:Fallback>
      </mc:AlternateContent>
    </p:spTree>
    <p:extLst>
      <p:ext uri="{BB962C8B-B14F-4D97-AF65-F5344CB8AC3E}">
        <p14:creationId xmlns:p14="http://schemas.microsoft.com/office/powerpoint/2010/main" val="719244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AFD139F-5709-8B22-F14C-0D240D2CCC92}"/>
                  </a:ext>
                </a:extLst>
              </p:cNvPr>
              <p:cNvSpPr>
                <a:spLocks noGrp="1"/>
              </p:cNvSpPr>
              <p:nvPr>
                <p:ph idx="1"/>
              </p:nvPr>
            </p:nvSpPr>
            <p:spPr>
              <a:xfrm>
                <a:off x="628650" y="451262"/>
                <a:ext cx="7886700" cy="5725701"/>
              </a:xfrm>
            </p:spPr>
            <p:txBody>
              <a:bodyPr>
                <a:normAutofit fontScale="92500" lnSpcReduction="10000"/>
              </a:bodyPr>
              <a:lstStyle/>
              <a:p>
                <a:pPr marL="0" indent="0">
                  <a:buNone/>
                </a:pPr>
                <a:r>
                  <a:rPr lang="en-US" b="1" dirty="0" err="1">
                    <a:cs typeface="+mj-cs"/>
                  </a:rPr>
                  <a:t>i</a:t>
                </a:r>
                <a:r>
                  <a:rPr lang="en-US" b="1" dirty="0">
                    <a:cs typeface="+mj-cs"/>
                  </a:rPr>
                  <a:t>) Subcarrier spacing</a:t>
                </a:r>
              </a:p>
              <a:p>
                <a:pPr marL="0" indent="0">
                  <a:buNone/>
                </a:pPr>
                <a14:m>
                  <m:oMathPara xmlns:m="http://schemas.openxmlformats.org/officeDocument/2006/math">
                    <m:oMathParaPr>
                      <m:jc m:val="centerGroup"/>
                    </m:oMathParaPr>
                    <m:oMath xmlns:m="http://schemas.openxmlformats.org/officeDocument/2006/math">
                      <m:r>
                        <m:rPr>
                          <m:sty m:val="p"/>
                        </m:rPr>
                        <a:rPr lang="el-GR">
                          <a:latin typeface="Cambria Math" panose="02040503050406030204" pitchFamily="18" charset="0"/>
                          <a:cs typeface="+mj-cs"/>
                        </a:rPr>
                        <m:t>Δ</m:t>
                      </m:r>
                      <m:r>
                        <a:rPr lang="el-GR" i="1">
                          <a:latin typeface="Cambria Math" panose="02040503050406030204" pitchFamily="18" charset="0"/>
                          <a:cs typeface="+mj-cs"/>
                        </a:rPr>
                        <m:t>𝑓</m:t>
                      </m:r>
                      <m:r>
                        <m:rPr>
                          <m:nor/>
                        </m:rPr>
                        <a:rPr lang="el-GR" i="1">
                          <a:cs typeface="+mj-cs"/>
                        </a:rPr>
                        <m:t>  </m:t>
                      </m:r>
                      <m:r>
                        <a:rPr lang="el-GR">
                          <a:latin typeface="Cambria Math" panose="02040503050406030204" pitchFamily="18" charset="0"/>
                          <a:cs typeface="+mj-cs"/>
                        </a:rPr>
                        <m:t>=</m:t>
                      </m:r>
                      <m:r>
                        <m:rPr>
                          <m:nor/>
                        </m:rPr>
                        <a:rPr lang="el-GR" i="1">
                          <a:cs typeface="+mj-cs"/>
                        </a:rPr>
                        <m:t>  </m:t>
                      </m:r>
                      <m:f>
                        <m:fPr>
                          <m:ctrlPr>
                            <a:rPr lang="ar-SA" i="1">
                              <a:latin typeface="Cambria Math" panose="02040503050406030204" pitchFamily="18" charset="0"/>
                              <a:cs typeface="+mj-cs"/>
                            </a:rPr>
                          </m:ctrlPr>
                        </m:fPr>
                        <m:num>
                          <m:r>
                            <a:rPr lang="ar-SA" i="1">
                              <a:latin typeface="Cambria Math" panose="02040503050406030204" pitchFamily="18" charset="0"/>
                              <a:cs typeface="+mj-cs"/>
                            </a:rPr>
                            <m:t>𝐵</m:t>
                          </m:r>
                        </m:num>
                        <m:den>
                          <m:r>
                            <a:rPr lang="ar-SA" i="1">
                              <a:latin typeface="Cambria Math" panose="02040503050406030204" pitchFamily="18" charset="0"/>
                              <a:cs typeface="+mj-cs"/>
                            </a:rPr>
                            <m:t>𝑁</m:t>
                          </m:r>
                        </m:den>
                      </m:f>
                      <m:r>
                        <m:rPr>
                          <m:nor/>
                        </m:rPr>
                        <a:rPr lang="ar-SA" i="1">
                          <a:cs typeface="+mj-cs"/>
                        </a:rPr>
                        <m:t>  </m:t>
                      </m:r>
                      <m:r>
                        <a:rPr lang="ar-SA">
                          <a:latin typeface="Cambria Math" panose="02040503050406030204" pitchFamily="18" charset="0"/>
                          <a:cs typeface="+mj-cs"/>
                        </a:rPr>
                        <m:t>=</m:t>
                      </m:r>
                      <m:r>
                        <m:rPr>
                          <m:nor/>
                        </m:rPr>
                        <a:rPr lang="ar-SA" i="1">
                          <a:cs typeface="+mj-cs"/>
                        </a:rPr>
                        <m:t>  </m:t>
                      </m:r>
                      <m:f>
                        <m:fPr>
                          <m:ctrlPr>
                            <a:rPr lang="ar-SA" i="1">
                              <a:latin typeface="Cambria Math" panose="02040503050406030204" pitchFamily="18" charset="0"/>
                              <a:cs typeface="+mj-cs"/>
                            </a:rPr>
                          </m:ctrlPr>
                        </m:fPr>
                        <m:num>
                          <m:r>
                            <a:rPr lang="ar-SA">
                              <a:latin typeface="Cambria Math" panose="02040503050406030204" pitchFamily="18" charset="0"/>
                              <a:cs typeface="+mj-cs"/>
                            </a:rPr>
                            <m:t>40</m:t>
                          </m:r>
                          <m:r>
                            <a:rPr lang="ar-SA">
                              <a:latin typeface="Cambria Math" panose="02040503050406030204" pitchFamily="18" charset="0"/>
                              <a:cs typeface="+mj-cs"/>
                            </a:rPr>
                            <m:t>×</m:t>
                          </m:r>
                          <m:sSup>
                            <m:sSupPr>
                              <m:ctrlPr>
                                <a:rPr lang="ar-SA" i="1">
                                  <a:latin typeface="Cambria Math" panose="02040503050406030204" pitchFamily="18" charset="0"/>
                                  <a:cs typeface="+mj-cs"/>
                                </a:rPr>
                              </m:ctrlPr>
                            </m:sSupPr>
                            <m:e>
                              <m:r>
                                <a:rPr lang="ar-SA">
                                  <a:latin typeface="Cambria Math" panose="02040503050406030204" pitchFamily="18" charset="0"/>
                                  <a:cs typeface="+mj-cs"/>
                                </a:rPr>
                                <m:t>10</m:t>
                              </m:r>
                            </m:e>
                            <m:sup>
                              <m:r>
                                <a:rPr lang="ar-SA">
                                  <a:latin typeface="Cambria Math" panose="02040503050406030204" pitchFamily="18" charset="0"/>
                                  <a:cs typeface="+mj-cs"/>
                                </a:rPr>
                                <m:t>6</m:t>
                              </m:r>
                            </m:sup>
                          </m:sSup>
                        </m:num>
                        <m:den>
                          <m:r>
                            <a:rPr lang="ar-SA">
                              <a:latin typeface="Cambria Math" panose="02040503050406030204" pitchFamily="18" charset="0"/>
                              <a:cs typeface="+mj-cs"/>
                            </a:rPr>
                            <m:t>2048</m:t>
                          </m:r>
                        </m:den>
                      </m:f>
                      <m:r>
                        <m:rPr>
                          <m:nor/>
                        </m:rPr>
                        <a:rPr lang="ar-SA" i="1">
                          <a:cs typeface="+mj-cs"/>
                        </a:rPr>
                        <m:t>  </m:t>
                      </m:r>
                      <m:r>
                        <a:rPr lang="ar-SA">
                          <a:latin typeface="Cambria Math" panose="02040503050406030204" pitchFamily="18" charset="0"/>
                          <a:cs typeface="+mj-cs"/>
                        </a:rPr>
                        <m:t>=</m:t>
                      </m:r>
                      <m:r>
                        <m:rPr>
                          <m:nor/>
                        </m:rPr>
                        <a:rPr lang="ar-SA" i="1">
                          <a:cs typeface="+mj-cs"/>
                        </a:rPr>
                        <m:t>  </m:t>
                      </m:r>
                      <m:r>
                        <a:rPr lang="ar-SA">
                          <a:latin typeface="Cambria Math" panose="02040503050406030204" pitchFamily="18" charset="0"/>
                          <a:cs typeface="+mj-cs"/>
                        </a:rPr>
                        <m:t>19</m:t>
                      </m:r>
                      <m:r>
                        <a:rPr lang="ar-SA">
                          <a:latin typeface="Cambria Math" panose="02040503050406030204" pitchFamily="18" charset="0"/>
                          <a:cs typeface="+mj-cs"/>
                        </a:rPr>
                        <m:t>,</m:t>
                      </m:r>
                      <m:r>
                        <a:rPr lang="ar-SA">
                          <a:latin typeface="Cambria Math" panose="02040503050406030204" pitchFamily="18" charset="0"/>
                          <a:cs typeface="+mj-cs"/>
                        </a:rPr>
                        <m:t>531</m:t>
                      </m:r>
                      <m:r>
                        <a:rPr lang="ar-SA">
                          <a:latin typeface="Cambria Math" panose="02040503050406030204" pitchFamily="18" charset="0"/>
                          <a:cs typeface="+mj-cs"/>
                        </a:rPr>
                        <m:t>.</m:t>
                      </m:r>
                      <m:r>
                        <a:rPr lang="ar-SA">
                          <a:latin typeface="Cambria Math" panose="02040503050406030204" pitchFamily="18" charset="0"/>
                          <a:cs typeface="+mj-cs"/>
                        </a:rPr>
                        <m:t>25</m:t>
                      </m:r>
                      <m:r>
                        <m:rPr>
                          <m:nor/>
                        </m:rPr>
                        <a:rPr lang="ar-SA" i="1">
                          <a:cs typeface="+mj-cs"/>
                        </a:rPr>
                        <m:t> </m:t>
                      </m:r>
                      <m:r>
                        <m:rPr>
                          <m:nor/>
                        </m:rPr>
                        <a:rPr lang="en-US" i="1">
                          <a:cs typeface="+mj-cs"/>
                        </a:rPr>
                        <m:t>Hz</m:t>
                      </m:r>
                      <m:r>
                        <m:rPr>
                          <m:nor/>
                        </m:rPr>
                        <a:rPr lang="en-US" i="1">
                          <a:cs typeface="+mj-cs"/>
                        </a:rPr>
                        <m:t>  </m:t>
                      </m:r>
                      <m:r>
                        <a:rPr lang="en-US">
                          <a:latin typeface="Cambria Math" panose="02040503050406030204" pitchFamily="18" charset="0"/>
                          <a:cs typeface="+mj-cs"/>
                        </a:rPr>
                        <m:t>≈</m:t>
                      </m:r>
                      <m:r>
                        <m:rPr>
                          <m:nor/>
                        </m:rPr>
                        <a:rPr lang="en-US" i="1">
                          <a:cs typeface="+mj-cs"/>
                        </a:rPr>
                        <m:t>  </m:t>
                      </m:r>
                      <m:r>
                        <a:rPr lang="en-US">
                          <a:latin typeface="Cambria Math" panose="02040503050406030204" pitchFamily="18" charset="0"/>
                          <a:cs typeface="+mj-cs"/>
                        </a:rPr>
                        <m:t>19</m:t>
                      </m:r>
                      <m:r>
                        <a:rPr lang="en-US">
                          <a:latin typeface="Cambria Math" panose="02040503050406030204" pitchFamily="18" charset="0"/>
                          <a:cs typeface="+mj-cs"/>
                        </a:rPr>
                        <m:t>.</m:t>
                      </m:r>
                      <m:r>
                        <a:rPr lang="en-US">
                          <a:latin typeface="Cambria Math" panose="02040503050406030204" pitchFamily="18" charset="0"/>
                          <a:cs typeface="+mj-cs"/>
                        </a:rPr>
                        <m:t>53</m:t>
                      </m:r>
                      <m:r>
                        <m:rPr>
                          <m:nor/>
                        </m:rPr>
                        <a:rPr lang="en-US" i="1">
                          <a:cs typeface="+mj-cs"/>
                        </a:rPr>
                        <m:t> </m:t>
                      </m:r>
                      <m:r>
                        <m:rPr>
                          <m:nor/>
                        </m:rPr>
                        <a:rPr lang="en-US" i="1">
                          <a:cs typeface="+mj-cs"/>
                        </a:rPr>
                        <m:t>kHz</m:t>
                      </m:r>
                      <m:r>
                        <a:rPr lang="en-US">
                          <a:latin typeface="Cambria Math" panose="02040503050406030204" pitchFamily="18" charset="0"/>
                          <a:cs typeface="+mj-cs"/>
                        </a:rPr>
                        <m:t>.</m:t>
                      </m:r>
                    </m:oMath>
                  </m:oMathPara>
                </a14:m>
                <a:endParaRPr lang="en-US" b="0" dirty="0">
                  <a:cs typeface="+mj-cs"/>
                </a:endParaRPr>
              </a:p>
              <a:p>
                <a:pPr marL="0" indent="0">
                  <a:buNone/>
                </a:pPr>
                <a:endParaRPr lang="en-US" b="0" dirty="0">
                  <a:cs typeface="+mj-cs"/>
                </a:endParaRPr>
              </a:p>
              <a:p>
                <a:pPr marL="0" indent="0">
                  <a:buNone/>
                </a:pPr>
                <a:r>
                  <a:rPr lang="en-US" b="1" dirty="0">
                    <a:cs typeface="+mj-cs"/>
                  </a:rPr>
                  <a:t>ii) Useful and total symbol durations</a:t>
                </a:r>
              </a:p>
              <a:p>
                <a:pPr marL="0" indent="0">
                  <a:buNone/>
                </a:pPr>
                <a:r>
                  <a:rPr lang="en-US" dirty="0">
                    <a:cs typeface="+mj-cs"/>
                  </a:rPr>
                  <a:t>Useful symbol duration:</a:t>
                </a:r>
              </a:p>
              <a:p>
                <a:pPr marL="0" indent="0">
                  <a:buNone/>
                </a:pPr>
                <a14:m>
                  <m:oMathPara xmlns:m="http://schemas.openxmlformats.org/officeDocument/2006/math">
                    <m:oMathParaPr>
                      <m:jc m:val="centerGroup"/>
                    </m:oMathParaPr>
                    <m:oMath xmlns:m="http://schemas.openxmlformats.org/officeDocument/2006/math">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𝑇</m:t>
                          </m:r>
                        </m:e>
                        <m:sub>
                          <m:r>
                            <a:rPr lang="ar-SA" i="1">
                              <a:latin typeface="Cambria Math" panose="02040503050406030204" pitchFamily="18" charset="0"/>
                              <a:cs typeface="+mj-cs"/>
                            </a:rPr>
                            <m:t>𝑢</m:t>
                          </m:r>
                        </m:sub>
                      </m:sSub>
                      <m:r>
                        <a:rPr lang="ar-SA">
                          <a:latin typeface="Cambria Math" panose="02040503050406030204" pitchFamily="18" charset="0"/>
                          <a:cs typeface="+mj-cs"/>
                        </a:rPr>
                        <m:t>=</m:t>
                      </m:r>
                      <m:f>
                        <m:fPr>
                          <m:ctrlPr>
                            <a:rPr lang="ar-SA" i="1">
                              <a:latin typeface="Cambria Math" panose="02040503050406030204" pitchFamily="18" charset="0"/>
                              <a:cs typeface="+mj-cs"/>
                            </a:rPr>
                          </m:ctrlPr>
                        </m:fPr>
                        <m:num>
                          <m:r>
                            <a:rPr lang="ar-SA">
                              <a:latin typeface="Cambria Math" panose="02040503050406030204" pitchFamily="18" charset="0"/>
                              <a:cs typeface="+mj-cs"/>
                            </a:rPr>
                            <m:t>1</m:t>
                          </m:r>
                        </m:num>
                        <m:den>
                          <m:r>
                            <m:rPr>
                              <m:sty m:val="p"/>
                            </m:rPr>
                            <a:rPr lang="el-GR">
                              <a:latin typeface="Cambria Math" panose="02040503050406030204" pitchFamily="18" charset="0"/>
                              <a:cs typeface="+mj-cs"/>
                            </a:rPr>
                            <m:t>Δ</m:t>
                          </m:r>
                          <m:r>
                            <a:rPr lang="el-GR" i="1">
                              <a:latin typeface="Cambria Math" panose="02040503050406030204" pitchFamily="18" charset="0"/>
                              <a:cs typeface="+mj-cs"/>
                            </a:rPr>
                            <m:t>𝑓</m:t>
                          </m:r>
                        </m:den>
                      </m:f>
                      <m:r>
                        <a:rPr lang="ar-SA">
                          <a:latin typeface="Cambria Math" panose="02040503050406030204" pitchFamily="18" charset="0"/>
                          <a:cs typeface="+mj-cs"/>
                        </a:rPr>
                        <m:t>=</m:t>
                      </m:r>
                      <m:f>
                        <m:fPr>
                          <m:ctrlPr>
                            <a:rPr lang="ar-SA" i="1">
                              <a:latin typeface="Cambria Math" panose="02040503050406030204" pitchFamily="18" charset="0"/>
                              <a:cs typeface="+mj-cs"/>
                            </a:rPr>
                          </m:ctrlPr>
                        </m:fPr>
                        <m:num>
                          <m:r>
                            <a:rPr lang="ar-SA">
                              <a:latin typeface="Cambria Math" panose="02040503050406030204" pitchFamily="18" charset="0"/>
                              <a:cs typeface="+mj-cs"/>
                            </a:rPr>
                            <m:t>1</m:t>
                          </m:r>
                        </m:num>
                        <m:den>
                          <m:r>
                            <a:rPr lang="ar-SA">
                              <a:latin typeface="Cambria Math" panose="02040503050406030204" pitchFamily="18" charset="0"/>
                              <a:cs typeface="+mj-cs"/>
                            </a:rPr>
                            <m:t>19</m:t>
                          </m:r>
                          <m:r>
                            <a:rPr lang="ar-SA">
                              <a:latin typeface="Cambria Math" panose="02040503050406030204" pitchFamily="18" charset="0"/>
                              <a:cs typeface="+mj-cs"/>
                            </a:rPr>
                            <m:t>,</m:t>
                          </m:r>
                          <m:r>
                            <a:rPr lang="ar-SA">
                              <a:latin typeface="Cambria Math" panose="02040503050406030204" pitchFamily="18" charset="0"/>
                              <a:cs typeface="+mj-cs"/>
                            </a:rPr>
                            <m:t>531</m:t>
                          </m:r>
                          <m:r>
                            <a:rPr lang="ar-SA">
                              <a:latin typeface="Cambria Math" panose="02040503050406030204" pitchFamily="18" charset="0"/>
                              <a:cs typeface="+mj-cs"/>
                            </a:rPr>
                            <m:t>.</m:t>
                          </m:r>
                          <m:r>
                            <a:rPr lang="ar-SA">
                              <a:latin typeface="Cambria Math" panose="02040503050406030204" pitchFamily="18" charset="0"/>
                              <a:cs typeface="+mj-cs"/>
                            </a:rPr>
                            <m:t>25</m:t>
                          </m:r>
                        </m:den>
                      </m:f>
                      <m:r>
                        <m:rPr>
                          <m:nor/>
                        </m:rPr>
                        <a:rPr lang="ar-SA" i="1">
                          <a:cs typeface="+mj-cs"/>
                        </a:rPr>
                        <m:t> </m:t>
                      </m:r>
                      <m:r>
                        <m:rPr>
                          <m:nor/>
                        </m:rPr>
                        <a:rPr lang="en-US" i="1">
                          <a:cs typeface="+mj-cs"/>
                        </a:rPr>
                        <m:t>s</m:t>
                      </m:r>
                      <m:r>
                        <a:rPr lang="en-US">
                          <a:latin typeface="Cambria Math" panose="02040503050406030204" pitchFamily="18" charset="0"/>
                          <a:cs typeface="+mj-cs"/>
                        </a:rPr>
                        <m:t>=</m:t>
                      </m:r>
                      <m:r>
                        <a:rPr lang="en-US">
                          <a:latin typeface="Cambria Math" panose="02040503050406030204" pitchFamily="18" charset="0"/>
                          <a:cs typeface="+mj-cs"/>
                        </a:rPr>
                        <m:t>51</m:t>
                      </m:r>
                      <m:r>
                        <a:rPr lang="en-US">
                          <a:latin typeface="Cambria Math" panose="02040503050406030204" pitchFamily="18" charset="0"/>
                          <a:cs typeface="+mj-cs"/>
                        </a:rPr>
                        <m:t>.</m:t>
                      </m:r>
                      <m:r>
                        <a:rPr lang="en-US">
                          <a:latin typeface="Cambria Math" panose="02040503050406030204" pitchFamily="18" charset="0"/>
                          <a:cs typeface="+mj-cs"/>
                        </a:rPr>
                        <m:t>2</m:t>
                      </m:r>
                      <m:r>
                        <m:rPr>
                          <m:nor/>
                        </m:rPr>
                        <a:rPr lang="en-US" i="1">
                          <a:cs typeface="+mj-cs"/>
                        </a:rPr>
                        <m:t> </m:t>
                      </m:r>
                      <m:r>
                        <a:rPr lang="en-US" i="1">
                          <a:latin typeface="Cambria Math" panose="02040503050406030204" pitchFamily="18" charset="0"/>
                          <a:cs typeface="+mj-cs"/>
                        </a:rPr>
                        <m:t>𝜇</m:t>
                      </m:r>
                      <m:r>
                        <m:rPr>
                          <m:nor/>
                        </m:rPr>
                        <a:rPr lang="en-US" i="1">
                          <a:cs typeface="+mj-cs"/>
                        </a:rPr>
                        <m:t>s</m:t>
                      </m:r>
                      <m:r>
                        <a:rPr lang="en-US">
                          <a:latin typeface="Cambria Math" panose="02040503050406030204" pitchFamily="18" charset="0"/>
                          <a:cs typeface="+mj-cs"/>
                        </a:rPr>
                        <m:t>.</m:t>
                      </m:r>
                    </m:oMath>
                  </m:oMathPara>
                </a14:m>
                <a:endParaRPr lang="en-US" b="0" dirty="0">
                  <a:cs typeface="+mj-cs"/>
                </a:endParaRPr>
              </a:p>
              <a:p>
                <a:pPr marL="0" indent="0">
                  <a:buNone/>
                </a:pPr>
                <a:r>
                  <a:rPr lang="en-US" dirty="0">
                    <a:cs typeface="+mj-cs"/>
                  </a:rPr>
                  <a:t>Cyclic prefix:</a:t>
                </a:r>
              </a:p>
              <a:p>
                <a:pPr marL="0" indent="0">
                  <a:buNone/>
                </a:pPr>
                <a14:m>
                  <m:oMathPara xmlns:m="http://schemas.openxmlformats.org/officeDocument/2006/math">
                    <m:oMathParaPr>
                      <m:jc m:val="centerGroup"/>
                    </m:oMathParaPr>
                    <m:oMath xmlns:m="http://schemas.openxmlformats.org/officeDocument/2006/math">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𝑇</m:t>
                          </m:r>
                        </m:e>
                        <m:sub>
                          <m:r>
                            <m:rPr>
                              <m:nor/>
                            </m:rPr>
                            <a:rPr lang="en-US" i="1">
                              <a:cs typeface="+mj-cs"/>
                            </a:rPr>
                            <m:t>CP</m:t>
                          </m:r>
                        </m:sub>
                      </m:sSub>
                      <m:r>
                        <a:rPr lang="ar-SA">
                          <a:latin typeface="Cambria Math" panose="02040503050406030204" pitchFamily="18" charset="0"/>
                          <a:cs typeface="+mj-cs"/>
                        </a:rPr>
                        <m:t>=</m:t>
                      </m:r>
                      <m:f>
                        <m:fPr>
                          <m:ctrlPr>
                            <a:rPr lang="ar-SA" i="1">
                              <a:latin typeface="Cambria Math" panose="02040503050406030204" pitchFamily="18" charset="0"/>
                              <a:cs typeface="+mj-cs"/>
                            </a:rPr>
                          </m:ctrlPr>
                        </m:fPr>
                        <m:num>
                          <m:r>
                            <a:rPr lang="ar-SA">
                              <a:latin typeface="Cambria Math" panose="02040503050406030204" pitchFamily="18" charset="0"/>
                              <a:cs typeface="+mj-cs"/>
                            </a:rPr>
                            <m:t>1</m:t>
                          </m:r>
                        </m:num>
                        <m:den>
                          <m:r>
                            <a:rPr lang="ar-SA">
                              <a:latin typeface="Cambria Math" panose="02040503050406030204" pitchFamily="18" charset="0"/>
                              <a:cs typeface="+mj-cs"/>
                            </a:rPr>
                            <m:t>16</m:t>
                          </m:r>
                        </m:den>
                      </m:f>
                      <m:r>
                        <m:rPr>
                          <m:nor/>
                        </m:rPr>
                        <a:rPr lang="ar-SA" i="1">
                          <a:cs typeface="+mj-cs"/>
                        </a:rPr>
                        <m:t> </m:t>
                      </m:r>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𝑇</m:t>
                          </m:r>
                        </m:e>
                        <m:sub>
                          <m:r>
                            <a:rPr lang="ar-SA" i="1">
                              <a:latin typeface="Cambria Math" panose="02040503050406030204" pitchFamily="18" charset="0"/>
                              <a:cs typeface="+mj-cs"/>
                            </a:rPr>
                            <m:t>𝑢</m:t>
                          </m:r>
                        </m:sub>
                      </m:sSub>
                      <m:r>
                        <a:rPr lang="ar-SA">
                          <a:latin typeface="Cambria Math" panose="02040503050406030204" pitchFamily="18" charset="0"/>
                          <a:cs typeface="+mj-cs"/>
                        </a:rPr>
                        <m:t>=</m:t>
                      </m:r>
                      <m:f>
                        <m:fPr>
                          <m:ctrlPr>
                            <a:rPr lang="ar-SA" i="1">
                              <a:latin typeface="Cambria Math" panose="02040503050406030204" pitchFamily="18" charset="0"/>
                              <a:cs typeface="+mj-cs"/>
                            </a:rPr>
                          </m:ctrlPr>
                        </m:fPr>
                        <m:num>
                          <m:r>
                            <a:rPr lang="ar-SA">
                              <a:latin typeface="Cambria Math" panose="02040503050406030204" pitchFamily="18" charset="0"/>
                              <a:cs typeface="+mj-cs"/>
                            </a:rPr>
                            <m:t>51</m:t>
                          </m:r>
                          <m:r>
                            <a:rPr lang="ar-SA">
                              <a:latin typeface="Cambria Math" panose="02040503050406030204" pitchFamily="18" charset="0"/>
                              <a:cs typeface="+mj-cs"/>
                            </a:rPr>
                            <m:t>.</m:t>
                          </m:r>
                          <m:r>
                            <a:rPr lang="ar-SA">
                              <a:latin typeface="Cambria Math" panose="02040503050406030204" pitchFamily="18" charset="0"/>
                              <a:cs typeface="+mj-cs"/>
                            </a:rPr>
                            <m:t>2</m:t>
                          </m:r>
                        </m:num>
                        <m:den>
                          <m:r>
                            <a:rPr lang="ar-SA">
                              <a:latin typeface="Cambria Math" panose="02040503050406030204" pitchFamily="18" charset="0"/>
                              <a:cs typeface="+mj-cs"/>
                            </a:rPr>
                            <m:t>16</m:t>
                          </m:r>
                        </m:den>
                      </m:f>
                      <m:r>
                        <m:rPr>
                          <m:nor/>
                        </m:rPr>
                        <a:rPr lang="ar-SA" i="1">
                          <a:cs typeface="+mj-cs"/>
                        </a:rPr>
                        <m:t> </m:t>
                      </m:r>
                      <m:r>
                        <a:rPr lang="ar-SA" i="1">
                          <a:latin typeface="Cambria Math" panose="02040503050406030204" pitchFamily="18" charset="0"/>
                          <a:cs typeface="+mj-cs"/>
                        </a:rPr>
                        <m:t>𝜇</m:t>
                      </m:r>
                      <m:r>
                        <m:rPr>
                          <m:nor/>
                        </m:rPr>
                        <a:rPr lang="en-US" i="1">
                          <a:cs typeface="+mj-cs"/>
                        </a:rPr>
                        <m:t>s</m:t>
                      </m:r>
                      <m:r>
                        <a:rPr lang="en-US">
                          <a:latin typeface="Cambria Math" panose="02040503050406030204" pitchFamily="18" charset="0"/>
                          <a:cs typeface="+mj-cs"/>
                        </a:rPr>
                        <m:t>=</m:t>
                      </m:r>
                      <m:r>
                        <a:rPr lang="en-US">
                          <a:latin typeface="Cambria Math" panose="02040503050406030204" pitchFamily="18" charset="0"/>
                          <a:cs typeface="+mj-cs"/>
                        </a:rPr>
                        <m:t>3</m:t>
                      </m:r>
                      <m:r>
                        <a:rPr lang="en-US">
                          <a:latin typeface="Cambria Math" panose="02040503050406030204" pitchFamily="18" charset="0"/>
                          <a:cs typeface="+mj-cs"/>
                        </a:rPr>
                        <m:t>.</m:t>
                      </m:r>
                      <m:r>
                        <a:rPr lang="en-US">
                          <a:latin typeface="Cambria Math" panose="02040503050406030204" pitchFamily="18" charset="0"/>
                          <a:cs typeface="+mj-cs"/>
                        </a:rPr>
                        <m:t>2</m:t>
                      </m:r>
                      <m:r>
                        <m:rPr>
                          <m:nor/>
                        </m:rPr>
                        <a:rPr lang="en-US" i="1">
                          <a:cs typeface="+mj-cs"/>
                        </a:rPr>
                        <m:t> </m:t>
                      </m:r>
                      <m:r>
                        <a:rPr lang="en-US" i="1">
                          <a:latin typeface="Cambria Math" panose="02040503050406030204" pitchFamily="18" charset="0"/>
                          <a:cs typeface="+mj-cs"/>
                        </a:rPr>
                        <m:t>𝜇</m:t>
                      </m:r>
                      <m:r>
                        <m:rPr>
                          <m:nor/>
                        </m:rPr>
                        <a:rPr lang="en-US" i="1">
                          <a:cs typeface="+mj-cs"/>
                        </a:rPr>
                        <m:t>s</m:t>
                      </m:r>
                      <m:r>
                        <a:rPr lang="en-US">
                          <a:latin typeface="Cambria Math" panose="02040503050406030204" pitchFamily="18" charset="0"/>
                          <a:cs typeface="+mj-cs"/>
                        </a:rPr>
                        <m:t>.</m:t>
                      </m:r>
                    </m:oMath>
                  </m:oMathPara>
                </a14:m>
                <a:endParaRPr lang="en-US" b="0" dirty="0">
                  <a:cs typeface="+mj-cs"/>
                </a:endParaRPr>
              </a:p>
              <a:p>
                <a:pPr marL="0" indent="0">
                  <a:buNone/>
                </a:pPr>
                <a:r>
                  <a:rPr lang="en-US" dirty="0">
                    <a:cs typeface="+mj-cs"/>
                  </a:rPr>
                  <a:t>Total OFDM symbol duration (including CP):</a:t>
                </a:r>
              </a:p>
              <a:p>
                <a:pPr marL="0" indent="0">
                  <a:buNone/>
                </a:pPr>
                <a14:m>
                  <m:oMathPara xmlns:m="http://schemas.openxmlformats.org/officeDocument/2006/math">
                    <m:oMathParaPr>
                      <m:jc m:val="centerGroup"/>
                    </m:oMathParaPr>
                    <m:oMath xmlns:m="http://schemas.openxmlformats.org/officeDocument/2006/math">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𝑇</m:t>
                          </m:r>
                        </m:e>
                        <m:sub>
                          <m:r>
                            <m:rPr>
                              <m:nor/>
                            </m:rPr>
                            <a:rPr lang="en-US" i="1">
                              <a:cs typeface="+mj-cs"/>
                            </a:rPr>
                            <m:t>sym</m:t>
                          </m:r>
                        </m:sub>
                      </m:sSub>
                      <m:r>
                        <a:rPr lang="ar-SA">
                          <a:latin typeface="Cambria Math" panose="02040503050406030204" pitchFamily="18" charset="0"/>
                          <a:cs typeface="+mj-cs"/>
                        </a:rPr>
                        <m:t>=</m:t>
                      </m:r>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𝑇</m:t>
                          </m:r>
                        </m:e>
                        <m:sub>
                          <m:r>
                            <a:rPr lang="ar-SA" i="1">
                              <a:latin typeface="Cambria Math" panose="02040503050406030204" pitchFamily="18" charset="0"/>
                              <a:cs typeface="+mj-cs"/>
                            </a:rPr>
                            <m:t>𝑢</m:t>
                          </m:r>
                        </m:sub>
                      </m:sSub>
                      <m:r>
                        <a:rPr lang="ar-SA">
                          <a:latin typeface="Cambria Math" panose="02040503050406030204" pitchFamily="18" charset="0"/>
                          <a:cs typeface="+mj-cs"/>
                        </a:rPr>
                        <m:t>+</m:t>
                      </m:r>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𝑇</m:t>
                          </m:r>
                        </m:e>
                        <m:sub>
                          <m:r>
                            <m:rPr>
                              <m:nor/>
                            </m:rPr>
                            <a:rPr lang="en-US" i="1">
                              <a:cs typeface="+mj-cs"/>
                            </a:rPr>
                            <m:t>CP</m:t>
                          </m:r>
                        </m:sub>
                      </m:sSub>
                      <m:r>
                        <a:rPr lang="ar-SA">
                          <a:latin typeface="Cambria Math" panose="02040503050406030204" pitchFamily="18" charset="0"/>
                          <a:cs typeface="+mj-cs"/>
                        </a:rPr>
                        <m:t>=</m:t>
                      </m:r>
                      <m:r>
                        <a:rPr lang="ar-SA">
                          <a:latin typeface="Cambria Math" panose="02040503050406030204" pitchFamily="18" charset="0"/>
                          <a:cs typeface="+mj-cs"/>
                        </a:rPr>
                        <m:t>51</m:t>
                      </m:r>
                      <m:r>
                        <a:rPr lang="ar-SA">
                          <a:latin typeface="Cambria Math" panose="02040503050406030204" pitchFamily="18" charset="0"/>
                          <a:cs typeface="+mj-cs"/>
                        </a:rPr>
                        <m:t>.</m:t>
                      </m:r>
                      <m:r>
                        <a:rPr lang="ar-SA">
                          <a:latin typeface="Cambria Math" panose="02040503050406030204" pitchFamily="18" charset="0"/>
                          <a:cs typeface="+mj-cs"/>
                        </a:rPr>
                        <m:t>2</m:t>
                      </m:r>
                      <m:r>
                        <a:rPr lang="ar-SA">
                          <a:latin typeface="Cambria Math" panose="02040503050406030204" pitchFamily="18" charset="0"/>
                          <a:cs typeface="+mj-cs"/>
                        </a:rPr>
                        <m:t>+</m:t>
                      </m:r>
                      <m:r>
                        <a:rPr lang="ar-SA">
                          <a:latin typeface="Cambria Math" panose="02040503050406030204" pitchFamily="18" charset="0"/>
                          <a:cs typeface="+mj-cs"/>
                        </a:rPr>
                        <m:t>3</m:t>
                      </m:r>
                      <m:r>
                        <a:rPr lang="ar-SA">
                          <a:latin typeface="Cambria Math" panose="02040503050406030204" pitchFamily="18" charset="0"/>
                          <a:cs typeface="+mj-cs"/>
                        </a:rPr>
                        <m:t>.</m:t>
                      </m:r>
                      <m:r>
                        <a:rPr lang="ar-SA">
                          <a:latin typeface="Cambria Math" panose="02040503050406030204" pitchFamily="18" charset="0"/>
                          <a:cs typeface="+mj-cs"/>
                        </a:rPr>
                        <m:t>2</m:t>
                      </m:r>
                      <m:r>
                        <a:rPr lang="ar-SA">
                          <a:latin typeface="Cambria Math" panose="02040503050406030204" pitchFamily="18" charset="0"/>
                          <a:cs typeface="+mj-cs"/>
                        </a:rPr>
                        <m:t>=</m:t>
                      </m:r>
                      <m:r>
                        <a:rPr lang="ar-SA">
                          <a:latin typeface="Cambria Math" panose="02040503050406030204" pitchFamily="18" charset="0"/>
                          <a:cs typeface="+mj-cs"/>
                        </a:rPr>
                        <m:t>54</m:t>
                      </m:r>
                      <m:r>
                        <a:rPr lang="ar-SA">
                          <a:latin typeface="Cambria Math" panose="02040503050406030204" pitchFamily="18" charset="0"/>
                          <a:cs typeface="+mj-cs"/>
                        </a:rPr>
                        <m:t>.</m:t>
                      </m:r>
                      <m:r>
                        <a:rPr lang="ar-SA">
                          <a:latin typeface="Cambria Math" panose="02040503050406030204" pitchFamily="18" charset="0"/>
                          <a:cs typeface="+mj-cs"/>
                        </a:rPr>
                        <m:t>4</m:t>
                      </m:r>
                      <m:r>
                        <m:rPr>
                          <m:nor/>
                        </m:rPr>
                        <a:rPr lang="ar-SA" i="1">
                          <a:cs typeface="+mj-cs"/>
                        </a:rPr>
                        <m:t> </m:t>
                      </m:r>
                      <m:r>
                        <a:rPr lang="ar-SA" i="1">
                          <a:latin typeface="Cambria Math" panose="02040503050406030204" pitchFamily="18" charset="0"/>
                          <a:cs typeface="+mj-cs"/>
                        </a:rPr>
                        <m:t>𝜇</m:t>
                      </m:r>
                      <m:r>
                        <m:rPr>
                          <m:nor/>
                        </m:rPr>
                        <a:rPr lang="en-US" i="1">
                          <a:cs typeface="+mj-cs"/>
                        </a:rPr>
                        <m:t>s</m:t>
                      </m:r>
                      <m:r>
                        <a:rPr lang="en-US">
                          <a:latin typeface="Cambria Math" panose="02040503050406030204" pitchFamily="18" charset="0"/>
                          <a:cs typeface="+mj-cs"/>
                        </a:rPr>
                        <m:t>.</m:t>
                      </m:r>
                    </m:oMath>
                  </m:oMathPara>
                </a14:m>
                <a:endParaRPr lang="en-US" b="0" dirty="0">
                  <a:cs typeface="+mj-cs"/>
                </a:endParaRPr>
              </a:p>
              <a:p>
                <a:endParaRPr lang="en-US" dirty="0">
                  <a:cs typeface="+mj-cs"/>
                </a:endParaRPr>
              </a:p>
            </p:txBody>
          </p:sp>
        </mc:Choice>
        <mc:Fallback>
          <p:sp>
            <p:nvSpPr>
              <p:cNvPr id="3" name="Content Placeholder 2">
                <a:extLst>
                  <a:ext uri="{FF2B5EF4-FFF2-40B4-BE49-F238E27FC236}">
                    <a16:creationId xmlns:a16="http://schemas.microsoft.com/office/drawing/2014/main" id="{8AFD139F-5709-8B22-F14C-0D240D2CCC92}"/>
                  </a:ext>
                </a:extLst>
              </p:cNvPr>
              <p:cNvSpPr>
                <a:spLocks noGrp="1" noRot="1" noChangeAspect="1" noMove="1" noResize="1" noEditPoints="1" noAdjustHandles="1" noChangeArrowheads="1" noChangeShapeType="1" noTextEdit="1"/>
              </p:cNvSpPr>
              <p:nvPr>
                <p:ph idx="1"/>
              </p:nvPr>
            </p:nvSpPr>
            <p:spPr>
              <a:xfrm>
                <a:off x="628650" y="451262"/>
                <a:ext cx="7886700" cy="5725701"/>
              </a:xfrm>
              <a:blipFill>
                <a:blip r:embed="rId2"/>
                <a:stretch>
                  <a:fillRect l="-1391" t="-2130"/>
                </a:stretch>
              </a:blipFill>
            </p:spPr>
            <p:txBody>
              <a:bodyPr/>
              <a:lstStyle/>
              <a:p>
                <a:r>
                  <a:rPr lang="en-US">
                    <a:noFill/>
                  </a:rPr>
                  <a:t> </a:t>
                </a:r>
              </a:p>
            </p:txBody>
          </p:sp>
        </mc:Fallback>
      </mc:AlternateContent>
    </p:spTree>
    <p:extLst>
      <p:ext uri="{BB962C8B-B14F-4D97-AF65-F5344CB8AC3E}">
        <p14:creationId xmlns:p14="http://schemas.microsoft.com/office/powerpoint/2010/main" val="36081789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EECF10E-311B-B286-B19A-68FD4B477208}"/>
                  </a:ext>
                </a:extLst>
              </p:cNvPr>
              <p:cNvSpPr>
                <a:spLocks noGrp="1"/>
              </p:cNvSpPr>
              <p:nvPr>
                <p:ph idx="1"/>
              </p:nvPr>
            </p:nvSpPr>
            <p:spPr>
              <a:xfrm>
                <a:off x="628649" y="486889"/>
                <a:ext cx="8112331" cy="4631376"/>
              </a:xfrm>
            </p:spPr>
            <p:txBody>
              <a:bodyPr>
                <a:normAutofit lnSpcReduction="10000"/>
              </a:bodyPr>
              <a:lstStyle/>
              <a:p>
                <a:pPr marL="0" indent="0">
                  <a:buNone/>
                </a:pPr>
                <a:r>
                  <a:rPr lang="en-US" b="1" dirty="0"/>
                  <a:t>iii) Is the CP adequate for </a:t>
                </a:r>
                <a14:m>
                  <m:oMath xmlns:m="http://schemas.openxmlformats.org/officeDocument/2006/math">
                    <m:sSub>
                      <m:sSubPr>
                        <m:ctrlPr>
                          <a:rPr lang="ar-SA"/>
                        </m:ctrlPr>
                      </m:sSubPr>
                      <m:e>
                        <m:r>
                          <a:rPr lang="ar-SA" i="1"/>
                          <m:t>𝜏</m:t>
                        </m:r>
                      </m:e>
                      <m:sub>
                        <m:r>
                          <m:rPr>
                            <m:sty m:val="p"/>
                          </m:rPr>
                          <a:rPr lang="en-US"/>
                          <m:t>max</m:t>
                        </m:r>
                      </m:sub>
                    </m:sSub>
                    <m:r>
                      <a:rPr lang="ar-SA"/>
                      <m:t>=</m:t>
                    </m:r>
                    <m:r>
                      <a:rPr lang="ar-SA"/>
                      <m:t>4</m:t>
                    </m:r>
                    <m:r>
                      <m:rPr>
                        <m:nor/>
                      </m:rPr>
                      <a:rPr lang="ar-SA" i="1"/>
                      <m:t> </m:t>
                    </m:r>
                    <m:r>
                      <a:rPr lang="ar-SA" i="1"/>
                      <m:t>𝜇</m:t>
                    </m:r>
                    <m:r>
                      <m:rPr>
                        <m:nor/>
                      </m:rPr>
                      <a:rPr lang="en-US" i="1"/>
                      <m:t>s</m:t>
                    </m:r>
                  </m:oMath>
                </a14:m>
                <a:r>
                  <a:rPr lang="en-US" b="1" dirty="0"/>
                  <a:t>?</a:t>
                </a:r>
              </a:p>
              <a:p>
                <a:pPr marL="0" indent="0">
                  <a:buNone/>
                </a:pPr>
                <a:endParaRPr lang="en-US" b="1" dirty="0"/>
              </a:p>
              <a:p>
                <a:pPr marL="0" indent="0">
                  <a:buNone/>
                </a:pPr>
                <a:r>
                  <a:rPr lang="en-US" dirty="0"/>
                  <a:t>For CP to </a:t>
                </a:r>
                <a:r>
                  <a:rPr lang="en-US" b="1" dirty="0"/>
                  <a:t>completely</a:t>
                </a:r>
                <a:r>
                  <a:rPr lang="en-US" dirty="0"/>
                  <a:t> remove ISI, one needs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ar-SA"/>
                          </m:ctrlPr>
                        </m:sSubPr>
                        <m:e>
                          <m:r>
                            <a:rPr lang="ar-SA" i="1"/>
                            <m:t>𝑇</m:t>
                          </m:r>
                        </m:e>
                        <m:sub>
                          <m:r>
                            <m:rPr>
                              <m:nor/>
                            </m:rPr>
                            <a:rPr lang="en-US" i="1"/>
                            <m:t>CP</m:t>
                          </m:r>
                        </m:sub>
                      </m:sSub>
                      <m:r>
                        <a:rPr lang="ar-SA"/>
                        <m:t>≥</m:t>
                      </m:r>
                      <m:sSub>
                        <m:sSubPr>
                          <m:ctrlPr>
                            <a:rPr lang="ar-SA" i="1"/>
                          </m:ctrlPr>
                        </m:sSubPr>
                        <m:e>
                          <m:r>
                            <a:rPr lang="ar-SA" i="1"/>
                            <m:t>𝜏</m:t>
                          </m:r>
                        </m:e>
                        <m:sub>
                          <m:r>
                            <m:rPr>
                              <m:sty m:val="p"/>
                            </m:rPr>
                            <a:rPr lang="en-US"/>
                            <m:t>max</m:t>
                          </m:r>
                        </m:sub>
                      </m:sSub>
                    </m:oMath>
                  </m:oMathPara>
                </a14:m>
                <a:endParaRPr lang="en-US" b="0" dirty="0"/>
              </a:p>
              <a:p>
                <a:pPr marL="0" indent="0">
                  <a:buNone/>
                </a:pPr>
                <a:endParaRPr lang="ar-SA" b="0" dirty="0"/>
              </a:p>
              <a:p>
                <a:pPr marL="0" indent="0">
                  <a:buNone/>
                </a:pPr>
                <a:r>
                  <a:rPr lang="en-US" dirty="0"/>
                  <a:t>Here, </a:t>
                </a:r>
                <a14:m>
                  <m:oMath xmlns:m="http://schemas.openxmlformats.org/officeDocument/2006/math">
                    <m:sSub>
                      <m:sSubPr>
                        <m:ctrlPr>
                          <a:rPr lang="ar-SA"/>
                        </m:ctrlPr>
                      </m:sSubPr>
                      <m:e>
                        <m:r>
                          <a:rPr lang="ar-SA" i="1"/>
                          <m:t>𝑇</m:t>
                        </m:r>
                      </m:e>
                      <m:sub>
                        <m:r>
                          <m:rPr>
                            <m:nor/>
                          </m:rPr>
                          <a:rPr lang="en-US" i="1"/>
                          <m:t>CP</m:t>
                        </m:r>
                      </m:sub>
                    </m:sSub>
                    <m:r>
                      <a:rPr lang="ar-SA"/>
                      <m:t>=</m:t>
                    </m:r>
                    <m:r>
                      <a:rPr lang="ar-SA"/>
                      <m:t>3</m:t>
                    </m:r>
                    <m:r>
                      <a:rPr lang="ar-SA"/>
                      <m:t>.</m:t>
                    </m:r>
                    <m:r>
                      <a:rPr lang="ar-SA"/>
                      <m:t>2</m:t>
                    </m:r>
                    <m:r>
                      <m:rPr>
                        <m:nor/>
                      </m:rPr>
                      <a:rPr lang="ar-SA" i="1"/>
                      <m:t> </m:t>
                    </m:r>
                    <m:r>
                      <a:rPr lang="ar-SA" i="1"/>
                      <m:t>𝜇</m:t>
                    </m:r>
                    <m:r>
                      <m:rPr>
                        <m:nor/>
                      </m:rPr>
                      <a:rPr lang="en-US" i="1"/>
                      <m:t>s</m:t>
                    </m:r>
                    <m:r>
                      <a:rPr lang="en-US"/>
                      <m:t>&lt;</m:t>
                    </m:r>
                    <m:r>
                      <a:rPr lang="en-US"/>
                      <m:t>4</m:t>
                    </m:r>
                    <m:r>
                      <m:rPr>
                        <m:nor/>
                      </m:rPr>
                      <a:rPr lang="en-US" i="1"/>
                      <m:t> </m:t>
                    </m:r>
                    <m:r>
                      <a:rPr lang="en-US" i="1"/>
                      <m:t>𝜇</m:t>
                    </m:r>
                    <m:r>
                      <m:rPr>
                        <m:nor/>
                      </m:rPr>
                      <a:rPr lang="en-US" i="1"/>
                      <m:t>s</m:t>
                    </m:r>
                  </m:oMath>
                </a14:m>
                <a:r>
                  <a:rPr lang="en-US" dirty="0"/>
                  <a:t>.</a:t>
                </a:r>
              </a:p>
              <a:p>
                <a:pPr marL="0" indent="0">
                  <a:buNone/>
                </a:pPr>
                <a:endParaRPr lang="en-US" dirty="0"/>
              </a:p>
              <a:p>
                <a:pPr marL="0" indent="0" algn="just">
                  <a:buNone/>
                </a:pPr>
                <a:r>
                  <a:rPr lang="en-US" dirty="0"/>
                  <a:t>Shortfall: </a:t>
                </a:r>
                <a14:m>
                  <m:oMath xmlns:m="http://schemas.openxmlformats.org/officeDocument/2006/math">
                    <m:r>
                      <a:rPr lang="en-US"/>
                      <m:t>4</m:t>
                    </m:r>
                    <m:r>
                      <a:rPr lang="en-US"/>
                      <m:t>.</m:t>
                    </m:r>
                    <m:r>
                      <a:rPr lang="en-US"/>
                      <m:t>0</m:t>
                    </m:r>
                    <m:r>
                      <a:rPr lang="en-US"/>
                      <m:t>−</m:t>
                    </m:r>
                    <m:r>
                      <a:rPr lang="en-US"/>
                      <m:t>3</m:t>
                    </m:r>
                    <m:r>
                      <a:rPr lang="en-US"/>
                      <m:t>.</m:t>
                    </m:r>
                    <m:r>
                      <a:rPr lang="en-US"/>
                      <m:t>2</m:t>
                    </m:r>
                    <m:r>
                      <a:rPr lang="en-US"/>
                      <m:t>=</m:t>
                    </m:r>
                    <m:r>
                      <a:rPr lang="en-US"/>
                      <m:t>0</m:t>
                    </m:r>
                    <m:r>
                      <a:rPr lang="en-US"/>
                      <m:t>.</m:t>
                    </m:r>
                    <m:r>
                      <a:rPr lang="en-US"/>
                      <m:t>8</m:t>
                    </m:r>
                    <m:r>
                      <m:rPr>
                        <m:nor/>
                      </m:rPr>
                      <a:rPr lang="en-US" i="1"/>
                      <m:t> </m:t>
                    </m:r>
                    <m:r>
                      <a:rPr lang="en-US" i="1"/>
                      <m:t>𝜇</m:t>
                    </m:r>
                    <m:r>
                      <m:rPr>
                        <m:nor/>
                      </m:rPr>
                      <a:rPr lang="en-US" i="1"/>
                      <m:t>s</m:t>
                    </m:r>
                  </m:oMath>
                </a14:m>
                <a:r>
                  <a:rPr lang="en-US" dirty="0"/>
                  <a:t>(CP is only </a:t>
                </a:r>
                <a14:m>
                  <m:oMath xmlns:m="http://schemas.openxmlformats.org/officeDocument/2006/math">
                    <m:r>
                      <a:rPr lang="en-US"/>
                      <m:t>80</m:t>
                    </m:r>
                    <m:r>
                      <a:rPr lang="en-US"/>
                      <m:t>%</m:t>
                    </m:r>
                  </m:oMath>
                </a14:m>
                <a:r>
                  <a:rPr lang="en-US" dirty="0"/>
                  <a:t>of the required guard).</a:t>
                </a:r>
              </a:p>
              <a:p>
                <a:pPr marL="0" indent="0">
                  <a:buNone/>
                </a:pPr>
                <a:endParaRPr lang="en-US" dirty="0"/>
              </a:p>
            </p:txBody>
          </p:sp>
        </mc:Choice>
        <mc:Fallback>
          <p:sp>
            <p:nvSpPr>
              <p:cNvPr id="3" name="Content Placeholder 2">
                <a:extLst>
                  <a:ext uri="{FF2B5EF4-FFF2-40B4-BE49-F238E27FC236}">
                    <a16:creationId xmlns:a16="http://schemas.microsoft.com/office/drawing/2014/main" id="{4EECF10E-311B-B286-B19A-68FD4B477208}"/>
                  </a:ext>
                </a:extLst>
              </p:cNvPr>
              <p:cNvSpPr>
                <a:spLocks noGrp="1" noRot="1" noChangeAspect="1" noMove="1" noResize="1" noEditPoints="1" noAdjustHandles="1" noChangeArrowheads="1" noChangeShapeType="1" noTextEdit="1"/>
              </p:cNvSpPr>
              <p:nvPr>
                <p:ph idx="1"/>
              </p:nvPr>
            </p:nvSpPr>
            <p:spPr>
              <a:xfrm>
                <a:off x="628649" y="486889"/>
                <a:ext cx="8112331" cy="4631376"/>
              </a:xfrm>
              <a:blipFill>
                <a:blip r:embed="rId2"/>
                <a:stretch>
                  <a:fillRect l="-1503" t="-3026" r="-157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04458F1-8F1E-E379-2A2F-9524F2B09EA3}"/>
              </a:ext>
            </a:extLst>
          </p:cNvPr>
          <p:cNvSpPr txBox="1"/>
          <p:nvPr/>
        </p:nvSpPr>
        <p:spPr>
          <a:xfrm>
            <a:off x="854281" y="5417004"/>
            <a:ext cx="7886700" cy="954107"/>
          </a:xfrm>
          <a:prstGeom prst="rect">
            <a:avLst/>
          </a:prstGeom>
          <a:noFill/>
        </p:spPr>
        <p:txBody>
          <a:bodyPr wrap="square">
            <a:spAutoFit/>
          </a:bodyPr>
          <a:lstStyle/>
          <a:p>
            <a:pPr marL="0" indent="0">
              <a:buNone/>
            </a:pPr>
            <a:r>
              <a:rPr lang="en-US" sz="2800" dirty="0"/>
              <a:t>No, the chosen CP is not sufficient to completely remove ISI.</a:t>
            </a:r>
          </a:p>
        </p:txBody>
      </p:sp>
    </p:spTree>
    <p:extLst>
      <p:ext uri="{BB962C8B-B14F-4D97-AF65-F5344CB8AC3E}">
        <p14:creationId xmlns:p14="http://schemas.microsoft.com/office/powerpoint/2010/main" val="2187473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DBD1512-2EA6-ACD3-7469-3F4FD28AD17F}"/>
                  </a:ext>
                </a:extLst>
              </p:cNvPr>
              <p:cNvSpPr>
                <a:spLocks noGrp="1"/>
              </p:cNvSpPr>
              <p:nvPr>
                <p:ph idx="1"/>
              </p:nvPr>
            </p:nvSpPr>
            <p:spPr>
              <a:xfrm>
                <a:off x="581150" y="308759"/>
                <a:ext cx="8123464" cy="6489865"/>
              </a:xfrm>
            </p:spPr>
            <p:txBody>
              <a:bodyPr>
                <a:normAutofit fontScale="85000" lnSpcReduction="20000"/>
              </a:bodyPr>
              <a:lstStyle/>
              <a:p>
                <a:pPr marL="0" indent="0">
                  <a:buNone/>
                </a:pPr>
                <a:r>
                  <a:rPr lang="en-US" b="1" dirty="0"/>
                  <a:t>iv) Effect of decreasing total bandwidth with fixed </a:t>
                </a:r>
                <a14:m>
                  <m:oMath xmlns:m="http://schemas.openxmlformats.org/officeDocument/2006/math">
                    <m:r>
                      <a:rPr lang="en-US" i="1"/>
                      <m:t>𝑁</m:t>
                    </m:r>
                  </m:oMath>
                </a14:m>
                <a:r>
                  <a:rPr lang="en-US" b="1" dirty="0"/>
                  <a:t>(thus reducing </a:t>
                </a:r>
                <a14:m>
                  <m:oMath xmlns:m="http://schemas.openxmlformats.org/officeDocument/2006/math">
                    <m:r>
                      <m:rPr>
                        <m:sty m:val="p"/>
                      </m:rPr>
                      <a:rPr lang="el-GR"/>
                      <m:t>Δ</m:t>
                    </m:r>
                    <m:r>
                      <a:rPr lang="el-GR" i="1"/>
                      <m:t>𝑓</m:t>
                    </m:r>
                  </m:oMath>
                </a14:m>
                <a:r>
                  <a:rPr lang="el-GR" b="1" dirty="0"/>
                  <a:t>)</a:t>
                </a:r>
                <a:endParaRPr lang="en-US" b="1" dirty="0"/>
              </a:p>
              <a:p>
                <a:pPr marL="0" indent="0">
                  <a:buNone/>
                </a:pPr>
                <a:endParaRPr lang="el-GR" b="1" dirty="0"/>
              </a:p>
              <a:p>
                <a:pPr marL="0" indent="0">
                  <a:buNone/>
                </a:pPr>
                <a14:m>
                  <m:oMath xmlns:m="http://schemas.openxmlformats.org/officeDocument/2006/math">
                    <m:r>
                      <a:rPr lang="el-GR" b="1" i="1" smtClean="0">
                        <a:solidFill>
                          <a:srgbClr val="FF0000"/>
                        </a:solidFill>
                      </a:rPr>
                      <m:t>𝜟</m:t>
                    </m:r>
                    <m:r>
                      <a:rPr lang="el-GR" b="1" i="1" smtClean="0">
                        <a:solidFill>
                          <a:srgbClr val="FF0000"/>
                        </a:solidFill>
                      </a:rPr>
                      <m:t>𝒇</m:t>
                    </m:r>
                    <m:r>
                      <a:rPr lang="el-GR" b="1">
                        <a:solidFill>
                          <a:srgbClr val="FF0000"/>
                        </a:solidFill>
                      </a:rPr>
                      <m:t>=</m:t>
                    </m:r>
                    <m:r>
                      <a:rPr lang="el-GR" b="1" i="1">
                        <a:solidFill>
                          <a:srgbClr val="FF0000"/>
                        </a:solidFill>
                      </a:rPr>
                      <m:t>𝑩</m:t>
                    </m:r>
                    <m:r>
                      <a:rPr lang="el-GR" b="1">
                        <a:solidFill>
                          <a:srgbClr val="FF0000"/>
                        </a:solidFill>
                      </a:rPr>
                      <m:t>/</m:t>
                    </m:r>
                    <m:r>
                      <a:rPr lang="el-GR" b="1" i="1">
                        <a:solidFill>
                          <a:srgbClr val="FF0000"/>
                        </a:solidFill>
                      </a:rPr>
                      <m:t>𝑵</m:t>
                    </m:r>
                  </m:oMath>
                </a14:m>
                <a:r>
                  <a:rPr lang="en-US" b="1" dirty="0">
                    <a:solidFill>
                      <a:srgbClr val="FF0000"/>
                    </a:solidFill>
                  </a:rPr>
                  <a:t>decreases → </a:t>
                </a:r>
                <a14:m>
                  <m:oMath xmlns:m="http://schemas.openxmlformats.org/officeDocument/2006/math">
                    <m:sSub>
                      <m:sSubPr>
                        <m:ctrlPr>
                          <a:rPr lang="ar-SA" b="1">
                            <a:solidFill>
                              <a:srgbClr val="FF0000"/>
                            </a:solidFill>
                          </a:rPr>
                        </m:ctrlPr>
                      </m:sSubPr>
                      <m:e>
                        <m:r>
                          <a:rPr lang="ar-SA" b="1" i="1">
                            <a:solidFill>
                              <a:srgbClr val="FF0000"/>
                            </a:solidFill>
                          </a:rPr>
                          <m:t>𝑻</m:t>
                        </m:r>
                      </m:e>
                      <m:sub>
                        <m:r>
                          <a:rPr lang="ar-SA" b="1" i="1">
                            <a:solidFill>
                              <a:srgbClr val="FF0000"/>
                            </a:solidFill>
                          </a:rPr>
                          <m:t>𝒖</m:t>
                        </m:r>
                      </m:sub>
                    </m:sSub>
                    <m:r>
                      <a:rPr lang="ar-SA" b="1">
                        <a:solidFill>
                          <a:srgbClr val="FF0000"/>
                        </a:solidFill>
                      </a:rPr>
                      <m:t>=</m:t>
                    </m:r>
                    <m:r>
                      <a:rPr lang="ar-SA" b="1" i="1">
                        <a:solidFill>
                          <a:srgbClr val="FF0000"/>
                        </a:solidFill>
                      </a:rPr>
                      <m:t>𝟏</m:t>
                    </m:r>
                    <m:r>
                      <a:rPr lang="ar-SA" b="1">
                        <a:solidFill>
                          <a:srgbClr val="FF0000"/>
                        </a:solidFill>
                      </a:rPr>
                      <m:t>/</m:t>
                    </m:r>
                    <m:r>
                      <a:rPr lang="el-GR" b="1" i="1">
                        <a:solidFill>
                          <a:srgbClr val="FF0000"/>
                        </a:solidFill>
                      </a:rPr>
                      <m:t>𝜟</m:t>
                    </m:r>
                    <m:r>
                      <a:rPr lang="el-GR" b="1" i="1">
                        <a:solidFill>
                          <a:srgbClr val="FF0000"/>
                        </a:solidFill>
                      </a:rPr>
                      <m:t>𝒇</m:t>
                    </m:r>
                  </m:oMath>
                </a14:m>
                <a:r>
                  <a:rPr lang="en-US" b="1" dirty="0">
                    <a:solidFill>
                      <a:srgbClr val="FF0000"/>
                    </a:solidFill>
                  </a:rPr>
                  <a:t>increases (longer symbols)</a:t>
                </a:r>
              </a:p>
              <a:p>
                <a:pPr marL="0" indent="0">
                  <a:buNone/>
                </a:pPr>
                <a:endParaRPr lang="en-US" dirty="0"/>
              </a:p>
              <a:p>
                <a:pPr marL="0" indent="0">
                  <a:buNone/>
                </a:pPr>
                <a:r>
                  <a:rPr lang="en-US" b="1" dirty="0"/>
                  <a:t>Multipath / frequency selectivity:</a:t>
                </a:r>
                <a:r>
                  <a:rPr lang="en-US" dirty="0"/>
                  <a:t> </a:t>
                </a:r>
              </a:p>
              <a:p>
                <a:r>
                  <a:rPr lang="en-US" sz="3100" dirty="0">
                    <a:cs typeface="+mj-cs"/>
                  </a:rPr>
                  <a:t>Narrower </a:t>
                </a:r>
                <a14:m>
                  <m:oMath xmlns:m="http://schemas.openxmlformats.org/officeDocument/2006/math">
                    <m:r>
                      <m:rPr>
                        <m:sty m:val="p"/>
                      </m:rPr>
                      <a:rPr lang="el-GR" sz="3100">
                        <a:cs typeface="+mj-cs"/>
                      </a:rPr>
                      <m:t>Δ</m:t>
                    </m:r>
                    <m:r>
                      <a:rPr lang="el-GR" sz="3100" i="1">
                        <a:cs typeface="+mj-cs"/>
                      </a:rPr>
                      <m:t>𝑓</m:t>
                    </m:r>
                  </m:oMath>
                </a14:m>
                <a:r>
                  <a:rPr lang="en-US" sz="3100" dirty="0">
                    <a:cs typeface="+mj-cs"/>
                  </a:rPr>
                  <a:t>makes each subcarrier see a flatter channel (coherence bandwidth more likely to exceed </a:t>
                </a:r>
                <a14:m>
                  <m:oMath xmlns:m="http://schemas.openxmlformats.org/officeDocument/2006/math">
                    <m:r>
                      <m:rPr>
                        <m:sty m:val="p"/>
                      </m:rPr>
                      <a:rPr lang="el-GR" sz="3100">
                        <a:cs typeface="+mj-cs"/>
                      </a:rPr>
                      <m:t>Δ</m:t>
                    </m:r>
                    <m:r>
                      <a:rPr lang="el-GR" sz="3100" i="1">
                        <a:cs typeface="+mj-cs"/>
                      </a:rPr>
                      <m:t>𝑓</m:t>
                    </m:r>
                  </m:oMath>
                </a14:m>
                <a:r>
                  <a:rPr lang="el-GR" sz="3100" dirty="0">
                    <a:cs typeface="+mj-cs"/>
                  </a:rPr>
                  <a:t>), </a:t>
                </a:r>
                <a:r>
                  <a:rPr lang="en-US" sz="3100" dirty="0">
                    <a:cs typeface="+mj-cs"/>
                  </a:rPr>
                  <a:t>improving robustness to frequency-selective fading. Longer </a:t>
                </a:r>
                <a14:m>
                  <m:oMath xmlns:m="http://schemas.openxmlformats.org/officeDocument/2006/math">
                    <m:sSub>
                      <m:sSubPr>
                        <m:ctrlPr>
                          <a:rPr lang="ar-SA" sz="3100">
                            <a:cs typeface="+mj-cs"/>
                          </a:rPr>
                        </m:ctrlPr>
                      </m:sSubPr>
                      <m:e>
                        <m:r>
                          <a:rPr lang="ar-SA" sz="3100" i="1">
                            <a:cs typeface="+mj-cs"/>
                          </a:rPr>
                          <m:t>𝑇</m:t>
                        </m:r>
                      </m:e>
                      <m:sub>
                        <m:r>
                          <a:rPr lang="ar-SA" sz="3100" i="1">
                            <a:cs typeface="+mj-cs"/>
                          </a:rPr>
                          <m:t>𝑢</m:t>
                        </m:r>
                      </m:sub>
                    </m:sSub>
                  </m:oMath>
                </a14:m>
                <a:r>
                  <a:rPr lang="en-US" sz="3100" dirty="0">
                    <a:cs typeface="+mj-cs"/>
                  </a:rPr>
                  <a:t>also makes a given absolute CP cover a larger fraction of the symbol, easing ISI mitigation.</a:t>
                </a:r>
              </a:p>
              <a:p>
                <a:pPr marL="0" indent="0">
                  <a:buNone/>
                </a:pPr>
                <a:endParaRPr lang="en-US" dirty="0"/>
              </a:p>
              <a:p>
                <a:pPr marL="0" indent="0">
                  <a:buNone/>
                </a:pPr>
                <a:r>
                  <a:rPr lang="en-US" b="1" dirty="0"/>
                  <a:t>Doppler &amp; frequency offset sensitivity:</a:t>
                </a:r>
                <a:r>
                  <a:rPr lang="en-US" dirty="0"/>
                  <a:t> </a:t>
                </a:r>
              </a:p>
              <a:p>
                <a:r>
                  <a:rPr lang="en-US" sz="3100" dirty="0">
                    <a:cs typeface="+mj-cs"/>
                  </a:rPr>
                  <a:t>When subcarriers are very closely spaced, even a small frequency shift — caused by user motion (Doppler) or transmitter-receiver frequency mismatch — can cause interference between subcarriers.</a:t>
                </a:r>
              </a:p>
              <a:p>
                <a:r>
                  <a:rPr lang="en-US" sz="3100" dirty="0">
                    <a:cs typeface="+mj-cs"/>
                  </a:rPr>
                  <a:t>This means the system becomes more vulnerable to inter-carrier interference (ICI).</a:t>
                </a:r>
              </a:p>
              <a:p>
                <a:pPr marL="0" indent="0">
                  <a:buNone/>
                </a:pPr>
                <a:endParaRPr lang="en-US" dirty="0"/>
              </a:p>
            </p:txBody>
          </p:sp>
        </mc:Choice>
        <mc:Fallback>
          <p:sp>
            <p:nvSpPr>
              <p:cNvPr id="3" name="Content Placeholder 2">
                <a:extLst>
                  <a:ext uri="{FF2B5EF4-FFF2-40B4-BE49-F238E27FC236}">
                    <a16:creationId xmlns:a16="http://schemas.microsoft.com/office/drawing/2014/main" id="{FDBD1512-2EA6-ACD3-7469-3F4FD28AD17F}"/>
                  </a:ext>
                </a:extLst>
              </p:cNvPr>
              <p:cNvSpPr>
                <a:spLocks noGrp="1" noRot="1" noChangeAspect="1" noMove="1" noResize="1" noEditPoints="1" noAdjustHandles="1" noChangeArrowheads="1" noChangeShapeType="1" noTextEdit="1"/>
              </p:cNvSpPr>
              <p:nvPr>
                <p:ph idx="1"/>
              </p:nvPr>
            </p:nvSpPr>
            <p:spPr>
              <a:xfrm>
                <a:off x="581150" y="308759"/>
                <a:ext cx="8123464" cy="6489865"/>
              </a:xfrm>
              <a:blipFill>
                <a:blip r:embed="rId2"/>
                <a:stretch>
                  <a:fillRect l="-1125" t="-2162" r="-150" b="-376"/>
                </a:stretch>
              </a:blipFill>
            </p:spPr>
            <p:txBody>
              <a:bodyPr/>
              <a:lstStyle/>
              <a:p>
                <a:r>
                  <a:rPr lang="en-US">
                    <a:noFill/>
                  </a:rPr>
                  <a:t> </a:t>
                </a:r>
              </a:p>
            </p:txBody>
          </p:sp>
        </mc:Fallback>
      </mc:AlternateContent>
    </p:spTree>
    <p:extLst>
      <p:ext uri="{BB962C8B-B14F-4D97-AF65-F5344CB8AC3E}">
        <p14:creationId xmlns:p14="http://schemas.microsoft.com/office/powerpoint/2010/main" val="35010205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CB33E-C5F7-9DC2-EBDF-186068453321}"/>
              </a:ext>
            </a:extLst>
          </p:cNvPr>
          <p:cNvSpPr>
            <a:spLocks noGrp="1"/>
          </p:cNvSpPr>
          <p:nvPr>
            <p:ph type="title"/>
          </p:nvPr>
        </p:nvSpPr>
        <p:spPr>
          <a:xfrm>
            <a:off x="628650" y="365126"/>
            <a:ext cx="7886700" cy="881783"/>
          </a:xfrm>
        </p:spPr>
        <p:txBody>
          <a:bodyPr/>
          <a:lstStyle/>
          <a:p>
            <a:r>
              <a:rPr lang="en-US" b="1" dirty="0">
                <a:latin typeface="Times New Roman" panose="02020603050405020304" pitchFamily="18" charset="0"/>
                <a:cs typeface="Times New Roman" panose="02020603050405020304" pitchFamily="18" charset="0"/>
              </a:rPr>
              <a:t>Example-2</a:t>
            </a:r>
          </a:p>
        </p:txBody>
      </p:sp>
      <p:sp>
        <p:nvSpPr>
          <p:cNvPr id="3" name="Content Placeholder 2">
            <a:extLst>
              <a:ext uri="{FF2B5EF4-FFF2-40B4-BE49-F238E27FC236}">
                <a16:creationId xmlns:a16="http://schemas.microsoft.com/office/drawing/2014/main" id="{00D016FC-0CEB-13E8-F253-1A6290A7A832}"/>
              </a:ext>
            </a:extLst>
          </p:cNvPr>
          <p:cNvSpPr>
            <a:spLocks noGrp="1"/>
          </p:cNvSpPr>
          <p:nvPr>
            <p:ph idx="1"/>
          </p:nvPr>
        </p:nvSpPr>
        <p:spPr>
          <a:xfrm>
            <a:off x="628650" y="1469364"/>
            <a:ext cx="8087838" cy="5180817"/>
          </a:xfrm>
        </p:spPr>
        <p:txBody>
          <a:bodyPr>
            <a:normAutofit fontScale="92500" lnSpcReduction="10000"/>
          </a:bodyPr>
          <a:lstStyle/>
          <a:p>
            <a:pPr marL="0" indent="0">
              <a:buNone/>
            </a:pPr>
            <a:r>
              <a:rPr lang="en-US" b="1" dirty="0"/>
              <a:t>An OFDM system employs 1024 subcarriers across a total bandwidth of 25 </a:t>
            </a:r>
            <a:r>
              <a:rPr lang="en-US" b="1" dirty="0" err="1"/>
              <a:t>MHz.</a:t>
            </a:r>
            <a:endParaRPr lang="en-US" dirty="0"/>
          </a:p>
          <a:p>
            <a:pPr marL="0" indent="0">
              <a:buNone/>
            </a:pPr>
            <a:r>
              <a:rPr lang="en-US" b="1" dirty="0" err="1"/>
              <a:t>i</a:t>
            </a:r>
            <a:r>
              <a:rPr lang="en-US" b="1" dirty="0"/>
              <a:t>)</a:t>
            </a:r>
            <a:r>
              <a:rPr lang="en-US" dirty="0"/>
              <a:t> Determine the subcarrier spacing.</a:t>
            </a:r>
          </a:p>
          <a:p>
            <a:pPr marL="0" indent="0">
              <a:buNone/>
            </a:pPr>
            <a:r>
              <a:rPr lang="en-US" b="1" dirty="0"/>
              <a:t>ii)</a:t>
            </a:r>
            <a:r>
              <a:rPr lang="en-US" dirty="0"/>
              <a:t> If the cyclic prefix (CP) duration is 20% of the useful symbol duration, calculate the total OFDM symbol duration including CP.</a:t>
            </a:r>
          </a:p>
          <a:p>
            <a:pPr marL="0" indent="0">
              <a:buNone/>
            </a:pPr>
            <a:r>
              <a:rPr lang="en-US" b="1" dirty="0"/>
              <a:t>iii)</a:t>
            </a:r>
            <a:r>
              <a:rPr lang="en-US" dirty="0"/>
              <a:t> The wireless channel exhibits a maximum delay spread of 3 µs. Evaluate whether the selected CP duration is adequate to prevent inter-symbol interference (ISI). Justify mathematically.</a:t>
            </a:r>
          </a:p>
          <a:p>
            <a:pPr marL="0" indent="0">
              <a:buNone/>
            </a:pPr>
            <a:r>
              <a:rPr lang="en-US" b="1" dirty="0"/>
              <a:t>iv)</a:t>
            </a:r>
            <a:r>
              <a:rPr lang="en-US" dirty="0"/>
              <a:t> Briefly state one key advantage and one key drawback of using a higher number of subcarriers in an OFDM system.</a:t>
            </a:r>
          </a:p>
          <a:p>
            <a:pPr marL="0" indent="0">
              <a:buNone/>
            </a:pPr>
            <a:endParaRPr lang="en-US" dirty="0"/>
          </a:p>
        </p:txBody>
      </p:sp>
    </p:spTree>
    <p:extLst>
      <p:ext uri="{BB962C8B-B14F-4D97-AF65-F5344CB8AC3E}">
        <p14:creationId xmlns:p14="http://schemas.microsoft.com/office/powerpoint/2010/main" val="34797004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023BBBC-61A4-0CF4-E46E-D7D72FE6915E}"/>
                  </a:ext>
                </a:extLst>
              </p:cNvPr>
              <p:cNvSpPr>
                <a:spLocks noGrp="1"/>
              </p:cNvSpPr>
              <p:nvPr>
                <p:ph idx="1"/>
              </p:nvPr>
            </p:nvSpPr>
            <p:spPr>
              <a:xfrm>
                <a:off x="1257300" y="1504991"/>
                <a:ext cx="6509162" cy="4351338"/>
              </a:xfrm>
            </p:spPr>
            <p:txBody>
              <a:bodyPr/>
              <a:lstStyle/>
              <a:p>
                <a:pPr marL="0" indent="0">
                  <a:buNone/>
                </a:pPr>
                <a:r>
                  <a:rPr lang="en-US" b="1" dirty="0"/>
                  <a:t>Given</a:t>
                </a:r>
              </a:p>
              <a:p>
                <a:pPr marL="0" indent="0">
                  <a:buNone/>
                </a:pPr>
                <a:r>
                  <a:rPr lang="en-US" dirty="0"/>
                  <a:t>Bandwidth </a:t>
                </a:r>
                <a14:m>
                  <m:oMath xmlns:m="http://schemas.openxmlformats.org/officeDocument/2006/math">
                    <m:r>
                      <a:rPr lang="en-US" i="1"/>
                      <m:t>𝐵</m:t>
                    </m:r>
                    <m:r>
                      <a:rPr lang="en-US"/>
                      <m:t>=</m:t>
                    </m:r>
                    <m:r>
                      <a:rPr lang="en-US"/>
                      <m:t>25</m:t>
                    </m:r>
                    <m:r>
                      <m:rPr>
                        <m:nor/>
                      </m:rPr>
                      <a:rPr lang="en-US" i="1"/>
                      <m:t> </m:t>
                    </m:r>
                    <m:r>
                      <m:rPr>
                        <m:nor/>
                      </m:rPr>
                      <a:rPr lang="en-US" i="1"/>
                      <m:t>MHz</m:t>
                    </m:r>
                  </m:oMath>
                </a14:m>
                <a:endParaRPr lang="en-US" dirty="0"/>
              </a:p>
              <a:p>
                <a:pPr marL="0" indent="0">
                  <a:buNone/>
                </a:pPr>
                <a:r>
                  <a:rPr lang="en-US" dirty="0"/>
                  <a:t>Subcarriers </a:t>
                </a:r>
                <a14:m>
                  <m:oMath xmlns:m="http://schemas.openxmlformats.org/officeDocument/2006/math">
                    <m:r>
                      <a:rPr lang="en-US" i="1"/>
                      <m:t>𝑁</m:t>
                    </m:r>
                    <m:r>
                      <a:rPr lang="en-US"/>
                      <m:t>=</m:t>
                    </m:r>
                    <m:r>
                      <a:rPr lang="en-US"/>
                      <m:t>1024</m:t>
                    </m:r>
                  </m:oMath>
                </a14:m>
                <a:endParaRPr lang="en-US" dirty="0"/>
              </a:p>
              <a:p>
                <a:pPr marL="0" indent="0">
                  <a:buNone/>
                </a:pPr>
                <a:r>
                  <a:rPr lang="en-US" dirty="0"/>
                  <a:t>CP = </a:t>
                </a:r>
                <a14:m>
                  <m:oMath xmlns:m="http://schemas.openxmlformats.org/officeDocument/2006/math">
                    <m:r>
                      <a:rPr lang="en-US"/>
                      <m:t>20</m:t>
                    </m:r>
                    <m:r>
                      <a:rPr lang="en-US"/>
                      <m:t>%</m:t>
                    </m:r>
                  </m:oMath>
                </a14:m>
                <a:r>
                  <a:rPr lang="en-US" dirty="0"/>
                  <a:t>of useful symbol time</a:t>
                </a:r>
              </a:p>
              <a:p>
                <a:pPr marL="0" indent="0">
                  <a:buNone/>
                </a:pPr>
                <a:r>
                  <a:rPr lang="en-US" dirty="0"/>
                  <a:t>Max delay spread </a:t>
                </a:r>
                <a14:m>
                  <m:oMath xmlns:m="http://schemas.openxmlformats.org/officeDocument/2006/math">
                    <m:sSub>
                      <m:sSubPr>
                        <m:ctrlPr>
                          <a:rPr lang="ar-SA"/>
                        </m:ctrlPr>
                      </m:sSubPr>
                      <m:e>
                        <m:r>
                          <a:rPr lang="ar-SA" i="1"/>
                          <m:t>𝜏</m:t>
                        </m:r>
                      </m:e>
                      <m:sub>
                        <m:r>
                          <m:rPr>
                            <m:sty m:val="p"/>
                          </m:rPr>
                          <a:rPr lang="en-US"/>
                          <m:t>max</m:t>
                        </m:r>
                      </m:sub>
                    </m:sSub>
                    <m:r>
                      <a:rPr lang="ar-SA"/>
                      <m:t>=</m:t>
                    </m:r>
                    <m:r>
                      <a:rPr lang="ar-SA"/>
                      <m:t>3</m:t>
                    </m:r>
                    <m:r>
                      <m:rPr>
                        <m:nor/>
                      </m:rPr>
                      <a:rPr lang="ar-SA" i="1"/>
                      <m:t> </m:t>
                    </m:r>
                    <m:r>
                      <a:rPr lang="ar-SA" i="1"/>
                      <m:t>𝜇</m:t>
                    </m:r>
                    <m:r>
                      <m:rPr>
                        <m:nor/>
                      </m:rPr>
                      <a:rPr lang="en-US" i="1"/>
                      <m:t>s</m:t>
                    </m:r>
                  </m:oMath>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C023BBBC-61A4-0CF4-E46E-D7D72FE6915E}"/>
                  </a:ext>
                </a:extLst>
              </p:cNvPr>
              <p:cNvSpPr>
                <a:spLocks noGrp="1" noRot="1" noChangeAspect="1" noMove="1" noResize="1" noEditPoints="1" noAdjustHandles="1" noChangeArrowheads="1" noChangeShapeType="1" noTextEdit="1"/>
              </p:cNvSpPr>
              <p:nvPr>
                <p:ph idx="1"/>
              </p:nvPr>
            </p:nvSpPr>
            <p:spPr>
              <a:xfrm>
                <a:off x="1257300" y="1504991"/>
                <a:ext cx="6509162" cy="4351338"/>
              </a:xfrm>
              <a:blipFill>
                <a:blip r:embed="rId2"/>
                <a:stretch>
                  <a:fillRect l="-1873" t="-2381"/>
                </a:stretch>
              </a:blipFill>
            </p:spPr>
            <p:txBody>
              <a:bodyPr/>
              <a:lstStyle/>
              <a:p>
                <a:r>
                  <a:rPr lang="en-US">
                    <a:noFill/>
                  </a:rPr>
                  <a:t> </a:t>
                </a:r>
              </a:p>
            </p:txBody>
          </p:sp>
        </mc:Fallback>
      </mc:AlternateContent>
    </p:spTree>
    <p:extLst>
      <p:ext uri="{BB962C8B-B14F-4D97-AF65-F5344CB8AC3E}">
        <p14:creationId xmlns:p14="http://schemas.microsoft.com/office/powerpoint/2010/main" val="4149210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3C84152-3C34-E790-C153-12B73A89536B}"/>
                  </a:ext>
                </a:extLst>
              </p:cNvPr>
              <p:cNvSpPr>
                <a:spLocks noGrp="1"/>
              </p:cNvSpPr>
              <p:nvPr>
                <p:ph idx="1"/>
              </p:nvPr>
            </p:nvSpPr>
            <p:spPr>
              <a:xfrm>
                <a:off x="284265" y="190005"/>
                <a:ext cx="8372846" cy="2755076"/>
              </a:xfrm>
            </p:spPr>
            <p:txBody>
              <a:bodyPr/>
              <a:lstStyle/>
              <a:p>
                <a:pPr marL="571500" indent="-571500">
                  <a:buAutoNum type="romanLcParenR"/>
                </a:pPr>
                <a:r>
                  <a:rPr lang="en-US" b="1" dirty="0"/>
                  <a:t>Subcarrier spacing</a:t>
                </a:r>
              </a:p>
              <a:p>
                <a:pPr marL="571500" indent="-571500">
                  <a:buAutoNum type="romanLcParenR"/>
                </a:pPr>
                <a:endParaRPr lang="en-US" b="1" dirty="0"/>
              </a:p>
              <a:p>
                <a:pPr marL="0" indent="0">
                  <a:buNone/>
                </a:pPr>
                <a14:m>
                  <m:oMathPara xmlns:m="http://schemas.openxmlformats.org/officeDocument/2006/math">
                    <m:oMathParaPr>
                      <m:jc m:val="centerGroup"/>
                    </m:oMathParaPr>
                    <m:oMath xmlns:m="http://schemas.openxmlformats.org/officeDocument/2006/math">
                      <m:r>
                        <m:rPr>
                          <m:sty m:val="p"/>
                        </m:rPr>
                        <a:rPr lang="el-GR"/>
                        <m:t>Δ</m:t>
                      </m:r>
                      <m:r>
                        <a:rPr lang="el-GR" i="1"/>
                        <m:t>𝑓</m:t>
                      </m:r>
                      <m:r>
                        <a:rPr lang="el-GR"/>
                        <m:t>=</m:t>
                      </m:r>
                      <m:f>
                        <m:fPr>
                          <m:ctrlPr>
                            <a:rPr lang="ar-SA" i="1"/>
                          </m:ctrlPr>
                        </m:fPr>
                        <m:num>
                          <m:r>
                            <a:rPr lang="ar-SA" i="1"/>
                            <m:t>𝐵</m:t>
                          </m:r>
                        </m:num>
                        <m:den>
                          <m:r>
                            <a:rPr lang="ar-SA" i="1"/>
                            <m:t>𝑁</m:t>
                          </m:r>
                        </m:den>
                      </m:f>
                      <m:r>
                        <a:rPr lang="ar-SA"/>
                        <m:t>=</m:t>
                      </m:r>
                      <m:f>
                        <m:fPr>
                          <m:ctrlPr>
                            <a:rPr lang="ar-SA" i="1"/>
                          </m:ctrlPr>
                        </m:fPr>
                        <m:num>
                          <m:r>
                            <a:rPr lang="ar-SA"/>
                            <m:t>25</m:t>
                          </m:r>
                          <m:r>
                            <a:rPr lang="ar-SA"/>
                            <m:t>×</m:t>
                          </m:r>
                          <m:sSup>
                            <m:sSupPr>
                              <m:ctrlPr>
                                <a:rPr lang="ar-SA" i="1"/>
                              </m:ctrlPr>
                            </m:sSupPr>
                            <m:e>
                              <m:r>
                                <a:rPr lang="ar-SA"/>
                                <m:t>10</m:t>
                              </m:r>
                            </m:e>
                            <m:sup>
                              <m:r>
                                <a:rPr lang="ar-SA"/>
                                <m:t>6</m:t>
                              </m:r>
                            </m:sup>
                          </m:sSup>
                        </m:num>
                        <m:den>
                          <m:r>
                            <a:rPr lang="ar-SA"/>
                            <m:t>1024</m:t>
                          </m:r>
                        </m:den>
                      </m:f>
                      <m:r>
                        <a:rPr lang="ar-SA"/>
                        <m:t>=</m:t>
                      </m:r>
                      <m:r>
                        <a:rPr lang="ar-SA"/>
                        <m:t>24</m:t>
                      </m:r>
                      <m:r>
                        <a:rPr lang="ar-SA"/>
                        <m:t>,</m:t>
                      </m:r>
                      <m:r>
                        <a:rPr lang="ar-SA"/>
                        <m:t>414</m:t>
                      </m:r>
                      <m:r>
                        <a:rPr lang="ar-SA"/>
                        <m:t>.</m:t>
                      </m:r>
                      <m:r>
                        <a:rPr lang="ar-SA"/>
                        <m:t>0625</m:t>
                      </m:r>
                      <m:r>
                        <m:rPr>
                          <m:nor/>
                        </m:rPr>
                        <a:rPr lang="ar-SA" i="1"/>
                        <m:t> </m:t>
                      </m:r>
                      <m:r>
                        <m:rPr>
                          <m:nor/>
                        </m:rPr>
                        <a:rPr lang="en-US" i="1"/>
                        <m:t>Hz</m:t>
                      </m:r>
                    </m:oMath>
                  </m:oMathPara>
                </a14:m>
                <a:endParaRPr lang="en-US" i="1"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m:t>≈</m:t>
                      </m:r>
                      <m:r>
                        <a:rPr lang="en-US"/>
                        <m:t>24</m:t>
                      </m:r>
                      <m:r>
                        <a:rPr lang="en-US"/>
                        <m:t>.</m:t>
                      </m:r>
                      <m:r>
                        <a:rPr lang="en-US"/>
                        <m:t>414</m:t>
                      </m:r>
                      <m:r>
                        <m:rPr>
                          <m:nor/>
                        </m:rPr>
                        <a:rPr lang="en-US" i="1"/>
                        <m:t> </m:t>
                      </m:r>
                      <m:r>
                        <m:rPr>
                          <m:nor/>
                        </m:rPr>
                        <a:rPr lang="en-US" i="1"/>
                        <m:t>kHz</m:t>
                      </m:r>
                      <m:r>
                        <a:rPr lang="en-US"/>
                        <m:t>.</m:t>
                      </m:r>
                    </m:oMath>
                  </m:oMathPara>
                </a14:m>
                <a:endParaRPr lang="en-US" b="0" dirty="0"/>
              </a:p>
              <a:p>
                <a:pPr marL="0" indent="0">
                  <a:buNone/>
                </a:pPr>
                <a:endParaRPr lang="en-US" dirty="0"/>
              </a:p>
            </p:txBody>
          </p:sp>
        </mc:Choice>
        <mc:Fallback>
          <p:sp>
            <p:nvSpPr>
              <p:cNvPr id="3" name="Content Placeholder 2">
                <a:extLst>
                  <a:ext uri="{FF2B5EF4-FFF2-40B4-BE49-F238E27FC236}">
                    <a16:creationId xmlns:a16="http://schemas.microsoft.com/office/drawing/2014/main" id="{63C84152-3C34-E790-C153-12B73A89536B}"/>
                  </a:ext>
                </a:extLst>
              </p:cNvPr>
              <p:cNvSpPr>
                <a:spLocks noGrp="1" noRot="1" noChangeAspect="1" noMove="1" noResize="1" noEditPoints="1" noAdjustHandles="1" noChangeArrowheads="1" noChangeShapeType="1" noTextEdit="1"/>
              </p:cNvSpPr>
              <p:nvPr>
                <p:ph idx="1"/>
              </p:nvPr>
            </p:nvSpPr>
            <p:spPr>
              <a:xfrm>
                <a:off x="284265" y="190005"/>
                <a:ext cx="8372846" cy="2755076"/>
              </a:xfrm>
              <a:blipFill>
                <a:blip r:embed="rId2"/>
                <a:stretch>
                  <a:fillRect l="-1529" t="-39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E2C6D16-CD7F-AA6E-F80F-CE9C6AA02D07}"/>
                  </a:ext>
                </a:extLst>
              </p:cNvPr>
              <p:cNvSpPr txBox="1"/>
              <p:nvPr/>
            </p:nvSpPr>
            <p:spPr>
              <a:xfrm>
                <a:off x="391143" y="2776737"/>
                <a:ext cx="7119257" cy="3891258"/>
              </a:xfrm>
              <a:prstGeom prst="rect">
                <a:avLst/>
              </a:prstGeom>
              <a:noFill/>
            </p:spPr>
            <p:txBody>
              <a:bodyPr wrap="square">
                <a:spAutoFit/>
              </a:bodyPr>
              <a:lstStyle/>
              <a:p>
                <a:pPr>
                  <a:buNone/>
                </a:pPr>
                <a:r>
                  <a:rPr lang="en-US" sz="2800" b="1" dirty="0"/>
                  <a:t>ii) Useful and total OFDM symbol durations</a:t>
                </a:r>
              </a:p>
              <a:p>
                <a:pPr>
                  <a:buNone/>
                </a:pPr>
                <a14:m>
                  <m:oMathPara xmlns:m="http://schemas.openxmlformats.org/officeDocument/2006/math">
                    <m:oMathParaPr>
                      <m:jc m:val="centerGroup"/>
                    </m:oMathParaPr>
                    <m:oMath xmlns:m="http://schemas.openxmlformats.org/officeDocument/2006/math">
                      <m:sSub>
                        <m:sSubPr>
                          <m:ctrlPr>
                            <a:rPr lang="ar-SA" sz="2800" i="1">
                              <a:latin typeface="Cambria Math" panose="02040503050406030204" pitchFamily="18" charset="0"/>
                            </a:rPr>
                          </m:ctrlPr>
                        </m:sSubPr>
                        <m:e>
                          <m:r>
                            <a:rPr lang="ar-SA" sz="2800" i="1">
                              <a:latin typeface="Cambria Math" panose="02040503050406030204" pitchFamily="18" charset="0"/>
                            </a:rPr>
                            <m:t>𝑇</m:t>
                          </m:r>
                        </m:e>
                        <m:sub>
                          <m:r>
                            <a:rPr lang="ar-SA" sz="2800" i="1">
                              <a:latin typeface="Cambria Math" panose="02040503050406030204" pitchFamily="18" charset="0"/>
                            </a:rPr>
                            <m:t>𝑢</m:t>
                          </m:r>
                        </m:sub>
                      </m:sSub>
                      <m:r>
                        <a:rPr lang="ar-SA" sz="2800" i="0">
                          <a:latin typeface="Cambria Math" panose="02040503050406030204" pitchFamily="18" charset="0"/>
                        </a:rPr>
                        <m:t>=</m:t>
                      </m:r>
                      <m:f>
                        <m:fPr>
                          <m:ctrlPr>
                            <a:rPr lang="ar-SA" sz="2800" i="1">
                              <a:latin typeface="Cambria Math" panose="02040503050406030204" pitchFamily="18" charset="0"/>
                            </a:rPr>
                          </m:ctrlPr>
                        </m:fPr>
                        <m:num>
                          <m:r>
                            <a:rPr lang="ar-SA" sz="2800" i="0">
                              <a:latin typeface="Cambria Math" panose="02040503050406030204" pitchFamily="18" charset="0"/>
                            </a:rPr>
                            <m:t>1</m:t>
                          </m:r>
                        </m:num>
                        <m:den>
                          <m:r>
                            <m:rPr>
                              <m:sty m:val="p"/>
                            </m:rPr>
                            <a:rPr lang="el-GR" sz="2800" i="0">
                              <a:latin typeface="Cambria Math" panose="02040503050406030204" pitchFamily="18" charset="0"/>
                            </a:rPr>
                            <m:t>Δ</m:t>
                          </m:r>
                          <m:r>
                            <a:rPr lang="el-GR" sz="2800" i="1">
                              <a:latin typeface="Cambria Math" panose="02040503050406030204" pitchFamily="18" charset="0"/>
                            </a:rPr>
                            <m:t>𝑓</m:t>
                          </m:r>
                        </m:den>
                      </m:f>
                      <m:r>
                        <a:rPr lang="ar-SA" sz="2800" i="0">
                          <a:latin typeface="Cambria Math" panose="02040503050406030204" pitchFamily="18" charset="0"/>
                        </a:rPr>
                        <m:t>=</m:t>
                      </m:r>
                      <m:f>
                        <m:fPr>
                          <m:ctrlPr>
                            <a:rPr lang="ar-SA" sz="2800" i="1">
                              <a:latin typeface="Cambria Math" panose="02040503050406030204" pitchFamily="18" charset="0"/>
                            </a:rPr>
                          </m:ctrlPr>
                        </m:fPr>
                        <m:num>
                          <m:r>
                            <a:rPr lang="ar-SA" sz="2800" i="0">
                              <a:latin typeface="Cambria Math" panose="02040503050406030204" pitchFamily="18" charset="0"/>
                            </a:rPr>
                            <m:t>1</m:t>
                          </m:r>
                        </m:num>
                        <m:den>
                          <m:r>
                            <a:rPr lang="ar-SA" sz="2800" i="0">
                              <a:latin typeface="Cambria Math" panose="02040503050406030204" pitchFamily="18" charset="0"/>
                            </a:rPr>
                            <m:t>24</m:t>
                          </m:r>
                          <m:r>
                            <a:rPr lang="ar-SA" sz="2800" i="0">
                              <a:latin typeface="Cambria Math" panose="02040503050406030204" pitchFamily="18" charset="0"/>
                            </a:rPr>
                            <m:t>,</m:t>
                          </m:r>
                          <m:r>
                            <a:rPr lang="ar-SA" sz="2800" i="0">
                              <a:latin typeface="Cambria Math" panose="02040503050406030204" pitchFamily="18" charset="0"/>
                            </a:rPr>
                            <m:t>414</m:t>
                          </m:r>
                          <m:r>
                            <a:rPr lang="ar-SA" sz="2800" i="0">
                              <a:latin typeface="Cambria Math" panose="02040503050406030204" pitchFamily="18" charset="0"/>
                            </a:rPr>
                            <m:t>.</m:t>
                          </m:r>
                          <m:r>
                            <a:rPr lang="ar-SA" sz="2800" i="0">
                              <a:latin typeface="Cambria Math" panose="02040503050406030204" pitchFamily="18" charset="0"/>
                            </a:rPr>
                            <m:t>0625</m:t>
                          </m:r>
                        </m:den>
                      </m:f>
                      <m:r>
                        <m:rPr>
                          <m:nor/>
                        </m:rPr>
                        <a:rPr lang="ar-SA" sz="2800" b="0" i="1">
                          <a:latin typeface="Cambria Math" panose="02040503050406030204" pitchFamily="18" charset="0"/>
                        </a:rPr>
                        <m:t> </m:t>
                      </m:r>
                      <m:r>
                        <m:rPr>
                          <m:nor/>
                        </m:rPr>
                        <a:rPr lang="en-US" sz="2800" b="0" i="1">
                          <a:latin typeface="Cambria Math" panose="02040503050406030204" pitchFamily="18" charset="0"/>
                        </a:rPr>
                        <m:t>s</m:t>
                      </m:r>
                      <m:r>
                        <a:rPr lang="en-US" sz="2800" b="0" i="0">
                          <a:latin typeface="Cambria Math" panose="02040503050406030204" pitchFamily="18" charset="0"/>
                        </a:rPr>
                        <m:t>=</m:t>
                      </m:r>
                      <m:r>
                        <a:rPr lang="en-US" sz="2800" b="0" i="0">
                          <a:latin typeface="Cambria Math" panose="02040503050406030204" pitchFamily="18" charset="0"/>
                        </a:rPr>
                        <m:t>40</m:t>
                      </m:r>
                      <m:r>
                        <a:rPr lang="en-US" sz="2800" b="0" i="0">
                          <a:latin typeface="Cambria Math" panose="02040503050406030204" pitchFamily="18" charset="0"/>
                        </a:rPr>
                        <m:t>.</m:t>
                      </m:r>
                      <m:r>
                        <a:rPr lang="en-US" sz="2800" b="0" i="0">
                          <a:latin typeface="Cambria Math" panose="02040503050406030204" pitchFamily="18" charset="0"/>
                        </a:rPr>
                        <m:t>96</m:t>
                      </m:r>
                      <m:r>
                        <m:rPr>
                          <m:nor/>
                        </m:rPr>
                        <a:rPr lang="en-US" sz="2800" b="0" i="1">
                          <a:latin typeface="Cambria Math" panose="02040503050406030204" pitchFamily="18" charset="0"/>
                        </a:rPr>
                        <m:t> </m:t>
                      </m:r>
                      <m:r>
                        <a:rPr lang="en-US" sz="2800" b="0" i="1">
                          <a:latin typeface="Cambria Math" panose="02040503050406030204" pitchFamily="18" charset="0"/>
                        </a:rPr>
                        <m:t>𝜇</m:t>
                      </m:r>
                      <m:r>
                        <m:rPr>
                          <m:nor/>
                        </m:rPr>
                        <a:rPr lang="en-US" sz="2800" b="0" i="1">
                          <a:latin typeface="Cambria Math" panose="02040503050406030204" pitchFamily="18" charset="0"/>
                        </a:rPr>
                        <m:t>s</m:t>
                      </m:r>
                      <m:r>
                        <a:rPr lang="en-US" sz="2800" b="0" i="0">
                          <a:latin typeface="Cambria Math" panose="02040503050406030204" pitchFamily="18" charset="0"/>
                        </a:rPr>
                        <m:t>.</m:t>
                      </m:r>
                    </m:oMath>
                  </m:oMathPara>
                </a14:m>
                <a:endParaRPr lang="en-US" sz="2800" b="0" dirty="0"/>
              </a:p>
              <a:p>
                <a:pPr>
                  <a:buNone/>
                </a:pPr>
                <a:endParaRPr lang="en-US" sz="2800" b="0" dirty="0"/>
              </a:p>
              <a:p>
                <a:pPr>
                  <a:buNone/>
                </a:pPr>
                <a14:m>
                  <m:oMathPara xmlns:m="http://schemas.openxmlformats.org/officeDocument/2006/math">
                    <m:oMathParaPr>
                      <m:jc m:val="centerGroup"/>
                    </m:oMathParaPr>
                    <m:oMath xmlns:m="http://schemas.openxmlformats.org/officeDocument/2006/math">
                      <m:sSub>
                        <m:sSubPr>
                          <m:ctrlPr>
                            <a:rPr lang="ar-SA" sz="2800" i="1">
                              <a:latin typeface="Cambria Math" panose="02040503050406030204" pitchFamily="18" charset="0"/>
                            </a:rPr>
                          </m:ctrlPr>
                        </m:sSubPr>
                        <m:e>
                          <m:r>
                            <a:rPr lang="ar-SA" sz="2800" i="1">
                              <a:latin typeface="Cambria Math" panose="02040503050406030204" pitchFamily="18" charset="0"/>
                            </a:rPr>
                            <m:t>𝑇</m:t>
                          </m:r>
                        </m:e>
                        <m:sub>
                          <m:r>
                            <m:rPr>
                              <m:nor/>
                            </m:rPr>
                            <a:rPr lang="en-US" sz="2800" b="0" i="1">
                              <a:latin typeface="Cambria Math" panose="02040503050406030204" pitchFamily="18" charset="0"/>
                            </a:rPr>
                            <m:t>CP</m:t>
                          </m:r>
                        </m:sub>
                      </m:sSub>
                      <m:r>
                        <a:rPr lang="ar-SA" sz="2800" b="0" i="0">
                          <a:latin typeface="Cambria Math" panose="02040503050406030204" pitchFamily="18" charset="0"/>
                        </a:rPr>
                        <m:t>=</m:t>
                      </m:r>
                      <m:r>
                        <a:rPr lang="ar-SA" sz="2800" b="0" i="0">
                          <a:latin typeface="Cambria Math" panose="02040503050406030204" pitchFamily="18" charset="0"/>
                        </a:rPr>
                        <m:t>0</m:t>
                      </m:r>
                      <m:r>
                        <a:rPr lang="ar-SA" sz="2800" b="0" i="0">
                          <a:latin typeface="Cambria Math" panose="02040503050406030204" pitchFamily="18" charset="0"/>
                        </a:rPr>
                        <m:t>.</m:t>
                      </m:r>
                      <m:r>
                        <a:rPr lang="ar-SA" sz="2800" b="0" i="0">
                          <a:latin typeface="Cambria Math" panose="02040503050406030204" pitchFamily="18" charset="0"/>
                        </a:rPr>
                        <m:t>2</m:t>
                      </m:r>
                      <m:r>
                        <m:rPr>
                          <m:nor/>
                        </m:rPr>
                        <a:rPr lang="ar-SA" sz="2800" b="0" i="1">
                          <a:latin typeface="Cambria Math" panose="02040503050406030204" pitchFamily="18" charset="0"/>
                        </a:rPr>
                        <m:t> </m:t>
                      </m:r>
                      <m:sSub>
                        <m:sSubPr>
                          <m:ctrlPr>
                            <a:rPr lang="ar-SA" sz="2800" b="0" i="1">
                              <a:latin typeface="Cambria Math" panose="02040503050406030204" pitchFamily="18" charset="0"/>
                            </a:rPr>
                          </m:ctrlPr>
                        </m:sSubPr>
                        <m:e>
                          <m:r>
                            <a:rPr lang="ar-SA" sz="2800" b="0" i="1">
                              <a:latin typeface="Cambria Math" panose="02040503050406030204" pitchFamily="18" charset="0"/>
                            </a:rPr>
                            <m:t>𝑇</m:t>
                          </m:r>
                        </m:e>
                        <m:sub>
                          <m:r>
                            <a:rPr lang="ar-SA" sz="2800" b="0" i="1">
                              <a:latin typeface="Cambria Math" panose="02040503050406030204" pitchFamily="18" charset="0"/>
                            </a:rPr>
                            <m:t>𝑢</m:t>
                          </m:r>
                        </m:sub>
                      </m:sSub>
                      <m:r>
                        <a:rPr lang="ar-SA" sz="2800" b="0" i="0">
                          <a:latin typeface="Cambria Math" panose="02040503050406030204" pitchFamily="18" charset="0"/>
                        </a:rPr>
                        <m:t>=</m:t>
                      </m:r>
                      <m:r>
                        <a:rPr lang="ar-SA" sz="2800" b="0" i="0">
                          <a:latin typeface="Cambria Math" panose="02040503050406030204" pitchFamily="18" charset="0"/>
                        </a:rPr>
                        <m:t>0</m:t>
                      </m:r>
                      <m:r>
                        <a:rPr lang="ar-SA" sz="2800" b="0" i="0">
                          <a:latin typeface="Cambria Math" panose="02040503050406030204" pitchFamily="18" charset="0"/>
                        </a:rPr>
                        <m:t>.</m:t>
                      </m:r>
                      <m:r>
                        <a:rPr lang="ar-SA" sz="2800" b="0" i="0">
                          <a:latin typeface="Cambria Math" panose="02040503050406030204" pitchFamily="18" charset="0"/>
                        </a:rPr>
                        <m:t>2</m:t>
                      </m:r>
                      <m:r>
                        <a:rPr lang="ar-SA" sz="2800" b="0" i="0">
                          <a:latin typeface="Cambria Math" panose="02040503050406030204" pitchFamily="18" charset="0"/>
                        </a:rPr>
                        <m:t>×</m:t>
                      </m:r>
                      <m:r>
                        <a:rPr lang="ar-SA" sz="2800" b="0" i="0">
                          <a:latin typeface="Cambria Math" panose="02040503050406030204" pitchFamily="18" charset="0"/>
                        </a:rPr>
                        <m:t>40</m:t>
                      </m:r>
                      <m:r>
                        <a:rPr lang="ar-SA" sz="2800" b="0" i="0">
                          <a:latin typeface="Cambria Math" panose="02040503050406030204" pitchFamily="18" charset="0"/>
                        </a:rPr>
                        <m:t>.</m:t>
                      </m:r>
                      <m:r>
                        <a:rPr lang="ar-SA" sz="2800" b="0" i="0">
                          <a:latin typeface="Cambria Math" panose="02040503050406030204" pitchFamily="18" charset="0"/>
                        </a:rPr>
                        <m:t>96</m:t>
                      </m:r>
                      <m:r>
                        <a:rPr lang="ar-SA" sz="2800" b="0" i="0">
                          <a:latin typeface="Cambria Math" panose="02040503050406030204" pitchFamily="18" charset="0"/>
                        </a:rPr>
                        <m:t>=</m:t>
                      </m:r>
                      <m:r>
                        <a:rPr lang="ar-SA" sz="2800" b="0" i="0">
                          <a:latin typeface="Cambria Math" panose="02040503050406030204" pitchFamily="18" charset="0"/>
                        </a:rPr>
                        <m:t>8</m:t>
                      </m:r>
                      <m:r>
                        <a:rPr lang="ar-SA" sz="2800" b="0" i="0">
                          <a:latin typeface="Cambria Math" panose="02040503050406030204" pitchFamily="18" charset="0"/>
                        </a:rPr>
                        <m:t>.</m:t>
                      </m:r>
                      <m:r>
                        <a:rPr lang="ar-SA" sz="2800" b="0" i="0">
                          <a:latin typeface="Cambria Math" panose="02040503050406030204" pitchFamily="18" charset="0"/>
                        </a:rPr>
                        <m:t>192</m:t>
                      </m:r>
                      <m:r>
                        <m:rPr>
                          <m:nor/>
                        </m:rPr>
                        <a:rPr lang="ar-SA" sz="2800" b="0" i="1">
                          <a:latin typeface="Cambria Math" panose="02040503050406030204" pitchFamily="18" charset="0"/>
                        </a:rPr>
                        <m:t> </m:t>
                      </m:r>
                      <m:r>
                        <a:rPr lang="ar-SA" sz="2800" b="0" i="1">
                          <a:latin typeface="Cambria Math" panose="02040503050406030204" pitchFamily="18" charset="0"/>
                        </a:rPr>
                        <m:t>𝜇</m:t>
                      </m:r>
                      <m:r>
                        <m:rPr>
                          <m:nor/>
                        </m:rPr>
                        <a:rPr lang="en-US" sz="2800" b="0" i="1">
                          <a:latin typeface="Cambria Math" panose="02040503050406030204" pitchFamily="18" charset="0"/>
                        </a:rPr>
                        <m:t>s</m:t>
                      </m:r>
                      <m:r>
                        <a:rPr lang="en-US" sz="2800" b="0" i="0">
                          <a:latin typeface="Cambria Math" panose="02040503050406030204" pitchFamily="18" charset="0"/>
                        </a:rPr>
                        <m:t>.</m:t>
                      </m:r>
                    </m:oMath>
                  </m:oMathPara>
                </a14:m>
                <a:endParaRPr lang="en-US" sz="2800" b="0" dirty="0"/>
              </a:p>
              <a:p>
                <a:pPr>
                  <a:buNone/>
                </a:pPr>
                <a:endParaRPr lang="en-US" sz="2800" b="0" dirty="0"/>
              </a:p>
              <a:p>
                <a:pPr>
                  <a:buNone/>
                </a:pPr>
                <a14:m>
                  <m:oMathPara xmlns:m="http://schemas.openxmlformats.org/officeDocument/2006/math">
                    <m:oMathParaPr>
                      <m:jc m:val="centerGroup"/>
                    </m:oMathParaPr>
                    <m:oMath xmlns:m="http://schemas.openxmlformats.org/officeDocument/2006/math">
                      <m:sSub>
                        <m:sSubPr>
                          <m:ctrlPr>
                            <a:rPr lang="ar-SA" sz="2800" i="1">
                              <a:latin typeface="Cambria Math" panose="02040503050406030204" pitchFamily="18" charset="0"/>
                            </a:rPr>
                          </m:ctrlPr>
                        </m:sSubPr>
                        <m:e>
                          <m:r>
                            <a:rPr lang="ar-SA" sz="2800" i="1">
                              <a:latin typeface="Cambria Math" panose="02040503050406030204" pitchFamily="18" charset="0"/>
                            </a:rPr>
                            <m:t>𝑇</m:t>
                          </m:r>
                        </m:e>
                        <m:sub>
                          <m:r>
                            <m:rPr>
                              <m:nor/>
                            </m:rPr>
                            <a:rPr lang="en-US" sz="2800" b="0" i="1">
                              <a:latin typeface="Cambria Math" panose="02040503050406030204" pitchFamily="18" charset="0"/>
                            </a:rPr>
                            <m:t>sym</m:t>
                          </m:r>
                        </m:sub>
                      </m:sSub>
                      <m:r>
                        <a:rPr lang="ar-SA" sz="2800" b="0" i="0">
                          <a:latin typeface="Cambria Math" panose="02040503050406030204" pitchFamily="18" charset="0"/>
                        </a:rPr>
                        <m:t>=</m:t>
                      </m:r>
                      <m:sSub>
                        <m:sSubPr>
                          <m:ctrlPr>
                            <a:rPr lang="ar-SA" sz="2800" b="0" i="1">
                              <a:latin typeface="Cambria Math" panose="02040503050406030204" pitchFamily="18" charset="0"/>
                            </a:rPr>
                          </m:ctrlPr>
                        </m:sSubPr>
                        <m:e>
                          <m:r>
                            <a:rPr lang="ar-SA" sz="2800" b="0" i="1">
                              <a:latin typeface="Cambria Math" panose="02040503050406030204" pitchFamily="18" charset="0"/>
                            </a:rPr>
                            <m:t>𝑇</m:t>
                          </m:r>
                        </m:e>
                        <m:sub>
                          <m:r>
                            <a:rPr lang="ar-SA" sz="2800" b="0" i="1">
                              <a:latin typeface="Cambria Math" panose="02040503050406030204" pitchFamily="18" charset="0"/>
                            </a:rPr>
                            <m:t>𝑢</m:t>
                          </m:r>
                        </m:sub>
                      </m:sSub>
                      <m:r>
                        <a:rPr lang="ar-SA" sz="2800" b="0" i="0">
                          <a:latin typeface="Cambria Math" panose="02040503050406030204" pitchFamily="18" charset="0"/>
                        </a:rPr>
                        <m:t>+</m:t>
                      </m:r>
                      <m:sSub>
                        <m:sSubPr>
                          <m:ctrlPr>
                            <a:rPr lang="ar-SA" sz="2800" b="0" i="1">
                              <a:latin typeface="Cambria Math" panose="02040503050406030204" pitchFamily="18" charset="0"/>
                            </a:rPr>
                          </m:ctrlPr>
                        </m:sSubPr>
                        <m:e>
                          <m:r>
                            <a:rPr lang="ar-SA" sz="2800" b="0" i="1">
                              <a:latin typeface="Cambria Math" panose="02040503050406030204" pitchFamily="18" charset="0"/>
                            </a:rPr>
                            <m:t>𝑇</m:t>
                          </m:r>
                        </m:e>
                        <m:sub>
                          <m:r>
                            <m:rPr>
                              <m:nor/>
                            </m:rPr>
                            <a:rPr lang="en-US" sz="2800" b="0" i="1">
                              <a:latin typeface="Cambria Math" panose="02040503050406030204" pitchFamily="18" charset="0"/>
                            </a:rPr>
                            <m:t>CP</m:t>
                          </m:r>
                        </m:sub>
                      </m:sSub>
                      <m:r>
                        <a:rPr lang="ar-SA" sz="2800" b="0" i="0">
                          <a:latin typeface="Cambria Math" panose="02040503050406030204" pitchFamily="18" charset="0"/>
                        </a:rPr>
                        <m:t>=</m:t>
                      </m:r>
                      <m:r>
                        <a:rPr lang="ar-SA" sz="2800" b="0" i="0">
                          <a:latin typeface="Cambria Math" panose="02040503050406030204" pitchFamily="18" charset="0"/>
                        </a:rPr>
                        <m:t>40</m:t>
                      </m:r>
                      <m:r>
                        <a:rPr lang="ar-SA" sz="2800" b="0" i="0">
                          <a:latin typeface="Cambria Math" panose="02040503050406030204" pitchFamily="18" charset="0"/>
                        </a:rPr>
                        <m:t>.</m:t>
                      </m:r>
                      <m:r>
                        <a:rPr lang="ar-SA" sz="2800" b="0" i="0">
                          <a:latin typeface="Cambria Math" panose="02040503050406030204" pitchFamily="18" charset="0"/>
                        </a:rPr>
                        <m:t>96</m:t>
                      </m:r>
                      <m:r>
                        <a:rPr lang="ar-SA" sz="2800" b="0" i="0">
                          <a:latin typeface="Cambria Math" panose="02040503050406030204" pitchFamily="18" charset="0"/>
                        </a:rPr>
                        <m:t>+</m:t>
                      </m:r>
                      <m:r>
                        <a:rPr lang="ar-SA" sz="2800" b="0" i="0">
                          <a:latin typeface="Cambria Math" panose="02040503050406030204" pitchFamily="18" charset="0"/>
                        </a:rPr>
                        <m:t>8</m:t>
                      </m:r>
                      <m:r>
                        <a:rPr lang="ar-SA" sz="2800" b="0" i="0">
                          <a:latin typeface="Cambria Math" panose="02040503050406030204" pitchFamily="18" charset="0"/>
                        </a:rPr>
                        <m:t>.</m:t>
                      </m:r>
                      <m:r>
                        <a:rPr lang="ar-SA" sz="2800" b="0" i="0">
                          <a:latin typeface="Cambria Math" panose="02040503050406030204" pitchFamily="18" charset="0"/>
                        </a:rPr>
                        <m:t>192</m:t>
                      </m:r>
                    </m:oMath>
                  </m:oMathPara>
                </a14:m>
                <a:endParaRPr lang="en-US" sz="2800" b="0" i="0" dirty="0">
                  <a:latin typeface="Cambria Math" panose="02040503050406030204" pitchFamily="18" charset="0"/>
                </a:endParaRPr>
              </a:p>
              <a:p>
                <a:pPr>
                  <a:buNone/>
                </a:pPr>
                <a:endParaRPr lang="en-US" sz="1600" b="0" i="0" dirty="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ar-SA" sz="2800" b="0" i="0">
                          <a:latin typeface="Cambria Math" panose="02040503050406030204" pitchFamily="18" charset="0"/>
                        </a:rPr>
                        <m:t>=</m:t>
                      </m:r>
                      <m:r>
                        <a:rPr lang="ar-SA" sz="2800" b="0" i="0">
                          <a:latin typeface="Cambria Math" panose="02040503050406030204" pitchFamily="18" charset="0"/>
                        </a:rPr>
                        <m:t>49</m:t>
                      </m:r>
                      <m:r>
                        <a:rPr lang="ar-SA" sz="2800" b="0" i="0">
                          <a:latin typeface="Cambria Math" panose="02040503050406030204" pitchFamily="18" charset="0"/>
                        </a:rPr>
                        <m:t>.</m:t>
                      </m:r>
                      <m:r>
                        <a:rPr lang="ar-SA" sz="2800" b="0" i="0">
                          <a:latin typeface="Cambria Math" panose="02040503050406030204" pitchFamily="18" charset="0"/>
                        </a:rPr>
                        <m:t>152</m:t>
                      </m:r>
                      <m:r>
                        <m:rPr>
                          <m:nor/>
                        </m:rPr>
                        <a:rPr lang="ar-SA" sz="2800" b="0" i="1">
                          <a:latin typeface="Cambria Math" panose="02040503050406030204" pitchFamily="18" charset="0"/>
                        </a:rPr>
                        <m:t> </m:t>
                      </m:r>
                      <m:r>
                        <a:rPr lang="ar-SA" sz="2800" b="0" i="1">
                          <a:latin typeface="Cambria Math" panose="02040503050406030204" pitchFamily="18" charset="0"/>
                        </a:rPr>
                        <m:t>𝜇</m:t>
                      </m:r>
                      <m:r>
                        <m:rPr>
                          <m:nor/>
                        </m:rPr>
                        <a:rPr lang="en-US" sz="2800" b="0" i="1">
                          <a:latin typeface="Cambria Math" panose="02040503050406030204" pitchFamily="18" charset="0"/>
                        </a:rPr>
                        <m:t>s</m:t>
                      </m:r>
                      <m:r>
                        <a:rPr lang="en-US" sz="2800" b="0" i="0">
                          <a:latin typeface="Cambria Math" panose="02040503050406030204" pitchFamily="18" charset="0"/>
                        </a:rPr>
                        <m:t>.</m:t>
                      </m:r>
                    </m:oMath>
                  </m:oMathPara>
                </a14:m>
                <a:endParaRPr lang="en-US" sz="2800" b="0" dirty="0"/>
              </a:p>
            </p:txBody>
          </p:sp>
        </mc:Choice>
        <mc:Fallback>
          <p:sp>
            <p:nvSpPr>
              <p:cNvPr id="5" name="TextBox 4">
                <a:extLst>
                  <a:ext uri="{FF2B5EF4-FFF2-40B4-BE49-F238E27FC236}">
                    <a16:creationId xmlns:a16="http://schemas.microsoft.com/office/drawing/2014/main" id="{BE2C6D16-CD7F-AA6E-F80F-CE9C6AA02D07}"/>
                  </a:ext>
                </a:extLst>
              </p:cNvPr>
              <p:cNvSpPr txBox="1">
                <a:spLocks noRot="1" noChangeAspect="1" noMove="1" noResize="1" noEditPoints="1" noAdjustHandles="1" noChangeArrowheads="1" noChangeShapeType="1" noTextEdit="1"/>
              </p:cNvSpPr>
              <p:nvPr/>
            </p:nvSpPr>
            <p:spPr>
              <a:xfrm>
                <a:off x="391143" y="2776737"/>
                <a:ext cx="7119257" cy="3891258"/>
              </a:xfrm>
              <a:prstGeom prst="rect">
                <a:avLst/>
              </a:prstGeom>
              <a:blipFill>
                <a:blip r:embed="rId3"/>
                <a:stretch>
                  <a:fillRect l="-1712" t="-1567"/>
                </a:stretch>
              </a:blipFill>
            </p:spPr>
            <p:txBody>
              <a:bodyPr/>
              <a:lstStyle/>
              <a:p>
                <a:r>
                  <a:rPr lang="en-US">
                    <a:noFill/>
                  </a:rPr>
                  <a:t> </a:t>
                </a:r>
              </a:p>
            </p:txBody>
          </p:sp>
        </mc:Fallback>
      </mc:AlternateContent>
    </p:spTree>
    <p:extLst>
      <p:ext uri="{BB962C8B-B14F-4D97-AF65-F5344CB8AC3E}">
        <p14:creationId xmlns:p14="http://schemas.microsoft.com/office/powerpoint/2010/main" val="181458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818840F-3837-D899-B56B-292AAA8843D3}"/>
                  </a:ext>
                </a:extLst>
              </p:cNvPr>
              <p:cNvSpPr>
                <a:spLocks noGrp="1"/>
              </p:cNvSpPr>
              <p:nvPr>
                <p:ph idx="1"/>
              </p:nvPr>
            </p:nvSpPr>
            <p:spPr>
              <a:xfrm>
                <a:off x="628650" y="320634"/>
                <a:ext cx="7886700" cy="2802576"/>
              </a:xfrm>
            </p:spPr>
            <p:txBody>
              <a:bodyPr>
                <a:normAutofit lnSpcReduction="10000"/>
              </a:bodyPr>
              <a:lstStyle/>
              <a:p>
                <a:pPr marL="0" indent="0">
                  <a:buNone/>
                </a:pPr>
                <a:r>
                  <a:rPr lang="en-US" b="1" dirty="0"/>
                  <a:t>iii) Is the CP long enough to eliminate ISI?</a:t>
                </a:r>
              </a:p>
              <a:p>
                <a:pPr marL="0" indent="0">
                  <a:buNone/>
                </a:pPr>
                <a:r>
                  <a:rPr lang="en-US" dirty="0"/>
                  <a:t>For complete ISI removal, </a:t>
                </a:r>
                <a14:m>
                  <m:oMath xmlns:m="http://schemas.openxmlformats.org/officeDocument/2006/math">
                    <m:sSub>
                      <m:sSubPr>
                        <m:ctrlPr>
                          <a:rPr lang="ar-SA"/>
                        </m:ctrlPr>
                      </m:sSubPr>
                      <m:e>
                        <m:r>
                          <a:rPr lang="ar-SA" i="1"/>
                          <m:t>𝑇</m:t>
                        </m:r>
                      </m:e>
                      <m:sub>
                        <m:r>
                          <m:rPr>
                            <m:nor/>
                          </m:rPr>
                          <a:rPr lang="en-US" i="1"/>
                          <m:t>CP</m:t>
                        </m:r>
                      </m:sub>
                    </m:sSub>
                    <m:r>
                      <a:rPr lang="ar-SA"/>
                      <m:t>≥</m:t>
                    </m:r>
                    <m:sSub>
                      <m:sSubPr>
                        <m:ctrlPr>
                          <a:rPr lang="ar-SA" i="1"/>
                        </m:ctrlPr>
                      </m:sSubPr>
                      <m:e>
                        <m:r>
                          <a:rPr lang="ar-SA" i="1"/>
                          <m:t>𝜏</m:t>
                        </m:r>
                      </m:e>
                      <m:sub>
                        <m:r>
                          <m:rPr>
                            <m:sty m:val="p"/>
                          </m:rPr>
                          <a:rPr lang="en-US"/>
                          <m:t>max</m:t>
                        </m:r>
                      </m:sub>
                    </m:sSub>
                  </m:oMath>
                </a14:m>
                <a:endParaRPr lang="en-US" dirty="0"/>
              </a:p>
              <a:p>
                <a:pPr marL="0" indent="0">
                  <a:buNone/>
                </a:pPr>
                <a:endParaRPr lang="ar-SA" dirty="0"/>
              </a:p>
              <a:p>
                <a:pPr marL="0" indent="0">
                  <a:buNone/>
                </a:pPr>
                <a14:m>
                  <m:oMathPara xmlns:m="http://schemas.openxmlformats.org/officeDocument/2006/math">
                    <m:oMathParaPr>
                      <m:jc m:val="centerGroup"/>
                    </m:oMathParaPr>
                    <m:oMath xmlns:m="http://schemas.openxmlformats.org/officeDocument/2006/math">
                      <m:r>
                        <a:rPr lang="ar-SA"/>
                        <m:t>8</m:t>
                      </m:r>
                      <m:r>
                        <a:rPr lang="ar-SA"/>
                        <m:t>.</m:t>
                      </m:r>
                      <m:r>
                        <a:rPr lang="ar-SA"/>
                        <m:t>192</m:t>
                      </m:r>
                      <m:r>
                        <m:rPr>
                          <m:nor/>
                        </m:rPr>
                        <a:rPr lang="ar-SA" i="1"/>
                        <m:t> </m:t>
                      </m:r>
                      <m:r>
                        <a:rPr lang="ar-SA" i="1"/>
                        <m:t>𝜇</m:t>
                      </m:r>
                      <m:r>
                        <m:rPr>
                          <m:nor/>
                        </m:rPr>
                        <a:rPr lang="en-US" i="1"/>
                        <m:t>s</m:t>
                      </m:r>
                      <m:r>
                        <m:rPr>
                          <m:nor/>
                        </m:rPr>
                        <a:rPr lang="en-US" i="1"/>
                        <m:t> </m:t>
                      </m:r>
                      <m:d>
                        <m:dPr>
                          <m:ctrlPr>
                            <a:rPr lang="ar-SA" i="1"/>
                          </m:ctrlPr>
                        </m:dPr>
                        <m:e>
                          <m:r>
                            <m:rPr>
                              <m:nor/>
                            </m:rPr>
                            <a:rPr lang="en-US" i="1"/>
                            <m:t>CP</m:t>
                          </m:r>
                        </m:e>
                      </m:d>
                      <m:r>
                        <m:rPr>
                          <m:nor/>
                        </m:rPr>
                        <a:rPr lang="ar-SA" i="1"/>
                        <m:t>  </m:t>
                      </m:r>
                      <m:r>
                        <a:rPr lang="ar-SA"/>
                        <m:t>&gt;</m:t>
                      </m:r>
                      <m:r>
                        <m:rPr>
                          <m:nor/>
                        </m:rPr>
                        <a:rPr lang="ar-SA" i="1"/>
                        <m:t>  </m:t>
                      </m:r>
                      <m:r>
                        <a:rPr lang="ar-SA"/>
                        <m:t>3</m:t>
                      </m:r>
                      <m:r>
                        <m:rPr>
                          <m:nor/>
                        </m:rPr>
                        <a:rPr lang="ar-SA" i="1"/>
                        <m:t> </m:t>
                      </m:r>
                      <m:r>
                        <a:rPr lang="ar-SA" i="1"/>
                        <m:t>𝜇</m:t>
                      </m:r>
                      <m:r>
                        <m:rPr>
                          <m:nor/>
                        </m:rPr>
                        <a:rPr lang="en-US" i="1"/>
                        <m:t>s</m:t>
                      </m:r>
                      <m:r>
                        <m:rPr>
                          <m:nor/>
                        </m:rPr>
                        <a:rPr lang="en-US" i="1"/>
                        <m:t> </m:t>
                      </m:r>
                      <m:d>
                        <m:dPr>
                          <m:ctrlPr>
                            <a:rPr lang="ar-SA" i="1"/>
                          </m:ctrlPr>
                        </m:dPr>
                        <m:e>
                          <m:r>
                            <m:rPr>
                              <m:nor/>
                            </m:rPr>
                            <a:rPr lang="en-US" i="1"/>
                            <m:t>delay</m:t>
                          </m:r>
                          <m:r>
                            <m:rPr>
                              <m:nor/>
                            </m:rPr>
                            <a:rPr lang="en-US" i="1"/>
                            <m:t> </m:t>
                          </m:r>
                          <m:r>
                            <m:rPr>
                              <m:nor/>
                            </m:rPr>
                            <a:rPr lang="en-US" i="1"/>
                            <m:t>spread</m:t>
                          </m:r>
                        </m:e>
                      </m:d>
                    </m:oMath>
                  </m:oMathPara>
                </a14:m>
                <a:endParaRPr lang="ar-SA" b="0" dirty="0"/>
              </a:p>
              <a:p>
                <a:pPr marL="0" indent="0">
                  <a:buNone/>
                </a:pPr>
                <a:endParaRPr lang="en-US" b="1" dirty="0"/>
              </a:p>
              <a:p>
                <a:pPr marL="0" indent="0" algn="ctr">
                  <a:buNone/>
                </a:pPr>
                <a:r>
                  <a:rPr lang="en-US" b="1" dirty="0">
                    <a:highlight>
                      <a:srgbClr val="FFFF00"/>
                    </a:highlight>
                  </a:rPr>
                  <a:t>Yes, the CP is sufficient</a:t>
                </a:r>
              </a:p>
            </p:txBody>
          </p:sp>
        </mc:Choice>
        <mc:Fallback>
          <p:sp>
            <p:nvSpPr>
              <p:cNvPr id="3" name="Content Placeholder 2">
                <a:extLst>
                  <a:ext uri="{FF2B5EF4-FFF2-40B4-BE49-F238E27FC236}">
                    <a16:creationId xmlns:a16="http://schemas.microsoft.com/office/drawing/2014/main" id="{C818840F-3837-D899-B56B-292AAA8843D3}"/>
                  </a:ext>
                </a:extLst>
              </p:cNvPr>
              <p:cNvSpPr>
                <a:spLocks noGrp="1" noRot="1" noChangeAspect="1" noMove="1" noResize="1" noEditPoints="1" noAdjustHandles="1" noChangeArrowheads="1" noChangeShapeType="1" noTextEdit="1"/>
              </p:cNvSpPr>
              <p:nvPr>
                <p:ph idx="1"/>
              </p:nvPr>
            </p:nvSpPr>
            <p:spPr>
              <a:xfrm>
                <a:off x="628650" y="320634"/>
                <a:ext cx="7886700" cy="2802576"/>
              </a:xfrm>
              <a:blipFill>
                <a:blip r:embed="rId2"/>
                <a:stretch>
                  <a:fillRect l="-1546" t="-5011" b="-305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6474FFFE-A973-32A4-AEA3-33B7C0A32B9D}"/>
              </a:ext>
            </a:extLst>
          </p:cNvPr>
          <p:cNvSpPr txBox="1"/>
          <p:nvPr/>
        </p:nvSpPr>
        <p:spPr>
          <a:xfrm>
            <a:off x="273133" y="3132116"/>
            <a:ext cx="8585118" cy="3416320"/>
          </a:xfrm>
          <a:prstGeom prst="rect">
            <a:avLst/>
          </a:prstGeom>
          <a:noFill/>
        </p:spPr>
        <p:txBody>
          <a:bodyPr wrap="square">
            <a:spAutoFit/>
          </a:bodyPr>
          <a:lstStyle/>
          <a:p>
            <a:r>
              <a:rPr lang="en-US" sz="2400" b="1" dirty="0"/>
              <a:t>iv) Main trade-off of increasing subcarrier count</a:t>
            </a:r>
          </a:p>
          <a:p>
            <a:endParaRPr lang="en-US" sz="2400" b="1" dirty="0"/>
          </a:p>
          <a:p>
            <a:r>
              <a:rPr lang="en-US" sz="2400" b="1" dirty="0"/>
              <a:t>Advantage:</a:t>
            </a:r>
            <a:r>
              <a:rPr lang="en-US" sz="2400" dirty="0"/>
              <a:t> Narrower subcarriers and longer symbols make each subcarrier see a flatter channel, improving robustness to frequency-selective multipath and reducing ISI (for a given absolute CP).</a:t>
            </a:r>
          </a:p>
          <a:p>
            <a:endParaRPr lang="en-US" sz="2400" dirty="0"/>
          </a:p>
          <a:p>
            <a:r>
              <a:rPr lang="en-US" sz="2400" b="1" dirty="0"/>
              <a:t>Drawback:</a:t>
            </a:r>
            <a:r>
              <a:rPr lang="en-US" sz="2400" dirty="0"/>
              <a:t> The system becomes more sensitive to Doppler and frequency-offset (more ICI) and also suffers higher PAPR and FFT complexity.</a:t>
            </a:r>
          </a:p>
        </p:txBody>
      </p:sp>
    </p:spTree>
    <p:extLst>
      <p:ext uri="{BB962C8B-B14F-4D97-AF65-F5344CB8AC3E}">
        <p14:creationId xmlns:p14="http://schemas.microsoft.com/office/powerpoint/2010/main" val="294516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99FE3-E1EA-F8A9-CE56-3E30B8EB5DF1}"/>
              </a:ext>
            </a:extLst>
          </p:cNvPr>
          <p:cNvSpPr>
            <a:spLocks noGrp="1"/>
          </p:cNvSpPr>
          <p:nvPr>
            <p:ph type="title"/>
          </p:nvPr>
        </p:nvSpPr>
        <p:spPr>
          <a:xfrm>
            <a:off x="610837" y="163246"/>
            <a:ext cx="7886700" cy="596775"/>
          </a:xfrm>
        </p:spPr>
        <p:txBody>
          <a:bodyPr>
            <a:normAutofit fontScale="90000"/>
          </a:bodyPr>
          <a:lstStyle/>
          <a:p>
            <a:pPr algn="ctr"/>
            <a:r>
              <a:rPr lang="en-US" b="1" dirty="0"/>
              <a:t>Example(Homework)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0BCDCB-3F5C-8A85-F555-3D6EAC47976F}"/>
                  </a:ext>
                </a:extLst>
              </p:cNvPr>
              <p:cNvSpPr>
                <a:spLocks noGrp="1"/>
              </p:cNvSpPr>
              <p:nvPr>
                <p:ph idx="1"/>
              </p:nvPr>
            </p:nvSpPr>
            <p:spPr>
              <a:xfrm>
                <a:off x="213756" y="902525"/>
                <a:ext cx="8752114" cy="5700156"/>
              </a:xfrm>
            </p:spPr>
            <p:txBody>
              <a:bodyPr>
                <a:noAutofit/>
              </a:bodyPr>
              <a:lstStyle/>
              <a:p>
                <a:pPr marL="0" indent="0">
                  <a:buNone/>
                </a:pPr>
                <a:r>
                  <a:rPr lang="en-US" sz="2400" dirty="0"/>
                  <a:t>An OFDM system is designed for a total bandwidth of </a:t>
                </a:r>
                <a14:m>
                  <m:oMath xmlns:m="http://schemas.openxmlformats.org/officeDocument/2006/math">
                    <m:r>
                      <a:rPr lang="en-US" sz="2400" b="0" i="1"/>
                      <m:t>𝐵</m:t>
                    </m:r>
                    <m:r>
                      <a:rPr lang="en-US" sz="2400" b="0"/>
                      <m:t>=</m:t>
                    </m:r>
                    <m:r>
                      <a:rPr lang="en-US" sz="2400" b="0" i="1"/>
                      <m:t>1</m:t>
                    </m:r>
                    <m:r>
                      <m:rPr>
                        <m:nor/>
                      </m:rPr>
                      <a:rPr lang="en-US" sz="2400" i="1"/>
                      <m:t> </m:t>
                    </m:r>
                    <m:r>
                      <m:rPr>
                        <m:nor/>
                      </m:rPr>
                      <a:rPr lang="en-US" sz="2400" i="1"/>
                      <m:t>MHz</m:t>
                    </m:r>
                  </m:oMath>
                </a14:m>
                <a:r>
                  <a:rPr lang="en-US" sz="2400" dirty="0"/>
                  <a:t>. In a traditional single-carrier system, the symbol duration would be</a:t>
                </a:r>
              </a:p>
              <a:p>
                <a:pPr marL="0" indent="0">
                  <a:buNone/>
                </a:pPr>
                <a14:m>
                  <m:oMathPara xmlns:m="http://schemas.openxmlformats.org/officeDocument/2006/math">
                    <m:oMathParaPr>
                      <m:jc m:val="centerGroup"/>
                    </m:oMathParaPr>
                    <m:oMath xmlns:m="http://schemas.openxmlformats.org/officeDocument/2006/math">
                      <m:sSub>
                        <m:sSubPr>
                          <m:ctrlPr>
                            <a:rPr lang="ar-SA" sz="2400"/>
                          </m:ctrlPr>
                        </m:sSubPr>
                        <m:e>
                          <m:r>
                            <a:rPr lang="ar-SA" sz="2400" b="0" i="1"/>
                            <m:t>𝑇</m:t>
                          </m:r>
                        </m:e>
                        <m:sub>
                          <m:r>
                            <a:rPr lang="ar-SA" sz="2400" b="0" i="1"/>
                            <m:t>𝑠</m:t>
                          </m:r>
                        </m:sub>
                      </m:sSub>
                      <m:r>
                        <a:rPr lang="ar-SA" sz="2400" b="0"/>
                        <m:t>=</m:t>
                      </m:r>
                      <m:f>
                        <m:fPr>
                          <m:ctrlPr>
                            <a:rPr lang="ar-SA" sz="2400" i="1"/>
                          </m:ctrlPr>
                        </m:fPr>
                        <m:num>
                          <m:r>
                            <a:rPr lang="ar-SA" sz="2400" b="0" i="1"/>
                            <m:t>1</m:t>
                          </m:r>
                        </m:num>
                        <m:den>
                          <m:r>
                            <a:rPr lang="ar-SA" sz="2400" b="0" i="1"/>
                            <m:t>𝐵</m:t>
                          </m:r>
                        </m:den>
                      </m:f>
                      <m:r>
                        <a:rPr lang="ar-SA" sz="2400" b="0"/>
                        <m:t>=</m:t>
                      </m:r>
                      <m:r>
                        <a:rPr lang="ar-SA" sz="2400" b="0" i="1"/>
                        <m:t>1</m:t>
                      </m:r>
                      <m:r>
                        <m:rPr>
                          <m:nor/>
                        </m:rPr>
                        <a:rPr lang="ar-SA" sz="2400" i="1"/>
                        <m:t> </m:t>
                      </m:r>
                      <m:r>
                        <a:rPr lang="ar-SA" sz="2400" b="0" i="1"/>
                        <m:t>𝜇</m:t>
                      </m:r>
                      <m:r>
                        <m:rPr>
                          <m:nor/>
                        </m:rPr>
                        <a:rPr lang="en-US" sz="2400" i="1"/>
                        <m:t>s</m:t>
                      </m:r>
                      <m:r>
                        <a:rPr lang="en-US" sz="2400" b="0"/>
                        <m:t>.</m:t>
                      </m:r>
                    </m:oMath>
                  </m:oMathPara>
                </a14:m>
                <a:endParaRPr lang="en-US" sz="2400" dirty="0"/>
              </a:p>
              <a:p>
                <a:pPr marL="0" indent="0">
                  <a:buNone/>
                </a:pPr>
                <a:r>
                  <a:rPr lang="en-US" sz="2400" dirty="0"/>
                  <a:t>However, the wireless channel has a maximum delay spread of </a:t>
                </a:r>
                <a14:m>
                  <m:oMath xmlns:m="http://schemas.openxmlformats.org/officeDocument/2006/math">
                    <m:sSub>
                      <m:sSubPr>
                        <m:ctrlPr>
                          <a:rPr lang="ar-SA" sz="2400"/>
                        </m:ctrlPr>
                      </m:sSubPr>
                      <m:e>
                        <m:r>
                          <a:rPr lang="ar-SA" sz="2400" b="0" i="1"/>
                          <m:t>𝑇</m:t>
                        </m:r>
                      </m:e>
                      <m:sub>
                        <m:r>
                          <a:rPr lang="ar-SA" sz="2400" b="0" i="1"/>
                          <m:t>𝑚</m:t>
                        </m:r>
                      </m:sub>
                    </m:sSub>
                    <m:r>
                      <a:rPr lang="ar-SA" sz="2400" b="0"/>
                      <m:t>=</m:t>
                    </m:r>
                    <m:r>
                      <a:rPr lang="ar-SA" sz="2400" b="0" i="1"/>
                      <m:t>5</m:t>
                    </m:r>
                    <m:r>
                      <m:rPr>
                        <m:nor/>
                      </m:rPr>
                      <a:rPr lang="ar-SA" sz="2400" i="1"/>
                      <m:t> </m:t>
                    </m:r>
                    <m:r>
                      <a:rPr lang="ar-SA" sz="2400" b="0" i="1"/>
                      <m:t>𝜇</m:t>
                    </m:r>
                    <m:r>
                      <m:rPr>
                        <m:nor/>
                      </m:rPr>
                      <a:rPr lang="en-US" sz="2400" i="1"/>
                      <m:t>s</m:t>
                    </m:r>
                  </m:oMath>
                </a14:m>
                <a:r>
                  <a:rPr lang="en-US" sz="2400" dirty="0"/>
                  <a:t>, which would cause severe inter-symbol interference (ISI) in the single-carrier case because </a:t>
                </a:r>
                <a14:m>
                  <m:oMath xmlns:m="http://schemas.openxmlformats.org/officeDocument/2006/math">
                    <m:sSub>
                      <m:sSubPr>
                        <m:ctrlPr>
                          <a:rPr lang="ar-SA" sz="2400"/>
                        </m:ctrlPr>
                      </m:sSubPr>
                      <m:e>
                        <m:r>
                          <a:rPr lang="ar-SA" sz="2400" b="0" i="1"/>
                          <m:t>𝑇</m:t>
                        </m:r>
                      </m:e>
                      <m:sub>
                        <m:r>
                          <a:rPr lang="ar-SA" sz="2400" b="0" i="1"/>
                          <m:t>𝑚</m:t>
                        </m:r>
                      </m:sub>
                    </m:sSub>
                    <m:r>
                      <a:rPr lang="ar-SA" sz="2400" b="0"/>
                      <m:t>&gt;</m:t>
                    </m:r>
                    <m:sSub>
                      <m:sSubPr>
                        <m:ctrlPr>
                          <a:rPr lang="ar-SA" sz="2400" i="1"/>
                        </m:ctrlPr>
                      </m:sSubPr>
                      <m:e>
                        <m:r>
                          <a:rPr lang="ar-SA" sz="2400" b="0" i="1"/>
                          <m:t>𝑇</m:t>
                        </m:r>
                      </m:e>
                      <m:sub>
                        <m:r>
                          <a:rPr lang="ar-SA" sz="2400" b="0" i="1"/>
                          <m:t>𝑠</m:t>
                        </m:r>
                      </m:sub>
                    </m:sSub>
                  </m:oMath>
                </a14:m>
                <a:r>
                  <a:rPr lang="ar-SA" sz="2400" dirty="0"/>
                  <a:t>.</a:t>
                </a:r>
              </a:p>
              <a:p>
                <a:pPr marL="0" indent="0">
                  <a:buNone/>
                </a:pPr>
                <a:r>
                  <a:rPr lang="en-US" sz="2400" dirty="0"/>
                  <a:t>To overcome this, an OFDM system is used with </a:t>
                </a:r>
                <a14:m>
                  <m:oMath xmlns:m="http://schemas.openxmlformats.org/officeDocument/2006/math">
                    <m:r>
                      <a:rPr lang="en-US" sz="2400" b="0" i="1"/>
                      <m:t>𝑁</m:t>
                    </m:r>
                    <m:r>
                      <a:rPr lang="en-US" sz="2400" b="0"/>
                      <m:t>=</m:t>
                    </m:r>
                    <m:r>
                      <a:rPr lang="en-US" sz="2400" b="0" i="1"/>
                      <m:t>128</m:t>
                    </m:r>
                  </m:oMath>
                </a14:m>
                <a:r>
                  <a:rPr lang="en-US" sz="2400" dirty="0"/>
                  <a:t>subcarriers and </a:t>
                </a:r>
                <a14:m>
                  <m:oMath xmlns:m="http://schemas.openxmlformats.org/officeDocument/2006/math">
                    <m:r>
                      <a:rPr lang="en-US" sz="2400" b="0" i="1"/>
                      <m:t>𝑀</m:t>
                    </m:r>
                  </m:oMath>
                </a14:m>
                <a:r>
                  <a:rPr lang="en-US" sz="2400" dirty="0"/>
                  <a:t>-QAM modulation on each subcarrier. The useful OFDM symbol duration is</a:t>
                </a:r>
              </a:p>
              <a:p>
                <a:pPr marL="0" indent="0">
                  <a:buNone/>
                </a:pPr>
                <a14:m>
                  <m:oMathPara xmlns:m="http://schemas.openxmlformats.org/officeDocument/2006/math">
                    <m:oMathParaPr>
                      <m:jc m:val="centerGroup"/>
                    </m:oMathParaPr>
                    <m:oMath xmlns:m="http://schemas.openxmlformats.org/officeDocument/2006/math">
                      <m:sSub>
                        <m:sSubPr>
                          <m:ctrlPr>
                            <a:rPr lang="ar-SA" sz="2400"/>
                          </m:ctrlPr>
                        </m:sSubPr>
                        <m:e>
                          <m:r>
                            <a:rPr lang="ar-SA" sz="2400" b="0" i="1"/>
                            <m:t>𝑇</m:t>
                          </m:r>
                        </m:e>
                        <m:sub>
                          <m:r>
                            <a:rPr lang="ar-SA" sz="2400" b="0" i="1"/>
                            <m:t>𝑁</m:t>
                          </m:r>
                        </m:sub>
                      </m:sSub>
                      <m:r>
                        <a:rPr lang="ar-SA" sz="2400" b="0"/>
                        <m:t>=</m:t>
                      </m:r>
                      <m:r>
                        <a:rPr lang="ar-SA" sz="2400" b="0" i="1"/>
                        <m:t>𝑁</m:t>
                      </m:r>
                      <m:sSub>
                        <m:sSubPr>
                          <m:ctrlPr>
                            <a:rPr lang="ar-SA" sz="2400" i="1"/>
                          </m:ctrlPr>
                        </m:sSubPr>
                        <m:e>
                          <m:r>
                            <a:rPr lang="ar-SA" sz="2400" b="0" i="1"/>
                            <m:t>𝑇</m:t>
                          </m:r>
                        </m:e>
                        <m:sub>
                          <m:r>
                            <a:rPr lang="ar-SA" sz="2400" b="0" i="1"/>
                            <m:t>𝑠</m:t>
                          </m:r>
                        </m:sub>
                      </m:sSub>
                      <m:r>
                        <a:rPr lang="ar-SA" sz="2400" b="0"/>
                        <m:t>=</m:t>
                      </m:r>
                      <m:r>
                        <a:rPr lang="ar-SA" sz="2400" b="0" i="1"/>
                        <m:t>128</m:t>
                      </m:r>
                      <m:r>
                        <m:rPr>
                          <m:nor/>
                        </m:rPr>
                        <a:rPr lang="ar-SA" sz="2400" i="1"/>
                        <m:t> </m:t>
                      </m:r>
                      <m:r>
                        <a:rPr lang="ar-SA" sz="2400" b="0" i="1"/>
                        <m:t>𝜇</m:t>
                      </m:r>
                      <m:r>
                        <m:rPr>
                          <m:nor/>
                        </m:rPr>
                        <a:rPr lang="en-US" sz="2400" i="1"/>
                        <m:t>s</m:t>
                      </m:r>
                      <m:r>
                        <a:rPr lang="en-US" sz="2400" b="0"/>
                        <m:t>.</m:t>
                      </m:r>
                    </m:oMath>
                  </m:oMathPara>
                </a14:m>
                <a:endParaRPr lang="en-US" sz="2400" dirty="0"/>
              </a:p>
              <a:p>
                <a:pPr marL="0" indent="0">
                  <a:buNone/>
                </a:pPr>
                <a:r>
                  <a:rPr lang="en-US" sz="2400" dirty="0"/>
                  <a:t>A cyclic prefix (CP) is appended to each OFDM symbol, with length chosen as</a:t>
                </a:r>
              </a:p>
              <a:p>
                <a:pPr marL="0" indent="0">
                  <a:buNone/>
                </a:pPr>
                <a14:m>
                  <m:oMathPara xmlns:m="http://schemas.openxmlformats.org/officeDocument/2006/math">
                    <m:oMathParaPr>
                      <m:jc m:val="centerGroup"/>
                    </m:oMathParaPr>
                    <m:oMath xmlns:m="http://schemas.openxmlformats.org/officeDocument/2006/math">
                      <m:r>
                        <a:rPr lang="en-US" sz="2400" b="0" i="1"/>
                        <m:t>𝜇</m:t>
                      </m:r>
                      <m:r>
                        <a:rPr lang="en-US" sz="2400" b="0"/>
                        <m:t>=</m:t>
                      </m:r>
                      <m:r>
                        <a:rPr lang="en-US" sz="2400" b="0" i="1"/>
                        <m:t>8</m:t>
                      </m:r>
                      <m:r>
                        <m:rPr>
                          <m:nor/>
                        </m:rPr>
                        <a:rPr lang="en-US" sz="2400" i="1"/>
                        <m:t> </m:t>
                      </m:r>
                      <m:r>
                        <a:rPr lang="en-US" sz="2400" b="0" i="1"/>
                        <m:t>𝜇</m:t>
                      </m:r>
                      <m:r>
                        <m:rPr>
                          <m:nor/>
                        </m:rPr>
                        <a:rPr lang="en-US" sz="2400" i="1"/>
                        <m:t>s</m:t>
                      </m:r>
                      <m:r>
                        <a:rPr lang="en-US" sz="2400" b="0"/>
                        <m:t>,</m:t>
                      </m:r>
                    </m:oMath>
                  </m:oMathPara>
                </a14:m>
                <a:endParaRPr lang="en-US" sz="2400" dirty="0"/>
              </a:p>
              <a:p>
                <a:pPr marL="0" indent="0">
                  <a:buNone/>
                </a:pPr>
                <a:r>
                  <a:rPr lang="en-US" sz="2400" dirty="0"/>
                  <a:t>which satisfies </a:t>
                </a:r>
                <a14:m>
                  <m:oMath xmlns:m="http://schemas.openxmlformats.org/officeDocument/2006/math">
                    <m:r>
                      <a:rPr lang="en-US" sz="2400" b="0" i="1"/>
                      <m:t>𝜇</m:t>
                    </m:r>
                    <m:r>
                      <a:rPr lang="en-US" sz="2400" b="0"/>
                      <m:t>&gt;</m:t>
                    </m:r>
                    <m:sSub>
                      <m:sSubPr>
                        <m:ctrlPr>
                          <a:rPr lang="ar-SA" sz="2400" i="1"/>
                        </m:ctrlPr>
                      </m:sSubPr>
                      <m:e>
                        <m:r>
                          <a:rPr lang="ar-SA" sz="2400" b="0" i="1"/>
                          <m:t>𝑇</m:t>
                        </m:r>
                      </m:e>
                      <m:sub>
                        <m:r>
                          <a:rPr lang="ar-SA" sz="2400" b="0" i="1"/>
                          <m:t>𝑚</m:t>
                        </m:r>
                      </m:sub>
                    </m:sSub>
                  </m:oMath>
                </a14:m>
                <a:r>
                  <a:rPr lang="en-US" sz="2400" dirty="0"/>
                  <a:t>and therefore prevents ISI between OFDM symbols.</a:t>
                </a:r>
              </a:p>
              <a:p>
                <a:pPr marL="0" indent="0">
                  <a:buNone/>
                </a:pPr>
                <a:r>
                  <a:rPr lang="en-US" sz="2400" dirty="0"/>
                  <a:t>Assume 16-QAM modulation on every subcarrier </a:t>
                </a:r>
                <a14:m>
                  <m:oMath xmlns:m="http://schemas.openxmlformats.org/officeDocument/2006/math">
                    <m:d>
                      <m:dPr>
                        <m:ctrlPr>
                          <a:rPr lang="ar-SA" sz="2400"/>
                        </m:ctrlPr>
                      </m:dPr>
                      <m:e>
                        <m:r>
                          <a:rPr lang="ar-SA" sz="2400" b="0" i="1"/>
                          <m:t>𝑀</m:t>
                        </m:r>
                        <m:r>
                          <a:rPr lang="ar-SA" sz="2400" b="0"/>
                          <m:t>=</m:t>
                        </m:r>
                        <m:r>
                          <a:rPr lang="ar-SA" sz="2400" b="0" i="1"/>
                          <m:t>16</m:t>
                        </m:r>
                      </m:e>
                    </m:d>
                  </m:oMath>
                </a14:m>
                <a:r>
                  <a:rPr lang="en-US" sz="2400" dirty="0"/>
                  <a:t>and no channel coding.</a:t>
                </a:r>
              </a:p>
              <a:p>
                <a:pPr marL="0" indent="0">
                  <a:buNone/>
                </a:pPr>
                <a:br>
                  <a:rPr lang="en-US" sz="2400" dirty="0"/>
                </a:br>
                <a:endParaRPr lang="en-US" sz="2400" dirty="0"/>
              </a:p>
              <a:p>
                <a:pPr marL="0" indent="0">
                  <a:buNone/>
                </a:pPr>
                <a:endParaRPr lang="en-US" sz="2400" dirty="0"/>
              </a:p>
            </p:txBody>
          </p:sp>
        </mc:Choice>
        <mc:Fallback>
          <p:sp>
            <p:nvSpPr>
              <p:cNvPr id="3" name="Content Placeholder 2">
                <a:extLst>
                  <a:ext uri="{FF2B5EF4-FFF2-40B4-BE49-F238E27FC236}">
                    <a16:creationId xmlns:a16="http://schemas.microsoft.com/office/drawing/2014/main" id="{280BCDCB-3F5C-8A85-F555-3D6EAC47976F}"/>
                  </a:ext>
                </a:extLst>
              </p:cNvPr>
              <p:cNvSpPr>
                <a:spLocks noGrp="1" noRot="1" noChangeAspect="1" noMove="1" noResize="1" noEditPoints="1" noAdjustHandles="1" noChangeArrowheads="1" noChangeShapeType="1" noTextEdit="1"/>
              </p:cNvSpPr>
              <p:nvPr>
                <p:ph idx="1"/>
              </p:nvPr>
            </p:nvSpPr>
            <p:spPr>
              <a:xfrm>
                <a:off x="213756" y="902525"/>
                <a:ext cx="8752114" cy="5700156"/>
              </a:xfrm>
              <a:blipFill>
                <a:blip r:embed="rId2"/>
                <a:stretch>
                  <a:fillRect l="-1045" t="-1497" r="-348" b="-18396"/>
                </a:stretch>
              </a:blipFill>
            </p:spPr>
            <p:txBody>
              <a:bodyPr/>
              <a:lstStyle/>
              <a:p>
                <a:r>
                  <a:rPr lang="en-US">
                    <a:noFill/>
                  </a:rPr>
                  <a:t> </a:t>
                </a:r>
              </a:p>
            </p:txBody>
          </p:sp>
        </mc:Fallback>
      </mc:AlternateContent>
    </p:spTree>
    <p:extLst>
      <p:ext uri="{BB962C8B-B14F-4D97-AF65-F5344CB8AC3E}">
        <p14:creationId xmlns:p14="http://schemas.microsoft.com/office/powerpoint/2010/main" val="31228997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1AC4-13D3-C1A9-DAC0-918DFBAA1062}"/>
              </a:ext>
            </a:extLst>
          </p:cNvPr>
          <p:cNvSpPr>
            <a:spLocks noGrp="1"/>
          </p:cNvSpPr>
          <p:nvPr>
            <p:ph type="title"/>
          </p:nvPr>
        </p:nvSpPr>
        <p:spPr/>
        <p:txBody>
          <a:bodyPr/>
          <a:lstStyle/>
          <a:p>
            <a:r>
              <a:rPr lang="en-US" b="1" dirty="0"/>
              <a:t>Tasks</a:t>
            </a:r>
          </a:p>
        </p:txBody>
      </p:sp>
      <p:sp>
        <p:nvSpPr>
          <p:cNvPr id="3" name="Content Placeholder 2">
            <a:extLst>
              <a:ext uri="{FF2B5EF4-FFF2-40B4-BE49-F238E27FC236}">
                <a16:creationId xmlns:a16="http://schemas.microsoft.com/office/drawing/2014/main" id="{EB68F80E-D1CA-61CC-4AB3-57161EE6EA72}"/>
              </a:ext>
            </a:extLst>
          </p:cNvPr>
          <p:cNvSpPr>
            <a:spLocks noGrp="1"/>
          </p:cNvSpPr>
          <p:nvPr>
            <p:ph idx="1"/>
          </p:nvPr>
        </p:nvSpPr>
        <p:spPr>
          <a:xfrm>
            <a:off x="628650" y="1552492"/>
            <a:ext cx="7886700" cy="4351338"/>
          </a:xfrm>
        </p:spPr>
        <p:txBody>
          <a:bodyPr>
            <a:normAutofit fontScale="92500" lnSpcReduction="20000"/>
          </a:bodyPr>
          <a:lstStyle/>
          <a:p>
            <a:pPr marL="514350" indent="-514350">
              <a:lnSpc>
                <a:spcPct val="150000"/>
              </a:lnSpc>
              <a:buFont typeface="+mj-lt"/>
              <a:buAutoNum type="alphaLcPeriod"/>
            </a:pPr>
            <a:r>
              <a:rPr lang="en-US" dirty="0"/>
              <a:t>Compute the bandwidth of each OFDM subcarrier.</a:t>
            </a:r>
          </a:p>
          <a:p>
            <a:pPr marL="514350" indent="-514350">
              <a:lnSpc>
                <a:spcPct val="150000"/>
              </a:lnSpc>
              <a:buFont typeface="+mj-lt"/>
              <a:buAutoNum type="alphaLcPeriod"/>
            </a:pPr>
            <a:r>
              <a:rPr lang="en-US" dirty="0"/>
              <a:t>Determine the total duration of one OFDM symbol, including the cyclic prefix.</a:t>
            </a:r>
          </a:p>
          <a:p>
            <a:pPr marL="514350" indent="-514350">
              <a:lnSpc>
                <a:spcPct val="150000"/>
              </a:lnSpc>
              <a:buFont typeface="+mj-lt"/>
              <a:buAutoNum type="alphaLcPeriod"/>
            </a:pPr>
            <a:r>
              <a:rPr lang="en-US" dirty="0"/>
              <a:t>Calculate the overhead percentage introduced by the cyclic prefix.</a:t>
            </a:r>
          </a:p>
          <a:p>
            <a:pPr marL="514350" indent="-514350">
              <a:lnSpc>
                <a:spcPct val="150000"/>
              </a:lnSpc>
              <a:buFont typeface="+mj-lt"/>
              <a:buAutoNum type="alphaLcPeriod"/>
            </a:pPr>
            <a:r>
              <a:rPr lang="en-US" dirty="0"/>
              <a:t>Find the data rate of the system, assuming all subcarriers carry data (no pilots, no nulls).</a:t>
            </a:r>
          </a:p>
          <a:p>
            <a:pPr marL="514350" indent="-514350">
              <a:lnSpc>
                <a:spcPct val="150000"/>
              </a:lnSpc>
              <a:buFont typeface="+mj-lt"/>
              <a:buAutoNum type="alphaLcPeriod"/>
            </a:pPr>
            <a:endParaRPr lang="en-US" dirty="0"/>
          </a:p>
        </p:txBody>
      </p:sp>
    </p:spTree>
    <p:extLst>
      <p:ext uri="{BB962C8B-B14F-4D97-AF65-F5344CB8AC3E}">
        <p14:creationId xmlns:p14="http://schemas.microsoft.com/office/powerpoint/2010/main" val="1200789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EA606A-D218-D9B2-8AC6-CAF7FFFBF4DA}"/>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a:solidFill>
                  <a:schemeClr val="bg1"/>
                </a:solidFill>
                <a:latin typeface="+mj-lt"/>
                <a:ea typeface="+mj-ea"/>
                <a:cs typeface="+mj-cs"/>
              </a:rPr>
              <a:t>Answers</a:t>
            </a:r>
          </a:p>
        </p:txBody>
      </p:sp>
      <p:graphicFrame>
        <p:nvGraphicFramePr>
          <p:cNvPr id="7" name="Table 6">
            <a:extLst>
              <a:ext uri="{FF2B5EF4-FFF2-40B4-BE49-F238E27FC236}">
                <a16:creationId xmlns:a16="http://schemas.microsoft.com/office/drawing/2014/main" id="{953DA64A-E664-DB84-D04B-C3BE1D494FE8}"/>
              </a:ext>
            </a:extLst>
          </p:cNvPr>
          <p:cNvGraphicFramePr>
            <a:graphicFrameLocks noGrp="1"/>
          </p:cNvGraphicFramePr>
          <p:nvPr>
            <p:extLst>
              <p:ext uri="{D42A27DB-BD31-4B8C-83A1-F6EECF244321}">
                <p14:modId xmlns:p14="http://schemas.microsoft.com/office/powerpoint/2010/main" val="206297447"/>
              </p:ext>
            </p:extLst>
          </p:nvPr>
        </p:nvGraphicFramePr>
        <p:xfrm>
          <a:off x="482600" y="1946131"/>
          <a:ext cx="8178800" cy="3852392"/>
        </p:xfrm>
        <a:graphic>
          <a:graphicData uri="http://schemas.openxmlformats.org/drawingml/2006/table">
            <a:tbl>
              <a:tblPr firstRow="1" firstCol="1" bandRow="1">
                <a:noFill/>
                <a:tableStyleId>{5C22544A-7EE6-4342-B048-85BDC9FD1C3A}</a:tableStyleId>
              </a:tblPr>
              <a:tblGrid>
                <a:gridCol w="5931970">
                  <a:extLst>
                    <a:ext uri="{9D8B030D-6E8A-4147-A177-3AD203B41FA5}">
                      <a16:colId xmlns:a16="http://schemas.microsoft.com/office/drawing/2014/main" val="2788608062"/>
                    </a:ext>
                  </a:extLst>
                </a:gridCol>
                <a:gridCol w="2246830">
                  <a:extLst>
                    <a:ext uri="{9D8B030D-6E8A-4147-A177-3AD203B41FA5}">
                      <a16:colId xmlns:a16="http://schemas.microsoft.com/office/drawing/2014/main" val="3790468786"/>
                    </a:ext>
                  </a:extLst>
                </a:gridCol>
              </a:tblGrid>
              <a:tr h="963098">
                <a:tc>
                  <a:txBody>
                    <a:bodyPr/>
                    <a:lstStyle/>
                    <a:p>
                      <a:pPr marL="0" marR="0">
                        <a:lnSpc>
                          <a:spcPct val="115000"/>
                        </a:lnSpc>
                        <a:spcAft>
                          <a:spcPts val="800"/>
                        </a:spcAft>
                        <a:buNone/>
                      </a:pPr>
                      <a:r>
                        <a:rPr lang="en-US" sz="2700" b="1" kern="100" cap="none" spc="0">
                          <a:solidFill>
                            <a:schemeClr val="tx1"/>
                          </a:solidFill>
                          <a:effectLst/>
                        </a:rPr>
                        <a:t>Subcarrier bandwidth</a:t>
                      </a:r>
                      <a:endParaRPr lang="en-US" sz="2700" b="1" kern="1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0" marR="123255" marT="49302" marB="369764" anchor="ctr">
                    <a:lnL w="12700" cmpd="sng">
                      <a:noFill/>
                    </a:lnL>
                    <a:lnR w="12700" cmpd="sng">
                      <a:noFill/>
                    </a:lnR>
                    <a:lnT w="28575" cap="flat" cmpd="sng" algn="ctr">
                      <a:solidFill>
                        <a:schemeClr val="tx1"/>
                      </a:solidFill>
                      <a:prstDash val="solid"/>
                    </a:lnT>
                    <a:lnB w="38100" cmpd="sng">
                      <a:noFill/>
                    </a:lnB>
                    <a:noFill/>
                  </a:tcPr>
                </a:tc>
                <a:tc>
                  <a:txBody>
                    <a:bodyPr/>
                    <a:lstStyle/>
                    <a:p>
                      <a:pPr marL="0" marR="0">
                        <a:lnSpc>
                          <a:spcPct val="115000"/>
                        </a:lnSpc>
                        <a:spcAft>
                          <a:spcPts val="800"/>
                        </a:spcAft>
                        <a:buNone/>
                      </a:pPr>
                      <a:r>
                        <a:rPr lang="en-US" sz="2700" b="1" kern="100" cap="none" spc="0">
                          <a:solidFill>
                            <a:schemeClr val="tx1"/>
                          </a:solidFill>
                          <a:effectLst/>
                        </a:rPr>
                        <a:t>7.8125 kHz</a:t>
                      </a:r>
                      <a:endParaRPr lang="en-US" sz="2700" b="1" kern="1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0" marR="123255" marT="49302" marB="369764" anchor="ctr">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583851817"/>
                  </a:ext>
                </a:extLst>
              </a:tr>
              <a:tr h="963098">
                <a:tc>
                  <a:txBody>
                    <a:bodyPr/>
                    <a:lstStyle/>
                    <a:p>
                      <a:pPr marL="0" marR="0">
                        <a:lnSpc>
                          <a:spcPct val="115000"/>
                        </a:lnSpc>
                        <a:spcAft>
                          <a:spcPts val="800"/>
                        </a:spcAft>
                        <a:buNone/>
                      </a:pPr>
                      <a:r>
                        <a:rPr lang="en-US" sz="2700" b="1" kern="100" cap="none" spc="0" dirty="0">
                          <a:solidFill>
                            <a:schemeClr val="tx1"/>
                          </a:solidFill>
                          <a:effectLst/>
                        </a:rPr>
                        <a:t>Total OFDM symbol time (incl. CP)</a:t>
                      </a:r>
                      <a:endParaRPr lang="en-US" sz="2700" b="1" kern="100" cap="none" spc="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0" marR="123255" marT="49302" marB="369764" anchor="ctr">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marL="0" marR="0">
                        <a:lnSpc>
                          <a:spcPct val="115000"/>
                        </a:lnSpc>
                        <a:spcAft>
                          <a:spcPts val="800"/>
                        </a:spcAft>
                        <a:buNone/>
                      </a:pPr>
                      <a:r>
                        <a:rPr lang="en-US" sz="2700" kern="100" cap="none" spc="0">
                          <a:solidFill>
                            <a:schemeClr val="tx1"/>
                          </a:solidFill>
                          <a:effectLst/>
                        </a:rPr>
                        <a:t>136 µs</a:t>
                      </a:r>
                      <a:endParaRPr lang="en-US" sz="2700" kern="1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0" marR="123255" marT="49302" marB="369764" anchor="ctr">
                    <a:lnL w="12700" cmpd="sng">
                      <a:noFill/>
                      <a:prstDash val="solid"/>
                    </a:lnL>
                    <a:lnR w="12700" cmpd="sng">
                      <a:noFill/>
                      <a:prstDash val="solid"/>
                    </a:lnR>
                    <a:lnT w="38100" cmpd="sng">
                      <a:noFill/>
                    </a:lnT>
                    <a:lnB w="6350" cap="flat" cmpd="sng" algn="ctr">
                      <a:solidFill>
                        <a:schemeClr val="tx1"/>
                      </a:solidFill>
                      <a:prstDash val="solid"/>
                    </a:lnB>
                    <a:noFill/>
                  </a:tcPr>
                </a:tc>
                <a:extLst>
                  <a:ext uri="{0D108BD9-81ED-4DB2-BD59-A6C34878D82A}">
                    <a16:rowId xmlns:a16="http://schemas.microsoft.com/office/drawing/2014/main" val="1357230002"/>
                  </a:ext>
                </a:extLst>
              </a:tr>
              <a:tr h="963098">
                <a:tc>
                  <a:txBody>
                    <a:bodyPr/>
                    <a:lstStyle/>
                    <a:p>
                      <a:pPr marL="0" marR="0">
                        <a:lnSpc>
                          <a:spcPct val="115000"/>
                        </a:lnSpc>
                        <a:spcAft>
                          <a:spcPts val="800"/>
                        </a:spcAft>
                        <a:buNone/>
                      </a:pPr>
                      <a:r>
                        <a:rPr lang="en-US" sz="2700" b="1" kern="100" cap="none" spc="0">
                          <a:solidFill>
                            <a:schemeClr val="tx1"/>
                          </a:solidFill>
                          <a:effectLst/>
                        </a:rPr>
                        <a:t>CP overhead</a:t>
                      </a:r>
                      <a:endParaRPr lang="en-US" sz="2700" b="1" kern="1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0" marR="123255" marT="49302" marB="369764"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2700" kern="100" cap="none" spc="0">
                          <a:solidFill>
                            <a:schemeClr val="tx1"/>
                          </a:solidFill>
                          <a:effectLst/>
                        </a:rPr>
                        <a:t>≈ 5.9%</a:t>
                      </a:r>
                      <a:endParaRPr lang="en-US" sz="2700" kern="1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0" marR="123255" marT="49302" marB="369764"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361883949"/>
                  </a:ext>
                </a:extLst>
              </a:tr>
              <a:tr h="963098">
                <a:tc>
                  <a:txBody>
                    <a:bodyPr/>
                    <a:lstStyle/>
                    <a:p>
                      <a:pPr marL="0" marR="0">
                        <a:lnSpc>
                          <a:spcPct val="115000"/>
                        </a:lnSpc>
                        <a:spcAft>
                          <a:spcPts val="800"/>
                        </a:spcAft>
                        <a:buNone/>
                      </a:pPr>
                      <a:r>
                        <a:rPr lang="en-US" sz="2700" b="1" kern="100" cap="none" spc="0">
                          <a:solidFill>
                            <a:schemeClr val="tx1"/>
                          </a:solidFill>
                          <a:effectLst/>
                        </a:rPr>
                        <a:t>Data rate (16-QAM, no coding)</a:t>
                      </a:r>
                      <a:endParaRPr lang="en-US" sz="2700" b="1" kern="100" cap="none" spc="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0" marR="123255" marT="49302" marB="369764"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ct val="115000"/>
                        </a:lnSpc>
                        <a:spcAft>
                          <a:spcPts val="800"/>
                        </a:spcAft>
                        <a:buNone/>
                      </a:pPr>
                      <a:r>
                        <a:rPr lang="en-US" sz="2700" kern="100" cap="none" spc="0" dirty="0">
                          <a:solidFill>
                            <a:schemeClr val="tx1"/>
                          </a:solidFill>
                          <a:effectLst/>
                        </a:rPr>
                        <a:t>≈ 3.76 Mbps</a:t>
                      </a:r>
                      <a:endParaRPr lang="en-US" sz="2700" kern="100" cap="none" spc="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0" marR="123255" marT="49302" marB="36976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692870918"/>
                  </a:ext>
                </a:extLst>
              </a:tr>
            </a:tbl>
          </a:graphicData>
        </a:graphic>
      </p:graphicFrame>
    </p:spTree>
    <p:extLst>
      <p:ext uri="{BB962C8B-B14F-4D97-AF65-F5344CB8AC3E}">
        <p14:creationId xmlns:p14="http://schemas.microsoft.com/office/powerpoint/2010/main" val="2686881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42565E-29B8-DCD3-5C66-D8F099A03E68}"/>
              </a:ext>
            </a:extLst>
          </p:cNvPr>
          <p:cNvSpPr>
            <a:spLocks noGrp="1"/>
          </p:cNvSpPr>
          <p:nvPr>
            <p:ph type="title"/>
          </p:nvPr>
        </p:nvSpPr>
        <p:spPr>
          <a:xfrm>
            <a:off x="524784" y="248038"/>
            <a:ext cx="5297791" cy="1159200"/>
          </a:xfrm>
        </p:spPr>
        <p:txBody>
          <a:bodyPr vert="horz" lIns="91440" tIns="45720" rIns="91440" bIns="45720" rtlCol="0" anchor="ctr">
            <a:normAutofit/>
          </a:bodyPr>
          <a:lstStyle/>
          <a:p>
            <a:r>
              <a:rPr lang="en-US" sz="3500" b="1" kern="1200" dirty="0">
                <a:solidFill>
                  <a:srgbClr val="FFFFFF"/>
                </a:solidFill>
                <a:latin typeface="+mj-lt"/>
                <a:ea typeface="+mj-ea"/>
                <a:cs typeface="+mj-cs"/>
              </a:rPr>
              <a:t>Real-World Uses of OFDM</a:t>
            </a:r>
          </a:p>
        </p:txBody>
      </p:sp>
      <p:graphicFrame>
        <p:nvGraphicFramePr>
          <p:cNvPr id="5" name="Table 4">
            <a:extLst>
              <a:ext uri="{FF2B5EF4-FFF2-40B4-BE49-F238E27FC236}">
                <a16:creationId xmlns:a16="http://schemas.microsoft.com/office/drawing/2014/main" id="{5DCE3F23-00E7-A3B9-211B-9697C13EE4C1}"/>
              </a:ext>
            </a:extLst>
          </p:cNvPr>
          <p:cNvGraphicFramePr>
            <a:graphicFrameLocks noGrp="1"/>
          </p:cNvGraphicFramePr>
          <p:nvPr>
            <p:extLst>
              <p:ext uri="{D42A27DB-BD31-4B8C-83A1-F6EECF244321}">
                <p14:modId xmlns:p14="http://schemas.microsoft.com/office/powerpoint/2010/main" val="2215913879"/>
              </p:ext>
            </p:extLst>
          </p:nvPr>
        </p:nvGraphicFramePr>
        <p:xfrm>
          <a:off x="324168" y="2675756"/>
          <a:ext cx="8495663" cy="3033240"/>
        </p:xfrm>
        <a:graphic>
          <a:graphicData uri="http://schemas.openxmlformats.org/drawingml/2006/table">
            <a:tbl>
              <a:tblPr firstRow="1" firstCol="1" bandRow="1">
                <a:tableStyleId>{5C22544A-7EE6-4342-B048-85BDC9FD1C3A}</a:tableStyleId>
              </a:tblPr>
              <a:tblGrid>
                <a:gridCol w="3414349">
                  <a:extLst>
                    <a:ext uri="{9D8B030D-6E8A-4147-A177-3AD203B41FA5}">
                      <a16:colId xmlns:a16="http://schemas.microsoft.com/office/drawing/2014/main" val="1978779761"/>
                    </a:ext>
                  </a:extLst>
                </a:gridCol>
                <a:gridCol w="2257730">
                  <a:extLst>
                    <a:ext uri="{9D8B030D-6E8A-4147-A177-3AD203B41FA5}">
                      <a16:colId xmlns:a16="http://schemas.microsoft.com/office/drawing/2014/main" val="399298739"/>
                    </a:ext>
                  </a:extLst>
                </a:gridCol>
                <a:gridCol w="2823584">
                  <a:extLst>
                    <a:ext uri="{9D8B030D-6E8A-4147-A177-3AD203B41FA5}">
                      <a16:colId xmlns:a16="http://schemas.microsoft.com/office/drawing/2014/main" val="1382558861"/>
                    </a:ext>
                  </a:extLst>
                </a:gridCol>
              </a:tblGrid>
              <a:tr h="505540">
                <a:tc>
                  <a:txBody>
                    <a:bodyPr/>
                    <a:lstStyle/>
                    <a:p>
                      <a:pPr marL="0" marR="0" algn="ctr">
                        <a:lnSpc>
                          <a:spcPct val="115000"/>
                        </a:lnSpc>
                        <a:spcAft>
                          <a:spcPts val="800"/>
                        </a:spcAft>
                        <a:buNone/>
                      </a:pPr>
                      <a:r>
                        <a:rPr lang="en-US" sz="2400" kern="100">
                          <a:effectLst/>
                        </a:rPr>
                        <a:t>Technology</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gn="ctr">
                        <a:lnSpc>
                          <a:spcPct val="115000"/>
                        </a:lnSpc>
                        <a:spcAft>
                          <a:spcPts val="800"/>
                        </a:spcAft>
                        <a:buNone/>
                      </a:pPr>
                      <a:r>
                        <a:rPr lang="en-US" sz="2400" kern="100">
                          <a:effectLst/>
                        </a:rPr>
                        <a:t>Bandwidth</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gn="ctr">
                        <a:lnSpc>
                          <a:spcPct val="115000"/>
                        </a:lnSpc>
                        <a:spcAft>
                          <a:spcPts val="800"/>
                        </a:spcAft>
                        <a:buNone/>
                      </a:pPr>
                      <a:r>
                        <a:rPr lang="en-US" sz="2400" kern="100">
                          <a:effectLst/>
                        </a:rPr>
                        <a:t>Subcarriers</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extLst>
                  <a:ext uri="{0D108BD9-81ED-4DB2-BD59-A6C34878D82A}">
                    <a16:rowId xmlns:a16="http://schemas.microsoft.com/office/drawing/2014/main" val="3824255922"/>
                  </a:ext>
                </a:extLst>
              </a:tr>
              <a:tr h="505540">
                <a:tc>
                  <a:txBody>
                    <a:bodyPr/>
                    <a:lstStyle/>
                    <a:p>
                      <a:pPr marL="0" marR="0">
                        <a:lnSpc>
                          <a:spcPct val="115000"/>
                        </a:lnSpc>
                        <a:spcAft>
                          <a:spcPts val="800"/>
                        </a:spcAft>
                        <a:buNone/>
                      </a:pPr>
                      <a:r>
                        <a:rPr lang="en-US" sz="2400" kern="100">
                          <a:effectLst/>
                        </a:rPr>
                        <a:t>Wi-Fi 802.11a/g/n/ac/ax</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20–160 MHz</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64–234 subcarriers</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extLst>
                  <a:ext uri="{0D108BD9-81ED-4DB2-BD59-A6C34878D82A}">
                    <a16:rowId xmlns:a16="http://schemas.microsoft.com/office/drawing/2014/main" val="790033973"/>
                  </a:ext>
                </a:extLst>
              </a:tr>
              <a:tr h="505540">
                <a:tc>
                  <a:txBody>
                    <a:bodyPr/>
                    <a:lstStyle/>
                    <a:p>
                      <a:pPr marL="0" marR="0">
                        <a:lnSpc>
                          <a:spcPct val="115000"/>
                        </a:lnSpc>
                        <a:spcAft>
                          <a:spcPts val="800"/>
                        </a:spcAft>
                        <a:buNone/>
                      </a:pPr>
                      <a:r>
                        <a:rPr lang="en-US" sz="2400" kern="100">
                          <a:effectLst/>
                        </a:rPr>
                        <a:t>LTE Downlink</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1.4–20 MHz</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128–2048 FFT</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extLst>
                  <a:ext uri="{0D108BD9-81ED-4DB2-BD59-A6C34878D82A}">
                    <a16:rowId xmlns:a16="http://schemas.microsoft.com/office/drawing/2014/main" val="3697438281"/>
                  </a:ext>
                </a:extLst>
              </a:tr>
              <a:tr h="505540">
                <a:tc>
                  <a:txBody>
                    <a:bodyPr/>
                    <a:lstStyle/>
                    <a:p>
                      <a:pPr marL="0" marR="0">
                        <a:lnSpc>
                          <a:spcPct val="115000"/>
                        </a:lnSpc>
                        <a:spcAft>
                          <a:spcPts val="800"/>
                        </a:spcAft>
                        <a:buNone/>
                      </a:pPr>
                      <a:r>
                        <a:rPr lang="en-US" sz="2400" kern="100" dirty="0">
                          <a:effectLst/>
                        </a:rPr>
                        <a:t>5G  NR</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Up to 400 MHz</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4096+</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extLst>
                  <a:ext uri="{0D108BD9-81ED-4DB2-BD59-A6C34878D82A}">
                    <a16:rowId xmlns:a16="http://schemas.microsoft.com/office/drawing/2014/main" val="1669346413"/>
                  </a:ext>
                </a:extLst>
              </a:tr>
              <a:tr h="505540">
                <a:tc>
                  <a:txBody>
                    <a:bodyPr/>
                    <a:lstStyle/>
                    <a:p>
                      <a:pPr marL="0" marR="0">
                        <a:lnSpc>
                          <a:spcPct val="115000"/>
                        </a:lnSpc>
                        <a:spcAft>
                          <a:spcPts val="800"/>
                        </a:spcAft>
                        <a:buNone/>
                      </a:pPr>
                      <a:r>
                        <a:rPr lang="en-US" sz="2400" kern="100">
                          <a:effectLst/>
                        </a:rPr>
                        <a:t>DVB-T</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8 MHz</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2048 or 8192</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extLst>
                  <a:ext uri="{0D108BD9-81ED-4DB2-BD59-A6C34878D82A}">
                    <a16:rowId xmlns:a16="http://schemas.microsoft.com/office/drawing/2014/main" val="285465709"/>
                  </a:ext>
                </a:extLst>
              </a:tr>
              <a:tr h="505540">
                <a:tc>
                  <a:txBody>
                    <a:bodyPr/>
                    <a:lstStyle/>
                    <a:p>
                      <a:pPr marL="0" marR="0">
                        <a:lnSpc>
                          <a:spcPct val="115000"/>
                        </a:lnSpc>
                        <a:spcAft>
                          <a:spcPts val="800"/>
                        </a:spcAft>
                        <a:buNone/>
                      </a:pPr>
                      <a:r>
                        <a:rPr lang="en-US" sz="2400" kern="100">
                          <a:effectLst/>
                        </a:rPr>
                        <a:t>ADSL/VDSL</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a:effectLst/>
                        </a:rPr>
                        <a:t>1.1 MHz</a:t>
                      </a:r>
                      <a:endParaRPr lang="en-US" sz="2400" kern="10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tc>
                  <a:txBody>
                    <a:bodyPr/>
                    <a:lstStyle/>
                    <a:p>
                      <a:pPr marL="0" marR="0">
                        <a:lnSpc>
                          <a:spcPct val="115000"/>
                        </a:lnSpc>
                        <a:spcAft>
                          <a:spcPts val="800"/>
                        </a:spcAft>
                        <a:buNone/>
                      </a:pPr>
                      <a:r>
                        <a:rPr lang="en-US" sz="2400" kern="100" dirty="0">
                          <a:effectLst/>
                        </a:rPr>
                        <a:t>256 or 512</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txBody>
                  <a:tcPr marL="18967" marR="18967" marT="18967" marB="18967" anchor="ctr"/>
                </a:tc>
                <a:extLst>
                  <a:ext uri="{0D108BD9-81ED-4DB2-BD59-A6C34878D82A}">
                    <a16:rowId xmlns:a16="http://schemas.microsoft.com/office/drawing/2014/main" val="2616026439"/>
                  </a:ext>
                </a:extLst>
              </a:tr>
            </a:tbl>
          </a:graphicData>
        </a:graphic>
      </p:graphicFrame>
    </p:spTree>
    <p:extLst>
      <p:ext uri="{BB962C8B-B14F-4D97-AF65-F5344CB8AC3E}">
        <p14:creationId xmlns:p14="http://schemas.microsoft.com/office/powerpoint/2010/main" val="40053011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9AB5F74-319A-94C1-8ED5-74F6FEF57941}"/>
              </a:ext>
            </a:extLst>
          </p:cNvPr>
          <p:cNvSpPr>
            <a:spLocks noGrp="1"/>
          </p:cNvSpPr>
          <p:nvPr>
            <p:ph type="title"/>
          </p:nvPr>
        </p:nvSpPr>
        <p:spPr>
          <a:xfrm rot="16200000">
            <a:off x="-82812" y="1217638"/>
            <a:ext cx="2742568" cy="4439351"/>
          </a:xfrm>
        </p:spPr>
        <p:txBody>
          <a:bodyPr>
            <a:normAutofit/>
          </a:bodyPr>
          <a:lstStyle/>
          <a:p>
            <a:pPr algn="r"/>
            <a:r>
              <a:rPr lang="en-US" sz="4000" b="1" dirty="0">
                <a:latin typeface="Times New Roman" panose="02020603050405020304" pitchFamily="18" charset="0"/>
                <a:cs typeface="Times New Roman" panose="02020603050405020304" pitchFamily="18" charset="0"/>
              </a:rPr>
              <a:t>Questions</a:t>
            </a:r>
          </a:p>
        </p:txBody>
      </p:sp>
      <p:cxnSp>
        <p:nvCxnSpPr>
          <p:cNvPr id="12" name="Straight Connector 1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18D4EF9D-254B-A5FE-FE8F-A09A6A28D52B}"/>
              </a:ext>
            </a:extLst>
          </p:cNvPr>
          <p:cNvGraphicFramePr>
            <a:graphicFrameLocks noGrp="1"/>
          </p:cNvGraphicFramePr>
          <p:nvPr>
            <p:ph idx="1"/>
            <p:extLst>
              <p:ext uri="{D42A27DB-BD31-4B8C-83A1-F6EECF244321}">
                <p14:modId xmlns:p14="http://schemas.microsoft.com/office/powerpoint/2010/main" val="4254507872"/>
              </p:ext>
            </p:extLst>
          </p:nvPr>
        </p:nvGraphicFramePr>
        <p:xfrm>
          <a:off x="2576946" y="634326"/>
          <a:ext cx="5884772"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42927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Reference book</a:t>
            </a:r>
          </a:p>
        </p:txBody>
      </p:sp>
      <p:sp>
        <p:nvSpPr>
          <p:cNvPr id="2" name="Content Placeholder 1"/>
          <p:cNvSpPr>
            <a:spLocks noGrp="1"/>
          </p:cNvSpPr>
          <p:nvPr>
            <p:ph idx="1"/>
          </p:nvPr>
        </p:nvSpPr>
        <p:spPr>
          <a:xfrm>
            <a:off x="3131840" y="1772816"/>
            <a:ext cx="4968552" cy="2448272"/>
          </a:xfrm>
        </p:spPr>
        <p:txBody>
          <a:bodyPr>
            <a:normAutofit fontScale="92500" lnSpcReduction="10000"/>
          </a:bodyPr>
          <a:lstStyle/>
          <a:p>
            <a:pPr marL="0" indent="0">
              <a:spcBef>
                <a:spcPts val="0"/>
              </a:spcBef>
              <a:spcAft>
                <a:spcPts val="1200"/>
              </a:spcAft>
              <a:buNone/>
            </a:pPr>
            <a:r>
              <a:rPr lang="en-US" dirty="0"/>
              <a:t>For </a:t>
            </a:r>
            <a:r>
              <a:rPr lang="en-US" b="1" dirty="0"/>
              <a:t>more</a:t>
            </a:r>
            <a:r>
              <a:rPr lang="en-US" dirty="0"/>
              <a:t> information on OFDM:</a:t>
            </a:r>
          </a:p>
          <a:p>
            <a:pPr marL="0" indent="0">
              <a:buNone/>
            </a:pPr>
            <a:r>
              <a:rPr lang="en-US" dirty="0"/>
              <a:t>Andrea Goldsmith, “Wireless Communications”, Cambridge University Press, 2005</a:t>
            </a:r>
          </a:p>
          <a:p>
            <a:pPr marL="0" indent="0">
              <a:spcBef>
                <a:spcPts val="1200"/>
              </a:spcBef>
              <a:buNone/>
            </a:pPr>
            <a:r>
              <a:rPr lang="en-US" b="1" dirty="0"/>
              <a:t>Chapter 12: Multicarrier Modulation (pp. 374-402)</a:t>
            </a:r>
          </a:p>
        </p:txBody>
      </p:sp>
      <p:pic>
        <p:nvPicPr>
          <p:cNvPr id="4" name="Picture 3" descr="Goldsmith_cover.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7461" y="1777147"/>
            <a:ext cx="1602089" cy="2379712"/>
          </a:xfrm>
          <a:prstGeom prst="rect">
            <a:avLst/>
          </a:prstGeom>
        </p:spPr>
      </p:pic>
    </p:spTree>
    <p:extLst>
      <p:ext uri="{BB962C8B-B14F-4D97-AF65-F5344CB8AC3E}">
        <p14:creationId xmlns:p14="http://schemas.microsoft.com/office/powerpoint/2010/main" val="790819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59F6BB5A7D914C9B3EBC96A6E21F77" ma:contentTypeVersion="14" ma:contentTypeDescription="Create a new document." ma:contentTypeScope="" ma:versionID="fda4ccff6591671c81d9f7567ae569d0">
  <xsd:schema xmlns:xsd="http://www.w3.org/2001/XMLSchema" xmlns:xs="http://www.w3.org/2001/XMLSchema" xmlns:p="http://schemas.microsoft.com/office/2006/metadata/properties" xmlns:ns3="76f8f3b6-16be-436e-bf2d-dedadcb77122" xmlns:ns4="d8514a62-9400-4177-9856-d6f8215948cc" targetNamespace="http://schemas.microsoft.com/office/2006/metadata/properties" ma:root="true" ma:fieldsID="5dd2106159393f1d8dbedbc6d6b27a07" ns3:_="" ns4:_="">
    <xsd:import namespace="76f8f3b6-16be-436e-bf2d-dedadcb77122"/>
    <xsd:import namespace="d8514a62-9400-4177-9856-d6f8215948c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f8f3b6-16be-436e-bf2d-dedadcb771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514a62-9400-4177-9856-d6f8215948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76f8f3b6-16be-436e-bf2d-dedadcb7712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469DD6B-0C77-4907-9AFC-74AC6720B2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f8f3b6-16be-436e-bf2d-dedadcb77122"/>
    <ds:schemaRef ds:uri="d8514a62-9400-4177-9856-d6f8215948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B1BC10A-AC43-4888-BBEF-22D31D87E8F1}">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76f8f3b6-16be-436e-bf2d-dedadcb77122"/>
    <ds:schemaRef ds:uri="http://purl.org/dc/terms/"/>
    <ds:schemaRef ds:uri="d8514a62-9400-4177-9856-d6f8215948cc"/>
    <ds:schemaRef ds:uri="http://www.w3.org/XML/1998/namespace"/>
    <ds:schemaRef ds:uri="http://purl.org/dc/dcmitype/"/>
  </ds:schemaRefs>
</ds:datastoreItem>
</file>

<file path=customXml/itemProps3.xml><?xml version="1.0" encoding="utf-8"?>
<ds:datastoreItem xmlns:ds="http://schemas.openxmlformats.org/officeDocument/2006/customXml" ds:itemID="{1AF01DB4-B638-40AA-A96B-CDB0BCBB8F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986</TotalTime>
  <Words>2378</Words>
  <Application>Microsoft Office PowerPoint</Application>
  <PresentationFormat>On-screen Show (4:3)</PresentationFormat>
  <Paragraphs>309</Paragraphs>
  <Slides>48</Slides>
  <Notes>10</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48</vt:i4>
      </vt:variant>
    </vt:vector>
  </HeadingPairs>
  <TitlesOfParts>
    <vt:vector size="69" baseType="lpstr">
      <vt:lpstr>MS PGothic</vt:lpstr>
      <vt:lpstr>Abadi</vt:lpstr>
      <vt:lpstr>AdvP41153C</vt:lpstr>
      <vt:lpstr>Aptos</vt:lpstr>
      <vt:lpstr>Arial</vt:lpstr>
      <vt:lpstr>Calibri</vt:lpstr>
      <vt:lpstr>Calibri Light</vt:lpstr>
      <vt:lpstr>Cambria Math</vt:lpstr>
      <vt:lpstr>Helvetica</vt:lpstr>
      <vt:lpstr>Myriad Pro</vt:lpstr>
      <vt:lpstr>Open Sans</vt:lpstr>
      <vt:lpstr>Söhne</vt:lpstr>
      <vt:lpstr>Times</vt:lpstr>
      <vt:lpstr>Times New Roman</vt:lpstr>
      <vt:lpstr>Times-Roman</vt:lpstr>
      <vt:lpstr>Trebuchet MS</vt:lpstr>
      <vt:lpstr>TrebuchetMS</vt:lpstr>
      <vt:lpstr>Univers-Condensed</vt:lpstr>
      <vt:lpstr>Wingdings</vt:lpstr>
      <vt:lpstr>Wingdings 3</vt:lpstr>
      <vt:lpstr>Office Theme</vt:lpstr>
      <vt:lpstr>Introduction to  OFDM</vt:lpstr>
      <vt:lpstr>🎯 Learning Outcomes </vt:lpstr>
      <vt:lpstr>Single Carrier vs Multicarrier Modulation</vt:lpstr>
      <vt:lpstr>Single-carrier baseband Communication System Model.</vt:lpstr>
      <vt:lpstr>Multicarrier Modulation</vt:lpstr>
      <vt:lpstr>Example</vt:lpstr>
      <vt:lpstr>Multicarrier Transmission</vt:lpstr>
      <vt:lpstr>Single Carrier vs Multicarrier</vt:lpstr>
      <vt:lpstr>PowerPoint Presentation</vt:lpstr>
      <vt:lpstr>Traditional vs OFDM</vt:lpstr>
      <vt:lpstr>OFDM Concept</vt:lpstr>
      <vt:lpstr>OFDM Transmission Scheme</vt:lpstr>
      <vt:lpstr>Spectra of OFDM individual subcarrier.</vt:lpstr>
      <vt:lpstr>Spectra of OFDM symbol.</vt:lpstr>
      <vt:lpstr>PowerPoint Presentation</vt:lpstr>
      <vt:lpstr>OFDM Implementation</vt:lpstr>
      <vt:lpstr>OFDM Time vs Frequency Domain</vt:lpstr>
      <vt:lpstr>Orthogonal Sub-Carrier</vt:lpstr>
      <vt:lpstr>Orthogonality of Sub-carriers</vt:lpstr>
      <vt:lpstr>PowerPoint Presentation</vt:lpstr>
      <vt:lpstr>PowerPoint Presentation</vt:lpstr>
      <vt:lpstr>OFDM Transmitter and Receiver</vt:lpstr>
      <vt:lpstr>OFDM Diagram</vt:lpstr>
      <vt:lpstr>PowerPoint Presentation</vt:lpstr>
      <vt:lpstr>PowerPoint Presentation</vt:lpstr>
      <vt:lpstr>Inter Symbol Interference (ISI)</vt:lpstr>
      <vt:lpstr>What is a cyclic prefix </vt:lpstr>
      <vt:lpstr>Cyclic Prefix (CP)</vt:lpstr>
      <vt:lpstr>ISI effect of a multipath channel for each subcarrier</vt:lpstr>
      <vt:lpstr>Cyclic Prefix (CP)</vt:lpstr>
      <vt:lpstr>OFDM Modulation and Demodulation</vt:lpstr>
      <vt:lpstr>OFDM Communication</vt:lpstr>
      <vt:lpstr>Advantages / Disadvantages</vt:lpstr>
      <vt:lpstr>Example-1</vt:lpstr>
      <vt:lpstr>Solution</vt:lpstr>
      <vt:lpstr>PowerPoint Presentation</vt:lpstr>
      <vt:lpstr>PowerPoint Presentation</vt:lpstr>
      <vt:lpstr>PowerPoint Presentation</vt:lpstr>
      <vt:lpstr>Example-2</vt:lpstr>
      <vt:lpstr>PowerPoint Presentation</vt:lpstr>
      <vt:lpstr>PowerPoint Presentation</vt:lpstr>
      <vt:lpstr>PowerPoint Presentation</vt:lpstr>
      <vt:lpstr>Example(Homework)</vt:lpstr>
      <vt:lpstr>Tasks</vt:lpstr>
      <vt:lpstr>Answers</vt:lpstr>
      <vt:lpstr>Real-World Uses of OFDM</vt:lpstr>
      <vt:lpstr>Questions</vt:lpstr>
      <vt:lpstr>Reference 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Abrar, Muhammad</dc:creator>
  <cp:lastModifiedBy>Abrar, Muhammad</cp:lastModifiedBy>
  <cp:revision>198</cp:revision>
  <dcterms:created xsi:type="dcterms:W3CDTF">2023-04-08T04:37:24Z</dcterms:created>
  <dcterms:modified xsi:type="dcterms:W3CDTF">2025-11-02T04:23:22Z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0x010100BB59F6BB5A7D914C9B3EBC96A6E21F77</vt:lpwstr>
  </property>
</Properties>
</file>