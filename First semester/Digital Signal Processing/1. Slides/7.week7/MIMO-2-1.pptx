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6"/>
  </p:notesMasterIdLst>
  <p:sldIdLst>
    <p:sldId id="339" r:id="rId5"/>
    <p:sldId id="527" r:id="rId6"/>
    <p:sldId id="451" r:id="rId7"/>
    <p:sldId id="452" r:id="rId8"/>
    <p:sldId id="453" r:id="rId9"/>
    <p:sldId id="454" r:id="rId10"/>
    <p:sldId id="351" r:id="rId11"/>
    <p:sldId id="343" r:id="rId12"/>
    <p:sldId id="353" r:id="rId13"/>
    <p:sldId id="354" r:id="rId14"/>
    <p:sldId id="355" r:id="rId15"/>
    <p:sldId id="341" r:id="rId16"/>
    <p:sldId id="455" r:id="rId17"/>
    <p:sldId id="456" r:id="rId18"/>
    <p:sldId id="344" r:id="rId19"/>
    <p:sldId id="345" r:id="rId20"/>
    <p:sldId id="347" r:id="rId21"/>
    <p:sldId id="458" r:id="rId22"/>
    <p:sldId id="459" r:id="rId23"/>
    <p:sldId id="460" r:id="rId24"/>
    <p:sldId id="461" r:id="rId25"/>
    <p:sldId id="508" r:id="rId26"/>
    <p:sldId id="509" r:id="rId27"/>
    <p:sldId id="462" r:id="rId28"/>
    <p:sldId id="349" r:id="rId29"/>
    <p:sldId id="510" r:id="rId30"/>
    <p:sldId id="517" r:id="rId31"/>
    <p:sldId id="511" r:id="rId32"/>
    <p:sldId id="512" r:id="rId33"/>
    <p:sldId id="513" r:id="rId34"/>
    <p:sldId id="514" r:id="rId35"/>
    <p:sldId id="515" r:id="rId36"/>
    <p:sldId id="518" r:id="rId37"/>
    <p:sldId id="519" r:id="rId38"/>
    <p:sldId id="520" r:id="rId39"/>
    <p:sldId id="525" r:id="rId40"/>
    <p:sldId id="526" r:id="rId41"/>
    <p:sldId id="524" r:id="rId42"/>
    <p:sldId id="523" r:id="rId43"/>
    <p:sldId id="348" r:id="rId44"/>
    <p:sldId id="528"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6781" autoAdjust="0"/>
  </p:normalViewPr>
  <p:slideViewPr>
    <p:cSldViewPr snapToGrid="0">
      <p:cViewPr varScale="1">
        <p:scale>
          <a:sx n="48" d="100"/>
          <a:sy n="48" d="100"/>
        </p:scale>
        <p:origin x="174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ata7.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ata11.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ECD964-B9F0-4005-B716-B9593250583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DD1E25EC-C71D-416B-B206-174EBF9736B0}">
      <dgm:prSet/>
      <dgm:spPr/>
      <dgm:t>
        <a:bodyPr/>
        <a:lstStyle/>
        <a:p>
          <a:r>
            <a:rPr lang="en-US" b="1"/>
            <a:t>SIMO:</a:t>
          </a:r>
          <a:r>
            <a:rPr lang="en-US"/>
            <a:t> receiver diversity</a:t>
          </a:r>
        </a:p>
      </dgm:t>
    </dgm:pt>
    <dgm:pt modelId="{478A57F2-2AF3-447B-9C7B-EEB5B98DF018}" type="parTrans" cxnId="{54E66C83-2CC1-4B1C-A2E5-90469C89331E}">
      <dgm:prSet/>
      <dgm:spPr/>
      <dgm:t>
        <a:bodyPr/>
        <a:lstStyle/>
        <a:p>
          <a:endParaRPr lang="en-US"/>
        </a:p>
      </dgm:t>
    </dgm:pt>
    <dgm:pt modelId="{5543C3FD-C8E7-4465-A2A7-731DB5DFBF0B}" type="sibTrans" cxnId="{54E66C83-2CC1-4B1C-A2E5-90469C89331E}">
      <dgm:prSet/>
      <dgm:spPr/>
      <dgm:t>
        <a:bodyPr/>
        <a:lstStyle/>
        <a:p>
          <a:endParaRPr lang="en-US"/>
        </a:p>
      </dgm:t>
    </dgm:pt>
    <dgm:pt modelId="{8124B578-A847-4EF1-B9BA-42CAA83D3453}">
      <dgm:prSet/>
      <dgm:spPr/>
      <dgm:t>
        <a:bodyPr/>
        <a:lstStyle/>
        <a:p>
          <a:r>
            <a:rPr lang="en-US" b="1" dirty="0"/>
            <a:t>MISO:</a:t>
          </a:r>
          <a:r>
            <a:rPr lang="en-US" dirty="0"/>
            <a:t> transmit diversity</a:t>
          </a:r>
        </a:p>
      </dgm:t>
    </dgm:pt>
    <dgm:pt modelId="{D48E24B2-21B5-405E-B094-CE73CE7EB4BC}" type="parTrans" cxnId="{7AFBE4BA-9CCF-4D7A-9532-82A6C8A6A21D}">
      <dgm:prSet/>
      <dgm:spPr/>
      <dgm:t>
        <a:bodyPr/>
        <a:lstStyle/>
        <a:p>
          <a:endParaRPr lang="en-US"/>
        </a:p>
      </dgm:t>
    </dgm:pt>
    <dgm:pt modelId="{C236FCBA-8D47-4A99-8456-D2AF54A29F89}" type="sibTrans" cxnId="{7AFBE4BA-9CCF-4D7A-9532-82A6C8A6A21D}">
      <dgm:prSet/>
      <dgm:spPr/>
      <dgm:t>
        <a:bodyPr/>
        <a:lstStyle/>
        <a:p>
          <a:endParaRPr lang="en-US"/>
        </a:p>
      </dgm:t>
    </dgm:pt>
    <dgm:pt modelId="{C4E8EC28-F83D-45D1-8B65-ACE03EBDD1CD}">
      <dgm:prSet/>
      <dgm:spPr/>
      <dgm:t>
        <a:bodyPr/>
        <a:lstStyle/>
        <a:p>
          <a:r>
            <a:rPr lang="en-US" b="1"/>
            <a:t>MIMO:</a:t>
          </a:r>
          <a:r>
            <a:rPr lang="en-US"/>
            <a:t> spatial multiplexing + diversity</a:t>
          </a:r>
        </a:p>
      </dgm:t>
    </dgm:pt>
    <dgm:pt modelId="{6EAF7DCC-4BC2-4DAE-A68C-0864F530C123}" type="parTrans" cxnId="{508D402F-3E14-44DA-9C95-64A7310463D8}">
      <dgm:prSet/>
      <dgm:spPr/>
      <dgm:t>
        <a:bodyPr/>
        <a:lstStyle/>
        <a:p>
          <a:endParaRPr lang="en-US"/>
        </a:p>
      </dgm:t>
    </dgm:pt>
    <dgm:pt modelId="{D99B11C9-2391-48CA-83A2-19B0F365343C}" type="sibTrans" cxnId="{508D402F-3E14-44DA-9C95-64A7310463D8}">
      <dgm:prSet/>
      <dgm:spPr/>
      <dgm:t>
        <a:bodyPr/>
        <a:lstStyle/>
        <a:p>
          <a:endParaRPr lang="en-US"/>
        </a:p>
      </dgm:t>
    </dgm:pt>
    <dgm:pt modelId="{448CF6EF-71E8-47A6-B75C-1C1CDE0BAEA4}" type="pres">
      <dgm:prSet presAssocID="{3AECD964-B9F0-4005-B716-B9593250583B}" presName="vert0" presStyleCnt="0">
        <dgm:presLayoutVars>
          <dgm:dir/>
          <dgm:animOne val="branch"/>
          <dgm:animLvl val="lvl"/>
        </dgm:presLayoutVars>
      </dgm:prSet>
      <dgm:spPr/>
    </dgm:pt>
    <dgm:pt modelId="{5783222B-C95F-4F3D-B134-6D3F1ADDD1E6}" type="pres">
      <dgm:prSet presAssocID="{DD1E25EC-C71D-416B-B206-174EBF9736B0}" presName="thickLine" presStyleLbl="alignNode1" presStyleIdx="0" presStyleCnt="3"/>
      <dgm:spPr/>
    </dgm:pt>
    <dgm:pt modelId="{9C698DFB-1872-494B-A1C7-AEF4ABDD2C5A}" type="pres">
      <dgm:prSet presAssocID="{DD1E25EC-C71D-416B-B206-174EBF9736B0}" presName="horz1" presStyleCnt="0"/>
      <dgm:spPr/>
    </dgm:pt>
    <dgm:pt modelId="{51CA0F69-D3E9-4451-862E-A151A9083E1C}" type="pres">
      <dgm:prSet presAssocID="{DD1E25EC-C71D-416B-B206-174EBF9736B0}" presName="tx1" presStyleLbl="revTx" presStyleIdx="0" presStyleCnt="3"/>
      <dgm:spPr/>
    </dgm:pt>
    <dgm:pt modelId="{32B200D2-A494-4F24-B976-8804F2F24934}" type="pres">
      <dgm:prSet presAssocID="{DD1E25EC-C71D-416B-B206-174EBF9736B0}" presName="vert1" presStyleCnt="0"/>
      <dgm:spPr/>
    </dgm:pt>
    <dgm:pt modelId="{2F5777C5-9A1B-48B5-8B1F-14258ECD5D97}" type="pres">
      <dgm:prSet presAssocID="{8124B578-A847-4EF1-B9BA-42CAA83D3453}" presName="thickLine" presStyleLbl="alignNode1" presStyleIdx="1" presStyleCnt="3"/>
      <dgm:spPr/>
    </dgm:pt>
    <dgm:pt modelId="{BB687A8D-1922-49C1-BAFB-6586FD425A8E}" type="pres">
      <dgm:prSet presAssocID="{8124B578-A847-4EF1-B9BA-42CAA83D3453}" presName="horz1" presStyleCnt="0"/>
      <dgm:spPr/>
    </dgm:pt>
    <dgm:pt modelId="{80F0260F-EB5A-4A8A-9EDA-33906C27049F}" type="pres">
      <dgm:prSet presAssocID="{8124B578-A847-4EF1-B9BA-42CAA83D3453}" presName="tx1" presStyleLbl="revTx" presStyleIdx="1" presStyleCnt="3"/>
      <dgm:spPr/>
    </dgm:pt>
    <dgm:pt modelId="{641B77C2-652A-4118-97E5-2008B2FF0881}" type="pres">
      <dgm:prSet presAssocID="{8124B578-A847-4EF1-B9BA-42CAA83D3453}" presName="vert1" presStyleCnt="0"/>
      <dgm:spPr/>
    </dgm:pt>
    <dgm:pt modelId="{773352F1-D357-4F51-BB24-E9E53B62D3F2}" type="pres">
      <dgm:prSet presAssocID="{C4E8EC28-F83D-45D1-8B65-ACE03EBDD1CD}" presName="thickLine" presStyleLbl="alignNode1" presStyleIdx="2" presStyleCnt="3"/>
      <dgm:spPr/>
    </dgm:pt>
    <dgm:pt modelId="{DC3B160D-F8E3-4CD7-AD8B-5372539CD821}" type="pres">
      <dgm:prSet presAssocID="{C4E8EC28-F83D-45D1-8B65-ACE03EBDD1CD}" presName="horz1" presStyleCnt="0"/>
      <dgm:spPr/>
    </dgm:pt>
    <dgm:pt modelId="{BA0B6969-0F8C-4BA0-9858-C7C6A9979C0B}" type="pres">
      <dgm:prSet presAssocID="{C4E8EC28-F83D-45D1-8B65-ACE03EBDD1CD}" presName="tx1" presStyleLbl="revTx" presStyleIdx="2" presStyleCnt="3"/>
      <dgm:spPr/>
    </dgm:pt>
    <dgm:pt modelId="{BD9ED02E-F5A6-4266-AAC4-4FE854248F3E}" type="pres">
      <dgm:prSet presAssocID="{C4E8EC28-F83D-45D1-8B65-ACE03EBDD1CD}" presName="vert1" presStyleCnt="0"/>
      <dgm:spPr/>
    </dgm:pt>
  </dgm:ptLst>
  <dgm:cxnLst>
    <dgm:cxn modelId="{3154C505-1099-406A-ABDC-FA63E7F32A9F}" type="presOf" srcId="{8124B578-A847-4EF1-B9BA-42CAA83D3453}" destId="{80F0260F-EB5A-4A8A-9EDA-33906C27049F}" srcOrd="0" destOrd="0" presId="urn:microsoft.com/office/officeart/2008/layout/LinedList"/>
    <dgm:cxn modelId="{508D402F-3E14-44DA-9C95-64A7310463D8}" srcId="{3AECD964-B9F0-4005-B716-B9593250583B}" destId="{C4E8EC28-F83D-45D1-8B65-ACE03EBDD1CD}" srcOrd="2" destOrd="0" parTransId="{6EAF7DCC-4BC2-4DAE-A68C-0864F530C123}" sibTransId="{D99B11C9-2391-48CA-83A2-19B0F365343C}"/>
    <dgm:cxn modelId="{54E66C83-2CC1-4B1C-A2E5-90469C89331E}" srcId="{3AECD964-B9F0-4005-B716-B9593250583B}" destId="{DD1E25EC-C71D-416B-B206-174EBF9736B0}" srcOrd="0" destOrd="0" parTransId="{478A57F2-2AF3-447B-9C7B-EEB5B98DF018}" sibTransId="{5543C3FD-C8E7-4465-A2A7-731DB5DFBF0B}"/>
    <dgm:cxn modelId="{152A7FA0-8B5E-4E6D-BBA2-01136A99DF72}" type="presOf" srcId="{3AECD964-B9F0-4005-B716-B9593250583B}" destId="{448CF6EF-71E8-47A6-B75C-1C1CDE0BAEA4}" srcOrd="0" destOrd="0" presId="urn:microsoft.com/office/officeart/2008/layout/LinedList"/>
    <dgm:cxn modelId="{7AFBE4BA-9CCF-4D7A-9532-82A6C8A6A21D}" srcId="{3AECD964-B9F0-4005-B716-B9593250583B}" destId="{8124B578-A847-4EF1-B9BA-42CAA83D3453}" srcOrd="1" destOrd="0" parTransId="{D48E24B2-21B5-405E-B094-CE73CE7EB4BC}" sibTransId="{C236FCBA-8D47-4A99-8456-D2AF54A29F89}"/>
    <dgm:cxn modelId="{C4A2FAC7-DCF4-4017-84BC-D81CF19D2D21}" type="presOf" srcId="{DD1E25EC-C71D-416B-B206-174EBF9736B0}" destId="{51CA0F69-D3E9-4451-862E-A151A9083E1C}" srcOrd="0" destOrd="0" presId="urn:microsoft.com/office/officeart/2008/layout/LinedList"/>
    <dgm:cxn modelId="{03B33DEB-AC19-4AC6-8EAB-B1FCA4E1FAE0}" type="presOf" srcId="{C4E8EC28-F83D-45D1-8B65-ACE03EBDD1CD}" destId="{BA0B6969-0F8C-4BA0-9858-C7C6A9979C0B}" srcOrd="0" destOrd="0" presId="urn:microsoft.com/office/officeart/2008/layout/LinedList"/>
    <dgm:cxn modelId="{242F9B62-C157-4DB1-9168-F21734FCFE0F}" type="presParOf" srcId="{448CF6EF-71E8-47A6-B75C-1C1CDE0BAEA4}" destId="{5783222B-C95F-4F3D-B134-6D3F1ADDD1E6}" srcOrd="0" destOrd="0" presId="urn:microsoft.com/office/officeart/2008/layout/LinedList"/>
    <dgm:cxn modelId="{760D96A9-DE53-406B-8E93-6BD887080949}" type="presParOf" srcId="{448CF6EF-71E8-47A6-B75C-1C1CDE0BAEA4}" destId="{9C698DFB-1872-494B-A1C7-AEF4ABDD2C5A}" srcOrd="1" destOrd="0" presId="urn:microsoft.com/office/officeart/2008/layout/LinedList"/>
    <dgm:cxn modelId="{4A79677C-246B-4C4B-A29D-9C240353A3E0}" type="presParOf" srcId="{9C698DFB-1872-494B-A1C7-AEF4ABDD2C5A}" destId="{51CA0F69-D3E9-4451-862E-A151A9083E1C}" srcOrd="0" destOrd="0" presId="urn:microsoft.com/office/officeart/2008/layout/LinedList"/>
    <dgm:cxn modelId="{81A85A8F-F797-4870-B4CF-11AFFD2CD2CC}" type="presParOf" srcId="{9C698DFB-1872-494B-A1C7-AEF4ABDD2C5A}" destId="{32B200D2-A494-4F24-B976-8804F2F24934}" srcOrd="1" destOrd="0" presId="urn:microsoft.com/office/officeart/2008/layout/LinedList"/>
    <dgm:cxn modelId="{608B3343-AD10-48AF-AEBC-FDB3816C10A1}" type="presParOf" srcId="{448CF6EF-71E8-47A6-B75C-1C1CDE0BAEA4}" destId="{2F5777C5-9A1B-48B5-8B1F-14258ECD5D97}" srcOrd="2" destOrd="0" presId="urn:microsoft.com/office/officeart/2008/layout/LinedList"/>
    <dgm:cxn modelId="{CBDFE4AE-76AC-4F2C-BC17-F51F0007AFC9}" type="presParOf" srcId="{448CF6EF-71E8-47A6-B75C-1C1CDE0BAEA4}" destId="{BB687A8D-1922-49C1-BAFB-6586FD425A8E}" srcOrd="3" destOrd="0" presId="urn:microsoft.com/office/officeart/2008/layout/LinedList"/>
    <dgm:cxn modelId="{B34C9E5C-422B-4AEE-83B4-AC158D49473F}" type="presParOf" srcId="{BB687A8D-1922-49C1-BAFB-6586FD425A8E}" destId="{80F0260F-EB5A-4A8A-9EDA-33906C27049F}" srcOrd="0" destOrd="0" presId="urn:microsoft.com/office/officeart/2008/layout/LinedList"/>
    <dgm:cxn modelId="{5ED04F71-5BC3-403D-BE63-7C6F4777E309}" type="presParOf" srcId="{BB687A8D-1922-49C1-BAFB-6586FD425A8E}" destId="{641B77C2-652A-4118-97E5-2008B2FF0881}" srcOrd="1" destOrd="0" presId="urn:microsoft.com/office/officeart/2008/layout/LinedList"/>
    <dgm:cxn modelId="{392025B5-FC12-4351-B79C-25444BC38279}" type="presParOf" srcId="{448CF6EF-71E8-47A6-B75C-1C1CDE0BAEA4}" destId="{773352F1-D357-4F51-BB24-E9E53B62D3F2}" srcOrd="4" destOrd="0" presId="urn:microsoft.com/office/officeart/2008/layout/LinedList"/>
    <dgm:cxn modelId="{DFAAE6D2-A721-4D35-BC80-4C5CBE8368B8}" type="presParOf" srcId="{448CF6EF-71E8-47A6-B75C-1C1CDE0BAEA4}" destId="{DC3B160D-F8E3-4CD7-AD8B-5372539CD821}" srcOrd="5" destOrd="0" presId="urn:microsoft.com/office/officeart/2008/layout/LinedList"/>
    <dgm:cxn modelId="{8BDF579F-2396-4A82-90FB-6EF129855971}" type="presParOf" srcId="{DC3B160D-F8E3-4CD7-AD8B-5372539CD821}" destId="{BA0B6969-0F8C-4BA0-9858-C7C6A9979C0B}" srcOrd="0" destOrd="0" presId="urn:microsoft.com/office/officeart/2008/layout/LinedList"/>
    <dgm:cxn modelId="{71D8D7CE-62A2-47D2-AF7A-57154154B120}" type="presParOf" srcId="{DC3B160D-F8E3-4CD7-AD8B-5372539CD821}" destId="{BD9ED02E-F5A6-4266-AAC4-4FE854248F3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B9CF70-7C36-4856-BBA8-81573F79F97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DCD37C9-95CE-4B85-8847-569A80359522}">
      <dgm:prSet/>
      <dgm:spPr/>
      <dgm:t>
        <a:bodyPr/>
        <a:lstStyle/>
        <a:p>
          <a:r>
            <a:rPr lang="en-US" b="0" i="0" baseline="0" dirty="0"/>
            <a:t>Spatial multiplexing Mode</a:t>
          </a:r>
          <a:endParaRPr lang="en-US" dirty="0"/>
        </a:p>
      </dgm:t>
    </dgm:pt>
    <dgm:pt modelId="{15E8094F-3746-4BE5-B997-284D791701DA}" type="parTrans" cxnId="{79C815BC-037B-43C9-A535-FA842DE4D568}">
      <dgm:prSet/>
      <dgm:spPr/>
      <dgm:t>
        <a:bodyPr/>
        <a:lstStyle/>
        <a:p>
          <a:endParaRPr lang="en-US"/>
        </a:p>
      </dgm:t>
    </dgm:pt>
    <dgm:pt modelId="{FD6577B5-17E1-40A5-9264-CB80849A5B49}" type="sibTrans" cxnId="{79C815BC-037B-43C9-A535-FA842DE4D568}">
      <dgm:prSet/>
      <dgm:spPr/>
      <dgm:t>
        <a:bodyPr/>
        <a:lstStyle/>
        <a:p>
          <a:endParaRPr lang="en-US"/>
        </a:p>
      </dgm:t>
    </dgm:pt>
    <dgm:pt modelId="{DF7F7958-76B6-44BC-AF29-05074FAB9EAB}">
      <dgm:prSet/>
      <dgm:spPr/>
      <dgm:t>
        <a:bodyPr/>
        <a:lstStyle/>
        <a:p>
          <a:r>
            <a:rPr lang="en-US" b="0" i="0" baseline="0" dirty="0"/>
            <a:t>Diversity Mode</a:t>
          </a:r>
          <a:endParaRPr lang="en-US" dirty="0"/>
        </a:p>
      </dgm:t>
    </dgm:pt>
    <dgm:pt modelId="{E5F6D7A3-5A4E-4B25-A888-65FD7BA35DC1}" type="parTrans" cxnId="{6689A5EC-B4CF-4641-9177-2EF0DABED82C}">
      <dgm:prSet/>
      <dgm:spPr/>
      <dgm:t>
        <a:bodyPr/>
        <a:lstStyle/>
        <a:p>
          <a:endParaRPr lang="en-US"/>
        </a:p>
      </dgm:t>
    </dgm:pt>
    <dgm:pt modelId="{65D1B084-237D-4479-A958-2192746089F7}" type="sibTrans" cxnId="{6689A5EC-B4CF-4641-9177-2EF0DABED82C}">
      <dgm:prSet/>
      <dgm:spPr/>
      <dgm:t>
        <a:bodyPr/>
        <a:lstStyle/>
        <a:p>
          <a:endParaRPr lang="en-US"/>
        </a:p>
      </dgm:t>
    </dgm:pt>
    <dgm:pt modelId="{87E6036E-4878-4BE0-A0EC-F2DEE96E3B3B}">
      <dgm:prSet/>
      <dgm:spPr/>
      <dgm:t>
        <a:bodyPr/>
        <a:lstStyle/>
        <a:p>
          <a:r>
            <a:rPr lang="en-US" b="0" i="0" baseline="0" dirty="0"/>
            <a:t>Beamforming/ Array Angle Mode</a:t>
          </a:r>
          <a:endParaRPr lang="en-US" dirty="0"/>
        </a:p>
      </dgm:t>
    </dgm:pt>
    <dgm:pt modelId="{A7D6B7E1-4AF5-4C69-8A6E-B4DF65702897}" type="parTrans" cxnId="{30E47E9D-750A-493C-87CB-41FEBC2CA3CA}">
      <dgm:prSet/>
      <dgm:spPr/>
      <dgm:t>
        <a:bodyPr/>
        <a:lstStyle/>
        <a:p>
          <a:endParaRPr lang="en-US"/>
        </a:p>
      </dgm:t>
    </dgm:pt>
    <dgm:pt modelId="{107BEB3E-6E92-4FDC-9E9C-435D03F479DD}" type="sibTrans" cxnId="{30E47E9D-750A-493C-87CB-41FEBC2CA3CA}">
      <dgm:prSet/>
      <dgm:spPr/>
      <dgm:t>
        <a:bodyPr/>
        <a:lstStyle/>
        <a:p>
          <a:endParaRPr lang="en-US"/>
        </a:p>
      </dgm:t>
    </dgm:pt>
    <dgm:pt modelId="{B1D29F4B-3B5A-4669-A0C1-0F29DEB05757}" type="pres">
      <dgm:prSet presAssocID="{16B9CF70-7C36-4856-BBA8-81573F79F974}" presName="root" presStyleCnt="0">
        <dgm:presLayoutVars>
          <dgm:dir/>
          <dgm:resizeHandles val="exact"/>
        </dgm:presLayoutVars>
      </dgm:prSet>
      <dgm:spPr/>
    </dgm:pt>
    <dgm:pt modelId="{F3D1D8B0-3A45-4AEA-B3C7-198ADE641B77}" type="pres">
      <dgm:prSet presAssocID="{6DCD37C9-95CE-4B85-8847-569A80359522}" presName="compNode" presStyleCnt="0"/>
      <dgm:spPr/>
    </dgm:pt>
    <dgm:pt modelId="{0A57A6E9-7F84-41D9-B38F-54A4D58C4883}" type="pres">
      <dgm:prSet presAssocID="{6DCD37C9-95CE-4B85-8847-569A80359522}" presName="bgRect" presStyleLbl="bgShp" presStyleIdx="0" presStyleCnt="3"/>
      <dgm:spPr/>
    </dgm:pt>
    <dgm:pt modelId="{22740565-F702-4B15-A66E-E6F4ED16DCC4}" type="pres">
      <dgm:prSet presAssocID="{6DCD37C9-95CE-4B85-8847-569A8035952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084FD814-5759-4E4E-B109-E23EAA4D3249}" type="pres">
      <dgm:prSet presAssocID="{6DCD37C9-95CE-4B85-8847-569A80359522}" presName="spaceRect" presStyleCnt="0"/>
      <dgm:spPr/>
    </dgm:pt>
    <dgm:pt modelId="{D39AF64D-F791-406C-86EB-15C958ABA7D9}" type="pres">
      <dgm:prSet presAssocID="{6DCD37C9-95CE-4B85-8847-569A80359522}" presName="parTx" presStyleLbl="revTx" presStyleIdx="0" presStyleCnt="3">
        <dgm:presLayoutVars>
          <dgm:chMax val="0"/>
          <dgm:chPref val="0"/>
        </dgm:presLayoutVars>
      </dgm:prSet>
      <dgm:spPr/>
    </dgm:pt>
    <dgm:pt modelId="{9F6F7888-6795-4957-8B12-1C599B04DF55}" type="pres">
      <dgm:prSet presAssocID="{FD6577B5-17E1-40A5-9264-CB80849A5B49}" presName="sibTrans" presStyleCnt="0"/>
      <dgm:spPr/>
    </dgm:pt>
    <dgm:pt modelId="{97C9D3F0-9030-4555-B4A8-55313572CE10}" type="pres">
      <dgm:prSet presAssocID="{DF7F7958-76B6-44BC-AF29-05074FAB9EAB}" presName="compNode" presStyleCnt="0"/>
      <dgm:spPr/>
    </dgm:pt>
    <dgm:pt modelId="{E412A3F9-F5E1-4CCD-88CF-7925EEFEB6DF}" type="pres">
      <dgm:prSet presAssocID="{DF7F7958-76B6-44BC-AF29-05074FAB9EAB}" presName="bgRect" presStyleLbl="bgShp" presStyleIdx="1" presStyleCnt="3"/>
      <dgm:spPr/>
    </dgm:pt>
    <dgm:pt modelId="{87EA9D8B-918A-4254-8B5C-561D122EBCA5}" type="pres">
      <dgm:prSet presAssocID="{DF7F7958-76B6-44BC-AF29-05074FAB9EA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8F73D9DE-99FF-4107-90AF-AD929515F116}" type="pres">
      <dgm:prSet presAssocID="{DF7F7958-76B6-44BC-AF29-05074FAB9EAB}" presName="spaceRect" presStyleCnt="0"/>
      <dgm:spPr/>
    </dgm:pt>
    <dgm:pt modelId="{0C0FA4E4-DAFA-43D8-8357-2EF30E3A0350}" type="pres">
      <dgm:prSet presAssocID="{DF7F7958-76B6-44BC-AF29-05074FAB9EAB}" presName="parTx" presStyleLbl="revTx" presStyleIdx="1" presStyleCnt="3">
        <dgm:presLayoutVars>
          <dgm:chMax val="0"/>
          <dgm:chPref val="0"/>
        </dgm:presLayoutVars>
      </dgm:prSet>
      <dgm:spPr/>
    </dgm:pt>
    <dgm:pt modelId="{26BE1448-407F-4913-A535-58CF0A86B401}" type="pres">
      <dgm:prSet presAssocID="{65D1B084-237D-4479-A958-2192746089F7}" presName="sibTrans" presStyleCnt="0"/>
      <dgm:spPr/>
    </dgm:pt>
    <dgm:pt modelId="{7AFCFDDC-66E6-455D-B29D-FDE98C7C7F73}" type="pres">
      <dgm:prSet presAssocID="{87E6036E-4878-4BE0-A0EC-F2DEE96E3B3B}" presName="compNode" presStyleCnt="0"/>
      <dgm:spPr/>
    </dgm:pt>
    <dgm:pt modelId="{E74EB225-4790-42D2-A022-B2CAB644BFFE}" type="pres">
      <dgm:prSet presAssocID="{87E6036E-4878-4BE0-A0EC-F2DEE96E3B3B}" presName="bgRect" presStyleLbl="bgShp" presStyleIdx="2" presStyleCnt="3"/>
      <dgm:spPr/>
    </dgm:pt>
    <dgm:pt modelId="{6992B7BE-1DE8-4FB6-8F0C-0B5CB2CC1FDE}" type="pres">
      <dgm:prSet presAssocID="{87E6036E-4878-4BE0-A0EC-F2DEE96E3B3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bulb"/>
        </a:ext>
      </dgm:extLst>
    </dgm:pt>
    <dgm:pt modelId="{A4249AB0-3C68-4772-BC9A-871ACCDEC7A7}" type="pres">
      <dgm:prSet presAssocID="{87E6036E-4878-4BE0-A0EC-F2DEE96E3B3B}" presName="spaceRect" presStyleCnt="0"/>
      <dgm:spPr/>
    </dgm:pt>
    <dgm:pt modelId="{218BDA0F-8FB4-480E-AF00-D3E24BC3E4ED}" type="pres">
      <dgm:prSet presAssocID="{87E6036E-4878-4BE0-A0EC-F2DEE96E3B3B}" presName="parTx" presStyleLbl="revTx" presStyleIdx="2" presStyleCnt="3">
        <dgm:presLayoutVars>
          <dgm:chMax val="0"/>
          <dgm:chPref val="0"/>
        </dgm:presLayoutVars>
      </dgm:prSet>
      <dgm:spPr/>
    </dgm:pt>
  </dgm:ptLst>
  <dgm:cxnLst>
    <dgm:cxn modelId="{24D7DD00-4917-4BEE-A22A-421147747A6D}" type="presOf" srcId="{DF7F7958-76B6-44BC-AF29-05074FAB9EAB}" destId="{0C0FA4E4-DAFA-43D8-8357-2EF30E3A0350}" srcOrd="0" destOrd="0" presId="urn:microsoft.com/office/officeart/2018/2/layout/IconVerticalSolidList"/>
    <dgm:cxn modelId="{0B540F0D-FBD7-426B-A51B-D6EA6B7110F9}" type="presOf" srcId="{87E6036E-4878-4BE0-A0EC-F2DEE96E3B3B}" destId="{218BDA0F-8FB4-480E-AF00-D3E24BC3E4ED}" srcOrd="0" destOrd="0" presId="urn:microsoft.com/office/officeart/2018/2/layout/IconVerticalSolidList"/>
    <dgm:cxn modelId="{30E47E9D-750A-493C-87CB-41FEBC2CA3CA}" srcId="{16B9CF70-7C36-4856-BBA8-81573F79F974}" destId="{87E6036E-4878-4BE0-A0EC-F2DEE96E3B3B}" srcOrd="2" destOrd="0" parTransId="{A7D6B7E1-4AF5-4C69-8A6E-B4DF65702897}" sibTransId="{107BEB3E-6E92-4FDC-9E9C-435D03F479DD}"/>
    <dgm:cxn modelId="{79C815BC-037B-43C9-A535-FA842DE4D568}" srcId="{16B9CF70-7C36-4856-BBA8-81573F79F974}" destId="{6DCD37C9-95CE-4B85-8847-569A80359522}" srcOrd="0" destOrd="0" parTransId="{15E8094F-3746-4BE5-B997-284D791701DA}" sibTransId="{FD6577B5-17E1-40A5-9264-CB80849A5B49}"/>
    <dgm:cxn modelId="{DA985CC2-6C9D-406F-AE0F-E75D52483D20}" type="presOf" srcId="{6DCD37C9-95CE-4B85-8847-569A80359522}" destId="{D39AF64D-F791-406C-86EB-15C958ABA7D9}" srcOrd="0" destOrd="0" presId="urn:microsoft.com/office/officeart/2018/2/layout/IconVerticalSolidList"/>
    <dgm:cxn modelId="{16FE3AC8-2AD8-477A-A702-E712F1AE617B}" type="presOf" srcId="{16B9CF70-7C36-4856-BBA8-81573F79F974}" destId="{B1D29F4B-3B5A-4669-A0C1-0F29DEB05757}" srcOrd="0" destOrd="0" presId="urn:microsoft.com/office/officeart/2018/2/layout/IconVerticalSolidList"/>
    <dgm:cxn modelId="{6689A5EC-B4CF-4641-9177-2EF0DABED82C}" srcId="{16B9CF70-7C36-4856-BBA8-81573F79F974}" destId="{DF7F7958-76B6-44BC-AF29-05074FAB9EAB}" srcOrd="1" destOrd="0" parTransId="{E5F6D7A3-5A4E-4B25-A888-65FD7BA35DC1}" sibTransId="{65D1B084-237D-4479-A958-2192746089F7}"/>
    <dgm:cxn modelId="{B2023A27-7986-4286-B81A-7ED11A04CC1A}" type="presParOf" srcId="{B1D29F4B-3B5A-4669-A0C1-0F29DEB05757}" destId="{F3D1D8B0-3A45-4AEA-B3C7-198ADE641B77}" srcOrd="0" destOrd="0" presId="urn:microsoft.com/office/officeart/2018/2/layout/IconVerticalSolidList"/>
    <dgm:cxn modelId="{AB2C1121-956F-42C7-809D-A6C5448E0EEE}" type="presParOf" srcId="{F3D1D8B0-3A45-4AEA-B3C7-198ADE641B77}" destId="{0A57A6E9-7F84-41D9-B38F-54A4D58C4883}" srcOrd="0" destOrd="0" presId="urn:microsoft.com/office/officeart/2018/2/layout/IconVerticalSolidList"/>
    <dgm:cxn modelId="{4ABB7D96-8A2B-4048-9251-38AC1BF832C0}" type="presParOf" srcId="{F3D1D8B0-3A45-4AEA-B3C7-198ADE641B77}" destId="{22740565-F702-4B15-A66E-E6F4ED16DCC4}" srcOrd="1" destOrd="0" presId="urn:microsoft.com/office/officeart/2018/2/layout/IconVerticalSolidList"/>
    <dgm:cxn modelId="{7785BDF6-8CEB-4B41-A59B-2B51267D4CAF}" type="presParOf" srcId="{F3D1D8B0-3A45-4AEA-B3C7-198ADE641B77}" destId="{084FD814-5759-4E4E-B109-E23EAA4D3249}" srcOrd="2" destOrd="0" presId="urn:microsoft.com/office/officeart/2018/2/layout/IconVerticalSolidList"/>
    <dgm:cxn modelId="{0A0EDB51-9892-4F3B-B74D-2ED2803D0AD7}" type="presParOf" srcId="{F3D1D8B0-3A45-4AEA-B3C7-198ADE641B77}" destId="{D39AF64D-F791-406C-86EB-15C958ABA7D9}" srcOrd="3" destOrd="0" presId="urn:microsoft.com/office/officeart/2018/2/layout/IconVerticalSolidList"/>
    <dgm:cxn modelId="{2F7E9344-514A-417A-99FC-10153D79AE14}" type="presParOf" srcId="{B1D29F4B-3B5A-4669-A0C1-0F29DEB05757}" destId="{9F6F7888-6795-4957-8B12-1C599B04DF55}" srcOrd="1" destOrd="0" presId="urn:microsoft.com/office/officeart/2018/2/layout/IconVerticalSolidList"/>
    <dgm:cxn modelId="{011EB127-2192-4F77-90F7-7C5681BB48BE}" type="presParOf" srcId="{B1D29F4B-3B5A-4669-A0C1-0F29DEB05757}" destId="{97C9D3F0-9030-4555-B4A8-55313572CE10}" srcOrd="2" destOrd="0" presId="urn:microsoft.com/office/officeart/2018/2/layout/IconVerticalSolidList"/>
    <dgm:cxn modelId="{5799BFD9-46FB-44A7-A243-6D11D2630BEC}" type="presParOf" srcId="{97C9D3F0-9030-4555-B4A8-55313572CE10}" destId="{E412A3F9-F5E1-4CCD-88CF-7925EEFEB6DF}" srcOrd="0" destOrd="0" presId="urn:microsoft.com/office/officeart/2018/2/layout/IconVerticalSolidList"/>
    <dgm:cxn modelId="{48DC350C-7C51-4F78-8991-1F84CD22C9DD}" type="presParOf" srcId="{97C9D3F0-9030-4555-B4A8-55313572CE10}" destId="{87EA9D8B-918A-4254-8B5C-561D122EBCA5}" srcOrd="1" destOrd="0" presId="urn:microsoft.com/office/officeart/2018/2/layout/IconVerticalSolidList"/>
    <dgm:cxn modelId="{F2A18368-6A25-4B98-8597-FB5D782AEDD6}" type="presParOf" srcId="{97C9D3F0-9030-4555-B4A8-55313572CE10}" destId="{8F73D9DE-99FF-4107-90AF-AD929515F116}" srcOrd="2" destOrd="0" presId="urn:microsoft.com/office/officeart/2018/2/layout/IconVerticalSolidList"/>
    <dgm:cxn modelId="{09CC68F6-3793-45F2-9996-26784BB12E1C}" type="presParOf" srcId="{97C9D3F0-9030-4555-B4A8-55313572CE10}" destId="{0C0FA4E4-DAFA-43D8-8357-2EF30E3A0350}" srcOrd="3" destOrd="0" presId="urn:microsoft.com/office/officeart/2018/2/layout/IconVerticalSolidList"/>
    <dgm:cxn modelId="{BFAD62D7-6D6B-42F1-AE2C-A9B608D2DC5D}" type="presParOf" srcId="{B1D29F4B-3B5A-4669-A0C1-0F29DEB05757}" destId="{26BE1448-407F-4913-A535-58CF0A86B401}" srcOrd="3" destOrd="0" presId="urn:microsoft.com/office/officeart/2018/2/layout/IconVerticalSolidList"/>
    <dgm:cxn modelId="{3EC9FA6C-59B8-4783-9D19-392AABC6D5A9}" type="presParOf" srcId="{B1D29F4B-3B5A-4669-A0C1-0F29DEB05757}" destId="{7AFCFDDC-66E6-455D-B29D-FDE98C7C7F73}" srcOrd="4" destOrd="0" presId="urn:microsoft.com/office/officeart/2018/2/layout/IconVerticalSolidList"/>
    <dgm:cxn modelId="{4C3B83FF-A6E7-46F4-A1AD-5CF0D9A46AE7}" type="presParOf" srcId="{7AFCFDDC-66E6-455D-B29D-FDE98C7C7F73}" destId="{E74EB225-4790-42D2-A022-B2CAB644BFFE}" srcOrd="0" destOrd="0" presId="urn:microsoft.com/office/officeart/2018/2/layout/IconVerticalSolidList"/>
    <dgm:cxn modelId="{0103187E-0338-40B0-B0FA-B681203D0FE1}" type="presParOf" srcId="{7AFCFDDC-66E6-455D-B29D-FDE98C7C7F73}" destId="{6992B7BE-1DE8-4FB6-8F0C-0B5CB2CC1FDE}" srcOrd="1" destOrd="0" presId="urn:microsoft.com/office/officeart/2018/2/layout/IconVerticalSolidList"/>
    <dgm:cxn modelId="{546FC2B5-0A1D-4742-9BA9-0AE32BF8823E}" type="presParOf" srcId="{7AFCFDDC-66E6-455D-B29D-FDE98C7C7F73}" destId="{A4249AB0-3C68-4772-BC9A-871ACCDEC7A7}" srcOrd="2" destOrd="0" presId="urn:microsoft.com/office/officeart/2018/2/layout/IconVerticalSolidList"/>
    <dgm:cxn modelId="{A2471CE6-7940-47BB-8D11-8FAF3631CCFB}" type="presParOf" srcId="{7AFCFDDC-66E6-455D-B29D-FDE98C7C7F73}" destId="{218BDA0F-8FB4-480E-AF00-D3E24BC3E4E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E64C2C-8C30-460E-B83F-E14932D16C79}"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D737B630-87AF-438F-8953-60FBC201EAA7}">
      <dgm:prSet/>
      <dgm:spPr/>
      <dgm:t>
        <a:bodyPr/>
        <a:lstStyle/>
        <a:p>
          <a:r>
            <a:rPr lang="en-US" b="1"/>
            <a:t>Receive diversity</a:t>
          </a:r>
          <a:endParaRPr lang="en-US"/>
        </a:p>
      </dgm:t>
    </dgm:pt>
    <dgm:pt modelId="{C843D4EF-A6D1-4F17-B6EE-72EC8E8CAB1C}" type="parTrans" cxnId="{4DC32F76-BAB2-48CB-9065-BF5ABBA6929C}">
      <dgm:prSet/>
      <dgm:spPr/>
      <dgm:t>
        <a:bodyPr/>
        <a:lstStyle/>
        <a:p>
          <a:endParaRPr lang="en-US"/>
        </a:p>
      </dgm:t>
    </dgm:pt>
    <dgm:pt modelId="{C016047F-1DDE-442D-AEAB-EB7AD517F1D1}" type="sibTrans" cxnId="{4DC32F76-BAB2-48CB-9065-BF5ABBA6929C}">
      <dgm:prSet/>
      <dgm:spPr/>
      <dgm:t>
        <a:bodyPr/>
        <a:lstStyle/>
        <a:p>
          <a:endParaRPr lang="en-US"/>
        </a:p>
      </dgm:t>
    </dgm:pt>
    <dgm:pt modelId="{F5DE2A04-71E5-4BB0-A94E-6B7DD2C35281}">
      <dgm:prSet/>
      <dgm:spPr/>
      <dgm:t>
        <a:bodyPr/>
        <a:lstStyle/>
        <a:p>
          <a:r>
            <a:rPr lang="en-US" dirty="0"/>
            <a:t>Selection Combining (SC)</a:t>
          </a:r>
        </a:p>
      </dgm:t>
    </dgm:pt>
    <dgm:pt modelId="{42AE823F-3E1E-4C14-98EE-EF05956B3688}" type="parTrans" cxnId="{B883F334-619B-43DB-BD22-146ABC141ACB}">
      <dgm:prSet/>
      <dgm:spPr/>
      <dgm:t>
        <a:bodyPr/>
        <a:lstStyle/>
        <a:p>
          <a:endParaRPr lang="en-US"/>
        </a:p>
      </dgm:t>
    </dgm:pt>
    <dgm:pt modelId="{EF2241D7-7CE0-405E-A098-38CC0D1DDC62}" type="sibTrans" cxnId="{B883F334-619B-43DB-BD22-146ABC141ACB}">
      <dgm:prSet/>
      <dgm:spPr/>
      <dgm:t>
        <a:bodyPr/>
        <a:lstStyle/>
        <a:p>
          <a:endParaRPr lang="en-US"/>
        </a:p>
      </dgm:t>
    </dgm:pt>
    <dgm:pt modelId="{7CE34013-4145-4C34-807E-825345370668}">
      <dgm:prSet/>
      <dgm:spPr/>
      <dgm:t>
        <a:bodyPr/>
        <a:lstStyle/>
        <a:p>
          <a:r>
            <a:rPr lang="en-US" dirty="0"/>
            <a:t>Equal Gain Combining (EGC)</a:t>
          </a:r>
        </a:p>
      </dgm:t>
    </dgm:pt>
    <dgm:pt modelId="{0F596F58-57B2-49B9-B622-26CA7F8E3BBD}" type="parTrans" cxnId="{DB999602-259F-48F6-B10C-88040B001608}">
      <dgm:prSet/>
      <dgm:spPr/>
      <dgm:t>
        <a:bodyPr/>
        <a:lstStyle/>
        <a:p>
          <a:endParaRPr lang="en-US"/>
        </a:p>
      </dgm:t>
    </dgm:pt>
    <dgm:pt modelId="{399A419F-035B-497E-A70B-06518154C59E}" type="sibTrans" cxnId="{DB999602-259F-48F6-B10C-88040B001608}">
      <dgm:prSet/>
      <dgm:spPr/>
      <dgm:t>
        <a:bodyPr/>
        <a:lstStyle/>
        <a:p>
          <a:endParaRPr lang="en-US"/>
        </a:p>
      </dgm:t>
    </dgm:pt>
    <dgm:pt modelId="{C6308BE8-2209-485C-8962-1AC2FB67AF1D}">
      <dgm:prSet/>
      <dgm:spPr/>
      <dgm:t>
        <a:bodyPr/>
        <a:lstStyle/>
        <a:p>
          <a:r>
            <a:rPr lang="en-US"/>
            <a:t>Maximum Ratio Combining (MRC)</a:t>
          </a:r>
        </a:p>
      </dgm:t>
    </dgm:pt>
    <dgm:pt modelId="{526EA59F-85C2-4159-8764-0C36574D7781}" type="parTrans" cxnId="{2B96456B-4263-4E37-97B2-125290C9B8DD}">
      <dgm:prSet/>
      <dgm:spPr/>
      <dgm:t>
        <a:bodyPr/>
        <a:lstStyle/>
        <a:p>
          <a:endParaRPr lang="en-US"/>
        </a:p>
      </dgm:t>
    </dgm:pt>
    <dgm:pt modelId="{DEB67AE3-1BB4-4925-8EDA-7F77875D1C22}" type="sibTrans" cxnId="{2B96456B-4263-4E37-97B2-125290C9B8DD}">
      <dgm:prSet/>
      <dgm:spPr/>
      <dgm:t>
        <a:bodyPr/>
        <a:lstStyle/>
        <a:p>
          <a:endParaRPr lang="en-US"/>
        </a:p>
      </dgm:t>
    </dgm:pt>
    <dgm:pt modelId="{D83DBE54-4C28-4EDF-AAB8-3B8659AA7479}">
      <dgm:prSet/>
      <dgm:spPr/>
      <dgm:t>
        <a:bodyPr/>
        <a:lstStyle/>
        <a:p>
          <a:r>
            <a:rPr lang="en-US" b="1"/>
            <a:t>Transmit diversity</a:t>
          </a:r>
          <a:endParaRPr lang="en-US"/>
        </a:p>
      </dgm:t>
    </dgm:pt>
    <dgm:pt modelId="{2AB43247-6E07-4136-86D1-E34E941888F7}" type="parTrans" cxnId="{BBD5F20F-694E-4A7F-A2B3-D2C683AAB9D9}">
      <dgm:prSet/>
      <dgm:spPr/>
      <dgm:t>
        <a:bodyPr/>
        <a:lstStyle/>
        <a:p>
          <a:endParaRPr lang="en-US"/>
        </a:p>
      </dgm:t>
    </dgm:pt>
    <dgm:pt modelId="{F14328DD-3F8B-40A3-982A-C9EC928732A0}" type="sibTrans" cxnId="{BBD5F20F-694E-4A7F-A2B3-D2C683AAB9D9}">
      <dgm:prSet/>
      <dgm:spPr/>
      <dgm:t>
        <a:bodyPr/>
        <a:lstStyle/>
        <a:p>
          <a:endParaRPr lang="en-US"/>
        </a:p>
      </dgm:t>
    </dgm:pt>
    <dgm:pt modelId="{5103249C-AB76-4BF2-A01C-63FD4C24E5D2}">
      <dgm:prSet/>
      <dgm:spPr/>
      <dgm:t>
        <a:bodyPr/>
        <a:lstStyle/>
        <a:p>
          <a:r>
            <a:rPr lang="en-US"/>
            <a:t>STBC</a:t>
          </a:r>
        </a:p>
      </dgm:t>
    </dgm:pt>
    <dgm:pt modelId="{4F210C5E-A93E-4337-A2CA-CE9E77E117C5}" type="parTrans" cxnId="{D6A4F8C5-3CEC-4ABC-BBFD-A2E26AACBDD5}">
      <dgm:prSet/>
      <dgm:spPr/>
      <dgm:t>
        <a:bodyPr/>
        <a:lstStyle/>
        <a:p>
          <a:endParaRPr lang="en-US"/>
        </a:p>
      </dgm:t>
    </dgm:pt>
    <dgm:pt modelId="{3D64369E-452F-426D-B7CC-7709E2BAE784}" type="sibTrans" cxnId="{D6A4F8C5-3CEC-4ABC-BBFD-A2E26AACBDD5}">
      <dgm:prSet/>
      <dgm:spPr/>
      <dgm:t>
        <a:bodyPr/>
        <a:lstStyle/>
        <a:p>
          <a:endParaRPr lang="en-US"/>
        </a:p>
      </dgm:t>
    </dgm:pt>
    <dgm:pt modelId="{A916B668-2B35-404D-B893-AFFB17F76A00}" type="pres">
      <dgm:prSet presAssocID="{AAE64C2C-8C30-460E-B83F-E14932D16C79}" presName="linear" presStyleCnt="0">
        <dgm:presLayoutVars>
          <dgm:dir/>
          <dgm:animLvl val="lvl"/>
          <dgm:resizeHandles val="exact"/>
        </dgm:presLayoutVars>
      </dgm:prSet>
      <dgm:spPr/>
    </dgm:pt>
    <dgm:pt modelId="{01C6B301-7134-4EE2-871C-70FC54E46D15}" type="pres">
      <dgm:prSet presAssocID="{D737B630-87AF-438F-8953-60FBC201EAA7}" presName="parentLin" presStyleCnt="0"/>
      <dgm:spPr/>
    </dgm:pt>
    <dgm:pt modelId="{2DD028F4-D010-44B3-8529-2CC27D2D3912}" type="pres">
      <dgm:prSet presAssocID="{D737B630-87AF-438F-8953-60FBC201EAA7}" presName="parentLeftMargin" presStyleLbl="node1" presStyleIdx="0" presStyleCnt="2"/>
      <dgm:spPr/>
    </dgm:pt>
    <dgm:pt modelId="{A72ECA9B-C90F-49C3-A973-CA833639A1C7}" type="pres">
      <dgm:prSet presAssocID="{D737B630-87AF-438F-8953-60FBC201EAA7}" presName="parentText" presStyleLbl="node1" presStyleIdx="0" presStyleCnt="2">
        <dgm:presLayoutVars>
          <dgm:chMax val="0"/>
          <dgm:bulletEnabled val="1"/>
        </dgm:presLayoutVars>
      </dgm:prSet>
      <dgm:spPr/>
    </dgm:pt>
    <dgm:pt modelId="{491722FF-7D93-4DA2-96EE-B707FAFFC37D}" type="pres">
      <dgm:prSet presAssocID="{D737B630-87AF-438F-8953-60FBC201EAA7}" presName="negativeSpace" presStyleCnt="0"/>
      <dgm:spPr/>
    </dgm:pt>
    <dgm:pt modelId="{3FE3EE67-50DE-4E84-8E32-33A8D400E96F}" type="pres">
      <dgm:prSet presAssocID="{D737B630-87AF-438F-8953-60FBC201EAA7}" presName="childText" presStyleLbl="conFgAcc1" presStyleIdx="0" presStyleCnt="2">
        <dgm:presLayoutVars>
          <dgm:bulletEnabled val="1"/>
        </dgm:presLayoutVars>
      </dgm:prSet>
      <dgm:spPr/>
    </dgm:pt>
    <dgm:pt modelId="{D22AF411-709A-4846-A7B8-8A660E146A90}" type="pres">
      <dgm:prSet presAssocID="{C016047F-1DDE-442D-AEAB-EB7AD517F1D1}" presName="spaceBetweenRectangles" presStyleCnt="0"/>
      <dgm:spPr/>
    </dgm:pt>
    <dgm:pt modelId="{F239BE67-C2B5-4CA9-BF34-D6920DD1691A}" type="pres">
      <dgm:prSet presAssocID="{D83DBE54-4C28-4EDF-AAB8-3B8659AA7479}" presName="parentLin" presStyleCnt="0"/>
      <dgm:spPr/>
    </dgm:pt>
    <dgm:pt modelId="{F10839F2-4B9E-43D7-905E-76ED2DA32FC9}" type="pres">
      <dgm:prSet presAssocID="{D83DBE54-4C28-4EDF-AAB8-3B8659AA7479}" presName="parentLeftMargin" presStyleLbl="node1" presStyleIdx="0" presStyleCnt="2"/>
      <dgm:spPr/>
    </dgm:pt>
    <dgm:pt modelId="{2F8CC342-7B90-43BA-BCF3-42A51DAAAF07}" type="pres">
      <dgm:prSet presAssocID="{D83DBE54-4C28-4EDF-AAB8-3B8659AA7479}" presName="parentText" presStyleLbl="node1" presStyleIdx="1" presStyleCnt="2">
        <dgm:presLayoutVars>
          <dgm:chMax val="0"/>
          <dgm:bulletEnabled val="1"/>
        </dgm:presLayoutVars>
      </dgm:prSet>
      <dgm:spPr/>
    </dgm:pt>
    <dgm:pt modelId="{E5B74AD8-B865-49E0-83A3-835EB31DF495}" type="pres">
      <dgm:prSet presAssocID="{D83DBE54-4C28-4EDF-AAB8-3B8659AA7479}" presName="negativeSpace" presStyleCnt="0"/>
      <dgm:spPr/>
    </dgm:pt>
    <dgm:pt modelId="{5A0AB0EE-11C2-42A5-AD4C-C3E9360C7CDD}" type="pres">
      <dgm:prSet presAssocID="{D83DBE54-4C28-4EDF-AAB8-3B8659AA7479}" presName="childText" presStyleLbl="conFgAcc1" presStyleIdx="1" presStyleCnt="2">
        <dgm:presLayoutVars>
          <dgm:bulletEnabled val="1"/>
        </dgm:presLayoutVars>
      </dgm:prSet>
      <dgm:spPr/>
    </dgm:pt>
  </dgm:ptLst>
  <dgm:cxnLst>
    <dgm:cxn modelId="{DB999602-259F-48F6-B10C-88040B001608}" srcId="{D737B630-87AF-438F-8953-60FBC201EAA7}" destId="{7CE34013-4145-4C34-807E-825345370668}" srcOrd="1" destOrd="0" parTransId="{0F596F58-57B2-49B9-B622-26CA7F8E3BBD}" sibTransId="{399A419F-035B-497E-A70B-06518154C59E}"/>
    <dgm:cxn modelId="{BBD5F20F-694E-4A7F-A2B3-D2C683AAB9D9}" srcId="{AAE64C2C-8C30-460E-B83F-E14932D16C79}" destId="{D83DBE54-4C28-4EDF-AAB8-3B8659AA7479}" srcOrd="1" destOrd="0" parTransId="{2AB43247-6E07-4136-86D1-E34E941888F7}" sibTransId="{F14328DD-3F8B-40A3-982A-C9EC928732A0}"/>
    <dgm:cxn modelId="{85956A1B-49E5-4908-8656-FE91F031E596}" type="presOf" srcId="{D83DBE54-4C28-4EDF-AAB8-3B8659AA7479}" destId="{F10839F2-4B9E-43D7-905E-76ED2DA32FC9}" srcOrd="0" destOrd="0" presId="urn:microsoft.com/office/officeart/2005/8/layout/list1"/>
    <dgm:cxn modelId="{B883F334-619B-43DB-BD22-146ABC141ACB}" srcId="{D737B630-87AF-438F-8953-60FBC201EAA7}" destId="{F5DE2A04-71E5-4BB0-A94E-6B7DD2C35281}" srcOrd="0" destOrd="0" parTransId="{42AE823F-3E1E-4C14-98EE-EF05956B3688}" sibTransId="{EF2241D7-7CE0-405E-A098-38CC0D1DDC62}"/>
    <dgm:cxn modelId="{00F4764A-FC92-4023-9D18-65019C051FB8}" type="presOf" srcId="{F5DE2A04-71E5-4BB0-A94E-6B7DD2C35281}" destId="{3FE3EE67-50DE-4E84-8E32-33A8D400E96F}" srcOrd="0" destOrd="0" presId="urn:microsoft.com/office/officeart/2005/8/layout/list1"/>
    <dgm:cxn modelId="{2B96456B-4263-4E37-97B2-125290C9B8DD}" srcId="{D737B630-87AF-438F-8953-60FBC201EAA7}" destId="{C6308BE8-2209-485C-8962-1AC2FB67AF1D}" srcOrd="2" destOrd="0" parTransId="{526EA59F-85C2-4159-8764-0C36574D7781}" sibTransId="{DEB67AE3-1BB4-4925-8EDA-7F77875D1C22}"/>
    <dgm:cxn modelId="{4DC32F76-BAB2-48CB-9065-BF5ABBA6929C}" srcId="{AAE64C2C-8C30-460E-B83F-E14932D16C79}" destId="{D737B630-87AF-438F-8953-60FBC201EAA7}" srcOrd="0" destOrd="0" parTransId="{C843D4EF-A6D1-4F17-B6EE-72EC8E8CAB1C}" sibTransId="{C016047F-1DDE-442D-AEAB-EB7AD517F1D1}"/>
    <dgm:cxn modelId="{662D5E57-A40A-48A3-9E4F-D4178E67E02B}" type="presOf" srcId="{D737B630-87AF-438F-8953-60FBC201EAA7}" destId="{2DD028F4-D010-44B3-8529-2CC27D2D3912}" srcOrd="0" destOrd="0" presId="urn:microsoft.com/office/officeart/2005/8/layout/list1"/>
    <dgm:cxn modelId="{6B1E7A5A-BE88-4EDF-B651-E6443E1392AE}" type="presOf" srcId="{D737B630-87AF-438F-8953-60FBC201EAA7}" destId="{A72ECA9B-C90F-49C3-A973-CA833639A1C7}" srcOrd="1" destOrd="0" presId="urn:microsoft.com/office/officeart/2005/8/layout/list1"/>
    <dgm:cxn modelId="{22B5C4A3-64A5-4DC0-8F71-881D84D8DA86}" type="presOf" srcId="{AAE64C2C-8C30-460E-B83F-E14932D16C79}" destId="{A916B668-2B35-404D-B893-AFFB17F76A00}" srcOrd="0" destOrd="0" presId="urn:microsoft.com/office/officeart/2005/8/layout/list1"/>
    <dgm:cxn modelId="{2925E2B2-C069-414C-994B-73BF8712B910}" type="presOf" srcId="{5103249C-AB76-4BF2-A01C-63FD4C24E5D2}" destId="{5A0AB0EE-11C2-42A5-AD4C-C3E9360C7CDD}" srcOrd="0" destOrd="0" presId="urn:microsoft.com/office/officeart/2005/8/layout/list1"/>
    <dgm:cxn modelId="{1BA083BF-2290-4227-BAF1-0C9EE9D02411}" type="presOf" srcId="{D83DBE54-4C28-4EDF-AAB8-3B8659AA7479}" destId="{2F8CC342-7B90-43BA-BCF3-42A51DAAAF07}" srcOrd="1" destOrd="0" presId="urn:microsoft.com/office/officeart/2005/8/layout/list1"/>
    <dgm:cxn modelId="{D6A4F8C5-3CEC-4ABC-BBFD-A2E26AACBDD5}" srcId="{D83DBE54-4C28-4EDF-AAB8-3B8659AA7479}" destId="{5103249C-AB76-4BF2-A01C-63FD4C24E5D2}" srcOrd="0" destOrd="0" parTransId="{4F210C5E-A93E-4337-A2CA-CE9E77E117C5}" sibTransId="{3D64369E-452F-426D-B7CC-7709E2BAE784}"/>
    <dgm:cxn modelId="{1ACB92D4-7E2E-4E24-BF87-FB778C58644B}" type="presOf" srcId="{7CE34013-4145-4C34-807E-825345370668}" destId="{3FE3EE67-50DE-4E84-8E32-33A8D400E96F}" srcOrd="0" destOrd="1" presId="urn:microsoft.com/office/officeart/2005/8/layout/list1"/>
    <dgm:cxn modelId="{4497BDEB-F439-4210-BBF3-6446C6889A10}" type="presOf" srcId="{C6308BE8-2209-485C-8962-1AC2FB67AF1D}" destId="{3FE3EE67-50DE-4E84-8E32-33A8D400E96F}" srcOrd="0" destOrd="2" presId="urn:microsoft.com/office/officeart/2005/8/layout/list1"/>
    <dgm:cxn modelId="{1FC22899-0BEC-4424-B8E0-0EF0CD71BD67}" type="presParOf" srcId="{A916B668-2B35-404D-B893-AFFB17F76A00}" destId="{01C6B301-7134-4EE2-871C-70FC54E46D15}" srcOrd="0" destOrd="0" presId="urn:microsoft.com/office/officeart/2005/8/layout/list1"/>
    <dgm:cxn modelId="{D789324C-0361-43C2-BBA2-D337E4E20E63}" type="presParOf" srcId="{01C6B301-7134-4EE2-871C-70FC54E46D15}" destId="{2DD028F4-D010-44B3-8529-2CC27D2D3912}" srcOrd="0" destOrd="0" presId="urn:microsoft.com/office/officeart/2005/8/layout/list1"/>
    <dgm:cxn modelId="{6C5120B9-E8CF-4412-A73C-D65F7A5EFC1C}" type="presParOf" srcId="{01C6B301-7134-4EE2-871C-70FC54E46D15}" destId="{A72ECA9B-C90F-49C3-A973-CA833639A1C7}" srcOrd="1" destOrd="0" presId="urn:microsoft.com/office/officeart/2005/8/layout/list1"/>
    <dgm:cxn modelId="{7E1DD6DE-354C-46AD-8854-A403241E5F8A}" type="presParOf" srcId="{A916B668-2B35-404D-B893-AFFB17F76A00}" destId="{491722FF-7D93-4DA2-96EE-B707FAFFC37D}" srcOrd="1" destOrd="0" presId="urn:microsoft.com/office/officeart/2005/8/layout/list1"/>
    <dgm:cxn modelId="{47A52402-5C1B-4D7E-983D-08F5081D37B9}" type="presParOf" srcId="{A916B668-2B35-404D-B893-AFFB17F76A00}" destId="{3FE3EE67-50DE-4E84-8E32-33A8D400E96F}" srcOrd="2" destOrd="0" presId="urn:microsoft.com/office/officeart/2005/8/layout/list1"/>
    <dgm:cxn modelId="{00E5153C-5209-4A89-AD49-AD0BC130F527}" type="presParOf" srcId="{A916B668-2B35-404D-B893-AFFB17F76A00}" destId="{D22AF411-709A-4846-A7B8-8A660E146A90}" srcOrd="3" destOrd="0" presId="urn:microsoft.com/office/officeart/2005/8/layout/list1"/>
    <dgm:cxn modelId="{C463769D-0E73-4001-AACF-DA70C36BB2CA}" type="presParOf" srcId="{A916B668-2B35-404D-B893-AFFB17F76A00}" destId="{F239BE67-C2B5-4CA9-BF34-D6920DD1691A}" srcOrd="4" destOrd="0" presId="urn:microsoft.com/office/officeart/2005/8/layout/list1"/>
    <dgm:cxn modelId="{CC99B647-AE7E-4B62-A122-45222A0DC3C0}" type="presParOf" srcId="{F239BE67-C2B5-4CA9-BF34-D6920DD1691A}" destId="{F10839F2-4B9E-43D7-905E-76ED2DA32FC9}" srcOrd="0" destOrd="0" presId="urn:microsoft.com/office/officeart/2005/8/layout/list1"/>
    <dgm:cxn modelId="{31D1E0E7-7D04-4D00-AFD2-663ACD12FA38}" type="presParOf" srcId="{F239BE67-C2B5-4CA9-BF34-D6920DD1691A}" destId="{2F8CC342-7B90-43BA-BCF3-42A51DAAAF07}" srcOrd="1" destOrd="0" presId="urn:microsoft.com/office/officeart/2005/8/layout/list1"/>
    <dgm:cxn modelId="{5C0DFAB5-2813-4B75-A442-3F41AB7A7F91}" type="presParOf" srcId="{A916B668-2B35-404D-B893-AFFB17F76A00}" destId="{E5B74AD8-B865-49E0-83A3-835EB31DF495}" srcOrd="5" destOrd="0" presId="urn:microsoft.com/office/officeart/2005/8/layout/list1"/>
    <dgm:cxn modelId="{24AEF982-99F0-4D13-BBE4-BE4D053EF187}" type="presParOf" srcId="{A916B668-2B35-404D-B893-AFFB17F76A00}" destId="{5A0AB0EE-11C2-42A5-AD4C-C3E9360C7CDD}"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79B90B-BBA6-48A8-9D11-8CEF70CDE61B}"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712CD11F-F664-4C0E-AD3D-16E1B81C0C1E}">
      <dgm:prSet/>
      <dgm:spPr/>
      <dgm:t>
        <a:bodyPr/>
        <a:lstStyle/>
        <a:p>
          <a:r>
            <a:rPr lang="en-US" b="1"/>
            <a:t>Linear Detection</a:t>
          </a:r>
          <a:endParaRPr lang="en-US"/>
        </a:p>
      </dgm:t>
    </dgm:pt>
    <dgm:pt modelId="{CC04B553-BF09-4D95-B24D-631A8A7B6320}" type="parTrans" cxnId="{56E7C5DE-1B94-42E3-B3A3-79972F76E96F}">
      <dgm:prSet/>
      <dgm:spPr/>
      <dgm:t>
        <a:bodyPr/>
        <a:lstStyle/>
        <a:p>
          <a:endParaRPr lang="en-US"/>
        </a:p>
      </dgm:t>
    </dgm:pt>
    <dgm:pt modelId="{358B3E5E-1A98-4E56-B9A5-E521486E5A66}" type="sibTrans" cxnId="{56E7C5DE-1B94-42E3-B3A3-79972F76E96F}">
      <dgm:prSet/>
      <dgm:spPr/>
      <dgm:t>
        <a:bodyPr/>
        <a:lstStyle/>
        <a:p>
          <a:endParaRPr lang="en-US"/>
        </a:p>
      </dgm:t>
    </dgm:pt>
    <dgm:pt modelId="{18E4F8E2-1F9B-4B74-859B-B941DCE94936}">
      <dgm:prSet/>
      <dgm:spPr/>
      <dgm:t>
        <a:bodyPr/>
        <a:lstStyle/>
        <a:p>
          <a:r>
            <a:rPr lang="en-US"/>
            <a:t>Zero-Forcing (ZF)</a:t>
          </a:r>
        </a:p>
      </dgm:t>
    </dgm:pt>
    <dgm:pt modelId="{95E10CED-48D3-4B3B-8F96-4D7F17CB9B90}" type="parTrans" cxnId="{B4C46027-7D28-4163-A324-E32FD10BBD9C}">
      <dgm:prSet/>
      <dgm:spPr/>
      <dgm:t>
        <a:bodyPr/>
        <a:lstStyle/>
        <a:p>
          <a:endParaRPr lang="en-US"/>
        </a:p>
      </dgm:t>
    </dgm:pt>
    <dgm:pt modelId="{3A0BCF44-046E-474F-901C-8CF9F14E398B}" type="sibTrans" cxnId="{B4C46027-7D28-4163-A324-E32FD10BBD9C}">
      <dgm:prSet/>
      <dgm:spPr/>
      <dgm:t>
        <a:bodyPr/>
        <a:lstStyle/>
        <a:p>
          <a:endParaRPr lang="en-US"/>
        </a:p>
      </dgm:t>
    </dgm:pt>
    <dgm:pt modelId="{3C2DC3E0-14DE-473F-AE04-41003440E520}">
      <dgm:prSet/>
      <dgm:spPr/>
      <dgm:t>
        <a:bodyPr/>
        <a:lstStyle/>
        <a:p>
          <a:r>
            <a:rPr lang="en-US"/>
            <a:t>MMSE</a:t>
          </a:r>
        </a:p>
      </dgm:t>
    </dgm:pt>
    <dgm:pt modelId="{A4DB043E-5D02-4577-A1C6-3338AC84DEE2}" type="parTrans" cxnId="{41E0FBF0-1166-49E4-89AE-C548EE2BB186}">
      <dgm:prSet/>
      <dgm:spPr/>
      <dgm:t>
        <a:bodyPr/>
        <a:lstStyle/>
        <a:p>
          <a:endParaRPr lang="en-US"/>
        </a:p>
      </dgm:t>
    </dgm:pt>
    <dgm:pt modelId="{19DE2D7A-4B2B-46B1-A7D0-3D188A621A87}" type="sibTrans" cxnId="{41E0FBF0-1166-49E4-89AE-C548EE2BB186}">
      <dgm:prSet/>
      <dgm:spPr/>
      <dgm:t>
        <a:bodyPr/>
        <a:lstStyle/>
        <a:p>
          <a:endParaRPr lang="en-US"/>
        </a:p>
      </dgm:t>
    </dgm:pt>
    <dgm:pt modelId="{1F9A5573-D39B-41F4-BDF9-9EE1BD4CBA57}">
      <dgm:prSet/>
      <dgm:spPr/>
      <dgm:t>
        <a:bodyPr/>
        <a:lstStyle/>
        <a:p>
          <a:r>
            <a:rPr lang="en-US" b="1"/>
            <a:t>Non-linear Detection</a:t>
          </a:r>
          <a:endParaRPr lang="en-US"/>
        </a:p>
      </dgm:t>
    </dgm:pt>
    <dgm:pt modelId="{5D5A86C2-EEAE-4271-9C42-51BECA88305E}" type="parTrans" cxnId="{769DCF9E-2F5B-4239-84CB-B5C00A8D7F7F}">
      <dgm:prSet/>
      <dgm:spPr/>
      <dgm:t>
        <a:bodyPr/>
        <a:lstStyle/>
        <a:p>
          <a:endParaRPr lang="en-US"/>
        </a:p>
      </dgm:t>
    </dgm:pt>
    <dgm:pt modelId="{A92524E1-2A1B-4924-A24F-4B5358790211}" type="sibTrans" cxnId="{769DCF9E-2F5B-4239-84CB-B5C00A8D7F7F}">
      <dgm:prSet/>
      <dgm:spPr/>
      <dgm:t>
        <a:bodyPr/>
        <a:lstStyle/>
        <a:p>
          <a:endParaRPr lang="en-US"/>
        </a:p>
      </dgm:t>
    </dgm:pt>
    <dgm:pt modelId="{F8509B12-30FC-4643-BB67-CD58164F38A7}">
      <dgm:prSet/>
      <dgm:spPr/>
      <dgm:t>
        <a:bodyPr/>
        <a:lstStyle/>
        <a:p>
          <a:r>
            <a:rPr lang="en-US"/>
            <a:t>SIC</a:t>
          </a:r>
        </a:p>
      </dgm:t>
    </dgm:pt>
    <dgm:pt modelId="{1EF555C3-9E63-48DF-BB2D-9D4C7626945F}" type="parTrans" cxnId="{42DC2D93-367C-417B-A468-94BF2FA12059}">
      <dgm:prSet/>
      <dgm:spPr/>
      <dgm:t>
        <a:bodyPr/>
        <a:lstStyle/>
        <a:p>
          <a:endParaRPr lang="en-US"/>
        </a:p>
      </dgm:t>
    </dgm:pt>
    <dgm:pt modelId="{792813EE-0AFB-4F04-AE41-03DEBBE22F36}" type="sibTrans" cxnId="{42DC2D93-367C-417B-A468-94BF2FA12059}">
      <dgm:prSet/>
      <dgm:spPr/>
      <dgm:t>
        <a:bodyPr/>
        <a:lstStyle/>
        <a:p>
          <a:endParaRPr lang="en-US"/>
        </a:p>
      </dgm:t>
    </dgm:pt>
    <dgm:pt modelId="{42715360-0A67-462E-AA60-38E6B533A25E}">
      <dgm:prSet/>
      <dgm:spPr/>
      <dgm:t>
        <a:bodyPr/>
        <a:lstStyle/>
        <a:p>
          <a:r>
            <a:rPr lang="en-US"/>
            <a:t>V-BLAST</a:t>
          </a:r>
        </a:p>
      </dgm:t>
    </dgm:pt>
    <dgm:pt modelId="{A0C36103-F3B7-4407-8E74-AD6F4FB8D002}" type="parTrans" cxnId="{1581C953-3B48-4EA9-8776-A80286F4EA25}">
      <dgm:prSet/>
      <dgm:spPr/>
      <dgm:t>
        <a:bodyPr/>
        <a:lstStyle/>
        <a:p>
          <a:endParaRPr lang="en-US"/>
        </a:p>
      </dgm:t>
    </dgm:pt>
    <dgm:pt modelId="{ED4453F7-170F-4E23-A816-91F564DC1EAE}" type="sibTrans" cxnId="{1581C953-3B48-4EA9-8776-A80286F4EA25}">
      <dgm:prSet/>
      <dgm:spPr/>
      <dgm:t>
        <a:bodyPr/>
        <a:lstStyle/>
        <a:p>
          <a:endParaRPr lang="en-US"/>
        </a:p>
      </dgm:t>
    </dgm:pt>
    <dgm:pt modelId="{9F8ED3DF-9F3E-4252-BFE6-94919B4B87F5}">
      <dgm:prSet/>
      <dgm:spPr/>
      <dgm:t>
        <a:bodyPr/>
        <a:lstStyle/>
        <a:p>
          <a:r>
            <a:rPr lang="en-US"/>
            <a:t>Sphere decoding</a:t>
          </a:r>
        </a:p>
      </dgm:t>
    </dgm:pt>
    <dgm:pt modelId="{3B0910EC-E57B-4E15-B529-BA7DF28446A3}" type="parTrans" cxnId="{0C6B00B2-8C8D-4516-822E-FD423EBBDCB1}">
      <dgm:prSet/>
      <dgm:spPr/>
      <dgm:t>
        <a:bodyPr/>
        <a:lstStyle/>
        <a:p>
          <a:endParaRPr lang="en-US"/>
        </a:p>
      </dgm:t>
    </dgm:pt>
    <dgm:pt modelId="{9ACCBF98-E558-4543-869F-68D774671F89}" type="sibTrans" cxnId="{0C6B00B2-8C8D-4516-822E-FD423EBBDCB1}">
      <dgm:prSet/>
      <dgm:spPr/>
      <dgm:t>
        <a:bodyPr/>
        <a:lstStyle/>
        <a:p>
          <a:endParaRPr lang="en-US"/>
        </a:p>
      </dgm:t>
    </dgm:pt>
    <dgm:pt modelId="{2BBB5FCF-E398-4530-9D19-172BA89837EF}" type="pres">
      <dgm:prSet presAssocID="{DC79B90B-BBA6-48A8-9D11-8CEF70CDE61B}" presName="linear" presStyleCnt="0">
        <dgm:presLayoutVars>
          <dgm:dir/>
          <dgm:animLvl val="lvl"/>
          <dgm:resizeHandles val="exact"/>
        </dgm:presLayoutVars>
      </dgm:prSet>
      <dgm:spPr/>
    </dgm:pt>
    <dgm:pt modelId="{10FC021D-0C48-45A2-A23B-E84C9F559223}" type="pres">
      <dgm:prSet presAssocID="{712CD11F-F664-4C0E-AD3D-16E1B81C0C1E}" presName="parentLin" presStyleCnt="0"/>
      <dgm:spPr/>
    </dgm:pt>
    <dgm:pt modelId="{B0BA2D24-78C1-4EF9-90B9-FE13B09694E7}" type="pres">
      <dgm:prSet presAssocID="{712CD11F-F664-4C0E-AD3D-16E1B81C0C1E}" presName="parentLeftMargin" presStyleLbl="node1" presStyleIdx="0" presStyleCnt="2"/>
      <dgm:spPr/>
    </dgm:pt>
    <dgm:pt modelId="{2039525D-6753-454F-86FA-3534AA05CA4B}" type="pres">
      <dgm:prSet presAssocID="{712CD11F-F664-4C0E-AD3D-16E1B81C0C1E}" presName="parentText" presStyleLbl="node1" presStyleIdx="0" presStyleCnt="2">
        <dgm:presLayoutVars>
          <dgm:chMax val="0"/>
          <dgm:bulletEnabled val="1"/>
        </dgm:presLayoutVars>
      </dgm:prSet>
      <dgm:spPr/>
    </dgm:pt>
    <dgm:pt modelId="{22F47BE7-05BE-41D5-948C-1C547743976F}" type="pres">
      <dgm:prSet presAssocID="{712CD11F-F664-4C0E-AD3D-16E1B81C0C1E}" presName="negativeSpace" presStyleCnt="0"/>
      <dgm:spPr/>
    </dgm:pt>
    <dgm:pt modelId="{FAF2F0F3-B3A8-4B5F-862D-2CE34995A02D}" type="pres">
      <dgm:prSet presAssocID="{712CD11F-F664-4C0E-AD3D-16E1B81C0C1E}" presName="childText" presStyleLbl="conFgAcc1" presStyleIdx="0" presStyleCnt="2">
        <dgm:presLayoutVars>
          <dgm:bulletEnabled val="1"/>
        </dgm:presLayoutVars>
      </dgm:prSet>
      <dgm:spPr/>
    </dgm:pt>
    <dgm:pt modelId="{28E1A735-F9D0-4E93-A241-35A72567ADE8}" type="pres">
      <dgm:prSet presAssocID="{358B3E5E-1A98-4E56-B9A5-E521486E5A66}" presName="spaceBetweenRectangles" presStyleCnt="0"/>
      <dgm:spPr/>
    </dgm:pt>
    <dgm:pt modelId="{3C92A014-FED0-41A5-8E63-BB89B3418377}" type="pres">
      <dgm:prSet presAssocID="{1F9A5573-D39B-41F4-BDF9-9EE1BD4CBA57}" presName="parentLin" presStyleCnt="0"/>
      <dgm:spPr/>
    </dgm:pt>
    <dgm:pt modelId="{B79DAB4F-BF47-4E91-9A00-AC6A83AD20D2}" type="pres">
      <dgm:prSet presAssocID="{1F9A5573-D39B-41F4-BDF9-9EE1BD4CBA57}" presName="parentLeftMargin" presStyleLbl="node1" presStyleIdx="0" presStyleCnt="2"/>
      <dgm:spPr/>
    </dgm:pt>
    <dgm:pt modelId="{14165F61-1AE4-43CC-8C43-6E8A5F359F47}" type="pres">
      <dgm:prSet presAssocID="{1F9A5573-D39B-41F4-BDF9-9EE1BD4CBA57}" presName="parentText" presStyleLbl="node1" presStyleIdx="1" presStyleCnt="2">
        <dgm:presLayoutVars>
          <dgm:chMax val="0"/>
          <dgm:bulletEnabled val="1"/>
        </dgm:presLayoutVars>
      </dgm:prSet>
      <dgm:spPr/>
    </dgm:pt>
    <dgm:pt modelId="{A10BF786-045D-452C-BE22-EF32D09C04C2}" type="pres">
      <dgm:prSet presAssocID="{1F9A5573-D39B-41F4-BDF9-9EE1BD4CBA57}" presName="negativeSpace" presStyleCnt="0"/>
      <dgm:spPr/>
    </dgm:pt>
    <dgm:pt modelId="{164C1C40-394D-42A8-8442-B865AA080D54}" type="pres">
      <dgm:prSet presAssocID="{1F9A5573-D39B-41F4-BDF9-9EE1BD4CBA57}" presName="childText" presStyleLbl="conFgAcc1" presStyleIdx="1" presStyleCnt="2">
        <dgm:presLayoutVars>
          <dgm:bulletEnabled val="1"/>
        </dgm:presLayoutVars>
      </dgm:prSet>
      <dgm:spPr/>
    </dgm:pt>
  </dgm:ptLst>
  <dgm:cxnLst>
    <dgm:cxn modelId="{B4C46027-7D28-4163-A324-E32FD10BBD9C}" srcId="{712CD11F-F664-4C0E-AD3D-16E1B81C0C1E}" destId="{18E4F8E2-1F9B-4B74-859B-B941DCE94936}" srcOrd="0" destOrd="0" parTransId="{95E10CED-48D3-4B3B-8F96-4D7F17CB9B90}" sibTransId="{3A0BCF44-046E-474F-901C-8CF9F14E398B}"/>
    <dgm:cxn modelId="{80427836-17D4-415F-8A80-03639FC327F5}" type="presOf" srcId="{712CD11F-F664-4C0E-AD3D-16E1B81C0C1E}" destId="{B0BA2D24-78C1-4EF9-90B9-FE13B09694E7}" srcOrd="0" destOrd="0" presId="urn:microsoft.com/office/officeart/2005/8/layout/list1"/>
    <dgm:cxn modelId="{F425633D-EDA7-4F5D-90B4-168C7EB0CEA7}" type="presOf" srcId="{DC79B90B-BBA6-48A8-9D11-8CEF70CDE61B}" destId="{2BBB5FCF-E398-4530-9D19-172BA89837EF}" srcOrd="0" destOrd="0" presId="urn:microsoft.com/office/officeart/2005/8/layout/list1"/>
    <dgm:cxn modelId="{03F7AA48-8FBC-4434-9F5D-06B4145811A4}" type="presOf" srcId="{1F9A5573-D39B-41F4-BDF9-9EE1BD4CBA57}" destId="{B79DAB4F-BF47-4E91-9A00-AC6A83AD20D2}" srcOrd="0" destOrd="0" presId="urn:microsoft.com/office/officeart/2005/8/layout/list1"/>
    <dgm:cxn modelId="{D8ED994E-E9A8-4373-9336-8BED8550E0E8}" type="presOf" srcId="{3C2DC3E0-14DE-473F-AE04-41003440E520}" destId="{FAF2F0F3-B3A8-4B5F-862D-2CE34995A02D}" srcOrd="0" destOrd="1" presId="urn:microsoft.com/office/officeart/2005/8/layout/list1"/>
    <dgm:cxn modelId="{1581C953-3B48-4EA9-8776-A80286F4EA25}" srcId="{1F9A5573-D39B-41F4-BDF9-9EE1BD4CBA57}" destId="{42715360-0A67-462E-AA60-38E6B533A25E}" srcOrd="1" destOrd="0" parTransId="{A0C36103-F3B7-4407-8E74-AD6F4FB8D002}" sibTransId="{ED4453F7-170F-4E23-A816-91F564DC1EAE}"/>
    <dgm:cxn modelId="{A082B08E-3B08-4289-B300-06E6C3986729}" type="presOf" srcId="{712CD11F-F664-4C0E-AD3D-16E1B81C0C1E}" destId="{2039525D-6753-454F-86FA-3534AA05CA4B}" srcOrd="1" destOrd="0" presId="urn:microsoft.com/office/officeart/2005/8/layout/list1"/>
    <dgm:cxn modelId="{56898790-14B3-4960-AD6D-105B314C86AA}" type="presOf" srcId="{1F9A5573-D39B-41F4-BDF9-9EE1BD4CBA57}" destId="{14165F61-1AE4-43CC-8C43-6E8A5F359F47}" srcOrd="1" destOrd="0" presId="urn:microsoft.com/office/officeart/2005/8/layout/list1"/>
    <dgm:cxn modelId="{42DC2D93-367C-417B-A468-94BF2FA12059}" srcId="{1F9A5573-D39B-41F4-BDF9-9EE1BD4CBA57}" destId="{F8509B12-30FC-4643-BB67-CD58164F38A7}" srcOrd="0" destOrd="0" parTransId="{1EF555C3-9E63-48DF-BB2D-9D4C7626945F}" sibTransId="{792813EE-0AFB-4F04-AE41-03DEBBE22F36}"/>
    <dgm:cxn modelId="{769DCF9E-2F5B-4239-84CB-B5C00A8D7F7F}" srcId="{DC79B90B-BBA6-48A8-9D11-8CEF70CDE61B}" destId="{1F9A5573-D39B-41F4-BDF9-9EE1BD4CBA57}" srcOrd="1" destOrd="0" parTransId="{5D5A86C2-EEAE-4271-9C42-51BECA88305E}" sibTransId="{A92524E1-2A1B-4924-A24F-4B5358790211}"/>
    <dgm:cxn modelId="{0C6B00B2-8C8D-4516-822E-FD423EBBDCB1}" srcId="{1F9A5573-D39B-41F4-BDF9-9EE1BD4CBA57}" destId="{9F8ED3DF-9F3E-4252-BFE6-94919B4B87F5}" srcOrd="2" destOrd="0" parTransId="{3B0910EC-E57B-4E15-B529-BA7DF28446A3}" sibTransId="{9ACCBF98-E558-4543-869F-68D774671F89}"/>
    <dgm:cxn modelId="{079577CB-A304-4E6A-8D0A-99BC65EF087E}" type="presOf" srcId="{F8509B12-30FC-4643-BB67-CD58164F38A7}" destId="{164C1C40-394D-42A8-8442-B865AA080D54}" srcOrd="0" destOrd="0" presId="urn:microsoft.com/office/officeart/2005/8/layout/list1"/>
    <dgm:cxn modelId="{9E1185CD-BE77-4465-9F58-F5C8E120CA89}" type="presOf" srcId="{42715360-0A67-462E-AA60-38E6B533A25E}" destId="{164C1C40-394D-42A8-8442-B865AA080D54}" srcOrd="0" destOrd="1" presId="urn:microsoft.com/office/officeart/2005/8/layout/list1"/>
    <dgm:cxn modelId="{56E7C5DE-1B94-42E3-B3A3-79972F76E96F}" srcId="{DC79B90B-BBA6-48A8-9D11-8CEF70CDE61B}" destId="{712CD11F-F664-4C0E-AD3D-16E1B81C0C1E}" srcOrd="0" destOrd="0" parTransId="{CC04B553-BF09-4D95-B24D-631A8A7B6320}" sibTransId="{358B3E5E-1A98-4E56-B9A5-E521486E5A66}"/>
    <dgm:cxn modelId="{A9A98BE8-7941-4517-A6F0-AFFBD4CC9312}" type="presOf" srcId="{9F8ED3DF-9F3E-4252-BFE6-94919B4B87F5}" destId="{164C1C40-394D-42A8-8442-B865AA080D54}" srcOrd="0" destOrd="2" presId="urn:microsoft.com/office/officeart/2005/8/layout/list1"/>
    <dgm:cxn modelId="{41E0FBF0-1166-49E4-89AE-C548EE2BB186}" srcId="{712CD11F-F664-4C0E-AD3D-16E1B81C0C1E}" destId="{3C2DC3E0-14DE-473F-AE04-41003440E520}" srcOrd="1" destOrd="0" parTransId="{A4DB043E-5D02-4577-A1C6-3338AC84DEE2}" sibTransId="{19DE2D7A-4B2B-46B1-A7D0-3D188A621A87}"/>
    <dgm:cxn modelId="{B9F42FF3-996C-412B-89F0-6F9C84A47363}" type="presOf" srcId="{18E4F8E2-1F9B-4B74-859B-B941DCE94936}" destId="{FAF2F0F3-B3A8-4B5F-862D-2CE34995A02D}" srcOrd="0" destOrd="0" presId="urn:microsoft.com/office/officeart/2005/8/layout/list1"/>
    <dgm:cxn modelId="{BA15EBFC-5EFB-46EE-A023-95DC9CBF20A1}" type="presParOf" srcId="{2BBB5FCF-E398-4530-9D19-172BA89837EF}" destId="{10FC021D-0C48-45A2-A23B-E84C9F559223}" srcOrd="0" destOrd="0" presId="urn:microsoft.com/office/officeart/2005/8/layout/list1"/>
    <dgm:cxn modelId="{A3F4C5BD-4309-48C7-9B56-1D21A4406793}" type="presParOf" srcId="{10FC021D-0C48-45A2-A23B-E84C9F559223}" destId="{B0BA2D24-78C1-4EF9-90B9-FE13B09694E7}" srcOrd="0" destOrd="0" presId="urn:microsoft.com/office/officeart/2005/8/layout/list1"/>
    <dgm:cxn modelId="{92B3256A-63EB-490B-B561-8281376523B5}" type="presParOf" srcId="{10FC021D-0C48-45A2-A23B-E84C9F559223}" destId="{2039525D-6753-454F-86FA-3534AA05CA4B}" srcOrd="1" destOrd="0" presId="urn:microsoft.com/office/officeart/2005/8/layout/list1"/>
    <dgm:cxn modelId="{51C86D42-FBEA-4535-A460-F21447EEFD62}" type="presParOf" srcId="{2BBB5FCF-E398-4530-9D19-172BA89837EF}" destId="{22F47BE7-05BE-41D5-948C-1C547743976F}" srcOrd="1" destOrd="0" presId="urn:microsoft.com/office/officeart/2005/8/layout/list1"/>
    <dgm:cxn modelId="{8E5DE35C-2354-4D60-ADD7-27C0EEE21F06}" type="presParOf" srcId="{2BBB5FCF-E398-4530-9D19-172BA89837EF}" destId="{FAF2F0F3-B3A8-4B5F-862D-2CE34995A02D}" srcOrd="2" destOrd="0" presId="urn:microsoft.com/office/officeart/2005/8/layout/list1"/>
    <dgm:cxn modelId="{9F5F86F6-4898-452A-BFD2-57FC9191B82E}" type="presParOf" srcId="{2BBB5FCF-E398-4530-9D19-172BA89837EF}" destId="{28E1A735-F9D0-4E93-A241-35A72567ADE8}" srcOrd="3" destOrd="0" presId="urn:microsoft.com/office/officeart/2005/8/layout/list1"/>
    <dgm:cxn modelId="{54F5DED9-45B3-484D-8F00-31BABFCA742B}" type="presParOf" srcId="{2BBB5FCF-E398-4530-9D19-172BA89837EF}" destId="{3C92A014-FED0-41A5-8E63-BB89B3418377}" srcOrd="4" destOrd="0" presId="urn:microsoft.com/office/officeart/2005/8/layout/list1"/>
    <dgm:cxn modelId="{90BCC77D-6499-4433-A9E9-F686535706A4}" type="presParOf" srcId="{3C92A014-FED0-41A5-8E63-BB89B3418377}" destId="{B79DAB4F-BF47-4E91-9A00-AC6A83AD20D2}" srcOrd="0" destOrd="0" presId="urn:microsoft.com/office/officeart/2005/8/layout/list1"/>
    <dgm:cxn modelId="{579C30B5-816C-477A-A361-B203A8D2ED85}" type="presParOf" srcId="{3C92A014-FED0-41A5-8E63-BB89B3418377}" destId="{14165F61-1AE4-43CC-8C43-6E8A5F359F47}" srcOrd="1" destOrd="0" presId="urn:microsoft.com/office/officeart/2005/8/layout/list1"/>
    <dgm:cxn modelId="{D282044E-F26C-4A60-800B-4CB9CD4DE0DB}" type="presParOf" srcId="{2BBB5FCF-E398-4530-9D19-172BA89837EF}" destId="{A10BF786-045D-452C-BE22-EF32D09C04C2}" srcOrd="5" destOrd="0" presId="urn:microsoft.com/office/officeart/2005/8/layout/list1"/>
    <dgm:cxn modelId="{E99B0F49-C807-4480-BF08-9754A7922ECA}" type="presParOf" srcId="{2BBB5FCF-E398-4530-9D19-172BA89837EF}" destId="{164C1C40-394D-42A8-8442-B865AA080D54}"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1EDDC1-AF07-4732-86FA-F8998A3D564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8D26A07-BD74-46F9-B74D-FB4890836D26}">
      <dgm:prSet/>
      <dgm:spPr/>
      <dgm:t>
        <a:bodyPr/>
        <a:lstStyle/>
        <a:p>
          <a:r>
            <a:rPr lang="en-US" b="1"/>
            <a:t>Training-based Estimation</a:t>
          </a:r>
          <a:endParaRPr lang="en-US"/>
        </a:p>
      </dgm:t>
    </dgm:pt>
    <dgm:pt modelId="{EB8D771F-8951-4B76-8971-DB45908570C4}" type="parTrans" cxnId="{14DB9E2E-B44C-448A-B754-84721D84963D}">
      <dgm:prSet/>
      <dgm:spPr/>
      <dgm:t>
        <a:bodyPr/>
        <a:lstStyle/>
        <a:p>
          <a:endParaRPr lang="en-US"/>
        </a:p>
      </dgm:t>
    </dgm:pt>
    <dgm:pt modelId="{B9A4F78B-BB0A-40C2-9EC6-FDB84BB7C5BE}" type="sibTrans" cxnId="{14DB9E2E-B44C-448A-B754-84721D84963D}">
      <dgm:prSet/>
      <dgm:spPr/>
      <dgm:t>
        <a:bodyPr/>
        <a:lstStyle/>
        <a:p>
          <a:endParaRPr lang="en-US"/>
        </a:p>
      </dgm:t>
    </dgm:pt>
    <dgm:pt modelId="{8973D918-B157-419F-BA98-E1E543D47B3D}">
      <dgm:prSet/>
      <dgm:spPr/>
      <dgm:t>
        <a:bodyPr/>
        <a:lstStyle/>
        <a:p>
          <a:r>
            <a:rPr lang="en-US"/>
            <a:t>Transmitter sends known pilot symbols:</a:t>
          </a:r>
        </a:p>
      </dgm:t>
    </dgm:pt>
    <dgm:pt modelId="{89817D35-94C0-42AB-9392-CD4339241A11}" type="parTrans" cxnId="{FA5FF808-C601-4C9E-B7AD-3F6687C2F2FA}">
      <dgm:prSet/>
      <dgm:spPr/>
      <dgm:t>
        <a:bodyPr/>
        <a:lstStyle/>
        <a:p>
          <a:endParaRPr lang="en-US"/>
        </a:p>
      </dgm:t>
    </dgm:pt>
    <dgm:pt modelId="{50F89358-DF1A-42F6-8A96-B5C5D3C7B940}" type="sibTrans" cxnId="{FA5FF808-C601-4C9E-B7AD-3F6687C2F2FA}">
      <dgm:prSet/>
      <dgm:spPr/>
      <dgm:t>
        <a:bodyPr/>
        <a:lstStyle/>
        <a:p>
          <a:endParaRPr lang="en-US"/>
        </a:p>
      </dgm:t>
    </dgm:pt>
    <dgm:pt modelId="{960A18E7-E8DF-45C1-A067-E0C29CAD81F7}">
      <dgm:prSet/>
      <dgm:spPr/>
      <dgm:t>
        <a:bodyPr/>
        <a:lstStyle/>
        <a:p>
          <a:r>
            <a:rPr lang="en-US"/>
            <a:t>Receiver compares received pilots with known values.</a:t>
          </a:r>
        </a:p>
      </dgm:t>
    </dgm:pt>
    <dgm:pt modelId="{6D403DA7-D228-477A-9205-B40DCCADB273}" type="parTrans" cxnId="{ECBEA51F-0073-4585-B06E-FD244E1A6A81}">
      <dgm:prSet/>
      <dgm:spPr/>
      <dgm:t>
        <a:bodyPr/>
        <a:lstStyle/>
        <a:p>
          <a:endParaRPr lang="en-US"/>
        </a:p>
      </dgm:t>
    </dgm:pt>
    <dgm:pt modelId="{96F1E5E1-63A6-4161-A17B-CB666B6C66EF}" type="sibTrans" cxnId="{ECBEA51F-0073-4585-B06E-FD244E1A6A81}">
      <dgm:prSet/>
      <dgm:spPr/>
      <dgm:t>
        <a:bodyPr/>
        <a:lstStyle/>
        <a:p>
          <a:endParaRPr lang="en-US"/>
        </a:p>
      </dgm:t>
    </dgm:pt>
    <dgm:pt modelId="{86BC1F57-FA7B-479B-8BE5-F3660555A785}">
      <dgm:prSet/>
      <dgm:spPr/>
      <dgm:t>
        <a:bodyPr/>
        <a:lstStyle/>
        <a:p>
          <a:r>
            <a:rPr lang="en-US"/>
            <a:t>Very common in 4G/5G/WiFi.</a:t>
          </a:r>
        </a:p>
      </dgm:t>
    </dgm:pt>
    <dgm:pt modelId="{3BF0BCB4-F05B-449F-94F0-1C99F1F4A876}" type="parTrans" cxnId="{182C7B73-5F3E-478E-8817-A3AD457DE354}">
      <dgm:prSet/>
      <dgm:spPr/>
      <dgm:t>
        <a:bodyPr/>
        <a:lstStyle/>
        <a:p>
          <a:endParaRPr lang="en-US"/>
        </a:p>
      </dgm:t>
    </dgm:pt>
    <dgm:pt modelId="{7DA8F0FD-4696-4967-92A9-89026FBCA4DF}" type="sibTrans" cxnId="{182C7B73-5F3E-478E-8817-A3AD457DE354}">
      <dgm:prSet/>
      <dgm:spPr/>
      <dgm:t>
        <a:bodyPr/>
        <a:lstStyle/>
        <a:p>
          <a:endParaRPr lang="en-US"/>
        </a:p>
      </dgm:t>
    </dgm:pt>
    <dgm:pt modelId="{A0218D59-CA80-4F36-AE1A-7756DED569C1}">
      <dgm:prSet/>
      <dgm:spPr/>
      <dgm:t>
        <a:bodyPr/>
        <a:lstStyle/>
        <a:p>
          <a:r>
            <a:rPr lang="en-US" b="1"/>
            <a:t>Blind Estimation</a:t>
          </a:r>
          <a:endParaRPr lang="en-US"/>
        </a:p>
      </dgm:t>
    </dgm:pt>
    <dgm:pt modelId="{9C8E6E8B-3AB2-4641-88F9-0B3B2BECF514}" type="parTrans" cxnId="{66141042-5A64-438D-92EC-8B8AAD3EA319}">
      <dgm:prSet/>
      <dgm:spPr/>
      <dgm:t>
        <a:bodyPr/>
        <a:lstStyle/>
        <a:p>
          <a:endParaRPr lang="en-US"/>
        </a:p>
      </dgm:t>
    </dgm:pt>
    <dgm:pt modelId="{C20E59C2-7D7D-4EB2-A48A-E8AC4E08775F}" type="sibTrans" cxnId="{66141042-5A64-438D-92EC-8B8AAD3EA319}">
      <dgm:prSet/>
      <dgm:spPr/>
      <dgm:t>
        <a:bodyPr/>
        <a:lstStyle/>
        <a:p>
          <a:endParaRPr lang="en-US"/>
        </a:p>
      </dgm:t>
    </dgm:pt>
    <dgm:pt modelId="{820FC86F-9126-45AB-B858-7EFEC5EF3789}">
      <dgm:prSet/>
      <dgm:spPr/>
      <dgm:t>
        <a:bodyPr/>
        <a:lstStyle/>
        <a:p>
          <a:r>
            <a:rPr lang="en-US"/>
            <a:t>Uses only received data and statistical properties:</a:t>
          </a:r>
        </a:p>
      </dgm:t>
    </dgm:pt>
    <dgm:pt modelId="{A6235C8F-3559-400A-90BA-1CCB4DE94862}" type="parTrans" cxnId="{A055C85C-2392-422E-8392-A80D4A4699A9}">
      <dgm:prSet/>
      <dgm:spPr/>
      <dgm:t>
        <a:bodyPr/>
        <a:lstStyle/>
        <a:p>
          <a:endParaRPr lang="en-US"/>
        </a:p>
      </dgm:t>
    </dgm:pt>
    <dgm:pt modelId="{03447A76-6B96-4040-999E-4F79607991FF}" type="sibTrans" cxnId="{A055C85C-2392-422E-8392-A80D4A4699A9}">
      <dgm:prSet/>
      <dgm:spPr/>
      <dgm:t>
        <a:bodyPr/>
        <a:lstStyle/>
        <a:p>
          <a:endParaRPr lang="en-US"/>
        </a:p>
      </dgm:t>
    </dgm:pt>
    <dgm:pt modelId="{FC94BCFA-BF9E-4C96-BEE2-BDFA23F79256}">
      <dgm:prSet/>
      <dgm:spPr/>
      <dgm:t>
        <a:bodyPr/>
        <a:lstStyle/>
        <a:p>
          <a:r>
            <a:rPr lang="en-US"/>
            <a:t>No pilots needed,</a:t>
          </a:r>
        </a:p>
      </dgm:t>
    </dgm:pt>
    <dgm:pt modelId="{7BD01BEE-93CD-4801-A439-1784B670A3CE}" type="parTrans" cxnId="{384E62BE-9C76-4A15-B298-C8E9B9BB7BBF}">
      <dgm:prSet/>
      <dgm:spPr/>
      <dgm:t>
        <a:bodyPr/>
        <a:lstStyle/>
        <a:p>
          <a:endParaRPr lang="en-US"/>
        </a:p>
      </dgm:t>
    </dgm:pt>
    <dgm:pt modelId="{1B23685A-E1DA-4E97-963F-B5EDA8C4F762}" type="sibTrans" cxnId="{384E62BE-9C76-4A15-B298-C8E9B9BB7BBF}">
      <dgm:prSet/>
      <dgm:spPr/>
      <dgm:t>
        <a:bodyPr/>
        <a:lstStyle/>
        <a:p>
          <a:endParaRPr lang="en-US"/>
        </a:p>
      </dgm:t>
    </dgm:pt>
    <dgm:pt modelId="{8B58B3BC-26E7-408A-B174-60EBA43364ED}">
      <dgm:prSet/>
      <dgm:spPr/>
      <dgm:t>
        <a:bodyPr/>
        <a:lstStyle/>
        <a:p>
          <a:r>
            <a:rPr lang="en-US"/>
            <a:t>Low overhead,</a:t>
          </a:r>
        </a:p>
      </dgm:t>
    </dgm:pt>
    <dgm:pt modelId="{F4F3BB0D-5405-4279-BC7E-F3EDC8ACED5E}" type="parTrans" cxnId="{2213BEF9-8F33-4D3C-913C-7DC6C5EE09C3}">
      <dgm:prSet/>
      <dgm:spPr/>
      <dgm:t>
        <a:bodyPr/>
        <a:lstStyle/>
        <a:p>
          <a:endParaRPr lang="en-US"/>
        </a:p>
      </dgm:t>
    </dgm:pt>
    <dgm:pt modelId="{7289CCFE-3CA0-4F8E-8561-523113E1BE75}" type="sibTrans" cxnId="{2213BEF9-8F33-4D3C-913C-7DC6C5EE09C3}">
      <dgm:prSet/>
      <dgm:spPr/>
      <dgm:t>
        <a:bodyPr/>
        <a:lstStyle/>
        <a:p>
          <a:endParaRPr lang="en-US"/>
        </a:p>
      </dgm:t>
    </dgm:pt>
    <dgm:pt modelId="{69DE4B3E-08AF-4B71-8038-9B0E7435BCB6}">
      <dgm:prSet/>
      <dgm:spPr/>
      <dgm:t>
        <a:bodyPr/>
        <a:lstStyle/>
        <a:p>
          <a:r>
            <a:rPr lang="en-US"/>
            <a:t>Less accurate.</a:t>
          </a:r>
        </a:p>
      </dgm:t>
    </dgm:pt>
    <dgm:pt modelId="{C3D3FF1A-46EE-4F87-ADCA-5A62F317FBBC}" type="parTrans" cxnId="{93C1DF07-9479-47EF-8592-602C8272594F}">
      <dgm:prSet/>
      <dgm:spPr/>
      <dgm:t>
        <a:bodyPr/>
        <a:lstStyle/>
        <a:p>
          <a:endParaRPr lang="en-US"/>
        </a:p>
      </dgm:t>
    </dgm:pt>
    <dgm:pt modelId="{2BC380DF-DCA3-4C03-9B7C-386FEB0D633C}" type="sibTrans" cxnId="{93C1DF07-9479-47EF-8592-602C8272594F}">
      <dgm:prSet/>
      <dgm:spPr/>
      <dgm:t>
        <a:bodyPr/>
        <a:lstStyle/>
        <a:p>
          <a:endParaRPr lang="en-US"/>
        </a:p>
      </dgm:t>
    </dgm:pt>
    <dgm:pt modelId="{6D4643F9-C52C-408B-8C87-0F25A88D760F}">
      <dgm:prSet/>
      <dgm:spPr/>
      <dgm:t>
        <a:bodyPr/>
        <a:lstStyle/>
        <a:p>
          <a:r>
            <a:rPr lang="en-US" b="1"/>
            <a:t>Semi-Blind</a:t>
          </a:r>
          <a:endParaRPr lang="en-US"/>
        </a:p>
      </dgm:t>
    </dgm:pt>
    <dgm:pt modelId="{C11BAF13-5967-4AA4-BBE5-941EE8117678}" type="parTrans" cxnId="{8BBA949D-0735-43EA-A2B4-B548978671C7}">
      <dgm:prSet/>
      <dgm:spPr/>
      <dgm:t>
        <a:bodyPr/>
        <a:lstStyle/>
        <a:p>
          <a:endParaRPr lang="en-US"/>
        </a:p>
      </dgm:t>
    </dgm:pt>
    <dgm:pt modelId="{E4FB8EF8-2CBB-439E-9F56-2A85C56FC050}" type="sibTrans" cxnId="{8BBA949D-0735-43EA-A2B4-B548978671C7}">
      <dgm:prSet/>
      <dgm:spPr/>
      <dgm:t>
        <a:bodyPr/>
        <a:lstStyle/>
        <a:p>
          <a:endParaRPr lang="en-US"/>
        </a:p>
      </dgm:t>
    </dgm:pt>
    <dgm:pt modelId="{3B126B67-C1F3-4F97-9D42-C618E46A4FBB}">
      <dgm:prSet/>
      <dgm:spPr/>
      <dgm:t>
        <a:bodyPr/>
        <a:lstStyle/>
        <a:p>
          <a:r>
            <a:rPr lang="en-US"/>
            <a:t>Combination of pilots + statistics:</a:t>
          </a:r>
        </a:p>
      </dgm:t>
    </dgm:pt>
    <dgm:pt modelId="{9761BAC4-46F2-4CE8-81DE-7A3D5B65AB1A}" type="parTrans" cxnId="{A4AAB749-9548-439F-A1D0-A48D7A1B5CE4}">
      <dgm:prSet/>
      <dgm:spPr/>
      <dgm:t>
        <a:bodyPr/>
        <a:lstStyle/>
        <a:p>
          <a:endParaRPr lang="en-US"/>
        </a:p>
      </dgm:t>
    </dgm:pt>
    <dgm:pt modelId="{F4B269D5-793B-40AA-815F-DCE9AB13C708}" type="sibTrans" cxnId="{A4AAB749-9548-439F-A1D0-A48D7A1B5CE4}">
      <dgm:prSet/>
      <dgm:spPr/>
      <dgm:t>
        <a:bodyPr/>
        <a:lstStyle/>
        <a:p>
          <a:endParaRPr lang="en-US"/>
        </a:p>
      </dgm:t>
    </dgm:pt>
    <dgm:pt modelId="{3CD1A2EE-8029-41F7-8ADF-5C17D4B15ABE}">
      <dgm:prSet/>
      <dgm:spPr/>
      <dgm:t>
        <a:bodyPr/>
        <a:lstStyle/>
        <a:p>
          <a:r>
            <a:rPr lang="en-US"/>
            <a:t>Intermediate complexity/accuracy.</a:t>
          </a:r>
        </a:p>
      </dgm:t>
    </dgm:pt>
    <dgm:pt modelId="{1D32DF52-7089-4C72-A60D-3317F67A93A0}" type="parTrans" cxnId="{7561D69B-C0D5-44AF-8E11-EDF81B7CD18F}">
      <dgm:prSet/>
      <dgm:spPr/>
      <dgm:t>
        <a:bodyPr/>
        <a:lstStyle/>
        <a:p>
          <a:endParaRPr lang="en-US"/>
        </a:p>
      </dgm:t>
    </dgm:pt>
    <dgm:pt modelId="{02B3EC51-E844-4268-A5FF-6B7C91DE9B36}" type="sibTrans" cxnId="{7561D69B-C0D5-44AF-8E11-EDF81B7CD18F}">
      <dgm:prSet/>
      <dgm:spPr/>
      <dgm:t>
        <a:bodyPr/>
        <a:lstStyle/>
        <a:p>
          <a:endParaRPr lang="en-US"/>
        </a:p>
      </dgm:t>
    </dgm:pt>
    <dgm:pt modelId="{73D7C441-E3F8-43A6-9311-74D9847066BF}" type="pres">
      <dgm:prSet presAssocID="{771EDDC1-AF07-4732-86FA-F8998A3D5643}" presName="linear" presStyleCnt="0">
        <dgm:presLayoutVars>
          <dgm:animLvl val="lvl"/>
          <dgm:resizeHandles val="exact"/>
        </dgm:presLayoutVars>
      </dgm:prSet>
      <dgm:spPr/>
    </dgm:pt>
    <dgm:pt modelId="{9377A391-99A6-4CB1-8713-7A34F5B93504}" type="pres">
      <dgm:prSet presAssocID="{88D26A07-BD74-46F9-B74D-FB4890836D26}" presName="parentText" presStyleLbl="node1" presStyleIdx="0" presStyleCnt="3">
        <dgm:presLayoutVars>
          <dgm:chMax val="0"/>
          <dgm:bulletEnabled val="1"/>
        </dgm:presLayoutVars>
      </dgm:prSet>
      <dgm:spPr/>
    </dgm:pt>
    <dgm:pt modelId="{60AB1013-5F2F-469C-B9FC-0CAF98D56446}" type="pres">
      <dgm:prSet presAssocID="{88D26A07-BD74-46F9-B74D-FB4890836D26}" presName="childText" presStyleLbl="revTx" presStyleIdx="0" presStyleCnt="3">
        <dgm:presLayoutVars>
          <dgm:bulletEnabled val="1"/>
        </dgm:presLayoutVars>
      </dgm:prSet>
      <dgm:spPr/>
    </dgm:pt>
    <dgm:pt modelId="{7A481CF2-F4DE-4487-8F43-CB3C36CF6604}" type="pres">
      <dgm:prSet presAssocID="{A0218D59-CA80-4F36-AE1A-7756DED569C1}" presName="parentText" presStyleLbl="node1" presStyleIdx="1" presStyleCnt="3">
        <dgm:presLayoutVars>
          <dgm:chMax val="0"/>
          <dgm:bulletEnabled val="1"/>
        </dgm:presLayoutVars>
      </dgm:prSet>
      <dgm:spPr/>
    </dgm:pt>
    <dgm:pt modelId="{A2BA79E9-66B2-461B-AC9F-CB32B3FDC508}" type="pres">
      <dgm:prSet presAssocID="{A0218D59-CA80-4F36-AE1A-7756DED569C1}" presName="childText" presStyleLbl="revTx" presStyleIdx="1" presStyleCnt="3">
        <dgm:presLayoutVars>
          <dgm:bulletEnabled val="1"/>
        </dgm:presLayoutVars>
      </dgm:prSet>
      <dgm:spPr/>
    </dgm:pt>
    <dgm:pt modelId="{290FE841-6F24-4EDB-9F75-A7E881B6D7BB}" type="pres">
      <dgm:prSet presAssocID="{6D4643F9-C52C-408B-8C87-0F25A88D760F}" presName="parentText" presStyleLbl="node1" presStyleIdx="2" presStyleCnt="3">
        <dgm:presLayoutVars>
          <dgm:chMax val="0"/>
          <dgm:bulletEnabled val="1"/>
        </dgm:presLayoutVars>
      </dgm:prSet>
      <dgm:spPr/>
    </dgm:pt>
    <dgm:pt modelId="{0E41B9B7-BB1B-4F36-9ABC-CDE9E36A37BA}" type="pres">
      <dgm:prSet presAssocID="{6D4643F9-C52C-408B-8C87-0F25A88D760F}" presName="childText" presStyleLbl="revTx" presStyleIdx="2" presStyleCnt="3">
        <dgm:presLayoutVars>
          <dgm:bulletEnabled val="1"/>
        </dgm:presLayoutVars>
      </dgm:prSet>
      <dgm:spPr/>
    </dgm:pt>
  </dgm:ptLst>
  <dgm:cxnLst>
    <dgm:cxn modelId="{DBCC7F06-C1C9-44CE-A950-A2FD0107D8B9}" type="presOf" srcId="{6D4643F9-C52C-408B-8C87-0F25A88D760F}" destId="{290FE841-6F24-4EDB-9F75-A7E881B6D7BB}" srcOrd="0" destOrd="0" presId="urn:microsoft.com/office/officeart/2005/8/layout/vList2"/>
    <dgm:cxn modelId="{93C1DF07-9479-47EF-8592-602C8272594F}" srcId="{A0218D59-CA80-4F36-AE1A-7756DED569C1}" destId="{69DE4B3E-08AF-4B71-8038-9B0E7435BCB6}" srcOrd="3" destOrd="0" parTransId="{C3D3FF1A-46EE-4F87-ADCA-5A62F317FBBC}" sibTransId="{2BC380DF-DCA3-4C03-9B7C-386FEB0D633C}"/>
    <dgm:cxn modelId="{FA5FF808-C601-4C9E-B7AD-3F6687C2F2FA}" srcId="{88D26A07-BD74-46F9-B74D-FB4890836D26}" destId="{8973D918-B157-419F-BA98-E1E543D47B3D}" srcOrd="0" destOrd="0" parTransId="{89817D35-94C0-42AB-9392-CD4339241A11}" sibTransId="{50F89358-DF1A-42F6-8A96-B5C5D3C7B940}"/>
    <dgm:cxn modelId="{9C7DD20E-83C4-45FC-BBB3-C470F769916C}" type="presOf" srcId="{3B126B67-C1F3-4F97-9D42-C618E46A4FBB}" destId="{0E41B9B7-BB1B-4F36-9ABC-CDE9E36A37BA}" srcOrd="0" destOrd="0" presId="urn:microsoft.com/office/officeart/2005/8/layout/vList2"/>
    <dgm:cxn modelId="{2919A112-91EA-482A-9540-2363A1C21304}" type="presOf" srcId="{A0218D59-CA80-4F36-AE1A-7756DED569C1}" destId="{7A481CF2-F4DE-4487-8F43-CB3C36CF6604}" srcOrd="0" destOrd="0" presId="urn:microsoft.com/office/officeart/2005/8/layout/vList2"/>
    <dgm:cxn modelId="{ECBEA51F-0073-4585-B06E-FD244E1A6A81}" srcId="{88D26A07-BD74-46F9-B74D-FB4890836D26}" destId="{960A18E7-E8DF-45C1-A067-E0C29CAD81F7}" srcOrd="1" destOrd="0" parTransId="{6D403DA7-D228-477A-9205-B40DCCADB273}" sibTransId="{96F1E5E1-63A6-4161-A17B-CB666B6C66EF}"/>
    <dgm:cxn modelId="{79F6AC2C-1620-431C-9036-7AF6502F3A55}" type="presOf" srcId="{86BC1F57-FA7B-479B-8BE5-F3660555A785}" destId="{60AB1013-5F2F-469C-B9FC-0CAF98D56446}" srcOrd="0" destOrd="2" presId="urn:microsoft.com/office/officeart/2005/8/layout/vList2"/>
    <dgm:cxn modelId="{14DB9E2E-B44C-448A-B754-84721D84963D}" srcId="{771EDDC1-AF07-4732-86FA-F8998A3D5643}" destId="{88D26A07-BD74-46F9-B74D-FB4890836D26}" srcOrd="0" destOrd="0" parTransId="{EB8D771F-8951-4B76-8971-DB45908570C4}" sibTransId="{B9A4F78B-BB0A-40C2-9EC6-FDB84BB7C5BE}"/>
    <dgm:cxn modelId="{A055C85C-2392-422E-8392-A80D4A4699A9}" srcId="{A0218D59-CA80-4F36-AE1A-7756DED569C1}" destId="{820FC86F-9126-45AB-B858-7EFEC5EF3789}" srcOrd="0" destOrd="0" parTransId="{A6235C8F-3559-400A-90BA-1CCB4DE94862}" sibTransId="{03447A76-6B96-4040-999E-4F79607991FF}"/>
    <dgm:cxn modelId="{66141042-5A64-438D-92EC-8B8AAD3EA319}" srcId="{771EDDC1-AF07-4732-86FA-F8998A3D5643}" destId="{A0218D59-CA80-4F36-AE1A-7756DED569C1}" srcOrd="1" destOrd="0" parTransId="{9C8E6E8B-3AB2-4641-88F9-0B3B2BECF514}" sibTransId="{C20E59C2-7D7D-4EB2-A48A-E8AC4E08775F}"/>
    <dgm:cxn modelId="{57FF6443-C566-47B6-93B2-3E22BF736B04}" type="presOf" srcId="{960A18E7-E8DF-45C1-A067-E0C29CAD81F7}" destId="{60AB1013-5F2F-469C-B9FC-0CAF98D56446}" srcOrd="0" destOrd="1" presId="urn:microsoft.com/office/officeart/2005/8/layout/vList2"/>
    <dgm:cxn modelId="{A4AAB749-9548-439F-A1D0-A48D7A1B5CE4}" srcId="{6D4643F9-C52C-408B-8C87-0F25A88D760F}" destId="{3B126B67-C1F3-4F97-9D42-C618E46A4FBB}" srcOrd="0" destOrd="0" parTransId="{9761BAC4-46F2-4CE8-81DE-7A3D5B65AB1A}" sibTransId="{F4B269D5-793B-40AA-815F-DCE9AB13C708}"/>
    <dgm:cxn modelId="{23CAB86F-C212-4C53-9D24-1F5D4AD4B958}" type="presOf" srcId="{820FC86F-9126-45AB-B858-7EFEC5EF3789}" destId="{A2BA79E9-66B2-461B-AC9F-CB32B3FDC508}" srcOrd="0" destOrd="0" presId="urn:microsoft.com/office/officeart/2005/8/layout/vList2"/>
    <dgm:cxn modelId="{182C7B73-5F3E-478E-8817-A3AD457DE354}" srcId="{88D26A07-BD74-46F9-B74D-FB4890836D26}" destId="{86BC1F57-FA7B-479B-8BE5-F3660555A785}" srcOrd="2" destOrd="0" parTransId="{3BF0BCB4-F05B-449F-94F0-1C99F1F4A876}" sibTransId="{7DA8F0FD-4696-4967-92A9-89026FBCA4DF}"/>
    <dgm:cxn modelId="{6C84E173-6B84-4D64-AEF1-A24135B3B89D}" type="presOf" srcId="{8973D918-B157-419F-BA98-E1E543D47B3D}" destId="{60AB1013-5F2F-469C-B9FC-0CAF98D56446}" srcOrd="0" destOrd="0" presId="urn:microsoft.com/office/officeart/2005/8/layout/vList2"/>
    <dgm:cxn modelId="{EF382F75-F834-47D0-81E1-2B8E229A1BB2}" type="presOf" srcId="{771EDDC1-AF07-4732-86FA-F8998A3D5643}" destId="{73D7C441-E3F8-43A6-9311-74D9847066BF}" srcOrd="0" destOrd="0" presId="urn:microsoft.com/office/officeart/2005/8/layout/vList2"/>
    <dgm:cxn modelId="{FCE9197E-6FFD-4B93-960F-22E5E58CB0D1}" type="presOf" srcId="{69DE4B3E-08AF-4B71-8038-9B0E7435BCB6}" destId="{A2BA79E9-66B2-461B-AC9F-CB32B3FDC508}" srcOrd="0" destOrd="3" presId="urn:microsoft.com/office/officeart/2005/8/layout/vList2"/>
    <dgm:cxn modelId="{53407182-DD8B-4AFE-A778-7E7F7F5BB853}" type="presOf" srcId="{3CD1A2EE-8029-41F7-8ADF-5C17D4B15ABE}" destId="{0E41B9B7-BB1B-4F36-9ABC-CDE9E36A37BA}" srcOrd="0" destOrd="1" presId="urn:microsoft.com/office/officeart/2005/8/layout/vList2"/>
    <dgm:cxn modelId="{7561D69B-C0D5-44AF-8E11-EDF81B7CD18F}" srcId="{6D4643F9-C52C-408B-8C87-0F25A88D760F}" destId="{3CD1A2EE-8029-41F7-8ADF-5C17D4B15ABE}" srcOrd="1" destOrd="0" parTransId="{1D32DF52-7089-4C72-A60D-3317F67A93A0}" sibTransId="{02B3EC51-E844-4268-A5FF-6B7C91DE9B36}"/>
    <dgm:cxn modelId="{8BBA949D-0735-43EA-A2B4-B548978671C7}" srcId="{771EDDC1-AF07-4732-86FA-F8998A3D5643}" destId="{6D4643F9-C52C-408B-8C87-0F25A88D760F}" srcOrd="2" destOrd="0" parTransId="{C11BAF13-5967-4AA4-BBE5-941EE8117678}" sibTransId="{E4FB8EF8-2CBB-439E-9F56-2A85C56FC050}"/>
    <dgm:cxn modelId="{276B43AE-7364-45A2-B278-34AC316CE548}" type="presOf" srcId="{FC94BCFA-BF9E-4C96-BEE2-BDFA23F79256}" destId="{A2BA79E9-66B2-461B-AC9F-CB32B3FDC508}" srcOrd="0" destOrd="1" presId="urn:microsoft.com/office/officeart/2005/8/layout/vList2"/>
    <dgm:cxn modelId="{384E62BE-9C76-4A15-B298-C8E9B9BB7BBF}" srcId="{A0218D59-CA80-4F36-AE1A-7756DED569C1}" destId="{FC94BCFA-BF9E-4C96-BEE2-BDFA23F79256}" srcOrd="1" destOrd="0" parTransId="{7BD01BEE-93CD-4801-A439-1784B670A3CE}" sibTransId="{1B23685A-E1DA-4E97-963F-B5EDA8C4F762}"/>
    <dgm:cxn modelId="{D7D2A0CA-0100-403C-AC00-9882E0A66E91}" type="presOf" srcId="{8B58B3BC-26E7-408A-B174-60EBA43364ED}" destId="{A2BA79E9-66B2-461B-AC9F-CB32B3FDC508}" srcOrd="0" destOrd="2" presId="urn:microsoft.com/office/officeart/2005/8/layout/vList2"/>
    <dgm:cxn modelId="{23E01DE4-B783-476B-B729-323E7FD13749}" type="presOf" srcId="{88D26A07-BD74-46F9-B74D-FB4890836D26}" destId="{9377A391-99A6-4CB1-8713-7A34F5B93504}" srcOrd="0" destOrd="0" presId="urn:microsoft.com/office/officeart/2005/8/layout/vList2"/>
    <dgm:cxn modelId="{2213BEF9-8F33-4D3C-913C-7DC6C5EE09C3}" srcId="{A0218D59-CA80-4F36-AE1A-7756DED569C1}" destId="{8B58B3BC-26E7-408A-B174-60EBA43364ED}" srcOrd="2" destOrd="0" parTransId="{F4F3BB0D-5405-4279-BC7E-F3EDC8ACED5E}" sibTransId="{7289CCFE-3CA0-4F8E-8561-523113E1BE75}"/>
    <dgm:cxn modelId="{154C80BC-3B91-4F7C-A5EC-CBC82E3D74C3}" type="presParOf" srcId="{73D7C441-E3F8-43A6-9311-74D9847066BF}" destId="{9377A391-99A6-4CB1-8713-7A34F5B93504}" srcOrd="0" destOrd="0" presId="urn:microsoft.com/office/officeart/2005/8/layout/vList2"/>
    <dgm:cxn modelId="{3A970A79-F8D1-416B-8861-26140A8AF67F}" type="presParOf" srcId="{73D7C441-E3F8-43A6-9311-74D9847066BF}" destId="{60AB1013-5F2F-469C-B9FC-0CAF98D56446}" srcOrd="1" destOrd="0" presId="urn:microsoft.com/office/officeart/2005/8/layout/vList2"/>
    <dgm:cxn modelId="{E35767C8-388A-4D6C-B295-FD2A6CA915F1}" type="presParOf" srcId="{73D7C441-E3F8-43A6-9311-74D9847066BF}" destId="{7A481CF2-F4DE-4487-8F43-CB3C36CF6604}" srcOrd="2" destOrd="0" presId="urn:microsoft.com/office/officeart/2005/8/layout/vList2"/>
    <dgm:cxn modelId="{B28671E9-2D31-4DBA-8C28-42E3835AB18D}" type="presParOf" srcId="{73D7C441-E3F8-43A6-9311-74D9847066BF}" destId="{A2BA79E9-66B2-461B-AC9F-CB32B3FDC508}" srcOrd="3" destOrd="0" presId="urn:microsoft.com/office/officeart/2005/8/layout/vList2"/>
    <dgm:cxn modelId="{8E5313CB-F11D-4826-9CE4-6AA3E86A1A50}" type="presParOf" srcId="{73D7C441-E3F8-43A6-9311-74D9847066BF}" destId="{290FE841-6F24-4EDB-9F75-A7E881B6D7BB}" srcOrd="4" destOrd="0" presId="urn:microsoft.com/office/officeart/2005/8/layout/vList2"/>
    <dgm:cxn modelId="{3BC5A742-ECCA-43A6-9B4E-16C1ED532626}" type="presParOf" srcId="{73D7C441-E3F8-43A6-9311-74D9847066BF}" destId="{0E41B9B7-BB1B-4F36-9ABC-CDE9E36A37BA}"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F077E98-06A0-4135-B047-F7E7812693C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B09DB24-F932-4174-A7AD-B9638FA595D1}">
      <dgm:prSet/>
      <dgm:spPr/>
      <dgm:t>
        <a:bodyPr/>
        <a:lstStyle/>
        <a:p>
          <a:r>
            <a:rPr lang="en-US"/>
            <a:t>Complexity: </a:t>
          </a:r>
        </a:p>
      </dgm:t>
    </dgm:pt>
    <dgm:pt modelId="{8F23C45C-A557-49BB-A273-259AC0D5E8FF}" type="parTrans" cxnId="{928C77B1-7055-4E8C-83FB-90533BC36EA2}">
      <dgm:prSet/>
      <dgm:spPr/>
      <dgm:t>
        <a:bodyPr/>
        <a:lstStyle/>
        <a:p>
          <a:endParaRPr lang="en-US"/>
        </a:p>
      </dgm:t>
    </dgm:pt>
    <dgm:pt modelId="{CF546593-6CFD-4252-A12B-4A09D6E6B69A}" type="sibTrans" cxnId="{928C77B1-7055-4E8C-83FB-90533BC36EA2}">
      <dgm:prSet/>
      <dgm:spPr/>
      <dgm:t>
        <a:bodyPr/>
        <a:lstStyle/>
        <a:p>
          <a:endParaRPr lang="en-US"/>
        </a:p>
      </dgm:t>
    </dgm:pt>
    <dgm:pt modelId="{8CFC288E-B54E-4794-B112-281EE870E9C6}">
      <dgm:prSet/>
      <dgm:spPr/>
      <dgm:t>
        <a:bodyPr/>
        <a:lstStyle/>
        <a:p>
          <a:r>
            <a:rPr lang="en-US"/>
            <a:t>Pilot Overhead: </a:t>
          </a:r>
        </a:p>
      </dgm:t>
    </dgm:pt>
    <dgm:pt modelId="{DE79B605-DC84-4FA8-8CF0-7CD9F0D7B55D}" type="parTrans" cxnId="{EE4B0577-C328-4EF9-A2CC-7421A96795DA}">
      <dgm:prSet/>
      <dgm:spPr/>
      <dgm:t>
        <a:bodyPr/>
        <a:lstStyle/>
        <a:p>
          <a:endParaRPr lang="en-US"/>
        </a:p>
      </dgm:t>
    </dgm:pt>
    <dgm:pt modelId="{321175A7-89E8-420C-BA53-29C7519511D7}" type="sibTrans" cxnId="{EE4B0577-C328-4EF9-A2CC-7421A96795DA}">
      <dgm:prSet/>
      <dgm:spPr/>
      <dgm:t>
        <a:bodyPr/>
        <a:lstStyle/>
        <a:p>
          <a:endParaRPr lang="en-US"/>
        </a:p>
      </dgm:t>
    </dgm:pt>
    <dgm:pt modelId="{8BD7B44D-86F7-4DA4-9489-2DB6361815ED}">
      <dgm:prSet/>
      <dgm:spPr/>
      <dgm:t>
        <a:bodyPr/>
        <a:lstStyle/>
        <a:p>
          <a:r>
            <a:rPr lang="en-US"/>
            <a:t>Channel Correlation: </a:t>
          </a:r>
        </a:p>
      </dgm:t>
    </dgm:pt>
    <dgm:pt modelId="{63DB50B9-A8C3-403D-9A82-363D71C64720}" type="parTrans" cxnId="{BEBF6FCE-3110-4628-8BE5-7ED633175F05}">
      <dgm:prSet/>
      <dgm:spPr/>
      <dgm:t>
        <a:bodyPr/>
        <a:lstStyle/>
        <a:p>
          <a:endParaRPr lang="en-US"/>
        </a:p>
      </dgm:t>
    </dgm:pt>
    <dgm:pt modelId="{5772C328-7B62-485A-9877-B1F374BD03A1}" type="sibTrans" cxnId="{BEBF6FCE-3110-4628-8BE5-7ED633175F05}">
      <dgm:prSet/>
      <dgm:spPr/>
      <dgm:t>
        <a:bodyPr/>
        <a:lstStyle/>
        <a:p>
          <a:endParaRPr lang="en-US"/>
        </a:p>
      </dgm:t>
    </dgm:pt>
    <dgm:pt modelId="{8635DC98-C603-4CB8-969B-7336129BCFB2}">
      <dgm:prSet/>
      <dgm:spPr/>
      <dgm:t>
        <a:bodyPr/>
        <a:lstStyle/>
        <a:p>
          <a:r>
            <a:rPr lang="en-US"/>
            <a:t>Interference and Noise:</a:t>
          </a:r>
        </a:p>
      </dgm:t>
    </dgm:pt>
    <dgm:pt modelId="{1FE8DB29-2A50-455B-B1D8-156F55BFCDE2}" type="parTrans" cxnId="{13AD67F2-A5D8-47DF-81FD-1D5144D4608B}">
      <dgm:prSet/>
      <dgm:spPr/>
      <dgm:t>
        <a:bodyPr/>
        <a:lstStyle/>
        <a:p>
          <a:endParaRPr lang="en-US"/>
        </a:p>
      </dgm:t>
    </dgm:pt>
    <dgm:pt modelId="{F84168B3-30B3-4E2E-BB63-D110D26C0796}" type="sibTrans" cxnId="{13AD67F2-A5D8-47DF-81FD-1D5144D4608B}">
      <dgm:prSet/>
      <dgm:spPr/>
      <dgm:t>
        <a:bodyPr/>
        <a:lstStyle/>
        <a:p>
          <a:endParaRPr lang="en-US"/>
        </a:p>
      </dgm:t>
    </dgm:pt>
    <dgm:pt modelId="{7B07DE66-F5B8-4128-ABC4-326C3387DF61}" type="pres">
      <dgm:prSet presAssocID="{1F077E98-06A0-4135-B047-F7E7812693CD}" presName="linear" presStyleCnt="0">
        <dgm:presLayoutVars>
          <dgm:animLvl val="lvl"/>
          <dgm:resizeHandles val="exact"/>
        </dgm:presLayoutVars>
      </dgm:prSet>
      <dgm:spPr/>
    </dgm:pt>
    <dgm:pt modelId="{F6678052-A106-42DA-B08C-B67CCBAEA477}" type="pres">
      <dgm:prSet presAssocID="{AB09DB24-F932-4174-A7AD-B9638FA595D1}" presName="parentText" presStyleLbl="node1" presStyleIdx="0" presStyleCnt="4">
        <dgm:presLayoutVars>
          <dgm:chMax val="0"/>
          <dgm:bulletEnabled val="1"/>
        </dgm:presLayoutVars>
      </dgm:prSet>
      <dgm:spPr/>
    </dgm:pt>
    <dgm:pt modelId="{095EE031-C8BC-46F2-A618-1C8E63BBE923}" type="pres">
      <dgm:prSet presAssocID="{CF546593-6CFD-4252-A12B-4A09D6E6B69A}" presName="spacer" presStyleCnt="0"/>
      <dgm:spPr/>
    </dgm:pt>
    <dgm:pt modelId="{464248F3-DAF2-40C3-8AED-613862A062BD}" type="pres">
      <dgm:prSet presAssocID="{8CFC288E-B54E-4794-B112-281EE870E9C6}" presName="parentText" presStyleLbl="node1" presStyleIdx="1" presStyleCnt="4">
        <dgm:presLayoutVars>
          <dgm:chMax val="0"/>
          <dgm:bulletEnabled val="1"/>
        </dgm:presLayoutVars>
      </dgm:prSet>
      <dgm:spPr/>
    </dgm:pt>
    <dgm:pt modelId="{168471A9-C2C5-4990-AF6B-8C5D2929CEA7}" type="pres">
      <dgm:prSet presAssocID="{321175A7-89E8-420C-BA53-29C7519511D7}" presName="spacer" presStyleCnt="0"/>
      <dgm:spPr/>
    </dgm:pt>
    <dgm:pt modelId="{013C4D29-ABC4-4995-BEED-EF3579D60F99}" type="pres">
      <dgm:prSet presAssocID="{8BD7B44D-86F7-4DA4-9489-2DB6361815ED}" presName="parentText" presStyleLbl="node1" presStyleIdx="2" presStyleCnt="4">
        <dgm:presLayoutVars>
          <dgm:chMax val="0"/>
          <dgm:bulletEnabled val="1"/>
        </dgm:presLayoutVars>
      </dgm:prSet>
      <dgm:spPr/>
    </dgm:pt>
    <dgm:pt modelId="{073E51CC-EE46-423F-9054-710AFBF58928}" type="pres">
      <dgm:prSet presAssocID="{5772C328-7B62-485A-9877-B1F374BD03A1}" presName="spacer" presStyleCnt="0"/>
      <dgm:spPr/>
    </dgm:pt>
    <dgm:pt modelId="{2BB3E939-6FA7-46C1-B5EF-97F1C53085E7}" type="pres">
      <dgm:prSet presAssocID="{8635DC98-C603-4CB8-969B-7336129BCFB2}" presName="parentText" presStyleLbl="node1" presStyleIdx="3" presStyleCnt="4">
        <dgm:presLayoutVars>
          <dgm:chMax val="0"/>
          <dgm:bulletEnabled val="1"/>
        </dgm:presLayoutVars>
      </dgm:prSet>
      <dgm:spPr/>
    </dgm:pt>
  </dgm:ptLst>
  <dgm:cxnLst>
    <dgm:cxn modelId="{595DF52C-B2A5-4885-9D67-4FDB39996BBF}" type="presOf" srcId="{8CFC288E-B54E-4794-B112-281EE870E9C6}" destId="{464248F3-DAF2-40C3-8AED-613862A062BD}" srcOrd="0" destOrd="0" presId="urn:microsoft.com/office/officeart/2005/8/layout/vList2"/>
    <dgm:cxn modelId="{81AAE245-C849-47CD-AC6E-90A46B31266D}" type="presOf" srcId="{8635DC98-C603-4CB8-969B-7336129BCFB2}" destId="{2BB3E939-6FA7-46C1-B5EF-97F1C53085E7}" srcOrd="0" destOrd="0" presId="urn:microsoft.com/office/officeart/2005/8/layout/vList2"/>
    <dgm:cxn modelId="{4919994C-9151-4B29-86B5-CCB8A2F5510A}" type="presOf" srcId="{1F077E98-06A0-4135-B047-F7E7812693CD}" destId="{7B07DE66-F5B8-4128-ABC4-326C3387DF61}" srcOrd="0" destOrd="0" presId="urn:microsoft.com/office/officeart/2005/8/layout/vList2"/>
    <dgm:cxn modelId="{EE4B0577-C328-4EF9-A2CC-7421A96795DA}" srcId="{1F077E98-06A0-4135-B047-F7E7812693CD}" destId="{8CFC288E-B54E-4794-B112-281EE870E9C6}" srcOrd="1" destOrd="0" parTransId="{DE79B605-DC84-4FA8-8CF0-7CD9F0D7B55D}" sibTransId="{321175A7-89E8-420C-BA53-29C7519511D7}"/>
    <dgm:cxn modelId="{6744F08B-F0F2-42CC-AA56-BD3957DAAB2E}" type="presOf" srcId="{AB09DB24-F932-4174-A7AD-B9638FA595D1}" destId="{F6678052-A106-42DA-B08C-B67CCBAEA477}" srcOrd="0" destOrd="0" presId="urn:microsoft.com/office/officeart/2005/8/layout/vList2"/>
    <dgm:cxn modelId="{B497D18F-A3AE-4E22-A04D-7446E2B578CD}" type="presOf" srcId="{8BD7B44D-86F7-4DA4-9489-2DB6361815ED}" destId="{013C4D29-ABC4-4995-BEED-EF3579D60F99}" srcOrd="0" destOrd="0" presId="urn:microsoft.com/office/officeart/2005/8/layout/vList2"/>
    <dgm:cxn modelId="{928C77B1-7055-4E8C-83FB-90533BC36EA2}" srcId="{1F077E98-06A0-4135-B047-F7E7812693CD}" destId="{AB09DB24-F932-4174-A7AD-B9638FA595D1}" srcOrd="0" destOrd="0" parTransId="{8F23C45C-A557-49BB-A273-259AC0D5E8FF}" sibTransId="{CF546593-6CFD-4252-A12B-4A09D6E6B69A}"/>
    <dgm:cxn modelId="{BEBF6FCE-3110-4628-8BE5-7ED633175F05}" srcId="{1F077E98-06A0-4135-B047-F7E7812693CD}" destId="{8BD7B44D-86F7-4DA4-9489-2DB6361815ED}" srcOrd="2" destOrd="0" parTransId="{63DB50B9-A8C3-403D-9A82-363D71C64720}" sibTransId="{5772C328-7B62-485A-9877-B1F374BD03A1}"/>
    <dgm:cxn modelId="{13AD67F2-A5D8-47DF-81FD-1D5144D4608B}" srcId="{1F077E98-06A0-4135-B047-F7E7812693CD}" destId="{8635DC98-C603-4CB8-969B-7336129BCFB2}" srcOrd="3" destOrd="0" parTransId="{1FE8DB29-2A50-455B-B1D8-156F55BFCDE2}" sibTransId="{F84168B3-30B3-4E2E-BB63-D110D26C0796}"/>
    <dgm:cxn modelId="{3DF05587-F685-406E-A0E6-E2EC64F5C943}" type="presParOf" srcId="{7B07DE66-F5B8-4128-ABC4-326C3387DF61}" destId="{F6678052-A106-42DA-B08C-B67CCBAEA477}" srcOrd="0" destOrd="0" presId="urn:microsoft.com/office/officeart/2005/8/layout/vList2"/>
    <dgm:cxn modelId="{002937BF-60B6-4C4C-885A-F7FD3361B22F}" type="presParOf" srcId="{7B07DE66-F5B8-4128-ABC4-326C3387DF61}" destId="{095EE031-C8BC-46F2-A618-1C8E63BBE923}" srcOrd="1" destOrd="0" presId="urn:microsoft.com/office/officeart/2005/8/layout/vList2"/>
    <dgm:cxn modelId="{85F64A84-C7FF-4DAC-A1A3-B96910AD40DE}" type="presParOf" srcId="{7B07DE66-F5B8-4128-ABC4-326C3387DF61}" destId="{464248F3-DAF2-40C3-8AED-613862A062BD}" srcOrd="2" destOrd="0" presId="urn:microsoft.com/office/officeart/2005/8/layout/vList2"/>
    <dgm:cxn modelId="{8B5A8502-E753-4BC1-9301-F0E3B51C7352}" type="presParOf" srcId="{7B07DE66-F5B8-4128-ABC4-326C3387DF61}" destId="{168471A9-C2C5-4990-AF6B-8C5D2929CEA7}" srcOrd="3" destOrd="0" presId="urn:microsoft.com/office/officeart/2005/8/layout/vList2"/>
    <dgm:cxn modelId="{60F6336F-B110-44CD-918D-14AF04582983}" type="presParOf" srcId="{7B07DE66-F5B8-4128-ABC4-326C3387DF61}" destId="{013C4D29-ABC4-4995-BEED-EF3579D60F99}" srcOrd="4" destOrd="0" presId="urn:microsoft.com/office/officeart/2005/8/layout/vList2"/>
    <dgm:cxn modelId="{B5901D47-0E25-47B6-AF07-317DAB6FC327}" type="presParOf" srcId="{7B07DE66-F5B8-4128-ABC4-326C3387DF61}" destId="{073E51CC-EE46-423F-9054-710AFBF58928}" srcOrd="5" destOrd="0" presId="urn:microsoft.com/office/officeart/2005/8/layout/vList2"/>
    <dgm:cxn modelId="{C222DF42-87F6-430A-B487-11D7D1814BF6}" type="presParOf" srcId="{7B07DE66-F5B8-4128-ABC4-326C3387DF61}" destId="{2BB3E939-6FA7-46C1-B5EF-97F1C53085E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A6B61DD-D1D6-4C2E-B40D-F85E66EBCEB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4BA4469-FF85-4072-982F-DFCCB0FBA988}">
      <dgm:prSet custT="1"/>
      <dgm:spPr/>
      <dgm:t>
        <a:bodyPr/>
        <a:lstStyle/>
        <a:p>
          <a:r>
            <a:rPr lang="en-US" sz="2400" b="0" i="0" baseline="0" dirty="0"/>
            <a:t>Channel estimation</a:t>
          </a:r>
          <a:endParaRPr lang="en-US" sz="2400" dirty="0"/>
        </a:p>
      </dgm:t>
    </dgm:pt>
    <dgm:pt modelId="{B04A2385-6FAD-4836-9D48-1604D3DE2AA3}" type="parTrans" cxnId="{064945FA-D881-425C-95A0-286CD52127CA}">
      <dgm:prSet/>
      <dgm:spPr/>
      <dgm:t>
        <a:bodyPr/>
        <a:lstStyle/>
        <a:p>
          <a:endParaRPr lang="en-US" sz="2400"/>
        </a:p>
      </dgm:t>
    </dgm:pt>
    <dgm:pt modelId="{641FA0AA-8F1E-4419-B1A4-3CAD67AD08DF}" type="sibTrans" cxnId="{064945FA-D881-425C-95A0-286CD52127CA}">
      <dgm:prSet/>
      <dgm:spPr/>
      <dgm:t>
        <a:bodyPr/>
        <a:lstStyle/>
        <a:p>
          <a:endParaRPr lang="en-US" sz="2400"/>
        </a:p>
      </dgm:t>
    </dgm:pt>
    <dgm:pt modelId="{413C62CB-5A07-4C79-9081-57C9103A48F3}">
      <dgm:prSet custT="1"/>
      <dgm:spPr/>
      <dgm:t>
        <a:bodyPr/>
        <a:lstStyle/>
        <a:p>
          <a:r>
            <a:rPr lang="en-US" sz="2400" b="0" i="0" baseline="0"/>
            <a:t>Feedback and CSI</a:t>
          </a:r>
          <a:endParaRPr lang="en-US" sz="2400"/>
        </a:p>
      </dgm:t>
    </dgm:pt>
    <dgm:pt modelId="{F3529AC3-2D73-48AD-9CCB-73D269E73726}" type="parTrans" cxnId="{F1D185A1-09F8-42FF-A068-F16D4486A40A}">
      <dgm:prSet/>
      <dgm:spPr/>
      <dgm:t>
        <a:bodyPr/>
        <a:lstStyle/>
        <a:p>
          <a:endParaRPr lang="en-US" sz="2400"/>
        </a:p>
      </dgm:t>
    </dgm:pt>
    <dgm:pt modelId="{B03F0D50-1B8E-40C7-AF04-7C3579FBF379}" type="sibTrans" cxnId="{F1D185A1-09F8-42FF-A068-F16D4486A40A}">
      <dgm:prSet/>
      <dgm:spPr/>
      <dgm:t>
        <a:bodyPr/>
        <a:lstStyle/>
        <a:p>
          <a:endParaRPr lang="en-US" sz="2400"/>
        </a:p>
      </dgm:t>
    </dgm:pt>
    <dgm:pt modelId="{550D8EB5-F564-4338-BEF2-46BD3F5E1CA7}">
      <dgm:prSet custT="1"/>
      <dgm:spPr/>
      <dgm:t>
        <a:bodyPr/>
        <a:lstStyle/>
        <a:p>
          <a:r>
            <a:rPr lang="en-US" sz="2400" b="0" i="0" baseline="0"/>
            <a:t>Antenna correlation</a:t>
          </a:r>
          <a:endParaRPr lang="en-US" sz="2400"/>
        </a:p>
      </dgm:t>
    </dgm:pt>
    <dgm:pt modelId="{95C54869-5B93-40B5-A6A8-2882F1B1180D}" type="parTrans" cxnId="{B46E6F44-D392-4BD5-95F1-CDC28A2B3626}">
      <dgm:prSet/>
      <dgm:spPr/>
      <dgm:t>
        <a:bodyPr/>
        <a:lstStyle/>
        <a:p>
          <a:endParaRPr lang="en-US" sz="2400"/>
        </a:p>
      </dgm:t>
    </dgm:pt>
    <dgm:pt modelId="{F4CFD9B9-C811-4C89-855B-8A33C142F51C}" type="sibTrans" cxnId="{B46E6F44-D392-4BD5-95F1-CDC28A2B3626}">
      <dgm:prSet/>
      <dgm:spPr/>
      <dgm:t>
        <a:bodyPr/>
        <a:lstStyle/>
        <a:p>
          <a:endParaRPr lang="en-US" sz="2400"/>
        </a:p>
      </dgm:t>
    </dgm:pt>
    <dgm:pt modelId="{801C34E9-F7DB-46C8-9F5F-795EAF6C49D8}">
      <dgm:prSet custT="1"/>
      <dgm:spPr/>
      <dgm:t>
        <a:bodyPr/>
        <a:lstStyle/>
        <a:p>
          <a:r>
            <a:rPr lang="en-US" sz="2400" b="0" i="0" baseline="0"/>
            <a:t>Propagation environments</a:t>
          </a:r>
          <a:endParaRPr lang="en-US" sz="2400"/>
        </a:p>
      </dgm:t>
    </dgm:pt>
    <dgm:pt modelId="{4DB03EF0-F0D7-46D9-9E0A-15E42793903F}" type="parTrans" cxnId="{E490D5CB-A4AF-4A61-B390-B44B01498C29}">
      <dgm:prSet/>
      <dgm:spPr/>
      <dgm:t>
        <a:bodyPr/>
        <a:lstStyle/>
        <a:p>
          <a:endParaRPr lang="en-US" sz="2400"/>
        </a:p>
      </dgm:t>
    </dgm:pt>
    <dgm:pt modelId="{C67BAC32-0E28-4A85-9CB9-38DD3AB74E7F}" type="sibTrans" cxnId="{E490D5CB-A4AF-4A61-B390-B44B01498C29}">
      <dgm:prSet/>
      <dgm:spPr/>
      <dgm:t>
        <a:bodyPr/>
        <a:lstStyle/>
        <a:p>
          <a:endParaRPr lang="en-US" sz="2400"/>
        </a:p>
      </dgm:t>
    </dgm:pt>
    <dgm:pt modelId="{74A3F9E0-E020-4E04-A521-F735A49E2552}" type="pres">
      <dgm:prSet presAssocID="{BA6B61DD-D1D6-4C2E-B40D-F85E66EBCEBB}" presName="root" presStyleCnt="0">
        <dgm:presLayoutVars>
          <dgm:dir/>
          <dgm:resizeHandles val="exact"/>
        </dgm:presLayoutVars>
      </dgm:prSet>
      <dgm:spPr/>
    </dgm:pt>
    <dgm:pt modelId="{8D274A93-D639-43DB-A5AF-21CDC809CF9B}" type="pres">
      <dgm:prSet presAssocID="{64BA4469-FF85-4072-982F-DFCCB0FBA988}" presName="compNode" presStyleCnt="0"/>
      <dgm:spPr/>
    </dgm:pt>
    <dgm:pt modelId="{1EC87781-88DD-4355-B09D-A32ABCDCBDBF}" type="pres">
      <dgm:prSet presAssocID="{64BA4469-FF85-4072-982F-DFCCB0FBA988}" presName="bgRect" presStyleLbl="bgShp" presStyleIdx="0" presStyleCnt="4"/>
      <dgm:spPr/>
    </dgm:pt>
    <dgm:pt modelId="{630AB12C-BE69-41A2-9010-6B58FEA8A7BD}" type="pres">
      <dgm:prSet presAssocID="{64BA4469-FF85-4072-982F-DFCCB0FBA98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itor"/>
        </a:ext>
      </dgm:extLst>
    </dgm:pt>
    <dgm:pt modelId="{F6CCEA42-7595-4E4D-9158-4A2B89F0BA1F}" type="pres">
      <dgm:prSet presAssocID="{64BA4469-FF85-4072-982F-DFCCB0FBA988}" presName="spaceRect" presStyleCnt="0"/>
      <dgm:spPr/>
    </dgm:pt>
    <dgm:pt modelId="{C285A873-B71B-4753-87F5-4D37AB494315}" type="pres">
      <dgm:prSet presAssocID="{64BA4469-FF85-4072-982F-DFCCB0FBA988}" presName="parTx" presStyleLbl="revTx" presStyleIdx="0" presStyleCnt="4">
        <dgm:presLayoutVars>
          <dgm:chMax val="0"/>
          <dgm:chPref val="0"/>
        </dgm:presLayoutVars>
      </dgm:prSet>
      <dgm:spPr/>
    </dgm:pt>
    <dgm:pt modelId="{806AD023-03AD-4A4B-8D27-E933DEA3AC6A}" type="pres">
      <dgm:prSet presAssocID="{641FA0AA-8F1E-4419-B1A4-3CAD67AD08DF}" presName="sibTrans" presStyleCnt="0"/>
      <dgm:spPr/>
    </dgm:pt>
    <dgm:pt modelId="{652CFB18-EA6F-46D0-8194-AB28C08F7D89}" type="pres">
      <dgm:prSet presAssocID="{413C62CB-5A07-4C79-9081-57C9103A48F3}" presName="compNode" presStyleCnt="0"/>
      <dgm:spPr/>
    </dgm:pt>
    <dgm:pt modelId="{4895BB44-C2A3-4012-A74A-B1E53A0D3AFB}" type="pres">
      <dgm:prSet presAssocID="{413C62CB-5A07-4C79-9081-57C9103A48F3}" presName="bgRect" presStyleLbl="bgShp" presStyleIdx="1" presStyleCnt="4"/>
      <dgm:spPr/>
    </dgm:pt>
    <dgm:pt modelId="{8F365DCD-E772-419A-BC72-57DA8A242527}" type="pres">
      <dgm:prSet presAssocID="{413C62CB-5A07-4C79-9081-57C9103A48F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21223A32-FEFB-4F1A-ACE6-8AB48100AE1F}" type="pres">
      <dgm:prSet presAssocID="{413C62CB-5A07-4C79-9081-57C9103A48F3}" presName="spaceRect" presStyleCnt="0"/>
      <dgm:spPr/>
    </dgm:pt>
    <dgm:pt modelId="{56782DA3-4664-404B-A8CC-0FA8DA1089E9}" type="pres">
      <dgm:prSet presAssocID="{413C62CB-5A07-4C79-9081-57C9103A48F3}" presName="parTx" presStyleLbl="revTx" presStyleIdx="1" presStyleCnt="4">
        <dgm:presLayoutVars>
          <dgm:chMax val="0"/>
          <dgm:chPref val="0"/>
        </dgm:presLayoutVars>
      </dgm:prSet>
      <dgm:spPr/>
    </dgm:pt>
    <dgm:pt modelId="{68C2F7A9-E7C9-47BD-B923-4218714184B9}" type="pres">
      <dgm:prSet presAssocID="{B03F0D50-1B8E-40C7-AF04-7C3579FBF379}" presName="sibTrans" presStyleCnt="0"/>
      <dgm:spPr/>
    </dgm:pt>
    <dgm:pt modelId="{14A67A5C-2A93-43AC-B76D-7331814C0EDC}" type="pres">
      <dgm:prSet presAssocID="{550D8EB5-F564-4338-BEF2-46BD3F5E1CA7}" presName="compNode" presStyleCnt="0"/>
      <dgm:spPr/>
    </dgm:pt>
    <dgm:pt modelId="{3D5FDC63-FB1D-4876-B7BC-62448FEC81F8}" type="pres">
      <dgm:prSet presAssocID="{550D8EB5-F564-4338-BEF2-46BD3F5E1CA7}" presName="bgRect" presStyleLbl="bgShp" presStyleIdx="2" presStyleCnt="4"/>
      <dgm:spPr/>
    </dgm:pt>
    <dgm:pt modelId="{C74C94F2-4A19-4A2D-B18D-2DDE414A07EE}" type="pres">
      <dgm:prSet presAssocID="{550D8EB5-F564-4338-BEF2-46BD3F5E1CA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Fi"/>
        </a:ext>
      </dgm:extLst>
    </dgm:pt>
    <dgm:pt modelId="{EA5A780F-5BE7-4153-9891-7DBADD0DA27E}" type="pres">
      <dgm:prSet presAssocID="{550D8EB5-F564-4338-BEF2-46BD3F5E1CA7}" presName="spaceRect" presStyleCnt="0"/>
      <dgm:spPr/>
    </dgm:pt>
    <dgm:pt modelId="{20133996-6F00-497C-AB5F-14CA9DD56F23}" type="pres">
      <dgm:prSet presAssocID="{550D8EB5-F564-4338-BEF2-46BD3F5E1CA7}" presName="parTx" presStyleLbl="revTx" presStyleIdx="2" presStyleCnt="4">
        <dgm:presLayoutVars>
          <dgm:chMax val="0"/>
          <dgm:chPref val="0"/>
        </dgm:presLayoutVars>
      </dgm:prSet>
      <dgm:spPr/>
    </dgm:pt>
    <dgm:pt modelId="{565A02D6-486B-48DE-AE68-B9E6F356A0AC}" type="pres">
      <dgm:prSet presAssocID="{F4CFD9B9-C811-4C89-855B-8A33C142F51C}" presName="sibTrans" presStyleCnt="0"/>
      <dgm:spPr/>
    </dgm:pt>
    <dgm:pt modelId="{E7EB4C05-150E-43B9-B157-AC373C0491BE}" type="pres">
      <dgm:prSet presAssocID="{801C34E9-F7DB-46C8-9F5F-795EAF6C49D8}" presName="compNode" presStyleCnt="0"/>
      <dgm:spPr/>
    </dgm:pt>
    <dgm:pt modelId="{5FE4523F-436D-4AED-A61F-901504259AC2}" type="pres">
      <dgm:prSet presAssocID="{801C34E9-F7DB-46C8-9F5F-795EAF6C49D8}" presName="bgRect" presStyleLbl="bgShp" presStyleIdx="3" presStyleCnt="4"/>
      <dgm:spPr/>
    </dgm:pt>
    <dgm:pt modelId="{A307F38A-AF62-4897-A155-66D2079D603A}" type="pres">
      <dgm:prSet presAssocID="{801C34E9-F7DB-46C8-9F5F-795EAF6C49D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puter"/>
        </a:ext>
      </dgm:extLst>
    </dgm:pt>
    <dgm:pt modelId="{E18DDD40-30C1-4BDA-A285-C883BA94D5D1}" type="pres">
      <dgm:prSet presAssocID="{801C34E9-F7DB-46C8-9F5F-795EAF6C49D8}" presName="spaceRect" presStyleCnt="0"/>
      <dgm:spPr/>
    </dgm:pt>
    <dgm:pt modelId="{C45B22A1-AD91-49C4-A92B-1B8495627712}" type="pres">
      <dgm:prSet presAssocID="{801C34E9-F7DB-46C8-9F5F-795EAF6C49D8}" presName="parTx" presStyleLbl="revTx" presStyleIdx="3" presStyleCnt="4">
        <dgm:presLayoutVars>
          <dgm:chMax val="0"/>
          <dgm:chPref val="0"/>
        </dgm:presLayoutVars>
      </dgm:prSet>
      <dgm:spPr/>
    </dgm:pt>
  </dgm:ptLst>
  <dgm:cxnLst>
    <dgm:cxn modelId="{03E2A41C-D498-4C5F-9639-5E48663C143A}" type="presOf" srcId="{801C34E9-F7DB-46C8-9F5F-795EAF6C49D8}" destId="{C45B22A1-AD91-49C4-A92B-1B8495627712}" srcOrd="0" destOrd="0" presId="urn:microsoft.com/office/officeart/2018/2/layout/IconVerticalSolidList"/>
    <dgm:cxn modelId="{B46E6F44-D392-4BD5-95F1-CDC28A2B3626}" srcId="{BA6B61DD-D1D6-4C2E-B40D-F85E66EBCEBB}" destId="{550D8EB5-F564-4338-BEF2-46BD3F5E1CA7}" srcOrd="2" destOrd="0" parTransId="{95C54869-5B93-40B5-A6A8-2882F1B1180D}" sibTransId="{F4CFD9B9-C811-4C89-855B-8A33C142F51C}"/>
    <dgm:cxn modelId="{D123F367-5A20-4A56-82F1-7DB92A4FF226}" type="presOf" srcId="{550D8EB5-F564-4338-BEF2-46BD3F5E1CA7}" destId="{20133996-6F00-497C-AB5F-14CA9DD56F23}" srcOrd="0" destOrd="0" presId="urn:microsoft.com/office/officeart/2018/2/layout/IconVerticalSolidList"/>
    <dgm:cxn modelId="{F1D185A1-09F8-42FF-A068-F16D4486A40A}" srcId="{BA6B61DD-D1D6-4C2E-B40D-F85E66EBCEBB}" destId="{413C62CB-5A07-4C79-9081-57C9103A48F3}" srcOrd="1" destOrd="0" parTransId="{F3529AC3-2D73-48AD-9CCB-73D269E73726}" sibTransId="{B03F0D50-1B8E-40C7-AF04-7C3579FBF379}"/>
    <dgm:cxn modelId="{E043A9C3-A230-4CD0-8BE0-9B538CEC1E95}" type="presOf" srcId="{64BA4469-FF85-4072-982F-DFCCB0FBA988}" destId="{C285A873-B71B-4753-87F5-4D37AB494315}" srcOrd="0" destOrd="0" presId="urn:microsoft.com/office/officeart/2018/2/layout/IconVerticalSolidList"/>
    <dgm:cxn modelId="{CCBA9CC5-2D1B-4754-B673-DE484A920E31}" type="presOf" srcId="{BA6B61DD-D1D6-4C2E-B40D-F85E66EBCEBB}" destId="{74A3F9E0-E020-4E04-A521-F735A49E2552}" srcOrd="0" destOrd="0" presId="urn:microsoft.com/office/officeart/2018/2/layout/IconVerticalSolidList"/>
    <dgm:cxn modelId="{E490D5CB-A4AF-4A61-B390-B44B01498C29}" srcId="{BA6B61DD-D1D6-4C2E-B40D-F85E66EBCEBB}" destId="{801C34E9-F7DB-46C8-9F5F-795EAF6C49D8}" srcOrd="3" destOrd="0" parTransId="{4DB03EF0-F0D7-46D9-9E0A-15E42793903F}" sibTransId="{C67BAC32-0E28-4A85-9CB9-38DD3AB74E7F}"/>
    <dgm:cxn modelId="{602BB4D7-23E7-4CEE-A6FA-ADEA25E88199}" type="presOf" srcId="{413C62CB-5A07-4C79-9081-57C9103A48F3}" destId="{56782DA3-4664-404B-A8CC-0FA8DA1089E9}" srcOrd="0" destOrd="0" presId="urn:microsoft.com/office/officeart/2018/2/layout/IconVerticalSolidList"/>
    <dgm:cxn modelId="{064945FA-D881-425C-95A0-286CD52127CA}" srcId="{BA6B61DD-D1D6-4C2E-B40D-F85E66EBCEBB}" destId="{64BA4469-FF85-4072-982F-DFCCB0FBA988}" srcOrd="0" destOrd="0" parTransId="{B04A2385-6FAD-4836-9D48-1604D3DE2AA3}" sibTransId="{641FA0AA-8F1E-4419-B1A4-3CAD67AD08DF}"/>
    <dgm:cxn modelId="{DFFB7C6C-5DFC-4E5E-AF7B-39750595E49A}" type="presParOf" srcId="{74A3F9E0-E020-4E04-A521-F735A49E2552}" destId="{8D274A93-D639-43DB-A5AF-21CDC809CF9B}" srcOrd="0" destOrd="0" presId="urn:microsoft.com/office/officeart/2018/2/layout/IconVerticalSolidList"/>
    <dgm:cxn modelId="{45CEFA67-C6B2-477A-8AB4-78F5FC819A5B}" type="presParOf" srcId="{8D274A93-D639-43DB-A5AF-21CDC809CF9B}" destId="{1EC87781-88DD-4355-B09D-A32ABCDCBDBF}" srcOrd="0" destOrd="0" presId="urn:microsoft.com/office/officeart/2018/2/layout/IconVerticalSolidList"/>
    <dgm:cxn modelId="{6CE68DAE-5ABF-4A73-B000-5542E4F2DC51}" type="presParOf" srcId="{8D274A93-D639-43DB-A5AF-21CDC809CF9B}" destId="{630AB12C-BE69-41A2-9010-6B58FEA8A7BD}" srcOrd="1" destOrd="0" presId="urn:microsoft.com/office/officeart/2018/2/layout/IconVerticalSolidList"/>
    <dgm:cxn modelId="{0DD3CDA6-12FF-460B-8D64-369EFC6281F2}" type="presParOf" srcId="{8D274A93-D639-43DB-A5AF-21CDC809CF9B}" destId="{F6CCEA42-7595-4E4D-9158-4A2B89F0BA1F}" srcOrd="2" destOrd="0" presId="urn:microsoft.com/office/officeart/2018/2/layout/IconVerticalSolidList"/>
    <dgm:cxn modelId="{280D119F-1C55-4E81-8B94-144569798497}" type="presParOf" srcId="{8D274A93-D639-43DB-A5AF-21CDC809CF9B}" destId="{C285A873-B71B-4753-87F5-4D37AB494315}" srcOrd="3" destOrd="0" presId="urn:microsoft.com/office/officeart/2018/2/layout/IconVerticalSolidList"/>
    <dgm:cxn modelId="{339EFC29-4F9B-4B13-A322-E8400F756ADE}" type="presParOf" srcId="{74A3F9E0-E020-4E04-A521-F735A49E2552}" destId="{806AD023-03AD-4A4B-8D27-E933DEA3AC6A}" srcOrd="1" destOrd="0" presId="urn:microsoft.com/office/officeart/2018/2/layout/IconVerticalSolidList"/>
    <dgm:cxn modelId="{C24A6A45-FCBC-431E-8541-E16A115218ED}" type="presParOf" srcId="{74A3F9E0-E020-4E04-A521-F735A49E2552}" destId="{652CFB18-EA6F-46D0-8194-AB28C08F7D89}" srcOrd="2" destOrd="0" presId="urn:microsoft.com/office/officeart/2018/2/layout/IconVerticalSolidList"/>
    <dgm:cxn modelId="{6D513B1E-FB5E-4163-B0FE-4245CEFFD2E3}" type="presParOf" srcId="{652CFB18-EA6F-46D0-8194-AB28C08F7D89}" destId="{4895BB44-C2A3-4012-A74A-B1E53A0D3AFB}" srcOrd="0" destOrd="0" presId="urn:microsoft.com/office/officeart/2018/2/layout/IconVerticalSolidList"/>
    <dgm:cxn modelId="{3011391A-3189-4120-BE83-F9E7DF0D288C}" type="presParOf" srcId="{652CFB18-EA6F-46D0-8194-AB28C08F7D89}" destId="{8F365DCD-E772-419A-BC72-57DA8A242527}" srcOrd="1" destOrd="0" presId="urn:microsoft.com/office/officeart/2018/2/layout/IconVerticalSolidList"/>
    <dgm:cxn modelId="{F8E27415-D2BF-43E7-A8BC-DB86EC2762A3}" type="presParOf" srcId="{652CFB18-EA6F-46D0-8194-AB28C08F7D89}" destId="{21223A32-FEFB-4F1A-ACE6-8AB48100AE1F}" srcOrd="2" destOrd="0" presId="urn:microsoft.com/office/officeart/2018/2/layout/IconVerticalSolidList"/>
    <dgm:cxn modelId="{01CB594F-34B4-4634-BA81-6704FBC9820B}" type="presParOf" srcId="{652CFB18-EA6F-46D0-8194-AB28C08F7D89}" destId="{56782DA3-4664-404B-A8CC-0FA8DA1089E9}" srcOrd="3" destOrd="0" presId="urn:microsoft.com/office/officeart/2018/2/layout/IconVerticalSolidList"/>
    <dgm:cxn modelId="{EFC2F28A-AD51-42BF-AD4E-106F299D33D8}" type="presParOf" srcId="{74A3F9E0-E020-4E04-A521-F735A49E2552}" destId="{68C2F7A9-E7C9-47BD-B923-4218714184B9}" srcOrd="3" destOrd="0" presId="urn:microsoft.com/office/officeart/2018/2/layout/IconVerticalSolidList"/>
    <dgm:cxn modelId="{883E27DD-743B-4AB5-AB0F-0F67AFD3F701}" type="presParOf" srcId="{74A3F9E0-E020-4E04-A521-F735A49E2552}" destId="{14A67A5C-2A93-43AC-B76D-7331814C0EDC}" srcOrd="4" destOrd="0" presId="urn:microsoft.com/office/officeart/2018/2/layout/IconVerticalSolidList"/>
    <dgm:cxn modelId="{3040AB50-E2E1-4F7A-A4A3-14C0A436AD3C}" type="presParOf" srcId="{14A67A5C-2A93-43AC-B76D-7331814C0EDC}" destId="{3D5FDC63-FB1D-4876-B7BC-62448FEC81F8}" srcOrd="0" destOrd="0" presId="urn:microsoft.com/office/officeart/2018/2/layout/IconVerticalSolidList"/>
    <dgm:cxn modelId="{B466D1D3-928D-44F0-B749-BFAB383A26E4}" type="presParOf" srcId="{14A67A5C-2A93-43AC-B76D-7331814C0EDC}" destId="{C74C94F2-4A19-4A2D-B18D-2DDE414A07EE}" srcOrd="1" destOrd="0" presId="urn:microsoft.com/office/officeart/2018/2/layout/IconVerticalSolidList"/>
    <dgm:cxn modelId="{70409B23-115A-443C-B630-508CFBC4B91D}" type="presParOf" srcId="{14A67A5C-2A93-43AC-B76D-7331814C0EDC}" destId="{EA5A780F-5BE7-4153-9891-7DBADD0DA27E}" srcOrd="2" destOrd="0" presId="urn:microsoft.com/office/officeart/2018/2/layout/IconVerticalSolidList"/>
    <dgm:cxn modelId="{51ED6B0C-C338-40FE-ACB9-51EF72900EC5}" type="presParOf" srcId="{14A67A5C-2A93-43AC-B76D-7331814C0EDC}" destId="{20133996-6F00-497C-AB5F-14CA9DD56F23}" srcOrd="3" destOrd="0" presId="urn:microsoft.com/office/officeart/2018/2/layout/IconVerticalSolidList"/>
    <dgm:cxn modelId="{BC640FB1-6744-4AFE-BA5C-54BEAA818491}" type="presParOf" srcId="{74A3F9E0-E020-4E04-A521-F735A49E2552}" destId="{565A02D6-486B-48DE-AE68-B9E6F356A0AC}" srcOrd="5" destOrd="0" presId="urn:microsoft.com/office/officeart/2018/2/layout/IconVerticalSolidList"/>
    <dgm:cxn modelId="{68C0BC07-24F2-48AB-BCB6-D3B589021FE0}" type="presParOf" srcId="{74A3F9E0-E020-4E04-A521-F735A49E2552}" destId="{E7EB4C05-150E-43B9-B157-AC373C0491BE}" srcOrd="6" destOrd="0" presId="urn:microsoft.com/office/officeart/2018/2/layout/IconVerticalSolidList"/>
    <dgm:cxn modelId="{709377E6-D6D0-4E06-BDF4-AE97366A2F10}" type="presParOf" srcId="{E7EB4C05-150E-43B9-B157-AC373C0491BE}" destId="{5FE4523F-436D-4AED-A61F-901504259AC2}" srcOrd="0" destOrd="0" presId="urn:microsoft.com/office/officeart/2018/2/layout/IconVerticalSolidList"/>
    <dgm:cxn modelId="{4BE68DEC-451E-4281-820F-BE537493F653}" type="presParOf" srcId="{E7EB4C05-150E-43B9-B157-AC373C0491BE}" destId="{A307F38A-AF62-4897-A155-66D2079D603A}" srcOrd="1" destOrd="0" presId="urn:microsoft.com/office/officeart/2018/2/layout/IconVerticalSolidList"/>
    <dgm:cxn modelId="{1AE5F708-F204-440D-A48E-11EBF3E8A6E5}" type="presParOf" srcId="{E7EB4C05-150E-43B9-B157-AC373C0491BE}" destId="{E18DDD40-30C1-4BDA-A285-C883BA94D5D1}" srcOrd="2" destOrd="0" presId="urn:microsoft.com/office/officeart/2018/2/layout/IconVerticalSolidList"/>
    <dgm:cxn modelId="{BB06980C-1AA5-4082-9839-CA6B8CFAB04C}" type="presParOf" srcId="{E7EB4C05-150E-43B9-B157-AC373C0491BE}" destId="{C45B22A1-AD91-49C4-A92B-1B849562771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5C58782-7931-490E-8D3D-063D22AE75F9}"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5C6EAEFE-7DF0-4233-BC16-AEE8516847D5}">
      <dgm:prSet custT="1"/>
      <dgm:spPr/>
      <dgm:t>
        <a:bodyPr/>
        <a:lstStyle/>
        <a:p>
          <a:r>
            <a:rPr lang="en-US" sz="2400"/>
            <a:t>Beamforming is a multi-antenna technique that directs the transmitted or received signal in a particular spatial direction.</a:t>
          </a:r>
        </a:p>
      </dgm:t>
    </dgm:pt>
    <dgm:pt modelId="{83FA1CFB-5C3A-465A-9698-987185C7DAFD}" type="parTrans" cxnId="{F936F77C-724E-4512-A374-3F4BCB38F7C3}">
      <dgm:prSet/>
      <dgm:spPr/>
      <dgm:t>
        <a:bodyPr/>
        <a:lstStyle/>
        <a:p>
          <a:endParaRPr lang="en-US" sz="2400"/>
        </a:p>
      </dgm:t>
    </dgm:pt>
    <dgm:pt modelId="{C26ABB0C-CE7C-4E43-A59C-6D4CD38C9262}" type="sibTrans" cxnId="{F936F77C-724E-4512-A374-3F4BCB38F7C3}">
      <dgm:prSet/>
      <dgm:spPr/>
      <dgm:t>
        <a:bodyPr/>
        <a:lstStyle/>
        <a:p>
          <a:endParaRPr lang="en-US" sz="2400"/>
        </a:p>
      </dgm:t>
    </dgm:pt>
    <dgm:pt modelId="{FC842FA0-8368-4B83-9992-30BCB15EC238}">
      <dgm:prSet custT="1"/>
      <dgm:spPr/>
      <dgm:t>
        <a:bodyPr/>
        <a:lstStyle/>
        <a:p>
          <a:r>
            <a:rPr lang="en-US" sz="2400"/>
            <a:t>Instead of transmitting energy everywhere, we shape the antenna radiation pattern to boost signal towards intended user.</a:t>
          </a:r>
        </a:p>
      </dgm:t>
    </dgm:pt>
    <dgm:pt modelId="{85B07F2D-06B1-46E2-9417-E9378997A3C0}" type="parTrans" cxnId="{475B1B1D-71F0-49F3-BE28-F70EF93F6296}">
      <dgm:prSet/>
      <dgm:spPr/>
      <dgm:t>
        <a:bodyPr/>
        <a:lstStyle/>
        <a:p>
          <a:endParaRPr lang="en-US" sz="2400"/>
        </a:p>
      </dgm:t>
    </dgm:pt>
    <dgm:pt modelId="{7A46ACE8-0AEB-4678-AAE4-7119B16D7385}" type="sibTrans" cxnId="{475B1B1D-71F0-49F3-BE28-F70EF93F6296}">
      <dgm:prSet/>
      <dgm:spPr/>
      <dgm:t>
        <a:bodyPr/>
        <a:lstStyle/>
        <a:p>
          <a:endParaRPr lang="en-US" sz="2400"/>
        </a:p>
      </dgm:t>
    </dgm:pt>
    <dgm:pt modelId="{1EB25B1E-B87F-4407-9769-19682CAC53F0}" type="pres">
      <dgm:prSet presAssocID="{85C58782-7931-490E-8D3D-063D22AE75F9}" presName="hierChild1" presStyleCnt="0">
        <dgm:presLayoutVars>
          <dgm:chPref val="1"/>
          <dgm:dir/>
          <dgm:animOne val="branch"/>
          <dgm:animLvl val="lvl"/>
          <dgm:resizeHandles/>
        </dgm:presLayoutVars>
      </dgm:prSet>
      <dgm:spPr/>
    </dgm:pt>
    <dgm:pt modelId="{83E5D9EB-E8FA-4597-8908-A8EDB7AA3C48}" type="pres">
      <dgm:prSet presAssocID="{5C6EAEFE-7DF0-4233-BC16-AEE8516847D5}" presName="hierRoot1" presStyleCnt="0"/>
      <dgm:spPr/>
    </dgm:pt>
    <dgm:pt modelId="{5B62DAB9-F40F-4862-94A7-EAD7532D76DD}" type="pres">
      <dgm:prSet presAssocID="{5C6EAEFE-7DF0-4233-BC16-AEE8516847D5}" presName="composite" presStyleCnt="0"/>
      <dgm:spPr/>
    </dgm:pt>
    <dgm:pt modelId="{5F55CDEB-4BA5-4E71-B189-8538D8283A21}" type="pres">
      <dgm:prSet presAssocID="{5C6EAEFE-7DF0-4233-BC16-AEE8516847D5}" presName="background" presStyleLbl="node0" presStyleIdx="0" presStyleCnt="2"/>
      <dgm:spPr/>
    </dgm:pt>
    <dgm:pt modelId="{3DF0D0FF-6233-41EC-BB8D-A0E2D2FBF883}" type="pres">
      <dgm:prSet presAssocID="{5C6EAEFE-7DF0-4233-BC16-AEE8516847D5}" presName="text" presStyleLbl="fgAcc0" presStyleIdx="0" presStyleCnt="2">
        <dgm:presLayoutVars>
          <dgm:chPref val="3"/>
        </dgm:presLayoutVars>
      </dgm:prSet>
      <dgm:spPr/>
    </dgm:pt>
    <dgm:pt modelId="{33A29C7F-E015-449D-B315-DB83A1ECE839}" type="pres">
      <dgm:prSet presAssocID="{5C6EAEFE-7DF0-4233-BC16-AEE8516847D5}" presName="hierChild2" presStyleCnt="0"/>
      <dgm:spPr/>
    </dgm:pt>
    <dgm:pt modelId="{1982E000-5935-42CC-8242-BC377AD96D7E}" type="pres">
      <dgm:prSet presAssocID="{FC842FA0-8368-4B83-9992-30BCB15EC238}" presName="hierRoot1" presStyleCnt="0"/>
      <dgm:spPr/>
    </dgm:pt>
    <dgm:pt modelId="{9CFD02A6-096F-4B0E-97AD-B88CA392F674}" type="pres">
      <dgm:prSet presAssocID="{FC842FA0-8368-4B83-9992-30BCB15EC238}" presName="composite" presStyleCnt="0"/>
      <dgm:spPr/>
    </dgm:pt>
    <dgm:pt modelId="{41A43636-6C03-4EF5-AECC-3A6802F6FB9F}" type="pres">
      <dgm:prSet presAssocID="{FC842FA0-8368-4B83-9992-30BCB15EC238}" presName="background" presStyleLbl="node0" presStyleIdx="1" presStyleCnt="2"/>
      <dgm:spPr/>
    </dgm:pt>
    <dgm:pt modelId="{8C06BA51-299C-4B46-B65D-343388AA40EE}" type="pres">
      <dgm:prSet presAssocID="{FC842FA0-8368-4B83-9992-30BCB15EC238}" presName="text" presStyleLbl="fgAcc0" presStyleIdx="1" presStyleCnt="2">
        <dgm:presLayoutVars>
          <dgm:chPref val="3"/>
        </dgm:presLayoutVars>
      </dgm:prSet>
      <dgm:spPr/>
    </dgm:pt>
    <dgm:pt modelId="{4BC4C437-562D-4D26-A8BF-10BF56C63BF8}" type="pres">
      <dgm:prSet presAssocID="{FC842FA0-8368-4B83-9992-30BCB15EC238}" presName="hierChild2" presStyleCnt="0"/>
      <dgm:spPr/>
    </dgm:pt>
  </dgm:ptLst>
  <dgm:cxnLst>
    <dgm:cxn modelId="{475B1B1D-71F0-49F3-BE28-F70EF93F6296}" srcId="{85C58782-7931-490E-8D3D-063D22AE75F9}" destId="{FC842FA0-8368-4B83-9992-30BCB15EC238}" srcOrd="1" destOrd="0" parTransId="{85B07F2D-06B1-46E2-9417-E9378997A3C0}" sibTransId="{7A46ACE8-0AEB-4678-AAE4-7119B16D7385}"/>
    <dgm:cxn modelId="{5FE54E43-E6E6-4BEA-9AC5-4A4249732A4F}" type="presOf" srcId="{85C58782-7931-490E-8D3D-063D22AE75F9}" destId="{1EB25B1E-B87F-4407-9769-19682CAC53F0}" srcOrd="0" destOrd="0" presId="urn:microsoft.com/office/officeart/2005/8/layout/hierarchy1"/>
    <dgm:cxn modelId="{F936F77C-724E-4512-A374-3F4BCB38F7C3}" srcId="{85C58782-7931-490E-8D3D-063D22AE75F9}" destId="{5C6EAEFE-7DF0-4233-BC16-AEE8516847D5}" srcOrd="0" destOrd="0" parTransId="{83FA1CFB-5C3A-465A-9698-987185C7DAFD}" sibTransId="{C26ABB0C-CE7C-4E43-A59C-6D4CD38C9262}"/>
    <dgm:cxn modelId="{020CFC9F-F997-4169-8F4C-F16E3BA11685}" type="presOf" srcId="{5C6EAEFE-7DF0-4233-BC16-AEE8516847D5}" destId="{3DF0D0FF-6233-41EC-BB8D-A0E2D2FBF883}" srcOrd="0" destOrd="0" presId="urn:microsoft.com/office/officeart/2005/8/layout/hierarchy1"/>
    <dgm:cxn modelId="{A64AE2C6-326A-406A-90FD-EE9057BE58A2}" type="presOf" srcId="{FC842FA0-8368-4B83-9992-30BCB15EC238}" destId="{8C06BA51-299C-4B46-B65D-343388AA40EE}" srcOrd="0" destOrd="0" presId="urn:microsoft.com/office/officeart/2005/8/layout/hierarchy1"/>
    <dgm:cxn modelId="{6C3DE1CF-2862-418C-A0B5-F44C2F959F58}" type="presParOf" srcId="{1EB25B1E-B87F-4407-9769-19682CAC53F0}" destId="{83E5D9EB-E8FA-4597-8908-A8EDB7AA3C48}" srcOrd="0" destOrd="0" presId="urn:microsoft.com/office/officeart/2005/8/layout/hierarchy1"/>
    <dgm:cxn modelId="{0E3D3A7C-5AA2-4A48-A1B4-A09D51E403F9}" type="presParOf" srcId="{83E5D9EB-E8FA-4597-8908-A8EDB7AA3C48}" destId="{5B62DAB9-F40F-4862-94A7-EAD7532D76DD}" srcOrd="0" destOrd="0" presId="urn:microsoft.com/office/officeart/2005/8/layout/hierarchy1"/>
    <dgm:cxn modelId="{73AF8552-3499-4F62-9CE1-06FE66D03664}" type="presParOf" srcId="{5B62DAB9-F40F-4862-94A7-EAD7532D76DD}" destId="{5F55CDEB-4BA5-4E71-B189-8538D8283A21}" srcOrd="0" destOrd="0" presId="urn:microsoft.com/office/officeart/2005/8/layout/hierarchy1"/>
    <dgm:cxn modelId="{5F00CA85-BD81-4630-AAAD-22C4B7272647}" type="presParOf" srcId="{5B62DAB9-F40F-4862-94A7-EAD7532D76DD}" destId="{3DF0D0FF-6233-41EC-BB8D-A0E2D2FBF883}" srcOrd="1" destOrd="0" presId="urn:microsoft.com/office/officeart/2005/8/layout/hierarchy1"/>
    <dgm:cxn modelId="{1405C428-90B2-455C-95AF-00EFF46AB3CB}" type="presParOf" srcId="{83E5D9EB-E8FA-4597-8908-A8EDB7AA3C48}" destId="{33A29C7F-E015-449D-B315-DB83A1ECE839}" srcOrd="1" destOrd="0" presId="urn:microsoft.com/office/officeart/2005/8/layout/hierarchy1"/>
    <dgm:cxn modelId="{D40DD3AD-0C70-4E78-BCD6-8DA8E6940235}" type="presParOf" srcId="{1EB25B1E-B87F-4407-9769-19682CAC53F0}" destId="{1982E000-5935-42CC-8242-BC377AD96D7E}" srcOrd="1" destOrd="0" presId="urn:microsoft.com/office/officeart/2005/8/layout/hierarchy1"/>
    <dgm:cxn modelId="{D821C40A-C871-45A7-A52F-91AE5BA88969}" type="presParOf" srcId="{1982E000-5935-42CC-8242-BC377AD96D7E}" destId="{9CFD02A6-096F-4B0E-97AD-B88CA392F674}" srcOrd="0" destOrd="0" presId="urn:microsoft.com/office/officeart/2005/8/layout/hierarchy1"/>
    <dgm:cxn modelId="{0977BBAE-93E0-40C8-83A9-ED1CB3638BA4}" type="presParOf" srcId="{9CFD02A6-096F-4B0E-97AD-B88CA392F674}" destId="{41A43636-6C03-4EF5-AECC-3A6802F6FB9F}" srcOrd="0" destOrd="0" presId="urn:microsoft.com/office/officeart/2005/8/layout/hierarchy1"/>
    <dgm:cxn modelId="{750EB935-1DDA-4EAD-A4C5-224C5F6E5FC4}" type="presParOf" srcId="{9CFD02A6-096F-4B0E-97AD-B88CA392F674}" destId="{8C06BA51-299C-4B46-B65D-343388AA40EE}" srcOrd="1" destOrd="0" presId="urn:microsoft.com/office/officeart/2005/8/layout/hierarchy1"/>
    <dgm:cxn modelId="{A9A583E8-85B5-4FCA-B260-07512F4E5282}" type="presParOf" srcId="{1982E000-5935-42CC-8242-BC377AD96D7E}" destId="{4BC4C437-562D-4D26-A8BF-10BF56C63BF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4002477-8A29-45A1-A135-3F1D830C69F7}"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055C340D-F9C8-4735-B2EB-BBD941B21E5E}">
      <dgm:prSet custT="1"/>
      <dgm:spPr/>
      <dgm:t>
        <a:bodyPr/>
        <a:lstStyle/>
        <a:p>
          <a:r>
            <a:rPr lang="en-US" sz="2000" b="1"/>
            <a:t>1. Fixed Beamforming</a:t>
          </a:r>
          <a:endParaRPr lang="en-US" sz="2000"/>
        </a:p>
      </dgm:t>
    </dgm:pt>
    <dgm:pt modelId="{CE2B1962-34A4-4010-B4BD-2B9BD4688C9D}" type="parTrans" cxnId="{0D5B3445-15E7-47EA-93E6-9F52957D77D2}">
      <dgm:prSet/>
      <dgm:spPr/>
      <dgm:t>
        <a:bodyPr/>
        <a:lstStyle/>
        <a:p>
          <a:endParaRPr lang="en-US" sz="2000"/>
        </a:p>
      </dgm:t>
    </dgm:pt>
    <dgm:pt modelId="{BD92B41F-74D5-44CF-AC88-1F564F38CB8E}" type="sibTrans" cxnId="{0D5B3445-15E7-47EA-93E6-9F52957D77D2}">
      <dgm:prSet/>
      <dgm:spPr/>
      <dgm:t>
        <a:bodyPr/>
        <a:lstStyle/>
        <a:p>
          <a:endParaRPr lang="en-US" sz="2000"/>
        </a:p>
      </dgm:t>
    </dgm:pt>
    <dgm:pt modelId="{A8F97F45-01CB-44CD-A638-A4DE73E400E7}">
      <dgm:prSet custT="1"/>
      <dgm:spPr/>
      <dgm:t>
        <a:bodyPr/>
        <a:lstStyle/>
        <a:p>
          <a:r>
            <a:rPr lang="en-US" sz="2000"/>
            <a:t>Pre-defined beams</a:t>
          </a:r>
        </a:p>
      </dgm:t>
    </dgm:pt>
    <dgm:pt modelId="{9F874132-8FC6-4821-BD3A-91946BF40CD0}" type="parTrans" cxnId="{103AF00D-8553-471B-8146-AEAECAA8CA7E}">
      <dgm:prSet/>
      <dgm:spPr/>
      <dgm:t>
        <a:bodyPr/>
        <a:lstStyle/>
        <a:p>
          <a:endParaRPr lang="en-US" sz="2000"/>
        </a:p>
      </dgm:t>
    </dgm:pt>
    <dgm:pt modelId="{7FFB1873-2C01-4431-9DAC-B13DC806BBE9}" type="sibTrans" cxnId="{103AF00D-8553-471B-8146-AEAECAA8CA7E}">
      <dgm:prSet/>
      <dgm:spPr/>
      <dgm:t>
        <a:bodyPr/>
        <a:lstStyle/>
        <a:p>
          <a:endParaRPr lang="en-US" sz="2000"/>
        </a:p>
      </dgm:t>
    </dgm:pt>
    <dgm:pt modelId="{30BE2E56-C6DC-4C30-8F85-31BA82B5C6A0}">
      <dgm:prSet custT="1"/>
      <dgm:spPr/>
      <dgm:t>
        <a:bodyPr/>
        <a:lstStyle/>
        <a:p>
          <a:r>
            <a:rPr lang="en-US" sz="2000"/>
            <a:t>Used in early systems</a:t>
          </a:r>
        </a:p>
      </dgm:t>
    </dgm:pt>
    <dgm:pt modelId="{E49DA938-E257-4456-B05A-5E3B8CA4D70C}" type="parTrans" cxnId="{B92AC829-F406-4C9B-9768-78AA3A5B9EEA}">
      <dgm:prSet/>
      <dgm:spPr/>
      <dgm:t>
        <a:bodyPr/>
        <a:lstStyle/>
        <a:p>
          <a:endParaRPr lang="en-US" sz="2000"/>
        </a:p>
      </dgm:t>
    </dgm:pt>
    <dgm:pt modelId="{645AC744-21AC-4F7B-B135-BD47972CD128}" type="sibTrans" cxnId="{B92AC829-F406-4C9B-9768-78AA3A5B9EEA}">
      <dgm:prSet/>
      <dgm:spPr/>
      <dgm:t>
        <a:bodyPr/>
        <a:lstStyle/>
        <a:p>
          <a:endParaRPr lang="en-US" sz="2000"/>
        </a:p>
      </dgm:t>
    </dgm:pt>
    <dgm:pt modelId="{1D6B9223-DF2C-4EEE-BFC1-F57AC325ECB4}">
      <dgm:prSet custT="1"/>
      <dgm:spPr/>
      <dgm:t>
        <a:bodyPr/>
        <a:lstStyle/>
        <a:p>
          <a:r>
            <a:rPr lang="en-US" sz="2000" b="1"/>
            <a:t>2. Adaptive Beamforming</a:t>
          </a:r>
          <a:endParaRPr lang="en-US" sz="2000"/>
        </a:p>
      </dgm:t>
    </dgm:pt>
    <dgm:pt modelId="{3E13F056-0EDF-403E-8382-5A5C0210FB38}" type="parTrans" cxnId="{BCFCEC5D-635D-4889-9AF2-93004C39187C}">
      <dgm:prSet/>
      <dgm:spPr/>
      <dgm:t>
        <a:bodyPr/>
        <a:lstStyle/>
        <a:p>
          <a:endParaRPr lang="en-US" sz="2000"/>
        </a:p>
      </dgm:t>
    </dgm:pt>
    <dgm:pt modelId="{29CC8BB1-82DD-4489-A3DF-68F10AB6401B}" type="sibTrans" cxnId="{BCFCEC5D-635D-4889-9AF2-93004C39187C}">
      <dgm:prSet/>
      <dgm:spPr/>
      <dgm:t>
        <a:bodyPr/>
        <a:lstStyle/>
        <a:p>
          <a:endParaRPr lang="en-US" sz="2000"/>
        </a:p>
      </dgm:t>
    </dgm:pt>
    <dgm:pt modelId="{FAB1B67F-366E-4246-A09E-4E047CCBE482}">
      <dgm:prSet custT="1"/>
      <dgm:spPr/>
      <dgm:t>
        <a:bodyPr/>
        <a:lstStyle/>
        <a:p>
          <a:r>
            <a:rPr lang="en-US" sz="2000"/>
            <a:t>Weights automatically change according to channel.</a:t>
          </a:r>
        </a:p>
      </dgm:t>
    </dgm:pt>
    <dgm:pt modelId="{6E31E417-C8AE-4FCE-8FB2-ECC8337D3079}" type="parTrans" cxnId="{4ED66050-29A7-4270-8923-6AAC2F497245}">
      <dgm:prSet/>
      <dgm:spPr/>
      <dgm:t>
        <a:bodyPr/>
        <a:lstStyle/>
        <a:p>
          <a:endParaRPr lang="en-US" sz="2000"/>
        </a:p>
      </dgm:t>
    </dgm:pt>
    <dgm:pt modelId="{F614F383-38B5-40BF-8130-EBDC9B2436C5}" type="sibTrans" cxnId="{4ED66050-29A7-4270-8923-6AAC2F497245}">
      <dgm:prSet/>
      <dgm:spPr/>
      <dgm:t>
        <a:bodyPr/>
        <a:lstStyle/>
        <a:p>
          <a:endParaRPr lang="en-US" sz="2000"/>
        </a:p>
      </dgm:t>
    </dgm:pt>
    <dgm:pt modelId="{A0F66589-CE23-442B-B74C-65511F96508A}">
      <dgm:prSet custT="1"/>
      <dgm:spPr/>
      <dgm:t>
        <a:bodyPr/>
        <a:lstStyle/>
        <a:p>
          <a:r>
            <a:rPr lang="en-US" sz="2000" b="1"/>
            <a:t>3. Digital Beamforming</a:t>
          </a:r>
          <a:endParaRPr lang="en-US" sz="2000"/>
        </a:p>
      </dgm:t>
    </dgm:pt>
    <dgm:pt modelId="{F8432958-FF5F-4E01-9514-C0617228D39D}" type="parTrans" cxnId="{054CAC2B-371A-4CC2-A254-D17D12002004}">
      <dgm:prSet/>
      <dgm:spPr/>
      <dgm:t>
        <a:bodyPr/>
        <a:lstStyle/>
        <a:p>
          <a:endParaRPr lang="en-US" sz="2000"/>
        </a:p>
      </dgm:t>
    </dgm:pt>
    <dgm:pt modelId="{2B802BBE-18B7-48AA-B73E-1AC59D45DC79}" type="sibTrans" cxnId="{054CAC2B-371A-4CC2-A254-D17D12002004}">
      <dgm:prSet/>
      <dgm:spPr/>
      <dgm:t>
        <a:bodyPr/>
        <a:lstStyle/>
        <a:p>
          <a:endParaRPr lang="en-US" sz="2000"/>
        </a:p>
      </dgm:t>
    </dgm:pt>
    <dgm:pt modelId="{170A6400-3EE6-45F5-8A15-6CD3DD85F47B}">
      <dgm:prSet custT="1"/>
      <dgm:spPr/>
      <dgm:t>
        <a:bodyPr/>
        <a:lstStyle/>
        <a:p>
          <a:r>
            <a:rPr lang="en-US" sz="2000"/>
            <a:t>Separate DAC/ADC chains for each antenna.</a:t>
          </a:r>
        </a:p>
      </dgm:t>
    </dgm:pt>
    <dgm:pt modelId="{F1739543-EB2F-49BA-9D5F-869503AB3FA6}" type="parTrans" cxnId="{2ED2BF60-2DB8-46C7-8C59-7D656C6739F4}">
      <dgm:prSet/>
      <dgm:spPr/>
      <dgm:t>
        <a:bodyPr/>
        <a:lstStyle/>
        <a:p>
          <a:endParaRPr lang="en-US" sz="2000"/>
        </a:p>
      </dgm:t>
    </dgm:pt>
    <dgm:pt modelId="{3599AD77-CF60-4EFC-83EA-CDB820485116}" type="sibTrans" cxnId="{2ED2BF60-2DB8-46C7-8C59-7D656C6739F4}">
      <dgm:prSet/>
      <dgm:spPr/>
      <dgm:t>
        <a:bodyPr/>
        <a:lstStyle/>
        <a:p>
          <a:endParaRPr lang="en-US" sz="2000"/>
        </a:p>
      </dgm:t>
    </dgm:pt>
    <dgm:pt modelId="{B703EE96-40EF-44E4-9188-E72230CA35C4}">
      <dgm:prSet custT="1"/>
      <dgm:spPr/>
      <dgm:t>
        <a:bodyPr/>
        <a:lstStyle/>
        <a:p>
          <a:r>
            <a:rPr lang="en-US" sz="2000" b="1"/>
            <a:t>4. Analog Beamforming</a:t>
          </a:r>
          <a:endParaRPr lang="en-US" sz="2000"/>
        </a:p>
      </dgm:t>
    </dgm:pt>
    <dgm:pt modelId="{C70F1DDF-CF57-4D3B-BF4C-D6E5A88E267D}" type="parTrans" cxnId="{8B97406B-D4E7-41D4-BBCA-CD0E942BDE54}">
      <dgm:prSet/>
      <dgm:spPr/>
      <dgm:t>
        <a:bodyPr/>
        <a:lstStyle/>
        <a:p>
          <a:endParaRPr lang="en-US" sz="2000"/>
        </a:p>
      </dgm:t>
    </dgm:pt>
    <dgm:pt modelId="{F2250E00-E500-492C-907B-C27A1C8D8788}" type="sibTrans" cxnId="{8B97406B-D4E7-41D4-BBCA-CD0E942BDE54}">
      <dgm:prSet/>
      <dgm:spPr/>
      <dgm:t>
        <a:bodyPr/>
        <a:lstStyle/>
        <a:p>
          <a:endParaRPr lang="en-US" sz="2000"/>
        </a:p>
      </dgm:t>
    </dgm:pt>
    <dgm:pt modelId="{71F8E93D-F2F0-47D0-986D-CF9125809B48}">
      <dgm:prSet custT="1"/>
      <dgm:spPr/>
      <dgm:t>
        <a:bodyPr/>
        <a:lstStyle/>
        <a:p>
          <a:r>
            <a:rPr lang="en-US" sz="2000"/>
            <a:t>Uses phase shifters (useful in mmWave).</a:t>
          </a:r>
        </a:p>
      </dgm:t>
    </dgm:pt>
    <dgm:pt modelId="{B305EAD5-63B8-46A6-92AA-AA70303E8EC2}" type="parTrans" cxnId="{E7757A78-9FFC-4FB5-8B32-52EE74E73394}">
      <dgm:prSet/>
      <dgm:spPr/>
      <dgm:t>
        <a:bodyPr/>
        <a:lstStyle/>
        <a:p>
          <a:endParaRPr lang="en-US" sz="2000"/>
        </a:p>
      </dgm:t>
    </dgm:pt>
    <dgm:pt modelId="{6BA113A5-9532-428F-96D5-5E456C6BC684}" type="sibTrans" cxnId="{E7757A78-9FFC-4FB5-8B32-52EE74E73394}">
      <dgm:prSet/>
      <dgm:spPr/>
      <dgm:t>
        <a:bodyPr/>
        <a:lstStyle/>
        <a:p>
          <a:endParaRPr lang="en-US" sz="2000"/>
        </a:p>
      </dgm:t>
    </dgm:pt>
    <dgm:pt modelId="{48952CEC-4DCA-4CD9-8CF6-05A82B3B785E}">
      <dgm:prSet custT="1"/>
      <dgm:spPr/>
      <dgm:t>
        <a:bodyPr/>
        <a:lstStyle/>
        <a:p>
          <a:r>
            <a:rPr lang="en-US" sz="2000" b="1"/>
            <a:t>5. Hybrid Beamforming</a:t>
          </a:r>
          <a:endParaRPr lang="en-US" sz="2000"/>
        </a:p>
      </dgm:t>
    </dgm:pt>
    <dgm:pt modelId="{789C90A9-3C48-41E9-9797-53F2FC4E1FF8}" type="parTrans" cxnId="{5A2B714A-AD05-4CA9-BE0D-F2C833D925A5}">
      <dgm:prSet/>
      <dgm:spPr/>
      <dgm:t>
        <a:bodyPr/>
        <a:lstStyle/>
        <a:p>
          <a:endParaRPr lang="en-US" sz="2000"/>
        </a:p>
      </dgm:t>
    </dgm:pt>
    <dgm:pt modelId="{2C94104B-848B-4B3F-8B1E-6DC6BCC0CED5}" type="sibTrans" cxnId="{5A2B714A-AD05-4CA9-BE0D-F2C833D925A5}">
      <dgm:prSet/>
      <dgm:spPr/>
      <dgm:t>
        <a:bodyPr/>
        <a:lstStyle/>
        <a:p>
          <a:endParaRPr lang="en-US" sz="2000"/>
        </a:p>
      </dgm:t>
    </dgm:pt>
    <dgm:pt modelId="{2D2598AD-91B3-4AE7-A666-D07423637DD1}">
      <dgm:prSet custT="1"/>
      <dgm:spPr/>
      <dgm:t>
        <a:bodyPr/>
        <a:lstStyle/>
        <a:p>
          <a:r>
            <a:rPr lang="en-US" sz="2000"/>
            <a:t>Combination of digital + analog</a:t>
          </a:r>
        </a:p>
      </dgm:t>
    </dgm:pt>
    <dgm:pt modelId="{2BEEE188-CAB1-41DF-9D6F-19D2F423137B}" type="parTrans" cxnId="{2B0EDE2E-B4FF-4E02-9895-E21311900C5E}">
      <dgm:prSet/>
      <dgm:spPr/>
      <dgm:t>
        <a:bodyPr/>
        <a:lstStyle/>
        <a:p>
          <a:endParaRPr lang="en-US" sz="2000"/>
        </a:p>
      </dgm:t>
    </dgm:pt>
    <dgm:pt modelId="{52041543-36E2-4C56-ABE5-6E64B99843D5}" type="sibTrans" cxnId="{2B0EDE2E-B4FF-4E02-9895-E21311900C5E}">
      <dgm:prSet/>
      <dgm:spPr/>
      <dgm:t>
        <a:bodyPr/>
        <a:lstStyle/>
        <a:p>
          <a:endParaRPr lang="en-US" sz="2000"/>
        </a:p>
      </dgm:t>
    </dgm:pt>
    <dgm:pt modelId="{CC89862C-CA38-4ECA-B069-49CE0A51229F}">
      <dgm:prSet custT="1"/>
      <dgm:spPr/>
      <dgm:t>
        <a:bodyPr/>
        <a:lstStyle/>
        <a:p>
          <a:r>
            <a:rPr lang="en-US" sz="2000"/>
            <a:t>Used in 5G to reduce RF chains.</a:t>
          </a:r>
        </a:p>
      </dgm:t>
    </dgm:pt>
    <dgm:pt modelId="{75C09CF4-9D47-4E61-BBE1-F68F5E81EED3}" type="parTrans" cxnId="{84AE4F95-1AD3-49D6-A0CA-6D90A9632F85}">
      <dgm:prSet/>
      <dgm:spPr/>
      <dgm:t>
        <a:bodyPr/>
        <a:lstStyle/>
        <a:p>
          <a:endParaRPr lang="en-US" sz="2000"/>
        </a:p>
      </dgm:t>
    </dgm:pt>
    <dgm:pt modelId="{5150B004-5A57-4FA3-A5C8-809EED1D4ADB}" type="sibTrans" cxnId="{84AE4F95-1AD3-49D6-A0CA-6D90A9632F85}">
      <dgm:prSet/>
      <dgm:spPr/>
      <dgm:t>
        <a:bodyPr/>
        <a:lstStyle/>
        <a:p>
          <a:endParaRPr lang="en-US" sz="2000"/>
        </a:p>
      </dgm:t>
    </dgm:pt>
    <dgm:pt modelId="{CAF4EB73-24D3-4561-BD95-FAF33ABB7097}" type="pres">
      <dgm:prSet presAssocID="{64002477-8A29-45A1-A135-3F1D830C69F7}" presName="linear" presStyleCnt="0">
        <dgm:presLayoutVars>
          <dgm:dir/>
          <dgm:animLvl val="lvl"/>
          <dgm:resizeHandles val="exact"/>
        </dgm:presLayoutVars>
      </dgm:prSet>
      <dgm:spPr/>
    </dgm:pt>
    <dgm:pt modelId="{D3B74BFE-DD45-4114-B68A-C9277858396A}" type="pres">
      <dgm:prSet presAssocID="{055C340D-F9C8-4735-B2EB-BBD941B21E5E}" presName="parentLin" presStyleCnt="0"/>
      <dgm:spPr/>
    </dgm:pt>
    <dgm:pt modelId="{59208DED-36BD-4031-ACF2-78B7CABD88C6}" type="pres">
      <dgm:prSet presAssocID="{055C340D-F9C8-4735-B2EB-BBD941B21E5E}" presName="parentLeftMargin" presStyleLbl="node1" presStyleIdx="0" presStyleCnt="5"/>
      <dgm:spPr/>
    </dgm:pt>
    <dgm:pt modelId="{E3F50FE8-F9D9-4F27-95B1-A67E2172F676}" type="pres">
      <dgm:prSet presAssocID="{055C340D-F9C8-4735-B2EB-BBD941B21E5E}" presName="parentText" presStyleLbl="node1" presStyleIdx="0" presStyleCnt="5">
        <dgm:presLayoutVars>
          <dgm:chMax val="0"/>
          <dgm:bulletEnabled val="1"/>
        </dgm:presLayoutVars>
      </dgm:prSet>
      <dgm:spPr/>
    </dgm:pt>
    <dgm:pt modelId="{104AFA6D-5C81-4F4E-B8D8-1872030E7DFB}" type="pres">
      <dgm:prSet presAssocID="{055C340D-F9C8-4735-B2EB-BBD941B21E5E}" presName="negativeSpace" presStyleCnt="0"/>
      <dgm:spPr/>
    </dgm:pt>
    <dgm:pt modelId="{EE41D896-33D0-42F9-915F-9C481C0DEBF2}" type="pres">
      <dgm:prSet presAssocID="{055C340D-F9C8-4735-B2EB-BBD941B21E5E}" presName="childText" presStyleLbl="conFgAcc1" presStyleIdx="0" presStyleCnt="5">
        <dgm:presLayoutVars>
          <dgm:bulletEnabled val="1"/>
        </dgm:presLayoutVars>
      </dgm:prSet>
      <dgm:spPr/>
    </dgm:pt>
    <dgm:pt modelId="{160AA295-9A13-4973-B50A-6845B81FCE2E}" type="pres">
      <dgm:prSet presAssocID="{BD92B41F-74D5-44CF-AC88-1F564F38CB8E}" presName="spaceBetweenRectangles" presStyleCnt="0"/>
      <dgm:spPr/>
    </dgm:pt>
    <dgm:pt modelId="{F891031C-129C-48B7-8A92-CD7D4227F9C5}" type="pres">
      <dgm:prSet presAssocID="{1D6B9223-DF2C-4EEE-BFC1-F57AC325ECB4}" presName="parentLin" presStyleCnt="0"/>
      <dgm:spPr/>
    </dgm:pt>
    <dgm:pt modelId="{74309A25-208A-48E7-B060-00DE3F3C3411}" type="pres">
      <dgm:prSet presAssocID="{1D6B9223-DF2C-4EEE-BFC1-F57AC325ECB4}" presName="parentLeftMargin" presStyleLbl="node1" presStyleIdx="0" presStyleCnt="5"/>
      <dgm:spPr/>
    </dgm:pt>
    <dgm:pt modelId="{AF8CB345-B527-495A-B573-B058A9C403B9}" type="pres">
      <dgm:prSet presAssocID="{1D6B9223-DF2C-4EEE-BFC1-F57AC325ECB4}" presName="parentText" presStyleLbl="node1" presStyleIdx="1" presStyleCnt="5">
        <dgm:presLayoutVars>
          <dgm:chMax val="0"/>
          <dgm:bulletEnabled val="1"/>
        </dgm:presLayoutVars>
      </dgm:prSet>
      <dgm:spPr/>
    </dgm:pt>
    <dgm:pt modelId="{089B4572-9C13-4683-A29C-AECB98D1577C}" type="pres">
      <dgm:prSet presAssocID="{1D6B9223-DF2C-4EEE-BFC1-F57AC325ECB4}" presName="negativeSpace" presStyleCnt="0"/>
      <dgm:spPr/>
    </dgm:pt>
    <dgm:pt modelId="{6D4872BA-4FC1-41E1-BD89-51AB63D014F1}" type="pres">
      <dgm:prSet presAssocID="{1D6B9223-DF2C-4EEE-BFC1-F57AC325ECB4}" presName="childText" presStyleLbl="conFgAcc1" presStyleIdx="1" presStyleCnt="5">
        <dgm:presLayoutVars>
          <dgm:bulletEnabled val="1"/>
        </dgm:presLayoutVars>
      </dgm:prSet>
      <dgm:spPr/>
    </dgm:pt>
    <dgm:pt modelId="{E3A703A5-F4BF-4262-AF88-3D5472EA0C84}" type="pres">
      <dgm:prSet presAssocID="{29CC8BB1-82DD-4489-A3DF-68F10AB6401B}" presName="spaceBetweenRectangles" presStyleCnt="0"/>
      <dgm:spPr/>
    </dgm:pt>
    <dgm:pt modelId="{11CF2DF1-F449-477F-BAAB-A567AB2F6B75}" type="pres">
      <dgm:prSet presAssocID="{A0F66589-CE23-442B-B74C-65511F96508A}" presName="parentLin" presStyleCnt="0"/>
      <dgm:spPr/>
    </dgm:pt>
    <dgm:pt modelId="{BC10E84F-359C-46C3-9E9B-68B880EAEB0E}" type="pres">
      <dgm:prSet presAssocID="{A0F66589-CE23-442B-B74C-65511F96508A}" presName="parentLeftMargin" presStyleLbl="node1" presStyleIdx="1" presStyleCnt="5"/>
      <dgm:spPr/>
    </dgm:pt>
    <dgm:pt modelId="{8705E645-17E4-48EB-9A7E-60815DAB920F}" type="pres">
      <dgm:prSet presAssocID="{A0F66589-CE23-442B-B74C-65511F96508A}" presName="parentText" presStyleLbl="node1" presStyleIdx="2" presStyleCnt="5">
        <dgm:presLayoutVars>
          <dgm:chMax val="0"/>
          <dgm:bulletEnabled val="1"/>
        </dgm:presLayoutVars>
      </dgm:prSet>
      <dgm:spPr/>
    </dgm:pt>
    <dgm:pt modelId="{95F41028-D69B-4344-BE08-577773D83212}" type="pres">
      <dgm:prSet presAssocID="{A0F66589-CE23-442B-B74C-65511F96508A}" presName="negativeSpace" presStyleCnt="0"/>
      <dgm:spPr/>
    </dgm:pt>
    <dgm:pt modelId="{DA9CE1A3-941B-4955-8B69-012C02EB8555}" type="pres">
      <dgm:prSet presAssocID="{A0F66589-CE23-442B-B74C-65511F96508A}" presName="childText" presStyleLbl="conFgAcc1" presStyleIdx="2" presStyleCnt="5">
        <dgm:presLayoutVars>
          <dgm:bulletEnabled val="1"/>
        </dgm:presLayoutVars>
      </dgm:prSet>
      <dgm:spPr/>
    </dgm:pt>
    <dgm:pt modelId="{342AE283-6A77-4005-A27D-97E938CD5490}" type="pres">
      <dgm:prSet presAssocID="{2B802BBE-18B7-48AA-B73E-1AC59D45DC79}" presName="spaceBetweenRectangles" presStyleCnt="0"/>
      <dgm:spPr/>
    </dgm:pt>
    <dgm:pt modelId="{B668296A-F6B1-45F1-A713-FF3112800311}" type="pres">
      <dgm:prSet presAssocID="{B703EE96-40EF-44E4-9188-E72230CA35C4}" presName="parentLin" presStyleCnt="0"/>
      <dgm:spPr/>
    </dgm:pt>
    <dgm:pt modelId="{91234817-F5B9-4C93-99A0-D5CFF468D4D7}" type="pres">
      <dgm:prSet presAssocID="{B703EE96-40EF-44E4-9188-E72230CA35C4}" presName="parentLeftMargin" presStyleLbl="node1" presStyleIdx="2" presStyleCnt="5"/>
      <dgm:spPr/>
    </dgm:pt>
    <dgm:pt modelId="{80353796-DAB2-4968-9B24-006871849C8C}" type="pres">
      <dgm:prSet presAssocID="{B703EE96-40EF-44E4-9188-E72230CA35C4}" presName="parentText" presStyleLbl="node1" presStyleIdx="3" presStyleCnt="5">
        <dgm:presLayoutVars>
          <dgm:chMax val="0"/>
          <dgm:bulletEnabled val="1"/>
        </dgm:presLayoutVars>
      </dgm:prSet>
      <dgm:spPr/>
    </dgm:pt>
    <dgm:pt modelId="{B569830F-1F8F-4570-A60C-9B1C0CDC234E}" type="pres">
      <dgm:prSet presAssocID="{B703EE96-40EF-44E4-9188-E72230CA35C4}" presName="negativeSpace" presStyleCnt="0"/>
      <dgm:spPr/>
    </dgm:pt>
    <dgm:pt modelId="{365880E5-40B8-44B6-BD10-3246278E657F}" type="pres">
      <dgm:prSet presAssocID="{B703EE96-40EF-44E4-9188-E72230CA35C4}" presName="childText" presStyleLbl="conFgAcc1" presStyleIdx="3" presStyleCnt="5">
        <dgm:presLayoutVars>
          <dgm:bulletEnabled val="1"/>
        </dgm:presLayoutVars>
      </dgm:prSet>
      <dgm:spPr/>
    </dgm:pt>
    <dgm:pt modelId="{FF9F2F9F-A78C-4070-80AB-2EA2F90DF370}" type="pres">
      <dgm:prSet presAssocID="{F2250E00-E500-492C-907B-C27A1C8D8788}" presName="spaceBetweenRectangles" presStyleCnt="0"/>
      <dgm:spPr/>
    </dgm:pt>
    <dgm:pt modelId="{BC41B834-18AC-4F1C-979C-9ABD5D9920B4}" type="pres">
      <dgm:prSet presAssocID="{48952CEC-4DCA-4CD9-8CF6-05A82B3B785E}" presName="parentLin" presStyleCnt="0"/>
      <dgm:spPr/>
    </dgm:pt>
    <dgm:pt modelId="{F6D1188C-35EA-4CB1-BC78-66CB87E1A346}" type="pres">
      <dgm:prSet presAssocID="{48952CEC-4DCA-4CD9-8CF6-05A82B3B785E}" presName="parentLeftMargin" presStyleLbl="node1" presStyleIdx="3" presStyleCnt="5"/>
      <dgm:spPr/>
    </dgm:pt>
    <dgm:pt modelId="{BF982DC8-8C33-4F59-BEC0-FE2D59245BA8}" type="pres">
      <dgm:prSet presAssocID="{48952CEC-4DCA-4CD9-8CF6-05A82B3B785E}" presName="parentText" presStyleLbl="node1" presStyleIdx="4" presStyleCnt="5">
        <dgm:presLayoutVars>
          <dgm:chMax val="0"/>
          <dgm:bulletEnabled val="1"/>
        </dgm:presLayoutVars>
      </dgm:prSet>
      <dgm:spPr/>
    </dgm:pt>
    <dgm:pt modelId="{742F28F2-A546-4E1D-B0C2-588C57B4F8AA}" type="pres">
      <dgm:prSet presAssocID="{48952CEC-4DCA-4CD9-8CF6-05A82B3B785E}" presName="negativeSpace" presStyleCnt="0"/>
      <dgm:spPr/>
    </dgm:pt>
    <dgm:pt modelId="{868A2914-B2D1-44D1-BEE5-C1F5604D63EC}" type="pres">
      <dgm:prSet presAssocID="{48952CEC-4DCA-4CD9-8CF6-05A82B3B785E}" presName="childText" presStyleLbl="conFgAcc1" presStyleIdx="4" presStyleCnt="5">
        <dgm:presLayoutVars>
          <dgm:bulletEnabled val="1"/>
        </dgm:presLayoutVars>
      </dgm:prSet>
      <dgm:spPr/>
    </dgm:pt>
  </dgm:ptLst>
  <dgm:cxnLst>
    <dgm:cxn modelId="{103AF00D-8553-471B-8146-AEAECAA8CA7E}" srcId="{055C340D-F9C8-4735-B2EB-BBD941B21E5E}" destId="{A8F97F45-01CB-44CD-A638-A4DE73E400E7}" srcOrd="0" destOrd="0" parTransId="{9F874132-8FC6-4821-BD3A-91946BF40CD0}" sibTransId="{7FFB1873-2C01-4431-9DAC-B13DC806BBE9}"/>
    <dgm:cxn modelId="{82202F20-253E-4785-B164-D8E78E7DCE9B}" type="presOf" srcId="{1D6B9223-DF2C-4EEE-BFC1-F57AC325ECB4}" destId="{74309A25-208A-48E7-B060-00DE3F3C3411}" srcOrd="0" destOrd="0" presId="urn:microsoft.com/office/officeart/2005/8/layout/list1"/>
    <dgm:cxn modelId="{B92AC829-F406-4C9B-9768-78AA3A5B9EEA}" srcId="{055C340D-F9C8-4735-B2EB-BBD941B21E5E}" destId="{30BE2E56-C6DC-4C30-8F85-31BA82B5C6A0}" srcOrd="1" destOrd="0" parTransId="{E49DA938-E257-4456-B05A-5E3B8CA4D70C}" sibTransId="{645AC744-21AC-4F7B-B135-BD47972CD128}"/>
    <dgm:cxn modelId="{054CAC2B-371A-4CC2-A254-D17D12002004}" srcId="{64002477-8A29-45A1-A135-3F1D830C69F7}" destId="{A0F66589-CE23-442B-B74C-65511F96508A}" srcOrd="2" destOrd="0" parTransId="{F8432958-FF5F-4E01-9514-C0617228D39D}" sibTransId="{2B802BBE-18B7-48AA-B73E-1AC59D45DC79}"/>
    <dgm:cxn modelId="{2B0EDE2E-B4FF-4E02-9895-E21311900C5E}" srcId="{48952CEC-4DCA-4CD9-8CF6-05A82B3B785E}" destId="{2D2598AD-91B3-4AE7-A666-D07423637DD1}" srcOrd="0" destOrd="0" parTransId="{2BEEE188-CAB1-41DF-9D6F-19D2F423137B}" sibTransId="{52041543-36E2-4C56-ABE5-6E64B99843D5}"/>
    <dgm:cxn modelId="{E8AC5E2F-EBF7-4ACE-90FC-76D9F261AF8B}" type="presOf" srcId="{CC89862C-CA38-4ECA-B069-49CE0A51229F}" destId="{868A2914-B2D1-44D1-BEE5-C1F5604D63EC}" srcOrd="0" destOrd="1" presId="urn:microsoft.com/office/officeart/2005/8/layout/list1"/>
    <dgm:cxn modelId="{F17EE331-44C2-4A0C-BF82-6CC7C2CE264F}" type="presOf" srcId="{48952CEC-4DCA-4CD9-8CF6-05A82B3B785E}" destId="{F6D1188C-35EA-4CB1-BC78-66CB87E1A346}" srcOrd="0" destOrd="0" presId="urn:microsoft.com/office/officeart/2005/8/layout/list1"/>
    <dgm:cxn modelId="{6DC1E438-3A66-4BA4-A785-F520DAC9E75D}" type="presOf" srcId="{2D2598AD-91B3-4AE7-A666-D07423637DD1}" destId="{868A2914-B2D1-44D1-BEE5-C1F5604D63EC}" srcOrd="0" destOrd="0" presId="urn:microsoft.com/office/officeart/2005/8/layout/list1"/>
    <dgm:cxn modelId="{BCFCEC5D-635D-4889-9AF2-93004C39187C}" srcId="{64002477-8A29-45A1-A135-3F1D830C69F7}" destId="{1D6B9223-DF2C-4EEE-BFC1-F57AC325ECB4}" srcOrd="1" destOrd="0" parTransId="{3E13F056-0EDF-403E-8382-5A5C0210FB38}" sibTransId="{29CC8BB1-82DD-4489-A3DF-68F10AB6401B}"/>
    <dgm:cxn modelId="{2ED2BF60-2DB8-46C7-8C59-7D656C6739F4}" srcId="{A0F66589-CE23-442B-B74C-65511F96508A}" destId="{170A6400-3EE6-45F5-8A15-6CD3DD85F47B}" srcOrd="0" destOrd="0" parTransId="{F1739543-EB2F-49BA-9D5F-869503AB3FA6}" sibTransId="{3599AD77-CF60-4EFC-83EA-CDB820485116}"/>
    <dgm:cxn modelId="{B93A5643-051D-44E7-B31C-70833CFA075F}" type="presOf" srcId="{FAB1B67F-366E-4246-A09E-4E047CCBE482}" destId="{6D4872BA-4FC1-41E1-BD89-51AB63D014F1}" srcOrd="0" destOrd="0" presId="urn:microsoft.com/office/officeart/2005/8/layout/list1"/>
    <dgm:cxn modelId="{0D5B3445-15E7-47EA-93E6-9F52957D77D2}" srcId="{64002477-8A29-45A1-A135-3F1D830C69F7}" destId="{055C340D-F9C8-4735-B2EB-BBD941B21E5E}" srcOrd="0" destOrd="0" parTransId="{CE2B1962-34A4-4010-B4BD-2B9BD4688C9D}" sibTransId="{BD92B41F-74D5-44CF-AC88-1F564F38CB8E}"/>
    <dgm:cxn modelId="{E4FDC046-1544-488F-A5FD-71E7F9BC4039}" type="presOf" srcId="{1D6B9223-DF2C-4EEE-BFC1-F57AC325ECB4}" destId="{AF8CB345-B527-495A-B573-B058A9C403B9}" srcOrd="1" destOrd="0" presId="urn:microsoft.com/office/officeart/2005/8/layout/list1"/>
    <dgm:cxn modelId="{08B0AF68-2A92-414E-AD37-D9141B78C7BD}" type="presOf" srcId="{055C340D-F9C8-4735-B2EB-BBD941B21E5E}" destId="{59208DED-36BD-4031-ACF2-78B7CABD88C6}" srcOrd="0" destOrd="0" presId="urn:microsoft.com/office/officeart/2005/8/layout/list1"/>
    <dgm:cxn modelId="{5A2B714A-AD05-4CA9-BE0D-F2C833D925A5}" srcId="{64002477-8A29-45A1-A135-3F1D830C69F7}" destId="{48952CEC-4DCA-4CD9-8CF6-05A82B3B785E}" srcOrd="4" destOrd="0" parTransId="{789C90A9-3C48-41E9-9797-53F2FC4E1FF8}" sibTransId="{2C94104B-848B-4B3F-8B1E-6DC6BCC0CED5}"/>
    <dgm:cxn modelId="{8B97406B-D4E7-41D4-BBCA-CD0E942BDE54}" srcId="{64002477-8A29-45A1-A135-3F1D830C69F7}" destId="{B703EE96-40EF-44E4-9188-E72230CA35C4}" srcOrd="3" destOrd="0" parTransId="{C70F1DDF-CF57-4D3B-BF4C-D6E5A88E267D}" sibTransId="{F2250E00-E500-492C-907B-C27A1C8D8788}"/>
    <dgm:cxn modelId="{4ED66050-29A7-4270-8923-6AAC2F497245}" srcId="{1D6B9223-DF2C-4EEE-BFC1-F57AC325ECB4}" destId="{FAB1B67F-366E-4246-A09E-4E047CCBE482}" srcOrd="0" destOrd="0" parTransId="{6E31E417-C8AE-4FCE-8FB2-ECC8337D3079}" sibTransId="{F614F383-38B5-40BF-8130-EBDC9B2436C5}"/>
    <dgm:cxn modelId="{8BEBF372-308C-41BE-895D-87AB580C924E}" type="presOf" srcId="{A0F66589-CE23-442B-B74C-65511F96508A}" destId="{8705E645-17E4-48EB-9A7E-60815DAB920F}" srcOrd="1" destOrd="0" presId="urn:microsoft.com/office/officeart/2005/8/layout/list1"/>
    <dgm:cxn modelId="{E7757A78-9FFC-4FB5-8B32-52EE74E73394}" srcId="{B703EE96-40EF-44E4-9188-E72230CA35C4}" destId="{71F8E93D-F2F0-47D0-986D-CF9125809B48}" srcOrd="0" destOrd="0" parTransId="{B305EAD5-63B8-46A6-92AA-AA70303E8EC2}" sibTransId="{6BA113A5-9532-428F-96D5-5E456C6BC684}"/>
    <dgm:cxn modelId="{BF19667E-DCC2-4494-BC69-022791C7704F}" type="presOf" srcId="{B703EE96-40EF-44E4-9188-E72230CA35C4}" destId="{91234817-F5B9-4C93-99A0-D5CFF468D4D7}" srcOrd="0" destOrd="0" presId="urn:microsoft.com/office/officeart/2005/8/layout/list1"/>
    <dgm:cxn modelId="{8DE79F80-09D8-47AD-944C-5107104D796E}" type="presOf" srcId="{A0F66589-CE23-442B-B74C-65511F96508A}" destId="{BC10E84F-359C-46C3-9E9B-68B880EAEB0E}" srcOrd="0" destOrd="0" presId="urn:microsoft.com/office/officeart/2005/8/layout/list1"/>
    <dgm:cxn modelId="{66341F88-F8A8-4862-BFFF-0A029048A4B8}" type="presOf" srcId="{A8F97F45-01CB-44CD-A638-A4DE73E400E7}" destId="{EE41D896-33D0-42F9-915F-9C481C0DEBF2}" srcOrd="0" destOrd="0" presId="urn:microsoft.com/office/officeart/2005/8/layout/list1"/>
    <dgm:cxn modelId="{84AE4F95-1AD3-49D6-A0CA-6D90A9632F85}" srcId="{48952CEC-4DCA-4CD9-8CF6-05A82B3B785E}" destId="{CC89862C-CA38-4ECA-B069-49CE0A51229F}" srcOrd="1" destOrd="0" parTransId="{75C09CF4-9D47-4E61-BBE1-F68F5E81EED3}" sibTransId="{5150B004-5A57-4FA3-A5C8-809EED1D4ADB}"/>
    <dgm:cxn modelId="{FF39AB99-AF66-4BCF-ACAC-CBA08F460834}" type="presOf" srcId="{71F8E93D-F2F0-47D0-986D-CF9125809B48}" destId="{365880E5-40B8-44B6-BD10-3246278E657F}" srcOrd="0" destOrd="0" presId="urn:microsoft.com/office/officeart/2005/8/layout/list1"/>
    <dgm:cxn modelId="{912155B1-62CF-4084-93A4-F24926D02C7B}" type="presOf" srcId="{055C340D-F9C8-4735-B2EB-BBD941B21E5E}" destId="{E3F50FE8-F9D9-4F27-95B1-A67E2172F676}" srcOrd="1" destOrd="0" presId="urn:microsoft.com/office/officeart/2005/8/layout/list1"/>
    <dgm:cxn modelId="{2241B3B3-9A26-4794-83C0-40B80BD9FF59}" type="presOf" srcId="{170A6400-3EE6-45F5-8A15-6CD3DD85F47B}" destId="{DA9CE1A3-941B-4955-8B69-012C02EB8555}" srcOrd="0" destOrd="0" presId="urn:microsoft.com/office/officeart/2005/8/layout/list1"/>
    <dgm:cxn modelId="{520A1EBE-C784-4762-A325-E6D023042D41}" type="presOf" srcId="{B703EE96-40EF-44E4-9188-E72230CA35C4}" destId="{80353796-DAB2-4968-9B24-006871849C8C}" srcOrd="1" destOrd="0" presId="urn:microsoft.com/office/officeart/2005/8/layout/list1"/>
    <dgm:cxn modelId="{549789CA-0CCD-4E02-93BA-74645DFB8F1C}" type="presOf" srcId="{30BE2E56-C6DC-4C30-8F85-31BA82B5C6A0}" destId="{EE41D896-33D0-42F9-915F-9C481C0DEBF2}" srcOrd="0" destOrd="1" presId="urn:microsoft.com/office/officeart/2005/8/layout/list1"/>
    <dgm:cxn modelId="{16B77CD3-F4D8-40A5-A1C8-F87156E5DD10}" type="presOf" srcId="{48952CEC-4DCA-4CD9-8CF6-05A82B3B785E}" destId="{BF982DC8-8C33-4F59-BEC0-FE2D59245BA8}" srcOrd="1" destOrd="0" presId="urn:microsoft.com/office/officeart/2005/8/layout/list1"/>
    <dgm:cxn modelId="{B4D9A9E0-EC7D-4EBA-82C9-44D6D714F41A}" type="presOf" srcId="{64002477-8A29-45A1-A135-3F1D830C69F7}" destId="{CAF4EB73-24D3-4561-BD95-FAF33ABB7097}" srcOrd="0" destOrd="0" presId="urn:microsoft.com/office/officeart/2005/8/layout/list1"/>
    <dgm:cxn modelId="{D0FB51C0-4087-4C7D-B598-0D42B6326D88}" type="presParOf" srcId="{CAF4EB73-24D3-4561-BD95-FAF33ABB7097}" destId="{D3B74BFE-DD45-4114-B68A-C9277858396A}" srcOrd="0" destOrd="0" presId="urn:microsoft.com/office/officeart/2005/8/layout/list1"/>
    <dgm:cxn modelId="{E1E86DA7-93DE-40E7-BFC4-4E32327E3072}" type="presParOf" srcId="{D3B74BFE-DD45-4114-B68A-C9277858396A}" destId="{59208DED-36BD-4031-ACF2-78B7CABD88C6}" srcOrd="0" destOrd="0" presId="urn:microsoft.com/office/officeart/2005/8/layout/list1"/>
    <dgm:cxn modelId="{94A8A7C4-933E-467D-B421-64584023D6AD}" type="presParOf" srcId="{D3B74BFE-DD45-4114-B68A-C9277858396A}" destId="{E3F50FE8-F9D9-4F27-95B1-A67E2172F676}" srcOrd="1" destOrd="0" presId="urn:microsoft.com/office/officeart/2005/8/layout/list1"/>
    <dgm:cxn modelId="{C90F1E83-B715-4F5D-8020-D253EA285E5E}" type="presParOf" srcId="{CAF4EB73-24D3-4561-BD95-FAF33ABB7097}" destId="{104AFA6D-5C81-4F4E-B8D8-1872030E7DFB}" srcOrd="1" destOrd="0" presId="urn:microsoft.com/office/officeart/2005/8/layout/list1"/>
    <dgm:cxn modelId="{11EF2653-EDA8-452F-A2FA-B238A8AAFC87}" type="presParOf" srcId="{CAF4EB73-24D3-4561-BD95-FAF33ABB7097}" destId="{EE41D896-33D0-42F9-915F-9C481C0DEBF2}" srcOrd="2" destOrd="0" presId="urn:microsoft.com/office/officeart/2005/8/layout/list1"/>
    <dgm:cxn modelId="{655F616B-69ED-4455-84BE-369D22DBA516}" type="presParOf" srcId="{CAF4EB73-24D3-4561-BD95-FAF33ABB7097}" destId="{160AA295-9A13-4973-B50A-6845B81FCE2E}" srcOrd="3" destOrd="0" presId="urn:microsoft.com/office/officeart/2005/8/layout/list1"/>
    <dgm:cxn modelId="{67A2FC72-F6E5-4B00-BB82-CAA4FBD2B09B}" type="presParOf" srcId="{CAF4EB73-24D3-4561-BD95-FAF33ABB7097}" destId="{F891031C-129C-48B7-8A92-CD7D4227F9C5}" srcOrd="4" destOrd="0" presId="urn:microsoft.com/office/officeart/2005/8/layout/list1"/>
    <dgm:cxn modelId="{043A81BB-436D-42A0-902F-AA9EC0139DBF}" type="presParOf" srcId="{F891031C-129C-48B7-8A92-CD7D4227F9C5}" destId="{74309A25-208A-48E7-B060-00DE3F3C3411}" srcOrd="0" destOrd="0" presId="urn:microsoft.com/office/officeart/2005/8/layout/list1"/>
    <dgm:cxn modelId="{05C30A1B-131F-49B0-A468-E2528A8D0A05}" type="presParOf" srcId="{F891031C-129C-48B7-8A92-CD7D4227F9C5}" destId="{AF8CB345-B527-495A-B573-B058A9C403B9}" srcOrd="1" destOrd="0" presId="urn:microsoft.com/office/officeart/2005/8/layout/list1"/>
    <dgm:cxn modelId="{27A6E432-DDCE-4A37-8BD2-3F03569E2FCD}" type="presParOf" srcId="{CAF4EB73-24D3-4561-BD95-FAF33ABB7097}" destId="{089B4572-9C13-4683-A29C-AECB98D1577C}" srcOrd="5" destOrd="0" presId="urn:microsoft.com/office/officeart/2005/8/layout/list1"/>
    <dgm:cxn modelId="{5E4E5C7E-DDFB-4FB7-BD0A-8C0DE633C6E7}" type="presParOf" srcId="{CAF4EB73-24D3-4561-BD95-FAF33ABB7097}" destId="{6D4872BA-4FC1-41E1-BD89-51AB63D014F1}" srcOrd="6" destOrd="0" presId="urn:microsoft.com/office/officeart/2005/8/layout/list1"/>
    <dgm:cxn modelId="{82ABB24F-0E67-4724-8A2F-D06F85B670C0}" type="presParOf" srcId="{CAF4EB73-24D3-4561-BD95-FAF33ABB7097}" destId="{E3A703A5-F4BF-4262-AF88-3D5472EA0C84}" srcOrd="7" destOrd="0" presId="urn:microsoft.com/office/officeart/2005/8/layout/list1"/>
    <dgm:cxn modelId="{B7462EE9-A0ED-4D4C-AE7B-08B69288F268}" type="presParOf" srcId="{CAF4EB73-24D3-4561-BD95-FAF33ABB7097}" destId="{11CF2DF1-F449-477F-BAAB-A567AB2F6B75}" srcOrd="8" destOrd="0" presId="urn:microsoft.com/office/officeart/2005/8/layout/list1"/>
    <dgm:cxn modelId="{150A7BA4-BFAE-40EB-9473-88486B5DBF80}" type="presParOf" srcId="{11CF2DF1-F449-477F-BAAB-A567AB2F6B75}" destId="{BC10E84F-359C-46C3-9E9B-68B880EAEB0E}" srcOrd="0" destOrd="0" presId="urn:microsoft.com/office/officeart/2005/8/layout/list1"/>
    <dgm:cxn modelId="{8DA029FF-79B2-4D9A-9008-676CEB3B079D}" type="presParOf" srcId="{11CF2DF1-F449-477F-BAAB-A567AB2F6B75}" destId="{8705E645-17E4-48EB-9A7E-60815DAB920F}" srcOrd="1" destOrd="0" presId="urn:microsoft.com/office/officeart/2005/8/layout/list1"/>
    <dgm:cxn modelId="{020EB50A-5708-4428-A13F-E1958341AE6F}" type="presParOf" srcId="{CAF4EB73-24D3-4561-BD95-FAF33ABB7097}" destId="{95F41028-D69B-4344-BE08-577773D83212}" srcOrd="9" destOrd="0" presId="urn:microsoft.com/office/officeart/2005/8/layout/list1"/>
    <dgm:cxn modelId="{08705FDB-DC7C-46E4-A5A6-CB33FEE2C50F}" type="presParOf" srcId="{CAF4EB73-24D3-4561-BD95-FAF33ABB7097}" destId="{DA9CE1A3-941B-4955-8B69-012C02EB8555}" srcOrd="10" destOrd="0" presId="urn:microsoft.com/office/officeart/2005/8/layout/list1"/>
    <dgm:cxn modelId="{F6CFBC5A-181C-4119-A34B-3C8BE4F9C666}" type="presParOf" srcId="{CAF4EB73-24D3-4561-BD95-FAF33ABB7097}" destId="{342AE283-6A77-4005-A27D-97E938CD5490}" srcOrd="11" destOrd="0" presId="urn:microsoft.com/office/officeart/2005/8/layout/list1"/>
    <dgm:cxn modelId="{3C0F9A6F-E22D-4C6A-BF7D-9BCD46C09AC4}" type="presParOf" srcId="{CAF4EB73-24D3-4561-BD95-FAF33ABB7097}" destId="{B668296A-F6B1-45F1-A713-FF3112800311}" srcOrd="12" destOrd="0" presId="urn:microsoft.com/office/officeart/2005/8/layout/list1"/>
    <dgm:cxn modelId="{A0DC1B6E-A229-4569-97A6-77200D6332F4}" type="presParOf" srcId="{B668296A-F6B1-45F1-A713-FF3112800311}" destId="{91234817-F5B9-4C93-99A0-D5CFF468D4D7}" srcOrd="0" destOrd="0" presId="urn:microsoft.com/office/officeart/2005/8/layout/list1"/>
    <dgm:cxn modelId="{2C437F3F-00FB-4300-A8BF-F93FDF8D5CC2}" type="presParOf" srcId="{B668296A-F6B1-45F1-A713-FF3112800311}" destId="{80353796-DAB2-4968-9B24-006871849C8C}" srcOrd="1" destOrd="0" presId="urn:microsoft.com/office/officeart/2005/8/layout/list1"/>
    <dgm:cxn modelId="{C04A6C06-FEF9-4078-8EE5-8E58D663F887}" type="presParOf" srcId="{CAF4EB73-24D3-4561-BD95-FAF33ABB7097}" destId="{B569830F-1F8F-4570-A60C-9B1C0CDC234E}" srcOrd="13" destOrd="0" presId="urn:microsoft.com/office/officeart/2005/8/layout/list1"/>
    <dgm:cxn modelId="{B9F79406-0B57-49E1-BC87-3176F2C8F62A}" type="presParOf" srcId="{CAF4EB73-24D3-4561-BD95-FAF33ABB7097}" destId="{365880E5-40B8-44B6-BD10-3246278E657F}" srcOrd="14" destOrd="0" presId="urn:microsoft.com/office/officeart/2005/8/layout/list1"/>
    <dgm:cxn modelId="{A8C15338-F8CD-4D4F-B890-FD48DC27A321}" type="presParOf" srcId="{CAF4EB73-24D3-4561-BD95-FAF33ABB7097}" destId="{FF9F2F9F-A78C-4070-80AB-2EA2F90DF370}" srcOrd="15" destOrd="0" presId="urn:microsoft.com/office/officeart/2005/8/layout/list1"/>
    <dgm:cxn modelId="{D77553CA-239D-4D47-B702-6DC25B676416}" type="presParOf" srcId="{CAF4EB73-24D3-4561-BD95-FAF33ABB7097}" destId="{BC41B834-18AC-4F1C-979C-9ABD5D9920B4}" srcOrd="16" destOrd="0" presId="urn:microsoft.com/office/officeart/2005/8/layout/list1"/>
    <dgm:cxn modelId="{99DB4926-8CE7-4FBE-B19A-1E278FD73D02}" type="presParOf" srcId="{BC41B834-18AC-4F1C-979C-9ABD5D9920B4}" destId="{F6D1188C-35EA-4CB1-BC78-66CB87E1A346}" srcOrd="0" destOrd="0" presId="urn:microsoft.com/office/officeart/2005/8/layout/list1"/>
    <dgm:cxn modelId="{F4E0490F-2328-40B6-8B82-DC911429D410}" type="presParOf" srcId="{BC41B834-18AC-4F1C-979C-9ABD5D9920B4}" destId="{BF982DC8-8C33-4F59-BEC0-FE2D59245BA8}" srcOrd="1" destOrd="0" presId="urn:microsoft.com/office/officeart/2005/8/layout/list1"/>
    <dgm:cxn modelId="{64505281-0D36-4FD3-8A62-389AA2174BA5}" type="presParOf" srcId="{CAF4EB73-24D3-4561-BD95-FAF33ABB7097}" destId="{742F28F2-A546-4E1D-B0C2-588C57B4F8AA}" srcOrd="17" destOrd="0" presId="urn:microsoft.com/office/officeart/2005/8/layout/list1"/>
    <dgm:cxn modelId="{F8FDD444-F986-4C5C-AB8A-F4C4C631A5F7}" type="presParOf" srcId="{CAF4EB73-24D3-4561-BD95-FAF33ABB7097}" destId="{868A2914-B2D1-44D1-BEE5-C1F5604D63EC}"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B372433-C3A6-46F9-9CD5-73D977AF568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A83675B-596C-458C-A995-A330EA8B7AB6}">
      <dgm:prSet/>
      <dgm:spPr/>
      <dgm:t>
        <a:bodyPr/>
        <a:lstStyle/>
        <a:p>
          <a:r>
            <a:rPr lang="en-US" b="0" i="0"/>
            <a:t>Channel Estimation Accuracy:</a:t>
          </a:r>
          <a:r>
            <a:rPr lang="en-US"/>
            <a:t> </a:t>
          </a:r>
        </a:p>
      </dgm:t>
    </dgm:pt>
    <dgm:pt modelId="{F15AEE99-25CA-4938-A867-6F3C34654F22}" type="parTrans" cxnId="{701C72CE-9612-46C1-91AD-93C3EED0FBE3}">
      <dgm:prSet/>
      <dgm:spPr/>
      <dgm:t>
        <a:bodyPr/>
        <a:lstStyle/>
        <a:p>
          <a:endParaRPr lang="en-US"/>
        </a:p>
      </dgm:t>
    </dgm:pt>
    <dgm:pt modelId="{26412B59-A80C-4467-BA39-A1EA9634FD44}" type="sibTrans" cxnId="{701C72CE-9612-46C1-91AD-93C3EED0FBE3}">
      <dgm:prSet/>
      <dgm:spPr/>
      <dgm:t>
        <a:bodyPr/>
        <a:lstStyle/>
        <a:p>
          <a:endParaRPr lang="en-US"/>
        </a:p>
      </dgm:t>
    </dgm:pt>
    <dgm:pt modelId="{1B91B76F-8513-4C4E-A1C9-411F974F8955}">
      <dgm:prSet/>
      <dgm:spPr/>
      <dgm:t>
        <a:bodyPr/>
        <a:lstStyle/>
        <a:p>
          <a:r>
            <a:rPr lang="en-US" b="0" i="0"/>
            <a:t>Feedback Overhead: </a:t>
          </a:r>
          <a:endParaRPr lang="en-US"/>
        </a:p>
      </dgm:t>
    </dgm:pt>
    <dgm:pt modelId="{E4ED0D73-EFF2-444F-827D-FADA5B3F1B75}" type="parTrans" cxnId="{C070875D-2AF8-4BC0-BDA9-14FED8AE6855}">
      <dgm:prSet/>
      <dgm:spPr/>
      <dgm:t>
        <a:bodyPr/>
        <a:lstStyle/>
        <a:p>
          <a:endParaRPr lang="en-US"/>
        </a:p>
      </dgm:t>
    </dgm:pt>
    <dgm:pt modelId="{90B3A9DB-A2CE-4C54-AC12-F4CD2F68C3A5}" type="sibTrans" cxnId="{C070875D-2AF8-4BC0-BDA9-14FED8AE6855}">
      <dgm:prSet/>
      <dgm:spPr/>
      <dgm:t>
        <a:bodyPr/>
        <a:lstStyle/>
        <a:p>
          <a:endParaRPr lang="en-US"/>
        </a:p>
      </dgm:t>
    </dgm:pt>
    <dgm:pt modelId="{7047C38E-F55D-45E7-AEA8-E802F2AE6A6B}">
      <dgm:prSet/>
      <dgm:spPr/>
      <dgm:t>
        <a:bodyPr/>
        <a:lstStyle/>
        <a:p>
          <a:r>
            <a:rPr lang="en-US" b="0" i="0"/>
            <a:t>Complexity and Implementation Constraints: </a:t>
          </a:r>
          <a:endParaRPr lang="en-US"/>
        </a:p>
      </dgm:t>
    </dgm:pt>
    <dgm:pt modelId="{018CECDE-23BA-421A-B871-B03F2DD8C096}" type="parTrans" cxnId="{A7E8CD7C-B18E-4FDA-8F3A-4766EC9FE84B}">
      <dgm:prSet/>
      <dgm:spPr/>
      <dgm:t>
        <a:bodyPr/>
        <a:lstStyle/>
        <a:p>
          <a:endParaRPr lang="en-US"/>
        </a:p>
      </dgm:t>
    </dgm:pt>
    <dgm:pt modelId="{BA90EE0E-2C64-4CA6-BCA9-6B7F4B0EEAD1}" type="sibTrans" cxnId="{A7E8CD7C-B18E-4FDA-8F3A-4766EC9FE84B}">
      <dgm:prSet/>
      <dgm:spPr/>
      <dgm:t>
        <a:bodyPr/>
        <a:lstStyle/>
        <a:p>
          <a:endParaRPr lang="en-US"/>
        </a:p>
      </dgm:t>
    </dgm:pt>
    <dgm:pt modelId="{974F3D26-5934-4FE2-B5DB-7B6CFCE2C172}">
      <dgm:prSet/>
      <dgm:spPr/>
      <dgm:t>
        <a:bodyPr/>
        <a:lstStyle/>
        <a:p>
          <a:r>
            <a:rPr lang="en-US" b="0" i="0"/>
            <a:t>Multiuser Interference: </a:t>
          </a:r>
          <a:endParaRPr lang="en-US"/>
        </a:p>
      </dgm:t>
    </dgm:pt>
    <dgm:pt modelId="{B00EB499-44C6-4E34-9A6C-BB01087EF69A}" type="parTrans" cxnId="{15869CA6-9E54-476C-9E91-3F1EA596EC60}">
      <dgm:prSet/>
      <dgm:spPr/>
      <dgm:t>
        <a:bodyPr/>
        <a:lstStyle/>
        <a:p>
          <a:endParaRPr lang="en-US"/>
        </a:p>
      </dgm:t>
    </dgm:pt>
    <dgm:pt modelId="{F30829C4-F4ED-4112-99E1-59236A4CA2A4}" type="sibTrans" cxnId="{15869CA6-9E54-476C-9E91-3F1EA596EC60}">
      <dgm:prSet/>
      <dgm:spPr/>
      <dgm:t>
        <a:bodyPr/>
        <a:lstStyle/>
        <a:p>
          <a:endParaRPr lang="en-US"/>
        </a:p>
      </dgm:t>
    </dgm:pt>
    <dgm:pt modelId="{7F1B3386-C5C0-4F26-8B52-5460BA76A268}" type="pres">
      <dgm:prSet presAssocID="{7B372433-C3A6-46F9-9CD5-73D977AF5689}" presName="linear" presStyleCnt="0">
        <dgm:presLayoutVars>
          <dgm:animLvl val="lvl"/>
          <dgm:resizeHandles val="exact"/>
        </dgm:presLayoutVars>
      </dgm:prSet>
      <dgm:spPr/>
    </dgm:pt>
    <dgm:pt modelId="{10A87DD4-02C5-4A84-9417-D89892989C35}" type="pres">
      <dgm:prSet presAssocID="{FA83675B-596C-458C-A995-A330EA8B7AB6}" presName="parentText" presStyleLbl="node1" presStyleIdx="0" presStyleCnt="4">
        <dgm:presLayoutVars>
          <dgm:chMax val="0"/>
          <dgm:bulletEnabled val="1"/>
        </dgm:presLayoutVars>
      </dgm:prSet>
      <dgm:spPr/>
    </dgm:pt>
    <dgm:pt modelId="{465A2F00-01E7-4995-BB84-37555B3E2A31}" type="pres">
      <dgm:prSet presAssocID="{26412B59-A80C-4467-BA39-A1EA9634FD44}" presName="spacer" presStyleCnt="0"/>
      <dgm:spPr/>
    </dgm:pt>
    <dgm:pt modelId="{8EEBECEF-C36D-4642-9125-0DE206D28E45}" type="pres">
      <dgm:prSet presAssocID="{1B91B76F-8513-4C4E-A1C9-411F974F8955}" presName="parentText" presStyleLbl="node1" presStyleIdx="1" presStyleCnt="4">
        <dgm:presLayoutVars>
          <dgm:chMax val="0"/>
          <dgm:bulletEnabled val="1"/>
        </dgm:presLayoutVars>
      </dgm:prSet>
      <dgm:spPr/>
    </dgm:pt>
    <dgm:pt modelId="{AC4F823B-008C-453F-BC91-6DB5AAC24756}" type="pres">
      <dgm:prSet presAssocID="{90B3A9DB-A2CE-4C54-AC12-F4CD2F68C3A5}" presName="spacer" presStyleCnt="0"/>
      <dgm:spPr/>
    </dgm:pt>
    <dgm:pt modelId="{2A5F6177-FD93-489F-8E15-2B92855A5456}" type="pres">
      <dgm:prSet presAssocID="{7047C38E-F55D-45E7-AEA8-E802F2AE6A6B}" presName="parentText" presStyleLbl="node1" presStyleIdx="2" presStyleCnt="4">
        <dgm:presLayoutVars>
          <dgm:chMax val="0"/>
          <dgm:bulletEnabled val="1"/>
        </dgm:presLayoutVars>
      </dgm:prSet>
      <dgm:spPr/>
    </dgm:pt>
    <dgm:pt modelId="{00807569-BB38-49E5-A642-480E2ADF92AF}" type="pres">
      <dgm:prSet presAssocID="{BA90EE0E-2C64-4CA6-BCA9-6B7F4B0EEAD1}" presName="spacer" presStyleCnt="0"/>
      <dgm:spPr/>
    </dgm:pt>
    <dgm:pt modelId="{B6D066BE-7C9B-42A5-BE84-DA89C2E07A15}" type="pres">
      <dgm:prSet presAssocID="{974F3D26-5934-4FE2-B5DB-7B6CFCE2C172}" presName="parentText" presStyleLbl="node1" presStyleIdx="3" presStyleCnt="4">
        <dgm:presLayoutVars>
          <dgm:chMax val="0"/>
          <dgm:bulletEnabled val="1"/>
        </dgm:presLayoutVars>
      </dgm:prSet>
      <dgm:spPr/>
    </dgm:pt>
  </dgm:ptLst>
  <dgm:cxnLst>
    <dgm:cxn modelId="{4196A616-E261-4E85-91FC-209508A6A5E3}" type="presOf" srcId="{FA83675B-596C-458C-A995-A330EA8B7AB6}" destId="{10A87DD4-02C5-4A84-9417-D89892989C35}" srcOrd="0" destOrd="0" presId="urn:microsoft.com/office/officeart/2005/8/layout/vList2"/>
    <dgm:cxn modelId="{AD42AC3B-3CD7-41B8-BFB2-BF42A8F48DFB}" type="presOf" srcId="{974F3D26-5934-4FE2-B5DB-7B6CFCE2C172}" destId="{B6D066BE-7C9B-42A5-BE84-DA89C2E07A15}" srcOrd="0" destOrd="0" presId="urn:microsoft.com/office/officeart/2005/8/layout/vList2"/>
    <dgm:cxn modelId="{C070875D-2AF8-4BC0-BDA9-14FED8AE6855}" srcId="{7B372433-C3A6-46F9-9CD5-73D977AF5689}" destId="{1B91B76F-8513-4C4E-A1C9-411F974F8955}" srcOrd="1" destOrd="0" parTransId="{E4ED0D73-EFF2-444F-827D-FADA5B3F1B75}" sibTransId="{90B3A9DB-A2CE-4C54-AC12-F4CD2F68C3A5}"/>
    <dgm:cxn modelId="{A7E8CD7C-B18E-4FDA-8F3A-4766EC9FE84B}" srcId="{7B372433-C3A6-46F9-9CD5-73D977AF5689}" destId="{7047C38E-F55D-45E7-AEA8-E802F2AE6A6B}" srcOrd="2" destOrd="0" parTransId="{018CECDE-23BA-421A-B871-B03F2DD8C096}" sibTransId="{BA90EE0E-2C64-4CA6-BCA9-6B7F4B0EEAD1}"/>
    <dgm:cxn modelId="{D60F2A8E-4390-46B0-80AB-68C1DC3BEC11}" type="presOf" srcId="{1B91B76F-8513-4C4E-A1C9-411F974F8955}" destId="{8EEBECEF-C36D-4642-9125-0DE206D28E45}" srcOrd="0" destOrd="0" presId="urn:microsoft.com/office/officeart/2005/8/layout/vList2"/>
    <dgm:cxn modelId="{15869CA6-9E54-476C-9E91-3F1EA596EC60}" srcId="{7B372433-C3A6-46F9-9CD5-73D977AF5689}" destId="{974F3D26-5934-4FE2-B5DB-7B6CFCE2C172}" srcOrd="3" destOrd="0" parTransId="{B00EB499-44C6-4E34-9A6C-BB01087EF69A}" sibTransId="{F30829C4-F4ED-4112-99E1-59236A4CA2A4}"/>
    <dgm:cxn modelId="{E3AB9FC0-AC27-4FC6-89F0-7789AD0BDF0E}" type="presOf" srcId="{7B372433-C3A6-46F9-9CD5-73D977AF5689}" destId="{7F1B3386-C5C0-4F26-8B52-5460BA76A268}" srcOrd="0" destOrd="0" presId="urn:microsoft.com/office/officeart/2005/8/layout/vList2"/>
    <dgm:cxn modelId="{701C72CE-9612-46C1-91AD-93C3EED0FBE3}" srcId="{7B372433-C3A6-46F9-9CD5-73D977AF5689}" destId="{FA83675B-596C-458C-A995-A330EA8B7AB6}" srcOrd="0" destOrd="0" parTransId="{F15AEE99-25CA-4938-A867-6F3C34654F22}" sibTransId="{26412B59-A80C-4467-BA39-A1EA9634FD44}"/>
    <dgm:cxn modelId="{9CDCECDA-514F-4C30-9B14-9FAB748DBBD6}" type="presOf" srcId="{7047C38E-F55D-45E7-AEA8-E802F2AE6A6B}" destId="{2A5F6177-FD93-489F-8E15-2B92855A5456}" srcOrd="0" destOrd="0" presId="urn:microsoft.com/office/officeart/2005/8/layout/vList2"/>
    <dgm:cxn modelId="{1C743E22-225D-4758-91C5-774D51AAA178}" type="presParOf" srcId="{7F1B3386-C5C0-4F26-8B52-5460BA76A268}" destId="{10A87DD4-02C5-4A84-9417-D89892989C35}" srcOrd="0" destOrd="0" presId="urn:microsoft.com/office/officeart/2005/8/layout/vList2"/>
    <dgm:cxn modelId="{64DD1CF6-4EDF-4B99-B4B3-7021A8386367}" type="presParOf" srcId="{7F1B3386-C5C0-4F26-8B52-5460BA76A268}" destId="{465A2F00-01E7-4995-BB84-37555B3E2A31}" srcOrd="1" destOrd="0" presId="urn:microsoft.com/office/officeart/2005/8/layout/vList2"/>
    <dgm:cxn modelId="{61D878A7-A5CE-43E8-8630-B07C1C30FEF0}" type="presParOf" srcId="{7F1B3386-C5C0-4F26-8B52-5460BA76A268}" destId="{8EEBECEF-C36D-4642-9125-0DE206D28E45}" srcOrd="2" destOrd="0" presId="urn:microsoft.com/office/officeart/2005/8/layout/vList2"/>
    <dgm:cxn modelId="{14E0B202-F2DE-4F97-A301-EE57356F43AD}" type="presParOf" srcId="{7F1B3386-C5C0-4F26-8B52-5460BA76A268}" destId="{AC4F823B-008C-453F-BC91-6DB5AAC24756}" srcOrd="3" destOrd="0" presId="urn:microsoft.com/office/officeart/2005/8/layout/vList2"/>
    <dgm:cxn modelId="{CD6A857F-ACB5-4D70-9587-F032F319851C}" type="presParOf" srcId="{7F1B3386-C5C0-4F26-8B52-5460BA76A268}" destId="{2A5F6177-FD93-489F-8E15-2B92855A5456}" srcOrd="4" destOrd="0" presId="urn:microsoft.com/office/officeart/2005/8/layout/vList2"/>
    <dgm:cxn modelId="{9023281B-9060-4897-A038-BE31BDB91320}" type="presParOf" srcId="{7F1B3386-C5C0-4F26-8B52-5460BA76A268}" destId="{00807569-BB38-49E5-A642-480E2ADF92AF}" srcOrd="5" destOrd="0" presId="urn:microsoft.com/office/officeart/2005/8/layout/vList2"/>
    <dgm:cxn modelId="{3CFB0D16-7A68-4325-A564-BFB5FEC6CEA5}" type="presParOf" srcId="{7F1B3386-C5C0-4F26-8B52-5460BA76A268}" destId="{B6D066BE-7C9B-42A5-BE84-DA89C2E07A1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B24231A-DC81-49D0-8D49-0FAA0694793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6D77BCE-9C05-45B1-91FD-299BDD0E392D}">
      <dgm:prSet custT="1"/>
      <dgm:spPr/>
      <dgm:t>
        <a:bodyPr/>
        <a:lstStyle/>
        <a:p>
          <a:r>
            <a:rPr lang="en-US" sz="2400" b="0" i="0" baseline="0">
              <a:latin typeface="Times New Roman" panose="02020603050405020304" pitchFamily="18" charset="0"/>
              <a:cs typeface="Times New Roman" panose="02020603050405020304" pitchFamily="18" charset="0"/>
            </a:rPr>
            <a:t>LTE (explain MIMO modes)</a:t>
          </a:r>
          <a:endParaRPr lang="en-US" sz="2400">
            <a:latin typeface="Times New Roman" panose="02020603050405020304" pitchFamily="18" charset="0"/>
            <a:cs typeface="Times New Roman" panose="02020603050405020304" pitchFamily="18" charset="0"/>
          </a:endParaRPr>
        </a:p>
      </dgm:t>
    </dgm:pt>
    <dgm:pt modelId="{B4C1CFAD-BE83-490F-B196-4B00E7BD2217}" type="parTrans" cxnId="{9EDCEB7C-37E9-4110-855F-ECCAB36C8D2A}">
      <dgm:prSet/>
      <dgm:spPr/>
      <dgm:t>
        <a:bodyPr/>
        <a:lstStyle/>
        <a:p>
          <a:endParaRPr lang="en-US" sz="2400">
            <a:latin typeface="Times New Roman" panose="02020603050405020304" pitchFamily="18" charset="0"/>
            <a:cs typeface="Times New Roman" panose="02020603050405020304" pitchFamily="18" charset="0"/>
          </a:endParaRPr>
        </a:p>
      </dgm:t>
    </dgm:pt>
    <dgm:pt modelId="{5E7C06C4-4BC8-43BC-9083-4E44813EA680}" type="sibTrans" cxnId="{9EDCEB7C-37E9-4110-855F-ECCAB36C8D2A}">
      <dgm:prSet/>
      <dgm:spPr/>
      <dgm:t>
        <a:bodyPr/>
        <a:lstStyle/>
        <a:p>
          <a:endParaRPr lang="en-US" sz="2400">
            <a:latin typeface="Times New Roman" panose="02020603050405020304" pitchFamily="18" charset="0"/>
            <a:cs typeface="Times New Roman" panose="02020603050405020304" pitchFamily="18" charset="0"/>
          </a:endParaRPr>
        </a:p>
      </dgm:t>
    </dgm:pt>
    <dgm:pt modelId="{CCCD68F3-B83B-4A19-AB53-98B914A549EE}">
      <dgm:prSet custT="1"/>
      <dgm:spPr/>
      <dgm:t>
        <a:bodyPr/>
        <a:lstStyle/>
        <a:p>
          <a:r>
            <a:rPr lang="en-US" sz="2400" b="0" i="0" baseline="0">
              <a:latin typeface="Times New Roman" panose="02020603050405020304" pitchFamily="18" charset="0"/>
              <a:cs typeface="Times New Roman" panose="02020603050405020304" pitchFamily="18" charset="0"/>
            </a:rPr>
            <a:t>Wi-Fi</a:t>
          </a:r>
          <a:endParaRPr lang="en-US" sz="2400">
            <a:latin typeface="Times New Roman" panose="02020603050405020304" pitchFamily="18" charset="0"/>
            <a:cs typeface="Times New Roman" panose="02020603050405020304" pitchFamily="18" charset="0"/>
          </a:endParaRPr>
        </a:p>
      </dgm:t>
    </dgm:pt>
    <dgm:pt modelId="{FCB20A24-4F5C-4E97-A272-5739B549F95D}" type="parTrans" cxnId="{47B89393-D3B0-46EA-B844-D810AB0910C0}">
      <dgm:prSet/>
      <dgm:spPr/>
      <dgm:t>
        <a:bodyPr/>
        <a:lstStyle/>
        <a:p>
          <a:endParaRPr lang="en-US" sz="2400">
            <a:latin typeface="Times New Roman" panose="02020603050405020304" pitchFamily="18" charset="0"/>
            <a:cs typeface="Times New Roman" panose="02020603050405020304" pitchFamily="18" charset="0"/>
          </a:endParaRPr>
        </a:p>
      </dgm:t>
    </dgm:pt>
    <dgm:pt modelId="{B34A1B8F-B825-4C65-95B8-8294E81297C2}" type="sibTrans" cxnId="{47B89393-D3B0-46EA-B844-D810AB0910C0}">
      <dgm:prSet/>
      <dgm:spPr/>
      <dgm:t>
        <a:bodyPr/>
        <a:lstStyle/>
        <a:p>
          <a:endParaRPr lang="en-US" sz="2400">
            <a:latin typeface="Times New Roman" panose="02020603050405020304" pitchFamily="18" charset="0"/>
            <a:cs typeface="Times New Roman" panose="02020603050405020304" pitchFamily="18" charset="0"/>
          </a:endParaRPr>
        </a:p>
      </dgm:t>
    </dgm:pt>
    <dgm:pt modelId="{91F4AB07-5641-4A4D-9E9A-41D9BFFDF8FF}">
      <dgm:prSet custT="1"/>
      <dgm:spPr/>
      <dgm:t>
        <a:bodyPr/>
        <a:lstStyle/>
        <a:p>
          <a:r>
            <a:rPr lang="en-US" sz="2400" b="0" i="0" baseline="0">
              <a:latin typeface="Times New Roman" panose="02020603050405020304" pitchFamily="18" charset="0"/>
              <a:cs typeface="Times New Roman" panose="02020603050405020304" pitchFamily="18" charset="0"/>
            </a:rPr>
            <a:t>Wireless backhaul</a:t>
          </a:r>
          <a:endParaRPr lang="en-US" sz="2400">
            <a:latin typeface="Times New Roman" panose="02020603050405020304" pitchFamily="18" charset="0"/>
            <a:cs typeface="Times New Roman" panose="02020603050405020304" pitchFamily="18" charset="0"/>
          </a:endParaRPr>
        </a:p>
      </dgm:t>
    </dgm:pt>
    <dgm:pt modelId="{D1DF9D7F-FB77-4755-8662-F1DF8ACCF820}" type="parTrans" cxnId="{91E286B6-B0F8-4FB6-8635-8F15E2734C37}">
      <dgm:prSet/>
      <dgm:spPr/>
      <dgm:t>
        <a:bodyPr/>
        <a:lstStyle/>
        <a:p>
          <a:endParaRPr lang="en-US" sz="2400">
            <a:latin typeface="Times New Roman" panose="02020603050405020304" pitchFamily="18" charset="0"/>
            <a:cs typeface="Times New Roman" panose="02020603050405020304" pitchFamily="18" charset="0"/>
          </a:endParaRPr>
        </a:p>
      </dgm:t>
    </dgm:pt>
    <dgm:pt modelId="{A6E7D8F9-CD5A-4B6D-9AED-F80151BC128D}" type="sibTrans" cxnId="{91E286B6-B0F8-4FB6-8635-8F15E2734C37}">
      <dgm:prSet/>
      <dgm:spPr/>
      <dgm:t>
        <a:bodyPr/>
        <a:lstStyle/>
        <a:p>
          <a:endParaRPr lang="en-US" sz="2400">
            <a:latin typeface="Times New Roman" panose="02020603050405020304" pitchFamily="18" charset="0"/>
            <a:cs typeface="Times New Roman" panose="02020603050405020304" pitchFamily="18" charset="0"/>
          </a:endParaRPr>
        </a:p>
      </dgm:t>
    </dgm:pt>
    <dgm:pt modelId="{BC4B4FC3-A0E9-4BA7-A6C8-21361CC558B4}">
      <dgm:prSet custT="1"/>
      <dgm:spPr/>
      <dgm:t>
        <a:bodyPr/>
        <a:lstStyle/>
        <a:p>
          <a:r>
            <a:rPr lang="en-US" sz="2400" b="0" i="0" baseline="0">
              <a:latin typeface="Times New Roman" panose="02020603050405020304" pitchFamily="18" charset="0"/>
              <a:cs typeface="Times New Roman" panose="02020603050405020304" pitchFamily="18" charset="0"/>
            </a:rPr>
            <a:t>5G massive MIMO</a:t>
          </a:r>
          <a:endParaRPr lang="en-US" sz="2400">
            <a:latin typeface="Times New Roman" panose="02020603050405020304" pitchFamily="18" charset="0"/>
            <a:cs typeface="Times New Roman" panose="02020603050405020304" pitchFamily="18" charset="0"/>
          </a:endParaRPr>
        </a:p>
      </dgm:t>
    </dgm:pt>
    <dgm:pt modelId="{E8CF91A6-E302-4EF5-8B40-8D225DC9CB52}" type="parTrans" cxnId="{97677709-32C4-4EFF-8FB4-E5023A8B603F}">
      <dgm:prSet/>
      <dgm:spPr/>
      <dgm:t>
        <a:bodyPr/>
        <a:lstStyle/>
        <a:p>
          <a:endParaRPr lang="en-US" sz="2400">
            <a:latin typeface="Times New Roman" panose="02020603050405020304" pitchFamily="18" charset="0"/>
            <a:cs typeface="Times New Roman" panose="02020603050405020304" pitchFamily="18" charset="0"/>
          </a:endParaRPr>
        </a:p>
      </dgm:t>
    </dgm:pt>
    <dgm:pt modelId="{A3C932A5-D0E3-4B9F-B970-74CA6BF872B5}" type="sibTrans" cxnId="{97677709-32C4-4EFF-8FB4-E5023A8B603F}">
      <dgm:prSet/>
      <dgm:spPr/>
      <dgm:t>
        <a:bodyPr/>
        <a:lstStyle/>
        <a:p>
          <a:endParaRPr lang="en-US" sz="2400">
            <a:latin typeface="Times New Roman" panose="02020603050405020304" pitchFamily="18" charset="0"/>
            <a:cs typeface="Times New Roman" panose="02020603050405020304" pitchFamily="18" charset="0"/>
          </a:endParaRPr>
        </a:p>
      </dgm:t>
    </dgm:pt>
    <dgm:pt modelId="{8DA7C764-48B7-42D5-8648-16B6FC59E463}" type="pres">
      <dgm:prSet presAssocID="{2B24231A-DC81-49D0-8D49-0FAA06947933}" presName="root" presStyleCnt="0">
        <dgm:presLayoutVars>
          <dgm:dir/>
          <dgm:resizeHandles val="exact"/>
        </dgm:presLayoutVars>
      </dgm:prSet>
      <dgm:spPr/>
    </dgm:pt>
    <dgm:pt modelId="{521484BB-71A9-40B9-9BB6-0AD0AC084911}" type="pres">
      <dgm:prSet presAssocID="{B6D77BCE-9C05-45B1-91FD-299BDD0E392D}" presName="compNode" presStyleCnt="0"/>
      <dgm:spPr/>
    </dgm:pt>
    <dgm:pt modelId="{BFF2D6BB-4BB9-4762-AFA0-85F495645D42}" type="pres">
      <dgm:prSet presAssocID="{B6D77BCE-9C05-45B1-91FD-299BDD0E392D}" presName="bgRect" presStyleLbl="bgShp" presStyleIdx="0" presStyleCnt="4"/>
      <dgm:spPr/>
    </dgm:pt>
    <dgm:pt modelId="{B2260736-1059-484B-8661-19DC79982ADE}" type="pres">
      <dgm:prSet presAssocID="{B6D77BCE-9C05-45B1-91FD-299BDD0E392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9F03750-C93A-4479-866C-32B8437B1066}" type="pres">
      <dgm:prSet presAssocID="{B6D77BCE-9C05-45B1-91FD-299BDD0E392D}" presName="spaceRect" presStyleCnt="0"/>
      <dgm:spPr/>
    </dgm:pt>
    <dgm:pt modelId="{D01D9D88-2AEE-4479-B706-183FCE8D6F77}" type="pres">
      <dgm:prSet presAssocID="{B6D77BCE-9C05-45B1-91FD-299BDD0E392D}" presName="parTx" presStyleLbl="revTx" presStyleIdx="0" presStyleCnt="4">
        <dgm:presLayoutVars>
          <dgm:chMax val="0"/>
          <dgm:chPref val="0"/>
        </dgm:presLayoutVars>
      </dgm:prSet>
      <dgm:spPr/>
    </dgm:pt>
    <dgm:pt modelId="{0B859AB7-87A8-4660-8E7F-7F66D5D9A28A}" type="pres">
      <dgm:prSet presAssocID="{5E7C06C4-4BC8-43BC-9083-4E44813EA680}" presName="sibTrans" presStyleCnt="0"/>
      <dgm:spPr/>
    </dgm:pt>
    <dgm:pt modelId="{6FB73BC6-47E2-4D55-AB97-5440E68983C9}" type="pres">
      <dgm:prSet presAssocID="{CCCD68F3-B83B-4A19-AB53-98B914A549EE}" presName="compNode" presStyleCnt="0"/>
      <dgm:spPr/>
    </dgm:pt>
    <dgm:pt modelId="{BA88FC23-AC13-42D7-BA34-D4EB97693E3A}" type="pres">
      <dgm:prSet presAssocID="{CCCD68F3-B83B-4A19-AB53-98B914A549EE}" presName="bgRect" presStyleLbl="bgShp" presStyleIdx="1" presStyleCnt="4"/>
      <dgm:spPr/>
    </dgm:pt>
    <dgm:pt modelId="{1A5C4D62-351A-48AB-9CFC-97061B9A8CC7}" type="pres">
      <dgm:prSet presAssocID="{CCCD68F3-B83B-4A19-AB53-98B914A549E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Fi"/>
        </a:ext>
      </dgm:extLst>
    </dgm:pt>
    <dgm:pt modelId="{F53109EE-1110-4EBF-A912-6FA5A8218097}" type="pres">
      <dgm:prSet presAssocID="{CCCD68F3-B83B-4A19-AB53-98B914A549EE}" presName="spaceRect" presStyleCnt="0"/>
      <dgm:spPr/>
    </dgm:pt>
    <dgm:pt modelId="{BCED5DB0-CF9D-4FAD-A0C9-1D9544C3955E}" type="pres">
      <dgm:prSet presAssocID="{CCCD68F3-B83B-4A19-AB53-98B914A549EE}" presName="parTx" presStyleLbl="revTx" presStyleIdx="1" presStyleCnt="4">
        <dgm:presLayoutVars>
          <dgm:chMax val="0"/>
          <dgm:chPref val="0"/>
        </dgm:presLayoutVars>
      </dgm:prSet>
      <dgm:spPr/>
    </dgm:pt>
    <dgm:pt modelId="{1CF6A1D5-64F2-4F22-904D-612767F60F57}" type="pres">
      <dgm:prSet presAssocID="{B34A1B8F-B825-4C65-95B8-8294E81297C2}" presName="sibTrans" presStyleCnt="0"/>
      <dgm:spPr/>
    </dgm:pt>
    <dgm:pt modelId="{83FE1C13-7983-49C5-8F26-2B4515A68EFB}" type="pres">
      <dgm:prSet presAssocID="{91F4AB07-5641-4A4D-9E9A-41D9BFFDF8FF}" presName="compNode" presStyleCnt="0"/>
      <dgm:spPr/>
    </dgm:pt>
    <dgm:pt modelId="{A7263F73-D61B-40DC-A883-643F0A0A11DE}" type="pres">
      <dgm:prSet presAssocID="{91F4AB07-5641-4A4D-9E9A-41D9BFFDF8FF}" presName="bgRect" presStyleLbl="bgShp" presStyleIdx="2" presStyleCnt="4"/>
      <dgm:spPr/>
    </dgm:pt>
    <dgm:pt modelId="{55E8AD56-9074-4750-A1E6-675B887AF0D7}" type="pres">
      <dgm:prSet presAssocID="{91F4AB07-5641-4A4D-9E9A-41D9BFFDF8F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reless router"/>
        </a:ext>
      </dgm:extLst>
    </dgm:pt>
    <dgm:pt modelId="{A20B0B7A-FBE5-449C-A9B8-695AC7853F25}" type="pres">
      <dgm:prSet presAssocID="{91F4AB07-5641-4A4D-9E9A-41D9BFFDF8FF}" presName="spaceRect" presStyleCnt="0"/>
      <dgm:spPr/>
    </dgm:pt>
    <dgm:pt modelId="{32607668-BB2B-4A2B-8445-87953D1B3463}" type="pres">
      <dgm:prSet presAssocID="{91F4AB07-5641-4A4D-9E9A-41D9BFFDF8FF}" presName="parTx" presStyleLbl="revTx" presStyleIdx="2" presStyleCnt="4">
        <dgm:presLayoutVars>
          <dgm:chMax val="0"/>
          <dgm:chPref val="0"/>
        </dgm:presLayoutVars>
      </dgm:prSet>
      <dgm:spPr/>
    </dgm:pt>
    <dgm:pt modelId="{AB299B4F-B85E-4D7F-9AE1-7757D6DFD78F}" type="pres">
      <dgm:prSet presAssocID="{A6E7D8F9-CD5A-4B6D-9AED-F80151BC128D}" presName="sibTrans" presStyleCnt="0"/>
      <dgm:spPr/>
    </dgm:pt>
    <dgm:pt modelId="{6A32447F-7588-44E6-ACFC-045689053208}" type="pres">
      <dgm:prSet presAssocID="{BC4B4FC3-A0E9-4BA7-A6C8-21361CC558B4}" presName="compNode" presStyleCnt="0"/>
      <dgm:spPr/>
    </dgm:pt>
    <dgm:pt modelId="{081593B4-CAC8-48DE-85D6-D21C8D71EBDC}" type="pres">
      <dgm:prSet presAssocID="{BC4B4FC3-A0E9-4BA7-A6C8-21361CC558B4}" presName="bgRect" presStyleLbl="bgShp" presStyleIdx="3" presStyleCnt="4"/>
      <dgm:spPr/>
    </dgm:pt>
    <dgm:pt modelId="{A7A76D8B-A81E-4DAD-84B9-EF949A88F9E0}" type="pres">
      <dgm:prSet presAssocID="{BC4B4FC3-A0E9-4BA7-A6C8-21361CC558B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art Phone"/>
        </a:ext>
      </dgm:extLst>
    </dgm:pt>
    <dgm:pt modelId="{9CD7486C-DC44-4F78-915E-FDD2AEB3E78E}" type="pres">
      <dgm:prSet presAssocID="{BC4B4FC3-A0E9-4BA7-A6C8-21361CC558B4}" presName="spaceRect" presStyleCnt="0"/>
      <dgm:spPr/>
    </dgm:pt>
    <dgm:pt modelId="{3AF91D02-31B1-46E1-A132-499871034E3B}" type="pres">
      <dgm:prSet presAssocID="{BC4B4FC3-A0E9-4BA7-A6C8-21361CC558B4}" presName="parTx" presStyleLbl="revTx" presStyleIdx="3" presStyleCnt="4">
        <dgm:presLayoutVars>
          <dgm:chMax val="0"/>
          <dgm:chPref val="0"/>
        </dgm:presLayoutVars>
      </dgm:prSet>
      <dgm:spPr/>
    </dgm:pt>
  </dgm:ptLst>
  <dgm:cxnLst>
    <dgm:cxn modelId="{97677709-32C4-4EFF-8FB4-E5023A8B603F}" srcId="{2B24231A-DC81-49D0-8D49-0FAA06947933}" destId="{BC4B4FC3-A0E9-4BA7-A6C8-21361CC558B4}" srcOrd="3" destOrd="0" parTransId="{E8CF91A6-E302-4EF5-8B40-8D225DC9CB52}" sibTransId="{A3C932A5-D0E3-4B9F-B970-74CA6BF872B5}"/>
    <dgm:cxn modelId="{0E6FA976-CD87-4CDE-B9FD-585C483286DB}" type="presOf" srcId="{BC4B4FC3-A0E9-4BA7-A6C8-21361CC558B4}" destId="{3AF91D02-31B1-46E1-A132-499871034E3B}" srcOrd="0" destOrd="0" presId="urn:microsoft.com/office/officeart/2018/2/layout/IconVerticalSolidList"/>
    <dgm:cxn modelId="{9EDCEB7C-37E9-4110-855F-ECCAB36C8D2A}" srcId="{2B24231A-DC81-49D0-8D49-0FAA06947933}" destId="{B6D77BCE-9C05-45B1-91FD-299BDD0E392D}" srcOrd="0" destOrd="0" parTransId="{B4C1CFAD-BE83-490F-B196-4B00E7BD2217}" sibTransId="{5E7C06C4-4BC8-43BC-9083-4E44813EA680}"/>
    <dgm:cxn modelId="{47B89393-D3B0-46EA-B844-D810AB0910C0}" srcId="{2B24231A-DC81-49D0-8D49-0FAA06947933}" destId="{CCCD68F3-B83B-4A19-AB53-98B914A549EE}" srcOrd="1" destOrd="0" parTransId="{FCB20A24-4F5C-4E97-A272-5739B549F95D}" sibTransId="{B34A1B8F-B825-4C65-95B8-8294E81297C2}"/>
    <dgm:cxn modelId="{7C55A19C-9AA7-4A26-B221-B677127AC934}" type="presOf" srcId="{91F4AB07-5641-4A4D-9E9A-41D9BFFDF8FF}" destId="{32607668-BB2B-4A2B-8445-87953D1B3463}" srcOrd="0" destOrd="0" presId="urn:microsoft.com/office/officeart/2018/2/layout/IconVerticalSolidList"/>
    <dgm:cxn modelId="{4BDE7EAE-0466-4D6A-A60E-BF02BAD3F58A}" type="presOf" srcId="{CCCD68F3-B83B-4A19-AB53-98B914A549EE}" destId="{BCED5DB0-CF9D-4FAD-A0C9-1D9544C3955E}" srcOrd="0" destOrd="0" presId="urn:microsoft.com/office/officeart/2018/2/layout/IconVerticalSolidList"/>
    <dgm:cxn modelId="{189A27B0-1172-42FE-8979-99DF54AC2B11}" type="presOf" srcId="{2B24231A-DC81-49D0-8D49-0FAA06947933}" destId="{8DA7C764-48B7-42D5-8648-16B6FC59E463}" srcOrd="0" destOrd="0" presId="urn:microsoft.com/office/officeart/2018/2/layout/IconVerticalSolidList"/>
    <dgm:cxn modelId="{91E286B6-B0F8-4FB6-8635-8F15E2734C37}" srcId="{2B24231A-DC81-49D0-8D49-0FAA06947933}" destId="{91F4AB07-5641-4A4D-9E9A-41D9BFFDF8FF}" srcOrd="2" destOrd="0" parTransId="{D1DF9D7F-FB77-4755-8662-F1DF8ACCF820}" sibTransId="{A6E7D8F9-CD5A-4B6D-9AED-F80151BC128D}"/>
    <dgm:cxn modelId="{148B38D6-5A0E-46D2-A44E-A4876A667E2C}" type="presOf" srcId="{B6D77BCE-9C05-45B1-91FD-299BDD0E392D}" destId="{D01D9D88-2AEE-4479-B706-183FCE8D6F77}" srcOrd="0" destOrd="0" presId="urn:microsoft.com/office/officeart/2018/2/layout/IconVerticalSolidList"/>
    <dgm:cxn modelId="{66EA25FE-2BF2-4485-8835-AB2A79BD2F88}" type="presParOf" srcId="{8DA7C764-48B7-42D5-8648-16B6FC59E463}" destId="{521484BB-71A9-40B9-9BB6-0AD0AC084911}" srcOrd="0" destOrd="0" presId="urn:microsoft.com/office/officeart/2018/2/layout/IconVerticalSolidList"/>
    <dgm:cxn modelId="{78384B8A-124B-4602-9D18-A080CB8703F2}" type="presParOf" srcId="{521484BB-71A9-40B9-9BB6-0AD0AC084911}" destId="{BFF2D6BB-4BB9-4762-AFA0-85F495645D42}" srcOrd="0" destOrd="0" presId="urn:microsoft.com/office/officeart/2018/2/layout/IconVerticalSolidList"/>
    <dgm:cxn modelId="{F4BBFBFE-EB89-4D1F-A65B-9AB2440E065E}" type="presParOf" srcId="{521484BB-71A9-40B9-9BB6-0AD0AC084911}" destId="{B2260736-1059-484B-8661-19DC79982ADE}" srcOrd="1" destOrd="0" presId="urn:microsoft.com/office/officeart/2018/2/layout/IconVerticalSolidList"/>
    <dgm:cxn modelId="{088A72DB-1203-47D1-B673-AC034030EB10}" type="presParOf" srcId="{521484BB-71A9-40B9-9BB6-0AD0AC084911}" destId="{D9F03750-C93A-4479-866C-32B8437B1066}" srcOrd="2" destOrd="0" presId="urn:microsoft.com/office/officeart/2018/2/layout/IconVerticalSolidList"/>
    <dgm:cxn modelId="{C34332AF-597D-4299-BD60-A9DA0A1501B4}" type="presParOf" srcId="{521484BB-71A9-40B9-9BB6-0AD0AC084911}" destId="{D01D9D88-2AEE-4479-B706-183FCE8D6F77}" srcOrd="3" destOrd="0" presId="urn:microsoft.com/office/officeart/2018/2/layout/IconVerticalSolidList"/>
    <dgm:cxn modelId="{C33E6F85-EE97-4BC7-891F-4C40A46C8B3F}" type="presParOf" srcId="{8DA7C764-48B7-42D5-8648-16B6FC59E463}" destId="{0B859AB7-87A8-4660-8E7F-7F66D5D9A28A}" srcOrd="1" destOrd="0" presId="urn:microsoft.com/office/officeart/2018/2/layout/IconVerticalSolidList"/>
    <dgm:cxn modelId="{D86B6FBB-07CF-4357-AFF8-1AB346008F2E}" type="presParOf" srcId="{8DA7C764-48B7-42D5-8648-16B6FC59E463}" destId="{6FB73BC6-47E2-4D55-AB97-5440E68983C9}" srcOrd="2" destOrd="0" presId="urn:microsoft.com/office/officeart/2018/2/layout/IconVerticalSolidList"/>
    <dgm:cxn modelId="{D4046CB2-7EAC-446B-B948-EDF2990B1AEB}" type="presParOf" srcId="{6FB73BC6-47E2-4D55-AB97-5440E68983C9}" destId="{BA88FC23-AC13-42D7-BA34-D4EB97693E3A}" srcOrd="0" destOrd="0" presId="urn:microsoft.com/office/officeart/2018/2/layout/IconVerticalSolidList"/>
    <dgm:cxn modelId="{E12C714C-712D-4353-93F8-8FCAE633C9F5}" type="presParOf" srcId="{6FB73BC6-47E2-4D55-AB97-5440E68983C9}" destId="{1A5C4D62-351A-48AB-9CFC-97061B9A8CC7}" srcOrd="1" destOrd="0" presId="urn:microsoft.com/office/officeart/2018/2/layout/IconVerticalSolidList"/>
    <dgm:cxn modelId="{E852650B-0827-44FB-A0C4-ACEF99AC1C93}" type="presParOf" srcId="{6FB73BC6-47E2-4D55-AB97-5440E68983C9}" destId="{F53109EE-1110-4EBF-A912-6FA5A8218097}" srcOrd="2" destOrd="0" presId="urn:microsoft.com/office/officeart/2018/2/layout/IconVerticalSolidList"/>
    <dgm:cxn modelId="{9AC7AC16-AA8A-467C-9A55-37D0AA459728}" type="presParOf" srcId="{6FB73BC6-47E2-4D55-AB97-5440E68983C9}" destId="{BCED5DB0-CF9D-4FAD-A0C9-1D9544C3955E}" srcOrd="3" destOrd="0" presId="urn:microsoft.com/office/officeart/2018/2/layout/IconVerticalSolidList"/>
    <dgm:cxn modelId="{50CA57C2-EC75-46C1-9BE6-76C62BBD6E6B}" type="presParOf" srcId="{8DA7C764-48B7-42D5-8648-16B6FC59E463}" destId="{1CF6A1D5-64F2-4F22-904D-612767F60F57}" srcOrd="3" destOrd="0" presId="urn:microsoft.com/office/officeart/2018/2/layout/IconVerticalSolidList"/>
    <dgm:cxn modelId="{AD9CAD94-5E01-42C2-8C67-53DB62E23943}" type="presParOf" srcId="{8DA7C764-48B7-42D5-8648-16B6FC59E463}" destId="{83FE1C13-7983-49C5-8F26-2B4515A68EFB}" srcOrd="4" destOrd="0" presId="urn:microsoft.com/office/officeart/2018/2/layout/IconVerticalSolidList"/>
    <dgm:cxn modelId="{172F1CF2-80C2-43C1-B616-E756FC9731CA}" type="presParOf" srcId="{83FE1C13-7983-49C5-8F26-2B4515A68EFB}" destId="{A7263F73-D61B-40DC-A883-643F0A0A11DE}" srcOrd="0" destOrd="0" presId="urn:microsoft.com/office/officeart/2018/2/layout/IconVerticalSolidList"/>
    <dgm:cxn modelId="{BB7B110F-FEB0-492C-925E-5B4A744A4336}" type="presParOf" srcId="{83FE1C13-7983-49C5-8F26-2B4515A68EFB}" destId="{55E8AD56-9074-4750-A1E6-675B887AF0D7}" srcOrd="1" destOrd="0" presId="urn:microsoft.com/office/officeart/2018/2/layout/IconVerticalSolidList"/>
    <dgm:cxn modelId="{5760E6AC-FE73-480E-AF96-0597DDAE327D}" type="presParOf" srcId="{83FE1C13-7983-49C5-8F26-2B4515A68EFB}" destId="{A20B0B7A-FBE5-449C-A9B8-695AC7853F25}" srcOrd="2" destOrd="0" presId="urn:microsoft.com/office/officeart/2018/2/layout/IconVerticalSolidList"/>
    <dgm:cxn modelId="{704A28DD-287B-45C0-ABAE-472B08C1458D}" type="presParOf" srcId="{83FE1C13-7983-49C5-8F26-2B4515A68EFB}" destId="{32607668-BB2B-4A2B-8445-87953D1B3463}" srcOrd="3" destOrd="0" presId="urn:microsoft.com/office/officeart/2018/2/layout/IconVerticalSolidList"/>
    <dgm:cxn modelId="{46944772-BEBD-43FA-8FD6-59853A48781E}" type="presParOf" srcId="{8DA7C764-48B7-42D5-8648-16B6FC59E463}" destId="{AB299B4F-B85E-4D7F-9AE1-7757D6DFD78F}" srcOrd="5" destOrd="0" presId="urn:microsoft.com/office/officeart/2018/2/layout/IconVerticalSolidList"/>
    <dgm:cxn modelId="{556F53BF-6CAA-4BDB-AE98-9F734F5F2928}" type="presParOf" srcId="{8DA7C764-48B7-42D5-8648-16B6FC59E463}" destId="{6A32447F-7588-44E6-ACFC-045689053208}" srcOrd="6" destOrd="0" presId="urn:microsoft.com/office/officeart/2018/2/layout/IconVerticalSolidList"/>
    <dgm:cxn modelId="{B6B7702A-6848-4C92-9AB8-928E4BA2E418}" type="presParOf" srcId="{6A32447F-7588-44E6-ACFC-045689053208}" destId="{081593B4-CAC8-48DE-85D6-D21C8D71EBDC}" srcOrd="0" destOrd="0" presId="urn:microsoft.com/office/officeart/2018/2/layout/IconVerticalSolidList"/>
    <dgm:cxn modelId="{578C1E88-3C79-4220-821A-8516ADBC54FD}" type="presParOf" srcId="{6A32447F-7588-44E6-ACFC-045689053208}" destId="{A7A76D8B-A81E-4DAD-84B9-EF949A88F9E0}" srcOrd="1" destOrd="0" presId="urn:microsoft.com/office/officeart/2018/2/layout/IconVerticalSolidList"/>
    <dgm:cxn modelId="{12FC2058-6792-4A30-BBA2-01280C4ECD43}" type="presParOf" srcId="{6A32447F-7588-44E6-ACFC-045689053208}" destId="{9CD7486C-DC44-4F78-915E-FDD2AEB3E78E}" srcOrd="2" destOrd="0" presId="urn:microsoft.com/office/officeart/2018/2/layout/IconVerticalSolidList"/>
    <dgm:cxn modelId="{07437920-1BEE-421D-AD5B-FD599E511AEC}" type="presParOf" srcId="{6A32447F-7588-44E6-ACFC-045689053208}" destId="{3AF91D02-31B1-46E1-A132-499871034E3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3222B-C95F-4F3D-B134-6D3F1ADDD1E6}">
      <dsp:nvSpPr>
        <dsp:cNvPr id="0" name=""/>
        <dsp:cNvSpPr/>
      </dsp:nvSpPr>
      <dsp:spPr>
        <a:xfrm>
          <a:off x="0" y="2703"/>
          <a:ext cx="51753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CA0F69-D3E9-4451-862E-A151A9083E1C}">
      <dsp:nvSpPr>
        <dsp:cNvPr id="0" name=""/>
        <dsp:cNvSpPr/>
      </dsp:nvSpPr>
      <dsp:spPr>
        <a:xfrm>
          <a:off x="0" y="2703"/>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a:t>SIMO:</a:t>
          </a:r>
          <a:r>
            <a:rPr lang="en-US" sz="4000" kern="1200"/>
            <a:t> receiver diversity</a:t>
          </a:r>
        </a:p>
      </dsp:txBody>
      <dsp:txXfrm>
        <a:off x="0" y="2703"/>
        <a:ext cx="5175384" cy="1843578"/>
      </dsp:txXfrm>
    </dsp:sp>
    <dsp:sp modelId="{2F5777C5-9A1B-48B5-8B1F-14258ECD5D97}">
      <dsp:nvSpPr>
        <dsp:cNvPr id="0" name=""/>
        <dsp:cNvSpPr/>
      </dsp:nvSpPr>
      <dsp:spPr>
        <a:xfrm>
          <a:off x="0" y="1846281"/>
          <a:ext cx="5175384"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F0260F-EB5A-4A8A-9EDA-33906C27049F}">
      <dsp:nvSpPr>
        <dsp:cNvPr id="0" name=""/>
        <dsp:cNvSpPr/>
      </dsp:nvSpPr>
      <dsp:spPr>
        <a:xfrm>
          <a:off x="0" y="1846281"/>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MISO:</a:t>
          </a:r>
          <a:r>
            <a:rPr lang="en-US" sz="4000" kern="1200" dirty="0"/>
            <a:t> transmit diversity</a:t>
          </a:r>
        </a:p>
      </dsp:txBody>
      <dsp:txXfrm>
        <a:off x="0" y="1846281"/>
        <a:ext cx="5175384" cy="1843578"/>
      </dsp:txXfrm>
    </dsp:sp>
    <dsp:sp modelId="{773352F1-D357-4F51-BB24-E9E53B62D3F2}">
      <dsp:nvSpPr>
        <dsp:cNvPr id="0" name=""/>
        <dsp:cNvSpPr/>
      </dsp:nvSpPr>
      <dsp:spPr>
        <a:xfrm>
          <a:off x="0" y="3689859"/>
          <a:ext cx="517538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0B6969-0F8C-4BA0-9858-C7C6A9979C0B}">
      <dsp:nvSpPr>
        <dsp:cNvPr id="0" name=""/>
        <dsp:cNvSpPr/>
      </dsp:nvSpPr>
      <dsp:spPr>
        <a:xfrm>
          <a:off x="0" y="3689859"/>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a:t>MIMO:</a:t>
          </a:r>
          <a:r>
            <a:rPr lang="en-US" sz="4000" kern="1200"/>
            <a:t> spatial multiplexing + diversity</a:t>
          </a:r>
        </a:p>
      </dsp:txBody>
      <dsp:txXfrm>
        <a:off x="0" y="3689859"/>
        <a:ext cx="5175384" cy="18435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57A6E9-7F84-41D9-B38F-54A4D58C4883}">
      <dsp:nvSpPr>
        <dsp:cNvPr id="0" name=""/>
        <dsp:cNvSpPr/>
      </dsp:nvSpPr>
      <dsp:spPr>
        <a:xfrm>
          <a:off x="0" y="717"/>
          <a:ext cx="47262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740565-F702-4B15-A66E-E6F4ED16DCC4}">
      <dsp:nvSpPr>
        <dsp:cNvPr id="0" name=""/>
        <dsp:cNvSpPr/>
      </dsp:nvSpPr>
      <dsp:spPr>
        <a:xfrm>
          <a:off x="507973" y="378548"/>
          <a:ext cx="923587" cy="923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9AF64D-F791-406C-86EB-15C958ABA7D9}">
      <dsp:nvSpPr>
        <dsp:cNvPr id="0" name=""/>
        <dsp:cNvSpPr/>
      </dsp:nvSpPr>
      <dsp:spPr>
        <a:xfrm>
          <a:off x="1939533" y="717"/>
          <a:ext cx="27866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b="0" i="0" kern="1200" baseline="0" dirty="0"/>
            <a:t>Spatial multiplexing Mode</a:t>
          </a:r>
          <a:endParaRPr lang="en-US" sz="2500" kern="1200" dirty="0"/>
        </a:p>
      </dsp:txBody>
      <dsp:txXfrm>
        <a:off x="1939533" y="717"/>
        <a:ext cx="2786667" cy="1679249"/>
      </dsp:txXfrm>
    </dsp:sp>
    <dsp:sp modelId="{E412A3F9-F5E1-4CCD-88CF-7925EEFEB6DF}">
      <dsp:nvSpPr>
        <dsp:cNvPr id="0" name=""/>
        <dsp:cNvSpPr/>
      </dsp:nvSpPr>
      <dsp:spPr>
        <a:xfrm>
          <a:off x="0" y="2099779"/>
          <a:ext cx="47262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EA9D8B-918A-4254-8B5C-561D122EBCA5}">
      <dsp:nvSpPr>
        <dsp:cNvPr id="0" name=""/>
        <dsp:cNvSpPr/>
      </dsp:nvSpPr>
      <dsp:spPr>
        <a:xfrm>
          <a:off x="507973" y="2477610"/>
          <a:ext cx="923587" cy="923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0FA4E4-DAFA-43D8-8357-2EF30E3A0350}">
      <dsp:nvSpPr>
        <dsp:cNvPr id="0" name=""/>
        <dsp:cNvSpPr/>
      </dsp:nvSpPr>
      <dsp:spPr>
        <a:xfrm>
          <a:off x="1939533" y="2099779"/>
          <a:ext cx="27866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b="0" i="0" kern="1200" baseline="0" dirty="0"/>
            <a:t>Diversity Mode</a:t>
          </a:r>
          <a:endParaRPr lang="en-US" sz="2500" kern="1200" dirty="0"/>
        </a:p>
      </dsp:txBody>
      <dsp:txXfrm>
        <a:off x="1939533" y="2099779"/>
        <a:ext cx="2786667" cy="1679249"/>
      </dsp:txXfrm>
    </dsp:sp>
    <dsp:sp modelId="{E74EB225-4790-42D2-A022-B2CAB644BFFE}">
      <dsp:nvSpPr>
        <dsp:cNvPr id="0" name=""/>
        <dsp:cNvSpPr/>
      </dsp:nvSpPr>
      <dsp:spPr>
        <a:xfrm>
          <a:off x="0" y="4198841"/>
          <a:ext cx="47262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92B7BE-1DE8-4FB6-8F0C-0B5CB2CC1FDE}">
      <dsp:nvSpPr>
        <dsp:cNvPr id="0" name=""/>
        <dsp:cNvSpPr/>
      </dsp:nvSpPr>
      <dsp:spPr>
        <a:xfrm>
          <a:off x="507973" y="4576672"/>
          <a:ext cx="923587" cy="923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8BDA0F-8FB4-480E-AF00-D3E24BC3E4ED}">
      <dsp:nvSpPr>
        <dsp:cNvPr id="0" name=""/>
        <dsp:cNvSpPr/>
      </dsp:nvSpPr>
      <dsp:spPr>
        <a:xfrm>
          <a:off x="1939533" y="4198841"/>
          <a:ext cx="27866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b="0" i="0" kern="1200" baseline="0" dirty="0"/>
            <a:t>Beamforming/ Array Angle Mode</a:t>
          </a:r>
          <a:endParaRPr lang="en-US" sz="2500" kern="1200" dirty="0"/>
        </a:p>
      </dsp:txBody>
      <dsp:txXfrm>
        <a:off x="1939533" y="4198841"/>
        <a:ext cx="2786667" cy="16792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E3EE67-50DE-4E84-8E32-33A8D400E96F}">
      <dsp:nvSpPr>
        <dsp:cNvPr id="0" name=""/>
        <dsp:cNvSpPr/>
      </dsp:nvSpPr>
      <dsp:spPr>
        <a:xfrm>
          <a:off x="0" y="472279"/>
          <a:ext cx="4726201" cy="34965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624840" rIns="366806" bIns="213360" numCol="1" spcCol="1270" anchor="t" anchorCtr="0">
          <a:noAutofit/>
        </a:bodyPr>
        <a:lstStyle/>
        <a:p>
          <a:pPr marL="285750" lvl="1" indent="-285750" algn="l" defTabSz="1333500">
            <a:lnSpc>
              <a:spcPct val="90000"/>
            </a:lnSpc>
            <a:spcBef>
              <a:spcPct val="0"/>
            </a:spcBef>
            <a:spcAft>
              <a:spcPct val="15000"/>
            </a:spcAft>
            <a:buChar char="•"/>
          </a:pPr>
          <a:r>
            <a:rPr lang="en-US" sz="3000" kern="1200" dirty="0"/>
            <a:t>Selection Combining (SC)</a:t>
          </a:r>
        </a:p>
        <a:p>
          <a:pPr marL="285750" lvl="1" indent="-285750" algn="l" defTabSz="1333500">
            <a:lnSpc>
              <a:spcPct val="90000"/>
            </a:lnSpc>
            <a:spcBef>
              <a:spcPct val="0"/>
            </a:spcBef>
            <a:spcAft>
              <a:spcPct val="15000"/>
            </a:spcAft>
            <a:buChar char="•"/>
          </a:pPr>
          <a:r>
            <a:rPr lang="en-US" sz="3000" kern="1200" dirty="0"/>
            <a:t>Equal Gain Combining (EGC)</a:t>
          </a:r>
        </a:p>
        <a:p>
          <a:pPr marL="285750" lvl="1" indent="-285750" algn="l" defTabSz="1333500">
            <a:lnSpc>
              <a:spcPct val="90000"/>
            </a:lnSpc>
            <a:spcBef>
              <a:spcPct val="0"/>
            </a:spcBef>
            <a:spcAft>
              <a:spcPct val="15000"/>
            </a:spcAft>
            <a:buChar char="•"/>
          </a:pPr>
          <a:r>
            <a:rPr lang="en-US" sz="3000" kern="1200"/>
            <a:t>Maximum Ratio Combining (MRC)</a:t>
          </a:r>
        </a:p>
      </dsp:txBody>
      <dsp:txXfrm>
        <a:off x="0" y="472279"/>
        <a:ext cx="4726201" cy="3496500"/>
      </dsp:txXfrm>
    </dsp:sp>
    <dsp:sp modelId="{A72ECA9B-C90F-49C3-A973-CA833639A1C7}">
      <dsp:nvSpPr>
        <dsp:cNvPr id="0" name=""/>
        <dsp:cNvSpPr/>
      </dsp:nvSpPr>
      <dsp:spPr>
        <a:xfrm>
          <a:off x="236310" y="29479"/>
          <a:ext cx="3308340" cy="885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1333500">
            <a:lnSpc>
              <a:spcPct val="90000"/>
            </a:lnSpc>
            <a:spcBef>
              <a:spcPct val="0"/>
            </a:spcBef>
            <a:spcAft>
              <a:spcPct val="35000"/>
            </a:spcAft>
            <a:buNone/>
          </a:pPr>
          <a:r>
            <a:rPr lang="en-US" sz="3000" b="1" kern="1200"/>
            <a:t>Receive diversity</a:t>
          </a:r>
          <a:endParaRPr lang="en-US" sz="3000" kern="1200"/>
        </a:p>
      </dsp:txBody>
      <dsp:txXfrm>
        <a:off x="279541" y="72710"/>
        <a:ext cx="3221878" cy="799138"/>
      </dsp:txXfrm>
    </dsp:sp>
    <dsp:sp modelId="{5A0AB0EE-11C2-42A5-AD4C-C3E9360C7CDD}">
      <dsp:nvSpPr>
        <dsp:cNvPr id="0" name=""/>
        <dsp:cNvSpPr/>
      </dsp:nvSpPr>
      <dsp:spPr>
        <a:xfrm>
          <a:off x="0" y="4573579"/>
          <a:ext cx="4726201" cy="127575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624840" rIns="366806" bIns="213360" numCol="1" spcCol="1270" anchor="t" anchorCtr="0">
          <a:noAutofit/>
        </a:bodyPr>
        <a:lstStyle/>
        <a:p>
          <a:pPr marL="285750" lvl="1" indent="-285750" algn="l" defTabSz="1333500">
            <a:lnSpc>
              <a:spcPct val="90000"/>
            </a:lnSpc>
            <a:spcBef>
              <a:spcPct val="0"/>
            </a:spcBef>
            <a:spcAft>
              <a:spcPct val="15000"/>
            </a:spcAft>
            <a:buChar char="•"/>
          </a:pPr>
          <a:r>
            <a:rPr lang="en-US" sz="3000" kern="1200"/>
            <a:t>STBC</a:t>
          </a:r>
        </a:p>
      </dsp:txBody>
      <dsp:txXfrm>
        <a:off x="0" y="4573579"/>
        <a:ext cx="4726201" cy="1275750"/>
      </dsp:txXfrm>
    </dsp:sp>
    <dsp:sp modelId="{2F8CC342-7B90-43BA-BCF3-42A51DAAAF07}">
      <dsp:nvSpPr>
        <dsp:cNvPr id="0" name=""/>
        <dsp:cNvSpPr/>
      </dsp:nvSpPr>
      <dsp:spPr>
        <a:xfrm>
          <a:off x="236310" y="4130779"/>
          <a:ext cx="3308340" cy="88560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1333500">
            <a:lnSpc>
              <a:spcPct val="90000"/>
            </a:lnSpc>
            <a:spcBef>
              <a:spcPct val="0"/>
            </a:spcBef>
            <a:spcAft>
              <a:spcPct val="35000"/>
            </a:spcAft>
            <a:buNone/>
          </a:pPr>
          <a:r>
            <a:rPr lang="en-US" sz="3000" b="1" kern="1200"/>
            <a:t>Transmit diversity</a:t>
          </a:r>
          <a:endParaRPr lang="en-US" sz="3000" kern="1200"/>
        </a:p>
      </dsp:txBody>
      <dsp:txXfrm>
        <a:off x="279541" y="4174010"/>
        <a:ext cx="3221878" cy="799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F2F0F3-B3A8-4B5F-862D-2CE34995A02D}">
      <dsp:nvSpPr>
        <dsp:cNvPr id="0" name=""/>
        <dsp:cNvSpPr/>
      </dsp:nvSpPr>
      <dsp:spPr>
        <a:xfrm>
          <a:off x="0" y="1128829"/>
          <a:ext cx="4726201" cy="15151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541528" rIns="366806"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a:t>Zero-Forcing (ZF)</a:t>
          </a:r>
        </a:p>
        <a:p>
          <a:pPr marL="228600" lvl="1" indent="-228600" algn="l" defTabSz="1155700">
            <a:lnSpc>
              <a:spcPct val="90000"/>
            </a:lnSpc>
            <a:spcBef>
              <a:spcPct val="0"/>
            </a:spcBef>
            <a:spcAft>
              <a:spcPct val="15000"/>
            </a:spcAft>
            <a:buChar char="•"/>
          </a:pPr>
          <a:r>
            <a:rPr lang="en-US" sz="2600" kern="1200"/>
            <a:t>MMSE</a:t>
          </a:r>
        </a:p>
      </dsp:txBody>
      <dsp:txXfrm>
        <a:off x="0" y="1128829"/>
        <a:ext cx="4726201" cy="1515150"/>
      </dsp:txXfrm>
    </dsp:sp>
    <dsp:sp modelId="{2039525D-6753-454F-86FA-3534AA05CA4B}">
      <dsp:nvSpPr>
        <dsp:cNvPr id="0" name=""/>
        <dsp:cNvSpPr/>
      </dsp:nvSpPr>
      <dsp:spPr>
        <a:xfrm>
          <a:off x="236310" y="745069"/>
          <a:ext cx="3308340" cy="7675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1155700">
            <a:lnSpc>
              <a:spcPct val="90000"/>
            </a:lnSpc>
            <a:spcBef>
              <a:spcPct val="0"/>
            </a:spcBef>
            <a:spcAft>
              <a:spcPct val="35000"/>
            </a:spcAft>
            <a:buNone/>
          </a:pPr>
          <a:r>
            <a:rPr lang="en-US" sz="2600" b="1" kern="1200"/>
            <a:t>Linear Detection</a:t>
          </a:r>
          <a:endParaRPr lang="en-US" sz="2600" kern="1200"/>
        </a:p>
      </dsp:txBody>
      <dsp:txXfrm>
        <a:off x="273777" y="782536"/>
        <a:ext cx="3233406" cy="692586"/>
      </dsp:txXfrm>
    </dsp:sp>
    <dsp:sp modelId="{164C1C40-394D-42A8-8442-B865AA080D54}">
      <dsp:nvSpPr>
        <dsp:cNvPr id="0" name=""/>
        <dsp:cNvSpPr/>
      </dsp:nvSpPr>
      <dsp:spPr>
        <a:xfrm>
          <a:off x="0" y="3168139"/>
          <a:ext cx="4726201" cy="196560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541528" rIns="366806"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a:t>SIC</a:t>
          </a:r>
        </a:p>
        <a:p>
          <a:pPr marL="228600" lvl="1" indent="-228600" algn="l" defTabSz="1155700">
            <a:lnSpc>
              <a:spcPct val="90000"/>
            </a:lnSpc>
            <a:spcBef>
              <a:spcPct val="0"/>
            </a:spcBef>
            <a:spcAft>
              <a:spcPct val="15000"/>
            </a:spcAft>
            <a:buChar char="•"/>
          </a:pPr>
          <a:r>
            <a:rPr lang="en-US" sz="2600" kern="1200"/>
            <a:t>V-BLAST</a:t>
          </a:r>
        </a:p>
        <a:p>
          <a:pPr marL="228600" lvl="1" indent="-228600" algn="l" defTabSz="1155700">
            <a:lnSpc>
              <a:spcPct val="90000"/>
            </a:lnSpc>
            <a:spcBef>
              <a:spcPct val="0"/>
            </a:spcBef>
            <a:spcAft>
              <a:spcPct val="15000"/>
            </a:spcAft>
            <a:buChar char="•"/>
          </a:pPr>
          <a:r>
            <a:rPr lang="en-US" sz="2600" kern="1200"/>
            <a:t>Sphere decoding</a:t>
          </a:r>
        </a:p>
      </dsp:txBody>
      <dsp:txXfrm>
        <a:off x="0" y="3168139"/>
        <a:ext cx="4726201" cy="1965600"/>
      </dsp:txXfrm>
    </dsp:sp>
    <dsp:sp modelId="{14165F61-1AE4-43CC-8C43-6E8A5F359F47}">
      <dsp:nvSpPr>
        <dsp:cNvPr id="0" name=""/>
        <dsp:cNvSpPr/>
      </dsp:nvSpPr>
      <dsp:spPr>
        <a:xfrm>
          <a:off x="236310" y="2784379"/>
          <a:ext cx="3308340" cy="7675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1155700">
            <a:lnSpc>
              <a:spcPct val="90000"/>
            </a:lnSpc>
            <a:spcBef>
              <a:spcPct val="0"/>
            </a:spcBef>
            <a:spcAft>
              <a:spcPct val="35000"/>
            </a:spcAft>
            <a:buNone/>
          </a:pPr>
          <a:r>
            <a:rPr lang="en-US" sz="2600" b="1" kern="1200"/>
            <a:t>Non-linear Detection</a:t>
          </a:r>
          <a:endParaRPr lang="en-US" sz="2600" kern="1200"/>
        </a:p>
      </dsp:txBody>
      <dsp:txXfrm>
        <a:off x="273777" y="2821846"/>
        <a:ext cx="3233406" cy="6925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7A391-99A6-4CB1-8713-7A34F5B93504}">
      <dsp:nvSpPr>
        <dsp:cNvPr id="0" name=""/>
        <dsp:cNvSpPr/>
      </dsp:nvSpPr>
      <dsp:spPr>
        <a:xfrm>
          <a:off x="0" y="37976"/>
          <a:ext cx="5175384" cy="5996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Training-based Estimation</a:t>
          </a:r>
          <a:endParaRPr lang="en-US" sz="2500" kern="1200"/>
        </a:p>
      </dsp:txBody>
      <dsp:txXfrm>
        <a:off x="29271" y="67247"/>
        <a:ext cx="5116842" cy="541083"/>
      </dsp:txXfrm>
    </dsp:sp>
    <dsp:sp modelId="{60AB1013-5F2F-469C-B9FC-0CAF98D56446}">
      <dsp:nvSpPr>
        <dsp:cNvPr id="0" name=""/>
        <dsp:cNvSpPr/>
      </dsp:nvSpPr>
      <dsp:spPr>
        <a:xfrm>
          <a:off x="0" y="637601"/>
          <a:ext cx="5175384" cy="1319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318"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Transmitter sends known pilot symbols:</a:t>
          </a:r>
        </a:p>
        <a:p>
          <a:pPr marL="228600" lvl="1" indent="-228600" algn="l" defTabSz="889000">
            <a:lnSpc>
              <a:spcPct val="90000"/>
            </a:lnSpc>
            <a:spcBef>
              <a:spcPct val="0"/>
            </a:spcBef>
            <a:spcAft>
              <a:spcPct val="20000"/>
            </a:spcAft>
            <a:buChar char="•"/>
          </a:pPr>
          <a:r>
            <a:rPr lang="en-US" sz="2000" kern="1200"/>
            <a:t>Receiver compares received pilots with known values.</a:t>
          </a:r>
        </a:p>
        <a:p>
          <a:pPr marL="228600" lvl="1" indent="-228600" algn="l" defTabSz="889000">
            <a:lnSpc>
              <a:spcPct val="90000"/>
            </a:lnSpc>
            <a:spcBef>
              <a:spcPct val="0"/>
            </a:spcBef>
            <a:spcAft>
              <a:spcPct val="20000"/>
            </a:spcAft>
            <a:buChar char="•"/>
          </a:pPr>
          <a:r>
            <a:rPr lang="en-US" sz="2000" kern="1200"/>
            <a:t>Very common in 4G/5G/WiFi.</a:t>
          </a:r>
        </a:p>
      </dsp:txBody>
      <dsp:txXfrm>
        <a:off x="0" y="637601"/>
        <a:ext cx="5175384" cy="1319625"/>
      </dsp:txXfrm>
    </dsp:sp>
    <dsp:sp modelId="{7A481CF2-F4DE-4487-8F43-CB3C36CF6604}">
      <dsp:nvSpPr>
        <dsp:cNvPr id="0" name=""/>
        <dsp:cNvSpPr/>
      </dsp:nvSpPr>
      <dsp:spPr>
        <a:xfrm>
          <a:off x="0" y="1957226"/>
          <a:ext cx="5175384" cy="599625"/>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Blind Estimation</a:t>
          </a:r>
          <a:endParaRPr lang="en-US" sz="2500" kern="1200"/>
        </a:p>
      </dsp:txBody>
      <dsp:txXfrm>
        <a:off x="29271" y="1986497"/>
        <a:ext cx="5116842" cy="541083"/>
      </dsp:txXfrm>
    </dsp:sp>
    <dsp:sp modelId="{A2BA79E9-66B2-461B-AC9F-CB32B3FDC508}">
      <dsp:nvSpPr>
        <dsp:cNvPr id="0" name=""/>
        <dsp:cNvSpPr/>
      </dsp:nvSpPr>
      <dsp:spPr>
        <a:xfrm>
          <a:off x="0" y="2556851"/>
          <a:ext cx="5175384" cy="165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318"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Uses only received data and statistical properties:</a:t>
          </a:r>
        </a:p>
        <a:p>
          <a:pPr marL="228600" lvl="1" indent="-228600" algn="l" defTabSz="889000">
            <a:lnSpc>
              <a:spcPct val="90000"/>
            </a:lnSpc>
            <a:spcBef>
              <a:spcPct val="0"/>
            </a:spcBef>
            <a:spcAft>
              <a:spcPct val="20000"/>
            </a:spcAft>
            <a:buChar char="•"/>
          </a:pPr>
          <a:r>
            <a:rPr lang="en-US" sz="2000" kern="1200"/>
            <a:t>No pilots needed,</a:t>
          </a:r>
        </a:p>
        <a:p>
          <a:pPr marL="228600" lvl="1" indent="-228600" algn="l" defTabSz="889000">
            <a:lnSpc>
              <a:spcPct val="90000"/>
            </a:lnSpc>
            <a:spcBef>
              <a:spcPct val="0"/>
            </a:spcBef>
            <a:spcAft>
              <a:spcPct val="20000"/>
            </a:spcAft>
            <a:buChar char="•"/>
          </a:pPr>
          <a:r>
            <a:rPr lang="en-US" sz="2000" kern="1200"/>
            <a:t>Low overhead,</a:t>
          </a:r>
        </a:p>
        <a:p>
          <a:pPr marL="228600" lvl="1" indent="-228600" algn="l" defTabSz="889000">
            <a:lnSpc>
              <a:spcPct val="90000"/>
            </a:lnSpc>
            <a:spcBef>
              <a:spcPct val="0"/>
            </a:spcBef>
            <a:spcAft>
              <a:spcPct val="20000"/>
            </a:spcAft>
            <a:buChar char="•"/>
          </a:pPr>
          <a:r>
            <a:rPr lang="en-US" sz="2000" kern="1200"/>
            <a:t>Less accurate.</a:t>
          </a:r>
        </a:p>
      </dsp:txBody>
      <dsp:txXfrm>
        <a:off x="0" y="2556851"/>
        <a:ext cx="5175384" cy="1656000"/>
      </dsp:txXfrm>
    </dsp:sp>
    <dsp:sp modelId="{290FE841-6F24-4EDB-9F75-A7E881B6D7BB}">
      <dsp:nvSpPr>
        <dsp:cNvPr id="0" name=""/>
        <dsp:cNvSpPr/>
      </dsp:nvSpPr>
      <dsp:spPr>
        <a:xfrm>
          <a:off x="0" y="4212851"/>
          <a:ext cx="5175384" cy="59962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Semi-Blind</a:t>
          </a:r>
          <a:endParaRPr lang="en-US" sz="2500" kern="1200"/>
        </a:p>
      </dsp:txBody>
      <dsp:txXfrm>
        <a:off x="29271" y="4242122"/>
        <a:ext cx="5116842" cy="541083"/>
      </dsp:txXfrm>
    </dsp:sp>
    <dsp:sp modelId="{0E41B9B7-BB1B-4F36-9ABC-CDE9E36A37BA}">
      <dsp:nvSpPr>
        <dsp:cNvPr id="0" name=""/>
        <dsp:cNvSpPr/>
      </dsp:nvSpPr>
      <dsp:spPr>
        <a:xfrm>
          <a:off x="0" y="4812476"/>
          <a:ext cx="5175384" cy="68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318"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Combination of pilots + statistics:</a:t>
          </a:r>
        </a:p>
        <a:p>
          <a:pPr marL="228600" lvl="1" indent="-228600" algn="l" defTabSz="889000">
            <a:lnSpc>
              <a:spcPct val="90000"/>
            </a:lnSpc>
            <a:spcBef>
              <a:spcPct val="0"/>
            </a:spcBef>
            <a:spcAft>
              <a:spcPct val="20000"/>
            </a:spcAft>
            <a:buChar char="•"/>
          </a:pPr>
          <a:r>
            <a:rPr lang="en-US" sz="2000" kern="1200"/>
            <a:t>Intermediate complexity/accuracy.</a:t>
          </a:r>
        </a:p>
      </dsp:txBody>
      <dsp:txXfrm>
        <a:off x="0" y="4812476"/>
        <a:ext cx="5175384" cy="6856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678052-A106-42DA-B08C-B67CCBAEA477}">
      <dsp:nvSpPr>
        <dsp:cNvPr id="0" name=""/>
        <dsp:cNvSpPr/>
      </dsp:nvSpPr>
      <dsp:spPr>
        <a:xfrm>
          <a:off x="0" y="728760"/>
          <a:ext cx="5175384" cy="93541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Complexity: </a:t>
          </a:r>
        </a:p>
      </dsp:txBody>
      <dsp:txXfrm>
        <a:off x="45663" y="774423"/>
        <a:ext cx="5084058" cy="844089"/>
      </dsp:txXfrm>
    </dsp:sp>
    <dsp:sp modelId="{464248F3-DAF2-40C3-8AED-613862A062BD}">
      <dsp:nvSpPr>
        <dsp:cNvPr id="0" name=""/>
        <dsp:cNvSpPr/>
      </dsp:nvSpPr>
      <dsp:spPr>
        <a:xfrm>
          <a:off x="0" y="1776495"/>
          <a:ext cx="5175384" cy="935415"/>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Pilot Overhead: </a:t>
          </a:r>
        </a:p>
      </dsp:txBody>
      <dsp:txXfrm>
        <a:off x="45663" y="1822158"/>
        <a:ext cx="5084058" cy="844089"/>
      </dsp:txXfrm>
    </dsp:sp>
    <dsp:sp modelId="{013C4D29-ABC4-4995-BEED-EF3579D60F99}">
      <dsp:nvSpPr>
        <dsp:cNvPr id="0" name=""/>
        <dsp:cNvSpPr/>
      </dsp:nvSpPr>
      <dsp:spPr>
        <a:xfrm>
          <a:off x="0" y="2824230"/>
          <a:ext cx="5175384" cy="935415"/>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Channel Correlation: </a:t>
          </a:r>
        </a:p>
      </dsp:txBody>
      <dsp:txXfrm>
        <a:off x="45663" y="2869893"/>
        <a:ext cx="5084058" cy="844089"/>
      </dsp:txXfrm>
    </dsp:sp>
    <dsp:sp modelId="{2BB3E939-6FA7-46C1-B5EF-97F1C53085E7}">
      <dsp:nvSpPr>
        <dsp:cNvPr id="0" name=""/>
        <dsp:cNvSpPr/>
      </dsp:nvSpPr>
      <dsp:spPr>
        <a:xfrm>
          <a:off x="0" y="3871965"/>
          <a:ext cx="5175384" cy="93541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Interference and Noise:</a:t>
          </a:r>
        </a:p>
      </dsp:txBody>
      <dsp:txXfrm>
        <a:off x="45663" y="3917628"/>
        <a:ext cx="5084058" cy="8440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C87781-88DD-4355-B09D-A32ABCDCBDBF}">
      <dsp:nvSpPr>
        <dsp:cNvPr id="0" name=""/>
        <dsp:cNvSpPr/>
      </dsp:nvSpPr>
      <dsp:spPr>
        <a:xfrm>
          <a:off x="0" y="2297"/>
          <a:ext cx="5175384" cy="11645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0AB12C-BE69-41A2-9010-6B58FEA8A7BD}">
      <dsp:nvSpPr>
        <dsp:cNvPr id="0" name=""/>
        <dsp:cNvSpPr/>
      </dsp:nvSpPr>
      <dsp:spPr>
        <a:xfrm>
          <a:off x="352272" y="264318"/>
          <a:ext cx="640494" cy="6404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85A873-B71B-4753-87F5-4D37AB494315}">
      <dsp:nvSpPr>
        <dsp:cNvPr id="0" name=""/>
        <dsp:cNvSpPr/>
      </dsp:nvSpPr>
      <dsp:spPr>
        <a:xfrm>
          <a:off x="1345038" y="2297"/>
          <a:ext cx="3830345"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1066800">
            <a:lnSpc>
              <a:spcPct val="90000"/>
            </a:lnSpc>
            <a:spcBef>
              <a:spcPct val="0"/>
            </a:spcBef>
            <a:spcAft>
              <a:spcPct val="35000"/>
            </a:spcAft>
            <a:buNone/>
          </a:pPr>
          <a:r>
            <a:rPr lang="en-US" sz="2400" b="0" i="0" kern="1200" baseline="0" dirty="0"/>
            <a:t>Channel estimation</a:t>
          </a:r>
          <a:endParaRPr lang="en-US" sz="2400" kern="1200" dirty="0"/>
        </a:p>
      </dsp:txBody>
      <dsp:txXfrm>
        <a:off x="1345038" y="2297"/>
        <a:ext cx="3830345" cy="1164535"/>
      </dsp:txXfrm>
    </dsp:sp>
    <dsp:sp modelId="{4895BB44-C2A3-4012-A74A-B1E53A0D3AFB}">
      <dsp:nvSpPr>
        <dsp:cNvPr id="0" name=""/>
        <dsp:cNvSpPr/>
      </dsp:nvSpPr>
      <dsp:spPr>
        <a:xfrm>
          <a:off x="0" y="1457967"/>
          <a:ext cx="5175384" cy="11645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365DCD-E772-419A-BC72-57DA8A242527}">
      <dsp:nvSpPr>
        <dsp:cNvPr id="0" name=""/>
        <dsp:cNvSpPr/>
      </dsp:nvSpPr>
      <dsp:spPr>
        <a:xfrm>
          <a:off x="352272" y="1719988"/>
          <a:ext cx="640494" cy="6404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782DA3-4664-404B-A8CC-0FA8DA1089E9}">
      <dsp:nvSpPr>
        <dsp:cNvPr id="0" name=""/>
        <dsp:cNvSpPr/>
      </dsp:nvSpPr>
      <dsp:spPr>
        <a:xfrm>
          <a:off x="1345038" y="1457967"/>
          <a:ext cx="3830345"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1066800">
            <a:lnSpc>
              <a:spcPct val="90000"/>
            </a:lnSpc>
            <a:spcBef>
              <a:spcPct val="0"/>
            </a:spcBef>
            <a:spcAft>
              <a:spcPct val="35000"/>
            </a:spcAft>
            <a:buNone/>
          </a:pPr>
          <a:r>
            <a:rPr lang="en-US" sz="2400" b="0" i="0" kern="1200" baseline="0"/>
            <a:t>Feedback and CSI</a:t>
          </a:r>
          <a:endParaRPr lang="en-US" sz="2400" kern="1200"/>
        </a:p>
      </dsp:txBody>
      <dsp:txXfrm>
        <a:off x="1345038" y="1457967"/>
        <a:ext cx="3830345" cy="1164535"/>
      </dsp:txXfrm>
    </dsp:sp>
    <dsp:sp modelId="{3D5FDC63-FB1D-4876-B7BC-62448FEC81F8}">
      <dsp:nvSpPr>
        <dsp:cNvPr id="0" name=""/>
        <dsp:cNvSpPr/>
      </dsp:nvSpPr>
      <dsp:spPr>
        <a:xfrm>
          <a:off x="0" y="2913637"/>
          <a:ext cx="5175384" cy="11645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4C94F2-4A19-4A2D-B18D-2DDE414A07EE}">
      <dsp:nvSpPr>
        <dsp:cNvPr id="0" name=""/>
        <dsp:cNvSpPr/>
      </dsp:nvSpPr>
      <dsp:spPr>
        <a:xfrm>
          <a:off x="352272" y="3175658"/>
          <a:ext cx="640494" cy="6404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133996-6F00-497C-AB5F-14CA9DD56F23}">
      <dsp:nvSpPr>
        <dsp:cNvPr id="0" name=""/>
        <dsp:cNvSpPr/>
      </dsp:nvSpPr>
      <dsp:spPr>
        <a:xfrm>
          <a:off x="1345038" y="2913637"/>
          <a:ext cx="3830345"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1066800">
            <a:lnSpc>
              <a:spcPct val="90000"/>
            </a:lnSpc>
            <a:spcBef>
              <a:spcPct val="0"/>
            </a:spcBef>
            <a:spcAft>
              <a:spcPct val="35000"/>
            </a:spcAft>
            <a:buNone/>
          </a:pPr>
          <a:r>
            <a:rPr lang="en-US" sz="2400" b="0" i="0" kern="1200" baseline="0"/>
            <a:t>Antenna correlation</a:t>
          </a:r>
          <a:endParaRPr lang="en-US" sz="2400" kern="1200"/>
        </a:p>
      </dsp:txBody>
      <dsp:txXfrm>
        <a:off x="1345038" y="2913637"/>
        <a:ext cx="3830345" cy="1164535"/>
      </dsp:txXfrm>
    </dsp:sp>
    <dsp:sp modelId="{5FE4523F-436D-4AED-A61F-901504259AC2}">
      <dsp:nvSpPr>
        <dsp:cNvPr id="0" name=""/>
        <dsp:cNvSpPr/>
      </dsp:nvSpPr>
      <dsp:spPr>
        <a:xfrm>
          <a:off x="0" y="4369307"/>
          <a:ext cx="5175384" cy="11645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07F38A-AF62-4897-A155-66D2079D603A}">
      <dsp:nvSpPr>
        <dsp:cNvPr id="0" name=""/>
        <dsp:cNvSpPr/>
      </dsp:nvSpPr>
      <dsp:spPr>
        <a:xfrm>
          <a:off x="352272" y="4631327"/>
          <a:ext cx="640494" cy="6404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B22A1-AD91-49C4-A92B-1B8495627712}">
      <dsp:nvSpPr>
        <dsp:cNvPr id="0" name=""/>
        <dsp:cNvSpPr/>
      </dsp:nvSpPr>
      <dsp:spPr>
        <a:xfrm>
          <a:off x="1345038" y="4369307"/>
          <a:ext cx="3830345"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1066800">
            <a:lnSpc>
              <a:spcPct val="90000"/>
            </a:lnSpc>
            <a:spcBef>
              <a:spcPct val="0"/>
            </a:spcBef>
            <a:spcAft>
              <a:spcPct val="35000"/>
            </a:spcAft>
            <a:buNone/>
          </a:pPr>
          <a:r>
            <a:rPr lang="en-US" sz="2400" b="0" i="0" kern="1200" baseline="0"/>
            <a:t>Propagation environments</a:t>
          </a:r>
          <a:endParaRPr lang="en-US" sz="2400" kern="1200"/>
        </a:p>
      </dsp:txBody>
      <dsp:txXfrm>
        <a:off x="1345038" y="4369307"/>
        <a:ext cx="3830345" cy="116453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55CDEB-4BA5-4E71-B189-8538D8283A21}">
      <dsp:nvSpPr>
        <dsp:cNvPr id="0" name=""/>
        <dsp:cNvSpPr/>
      </dsp:nvSpPr>
      <dsp:spPr>
        <a:xfrm>
          <a:off x="782032" y="732"/>
          <a:ext cx="3309976" cy="2101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F0D0FF-6233-41EC-BB8D-A0E2D2FBF883}">
      <dsp:nvSpPr>
        <dsp:cNvPr id="0" name=""/>
        <dsp:cNvSpPr/>
      </dsp:nvSpPr>
      <dsp:spPr>
        <a:xfrm>
          <a:off x="1149807" y="350119"/>
          <a:ext cx="3309976" cy="2101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Beamforming is a multi-antenna technique that directs the transmitted or received signal in a particular spatial direction.</a:t>
          </a:r>
        </a:p>
      </dsp:txBody>
      <dsp:txXfrm>
        <a:off x="1211368" y="411680"/>
        <a:ext cx="3186854" cy="1978713"/>
      </dsp:txXfrm>
    </dsp:sp>
    <dsp:sp modelId="{41A43636-6C03-4EF5-AECC-3A6802F6FB9F}">
      <dsp:nvSpPr>
        <dsp:cNvPr id="0" name=""/>
        <dsp:cNvSpPr/>
      </dsp:nvSpPr>
      <dsp:spPr>
        <a:xfrm>
          <a:off x="4827559" y="732"/>
          <a:ext cx="3309976" cy="2101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06BA51-299C-4B46-B65D-343388AA40EE}">
      <dsp:nvSpPr>
        <dsp:cNvPr id="0" name=""/>
        <dsp:cNvSpPr/>
      </dsp:nvSpPr>
      <dsp:spPr>
        <a:xfrm>
          <a:off x="5195334" y="350119"/>
          <a:ext cx="3309976" cy="210183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Instead of transmitting energy everywhere, we shape the antenna radiation pattern to boost signal towards intended user.</a:t>
          </a:r>
        </a:p>
      </dsp:txBody>
      <dsp:txXfrm>
        <a:off x="5256895" y="411680"/>
        <a:ext cx="3186854" cy="197871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1D896-33D0-42F9-915F-9C481C0DEBF2}">
      <dsp:nvSpPr>
        <dsp:cNvPr id="0" name=""/>
        <dsp:cNvSpPr/>
      </dsp:nvSpPr>
      <dsp:spPr>
        <a:xfrm>
          <a:off x="0" y="186214"/>
          <a:ext cx="4726201" cy="98752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229108" rIns="36680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Pre-defined beams</a:t>
          </a:r>
        </a:p>
        <a:p>
          <a:pPr marL="228600" lvl="1" indent="-228600" algn="l" defTabSz="889000">
            <a:lnSpc>
              <a:spcPct val="90000"/>
            </a:lnSpc>
            <a:spcBef>
              <a:spcPct val="0"/>
            </a:spcBef>
            <a:spcAft>
              <a:spcPct val="15000"/>
            </a:spcAft>
            <a:buChar char="•"/>
          </a:pPr>
          <a:r>
            <a:rPr lang="en-US" sz="2000" kern="1200"/>
            <a:t>Used in early systems</a:t>
          </a:r>
        </a:p>
      </dsp:txBody>
      <dsp:txXfrm>
        <a:off x="0" y="186214"/>
        <a:ext cx="4726201" cy="987525"/>
      </dsp:txXfrm>
    </dsp:sp>
    <dsp:sp modelId="{E3F50FE8-F9D9-4F27-95B1-A67E2172F676}">
      <dsp:nvSpPr>
        <dsp:cNvPr id="0" name=""/>
        <dsp:cNvSpPr/>
      </dsp:nvSpPr>
      <dsp:spPr>
        <a:xfrm>
          <a:off x="236310" y="23854"/>
          <a:ext cx="3308340" cy="3247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889000">
            <a:lnSpc>
              <a:spcPct val="90000"/>
            </a:lnSpc>
            <a:spcBef>
              <a:spcPct val="0"/>
            </a:spcBef>
            <a:spcAft>
              <a:spcPct val="35000"/>
            </a:spcAft>
            <a:buNone/>
          </a:pPr>
          <a:r>
            <a:rPr lang="en-US" sz="2000" b="1" kern="1200"/>
            <a:t>1. Fixed Beamforming</a:t>
          </a:r>
          <a:endParaRPr lang="en-US" sz="2000" kern="1200"/>
        </a:p>
      </dsp:txBody>
      <dsp:txXfrm>
        <a:off x="252162" y="39706"/>
        <a:ext cx="3276636" cy="293016"/>
      </dsp:txXfrm>
    </dsp:sp>
    <dsp:sp modelId="{6D4872BA-4FC1-41E1-BD89-51AB63D014F1}">
      <dsp:nvSpPr>
        <dsp:cNvPr id="0" name=""/>
        <dsp:cNvSpPr/>
      </dsp:nvSpPr>
      <dsp:spPr>
        <a:xfrm>
          <a:off x="0" y="1395499"/>
          <a:ext cx="4726201" cy="93555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229108" rIns="36680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Weights automatically change according to channel.</a:t>
          </a:r>
        </a:p>
      </dsp:txBody>
      <dsp:txXfrm>
        <a:off x="0" y="1395499"/>
        <a:ext cx="4726201" cy="935550"/>
      </dsp:txXfrm>
    </dsp:sp>
    <dsp:sp modelId="{AF8CB345-B527-495A-B573-B058A9C403B9}">
      <dsp:nvSpPr>
        <dsp:cNvPr id="0" name=""/>
        <dsp:cNvSpPr/>
      </dsp:nvSpPr>
      <dsp:spPr>
        <a:xfrm>
          <a:off x="236310" y="1233139"/>
          <a:ext cx="3308340" cy="3247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889000">
            <a:lnSpc>
              <a:spcPct val="90000"/>
            </a:lnSpc>
            <a:spcBef>
              <a:spcPct val="0"/>
            </a:spcBef>
            <a:spcAft>
              <a:spcPct val="35000"/>
            </a:spcAft>
            <a:buNone/>
          </a:pPr>
          <a:r>
            <a:rPr lang="en-US" sz="2000" b="1" kern="1200"/>
            <a:t>2. Adaptive Beamforming</a:t>
          </a:r>
          <a:endParaRPr lang="en-US" sz="2000" kern="1200"/>
        </a:p>
      </dsp:txBody>
      <dsp:txXfrm>
        <a:off x="252162" y="1248991"/>
        <a:ext cx="3276636" cy="293016"/>
      </dsp:txXfrm>
    </dsp:sp>
    <dsp:sp modelId="{DA9CE1A3-941B-4955-8B69-012C02EB8555}">
      <dsp:nvSpPr>
        <dsp:cNvPr id="0" name=""/>
        <dsp:cNvSpPr/>
      </dsp:nvSpPr>
      <dsp:spPr>
        <a:xfrm>
          <a:off x="0" y="2552809"/>
          <a:ext cx="4726201" cy="93555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229108" rIns="36680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Separate DAC/ADC chains for each antenna.</a:t>
          </a:r>
        </a:p>
      </dsp:txBody>
      <dsp:txXfrm>
        <a:off x="0" y="2552809"/>
        <a:ext cx="4726201" cy="935550"/>
      </dsp:txXfrm>
    </dsp:sp>
    <dsp:sp modelId="{8705E645-17E4-48EB-9A7E-60815DAB920F}">
      <dsp:nvSpPr>
        <dsp:cNvPr id="0" name=""/>
        <dsp:cNvSpPr/>
      </dsp:nvSpPr>
      <dsp:spPr>
        <a:xfrm>
          <a:off x="236310" y="2390449"/>
          <a:ext cx="3308340" cy="3247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889000">
            <a:lnSpc>
              <a:spcPct val="90000"/>
            </a:lnSpc>
            <a:spcBef>
              <a:spcPct val="0"/>
            </a:spcBef>
            <a:spcAft>
              <a:spcPct val="35000"/>
            </a:spcAft>
            <a:buNone/>
          </a:pPr>
          <a:r>
            <a:rPr lang="en-US" sz="2000" b="1" kern="1200"/>
            <a:t>3. Digital Beamforming</a:t>
          </a:r>
          <a:endParaRPr lang="en-US" sz="2000" kern="1200"/>
        </a:p>
      </dsp:txBody>
      <dsp:txXfrm>
        <a:off x="252162" y="2406301"/>
        <a:ext cx="3276636" cy="293016"/>
      </dsp:txXfrm>
    </dsp:sp>
    <dsp:sp modelId="{365880E5-40B8-44B6-BD10-3246278E657F}">
      <dsp:nvSpPr>
        <dsp:cNvPr id="0" name=""/>
        <dsp:cNvSpPr/>
      </dsp:nvSpPr>
      <dsp:spPr>
        <a:xfrm>
          <a:off x="0" y="3710119"/>
          <a:ext cx="4726201" cy="93555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229108" rIns="36680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Uses phase shifters (useful in mmWave).</a:t>
          </a:r>
        </a:p>
      </dsp:txBody>
      <dsp:txXfrm>
        <a:off x="0" y="3710119"/>
        <a:ext cx="4726201" cy="935550"/>
      </dsp:txXfrm>
    </dsp:sp>
    <dsp:sp modelId="{80353796-DAB2-4968-9B24-006871849C8C}">
      <dsp:nvSpPr>
        <dsp:cNvPr id="0" name=""/>
        <dsp:cNvSpPr/>
      </dsp:nvSpPr>
      <dsp:spPr>
        <a:xfrm>
          <a:off x="236310" y="3547759"/>
          <a:ext cx="3308340" cy="3247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889000">
            <a:lnSpc>
              <a:spcPct val="90000"/>
            </a:lnSpc>
            <a:spcBef>
              <a:spcPct val="0"/>
            </a:spcBef>
            <a:spcAft>
              <a:spcPct val="35000"/>
            </a:spcAft>
            <a:buNone/>
          </a:pPr>
          <a:r>
            <a:rPr lang="en-US" sz="2000" b="1" kern="1200"/>
            <a:t>4. Analog Beamforming</a:t>
          </a:r>
          <a:endParaRPr lang="en-US" sz="2000" kern="1200"/>
        </a:p>
      </dsp:txBody>
      <dsp:txXfrm>
        <a:off x="252162" y="3563611"/>
        <a:ext cx="3276636" cy="293016"/>
      </dsp:txXfrm>
    </dsp:sp>
    <dsp:sp modelId="{868A2914-B2D1-44D1-BEE5-C1F5604D63EC}">
      <dsp:nvSpPr>
        <dsp:cNvPr id="0" name=""/>
        <dsp:cNvSpPr/>
      </dsp:nvSpPr>
      <dsp:spPr>
        <a:xfrm>
          <a:off x="0" y="4867429"/>
          <a:ext cx="4726201" cy="987525"/>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6806" tIns="229108" rIns="36680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Combination of digital + analog</a:t>
          </a:r>
        </a:p>
        <a:p>
          <a:pPr marL="228600" lvl="1" indent="-228600" algn="l" defTabSz="889000">
            <a:lnSpc>
              <a:spcPct val="90000"/>
            </a:lnSpc>
            <a:spcBef>
              <a:spcPct val="0"/>
            </a:spcBef>
            <a:spcAft>
              <a:spcPct val="15000"/>
            </a:spcAft>
            <a:buChar char="•"/>
          </a:pPr>
          <a:r>
            <a:rPr lang="en-US" sz="2000" kern="1200"/>
            <a:t>Used in 5G to reduce RF chains.</a:t>
          </a:r>
        </a:p>
      </dsp:txBody>
      <dsp:txXfrm>
        <a:off x="0" y="4867429"/>
        <a:ext cx="4726201" cy="987525"/>
      </dsp:txXfrm>
    </dsp:sp>
    <dsp:sp modelId="{BF982DC8-8C33-4F59-BEC0-FE2D59245BA8}">
      <dsp:nvSpPr>
        <dsp:cNvPr id="0" name=""/>
        <dsp:cNvSpPr/>
      </dsp:nvSpPr>
      <dsp:spPr>
        <a:xfrm>
          <a:off x="236310" y="4705069"/>
          <a:ext cx="3308340" cy="32472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047" tIns="0" rIns="125047" bIns="0" numCol="1" spcCol="1270" anchor="ctr" anchorCtr="0">
          <a:noAutofit/>
        </a:bodyPr>
        <a:lstStyle/>
        <a:p>
          <a:pPr marL="0" lvl="0" indent="0" algn="l" defTabSz="889000">
            <a:lnSpc>
              <a:spcPct val="90000"/>
            </a:lnSpc>
            <a:spcBef>
              <a:spcPct val="0"/>
            </a:spcBef>
            <a:spcAft>
              <a:spcPct val="35000"/>
            </a:spcAft>
            <a:buNone/>
          </a:pPr>
          <a:r>
            <a:rPr lang="en-US" sz="2000" b="1" kern="1200"/>
            <a:t>5. Hybrid Beamforming</a:t>
          </a:r>
          <a:endParaRPr lang="en-US" sz="2000" kern="1200"/>
        </a:p>
      </dsp:txBody>
      <dsp:txXfrm>
        <a:off x="252162" y="4720921"/>
        <a:ext cx="3276636" cy="2930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A87DD4-02C5-4A84-9417-D89892989C35}">
      <dsp:nvSpPr>
        <dsp:cNvPr id="0" name=""/>
        <dsp:cNvSpPr/>
      </dsp:nvSpPr>
      <dsp:spPr>
        <a:xfrm>
          <a:off x="0" y="506884"/>
          <a:ext cx="4726201" cy="11536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Channel Estimation Accuracy:</a:t>
          </a:r>
          <a:r>
            <a:rPr lang="en-US" sz="2900" kern="1200"/>
            <a:t> </a:t>
          </a:r>
        </a:p>
      </dsp:txBody>
      <dsp:txXfrm>
        <a:off x="56315" y="563199"/>
        <a:ext cx="4613571" cy="1040990"/>
      </dsp:txXfrm>
    </dsp:sp>
    <dsp:sp modelId="{8EEBECEF-C36D-4642-9125-0DE206D28E45}">
      <dsp:nvSpPr>
        <dsp:cNvPr id="0" name=""/>
        <dsp:cNvSpPr/>
      </dsp:nvSpPr>
      <dsp:spPr>
        <a:xfrm>
          <a:off x="0" y="1744024"/>
          <a:ext cx="4726201" cy="115362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Feedback Overhead: </a:t>
          </a:r>
          <a:endParaRPr lang="en-US" sz="2900" kern="1200"/>
        </a:p>
      </dsp:txBody>
      <dsp:txXfrm>
        <a:off x="56315" y="1800339"/>
        <a:ext cx="4613571" cy="1040990"/>
      </dsp:txXfrm>
    </dsp:sp>
    <dsp:sp modelId="{2A5F6177-FD93-489F-8E15-2B92855A5456}">
      <dsp:nvSpPr>
        <dsp:cNvPr id="0" name=""/>
        <dsp:cNvSpPr/>
      </dsp:nvSpPr>
      <dsp:spPr>
        <a:xfrm>
          <a:off x="0" y="2981164"/>
          <a:ext cx="4726201" cy="115362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Complexity and Implementation Constraints: </a:t>
          </a:r>
          <a:endParaRPr lang="en-US" sz="2900" kern="1200"/>
        </a:p>
      </dsp:txBody>
      <dsp:txXfrm>
        <a:off x="56315" y="3037479"/>
        <a:ext cx="4613571" cy="1040990"/>
      </dsp:txXfrm>
    </dsp:sp>
    <dsp:sp modelId="{B6D066BE-7C9B-42A5-BE84-DA89C2E07A15}">
      <dsp:nvSpPr>
        <dsp:cNvPr id="0" name=""/>
        <dsp:cNvSpPr/>
      </dsp:nvSpPr>
      <dsp:spPr>
        <a:xfrm>
          <a:off x="0" y="4218304"/>
          <a:ext cx="4726201" cy="11536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Multiuser Interference: </a:t>
          </a:r>
          <a:endParaRPr lang="en-US" sz="2900" kern="1200"/>
        </a:p>
      </dsp:txBody>
      <dsp:txXfrm>
        <a:off x="56315" y="4274619"/>
        <a:ext cx="4613571" cy="104099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F2D6BB-4BB9-4762-AFA0-85F495645D42}">
      <dsp:nvSpPr>
        <dsp:cNvPr id="0" name=""/>
        <dsp:cNvSpPr/>
      </dsp:nvSpPr>
      <dsp:spPr>
        <a:xfrm>
          <a:off x="0" y="2439"/>
          <a:ext cx="47262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260736-1059-484B-8661-19DC79982ADE}">
      <dsp:nvSpPr>
        <dsp:cNvPr id="0" name=""/>
        <dsp:cNvSpPr/>
      </dsp:nvSpPr>
      <dsp:spPr>
        <a:xfrm>
          <a:off x="374076" y="280678"/>
          <a:ext cx="680139" cy="6801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1D9D88-2AEE-4479-B706-183FCE8D6F77}">
      <dsp:nvSpPr>
        <dsp:cNvPr id="0" name=""/>
        <dsp:cNvSpPr/>
      </dsp:nvSpPr>
      <dsp:spPr>
        <a:xfrm>
          <a:off x="1428292" y="2439"/>
          <a:ext cx="32979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1066800">
            <a:lnSpc>
              <a:spcPct val="90000"/>
            </a:lnSpc>
            <a:spcBef>
              <a:spcPct val="0"/>
            </a:spcBef>
            <a:spcAft>
              <a:spcPct val="35000"/>
            </a:spcAft>
            <a:buNone/>
          </a:pPr>
          <a:r>
            <a:rPr lang="en-US" sz="2400" b="0" i="0" kern="1200" baseline="0">
              <a:latin typeface="Times New Roman" panose="02020603050405020304" pitchFamily="18" charset="0"/>
              <a:cs typeface="Times New Roman" panose="02020603050405020304" pitchFamily="18" charset="0"/>
            </a:rPr>
            <a:t>LTE (explain MIMO modes)</a:t>
          </a:r>
          <a:endParaRPr lang="en-US" sz="2400" kern="1200">
            <a:latin typeface="Times New Roman" panose="02020603050405020304" pitchFamily="18" charset="0"/>
            <a:cs typeface="Times New Roman" panose="02020603050405020304" pitchFamily="18" charset="0"/>
          </a:endParaRPr>
        </a:p>
      </dsp:txBody>
      <dsp:txXfrm>
        <a:off x="1428292" y="2439"/>
        <a:ext cx="3297908" cy="1236616"/>
      </dsp:txXfrm>
    </dsp:sp>
    <dsp:sp modelId="{BA88FC23-AC13-42D7-BA34-D4EB97693E3A}">
      <dsp:nvSpPr>
        <dsp:cNvPr id="0" name=""/>
        <dsp:cNvSpPr/>
      </dsp:nvSpPr>
      <dsp:spPr>
        <a:xfrm>
          <a:off x="0" y="1548210"/>
          <a:ext cx="47262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5C4D62-351A-48AB-9CFC-97061B9A8CC7}">
      <dsp:nvSpPr>
        <dsp:cNvPr id="0" name=""/>
        <dsp:cNvSpPr/>
      </dsp:nvSpPr>
      <dsp:spPr>
        <a:xfrm>
          <a:off x="374076" y="1826449"/>
          <a:ext cx="680139" cy="6801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ED5DB0-CF9D-4FAD-A0C9-1D9544C3955E}">
      <dsp:nvSpPr>
        <dsp:cNvPr id="0" name=""/>
        <dsp:cNvSpPr/>
      </dsp:nvSpPr>
      <dsp:spPr>
        <a:xfrm>
          <a:off x="1428292" y="1548210"/>
          <a:ext cx="32979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1066800">
            <a:lnSpc>
              <a:spcPct val="90000"/>
            </a:lnSpc>
            <a:spcBef>
              <a:spcPct val="0"/>
            </a:spcBef>
            <a:spcAft>
              <a:spcPct val="35000"/>
            </a:spcAft>
            <a:buNone/>
          </a:pPr>
          <a:r>
            <a:rPr lang="en-US" sz="2400" b="0" i="0" kern="1200" baseline="0">
              <a:latin typeface="Times New Roman" panose="02020603050405020304" pitchFamily="18" charset="0"/>
              <a:cs typeface="Times New Roman" panose="02020603050405020304" pitchFamily="18" charset="0"/>
            </a:rPr>
            <a:t>Wi-Fi</a:t>
          </a:r>
          <a:endParaRPr lang="en-US" sz="2400" kern="1200">
            <a:latin typeface="Times New Roman" panose="02020603050405020304" pitchFamily="18" charset="0"/>
            <a:cs typeface="Times New Roman" panose="02020603050405020304" pitchFamily="18" charset="0"/>
          </a:endParaRPr>
        </a:p>
      </dsp:txBody>
      <dsp:txXfrm>
        <a:off x="1428292" y="1548210"/>
        <a:ext cx="3297908" cy="1236616"/>
      </dsp:txXfrm>
    </dsp:sp>
    <dsp:sp modelId="{A7263F73-D61B-40DC-A883-643F0A0A11DE}">
      <dsp:nvSpPr>
        <dsp:cNvPr id="0" name=""/>
        <dsp:cNvSpPr/>
      </dsp:nvSpPr>
      <dsp:spPr>
        <a:xfrm>
          <a:off x="0" y="3093981"/>
          <a:ext cx="47262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E8AD56-9074-4750-A1E6-675B887AF0D7}">
      <dsp:nvSpPr>
        <dsp:cNvPr id="0" name=""/>
        <dsp:cNvSpPr/>
      </dsp:nvSpPr>
      <dsp:spPr>
        <a:xfrm>
          <a:off x="374076" y="3372220"/>
          <a:ext cx="680139" cy="6801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607668-BB2B-4A2B-8445-87953D1B3463}">
      <dsp:nvSpPr>
        <dsp:cNvPr id="0" name=""/>
        <dsp:cNvSpPr/>
      </dsp:nvSpPr>
      <dsp:spPr>
        <a:xfrm>
          <a:off x="1428292" y="3093981"/>
          <a:ext cx="32979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1066800">
            <a:lnSpc>
              <a:spcPct val="90000"/>
            </a:lnSpc>
            <a:spcBef>
              <a:spcPct val="0"/>
            </a:spcBef>
            <a:spcAft>
              <a:spcPct val="35000"/>
            </a:spcAft>
            <a:buNone/>
          </a:pPr>
          <a:r>
            <a:rPr lang="en-US" sz="2400" b="0" i="0" kern="1200" baseline="0">
              <a:latin typeface="Times New Roman" panose="02020603050405020304" pitchFamily="18" charset="0"/>
              <a:cs typeface="Times New Roman" panose="02020603050405020304" pitchFamily="18" charset="0"/>
            </a:rPr>
            <a:t>Wireless backhaul</a:t>
          </a:r>
          <a:endParaRPr lang="en-US" sz="2400" kern="1200">
            <a:latin typeface="Times New Roman" panose="02020603050405020304" pitchFamily="18" charset="0"/>
            <a:cs typeface="Times New Roman" panose="02020603050405020304" pitchFamily="18" charset="0"/>
          </a:endParaRPr>
        </a:p>
      </dsp:txBody>
      <dsp:txXfrm>
        <a:off x="1428292" y="3093981"/>
        <a:ext cx="3297908" cy="1236616"/>
      </dsp:txXfrm>
    </dsp:sp>
    <dsp:sp modelId="{081593B4-CAC8-48DE-85D6-D21C8D71EBDC}">
      <dsp:nvSpPr>
        <dsp:cNvPr id="0" name=""/>
        <dsp:cNvSpPr/>
      </dsp:nvSpPr>
      <dsp:spPr>
        <a:xfrm>
          <a:off x="0" y="4639752"/>
          <a:ext cx="47262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A76D8B-A81E-4DAD-84B9-EF949A88F9E0}">
      <dsp:nvSpPr>
        <dsp:cNvPr id="0" name=""/>
        <dsp:cNvSpPr/>
      </dsp:nvSpPr>
      <dsp:spPr>
        <a:xfrm>
          <a:off x="374076" y="4917991"/>
          <a:ext cx="680139" cy="6801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F91D02-31B1-46E1-A132-499871034E3B}">
      <dsp:nvSpPr>
        <dsp:cNvPr id="0" name=""/>
        <dsp:cNvSpPr/>
      </dsp:nvSpPr>
      <dsp:spPr>
        <a:xfrm>
          <a:off x="1428292" y="4639752"/>
          <a:ext cx="32979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1066800">
            <a:lnSpc>
              <a:spcPct val="90000"/>
            </a:lnSpc>
            <a:spcBef>
              <a:spcPct val="0"/>
            </a:spcBef>
            <a:spcAft>
              <a:spcPct val="35000"/>
            </a:spcAft>
            <a:buNone/>
          </a:pPr>
          <a:r>
            <a:rPr lang="en-US" sz="2400" b="0" i="0" kern="1200" baseline="0">
              <a:latin typeface="Times New Roman" panose="02020603050405020304" pitchFamily="18" charset="0"/>
              <a:cs typeface="Times New Roman" panose="02020603050405020304" pitchFamily="18" charset="0"/>
            </a:rPr>
            <a:t>5G massive MIMO</a:t>
          </a:r>
          <a:endParaRPr lang="en-US" sz="2400" kern="1200">
            <a:latin typeface="Times New Roman" panose="02020603050405020304" pitchFamily="18" charset="0"/>
            <a:cs typeface="Times New Roman" panose="02020603050405020304" pitchFamily="18" charset="0"/>
          </a:endParaRPr>
        </a:p>
      </dsp:txBody>
      <dsp:txXfrm>
        <a:off x="1428292" y="4639752"/>
        <a:ext cx="3297908" cy="123661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6A2B23-253C-4CB3-BBBB-82EDD4515B2E}" type="datetimeFigureOut">
              <a:rPr lang="en-US" smtClean="0"/>
              <a:t>11/30/2025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1E985-387E-4400-B108-EA1B51C5B9E2}" type="slidenum">
              <a:rPr lang="en-US" smtClean="0"/>
              <a:t>‹#›</a:t>
            </a:fld>
            <a:endParaRPr lang="en-US"/>
          </a:p>
        </p:txBody>
      </p:sp>
    </p:spTree>
    <p:extLst>
      <p:ext uri="{BB962C8B-B14F-4D97-AF65-F5344CB8AC3E}">
        <p14:creationId xmlns:p14="http://schemas.microsoft.com/office/powerpoint/2010/main" val="268535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charset="-128"/>
            </a:endParaRPr>
          </a:p>
        </p:txBody>
      </p:sp>
      <p:sp>
        <p:nvSpPr>
          <p:cNvPr id="15363" name="Slide Number Placeholder 3"/>
          <p:cNvSpPr>
            <a:spLocks noGrp="1"/>
          </p:cNvSpPr>
          <p:nvPr>
            <p:ph type="sldNum" sz="quarter" idx="5"/>
          </p:nvPr>
        </p:nvSpPr>
        <p:spPr bwMode="auto">
          <a:noFill/>
          <a:ln>
            <a:miter lim="800000"/>
            <a:headEnd/>
            <a:tailEnd/>
          </a:ln>
        </p:spPr>
        <p:txBody>
          <a:bodyPr/>
          <a:lstStyle/>
          <a:p>
            <a:fld id="{347E1331-397A-4A4B-A652-1EAF84AD9D1F}"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7</a:t>
            </a:fld>
            <a:endParaRPr lang="en-US"/>
          </a:p>
        </p:txBody>
      </p:sp>
    </p:spTree>
    <p:extLst>
      <p:ext uri="{BB962C8B-B14F-4D97-AF65-F5344CB8AC3E}">
        <p14:creationId xmlns:p14="http://schemas.microsoft.com/office/powerpoint/2010/main" val="1443816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16</a:t>
            </a:fld>
            <a:endParaRPr lang="en-US"/>
          </a:p>
        </p:txBody>
      </p:sp>
    </p:spTree>
    <p:extLst>
      <p:ext uri="{BB962C8B-B14F-4D97-AF65-F5344CB8AC3E}">
        <p14:creationId xmlns:p14="http://schemas.microsoft.com/office/powerpoint/2010/main" val="4112418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methods utilize known pilot symbols or reference signals to estimate the channel coefficients. </a:t>
            </a:r>
          </a:p>
          <a:p>
            <a:r>
              <a:rPr lang="en-US" dirty="0"/>
              <a:t>SVD-based methods exploit the properties of the MIMO channel and perform SVD on the received signal to estimate the channel matrix.</a:t>
            </a:r>
            <a:endParaRPr lang="en-US" dirty="0">
              <a:ea typeface="Calibri"/>
              <a:cs typeface="Calibri"/>
            </a:endParaRPr>
          </a:p>
          <a:p>
            <a:r>
              <a:rPr lang="en-US" dirty="0"/>
              <a:t>Techniques such as Discrete Fourier Transform (DFT) or Discrete Wavelet Transform (DWT) can be used to estimate channel coefficients based on the characteristics of the channel in the time and frequency domains.</a:t>
            </a:r>
            <a:endParaRPr lang="en-US" dirty="0">
              <a:ea typeface="Calibri" panose="020F0502020204030204"/>
              <a:cs typeface="Calibri" panose="020F0502020204030204"/>
            </a:endParaRPr>
          </a:p>
          <a:p>
            <a:r>
              <a:rPr lang="en-US" dirty="0"/>
              <a:t> Compressed sensing techniques exploit the sparse nature of the MIMO channel to estimate the channel coefficients using methods like Basis Pursuit (BP) or Orthogonal Matching Pursuit (OMP).</a:t>
            </a:r>
            <a:endParaRPr lang="en-US" dirty="0">
              <a:ea typeface="Calibri" panose="020F0502020204030204"/>
              <a:cs typeface="Calibri" panose="020F0502020204030204"/>
            </a:endParaRPr>
          </a:p>
          <a:p>
            <a:r>
              <a:rPr lang="en-US" dirty="0"/>
              <a:t>Blind estimation techniques aim to estimate the channel characteristics without relying on known pilot symbols. These methods include spatial covariance-based approaches, Independent Component Analysis (ICA), higher-order statistics (HOS), and blind Maximum Likelihood (ML) estimation.</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D31E985-387E-4400-B108-EA1B51C5B9E2}" type="slidenum">
              <a:rPr lang="en-US" smtClean="0"/>
              <a:t>22</a:t>
            </a:fld>
            <a:endParaRPr lang="en-US"/>
          </a:p>
        </p:txBody>
      </p:sp>
    </p:spTree>
    <p:extLst>
      <p:ext uri="{BB962C8B-B14F-4D97-AF65-F5344CB8AC3E}">
        <p14:creationId xmlns:p14="http://schemas.microsoft.com/office/powerpoint/2010/main" val="3488132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31</a:t>
            </a:fld>
            <a:endParaRPr lang="en-US"/>
          </a:p>
        </p:txBody>
      </p:sp>
    </p:spTree>
    <p:extLst>
      <p:ext uri="{BB962C8B-B14F-4D97-AF65-F5344CB8AC3E}">
        <p14:creationId xmlns:p14="http://schemas.microsoft.com/office/powerpoint/2010/main" val="1900973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Accurate channel estimation is essential for effective beamforming. Errors or inaccuracies in channel estimation can degrade the performance of beamforming algorithms and result in reduced signal quality or increased interference.</a:t>
            </a:r>
          </a:p>
          <a:p>
            <a:r>
              <a:rPr lang="en-US" dirty="0"/>
              <a:t>In certain MIMO systems, such as those with multiple transmit antennas, channel state information (CSI) feedback from the receiver to the transmitter is required for beamforming. This feedback incurs additional overhead in terms of bandwidth and latency.</a:t>
            </a:r>
            <a:endParaRPr lang="en-US" dirty="0">
              <a:cs typeface="Calibri"/>
            </a:endParaRPr>
          </a:p>
          <a:p>
            <a:r>
              <a:rPr lang="en-US" dirty="0"/>
              <a:t>Beamforming algorithms can be computationally complex, particularly for systems with a large number of antennas or high-dimensional channel matrices. Real-time implementation and hardware constraints must be considered.</a:t>
            </a:r>
            <a:endParaRPr lang="en-US" dirty="0">
              <a:cs typeface="Calibri" panose="020F0502020204030204"/>
            </a:endParaRPr>
          </a:p>
          <a:p>
            <a:pPr marL="228600" indent="-228600">
              <a:lnSpc>
                <a:spcPct val="90000"/>
              </a:lnSpc>
              <a:spcBef>
                <a:spcPts val="1000"/>
              </a:spcBef>
              <a:buAutoNum type="arabicPeriod"/>
            </a:pPr>
            <a:r>
              <a:rPr lang="en-US"/>
              <a:t>Beamforming in multiuser MIMO systems requires careful coordination to avoid or minimize interference among different users. Techniques such as interference alignment or multiuser beamforming can be employed to address this challenge.</a:t>
            </a:r>
            <a:endParaRPr lang="en-US" dirty="0"/>
          </a:p>
          <a:p>
            <a:pPr marL="171450" indent="-171450">
              <a:lnSpc>
                <a:spcPct val="90000"/>
              </a:lnSpc>
              <a:spcBef>
                <a:spcPts val="1000"/>
              </a:spcBef>
              <a:buFont typeface="Arial"/>
              <a:buChar char="•"/>
            </a:pPr>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9D31E985-387E-4400-B108-EA1B51C5B9E2}" type="slidenum">
              <a:rPr lang="en-US" smtClean="0"/>
              <a:t>33</a:t>
            </a:fld>
            <a:endParaRPr lang="en-US"/>
          </a:p>
        </p:txBody>
      </p:sp>
    </p:spTree>
    <p:extLst>
      <p:ext uri="{BB962C8B-B14F-4D97-AF65-F5344CB8AC3E}">
        <p14:creationId xmlns:p14="http://schemas.microsoft.com/office/powerpoint/2010/main" val="3610894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MU-MIMO enables the base station to transmit data to multiple users concurrently by utilizing multiple antennas. It allows for the simultaneous transmission of different data streams to different users on the same frequency and time resources.</a:t>
            </a:r>
          </a:p>
          <a:p>
            <a:r>
              <a:rPr lang="en-US" dirty="0"/>
              <a:t>By serving multiple users simultaneously, MU-MIMO improves spectral efficiency. It maximizes the utilization of available frequency bands, increasing the overall capacity of the wireless network.</a:t>
            </a:r>
            <a:endParaRPr lang="en-US" dirty="0">
              <a:cs typeface="Calibri"/>
            </a:endParaRPr>
          </a:p>
          <a:p>
            <a:r>
              <a:rPr lang="en-US" dirty="0"/>
              <a:t>MU-MIMO uses advanced signal processing techniques and beamforming to mitigate interference among users. By steering beams towards intended users and suppressing interference from other users, MU-MIMO enhances signal quality and network performance.</a:t>
            </a:r>
            <a:endParaRPr lang="en-US" dirty="0">
              <a:cs typeface="Calibri" panose="020F0502020204030204"/>
            </a:endParaRPr>
          </a:p>
          <a:p>
            <a:r>
              <a:rPr lang="en-US" dirty="0"/>
              <a:t>MU-MIMO algorithms aim to achieve fairness among users by dynamically allocating resources based on user requirements and channel conditions. This ensures that all users receive a fair share of network resources and maintain a certain level of quality of service.</a:t>
            </a:r>
            <a:endParaRPr lang="en-US" dirty="0">
              <a:cs typeface="Calibri"/>
            </a:endParaRPr>
          </a:p>
          <a:p>
            <a:r>
              <a:rPr lang="en-US"/>
              <a:t>MU-MIMO can adapt to varying device capabilities. It can serve users with different numbers of antennas, allowing devices with fewer antennas to benefit from improved signal quality and reduced interference even if they cannot fully exploit the spatial multiplexing benefits of MU-MIMO.</a:t>
            </a:r>
          </a:p>
          <a:p>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9D31E985-387E-4400-B108-EA1B51C5B9E2}" type="slidenum">
              <a:rPr lang="en-US" smtClean="0"/>
              <a:t>39</a:t>
            </a:fld>
            <a:endParaRPr lang="en-US"/>
          </a:p>
        </p:txBody>
      </p:sp>
    </p:spTree>
    <p:extLst>
      <p:ext uri="{BB962C8B-B14F-4D97-AF65-F5344CB8AC3E}">
        <p14:creationId xmlns:p14="http://schemas.microsoft.com/office/powerpoint/2010/main" val="3593303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655132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944058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78860F-9BD5-42E1-91FE-31F6B999C27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567230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78860F-9BD5-42E1-91FE-31F6B999C27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34795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78860F-9BD5-42E1-91FE-31F6B999C27B}"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08092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78860F-9BD5-42E1-91FE-31F6B999C27B}"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33772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8860F-9BD5-42E1-91FE-31F6B999C27B}"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858613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5605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29607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4014580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715569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78860F-9BD5-42E1-91FE-31F6B999C27B}" type="datetimeFigureOut">
              <a:rPr lang="en-US" smtClean="0"/>
              <a:t>11/30/2025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943F1-416A-4DD9-B254-68C50F22A07F}" type="slidenum">
              <a:rPr lang="en-US" smtClean="0"/>
              <a:t>‹#›</a:t>
            </a:fld>
            <a:endParaRPr lang="en-US"/>
          </a:p>
        </p:txBody>
      </p:sp>
    </p:spTree>
    <p:extLst>
      <p:ext uri="{BB962C8B-B14F-4D97-AF65-F5344CB8AC3E}">
        <p14:creationId xmlns:p14="http://schemas.microsoft.com/office/powerpoint/2010/main" val="1135468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mailto:i.chatzigeorgiou@lancaster.ac.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 Id="rId9" Type="http://schemas.openxmlformats.org/officeDocument/2006/relationships/image" Target="../media/image7.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9.wmf"/><Relationship Id="rId4" Type="http://schemas.openxmlformats.org/officeDocument/2006/relationships/oleObject" Target="../embeddings/oleObject6.bin"/><Relationship Id="rId9" Type="http://schemas.openxmlformats.org/officeDocument/2006/relationships/image" Target="../media/image11.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2.wmf"/><Relationship Id="rId7" Type="http://schemas.openxmlformats.org/officeDocument/2006/relationships/image" Target="../media/image14.wmf"/><Relationship Id="rId12"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oleObject" Target="../embeddings/oleObject14.bin"/><Relationship Id="rId5" Type="http://schemas.openxmlformats.org/officeDocument/2006/relationships/image" Target="../media/image13.wmf"/><Relationship Id="rId10" Type="http://schemas.openxmlformats.org/officeDocument/2006/relationships/image" Target="../media/image15.wmf"/><Relationship Id="rId4" Type="http://schemas.openxmlformats.org/officeDocument/2006/relationships/oleObject" Target="../embeddings/oleObject10.bin"/><Relationship Id="rId9"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11.wmf"/><Relationship Id="rId18" Type="http://schemas.openxmlformats.org/officeDocument/2006/relationships/oleObject" Target="../embeddings/oleObject23.bin"/><Relationship Id="rId3" Type="http://schemas.openxmlformats.org/officeDocument/2006/relationships/image" Target="../media/image8.wmf"/><Relationship Id="rId7" Type="http://schemas.openxmlformats.org/officeDocument/2006/relationships/image" Target="../media/image10.wmf"/><Relationship Id="rId12" Type="http://schemas.openxmlformats.org/officeDocument/2006/relationships/oleObject" Target="../embeddings/oleObject20.bin"/><Relationship Id="rId17" Type="http://schemas.openxmlformats.org/officeDocument/2006/relationships/image" Target="../media/image19.wmf"/><Relationship Id="rId2" Type="http://schemas.openxmlformats.org/officeDocument/2006/relationships/oleObject" Target="../embeddings/oleObject15.bin"/><Relationship Id="rId16"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17.wmf"/><Relationship Id="rId5" Type="http://schemas.openxmlformats.org/officeDocument/2006/relationships/image" Target="../media/image9.wmf"/><Relationship Id="rId15" Type="http://schemas.openxmlformats.org/officeDocument/2006/relationships/image" Target="../media/image18.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16.wmf"/><Relationship Id="rId14" Type="http://schemas.openxmlformats.org/officeDocument/2006/relationships/oleObject" Target="../embeddings/oleObject21.bin"/></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image" Target="../media/image23.wmf"/><Relationship Id="rId4" Type="http://schemas.openxmlformats.org/officeDocument/2006/relationships/oleObject" Target="../embeddings/oleObject25.bin"/><Relationship Id="rId9" Type="http://schemas.openxmlformats.org/officeDocument/2006/relationships/image" Target="../media/image25.wmf"/></Relationships>
</file>

<file path=ppt/slides/_rels/slide10.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3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SSC-slide-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11" name="Text Box 9"/>
          <p:cNvSpPr txBox="1">
            <a:spLocks noChangeArrowheads="1"/>
          </p:cNvSpPr>
          <p:nvPr/>
        </p:nvSpPr>
        <p:spPr bwMode="auto">
          <a:xfrm>
            <a:off x="1821912" y="4403909"/>
            <a:ext cx="4697322" cy="738664"/>
          </a:xfrm>
          <a:prstGeom prst="rect">
            <a:avLst/>
          </a:prstGeom>
          <a:noFill/>
          <a:ln w="9525">
            <a:noFill/>
            <a:miter lim="800000"/>
            <a:headEnd/>
            <a:tailEnd/>
          </a:ln>
        </p:spPr>
        <p:txBody>
          <a:bodyPr wrap="square" lIns="91440" tIns="45720" rIns="91440" bIns="45720" anchor="t">
            <a:spAutoFit/>
          </a:bodyPr>
          <a:lstStyle/>
          <a:p>
            <a:pPr eaLnBrk="1" hangingPunct="1">
              <a:spcBef>
                <a:spcPts val="0"/>
              </a:spcBef>
              <a:buClr>
                <a:schemeClr val="tx1"/>
              </a:buClr>
            </a:pPr>
            <a:r>
              <a:rPr lang="en-US" dirty="0">
                <a:latin typeface="Arial"/>
                <a:ea typeface="ヒラギノ角ゴ Pro W3"/>
                <a:cs typeface="Arial"/>
              </a:rPr>
              <a:t>Dr Muhammad Abrar (Dr. MAB)</a:t>
            </a:r>
            <a:endParaRPr lang="en-US" dirty="0"/>
          </a:p>
          <a:p>
            <a:pPr eaLnBrk="1" hangingPunct="1">
              <a:spcBef>
                <a:spcPts val="0"/>
              </a:spcBef>
              <a:buClr>
                <a:schemeClr val="tx1"/>
              </a:buClr>
            </a:pP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m.</a:t>
            </a:r>
            <a:r>
              <a:rPr lang="en-GB" sz="1800" dirty="0">
                <a:solidFill>
                  <a:srgbClr val="000000"/>
                </a:solidFill>
                <a:latin typeface="Arial"/>
                <a:ea typeface="ヒラギノ角ゴ Pro W3"/>
                <a:cs typeface="ヒラギノ角ゴ Pro W3" charset="0"/>
                <a:hlinkClick r:id="rId4"/>
              </a:rPr>
              <a:t>abrar</a:t>
            </a: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@lancaster.ac.uk</a:t>
            </a:r>
            <a:endParaRPr lang="en-US" sz="1800" dirty="0">
              <a:latin typeface="Arial"/>
              <a:ea typeface="ヒラギノ角ゴ Pro W3"/>
              <a:hlinkClick r:id="rId4">
                <a:extLst>
                  <a:ext uri="{A12FA001-AC4F-418D-AE19-62706E023703}">
                    <ahyp:hlinkClr xmlns:ahyp="http://schemas.microsoft.com/office/drawing/2018/hyperlinkcolor" val="tx"/>
                  </a:ext>
                </a:extLst>
              </a:hlinkClick>
            </a:endParaRPr>
          </a:p>
        </p:txBody>
      </p:sp>
      <p:sp>
        <p:nvSpPr>
          <p:cNvPr id="12" name="Title 1"/>
          <p:cNvSpPr>
            <a:spLocks noGrp="1"/>
          </p:cNvSpPr>
          <p:nvPr>
            <p:ph type="title"/>
          </p:nvPr>
        </p:nvSpPr>
        <p:spPr>
          <a:xfrm>
            <a:off x="1908175" y="1893316"/>
            <a:ext cx="5976194" cy="1967732"/>
          </a:xfrm>
        </p:spPr>
        <p:txBody>
          <a:bodyPr>
            <a:noAutofit/>
          </a:bodyPr>
          <a:lstStyle/>
          <a:p>
            <a:pPr algn="l"/>
            <a:br>
              <a:rPr lang="en-US" sz="3600" b="1" i="0" u="none" strike="noStrike" baseline="0" dirty="0">
                <a:latin typeface="Verdana" panose="020B0604030504040204" pitchFamily="34" charset="0"/>
              </a:rPr>
            </a:br>
            <a:r>
              <a:rPr lang="en-US" sz="3600" b="1" dirty="0">
                <a:solidFill>
                  <a:srgbClr val="000000"/>
                </a:solidFill>
                <a:latin typeface="Verdana"/>
                <a:ea typeface="Verdana"/>
              </a:rPr>
              <a:t>MIMO-2</a:t>
            </a:r>
            <a:br>
              <a:rPr lang="en-US" sz="3600" b="1" i="0" u="none" strike="noStrike" baseline="0" dirty="0">
                <a:latin typeface="Verdana" panose="020B0604030504040204" pitchFamily="34" charset="0"/>
              </a:rPr>
            </a:br>
            <a:endParaRPr lang="en-US" sz="3600" b="1" dirty="0">
              <a:solidFill>
                <a:schemeClr val="accent5">
                  <a:lumMod val="25000"/>
                </a:schemeClr>
              </a:solidFill>
              <a:latin typeface="Myriad Pro" charset="0"/>
            </a:endParaRPr>
          </a:p>
        </p:txBody>
      </p:sp>
      <p:sp>
        <p:nvSpPr>
          <p:cNvPr id="13" name="TextBox 3"/>
          <p:cNvSpPr txBox="1">
            <a:spLocks noChangeArrowheads="1"/>
          </p:cNvSpPr>
          <p:nvPr/>
        </p:nvSpPr>
        <p:spPr bwMode="auto">
          <a:xfrm>
            <a:off x="1908175" y="549275"/>
            <a:ext cx="4163319" cy="1031051"/>
          </a:xfrm>
          <a:prstGeom prst="rect">
            <a:avLst/>
          </a:prstGeom>
          <a:noFill/>
          <a:ln w="9525">
            <a:noFill/>
            <a:miter lim="800000"/>
            <a:headEnd/>
            <a:tailEnd/>
          </a:ln>
        </p:spPr>
        <p:txBody>
          <a:bodyPr wrap="none" lIns="91440" tIns="45720" rIns="91440" bIns="45720" anchor="t">
            <a:spAutoFit/>
          </a:bodyPr>
          <a:lstStyle/>
          <a:p>
            <a:pPr>
              <a:spcBef>
                <a:spcPts val="600"/>
              </a:spcBef>
            </a:pPr>
            <a:r>
              <a:rPr lang="en-US" sz="2800" dirty="0">
                <a:latin typeface="Arial"/>
                <a:ea typeface="ヒラギノ角ゴ Pro W3"/>
                <a:cs typeface="Arial"/>
              </a:rPr>
              <a:t>CNSCC.405</a:t>
            </a:r>
            <a:endParaRPr lang="en-US" dirty="0">
              <a:cs typeface="Arial" pitchFamily="34" charset="0"/>
            </a:endParaRPr>
          </a:p>
          <a:p>
            <a:pPr>
              <a:spcBef>
                <a:spcPts val="600"/>
              </a:spcBef>
            </a:pPr>
            <a:r>
              <a:rPr lang="en-US" sz="2800" dirty="0">
                <a:latin typeface="Arial"/>
                <a:ea typeface="ヒラギノ角ゴ Pro W3"/>
                <a:cs typeface="Arial"/>
              </a:rPr>
              <a:t>Digital Signal Processing</a:t>
            </a:r>
            <a:endParaRPr lang="en-US" dirty="0">
              <a:cs typeface="Arial"/>
            </a:endParaRPr>
          </a:p>
        </p:txBody>
      </p:sp>
      <p:grpSp>
        <p:nvGrpSpPr>
          <p:cNvPr id="2" name="Group 1"/>
          <p:cNvGrpSpPr/>
          <p:nvPr/>
        </p:nvGrpSpPr>
        <p:grpSpPr>
          <a:xfrm>
            <a:off x="203200" y="194733"/>
            <a:ext cx="1312334" cy="821267"/>
            <a:chOff x="203200" y="194733"/>
            <a:chExt cx="1312334" cy="821267"/>
          </a:xfrm>
        </p:grpSpPr>
        <p:sp>
          <p:nvSpPr>
            <p:cNvPr id="16" name="Rectangle 15"/>
            <p:cNvSpPr/>
            <p:nvPr userDrawn="1"/>
          </p:nvSpPr>
          <p:spPr bwMode="auto">
            <a:xfrm>
              <a:off x="203200" y="194733"/>
              <a:ext cx="1312334" cy="82126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Arial" pitchFamily="34" charset="0"/>
                <a:ea typeface="ヒラギノ角ゴ Pro W3" charset="-128"/>
              </a:endParaRPr>
            </a:p>
          </p:txBody>
        </p:sp>
        <p:pic>
          <p:nvPicPr>
            <p:cNvPr id="17" name="Picture 2" descr="\\lancs\homes\05\chatzige\My Desktop\bg-logo.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10480" y="456159"/>
              <a:ext cx="1082502" cy="338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Tm="35928"/>
    </mc:Choice>
    <mc:Fallback xmlns="">
      <p:transition spd="slow" advTm="3592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ell towers">
            <a:extLst>
              <a:ext uri="{FF2B5EF4-FFF2-40B4-BE49-F238E27FC236}">
                <a16:creationId xmlns:a16="http://schemas.microsoft.com/office/drawing/2014/main" id="{85C3E95A-0117-07D2-FE45-C7F0BDDEBDEC}"/>
              </a:ext>
            </a:extLst>
          </p:cNvPr>
          <p:cNvPicPr>
            <a:picLocks noChangeAspect="1"/>
          </p:cNvPicPr>
          <p:nvPr/>
        </p:nvPicPr>
        <p:blipFill>
          <a:blip r:embed="rId2"/>
          <a:srcRect l="60507" r="-2" b="-2"/>
          <a:stretch>
            <a:fillRect/>
          </a:stretch>
        </p:blipFill>
        <p:spPr>
          <a:xfrm>
            <a:off x="20" y="-2"/>
            <a:ext cx="3435619" cy="6858002"/>
          </a:xfrm>
          <a:prstGeom prst="rect">
            <a:avLst/>
          </a:prstGeom>
        </p:spPr>
      </p:pic>
      <p:sp>
        <p:nvSpPr>
          <p:cNvPr id="2" name="Title 1">
            <a:extLst>
              <a:ext uri="{FF2B5EF4-FFF2-40B4-BE49-F238E27FC236}">
                <a16:creationId xmlns:a16="http://schemas.microsoft.com/office/drawing/2014/main" id="{DFDA1222-0556-C85B-C990-262A5068F0DA}"/>
              </a:ext>
            </a:extLst>
          </p:cNvPr>
          <p:cNvSpPr>
            <a:spLocks noGrp="1"/>
          </p:cNvSpPr>
          <p:nvPr>
            <p:ph type="title"/>
          </p:nvPr>
        </p:nvSpPr>
        <p:spPr>
          <a:xfrm>
            <a:off x="3900999" y="187970"/>
            <a:ext cx="4098726" cy="1559301"/>
          </a:xfrm>
        </p:spPr>
        <p:txBody>
          <a:bodyPr>
            <a:normAutofit/>
          </a:bodyPr>
          <a:lstStyle/>
          <a:p>
            <a:r>
              <a:rPr lang="en-US" sz="3500" b="1" dirty="0">
                <a:latin typeface="Times New Roman" panose="02020603050405020304" pitchFamily="18" charset="0"/>
                <a:cs typeface="Times New Roman" panose="02020603050405020304" pitchFamily="18" charset="0"/>
              </a:rPr>
              <a:t>MIMO</a:t>
            </a:r>
          </a:p>
        </p:txBody>
      </p:sp>
      <p:sp>
        <p:nvSpPr>
          <p:cNvPr id="4" name="Content Placeholder 2">
            <a:extLst>
              <a:ext uri="{FF2B5EF4-FFF2-40B4-BE49-F238E27FC236}">
                <a16:creationId xmlns:a16="http://schemas.microsoft.com/office/drawing/2014/main" id="{C4B6442C-3CD3-3F92-552F-DD1293EFB2E5}"/>
              </a:ext>
            </a:extLst>
          </p:cNvPr>
          <p:cNvSpPr>
            <a:spLocks noGrp="1"/>
          </p:cNvSpPr>
          <p:nvPr>
            <p:ph idx="1"/>
          </p:nvPr>
        </p:nvSpPr>
        <p:spPr>
          <a:xfrm>
            <a:off x="3592287" y="2285999"/>
            <a:ext cx="4929706" cy="3496878"/>
          </a:xfrm>
        </p:spPr>
        <p:txBody>
          <a:bodyPr anchor="ctr">
            <a:noAutofit/>
          </a:bodyPr>
          <a:lstStyle/>
          <a:p>
            <a:r>
              <a:rPr lang="en-US" altLang="en-US" sz="2400" dirty="0"/>
              <a:t>As there are multiple antennas, MIMO systems can be employed for diversity gain.</a:t>
            </a:r>
          </a:p>
          <a:p>
            <a:r>
              <a:rPr lang="en-US" altLang="en-US" sz="2400" dirty="0"/>
              <a:t>MIMO can increase the data rate by transmitting several information streams in parallel</a:t>
            </a:r>
          </a:p>
          <a:p>
            <a:r>
              <a:rPr lang="en-US" altLang="en-US" sz="2400" dirty="0"/>
              <a:t>It is also known as spatial multiplexing as information is multiplexed over parallel streams in space</a:t>
            </a:r>
          </a:p>
          <a:p>
            <a:r>
              <a:rPr lang="en-US" altLang="en-US" sz="2400" dirty="0"/>
              <a:t>This is possible by using multidimensional signal processing</a:t>
            </a:r>
          </a:p>
        </p:txBody>
      </p:sp>
    </p:spTree>
    <p:extLst>
      <p:ext uri="{BB962C8B-B14F-4D97-AF65-F5344CB8AC3E}">
        <p14:creationId xmlns:p14="http://schemas.microsoft.com/office/powerpoint/2010/main" val="2181709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a:extLst>
              <a:ext uri="{FF2B5EF4-FFF2-40B4-BE49-F238E27FC236}">
                <a16:creationId xmlns:a16="http://schemas.microsoft.com/office/drawing/2014/main" id="{CE3A5509-B462-4CA9-1294-EBF33AEC7A93}"/>
              </a:ext>
            </a:extLst>
          </p:cNvPr>
          <p:cNvSpPr>
            <a:spLocks noGrp="1"/>
          </p:cNvSpPr>
          <p:nvPr>
            <p:ph type="title"/>
          </p:nvPr>
        </p:nvSpPr>
        <p:spPr>
          <a:xfrm>
            <a:off x="628650" y="365126"/>
            <a:ext cx="7886700" cy="389980"/>
          </a:xfrm>
        </p:spPr>
        <p:txBody>
          <a:bodyPr>
            <a:normAutofit fontScale="90000"/>
          </a:bodyPr>
          <a:lstStyle/>
          <a:p>
            <a:r>
              <a:rPr lang="en-US" altLang="en-US" b="1" dirty="0"/>
              <a:t>MIMO-</a:t>
            </a:r>
            <a:r>
              <a:rPr lang="en-US" altLang="en-US" sz="3600" b="1" dirty="0"/>
              <a:t>Multiple Input Multiple Output</a:t>
            </a:r>
          </a:p>
        </p:txBody>
      </p:sp>
      <p:grpSp>
        <p:nvGrpSpPr>
          <p:cNvPr id="2" name="Group 1">
            <a:extLst>
              <a:ext uri="{FF2B5EF4-FFF2-40B4-BE49-F238E27FC236}">
                <a16:creationId xmlns:a16="http://schemas.microsoft.com/office/drawing/2014/main" id="{70EF9E09-ECAD-C379-C639-F55364C07BF3}"/>
              </a:ext>
            </a:extLst>
          </p:cNvPr>
          <p:cNvGrpSpPr/>
          <p:nvPr/>
        </p:nvGrpSpPr>
        <p:grpSpPr>
          <a:xfrm>
            <a:off x="145290" y="1460451"/>
            <a:ext cx="8928100" cy="3938588"/>
            <a:chOff x="215900" y="1981200"/>
            <a:chExt cx="8928100" cy="3938588"/>
          </a:xfrm>
        </p:grpSpPr>
        <p:graphicFrame>
          <p:nvGraphicFramePr>
            <p:cNvPr id="17412" name="Object 2">
              <a:extLst>
                <a:ext uri="{FF2B5EF4-FFF2-40B4-BE49-F238E27FC236}">
                  <a16:creationId xmlns:a16="http://schemas.microsoft.com/office/drawing/2014/main" id="{B88986B9-E707-8D31-AA69-9A955E0B088F}"/>
                </a:ext>
              </a:extLst>
            </p:cNvPr>
            <p:cNvGraphicFramePr>
              <a:graphicFrameLocks noChangeAspect="1"/>
            </p:cNvGraphicFramePr>
            <p:nvPr/>
          </p:nvGraphicFramePr>
          <p:xfrm>
            <a:off x="2438400" y="2160588"/>
            <a:ext cx="685800" cy="2335212"/>
          </p:xfrm>
          <a:graphic>
            <a:graphicData uri="http://schemas.openxmlformats.org/presentationml/2006/ole">
              <mc:AlternateContent xmlns:mc="http://schemas.openxmlformats.org/markup-compatibility/2006">
                <mc:Choice xmlns:v="urn:schemas-microsoft-com:vml" Requires="v">
                  <p:oleObj name="Equation" r:id="rId2" imgW="342751" imgH="1167893" progId="Equation.DSMT4">
                    <p:embed/>
                  </p:oleObj>
                </mc:Choice>
                <mc:Fallback>
                  <p:oleObj name="Equation" r:id="rId2" imgW="342751" imgH="1167893" progId="Equation.DSMT4">
                    <p:embed/>
                    <p:pic>
                      <p:nvPicPr>
                        <p:cNvPr id="17412" name="Object 2">
                          <a:extLst>
                            <a:ext uri="{FF2B5EF4-FFF2-40B4-BE49-F238E27FC236}">
                              <a16:creationId xmlns:a16="http://schemas.microsoft.com/office/drawing/2014/main" id="{B88986B9-E707-8D31-AA69-9A955E0B0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160588"/>
                          <a:ext cx="685800" cy="233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3" name="Object 3">
              <a:extLst>
                <a:ext uri="{FF2B5EF4-FFF2-40B4-BE49-F238E27FC236}">
                  <a16:creationId xmlns:a16="http://schemas.microsoft.com/office/drawing/2014/main" id="{CA4C39AB-CEF2-BE7A-0D9E-5F1008FF2FF9}"/>
                </a:ext>
              </a:extLst>
            </p:cNvPr>
            <p:cNvGraphicFramePr>
              <a:graphicFrameLocks noChangeAspect="1"/>
            </p:cNvGraphicFramePr>
            <p:nvPr/>
          </p:nvGraphicFramePr>
          <p:xfrm>
            <a:off x="6908800" y="2205038"/>
            <a:ext cx="711200" cy="2335212"/>
          </p:xfrm>
          <a:graphic>
            <a:graphicData uri="http://schemas.openxmlformats.org/presentationml/2006/ole">
              <mc:AlternateContent xmlns:mc="http://schemas.openxmlformats.org/markup-compatibility/2006">
                <mc:Choice xmlns:v="urn:schemas-microsoft-com:vml" Requires="v">
                  <p:oleObj name="Equation" r:id="rId4" imgW="355446" imgH="1167893" progId="Equation.DSMT4">
                    <p:embed/>
                  </p:oleObj>
                </mc:Choice>
                <mc:Fallback>
                  <p:oleObj name="Equation" r:id="rId4" imgW="355446" imgH="1167893" progId="Equation.DSMT4">
                    <p:embed/>
                    <p:pic>
                      <p:nvPicPr>
                        <p:cNvPr id="17413" name="Object 3">
                          <a:extLst>
                            <a:ext uri="{FF2B5EF4-FFF2-40B4-BE49-F238E27FC236}">
                              <a16:creationId xmlns:a16="http://schemas.microsoft.com/office/drawing/2014/main" id="{CA4C39AB-CEF2-BE7A-0D9E-5F1008FF2F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8800" y="2205038"/>
                          <a:ext cx="711200" cy="233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4" name="Rectangle 7">
              <a:extLst>
                <a:ext uri="{FF2B5EF4-FFF2-40B4-BE49-F238E27FC236}">
                  <a16:creationId xmlns:a16="http://schemas.microsoft.com/office/drawing/2014/main" id="{6A19C839-87AB-C39B-95DE-A9A4F9AAACEE}"/>
                </a:ext>
              </a:extLst>
            </p:cNvPr>
            <p:cNvSpPr>
              <a:spLocks noChangeArrowheads="1"/>
            </p:cNvSpPr>
            <p:nvPr/>
          </p:nvSpPr>
          <p:spPr bwMode="auto">
            <a:xfrm>
              <a:off x="4227513" y="2944813"/>
              <a:ext cx="1524000" cy="8382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MIMO Channel</a:t>
              </a:r>
            </a:p>
          </p:txBody>
        </p:sp>
        <p:cxnSp>
          <p:nvCxnSpPr>
            <p:cNvPr id="17415" name="Straight Arrow Connector 9">
              <a:extLst>
                <a:ext uri="{FF2B5EF4-FFF2-40B4-BE49-F238E27FC236}">
                  <a16:creationId xmlns:a16="http://schemas.microsoft.com/office/drawing/2014/main" id="{4B9A9C2A-2A20-D648-8DA9-6A0746129847}"/>
                </a:ext>
              </a:extLst>
            </p:cNvPr>
            <p:cNvCxnSpPr>
              <a:cxnSpLocks noChangeShapeType="1"/>
            </p:cNvCxnSpPr>
            <p:nvPr/>
          </p:nvCxnSpPr>
          <p:spPr bwMode="auto">
            <a:xfrm>
              <a:off x="3124200" y="3352800"/>
              <a:ext cx="10668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416" name="Straight Arrow Connector 10">
              <a:extLst>
                <a:ext uri="{FF2B5EF4-FFF2-40B4-BE49-F238E27FC236}">
                  <a16:creationId xmlns:a16="http://schemas.microsoft.com/office/drawing/2014/main" id="{7CA6CDE1-6382-4E49-BA33-3233D89661BC}"/>
                </a:ext>
              </a:extLst>
            </p:cNvPr>
            <p:cNvCxnSpPr>
              <a:cxnSpLocks noChangeShapeType="1"/>
            </p:cNvCxnSpPr>
            <p:nvPr/>
          </p:nvCxnSpPr>
          <p:spPr bwMode="auto">
            <a:xfrm>
              <a:off x="5754688" y="3352800"/>
              <a:ext cx="10668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7417" name="TextBox 11">
              <a:extLst>
                <a:ext uri="{FF2B5EF4-FFF2-40B4-BE49-F238E27FC236}">
                  <a16:creationId xmlns:a16="http://schemas.microsoft.com/office/drawing/2014/main" id="{BAAEAF41-5833-EFE2-4EDA-5A8066FD9FAE}"/>
                </a:ext>
              </a:extLst>
            </p:cNvPr>
            <p:cNvSpPr txBox="1">
              <a:spLocks noChangeArrowheads="1"/>
            </p:cNvSpPr>
            <p:nvPr/>
          </p:nvSpPr>
          <p:spPr bwMode="auto">
            <a:xfrm>
              <a:off x="228600" y="2209800"/>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Transmit antenna 1</a:t>
              </a:r>
            </a:p>
          </p:txBody>
        </p:sp>
        <p:sp>
          <p:nvSpPr>
            <p:cNvPr id="17418" name="TextBox 12">
              <a:extLst>
                <a:ext uri="{FF2B5EF4-FFF2-40B4-BE49-F238E27FC236}">
                  <a16:creationId xmlns:a16="http://schemas.microsoft.com/office/drawing/2014/main" id="{654CC8AC-64A3-117A-FF0F-01D96510427E}"/>
                </a:ext>
              </a:extLst>
            </p:cNvPr>
            <p:cNvSpPr txBox="1">
              <a:spLocks noChangeArrowheads="1"/>
            </p:cNvSpPr>
            <p:nvPr/>
          </p:nvSpPr>
          <p:spPr bwMode="auto">
            <a:xfrm>
              <a:off x="215900" y="2692400"/>
              <a:ext cx="2286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Transmit antenna 2</a:t>
              </a:r>
            </a:p>
          </p:txBody>
        </p:sp>
        <p:sp>
          <p:nvSpPr>
            <p:cNvPr id="17419" name="TextBox 13">
              <a:extLst>
                <a:ext uri="{FF2B5EF4-FFF2-40B4-BE49-F238E27FC236}">
                  <a16:creationId xmlns:a16="http://schemas.microsoft.com/office/drawing/2014/main" id="{EF20CC7E-DFDE-BD8D-4DC2-D6F70043555F}"/>
                </a:ext>
              </a:extLst>
            </p:cNvPr>
            <p:cNvSpPr txBox="1">
              <a:spLocks noChangeArrowheads="1"/>
            </p:cNvSpPr>
            <p:nvPr/>
          </p:nvSpPr>
          <p:spPr bwMode="auto">
            <a:xfrm>
              <a:off x="228600" y="4049713"/>
              <a:ext cx="2286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Transmit antenna t</a:t>
              </a:r>
            </a:p>
          </p:txBody>
        </p:sp>
        <p:graphicFrame>
          <p:nvGraphicFramePr>
            <p:cNvPr id="17420" name="Object 4">
              <a:extLst>
                <a:ext uri="{FF2B5EF4-FFF2-40B4-BE49-F238E27FC236}">
                  <a16:creationId xmlns:a16="http://schemas.microsoft.com/office/drawing/2014/main" id="{CD47A387-C68F-CE41-0BCF-709BF0BA3773}"/>
                </a:ext>
              </a:extLst>
            </p:cNvPr>
            <p:cNvGraphicFramePr>
              <a:graphicFrameLocks noChangeAspect="1"/>
            </p:cNvGraphicFramePr>
            <p:nvPr/>
          </p:nvGraphicFramePr>
          <p:xfrm>
            <a:off x="3810000" y="5092700"/>
            <a:ext cx="284163" cy="336550"/>
          </p:xfrm>
          <a:graphic>
            <a:graphicData uri="http://schemas.openxmlformats.org/presentationml/2006/ole">
              <mc:AlternateContent xmlns:mc="http://schemas.openxmlformats.org/markup-compatibility/2006">
                <mc:Choice xmlns:v="urn:schemas-microsoft-com:vml" Requires="v">
                  <p:oleObj name="Equation" r:id="rId6" imgW="139579" imgH="164957" progId="Equation.DSMT4">
                    <p:embed/>
                  </p:oleObj>
                </mc:Choice>
                <mc:Fallback>
                  <p:oleObj name="Equation" r:id="rId6" imgW="139579" imgH="164957" progId="Equation.DSMT4">
                    <p:embed/>
                    <p:pic>
                      <p:nvPicPr>
                        <p:cNvPr id="17420" name="Object 4">
                          <a:extLst>
                            <a:ext uri="{FF2B5EF4-FFF2-40B4-BE49-F238E27FC236}">
                              <a16:creationId xmlns:a16="http://schemas.microsoft.com/office/drawing/2014/main" id="{CD47A387-C68F-CE41-0BCF-709BF0BA37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5092700"/>
                          <a:ext cx="2841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21" name="Object 5">
              <a:extLst>
                <a:ext uri="{FF2B5EF4-FFF2-40B4-BE49-F238E27FC236}">
                  <a16:creationId xmlns:a16="http://schemas.microsoft.com/office/drawing/2014/main" id="{D4C15AD1-AA60-AEE4-469A-B107F5C9A903}"/>
                </a:ext>
              </a:extLst>
            </p:cNvPr>
            <p:cNvGraphicFramePr>
              <a:graphicFrameLocks noChangeAspect="1"/>
            </p:cNvGraphicFramePr>
            <p:nvPr/>
          </p:nvGraphicFramePr>
          <p:xfrm>
            <a:off x="3819525" y="5532438"/>
            <a:ext cx="284163" cy="387350"/>
          </p:xfrm>
          <a:graphic>
            <a:graphicData uri="http://schemas.openxmlformats.org/presentationml/2006/ole">
              <mc:AlternateContent xmlns:mc="http://schemas.openxmlformats.org/markup-compatibility/2006">
                <mc:Choice xmlns:v="urn:schemas-microsoft-com:vml" Requires="v">
                  <p:oleObj name="Equation" r:id="rId8" imgW="139639" imgH="190417" progId="Equation.DSMT4">
                    <p:embed/>
                  </p:oleObj>
                </mc:Choice>
                <mc:Fallback>
                  <p:oleObj name="Equation" r:id="rId8" imgW="139639" imgH="190417" progId="Equation.DSMT4">
                    <p:embed/>
                    <p:pic>
                      <p:nvPicPr>
                        <p:cNvPr id="17421" name="Object 5">
                          <a:extLst>
                            <a:ext uri="{FF2B5EF4-FFF2-40B4-BE49-F238E27FC236}">
                              <a16:creationId xmlns:a16="http://schemas.microsoft.com/office/drawing/2014/main" id="{D4C15AD1-AA60-AEE4-469A-B107F5C9A90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9525" y="5532438"/>
                          <a:ext cx="284163"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22" name="TextBox 16">
              <a:extLst>
                <a:ext uri="{FF2B5EF4-FFF2-40B4-BE49-F238E27FC236}">
                  <a16:creationId xmlns:a16="http://schemas.microsoft.com/office/drawing/2014/main" id="{4A3CCB68-DC8E-77C0-BAB3-FAFFD089AF98}"/>
                </a:ext>
              </a:extLst>
            </p:cNvPr>
            <p:cNvSpPr txBox="1">
              <a:spLocks noChangeArrowheads="1"/>
            </p:cNvSpPr>
            <p:nvPr/>
          </p:nvSpPr>
          <p:spPr bwMode="auto">
            <a:xfrm>
              <a:off x="4267200" y="5029200"/>
              <a:ext cx="2057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0"/>
                <a:t>= transmit vector</a:t>
              </a:r>
            </a:p>
          </p:txBody>
        </p:sp>
        <p:sp>
          <p:nvSpPr>
            <p:cNvPr id="17423" name="TextBox 17">
              <a:extLst>
                <a:ext uri="{FF2B5EF4-FFF2-40B4-BE49-F238E27FC236}">
                  <a16:creationId xmlns:a16="http://schemas.microsoft.com/office/drawing/2014/main" id="{A872E028-B615-3C4A-93E4-5E6403386F25}"/>
                </a:ext>
              </a:extLst>
            </p:cNvPr>
            <p:cNvSpPr txBox="1">
              <a:spLocks noChangeArrowheads="1"/>
            </p:cNvSpPr>
            <p:nvPr/>
          </p:nvSpPr>
          <p:spPr bwMode="auto">
            <a:xfrm>
              <a:off x="4284663" y="5535613"/>
              <a:ext cx="2057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0"/>
                <a:t>= receive vector</a:t>
              </a:r>
            </a:p>
          </p:txBody>
        </p:sp>
        <p:sp>
          <p:nvSpPr>
            <p:cNvPr id="17424" name="TextBox 18">
              <a:extLst>
                <a:ext uri="{FF2B5EF4-FFF2-40B4-BE49-F238E27FC236}">
                  <a16:creationId xmlns:a16="http://schemas.microsoft.com/office/drawing/2014/main" id="{2683D085-6812-FAC4-22E6-81A5F3ECB168}"/>
                </a:ext>
              </a:extLst>
            </p:cNvPr>
            <p:cNvSpPr txBox="1">
              <a:spLocks noChangeArrowheads="1"/>
            </p:cNvSpPr>
            <p:nvPr/>
          </p:nvSpPr>
          <p:spPr bwMode="auto">
            <a:xfrm>
              <a:off x="7696200" y="1981200"/>
              <a:ext cx="144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Receive antenna 1</a:t>
              </a:r>
            </a:p>
          </p:txBody>
        </p:sp>
        <p:sp>
          <p:nvSpPr>
            <p:cNvPr id="17425" name="TextBox 19">
              <a:extLst>
                <a:ext uri="{FF2B5EF4-FFF2-40B4-BE49-F238E27FC236}">
                  <a16:creationId xmlns:a16="http://schemas.microsoft.com/office/drawing/2014/main" id="{13FA6B11-8A66-B121-E428-39E9A5B8246D}"/>
                </a:ext>
              </a:extLst>
            </p:cNvPr>
            <p:cNvSpPr txBox="1">
              <a:spLocks noChangeArrowheads="1"/>
            </p:cNvSpPr>
            <p:nvPr/>
          </p:nvSpPr>
          <p:spPr bwMode="auto">
            <a:xfrm>
              <a:off x="7696200" y="2554288"/>
              <a:ext cx="1447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Receive antenna 2</a:t>
              </a:r>
            </a:p>
          </p:txBody>
        </p:sp>
        <p:sp>
          <p:nvSpPr>
            <p:cNvPr id="17426" name="TextBox 20">
              <a:extLst>
                <a:ext uri="{FF2B5EF4-FFF2-40B4-BE49-F238E27FC236}">
                  <a16:creationId xmlns:a16="http://schemas.microsoft.com/office/drawing/2014/main" id="{9955E30B-9E33-E95C-A93E-2C0AE9AEA061}"/>
                </a:ext>
              </a:extLst>
            </p:cNvPr>
            <p:cNvSpPr txBox="1">
              <a:spLocks noChangeArrowheads="1"/>
            </p:cNvSpPr>
            <p:nvPr/>
          </p:nvSpPr>
          <p:spPr bwMode="auto">
            <a:xfrm>
              <a:off x="7620000" y="4002088"/>
              <a:ext cx="1447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Receive antenna 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BF81138B-EA8B-C163-694B-4700D3CE955A}"/>
              </a:ext>
            </a:extLst>
          </p:cNvPr>
          <p:cNvSpPr>
            <a:spLocks noGrp="1"/>
          </p:cNvSpPr>
          <p:nvPr>
            <p:ph type="title"/>
          </p:nvPr>
        </p:nvSpPr>
        <p:spPr/>
        <p:txBody>
          <a:bodyPr/>
          <a:lstStyle/>
          <a:p>
            <a:r>
              <a:rPr lang="en-US" altLang="en-US"/>
              <a:t>  </a:t>
            </a:r>
          </a:p>
        </p:txBody>
      </p:sp>
      <p:sp>
        <p:nvSpPr>
          <p:cNvPr id="8" name="Title 1">
            <a:extLst>
              <a:ext uri="{FF2B5EF4-FFF2-40B4-BE49-F238E27FC236}">
                <a16:creationId xmlns:a16="http://schemas.microsoft.com/office/drawing/2014/main" id="{CB057143-7537-42F7-C671-ED24626D285E}"/>
              </a:ext>
            </a:extLst>
          </p:cNvPr>
          <p:cNvSpPr txBox="1">
            <a:spLocks/>
          </p:cNvSpPr>
          <p:nvPr/>
        </p:nvSpPr>
        <p:spPr bwMode="auto">
          <a:xfrm>
            <a:off x="533400" y="304800"/>
            <a:ext cx="8229600" cy="724992"/>
          </a:xfrm>
          <a:prstGeom prst="rect">
            <a:avLst/>
          </a:prstGeom>
          <a:noFill/>
          <a:ln w="9525">
            <a:noFill/>
            <a:miter lim="800000"/>
            <a:headEnd/>
            <a:tailEnd/>
          </a:ln>
        </p:spPr>
        <p:txBody>
          <a:bodyPr/>
          <a:lstStyle/>
          <a:p>
            <a:pPr eaLnBrk="0" hangingPunct="0">
              <a:defRPr/>
            </a:pPr>
            <a:r>
              <a:rPr lang="en-US" sz="3600" b="1" kern="0" dirty="0">
                <a:solidFill>
                  <a:schemeClr val="tx2"/>
                </a:solidFill>
                <a:latin typeface="+mj-lt"/>
                <a:ea typeface="+mj-ea"/>
                <a:cs typeface="+mj-cs"/>
              </a:rPr>
              <a:t>MIMO-Multiple Input Multiple Output</a:t>
            </a:r>
          </a:p>
        </p:txBody>
      </p:sp>
      <p:grpSp>
        <p:nvGrpSpPr>
          <p:cNvPr id="2" name="Group 1">
            <a:extLst>
              <a:ext uri="{FF2B5EF4-FFF2-40B4-BE49-F238E27FC236}">
                <a16:creationId xmlns:a16="http://schemas.microsoft.com/office/drawing/2014/main" id="{12CD2D01-79BE-F16C-5F5B-01EB853976BD}"/>
              </a:ext>
            </a:extLst>
          </p:cNvPr>
          <p:cNvGrpSpPr/>
          <p:nvPr/>
        </p:nvGrpSpPr>
        <p:grpSpPr>
          <a:xfrm>
            <a:off x="1711705" y="1398667"/>
            <a:ext cx="5943600" cy="4114800"/>
            <a:chOff x="1676400" y="1981200"/>
            <a:chExt cx="5943600" cy="4114800"/>
          </a:xfrm>
        </p:grpSpPr>
        <p:graphicFrame>
          <p:nvGraphicFramePr>
            <p:cNvPr id="18436" name="Object 2">
              <a:extLst>
                <a:ext uri="{FF2B5EF4-FFF2-40B4-BE49-F238E27FC236}">
                  <a16:creationId xmlns:a16="http://schemas.microsoft.com/office/drawing/2014/main" id="{0AB07E78-3852-3FD5-81C2-9F25A0749025}"/>
                </a:ext>
              </a:extLst>
            </p:cNvPr>
            <p:cNvGraphicFramePr>
              <a:graphicFrameLocks noChangeAspect="1"/>
            </p:cNvGraphicFramePr>
            <p:nvPr/>
          </p:nvGraphicFramePr>
          <p:xfrm>
            <a:off x="2184400" y="2008188"/>
            <a:ext cx="939800" cy="2792412"/>
          </p:xfrm>
          <a:graphic>
            <a:graphicData uri="http://schemas.openxmlformats.org/presentationml/2006/ole">
              <mc:AlternateContent xmlns:mc="http://schemas.openxmlformats.org/markup-compatibility/2006">
                <mc:Choice xmlns:v="urn:schemas-microsoft-com:vml" Requires="v">
                  <p:oleObj name="Equation" r:id="rId2" imgW="469900" imgH="1397000" progId="Equation.DSMT4">
                    <p:embed/>
                  </p:oleObj>
                </mc:Choice>
                <mc:Fallback>
                  <p:oleObj name="Equation" r:id="rId2" imgW="469900" imgH="1397000" progId="Equation.DSMT4">
                    <p:embed/>
                    <p:pic>
                      <p:nvPicPr>
                        <p:cNvPr id="18436" name="Object 2">
                          <a:extLst>
                            <a:ext uri="{FF2B5EF4-FFF2-40B4-BE49-F238E27FC236}">
                              <a16:creationId xmlns:a16="http://schemas.microsoft.com/office/drawing/2014/main" id="{0AB07E78-3852-3FD5-81C2-9F25A0749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400" y="2008188"/>
                          <a:ext cx="939800" cy="279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7" name="Object 3">
              <a:extLst>
                <a:ext uri="{FF2B5EF4-FFF2-40B4-BE49-F238E27FC236}">
                  <a16:creationId xmlns:a16="http://schemas.microsoft.com/office/drawing/2014/main" id="{6ABAED42-FFAB-A093-399F-4C1E118FD7F6}"/>
                </a:ext>
              </a:extLst>
            </p:cNvPr>
            <p:cNvGraphicFramePr>
              <a:graphicFrameLocks noChangeAspect="1"/>
            </p:cNvGraphicFramePr>
            <p:nvPr/>
          </p:nvGraphicFramePr>
          <p:xfrm>
            <a:off x="5715000" y="2008188"/>
            <a:ext cx="685800" cy="2792412"/>
          </p:xfrm>
          <a:graphic>
            <a:graphicData uri="http://schemas.openxmlformats.org/presentationml/2006/ole">
              <mc:AlternateContent xmlns:mc="http://schemas.openxmlformats.org/markup-compatibility/2006">
                <mc:Choice xmlns:v="urn:schemas-microsoft-com:vml" Requires="v">
                  <p:oleObj name="Equation" r:id="rId4" imgW="342751" imgH="1396394" progId="Equation.DSMT4">
                    <p:embed/>
                  </p:oleObj>
                </mc:Choice>
                <mc:Fallback>
                  <p:oleObj name="Equation" r:id="rId4" imgW="342751" imgH="1396394" progId="Equation.DSMT4">
                    <p:embed/>
                    <p:pic>
                      <p:nvPicPr>
                        <p:cNvPr id="18437" name="Object 3">
                          <a:extLst>
                            <a:ext uri="{FF2B5EF4-FFF2-40B4-BE49-F238E27FC236}">
                              <a16:creationId xmlns:a16="http://schemas.microsoft.com/office/drawing/2014/main" id="{6ABAED42-FFAB-A093-399F-4C1E118FD7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2008188"/>
                          <a:ext cx="685800" cy="279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8" name="Object 4">
              <a:extLst>
                <a:ext uri="{FF2B5EF4-FFF2-40B4-BE49-F238E27FC236}">
                  <a16:creationId xmlns:a16="http://schemas.microsoft.com/office/drawing/2014/main" id="{1314CD85-B681-EC4A-2BE0-9B02926CA7AF}"/>
                </a:ext>
              </a:extLst>
            </p:cNvPr>
            <p:cNvGraphicFramePr>
              <a:graphicFrameLocks noChangeAspect="1"/>
            </p:cNvGraphicFramePr>
            <p:nvPr/>
          </p:nvGraphicFramePr>
          <p:xfrm>
            <a:off x="3200400" y="1981200"/>
            <a:ext cx="2366963" cy="2798763"/>
          </p:xfrm>
          <a:graphic>
            <a:graphicData uri="http://schemas.openxmlformats.org/presentationml/2006/ole">
              <mc:AlternateContent xmlns:mc="http://schemas.openxmlformats.org/markup-compatibility/2006">
                <mc:Choice xmlns:v="urn:schemas-microsoft-com:vml" Requires="v">
                  <p:oleObj name="Equation" r:id="rId6" imgW="1181100" imgH="1397000" progId="Equation.DSMT4">
                    <p:embed/>
                  </p:oleObj>
                </mc:Choice>
                <mc:Fallback>
                  <p:oleObj name="Equation" r:id="rId6" imgW="1181100" imgH="1397000" progId="Equation.DSMT4">
                    <p:embed/>
                    <p:pic>
                      <p:nvPicPr>
                        <p:cNvPr id="18438" name="Object 4">
                          <a:extLst>
                            <a:ext uri="{FF2B5EF4-FFF2-40B4-BE49-F238E27FC236}">
                              <a16:creationId xmlns:a16="http://schemas.microsoft.com/office/drawing/2014/main" id="{1314CD85-B681-EC4A-2BE0-9B02926CA7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1981200"/>
                          <a:ext cx="2366963" cy="279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0" name="TextBox 8">
              <a:extLst>
                <a:ext uri="{FF2B5EF4-FFF2-40B4-BE49-F238E27FC236}">
                  <a16:creationId xmlns:a16="http://schemas.microsoft.com/office/drawing/2014/main" id="{C2B90C0C-839F-896E-E006-DDAB5097961E}"/>
                </a:ext>
              </a:extLst>
            </p:cNvPr>
            <p:cNvSpPr txBox="1">
              <a:spLocks noChangeArrowheads="1"/>
            </p:cNvSpPr>
            <p:nvPr/>
          </p:nvSpPr>
          <p:spPr bwMode="auto">
            <a:xfrm>
              <a:off x="1676400" y="5105400"/>
              <a:ext cx="2362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Flat fading channel coefficient</a:t>
              </a:r>
            </a:p>
          </p:txBody>
        </p:sp>
        <p:sp>
          <p:nvSpPr>
            <p:cNvPr id="18441" name="Right Brace 9">
              <a:extLst>
                <a:ext uri="{FF2B5EF4-FFF2-40B4-BE49-F238E27FC236}">
                  <a16:creationId xmlns:a16="http://schemas.microsoft.com/office/drawing/2014/main" id="{5D695EBA-5C1A-21FF-D43F-6B6F18F2B771}"/>
                </a:ext>
              </a:extLst>
            </p:cNvPr>
            <p:cNvSpPr>
              <a:spLocks/>
            </p:cNvSpPr>
            <p:nvPr/>
          </p:nvSpPr>
          <p:spPr bwMode="auto">
            <a:xfrm rot="16200000" flipH="1">
              <a:off x="4095750" y="3600450"/>
              <a:ext cx="457200" cy="2552700"/>
            </a:xfrm>
            <a:prstGeom prst="rightBrace">
              <a:avLst>
                <a:gd name="adj1" fmla="val 832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cxnSp>
          <p:nvCxnSpPr>
            <p:cNvPr id="18442" name="Straight Arrow Connector 13">
              <a:extLst>
                <a:ext uri="{FF2B5EF4-FFF2-40B4-BE49-F238E27FC236}">
                  <a16:creationId xmlns:a16="http://schemas.microsoft.com/office/drawing/2014/main" id="{F4C41677-A11A-CA83-296D-5FF7CF77F516}"/>
                </a:ext>
              </a:extLst>
            </p:cNvPr>
            <p:cNvCxnSpPr>
              <a:cxnSpLocks noChangeShapeType="1"/>
            </p:cNvCxnSpPr>
            <p:nvPr/>
          </p:nvCxnSpPr>
          <p:spPr bwMode="auto">
            <a:xfrm rot="16200000" flipV="1">
              <a:off x="5029200" y="5486400"/>
              <a:ext cx="457200" cy="152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43" name="TextBox 14">
              <a:extLst>
                <a:ext uri="{FF2B5EF4-FFF2-40B4-BE49-F238E27FC236}">
                  <a16:creationId xmlns:a16="http://schemas.microsoft.com/office/drawing/2014/main" id="{24DD6A67-AB7E-B6ED-97C5-0CF56EDFA2E9}"/>
                </a:ext>
              </a:extLst>
            </p:cNvPr>
            <p:cNvSpPr txBox="1">
              <a:spLocks noChangeArrowheads="1"/>
            </p:cNvSpPr>
            <p:nvPr/>
          </p:nvSpPr>
          <p:spPr bwMode="auto">
            <a:xfrm>
              <a:off x="4953000" y="5726113"/>
              <a:ext cx="2667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MIMO Channel Matrix</a:t>
              </a:r>
            </a:p>
          </p:txBody>
        </p:sp>
        <p:graphicFrame>
          <p:nvGraphicFramePr>
            <p:cNvPr id="18444" name="Object 5">
              <a:extLst>
                <a:ext uri="{FF2B5EF4-FFF2-40B4-BE49-F238E27FC236}">
                  <a16:creationId xmlns:a16="http://schemas.microsoft.com/office/drawing/2014/main" id="{E9FBF5E0-B5BC-445A-0804-D98E1CE5A244}"/>
                </a:ext>
              </a:extLst>
            </p:cNvPr>
            <p:cNvGraphicFramePr>
              <a:graphicFrameLocks noChangeAspect="1"/>
            </p:cNvGraphicFramePr>
            <p:nvPr/>
          </p:nvGraphicFramePr>
          <p:xfrm>
            <a:off x="4800600" y="5029200"/>
            <a:ext cx="557213" cy="304800"/>
          </p:xfrm>
          <a:graphic>
            <a:graphicData uri="http://schemas.openxmlformats.org/presentationml/2006/ole">
              <mc:AlternateContent xmlns:mc="http://schemas.openxmlformats.org/markup-compatibility/2006">
                <mc:Choice xmlns:v="urn:schemas-microsoft-com:vml" Requires="v">
                  <p:oleObj name="Equation" r:id="rId8" imgW="279279" imgH="152334" progId="Equation.DSMT4">
                    <p:embed/>
                  </p:oleObj>
                </mc:Choice>
                <mc:Fallback>
                  <p:oleObj name="Equation" r:id="rId8" imgW="279279" imgH="152334" progId="Equation.DSMT4">
                    <p:embed/>
                    <p:pic>
                      <p:nvPicPr>
                        <p:cNvPr id="18444" name="Object 5">
                          <a:extLst>
                            <a:ext uri="{FF2B5EF4-FFF2-40B4-BE49-F238E27FC236}">
                              <a16:creationId xmlns:a16="http://schemas.microsoft.com/office/drawing/2014/main" id="{E9FBF5E0-B5BC-445A-0804-D98E1CE5A2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5029200"/>
                          <a:ext cx="557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1FF5865-74A2-A1B8-4C31-B4D102E66F4F}"/>
              </a:ext>
            </a:extLst>
          </p:cNvPr>
          <p:cNvSpPr txBox="1">
            <a:spLocks/>
          </p:cNvSpPr>
          <p:nvPr/>
        </p:nvSpPr>
        <p:spPr bwMode="auto">
          <a:xfrm>
            <a:off x="533400" y="304800"/>
            <a:ext cx="8229600" cy="742644"/>
          </a:xfrm>
          <a:prstGeom prst="rect">
            <a:avLst/>
          </a:prstGeom>
          <a:noFill/>
          <a:ln w="9525">
            <a:noFill/>
            <a:miter lim="800000"/>
            <a:headEnd/>
            <a:tailEnd/>
          </a:ln>
        </p:spPr>
        <p:txBody>
          <a:bodyPr/>
          <a:lstStyle/>
          <a:p>
            <a:pPr eaLnBrk="0" hangingPunct="0">
              <a:defRPr/>
            </a:pPr>
            <a:r>
              <a:rPr lang="en-US" sz="3600" b="1" kern="0" dirty="0">
                <a:solidFill>
                  <a:schemeClr val="tx2"/>
                </a:solidFill>
                <a:latin typeface="+mj-lt"/>
                <a:ea typeface="+mj-ea"/>
                <a:cs typeface="+mj-cs"/>
              </a:rPr>
              <a:t>MIMO-Multiple Input Multiple Output</a:t>
            </a:r>
          </a:p>
        </p:txBody>
      </p:sp>
      <p:graphicFrame>
        <p:nvGraphicFramePr>
          <p:cNvPr id="19460" name="Object 2">
            <a:extLst>
              <a:ext uri="{FF2B5EF4-FFF2-40B4-BE49-F238E27FC236}">
                <a16:creationId xmlns:a16="http://schemas.microsoft.com/office/drawing/2014/main" id="{D76F418A-9016-EC5E-A60D-8B28FB78AE61}"/>
              </a:ext>
            </a:extLst>
          </p:cNvPr>
          <p:cNvGraphicFramePr>
            <a:graphicFrameLocks noChangeAspect="1"/>
          </p:cNvGraphicFramePr>
          <p:nvPr/>
        </p:nvGraphicFramePr>
        <p:xfrm>
          <a:off x="2564321" y="1202952"/>
          <a:ext cx="3254375" cy="457200"/>
        </p:xfrm>
        <a:graphic>
          <a:graphicData uri="http://schemas.openxmlformats.org/presentationml/2006/ole">
            <mc:AlternateContent xmlns:mc="http://schemas.openxmlformats.org/markup-compatibility/2006">
              <mc:Choice xmlns:v="urn:schemas-microsoft-com:vml" Requires="v">
                <p:oleObj name="Equation" r:id="rId2" imgW="1625600" imgH="228600" progId="Equation.DSMT4">
                  <p:embed/>
                </p:oleObj>
              </mc:Choice>
              <mc:Fallback>
                <p:oleObj name="Equation" r:id="rId2" imgW="1625600" imgH="228600" progId="Equation.DSMT4">
                  <p:embed/>
                  <p:pic>
                    <p:nvPicPr>
                      <p:cNvPr id="19460" name="Object 2">
                        <a:extLst>
                          <a:ext uri="{FF2B5EF4-FFF2-40B4-BE49-F238E27FC236}">
                            <a16:creationId xmlns:a16="http://schemas.microsoft.com/office/drawing/2014/main" id="{D76F418A-9016-EC5E-A60D-8B28FB78A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4321" y="1202952"/>
                        <a:ext cx="3254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1" name="Object 3">
            <a:extLst>
              <a:ext uri="{FF2B5EF4-FFF2-40B4-BE49-F238E27FC236}">
                <a16:creationId xmlns:a16="http://schemas.microsoft.com/office/drawing/2014/main" id="{7A212321-E51A-E64D-15FE-C38BF602AF66}"/>
              </a:ext>
            </a:extLst>
          </p:cNvPr>
          <p:cNvGraphicFramePr>
            <a:graphicFrameLocks noChangeAspect="1"/>
          </p:cNvGraphicFramePr>
          <p:nvPr/>
        </p:nvGraphicFramePr>
        <p:xfrm>
          <a:off x="3097721" y="1888752"/>
          <a:ext cx="1246188" cy="457200"/>
        </p:xfrm>
        <a:graphic>
          <a:graphicData uri="http://schemas.openxmlformats.org/presentationml/2006/ole">
            <mc:AlternateContent xmlns:mc="http://schemas.openxmlformats.org/markup-compatibility/2006">
              <mc:Choice xmlns:v="urn:schemas-microsoft-com:vml" Requires="v">
                <p:oleObj name="Equation" r:id="rId4" imgW="622030" imgH="228501" progId="Equation.DSMT4">
                  <p:embed/>
                </p:oleObj>
              </mc:Choice>
              <mc:Fallback>
                <p:oleObj name="Equation" r:id="rId4" imgW="622030" imgH="228501" progId="Equation.DSMT4">
                  <p:embed/>
                  <p:pic>
                    <p:nvPicPr>
                      <p:cNvPr id="19461" name="Object 3">
                        <a:extLst>
                          <a:ext uri="{FF2B5EF4-FFF2-40B4-BE49-F238E27FC236}">
                            <a16:creationId xmlns:a16="http://schemas.microsoft.com/office/drawing/2014/main" id="{7A212321-E51A-E64D-15FE-C38BF602AF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7721" y="1888752"/>
                        <a:ext cx="1246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2" name="TextBox 8">
            <a:extLst>
              <a:ext uri="{FF2B5EF4-FFF2-40B4-BE49-F238E27FC236}">
                <a16:creationId xmlns:a16="http://schemas.microsoft.com/office/drawing/2014/main" id="{CC329CD7-E513-4E14-A2A2-0E0616BA081E}"/>
              </a:ext>
            </a:extLst>
          </p:cNvPr>
          <p:cNvSpPr txBox="1">
            <a:spLocks noChangeArrowheads="1"/>
          </p:cNvSpPr>
          <p:nvPr/>
        </p:nvSpPr>
        <p:spPr bwMode="auto">
          <a:xfrm>
            <a:off x="4545521" y="1976064"/>
            <a:ext cx="3657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0"/>
              <a:t>Interfere at receive antenna 1</a:t>
            </a:r>
          </a:p>
        </p:txBody>
      </p:sp>
      <p:graphicFrame>
        <p:nvGraphicFramePr>
          <p:cNvPr id="19463" name="Object 4">
            <a:extLst>
              <a:ext uri="{FF2B5EF4-FFF2-40B4-BE49-F238E27FC236}">
                <a16:creationId xmlns:a16="http://schemas.microsoft.com/office/drawing/2014/main" id="{CFAAFA1D-4FDA-BA2C-7E30-F91903697770}"/>
              </a:ext>
            </a:extLst>
          </p:cNvPr>
          <p:cNvGraphicFramePr>
            <a:graphicFrameLocks noChangeAspect="1"/>
          </p:cNvGraphicFramePr>
          <p:nvPr/>
        </p:nvGraphicFramePr>
        <p:xfrm>
          <a:off x="2513521" y="2955552"/>
          <a:ext cx="3355975" cy="457200"/>
        </p:xfrm>
        <a:graphic>
          <a:graphicData uri="http://schemas.openxmlformats.org/presentationml/2006/ole">
            <mc:AlternateContent xmlns:mc="http://schemas.openxmlformats.org/markup-compatibility/2006">
              <mc:Choice xmlns:v="urn:schemas-microsoft-com:vml" Requires="v">
                <p:oleObj name="Equation" r:id="rId6" imgW="1676400" imgH="228600" progId="Equation.DSMT4">
                  <p:embed/>
                </p:oleObj>
              </mc:Choice>
              <mc:Fallback>
                <p:oleObj name="Equation" r:id="rId6" imgW="1676400" imgH="228600" progId="Equation.DSMT4">
                  <p:embed/>
                  <p:pic>
                    <p:nvPicPr>
                      <p:cNvPr id="19463" name="Object 4">
                        <a:extLst>
                          <a:ext uri="{FF2B5EF4-FFF2-40B4-BE49-F238E27FC236}">
                            <a16:creationId xmlns:a16="http://schemas.microsoft.com/office/drawing/2014/main" id="{CFAAFA1D-4FDA-BA2C-7E30-F919036977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3521" y="2955552"/>
                        <a:ext cx="3355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4" name="Object 5">
            <a:extLst>
              <a:ext uri="{FF2B5EF4-FFF2-40B4-BE49-F238E27FC236}">
                <a16:creationId xmlns:a16="http://schemas.microsoft.com/office/drawing/2014/main" id="{E5A294F2-FBA4-4B6A-69D5-8D6D5F00C883}"/>
              </a:ext>
            </a:extLst>
          </p:cNvPr>
          <p:cNvGraphicFramePr>
            <a:graphicFrameLocks noChangeAspect="1"/>
          </p:cNvGraphicFramePr>
          <p:nvPr/>
        </p:nvGraphicFramePr>
        <p:xfrm>
          <a:off x="2945321" y="3793752"/>
          <a:ext cx="1246188" cy="457200"/>
        </p:xfrm>
        <a:graphic>
          <a:graphicData uri="http://schemas.openxmlformats.org/presentationml/2006/ole">
            <mc:AlternateContent xmlns:mc="http://schemas.openxmlformats.org/markup-compatibility/2006">
              <mc:Choice xmlns:v="urn:schemas-microsoft-com:vml" Requires="v">
                <p:oleObj name="Equation" r:id="rId8" imgW="622030" imgH="228501" progId="Equation.DSMT4">
                  <p:embed/>
                </p:oleObj>
              </mc:Choice>
              <mc:Fallback>
                <p:oleObj name="Equation" r:id="rId8" imgW="622030" imgH="228501" progId="Equation.DSMT4">
                  <p:embed/>
                  <p:pic>
                    <p:nvPicPr>
                      <p:cNvPr id="19464" name="Object 5">
                        <a:extLst>
                          <a:ext uri="{FF2B5EF4-FFF2-40B4-BE49-F238E27FC236}">
                            <a16:creationId xmlns:a16="http://schemas.microsoft.com/office/drawing/2014/main" id="{E5A294F2-FBA4-4B6A-69D5-8D6D5F00C8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5321" y="3793752"/>
                        <a:ext cx="1246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5" name="TextBox 11">
            <a:extLst>
              <a:ext uri="{FF2B5EF4-FFF2-40B4-BE49-F238E27FC236}">
                <a16:creationId xmlns:a16="http://schemas.microsoft.com/office/drawing/2014/main" id="{640DAD5F-2CEA-2FB5-82F2-7FD6DA6C2BC6}"/>
              </a:ext>
            </a:extLst>
          </p:cNvPr>
          <p:cNvSpPr txBox="1">
            <a:spLocks noChangeArrowheads="1"/>
          </p:cNvSpPr>
          <p:nvPr/>
        </p:nvSpPr>
        <p:spPr bwMode="auto">
          <a:xfrm>
            <a:off x="4697921" y="3793752"/>
            <a:ext cx="3657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0"/>
              <a:t>Interfere at receive antenna 2</a:t>
            </a:r>
          </a:p>
        </p:txBody>
      </p:sp>
      <p:sp>
        <p:nvSpPr>
          <p:cNvPr id="13" name="TextBox 12">
            <a:extLst>
              <a:ext uri="{FF2B5EF4-FFF2-40B4-BE49-F238E27FC236}">
                <a16:creationId xmlns:a16="http://schemas.microsoft.com/office/drawing/2014/main" id="{70BE6702-C187-788B-65D0-C0F815B3D2C8}"/>
              </a:ext>
            </a:extLst>
          </p:cNvPr>
          <p:cNvSpPr txBox="1">
            <a:spLocks noChangeArrowheads="1"/>
          </p:cNvSpPr>
          <p:nvPr/>
        </p:nvSpPr>
        <p:spPr bwMode="auto">
          <a:xfrm>
            <a:off x="1878521" y="4519239"/>
            <a:ext cx="5486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 is the channel coefficient between the ith receive antenna and the jth transmit antenna</a:t>
            </a:r>
          </a:p>
        </p:txBody>
      </p:sp>
      <p:graphicFrame>
        <p:nvGraphicFramePr>
          <p:cNvPr id="23558" name="Object 6">
            <a:extLst>
              <a:ext uri="{FF2B5EF4-FFF2-40B4-BE49-F238E27FC236}">
                <a16:creationId xmlns:a16="http://schemas.microsoft.com/office/drawing/2014/main" id="{F59A1445-778C-4CD3-C029-A6AE5AB106EE}"/>
              </a:ext>
            </a:extLst>
          </p:cNvPr>
          <p:cNvGraphicFramePr>
            <a:graphicFrameLocks noChangeAspect="1"/>
          </p:cNvGraphicFramePr>
          <p:nvPr/>
        </p:nvGraphicFramePr>
        <p:xfrm>
          <a:off x="1662621" y="4441452"/>
          <a:ext cx="330200" cy="482600"/>
        </p:xfrm>
        <a:graphic>
          <a:graphicData uri="http://schemas.openxmlformats.org/presentationml/2006/ole">
            <mc:AlternateContent xmlns:mc="http://schemas.openxmlformats.org/markup-compatibility/2006">
              <mc:Choice xmlns:v="urn:schemas-microsoft-com:vml" Requires="v">
                <p:oleObj name="Equation" r:id="rId9" imgW="164957" imgH="241091" progId="Equation.DSMT4">
                  <p:embed/>
                </p:oleObj>
              </mc:Choice>
              <mc:Fallback>
                <p:oleObj name="Equation" r:id="rId9" imgW="164957" imgH="241091" progId="Equation.DSMT4">
                  <p:embed/>
                  <p:pic>
                    <p:nvPicPr>
                      <p:cNvPr id="23558" name="Object 6">
                        <a:extLst>
                          <a:ext uri="{FF2B5EF4-FFF2-40B4-BE49-F238E27FC236}">
                            <a16:creationId xmlns:a16="http://schemas.microsoft.com/office/drawing/2014/main" id="{F59A1445-778C-4CD3-C029-A6AE5AB106E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2621" y="4441452"/>
                        <a:ext cx="3302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9" name="Object 7">
            <a:extLst>
              <a:ext uri="{FF2B5EF4-FFF2-40B4-BE49-F238E27FC236}">
                <a16:creationId xmlns:a16="http://schemas.microsoft.com/office/drawing/2014/main" id="{977B01EE-4B93-E4A0-A12F-A56EBC5ED17B}"/>
              </a:ext>
            </a:extLst>
          </p:cNvPr>
          <p:cNvGraphicFramePr>
            <a:graphicFrameLocks noChangeAspect="1"/>
          </p:cNvGraphicFramePr>
          <p:nvPr/>
        </p:nvGraphicFramePr>
        <p:xfrm>
          <a:off x="5917121" y="5535239"/>
          <a:ext cx="557213" cy="304800"/>
        </p:xfrm>
        <a:graphic>
          <a:graphicData uri="http://schemas.openxmlformats.org/presentationml/2006/ole">
            <mc:AlternateContent xmlns:mc="http://schemas.openxmlformats.org/markup-compatibility/2006">
              <mc:Choice xmlns:v="urn:schemas-microsoft-com:vml" Requires="v">
                <p:oleObj name="Equation" r:id="rId11" imgW="279279" imgH="152334" progId="Equation.DSMT4">
                  <p:embed/>
                </p:oleObj>
              </mc:Choice>
              <mc:Fallback>
                <p:oleObj name="Equation" r:id="rId11" imgW="279279" imgH="152334" progId="Equation.DSMT4">
                  <p:embed/>
                  <p:pic>
                    <p:nvPicPr>
                      <p:cNvPr id="23559" name="Object 7">
                        <a:extLst>
                          <a:ext uri="{FF2B5EF4-FFF2-40B4-BE49-F238E27FC236}">
                            <a16:creationId xmlns:a16="http://schemas.microsoft.com/office/drawing/2014/main" id="{977B01EE-4B93-E4A0-A12F-A56EBC5ED17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17121" y="5535239"/>
                        <a:ext cx="557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Box 15">
            <a:extLst>
              <a:ext uri="{FF2B5EF4-FFF2-40B4-BE49-F238E27FC236}">
                <a16:creationId xmlns:a16="http://schemas.microsoft.com/office/drawing/2014/main" id="{794549D3-9CB2-AE42-CB00-2613D4E1DB85}"/>
              </a:ext>
            </a:extLst>
          </p:cNvPr>
          <p:cNvSpPr txBox="1">
            <a:spLocks noChangeArrowheads="1"/>
          </p:cNvSpPr>
          <p:nvPr/>
        </p:nvSpPr>
        <p:spPr bwMode="auto">
          <a:xfrm>
            <a:off x="2259521" y="5470152"/>
            <a:ext cx="4114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t>So total channel coefficients are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58"/>
                                        </p:tgtEl>
                                        <p:attrNameLst>
                                          <p:attrName>style.visibility</p:attrName>
                                        </p:attrNameLst>
                                      </p:cBhvr>
                                      <p:to>
                                        <p:strVal val="visible"/>
                                      </p:to>
                                    </p:set>
                                    <p:anim calcmode="lin" valueType="num">
                                      <p:cBhvr additive="base">
                                        <p:cTn id="11" dur="500" fill="hold"/>
                                        <p:tgtEl>
                                          <p:spTgt spid="23558"/>
                                        </p:tgtEl>
                                        <p:attrNameLst>
                                          <p:attrName>ppt_x</p:attrName>
                                        </p:attrNameLst>
                                      </p:cBhvr>
                                      <p:tavLst>
                                        <p:tav tm="0">
                                          <p:val>
                                            <p:strVal val="#ppt_x"/>
                                          </p:val>
                                        </p:tav>
                                        <p:tav tm="100000">
                                          <p:val>
                                            <p:strVal val="#ppt_x"/>
                                          </p:val>
                                        </p:tav>
                                      </p:tavLst>
                                    </p:anim>
                                    <p:anim calcmode="lin" valueType="num">
                                      <p:cBhvr additive="base">
                                        <p:cTn id="12" dur="500" fill="hold"/>
                                        <p:tgtEl>
                                          <p:spTgt spid="2355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3559"/>
                                        </p:tgtEl>
                                        <p:attrNameLst>
                                          <p:attrName>style.visibility</p:attrName>
                                        </p:attrNameLst>
                                      </p:cBhvr>
                                      <p:to>
                                        <p:strVal val="visible"/>
                                      </p:to>
                                    </p:set>
                                    <p:anim calcmode="lin" valueType="num">
                                      <p:cBhvr additive="base">
                                        <p:cTn id="21" dur="500" fill="hold"/>
                                        <p:tgtEl>
                                          <p:spTgt spid="23559"/>
                                        </p:tgtEl>
                                        <p:attrNameLst>
                                          <p:attrName>ppt_x</p:attrName>
                                        </p:attrNameLst>
                                      </p:cBhvr>
                                      <p:tavLst>
                                        <p:tav tm="0">
                                          <p:val>
                                            <p:strVal val="#ppt_x"/>
                                          </p:val>
                                        </p:tav>
                                        <p:tav tm="100000">
                                          <p:val>
                                            <p:strVal val="#ppt_x"/>
                                          </p:val>
                                        </p:tav>
                                      </p:tavLst>
                                    </p:anim>
                                    <p:anim calcmode="lin" valueType="num">
                                      <p:cBhvr additive="base">
                                        <p:cTn id="22"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3985DD1-BA44-BB27-5B8B-C27FF9B5D94B}"/>
              </a:ext>
            </a:extLst>
          </p:cNvPr>
          <p:cNvSpPr>
            <a:spLocks noGrp="1"/>
          </p:cNvSpPr>
          <p:nvPr>
            <p:ph type="title"/>
          </p:nvPr>
        </p:nvSpPr>
        <p:spPr>
          <a:xfrm>
            <a:off x="566866" y="170948"/>
            <a:ext cx="7886700" cy="804814"/>
          </a:xfrm>
        </p:spPr>
        <p:txBody>
          <a:bodyPr>
            <a:normAutofit/>
          </a:bodyPr>
          <a:lstStyle/>
          <a:p>
            <a:r>
              <a:rPr lang="en-US" altLang="en-US" sz="3600" b="1"/>
              <a:t>MIMO System Model</a:t>
            </a:r>
          </a:p>
        </p:txBody>
      </p:sp>
      <p:grpSp>
        <p:nvGrpSpPr>
          <p:cNvPr id="2" name="Group 1">
            <a:extLst>
              <a:ext uri="{FF2B5EF4-FFF2-40B4-BE49-F238E27FC236}">
                <a16:creationId xmlns:a16="http://schemas.microsoft.com/office/drawing/2014/main" id="{CB431A60-9965-0E75-A94D-2A54BC351002}"/>
              </a:ext>
            </a:extLst>
          </p:cNvPr>
          <p:cNvGrpSpPr/>
          <p:nvPr/>
        </p:nvGrpSpPr>
        <p:grpSpPr>
          <a:xfrm>
            <a:off x="735013" y="1371600"/>
            <a:ext cx="8342312" cy="4608513"/>
            <a:chOff x="735013" y="1371600"/>
            <a:chExt cx="8342312" cy="4608513"/>
          </a:xfrm>
        </p:grpSpPr>
        <p:graphicFrame>
          <p:nvGraphicFramePr>
            <p:cNvPr id="20484" name="Object 2">
              <a:extLst>
                <a:ext uri="{FF2B5EF4-FFF2-40B4-BE49-F238E27FC236}">
                  <a16:creationId xmlns:a16="http://schemas.microsoft.com/office/drawing/2014/main" id="{80DC85E1-38A2-AC60-36EA-EAC285BC3544}"/>
                </a:ext>
              </a:extLst>
            </p:cNvPr>
            <p:cNvGraphicFramePr>
              <a:graphicFrameLocks noChangeAspect="1"/>
            </p:cNvGraphicFramePr>
            <p:nvPr/>
          </p:nvGraphicFramePr>
          <p:xfrm>
            <a:off x="1981200" y="1398588"/>
            <a:ext cx="939800" cy="2792412"/>
          </p:xfrm>
          <a:graphic>
            <a:graphicData uri="http://schemas.openxmlformats.org/presentationml/2006/ole">
              <mc:AlternateContent xmlns:mc="http://schemas.openxmlformats.org/markup-compatibility/2006">
                <mc:Choice xmlns:v="urn:schemas-microsoft-com:vml" Requires="v">
                  <p:oleObj name="Equation" r:id="rId2" imgW="469900" imgH="1397000" progId="Equation.DSMT4">
                    <p:embed/>
                  </p:oleObj>
                </mc:Choice>
                <mc:Fallback>
                  <p:oleObj name="Equation" r:id="rId2" imgW="469900" imgH="1397000" progId="Equation.DSMT4">
                    <p:embed/>
                    <p:pic>
                      <p:nvPicPr>
                        <p:cNvPr id="20484" name="Object 2">
                          <a:extLst>
                            <a:ext uri="{FF2B5EF4-FFF2-40B4-BE49-F238E27FC236}">
                              <a16:creationId xmlns:a16="http://schemas.microsoft.com/office/drawing/2014/main" id="{80DC85E1-38A2-AC60-36EA-EAC285BC3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398588"/>
                          <a:ext cx="939800" cy="279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3">
              <a:extLst>
                <a:ext uri="{FF2B5EF4-FFF2-40B4-BE49-F238E27FC236}">
                  <a16:creationId xmlns:a16="http://schemas.microsoft.com/office/drawing/2014/main" id="{D9D3120F-DAAD-921D-F735-0A3FB393C19C}"/>
                </a:ext>
              </a:extLst>
            </p:cNvPr>
            <p:cNvGraphicFramePr>
              <a:graphicFrameLocks noChangeAspect="1"/>
            </p:cNvGraphicFramePr>
            <p:nvPr/>
          </p:nvGraphicFramePr>
          <p:xfrm>
            <a:off x="5511800" y="1398588"/>
            <a:ext cx="685800" cy="2792412"/>
          </p:xfrm>
          <a:graphic>
            <a:graphicData uri="http://schemas.openxmlformats.org/presentationml/2006/ole">
              <mc:AlternateContent xmlns:mc="http://schemas.openxmlformats.org/markup-compatibility/2006">
                <mc:Choice xmlns:v="urn:schemas-microsoft-com:vml" Requires="v">
                  <p:oleObj name="Equation" r:id="rId4" imgW="342751" imgH="1396394" progId="Equation.DSMT4">
                    <p:embed/>
                  </p:oleObj>
                </mc:Choice>
                <mc:Fallback>
                  <p:oleObj name="Equation" r:id="rId4" imgW="342751" imgH="1396394" progId="Equation.DSMT4">
                    <p:embed/>
                    <p:pic>
                      <p:nvPicPr>
                        <p:cNvPr id="20485" name="Object 3">
                          <a:extLst>
                            <a:ext uri="{FF2B5EF4-FFF2-40B4-BE49-F238E27FC236}">
                              <a16:creationId xmlns:a16="http://schemas.microsoft.com/office/drawing/2014/main" id="{D9D3120F-DAAD-921D-F735-0A3FB393C1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1800" y="1398588"/>
                          <a:ext cx="685800" cy="279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6" name="Object 4">
              <a:extLst>
                <a:ext uri="{FF2B5EF4-FFF2-40B4-BE49-F238E27FC236}">
                  <a16:creationId xmlns:a16="http://schemas.microsoft.com/office/drawing/2014/main" id="{05675EA9-6DBD-5272-28D9-919E61DF69F3}"/>
                </a:ext>
              </a:extLst>
            </p:cNvPr>
            <p:cNvGraphicFramePr>
              <a:graphicFrameLocks noChangeAspect="1"/>
            </p:cNvGraphicFramePr>
            <p:nvPr/>
          </p:nvGraphicFramePr>
          <p:xfrm>
            <a:off x="2997200" y="1371600"/>
            <a:ext cx="2366963" cy="2798763"/>
          </p:xfrm>
          <a:graphic>
            <a:graphicData uri="http://schemas.openxmlformats.org/presentationml/2006/ole">
              <mc:AlternateContent xmlns:mc="http://schemas.openxmlformats.org/markup-compatibility/2006">
                <mc:Choice xmlns:v="urn:schemas-microsoft-com:vml" Requires="v">
                  <p:oleObj name="Equation" r:id="rId6" imgW="1181100" imgH="1397000" progId="Equation.DSMT4">
                    <p:embed/>
                  </p:oleObj>
                </mc:Choice>
                <mc:Fallback>
                  <p:oleObj name="Equation" r:id="rId6" imgW="1181100" imgH="1397000" progId="Equation.DSMT4">
                    <p:embed/>
                    <p:pic>
                      <p:nvPicPr>
                        <p:cNvPr id="20486" name="Object 4">
                          <a:extLst>
                            <a:ext uri="{FF2B5EF4-FFF2-40B4-BE49-F238E27FC236}">
                              <a16:creationId xmlns:a16="http://schemas.microsoft.com/office/drawing/2014/main" id="{05675EA9-6DBD-5272-28D9-919E61DF69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97200" y="1371600"/>
                          <a:ext cx="2366963" cy="279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7" name="Object 5">
              <a:extLst>
                <a:ext uri="{FF2B5EF4-FFF2-40B4-BE49-F238E27FC236}">
                  <a16:creationId xmlns:a16="http://schemas.microsoft.com/office/drawing/2014/main" id="{D527164B-AD3C-B97E-6ADB-09C21D3C5AEE}"/>
                </a:ext>
              </a:extLst>
            </p:cNvPr>
            <p:cNvGraphicFramePr>
              <a:graphicFrameLocks noChangeAspect="1"/>
            </p:cNvGraphicFramePr>
            <p:nvPr/>
          </p:nvGraphicFramePr>
          <p:xfrm>
            <a:off x="6299200" y="1411288"/>
            <a:ext cx="889000" cy="2792412"/>
          </p:xfrm>
          <a:graphic>
            <a:graphicData uri="http://schemas.openxmlformats.org/presentationml/2006/ole">
              <mc:AlternateContent xmlns:mc="http://schemas.openxmlformats.org/markup-compatibility/2006">
                <mc:Choice xmlns:v="urn:schemas-microsoft-com:vml" Requires="v">
                  <p:oleObj name="Equation" r:id="rId8" imgW="444307" imgH="1396394" progId="Equation.DSMT4">
                    <p:embed/>
                  </p:oleObj>
                </mc:Choice>
                <mc:Fallback>
                  <p:oleObj name="Equation" r:id="rId8" imgW="444307" imgH="1396394" progId="Equation.DSMT4">
                    <p:embed/>
                    <p:pic>
                      <p:nvPicPr>
                        <p:cNvPr id="20487" name="Object 5">
                          <a:extLst>
                            <a:ext uri="{FF2B5EF4-FFF2-40B4-BE49-F238E27FC236}">
                              <a16:creationId xmlns:a16="http://schemas.microsoft.com/office/drawing/2014/main" id="{D527164B-AD3C-B97E-6ADB-09C21D3C5A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99200" y="1411288"/>
                          <a:ext cx="889000" cy="279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8" name="Object 6">
              <a:extLst>
                <a:ext uri="{FF2B5EF4-FFF2-40B4-BE49-F238E27FC236}">
                  <a16:creationId xmlns:a16="http://schemas.microsoft.com/office/drawing/2014/main" id="{8CF9D508-3867-7E25-7B6E-D2ECE28D4E0E}"/>
                </a:ext>
              </a:extLst>
            </p:cNvPr>
            <p:cNvGraphicFramePr>
              <a:graphicFrameLocks noChangeAspect="1"/>
            </p:cNvGraphicFramePr>
            <p:nvPr/>
          </p:nvGraphicFramePr>
          <p:xfrm>
            <a:off x="2987675" y="4559300"/>
            <a:ext cx="1473200" cy="412750"/>
          </p:xfrm>
          <a:graphic>
            <a:graphicData uri="http://schemas.openxmlformats.org/presentationml/2006/ole">
              <mc:AlternateContent xmlns:mc="http://schemas.openxmlformats.org/markup-compatibility/2006">
                <mc:Choice xmlns:v="urn:schemas-microsoft-com:vml" Requires="v">
                  <p:oleObj name="Equation" r:id="rId10" imgW="723586" imgH="203112" progId="Equation.DSMT4">
                    <p:embed/>
                  </p:oleObj>
                </mc:Choice>
                <mc:Fallback>
                  <p:oleObj name="Equation" r:id="rId10" imgW="723586" imgH="203112" progId="Equation.DSMT4">
                    <p:embed/>
                    <p:pic>
                      <p:nvPicPr>
                        <p:cNvPr id="20488" name="Object 6">
                          <a:extLst>
                            <a:ext uri="{FF2B5EF4-FFF2-40B4-BE49-F238E27FC236}">
                              <a16:creationId xmlns:a16="http://schemas.microsoft.com/office/drawing/2014/main" id="{8CF9D508-3867-7E25-7B6E-D2ECE28D4E0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87675" y="4559300"/>
                          <a:ext cx="14732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9" name="Object 7">
              <a:extLst>
                <a:ext uri="{FF2B5EF4-FFF2-40B4-BE49-F238E27FC236}">
                  <a16:creationId xmlns:a16="http://schemas.microsoft.com/office/drawing/2014/main" id="{0B0DD699-D5D5-B5CC-2476-BC54B55023D1}"/>
                </a:ext>
              </a:extLst>
            </p:cNvPr>
            <p:cNvGraphicFramePr>
              <a:graphicFrameLocks noChangeAspect="1"/>
            </p:cNvGraphicFramePr>
            <p:nvPr/>
          </p:nvGraphicFramePr>
          <p:xfrm>
            <a:off x="3481388" y="5397500"/>
            <a:ext cx="557212" cy="304800"/>
          </p:xfrm>
          <a:graphic>
            <a:graphicData uri="http://schemas.openxmlformats.org/presentationml/2006/ole">
              <mc:AlternateContent xmlns:mc="http://schemas.openxmlformats.org/markup-compatibility/2006">
                <mc:Choice xmlns:v="urn:schemas-microsoft-com:vml" Requires="v">
                  <p:oleObj name="Equation" r:id="rId12" imgW="279279" imgH="152334" progId="Equation.DSMT4">
                    <p:embed/>
                  </p:oleObj>
                </mc:Choice>
                <mc:Fallback>
                  <p:oleObj name="Equation" r:id="rId12" imgW="279279" imgH="152334" progId="Equation.DSMT4">
                    <p:embed/>
                    <p:pic>
                      <p:nvPicPr>
                        <p:cNvPr id="20489" name="Object 7">
                          <a:extLst>
                            <a:ext uri="{FF2B5EF4-FFF2-40B4-BE49-F238E27FC236}">
                              <a16:creationId xmlns:a16="http://schemas.microsoft.com/office/drawing/2014/main" id="{0B0DD699-D5D5-B5CC-2476-BC54B55023D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81388" y="5397500"/>
                          <a:ext cx="5572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0490" name="Straight Arrow Connector 11">
              <a:extLst>
                <a:ext uri="{FF2B5EF4-FFF2-40B4-BE49-F238E27FC236}">
                  <a16:creationId xmlns:a16="http://schemas.microsoft.com/office/drawing/2014/main" id="{C35C56F4-AF8B-E410-3174-D5C6F7202E8E}"/>
                </a:ext>
              </a:extLst>
            </p:cNvPr>
            <p:cNvCxnSpPr>
              <a:cxnSpLocks noChangeShapeType="1"/>
            </p:cNvCxnSpPr>
            <p:nvPr/>
          </p:nvCxnSpPr>
          <p:spPr bwMode="auto">
            <a:xfrm rot="16200000" flipV="1">
              <a:off x="3543300" y="5067300"/>
              <a:ext cx="304800" cy="76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0491" name="TextBox 12">
              <a:extLst>
                <a:ext uri="{FF2B5EF4-FFF2-40B4-BE49-F238E27FC236}">
                  <a16:creationId xmlns:a16="http://schemas.microsoft.com/office/drawing/2014/main" id="{9644EEE7-96BF-52EC-587B-FA13BD7CCB4F}"/>
                </a:ext>
              </a:extLst>
            </p:cNvPr>
            <p:cNvSpPr txBox="1">
              <a:spLocks noChangeArrowheads="1"/>
            </p:cNvSpPr>
            <p:nvPr/>
          </p:nvSpPr>
          <p:spPr bwMode="auto">
            <a:xfrm>
              <a:off x="4025900" y="5321300"/>
              <a:ext cx="1981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0"/>
                <a:t>Channel matrix</a:t>
              </a:r>
            </a:p>
          </p:txBody>
        </p:sp>
        <p:sp>
          <p:nvSpPr>
            <p:cNvPr id="20492" name="TextBox 13">
              <a:extLst>
                <a:ext uri="{FF2B5EF4-FFF2-40B4-BE49-F238E27FC236}">
                  <a16:creationId xmlns:a16="http://schemas.microsoft.com/office/drawing/2014/main" id="{AA5A1F89-1DD0-D4A9-A268-028F15C0697F}"/>
                </a:ext>
              </a:extLst>
            </p:cNvPr>
            <p:cNvSpPr txBox="1">
              <a:spLocks noChangeArrowheads="1"/>
            </p:cNvSpPr>
            <p:nvPr/>
          </p:nvSpPr>
          <p:spPr bwMode="auto">
            <a:xfrm>
              <a:off x="914400" y="5181600"/>
              <a:ext cx="2057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0"/>
                <a:t>dimensional receive vector</a:t>
              </a:r>
            </a:p>
          </p:txBody>
        </p:sp>
        <p:graphicFrame>
          <p:nvGraphicFramePr>
            <p:cNvPr id="20493" name="Object 8">
              <a:extLst>
                <a:ext uri="{FF2B5EF4-FFF2-40B4-BE49-F238E27FC236}">
                  <a16:creationId xmlns:a16="http://schemas.microsoft.com/office/drawing/2014/main" id="{DD00BEF9-2AD1-7FAA-5492-6F90FB7BCA31}"/>
                </a:ext>
              </a:extLst>
            </p:cNvPr>
            <p:cNvGraphicFramePr>
              <a:graphicFrameLocks noChangeAspect="1"/>
            </p:cNvGraphicFramePr>
            <p:nvPr/>
          </p:nvGraphicFramePr>
          <p:xfrm>
            <a:off x="735013" y="5310188"/>
            <a:ext cx="228600" cy="254000"/>
          </p:xfrm>
          <a:graphic>
            <a:graphicData uri="http://schemas.openxmlformats.org/presentationml/2006/ole">
              <mc:AlternateContent xmlns:mc="http://schemas.openxmlformats.org/markup-compatibility/2006">
                <mc:Choice xmlns:v="urn:schemas-microsoft-com:vml" Requires="v">
                  <p:oleObj name="Equation" r:id="rId14" imgW="114102" imgH="126780" progId="Equation.DSMT4">
                    <p:embed/>
                  </p:oleObj>
                </mc:Choice>
                <mc:Fallback>
                  <p:oleObj name="Equation" r:id="rId14" imgW="114102" imgH="126780" progId="Equation.DSMT4">
                    <p:embed/>
                    <p:pic>
                      <p:nvPicPr>
                        <p:cNvPr id="20493" name="Object 8">
                          <a:extLst>
                            <a:ext uri="{FF2B5EF4-FFF2-40B4-BE49-F238E27FC236}">
                              <a16:creationId xmlns:a16="http://schemas.microsoft.com/office/drawing/2014/main" id="{DD00BEF9-2AD1-7FAA-5492-6F90FB7BCA3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5013" y="5310188"/>
                          <a:ext cx="2286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4" name="TextBox 15">
              <a:extLst>
                <a:ext uri="{FF2B5EF4-FFF2-40B4-BE49-F238E27FC236}">
                  <a16:creationId xmlns:a16="http://schemas.microsoft.com/office/drawing/2014/main" id="{8746CB70-C7AA-A7A3-6438-47ED7B4DB3B8}"/>
                </a:ext>
              </a:extLst>
            </p:cNvPr>
            <p:cNvSpPr txBox="1">
              <a:spLocks noChangeArrowheads="1"/>
            </p:cNvSpPr>
            <p:nvPr/>
          </p:nvSpPr>
          <p:spPr bwMode="auto">
            <a:xfrm>
              <a:off x="6096000" y="5334000"/>
              <a:ext cx="2057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0"/>
                <a:t>dimensional  transmit vector</a:t>
              </a:r>
            </a:p>
          </p:txBody>
        </p:sp>
        <p:graphicFrame>
          <p:nvGraphicFramePr>
            <p:cNvPr id="20495" name="Object 9">
              <a:extLst>
                <a:ext uri="{FF2B5EF4-FFF2-40B4-BE49-F238E27FC236}">
                  <a16:creationId xmlns:a16="http://schemas.microsoft.com/office/drawing/2014/main" id="{AD24A7B7-69E4-3A76-8E86-AC70F71D5DA0}"/>
                </a:ext>
              </a:extLst>
            </p:cNvPr>
            <p:cNvGraphicFramePr>
              <a:graphicFrameLocks noChangeAspect="1"/>
            </p:cNvGraphicFramePr>
            <p:nvPr/>
          </p:nvGraphicFramePr>
          <p:xfrm>
            <a:off x="5940425" y="5410200"/>
            <a:ext cx="177800" cy="304800"/>
          </p:xfrm>
          <a:graphic>
            <a:graphicData uri="http://schemas.openxmlformats.org/presentationml/2006/ole">
              <mc:AlternateContent xmlns:mc="http://schemas.openxmlformats.org/markup-compatibility/2006">
                <mc:Choice xmlns:v="urn:schemas-microsoft-com:vml" Requires="v">
                  <p:oleObj name="Equation" r:id="rId16" imgW="88746" imgH="152136" progId="Equation.DSMT4">
                    <p:embed/>
                  </p:oleObj>
                </mc:Choice>
                <mc:Fallback>
                  <p:oleObj name="Equation" r:id="rId16" imgW="88746" imgH="152136" progId="Equation.DSMT4">
                    <p:embed/>
                    <p:pic>
                      <p:nvPicPr>
                        <p:cNvPr id="20495" name="Object 9">
                          <a:extLst>
                            <a:ext uri="{FF2B5EF4-FFF2-40B4-BE49-F238E27FC236}">
                              <a16:creationId xmlns:a16="http://schemas.microsoft.com/office/drawing/2014/main" id="{AD24A7B7-69E4-3A76-8E86-AC70F71D5DA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40425" y="5410200"/>
                          <a:ext cx="17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0496" name="Straight Arrow Connector 18">
              <a:extLst>
                <a:ext uri="{FF2B5EF4-FFF2-40B4-BE49-F238E27FC236}">
                  <a16:creationId xmlns:a16="http://schemas.microsoft.com/office/drawing/2014/main" id="{ABE7E40E-77E5-F29A-659D-80E03B521BA0}"/>
                </a:ext>
              </a:extLst>
            </p:cNvPr>
            <p:cNvCxnSpPr>
              <a:cxnSpLocks noChangeShapeType="1"/>
            </p:cNvCxnSpPr>
            <p:nvPr/>
          </p:nvCxnSpPr>
          <p:spPr bwMode="auto">
            <a:xfrm rot="5400000" flipH="1" flipV="1">
              <a:off x="1524000" y="4419600"/>
              <a:ext cx="7620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497" name="Straight Arrow Connector 20">
              <a:extLst>
                <a:ext uri="{FF2B5EF4-FFF2-40B4-BE49-F238E27FC236}">
                  <a16:creationId xmlns:a16="http://schemas.microsoft.com/office/drawing/2014/main" id="{1F09C8AD-F8D1-4D3F-25D4-B3B2539BBEBA}"/>
                </a:ext>
              </a:extLst>
            </p:cNvPr>
            <p:cNvCxnSpPr>
              <a:cxnSpLocks noChangeShapeType="1"/>
            </p:cNvCxnSpPr>
            <p:nvPr/>
          </p:nvCxnSpPr>
          <p:spPr bwMode="auto">
            <a:xfrm rot="16200000" flipV="1">
              <a:off x="5676900" y="4457700"/>
              <a:ext cx="1066800" cy="685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aphicFrame>
          <p:nvGraphicFramePr>
            <p:cNvPr id="20498" name="Object 10">
              <a:extLst>
                <a:ext uri="{FF2B5EF4-FFF2-40B4-BE49-F238E27FC236}">
                  <a16:creationId xmlns:a16="http://schemas.microsoft.com/office/drawing/2014/main" id="{A8159B22-6EBF-E6E8-A43F-188D4DBF23D4}"/>
                </a:ext>
              </a:extLst>
            </p:cNvPr>
            <p:cNvGraphicFramePr>
              <a:graphicFrameLocks noChangeAspect="1"/>
            </p:cNvGraphicFramePr>
            <p:nvPr/>
          </p:nvGraphicFramePr>
          <p:xfrm>
            <a:off x="7315200" y="4495800"/>
            <a:ext cx="228600" cy="254000"/>
          </p:xfrm>
          <a:graphic>
            <a:graphicData uri="http://schemas.openxmlformats.org/presentationml/2006/ole">
              <mc:AlternateContent xmlns:mc="http://schemas.openxmlformats.org/markup-compatibility/2006">
                <mc:Choice xmlns:v="urn:schemas-microsoft-com:vml" Requires="v">
                  <p:oleObj name="Equation" r:id="rId18" imgW="114102" imgH="126780" progId="Equation.DSMT4">
                    <p:embed/>
                  </p:oleObj>
                </mc:Choice>
                <mc:Fallback>
                  <p:oleObj name="Equation" r:id="rId18" imgW="114102" imgH="126780" progId="Equation.DSMT4">
                    <p:embed/>
                    <p:pic>
                      <p:nvPicPr>
                        <p:cNvPr id="20498" name="Object 10">
                          <a:extLst>
                            <a:ext uri="{FF2B5EF4-FFF2-40B4-BE49-F238E27FC236}">
                              <a16:creationId xmlns:a16="http://schemas.microsoft.com/office/drawing/2014/main" id="{A8159B22-6EBF-E6E8-A43F-188D4DBF23D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15200" y="4495800"/>
                          <a:ext cx="2286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9" name="TextBox 22">
              <a:extLst>
                <a:ext uri="{FF2B5EF4-FFF2-40B4-BE49-F238E27FC236}">
                  <a16:creationId xmlns:a16="http://schemas.microsoft.com/office/drawing/2014/main" id="{58CE41CF-EFF4-F398-7045-1DB12A1A5643}"/>
                </a:ext>
              </a:extLst>
            </p:cNvPr>
            <p:cNvSpPr txBox="1">
              <a:spLocks noChangeArrowheads="1"/>
            </p:cNvSpPr>
            <p:nvPr/>
          </p:nvSpPr>
          <p:spPr bwMode="auto">
            <a:xfrm>
              <a:off x="7477125" y="4483100"/>
              <a:ext cx="1600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b="0"/>
                <a:t>Dimensional noise vector</a:t>
              </a:r>
            </a:p>
          </p:txBody>
        </p:sp>
        <p:cxnSp>
          <p:nvCxnSpPr>
            <p:cNvPr id="20500" name="Straight Arrow Connector 24">
              <a:extLst>
                <a:ext uri="{FF2B5EF4-FFF2-40B4-BE49-F238E27FC236}">
                  <a16:creationId xmlns:a16="http://schemas.microsoft.com/office/drawing/2014/main" id="{B6299986-643A-2950-CF9A-0EE304D36EE4}"/>
                </a:ext>
              </a:extLst>
            </p:cNvPr>
            <p:cNvCxnSpPr>
              <a:cxnSpLocks noChangeShapeType="1"/>
            </p:cNvCxnSpPr>
            <p:nvPr/>
          </p:nvCxnSpPr>
          <p:spPr bwMode="auto">
            <a:xfrm rot="10800000">
              <a:off x="7086600" y="4267200"/>
              <a:ext cx="457200" cy="228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87FB30-6A28-5E2B-8A05-2C50B8F48725}"/>
              </a:ext>
            </a:extLst>
          </p:cNvPr>
          <p:cNvSpPr>
            <a:spLocks noGrp="1"/>
          </p:cNvSpPr>
          <p:nvPr>
            <p:ph type="title"/>
          </p:nvPr>
        </p:nvSpPr>
        <p:spPr>
          <a:xfrm>
            <a:off x="571352" y="350196"/>
            <a:ext cx="5034318" cy="1624520"/>
          </a:xfrm>
        </p:spPr>
        <p:txBody>
          <a:bodyPr anchor="ctr">
            <a:normAutofit/>
          </a:bodyPr>
          <a:lstStyle/>
          <a:p>
            <a:r>
              <a:rPr lang="en-US" sz="3500" b="1" dirty="0">
                <a:latin typeface="Times New Roman" panose="02020603050405020304" pitchFamily="18" charset="0"/>
                <a:cs typeface="Times New Roman" panose="02020603050405020304" pitchFamily="18" charset="0"/>
              </a:rPr>
              <a:t>The MIMO system as a linear transformation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241F7B-0AB3-0DD8-0E2E-ABDF48CFCC7E}"/>
                  </a:ext>
                </a:extLst>
              </p:cNvPr>
              <p:cNvSpPr>
                <a:spLocks noGrp="1"/>
              </p:cNvSpPr>
              <p:nvPr>
                <p:ph idx="1"/>
              </p:nvPr>
            </p:nvSpPr>
            <p:spPr>
              <a:xfrm>
                <a:off x="278297" y="2743200"/>
                <a:ext cx="5234608" cy="3613149"/>
              </a:xfrm>
            </p:spPr>
            <p:txBody>
              <a:bodyPr anchor="ctr">
                <a:noAutofit/>
              </a:bodyPr>
              <a:lstStyle/>
              <a:p>
                <a:pPr marL="0" indent="0">
                  <a:buNone/>
                </a:pPr>
                <a:r>
                  <a:rPr lang="en-US" sz="2400" b="1" dirty="0"/>
                  <a:t>System Model</a:t>
                </a:r>
              </a:p>
              <a:p>
                <a:pPr marL="0" indent="0">
                  <a:buNone/>
                </a:pPr>
                <a14:m>
                  <m:oMathPara xmlns:m="http://schemas.openxmlformats.org/officeDocument/2006/math">
                    <m:oMathParaPr>
                      <m:jc m:val="centerGroup"/>
                    </m:oMathParaPr>
                    <m:oMath xmlns:m="http://schemas.openxmlformats.org/officeDocument/2006/math">
                      <m:r>
                        <a:rPr lang="en-US" sz="2400" b="1">
                          <a:latin typeface="Cambria Math" panose="02040503050406030204" pitchFamily="18" charset="0"/>
                        </a:rPr>
                        <m:t>𝐲</m:t>
                      </m:r>
                      <m:r>
                        <a:rPr lang="en-US" sz="2400">
                          <a:latin typeface="Cambria Math" panose="02040503050406030204" pitchFamily="18" charset="0"/>
                        </a:rPr>
                        <m:t>=</m:t>
                      </m:r>
                      <m:r>
                        <a:rPr lang="en-US" sz="2400" b="1">
                          <a:latin typeface="Cambria Math" panose="02040503050406030204" pitchFamily="18" charset="0"/>
                        </a:rPr>
                        <m:t>𝐇𝐱</m:t>
                      </m:r>
                      <m:r>
                        <a:rPr lang="en-US" sz="2400">
                          <a:latin typeface="Cambria Math" panose="02040503050406030204" pitchFamily="18" charset="0"/>
                        </a:rPr>
                        <m:t>+</m:t>
                      </m:r>
                      <m:r>
                        <a:rPr lang="en-US" sz="2400" b="1">
                          <a:latin typeface="Cambria Math" panose="02040503050406030204" pitchFamily="18" charset="0"/>
                        </a:rPr>
                        <m:t>𝐧</m:t>
                      </m:r>
                    </m:oMath>
                  </m:oMathPara>
                </a14:m>
                <a:endParaRPr lang="en-US" sz="2400" b="1" dirty="0"/>
              </a:p>
              <a:p>
                <a:pPr marL="0" indent="0">
                  <a:buNone/>
                </a:pPr>
                <a14:m>
                  <m:oMath xmlns:m="http://schemas.openxmlformats.org/officeDocument/2006/math">
                    <m:r>
                      <a:rPr lang="en-US" sz="2400" b="1">
                        <a:latin typeface="Cambria Math" panose="02040503050406030204" pitchFamily="18" charset="0"/>
                      </a:rPr>
                      <m:t>𝐱</m:t>
                    </m:r>
                  </m:oMath>
                </a14:m>
                <a:r>
                  <a:rPr lang="en-US" sz="2400" dirty="0"/>
                  <a:t>: vector of transmitted symbols</a:t>
                </a:r>
              </a:p>
              <a:p>
                <a:pPr marL="0" indent="0">
                  <a:buNone/>
                </a:pPr>
                <a14:m>
                  <m:oMath xmlns:m="http://schemas.openxmlformats.org/officeDocument/2006/math">
                    <m:r>
                      <a:rPr lang="en-US" sz="2400" b="1">
                        <a:latin typeface="Cambria Math" panose="02040503050406030204" pitchFamily="18" charset="0"/>
                      </a:rPr>
                      <m:t>𝐲</m:t>
                    </m:r>
                  </m:oMath>
                </a14:m>
                <a:r>
                  <a:rPr lang="en-US" sz="2400" dirty="0"/>
                  <a:t>: vector of received symbols</a:t>
                </a:r>
              </a:p>
              <a:p>
                <a:pPr marL="0" indent="0">
                  <a:buNone/>
                </a:pPr>
                <a14:m>
                  <m:oMath xmlns:m="http://schemas.openxmlformats.org/officeDocument/2006/math">
                    <m:r>
                      <a:rPr lang="en-US" sz="2400" b="1">
                        <a:latin typeface="Cambria Math" panose="02040503050406030204" pitchFamily="18" charset="0"/>
                      </a:rPr>
                      <m:t>𝐇</m:t>
                    </m:r>
                  </m:oMath>
                </a14:m>
                <a:r>
                  <a:rPr lang="en-US" sz="2400" dirty="0"/>
                  <a:t>: channel matrix</a:t>
                </a:r>
              </a:p>
              <a:p>
                <a:pPr marL="0" indent="0">
                  <a:buNone/>
                </a:pPr>
                <a:r>
                  <a:rPr lang="en-US" sz="2400" dirty="0"/>
                  <a:t>Each multipath channel gain </a:t>
                </a:r>
                <a14:m>
                  <m:oMath xmlns:m="http://schemas.openxmlformats.org/officeDocument/2006/math">
                    <m:sSub>
                      <m:sSubPr>
                        <m:ctrlPr>
                          <a:rPr lang="ar-SA" sz="2400" i="1">
                            <a:latin typeface="Cambria Math" panose="02040503050406030204" pitchFamily="18" charset="0"/>
                          </a:rPr>
                        </m:ctrlPr>
                      </m:sSubPr>
                      <m:e>
                        <m:r>
                          <a:rPr lang="ar-SA" sz="2400" i="1">
                            <a:latin typeface="Cambria Math" panose="02040503050406030204" pitchFamily="18" charset="0"/>
                          </a:rPr>
                          <m:t>h</m:t>
                        </m:r>
                      </m:e>
                      <m:sub>
                        <m:r>
                          <a:rPr lang="ar-SA" sz="2400" i="1">
                            <a:latin typeface="Cambria Math" panose="02040503050406030204" pitchFamily="18" charset="0"/>
                          </a:rPr>
                          <m:t>𝑖𝑗</m:t>
                        </m:r>
                      </m:sub>
                    </m:sSub>
                  </m:oMath>
                </a14:m>
                <a:r>
                  <a:rPr lang="en-US" sz="2400" dirty="0"/>
                  <a:t>is one element of the matrix </a:t>
                </a:r>
                <a14:m>
                  <m:oMath xmlns:m="http://schemas.openxmlformats.org/officeDocument/2006/math">
                    <m:r>
                      <a:rPr lang="en-US" sz="2400" i="1">
                        <a:latin typeface="Cambria Math" panose="02040503050406030204" pitchFamily="18" charset="0"/>
                      </a:rPr>
                      <m:t>𝐻</m:t>
                    </m:r>
                  </m:oMath>
                </a14:m>
                <a:r>
                  <a:rPr lang="en-US" sz="2400" dirty="0"/>
                  <a:t>, and the received signal is a linear combination of the transmitted streams.</a:t>
                </a:r>
              </a:p>
              <a:p>
                <a:pPr marL="0" indent="0">
                  <a:buNone/>
                </a:pPr>
                <a14:m>
                  <m:oMath xmlns:m="http://schemas.openxmlformats.org/officeDocument/2006/math">
                    <m:r>
                      <a:rPr lang="en-US" sz="2400" b="1">
                        <a:latin typeface="Cambria Math" panose="02040503050406030204" pitchFamily="18" charset="0"/>
                      </a:rPr>
                      <m:t>𝐧</m:t>
                    </m:r>
                  </m:oMath>
                </a14:m>
                <a:r>
                  <a:rPr lang="en-US" sz="2400" dirty="0"/>
                  <a:t>: noise</a:t>
                </a:r>
              </a:p>
              <a:p>
                <a:endParaRPr lang="en-US" sz="2400" dirty="0"/>
              </a:p>
            </p:txBody>
          </p:sp>
        </mc:Choice>
        <mc:Fallback>
          <p:sp>
            <p:nvSpPr>
              <p:cNvPr id="3" name="Content Placeholder 2">
                <a:extLst>
                  <a:ext uri="{FF2B5EF4-FFF2-40B4-BE49-F238E27FC236}">
                    <a16:creationId xmlns:a16="http://schemas.microsoft.com/office/drawing/2014/main" id="{15241F7B-0AB3-0DD8-0E2E-ABDF48CFCC7E}"/>
                  </a:ext>
                </a:extLst>
              </p:cNvPr>
              <p:cNvSpPr>
                <a:spLocks noGrp="1" noRot="1" noChangeAspect="1" noMove="1" noResize="1" noEditPoints="1" noAdjustHandles="1" noChangeArrowheads="1" noChangeShapeType="1" noTextEdit="1"/>
              </p:cNvSpPr>
              <p:nvPr>
                <p:ph idx="1"/>
              </p:nvPr>
            </p:nvSpPr>
            <p:spPr>
              <a:xfrm>
                <a:off x="278297" y="2743200"/>
                <a:ext cx="5234608" cy="3613149"/>
              </a:xfrm>
              <a:blipFill>
                <a:blip r:embed="rId3"/>
                <a:stretch>
                  <a:fillRect l="-1865" t="-14671" r="-2564" b="-337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49D51B0-32D6-20D1-AD70-AF1E9556FA5E}"/>
              </a:ext>
            </a:extLst>
          </p:cNvPr>
          <p:cNvPicPr>
            <a:picLocks noChangeAspect="1"/>
          </p:cNvPicPr>
          <p:nvPr/>
        </p:nvPicPr>
        <p:blipFill>
          <a:blip r:embed="rId4"/>
          <a:srcRect l="46378" r="12075" b="-1"/>
          <a:stretch>
            <a:fillRect/>
          </a:stretch>
        </p:blipFill>
        <p:spPr>
          <a:xfrm>
            <a:off x="5830956" y="1"/>
            <a:ext cx="3318161" cy="6858000"/>
          </a:xfrm>
          <a:prstGeom prst="rect">
            <a:avLst/>
          </a:prstGeom>
        </p:spPr>
      </p:pic>
    </p:spTree>
    <p:extLst>
      <p:ext uri="{BB962C8B-B14F-4D97-AF65-F5344CB8AC3E}">
        <p14:creationId xmlns:p14="http://schemas.microsoft.com/office/powerpoint/2010/main" val="2670702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12EF2B-72DD-12A7-1F89-258C5ADCEAC4}"/>
              </a:ext>
            </a:extLst>
          </p:cNvPr>
          <p:cNvSpPr>
            <a:spLocks noGrp="1"/>
          </p:cNvSpPr>
          <p:nvPr>
            <p:ph type="title"/>
          </p:nvPr>
        </p:nvSpPr>
        <p:spPr>
          <a:xfrm>
            <a:off x="476250" y="640823"/>
            <a:ext cx="2563994" cy="5583148"/>
          </a:xfrm>
        </p:spPr>
        <p:txBody>
          <a:bodyPr anchor="ctr">
            <a:normAutofit/>
          </a:bodyPr>
          <a:lstStyle/>
          <a:p>
            <a:r>
              <a:rPr lang="en-US" sz="4700" b="1" dirty="0">
                <a:latin typeface="Times New Roman" panose="02020603050405020304" pitchFamily="18" charset="0"/>
                <a:cs typeface="Times New Roman" panose="02020603050405020304" pitchFamily="18" charset="0"/>
              </a:rPr>
              <a:t>Types of MIMO</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18942FA-BE22-8159-5C67-B00611B4DC5F}"/>
              </a:ext>
            </a:extLst>
          </p:cNvPr>
          <p:cNvGraphicFramePr>
            <a:graphicFrameLocks noGrp="1"/>
          </p:cNvGraphicFramePr>
          <p:nvPr>
            <p:ph idx="1"/>
            <p:extLst>
              <p:ext uri="{D42A27DB-BD31-4B8C-83A1-F6EECF244321}">
                <p14:modId xmlns:p14="http://schemas.microsoft.com/office/powerpoint/2010/main" val="3760542750"/>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748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0A1C-DC60-6BF4-0750-868239676235}"/>
              </a:ext>
            </a:extLst>
          </p:cNvPr>
          <p:cNvSpPr>
            <a:spLocks noGrp="1"/>
          </p:cNvSpPr>
          <p:nvPr>
            <p:ph type="title"/>
          </p:nvPr>
        </p:nvSpPr>
        <p:spPr>
          <a:xfrm>
            <a:off x="628650" y="365127"/>
            <a:ext cx="7886700" cy="788760"/>
          </a:xfrm>
        </p:spPr>
        <p:txBody>
          <a:bodyPr>
            <a:normAutofit/>
          </a:bodyPr>
          <a:lstStyle/>
          <a:p>
            <a:r>
              <a:rPr lang="en-CA" altLang="en-US" sz="3600" b="1" dirty="0">
                <a:latin typeface="Times New Roman" panose="02020603050405020304" pitchFamily="18" charset="0"/>
                <a:cs typeface="Times New Roman" panose="02020603050405020304" pitchFamily="18" charset="0"/>
              </a:rPr>
              <a:t>MIMO Capacity on Fading channels</a:t>
            </a:r>
            <a:endParaRPr lang="en-US" sz="3600" b="1" dirty="0">
              <a:latin typeface="Times New Roman" panose="02020603050405020304" pitchFamily="18" charset="0"/>
              <a:cs typeface="Times New Roman" panose="02020603050405020304" pitchFamily="18" charset="0"/>
            </a:endParaRPr>
          </a:p>
        </p:txBody>
      </p:sp>
      <p:graphicFrame>
        <p:nvGraphicFramePr>
          <p:cNvPr id="6" name="Object 3">
            <a:extLst>
              <a:ext uri="{FF2B5EF4-FFF2-40B4-BE49-F238E27FC236}">
                <a16:creationId xmlns:a16="http://schemas.microsoft.com/office/drawing/2014/main" id="{2C014641-CDF3-D7C8-2024-07B56C429BFA}"/>
              </a:ext>
            </a:extLst>
          </p:cNvPr>
          <p:cNvGraphicFramePr>
            <a:graphicFrameLocks noChangeAspect="1"/>
          </p:cNvGraphicFramePr>
          <p:nvPr/>
        </p:nvGraphicFramePr>
        <p:xfrm>
          <a:off x="4686300" y="3168650"/>
          <a:ext cx="114300" cy="215900"/>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6" name="Object 3">
                        <a:extLst>
                          <a:ext uri="{FF2B5EF4-FFF2-40B4-BE49-F238E27FC236}">
                            <a16:creationId xmlns:a16="http://schemas.microsoft.com/office/drawing/2014/main" id="{2C014641-CDF3-D7C8-2024-07B56C429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6300" y="31686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2">
            <a:extLst>
              <a:ext uri="{FF2B5EF4-FFF2-40B4-BE49-F238E27FC236}">
                <a16:creationId xmlns:a16="http://schemas.microsoft.com/office/drawing/2014/main" id="{CE9B28D7-316A-55E9-2197-23187B1E44A8}"/>
              </a:ext>
            </a:extLst>
          </p:cNvPr>
          <p:cNvGrpSpPr/>
          <p:nvPr/>
        </p:nvGrpSpPr>
        <p:grpSpPr>
          <a:xfrm>
            <a:off x="628650" y="1333500"/>
            <a:ext cx="7886700" cy="5225482"/>
            <a:chOff x="628650" y="1333500"/>
            <a:chExt cx="7886700" cy="5225482"/>
          </a:xfrm>
        </p:grpSpPr>
        <p:sp>
          <p:nvSpPr>
            <p:cNvPr id="4" name="Rectangle 3">
              <a:extLst>
                <a:ext uri="{FF2B5EF4-FFF2-40B4-BE49-F238E27FC236}">
                  <a16:creationId xmlns:a16="http://schemas.microsoft.com/office/drawing/2014/main" id="{F263BEB8-840C-D5EC-9C40-ECD1E68D63CF}"/>
                </a:ext>
              </a:extLst>
            </p:cNvPr>
            <p:cNvSpPr txBox="1">
              <a:spLocks noChangeArrowheads="1"/>
            </p:cNvSpPr>
            <p:nvPr/>
          </p:nvSpPr>
          <p:spPr>
            <a:xfrm>
              <a:off x="628650" y="1333500"/>
              <a:ext cx="7886700" cy="51593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ltLang="en-US" sz="2000" dirty="0"/>
                <a:t>The capacity increase can be seen by comparing MIMO systems with SISO, SIMO, and MISO systems</a:t>
              </a:r>
            </a:p>
            <a:p>
              <a:pPr lvl="1"/>
              <a:r>
                <a:rPr lang="en-CA" altLang="en-US" sz="2000" dirty="0"/>
                <a:t>SISO:</a:t>
              </a:r>
              <a:r>
                <a:rPr lang="en-GB" altLang="en-US" sz="2000" dirty="0"/>
                <a:t>capacity is given by Shannon’s classical formula:</a:t>
              </a:r>
            </a:p>
            <a:p>
              <a:pPr lvl="1"/>
              <a:endParaRPr lang="en-GB" altLang="en-US" sz="2000" dirty="0"/>
            </a:p>
            <a:p>
              <a:pPr lvl="1"/>
              <a:endParaRPr lang="en-GB" altLang="en-US" sz="2000" dirty="0"/>
            </a:p>
            <a:p>
              <a:pPr lvl="1">
                <a:buFontTx/>
                <a:buNone/>
              </a:pPr>
              <a:r>
                <a:rPr lang="en-CA" altLang="en-US" sz="2000" dirty="0"/>
                <a:t>Where B is the BW and </a:t>
              </a:r>
              <a:r>
                <a:rPr lang="en-CA" altLang="en-US" sz="2000" dirty="0">
                  <a:latin typeface="Times New Roman" panose="02020603050405020304" pitchFamily="18" charset="0"/>
                  <a:cs typeface="Times New Roman" panose="02020603050405020304" pitchFamily="18" charset="0"/>
                </a:rPr>
                <a:t>h</a:t>
              </a:r>
              <a:r>
                <a:rPr lang="en-CA" altLang="en-US" sz="2000" dirty="0"/>
                <a:t> is the fading gain</a:t>
              </a:r>
            </a:p>
            <a:p>
              <a:pPr lvl="1"/>
              <a:endParaRPr lang="en-CA" altLang="en-US" sz="2000" dirty="0"/>
            </a:p>
            <a:p>
              <a:pPr lvl="1"/>
              <a:r>
                <a:rPr lang="en-CA" altLang="en-US" sz="2000" dirty="0"/>
                <a:t>SIMO (with M Receiving antennas), the capacity is given by</a:t>
              </a:r>
            </a:p>
            <a:p>
              <a:pPr lvl="1"/>
              <a:endParaRPr lang="en-CA" altLang="en-US" sz="2000" dirty="0"/>
            </a:p>
            <a:p>
              <a:pPr lvl="1"/>
              <a:endParaRPr lang="en-CA" altLang="en-US" sz="2000" dirty="0"/>
            </a:p>
            <a:p>
              <a:pPr lvl="1"/>
              <a:endParaRPr lang="en-CA" altLang="en-US" sz="2000" dirty="0"/>
            </a:p>
            <a:p>
              <a:pPr lvl="1"/>
              <a:endParaRPr lang="en-CA" altLang="en-US" sz="2000" dirty="0"/>
            </a:p>
            <a:p>
              <a:pPr lvl="1"/>
              <a:r>
                <a:rPr lang="en-CA" altLang="en-US" sz="2000" dirty="0"/>
                <a:t>MISO (with M transmitting antennas), the capacity is given by</a:t>
              </a:r>
            </a:p>
            <a:p>
              <a:pPr lvl="1"/>
              <a:endParaRPr lang="en-CA" altLang="en-US" sz="2000" dirty="0"/>
            </a:p>
            <a:p>
              <a:pPr lvl="1"/>
              <a:endParaRPr lang="en-CA" altLang="en-US" sz="2000" dirty="0"/>
            </a:p>
            <a:p>
              <a:pPr lvl="1"/>
              <a:endParaRPr lang="en-CA" altLang="en-US" sz="2000" dirty="0"/>
            </a:p>
            <a:p>
              <a:pPr lvl="1"/>
              <a:endParaRPr lang="en-CA" altLang="en-US" sz="2000" dirty="0"/>
            </a:p>
            <a:p>
              <a:pPr lvl="1"/>
              <a:endParaRPr lang="en-CA" altLang="en-US" sz="2000" dirty="0"/>
            </a:p>
            <a:p>
              <a:pPr lvl="1"/>
              <a:endParaRPr lang="en-CA" altLang="en-US" sz="2000" dirty="0"/>
            </a:p>
          </p:txBody>
        </p:sp>
        <p:graphicFrame>
          <p:nvGraphicFramePr>
            <p:cNvPr id="5" name="Object 2">
              <a:extLst>
                <a:ext uri="{FF2B5EF4-FFF2-40B4-BE49-F238E27FC236}">
                  <a16:creationId xmlns:a16="http://schemas.microsoft.com/office/drawing/2014/main" id="{06B34CAF-1AB2-3146-4341-F5BBF8A5060B}"/>
                </a:ext>
              </a:extLst>
            </p:cNvPr>
            <p:cNvGraphicFramePr>
              <a:graphicFrameLocks noChangeAspect="1"/>
            </p:cNvGraphicFramePr>
            <p:nvPr/>
          </p:nvGraphicFramePr>
          <p:xfrm>
            <a:off x="3006725" y="2269332"/>
            <a:ext cx="2692966" cy="611187"/>
          </p:xfrm>
          <a:graphic>
            <a:graphicData uri="http://schemas.openxmlformats.org/presentationml/2006/ole">
              <mc:AlternateContent xmlns:mc="http://schemas.openxmlformats.org/markup-compatibility/2006">
                <mc:Choice xmlns:v="urn:schemas-microsoft-com:vml" Requires="v">
                  <p:oleObj name="Equation" r:id="rId4" imgW="1511300" imgH="342900" progId="Equation.3">
                    <p:embed/>
                  </p:oleObj>
                </mc:Choice>
                <mc:Fallback>
                  <p:oleObj name="Equation" r:id="rId4" imgW="1511300" imgH="342900" progId="Equation.3">
                    <p:embed/>
                    <p:pic>
                      <p:nvPicPr>
                        <p:cNvPr id="5" name="Object 2">
                          <a:extLst>
                            <a:ext uri="{FF2B5EF4-FFF2-40B4-BE49-F238E27FC236}">
                              <a16:creationId xmlns:a16="http://schemas.microsoft.com/office/drawing/2014/main" id="{06B34CAF-1AB2-3146-4341-F5BBF8A506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6725" y="2269332"/>
                          <a:ext cx="2692966" cy="611187"/>
                        </a:xfrm>
                        <a:prstGeom prst="rect">
                          <a:avLst/>
                        </a:prstGeom>
                        <a:noFill/>
                        <a:ln>
                          <a:noFill/>
                        </a:ln>
                        <a:effectLst/>
                      </p:spPr>
                    </p:pic>
                  </p:oleObj>
                </mc:Fallback>
              </mc:AlternateContent>
            </a:graphicData>
          </a:graphic>
        </p:graphicFrame>
        <p:graphicFrame>
          <p:nvGraphicFramePr>
            <p:cNvPr id="7" name="Object 4">
              <a:extLst>
                <a:ext uri="{FF2B5EF4-FFF2-40B4-BE49-F238E27FC236}">
                  <a16:creationId xmlns:a16="http://schemas.microsoft.com/office/drawing/2014/main" id="{25FEE558-57FC-0E17-248A-A60E919E896C}"/>
                </a:ext>
              </a:extLst>
            </p:cNvPr>
            <p:cNvGraphicFramePr>
              <a:graphicFrameLocks noChangeAspect="1"/>
            </p:cNvGraphicFramePr>
            <p:nvPr/>
          </p:nvGraphicFramePr>
          <p:xfrm>
            <a:off x="2679927" y="4290788"/>
            <a:ext cx="2916114" cy="788194"/>
          </p:xfrm>
          <a:graphic>
            <a:graphicData uri="http://schemas.openxmlformats.org/presentationml/2006/ole">
              <mc:AlternateContent xmlns:mc="http://schemas.openxmlformats.org/markup-compatibility/2006">
                <mc:Choice xmlns:v="urn:schemas-microsoft-com:vml" Requires="v">
                  <p:oleObj name="Equation" r:id="rId6" imgW="1879600" imgH="508000" progId="Equation.3">
                    <p:embed/>
                  </p:oleObj>
                </mc:Choice>
                <mc:Fallback>
                  <p:oleObj name="Equation" r:id="rId6" imgW="1879600" imgH="508000" progId="Equation.3">
                    <p:embed/>
                    <p:pic>
                      <p:nvPicPr>
                        <p:cNvPr id="7" name="Object 4">
                          <a:extLst>
                            <a:ext uri="{FF2B5EF4-FFF2-40B4-BE49-F238E27FC236}">
                              <a16:creationId xmlns:a16="http://schemas.microsoft.com/office/drawing/2014/main" id="{25FEE558-57FC-0E17-248A-A60E919E89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9927" y="4290788"/>
                          <a:ext cx="2916114" cy="788194"/>
                        </a:xfrm>
                        <a:prstGeom prst="rect">
                          <a:avLst/>
                        </a:prstGeom>
                        <a:noFill/>
                        <a:ln>
                          <a:noFill/>
                        </a:ln>
                        <a:effectLst/>
                      </p:spPr>
                    </p:pic>
                  </p:oleObj>
                </mc:Fallback>
              </mc:AlternateContent>
            </a:graphicData>
          </a:graphic>
        </p:graphicFrame>
        <p:graphicFrame>
          <p:nvGraphicFramePr>
            <p:cNvPr id="8" name="Object 5">
              <a:extLst>
                <a:ext uri="{FF2B5EF4-FFF2-40B4-BE49-F238E27FC236}">
                  <a16:creationId xmlns:a16="http://schemas.microsoft.com/office/drawing/2014/main" id="{859D8556-4F4D-719D-4D3A-9CF6B6F4CA38}"/>
                </a:ext>
              </a:extLst>
            </p:cNvPr>
            <p:cNvGraphicFramePr>
              <a:graphicFrameLocks noChangeAspect="1"/>
            </p:cNvGraphicFramePr>
            <p:nvPr/>
          </p:nvGraphicFramePr>
          <p:xfrm>
            <a:off x="2690813" y="5770788"/>
            <a:ext cx="3177346" cy="788194"/>
          </p:xfrm>
          <a:graphic>
            <a:graphicData uri="http://schemas.openxmlformats.org/presentationml/2006/ole">
              <mc:AlternateContent xmlns:mc="http://schemas.openxmlformats.org/markup-compatibility/2006">
                <mc:Choice xmlns:v="urn:schemas-microsoft-com:vml" Requires="v">
                  <p:oleObj name="Equation" r:id="rId8" imgW="2044700" imgH="508000" progId="Equation.3">
                    <p:embed/>
                  </p:oleObj>
                </mc:Choice>
                <mc:Fallback>
                  <p:oleObj name="Equation" r:id="rId8" imgW="2044700" imgH="508000" progId="Equation.3">
                    <p:embed/>
                    <p:pic>
                      <p:nvPicPr>
                        <p:cNvPr id="8" name="Object 5">
                          <a:extLst>
                            <a:ext uri="{FF2B5EF4-FFF2-40B4-BE49-F238E27FC236}">
                              <a16:creationId xmlns:a16="http://schemas.microsoft.com/office/drawing/2014/main" id="{859D8556-4F4D-719D-4D3A-9CF6B6F4CA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90813" y="5770788"/>
                          <a:ext cx="3177346" cy="788194"/>
                        </a:xfrm>
                        <a:prstGeom prst="rect">
                          <a:avLst/>
                        </a:prstGeom>
                        <a:noFill/>
                        <a:ln>
                          <a:noFill/>
                        </a:ln>
                        <a:effectLst/>
                      </p:spPr>
                    </p:pic>
                  </p:oleObj>
                </mc:Fallback>
              </mc:AlternateContent>
            </a:graphicData>
          </a:graphic>
        </p:graphicFrame>
      </p:grpSp>
    </p:spTree>
    <p:extLst>
      <p:ext uri="{BB962C8B-B14F-4D97-AF65-F5344CB8AC3E}">
        <p14:creationId xmlns:p14="http://schemas.microsoft.com/office/powerpoint/2010/main" val="112798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A82755-0CD0-F8CD-D2F0-E517875BE5D7}"/>
              </a:ext>
            </a:extLst>
          </p:cNvPr>
          <p:cNvSpPr txBox="1">
            <a:spLocks noChangeArrowheads="1"/>
          </p:cNvSpPr>
          <p:nvPr/>
        </p:nvSpPr>
        <p:spPr>
          <a:xfrm>
            <a:off x="451757" y="1520597"/>
            <a:ext cx="8240486" cy="49722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ltLang="en-US" sz="2400" dirty="0"/>
              <a:t>The capacity for MIMO systems can have the following forms (Assuming Tx antennas = Rx antennas = N):</a:t>
            </a:r>
          </a:p>
          <a:p>
            <a:pPr marL="457200" lvl="1" indent="0">
              <a:buNone/>
            </a:pPr>
            <a:endParaRPr lang="el-GR" altLang="en-US" dirty="0"/>
          </a:p>
          <a:p>
            <a:pPr lvl="1">
              <a:buFontTx/>
              <a:buNone/>
            </a:pPr>
            <a:r>
              <a:rPr lang="en-CA" altLang="en-US" dirty="0"/>
              <a:t>If the channel is known at the transmitter</a:t>
            </a:r>
          </a:p>
          <a:p>
            <a:pPr lvl="1">
              <a:buFontTx/>
              <a:buNone/>
            </a:pPr>
            <a:endParaRPr lang="en-CA" altLang="en-US" dirty="0"/>
          </a:p>
          <a:p>
            <a:pPr lvl="1">
              <a:buFontTx/>
              <a:buNone/>
            </a:pPr>
            <a:endParaRPr lang="en-CA" altLang="en-US" dirty="0"/>
          </a:p>
          <a:p>
            <a:pPr lvl="1">
              <a:buFontTx/>
              <a:buNone/>
            </a:pPr>
            <a:endParaRPr lang="en-CA" altLang="en-US" dirty="0"/>
          </a:p>
          <a:p>
            <a:pPr lvl="1">
              <a:buFontTx/>
              <a:buNone/>
            </a:pPr>
            <a:endParaRPr lang="en-CA" altLang="en-US" dirty="0"/>
          </a:p>
        </p:txBody>
      </p:sp>
      <p:graphicFrame>
        <p:nvGraphicFramePr>
          <p:cNvPr id="6" name="Object 3">
            <a:extLst>
              <a:ext uri="{FF2B5EF4-FFF2-40B4-BE49-F238E27FC236}">
                <a16:creationId xmlns:a16="http://schemas.microsoft.com/office/drawing/2014/main" id="{0754BC4E-A526-E9D6-EA6B-1B4EF5864FD4}"/>
              </a:ext>
            </a:extLst>
          </p:cNvPr>
          <p:cNvGraphicFramePr>
            <a:graphicFrameLocks noChangeAspect="1"/>
          </p:cNvGraphicFramePr>
          <p:nvPr>
            <p:extLst>
              <p:ext uri="{D42A27DB-BD31-4B8C-83A1-F6EECF244321}">
                <p14:modId xmlns:p14="http://schemas.microsoft.com/office/powerpoint/2010/main" val="886053240"/>
              </p:ext>
            </p:extLst>
          </p:nvPr>
        </p:nvGraphicFramePr>
        <p:xfrm>
          <a:off x="2268609" y="3578087"/>
          <a:ext cx="4606781" cy="1324826"/>
        </p:xfrm>
        <a:graphic>
          <a:graphicData uri="http://schemas.openxmlformats.org/presentationml/2006/ole">
            <mc:AlternateContent xmlns:mc="http://schemas.openxmlformats.org/markup-compatibility/2006">
              <mc:Choice xmlns:v="urn:schemas-microsoft-com:vml" Requires="v">
                <p:oleObj name="Equation" r:id="rId2" imgW="1943100" imgH="558800" progId="Equation.3">
                  <p:embed/>
                </p:oleObj>
              </mc:Choice>
              <mc:Fallback>
                <p:oleObj name="Equation" r:id="rId2" imgW="1943100" imgH="558800" progId="Equation.3">
                  <p:embed/>
                  <p:pic>
                    <p:nvPicPr>
                      <p:cNvPr id="6" name="Object 3">
                        <a:extLst>
                          <a:ext uri="{FF2B5EF4-FFF2-40B4-BE49-F238E27FC236}">
                            <a16:creationId xmlns:a16="http://schemas.microsoft.com/office/drawing/2014/main" id="{0754BC4E-A526-E9D6-EA6B-1B4EF5864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609" y="3578087"/>
                        <a:ext cx="4606781" cy="1324826"/>
                      </a:xfrm>
                      <a:prstGeom prst="rect">
                        <a:avLst/>
                      </a:prstGeom>
                      <a:noFill/>
                      <a:ln>
                        <a:noFill/>
                      </a:ln>
                      <a:effectLst/>
                    </p:spPr>
                  </p:pic>
                </p:oleObj>
              </mc:Fallback>
            </mc:AlternateContent>
          </a:graphicData>
        </a:graphic>
      </p:graphicFrame>
      <p:sp>
        <p:nvSpPr>
          <p:cNvPr id="7" name="Title 1">
            <a:extLst>
              <a:ext uri="{FF2B5EF4-FFF2-40B4-BE49-F238E27FC236}">
                <a16:creationId xmlns:a16="http://schemas.microsoft.com/office/drawing/2014/main" id="{AEC03DB8-98D5-238F-2297-D72C6139CF45}"/>
              </a:ext>
            </a:extLst>
          </p:cNvPr>
          <p:cNvSpPr>
            <a:spLocks noGrp="1"/>
          </p:cNvSpPr>
          <p:nvPr>
            <p:ph type="title"/>
          </p:nvPr>
        </p:nvSpPr>
        <p:spPr>
          <a:xfrm>
            <a:off x="628650" y="365127"/>
            <a:ext cx="7886700" cy="788760"/>
          </a:xfrm>
        </p:spPr>
        <p:txBody>
          <a:bodyPr>
            <a:normAutofit/>
          </a:bodyPr>
          <a:lstStyle/>
          <a:p>
            <a:r>
              <a:rPr lang="en-CA" altLang="en-US" sz="3600" b="1" dirty="0">
                <a:latin typeface="Times New Roman" panose="02020603050405020304" pitchFamily="18" charset="0"/>
                <a:cs typeface="Times New Roman" panose="02020603050405020304" pitchFamily="18" charset="0"/>
              </a:rPr>
              <a:t>MIMO Capacity on Fading channels</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789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CAF51-CEF8-5CA7-409B-16A310CDD778}"/>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altLang="en-US" sz="2800" b="1" kern="1200">
                <a:solidFill>
                  <a:schemeClr val="bg1"/>
                </a:solidFill>
                <a:latin typeface="+mj-lt"/>
                <a:ea typeface="+mj-ea"/>
                <a:cs typeface="+mj-cs"/>
              </a:rPr>
              <a:t>Average capacity of a MIMO Rayleigh fading channel </a:t>
            </a:r>
            <a:endParaRPr lang="en-US" sz="2800" b="1" kern="1200">
              <a:solidFill>
                <a:schemeClr val="bg1"/>
              </a:solidFill>
              <a:latin typeface="+mj-lt"/>
              <a:ea typeface="+mj-ea"/>
              <a:cs typeface="+mj-cs"/>
            </a:endParaRPr>
          </a:p>
        </p:txBody>
      </p:sp>
      <p:pic>
        <p:nvPicPr>
          <p:cNvPr id="1026" name="Picture 2" descr="The MIMO advantage, Part 2: expandable capacity in MIMO systems ...">
            <a:extLst>
              <a:ext uri="{FF2B5EF4-FFF2-40B4-BE49-F238E27FC236}">
                <a16:creationId xmlns:a16="http://schemas.microsoft.com/office/drawing/2014/main" id="{D5B56468-8119-C3BA-E388-E52B82BFB5A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79395" y="1675227"/>
            <a:ext cx="7385208" cy="439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391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A7DA8-526A-BCE9-5A49-171F602F54B8}"/>
              </a:ext>
            </a:extLst>
          </p:cNvPr>
          <p:cNvSpPr>
            <a:spLocks noGrp="1"/>
          </p:cNvSpPr>
          <p:nvPr>
            <p:ph type="title"/>
          </p:nvPr>
        </p:nvSpPr>
        <p:spPr>
          <a:xfrm>
            <a:off x="628650" y="1889126"/>
            <a:ext cx="7886700" cy="1325563"/>
          </a:xfrm>
        </p:spPr>
        <p:txBody>
          <a:bodyPr>
            <a:noAutofit/>
          </a:bodyPr>
          <a:lstStyle/>
          <a:p>
            <a:pPr algn="ctr"/>
            <a:r>
              <a:rPr lang="en-US" b="1" dirty="0">
                <a:latin typeface="Times New Roman" panose="02020603050405020304" pitchFamily="18" charset="0"/>
                <a:cs typeface="Times New Roman" panose="02020603050405020304" pitchFamily="18" charset="0"/>
              </a:rPr>
              <a:t>Spatial Multiplexing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and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Diversity Gain</a:t>
            </a:r>
          </a:p>
        </p:txBody>
      </p:sp>
    </p:spTree>
    <p:extLst>
      <p:ext uri="{BB962C8B-B14F-4D97-AF65-F5344CB8AC3E}">
        <p14:creationId xmlns:p14="http://schemas.microsoft.com/office/powerpoint/2010/main" val="469932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BF660-D129-1D0F-CE40-7255C75C18C6}"/>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Why you can’t just “add more antennas” forever:</a:t>
            </a:r>
          </a:p>
        </p:txBody>
      </p:sp>
      <p:sp>
        <p:nvSpPr>
          <p:cNvPr id="7" name="Content Placeholder 6">
            <a:extLst>
              <a:ext uri="{FF2B5EF4-FFF2-40B4-BE49-F238E27FC236}">
                <a16:creationId xmlns:a16="http://schemas.microsoft.com/office/drawing/2014/main" id="{792D19C3-1953-EAC4-785E-A610BE7D80F8}"/>
              </a:ext>
            </a:extLst>
          </p:cNvPr>
          <p:cNvSpPr>
            <a:spLocks noGrp="1"/>
          </p:cNvSpPr>
          <p:nvPr>
            <p:ph idx="1"/>
          </p:nvPr>
        </p:nvSpPr>
        <p:spPr>
          <a:xfrm>
            <a:off x="802821" y="1875355"/>
            <a:ext cx="7886700" cy="1553645"/>
          </a:xfrm>
        </p:spPr>
        <p:txBody>
          <a:bodyPr/>
          <a:lstStyle/>
          <a:p>
            <a:r>
              <a:rPr lang="en-US" dirty="0">
                <a:latin typeface="Times New Roman" panose="02020603050405020304" pitchFamily="18" charset="0"/>
                <a:cs typeface="Times New Roman" panose="02020603050405020304" pitchFamily="18" charset="0"/>
              </a:rPr>
              <a:t>rank(H)</a:t>
            </a:r>
          </a:p>
          <a:p>
            <a:pPr marL="0" indent="0" algn="ctr">
              <a:buNone/>
            </a:pPr>
            <a:r>
              <a:rPr lang="nn-NO" dirty="0">
                <a:latin typeface="Times New Roman" panose="02020603050405020304" pitchFamily="18" charset="0"/>
                <a:cs typeface="Times New Roman" panose="02020603050405020304" pitchFamily="18" charset="0"/>
              </a:rPr>
              <a:t>rank(H) ≤ min(Nt​,Nr​)</a:t>
            </a:r>
          </a:p>
          <a:p>
            <a:r>
              <a:rPr lang="en-US" dirty="0">
                <a:latin typeface="Times New Roman" panose="02020603050405020304" pitchFamily="18" charset="0"/>
                <a:cs typeface="Times New Roman" panose="02020603050405020304" pitchFamily="18" charset="0"/>
              </a:rPr>
              <a:t>Number of parallel data streams ≤rank(H)</a:t>
            </a:r>
          </a:p>
          <a:p>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0E2C54D-1D8F-A09A-9A36-043B0EC1D1FB}"/>
                  </a:ext>
                </a:extLst>
              </p:cNvPr>
              <p:cNvSpPr txBox="1"/>
              <p:nvPr/>
            </p:nvSpPr>
            <p:spPr>
              <a:xfrm>
                <a:off x="628651" y="3613666"/>
                <a:ext cx="7796892" cy="3139321"/>
              </a:xfrm>
              <a:prstGeom prst="rect">
                <a:avLst/>
              </a:prstGeom>
              <a:noFill/>
            </p:spPr>
            <p:txBody>
              <a:bodyPr wrap="square">
                <a:spAutoFit/>
              </a:bodyPr>
              <a:lstStyle/>
              <a:p>
                <a:pPr>
                  <a:buNone/>
                </a:pPr>
                <a:r>
                  <a:rPr lang="en-US" sz="2400" b="1" dirty="0"/>
                  <a:t>Singular Value Decomposition (SVD) of the channel</a:t>
                </a:r>
              </a:p>
              <a:p>
                <a:pPr>
                  <a:buNone/>
                </a:pPr>
                <a:endParaRPr lang="en-US" sz="2400" b="1" dirty="0"/>
              </a:p>
              <a:p>
                <a:pPr>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𝐻</m:t>
                      </m:r>
                      <m:r>
                        <a:rPr lang="en-US" sz="2400" i="0">
                          <a:latin typeface="Cambria Math" panose="02040503050406030204" pitchFamily="18" charset="0"/>
                        </a:rPr>
                        <m:t>=</m:t>
                      </m:r>
                      <m:r>
                        <a:rPr lang="en-US" sz="2400" i="1">
                          <a:latin typeface="Cambria Math" panose="02040503050406030204" pitchFamily="18" charset="0"/>
                        </a:rPr>
                        <m:t>𝑈</m:t>
                      </m:r>
                      <m:r>
                        <m:rPr>
                          <m:sty m:val="p"/>
                        </m:rPr>
                        <a:rPr lang="el-GR" sz="2400" i="0">
                          <a:latin typeface="Cambria Math" panose="02040503050406030204" pitchFamily="18" charset="0"/>
                        </a:rPr>
                        <m:t>Σ</m:t>
                      </m:r>
                      <m:sSup>
                        <m:sSupPr>
                          <m:ctrlPr>
                            <a:rPr lang="ar-SA" sz="2400" i="1">
                              <a:latin typeface="Cambria Math" panose="02040503050406030204" pitchFamily="18" charset="0"/>
                            </a:rPr>
                          </m:ctrlPr>
                        </m:sSupPr>
                        <m:e>
                          <m:r>
                            <a:rPr lang="ar-SA" sz="2400" i="1">
                              <a:latin typeface="Cambria Math" panose="02040503050406030204" pitchFamily="18" charset="0"/>
                            </a:rPr>
                            <m:t>𝑉</m:t>
                          </m:r>
                        </m:e>
                        <m:sup>
                          <m:r>
                            <a:rPr lang="ar-SA" sz="2400" i="1">
                              <a:latin typeface="Cambria Math" panose="02040503050406030204" pitchFamily="18" charset="0"/>
                            </a:rPr>
                            <m:t>𝐻</m:t>
                          </m:r>
                        </m:sup>
                      </m:sSup>
                    </m:oMath>
                  </m:oMathPara>
                </a14:m>
                <a:endParaRPr lang="ar-SA" sz="2400" dirty="0"/>
              </a:p>
              <a:p>
                <a:endParaRPr lang="en-US" sz="2400" dirty="0"/>
              </a:p>
              <a:p>
                <a:r>
                  <a:rPr lang="en-GB" dirty="0"/>
                  <a:t>U</a:t>
                </a:r>
                <a:r>
                  <a:rPr lang="en-US" dirty="0"/>
                  <a:t>= rotation at the receiver</a:t>
                </a:r>
              </a:p>
              <a:p>
                <a:r>
                  <a:rPr lang="en-US" dirty="0"/>
                  <a:t> </a:t>
                </a:r>
                <a14:m>
                  <m:oMath xmlns:m="http://schemas.openxmlformats.org/officeDocument/2006/math">
                    <m:r>
                      <a:rPr lang="en-US" i="1">
                        <a:latin typeface="Cambria Math" panose="02040503050406030204" pitchFamily="18" charset="0"/>
                      </a:rPr>
                      <m:t>𝑉</m:t>
                    </m:r>
                  </m:oMath>
                </a14:m>
                <a:r>
                  <a:rPr lang="en-US" dirty="0"/>
                  <a:t>= rotation at the transmitter</a:t>
                </a:r>
              </a:p>
              <a:p>
                <a14:m>
                  <m:oMath xmlns:m="http://schemas.openxmlformats.org/officeDocument/2006/math">
                    <m:r>
                      <m:rPr>
                        <m:sty m:val="p"/>
                      </m:rPr>
                      <a:rPr lang="en-US">
                        <a:latin typeface="Cambria Math" panose="02040503050406030204" pitchFamily="18" charset="0"/>
                      </a:rPr>
                      <m:t>Σ</m:t>
                    </m:r>
                  </m:oMath>
                </a14:m>
                <a:r>
                  <a:rPr lang="en-US" dirty="0"/>
                  <a:t>= diagonal matrix of singular values</a:t>
                </a:r>
              </a:p>
              <a:p>
                <a:endParaRPr lang="en-US" sz="2400" dirty="0"/>
              </a:p>
              <a:p>
                <a:pPr>
                  <a:buNone/>
                </a:pPr>
                <a:endParaRPr lang="en-US" sz="2400" dirty="0"/>
              </a:p>
            </p:txBody>
          </p:sp>
        </mc:Choice>
        <mc:Fallback xmlns="">
          <p:sp>
            <p:nvSpPr>
              <p:cNvPr id="9" name="TextBox 8">
                <a:extLst>
                  <a:ext uri="{FF2B5EF4-FFF2-40B4-BE49-F238E27FC236}">
                    <a16:creationId xmlns:a16="http://schemas.microsoft.com/office/drawing/2014/main" id="{10E2C54D-1D8F-A09A-9A36-043B0EC1D1FB}"/>
                  </a:ext>
                </a:extLst>
              </p:cNvPr>
              <p:cNvSpPr txBox="1">
                <a:spLocks noRot="1" noChangeAspect="1" noMove="1" noResize="1" noEditPoints="1" noAdjustHandles="1" noChangeArrowheads="1" noChangeShapeType="1" noTextEdit="1"/>
              </p:cNvSpPr>
              <p:nvPr/>
            </p:nvSpPr>
            <p:spPr>
              <a:xfrm>
                <a:off x="628651" y="3613666"/>
                <a:ext cx="7796892" cy="3139321"/>
              </a:xfrm>
              <a:prstGeom prst="rect">
                <a:avLst/>
              </a:prstGeom>
              <a:blipFill>
                <a:blip r:embed="rId2"/>
                <a:stretch>
                  <a:fillRect l="-1173" t="-15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A092F8D-CD09-8AA2-F3AF-EB8C480E621D}"/>
                  </a:ext>
                </a:extLst>
              </p:cNvPr>
              <p:cNvSpPr txBox="1"/>
              <p:nvPr/>
            </p:nvSpPr>
            <p:spPr>
              <a:xfrm>
                <a:off x="4117521" y="4956506"/>
                <a:ext cx="4572000" cy="9727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Σ</m:t>
                      </m:r>
                      <m:r>
                        <a:rPr lang="en-US" i="0">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3"/>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0">
                                        <a:latin typeface="Cambria Math" panose="02040503050406030204" pitchFamily="18" charset="0"/>
                                      </a:rPr>
                                      <m:t>1</m:t>
                                    </m:r>
                                  </m:sub>
                                </m:sSub>
                              </m:e>
                              <m:e>
                                <m:r>
                                  <a:rPr lang="en-US" i="0">
                                    <a:latin typeface="Cambria Math" panose="02040503050406030204" pitchFamily="18" charset="0"/>
                                  </a:rPr>
                                  <m:t>0</m:t>
                                </m:r>
                              </m:e>
                              <m:e>
                                <m:r>
                                  <a:rPr lang="en-US" i="0">
                                    <a:latin typeface="Cambria Math" panose="02040503050406030204" pitchFamily="18" charset="0"/>
                                  </a:rPr>
                                  <m:t>0</m:t>
                                </m:r>
                              </m:e>
                            </m:mr>
                            <m:mr>
                              <m:e>
                                <m:r>
                                  <a:rPr lang="en-US" i="0">
                                    <a:latin typeface="Cambria Math" panose="02040503050406030204" pitchFamily="18" charset="0"/>
                                  </a:rPr>
                                  <m:t>0</m:t>
                                </m:r>
                              </m:e>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0">
                                        <a:latin typeface="Cambria Math" panose="02040503050406030204" pitchFamily="18" charset="0"/>
                                      </a:rPr>
                                      <m:t>2</m:t>
                                    </m:r>
                                  </m:sub>
                                </m:sSub>
                              </m:e>
                              <m:e>
                                <m:r>
                                  <a:rPr lang="en-US" i="0">
                                    <a:latin typeface="Cambria Math" panose="02040503050406030204" pitchFamily="18" charset="0"/>
                                  </a:rPr>
                                  <m:t>0</m:t>
                                </m:r>
                              </m:e>
                            </m:mr>
                            <m:mr>
                              <m:e>
                                <m:r>
                                  <a:rPr lang="en-US" i="0">
                                    <a:latin typeface="Cambria Math" panose="02040503050406030204" pitchFamily="18" charset="0"/>
                                  </a:rPr>
                                  <m:t>0</m:t>
                                </m:r>
                              </m:e>
                              <m:e>
                                <m:r>
                                  <a:rPr lang="en-US" i="0">
                                    <a:latin typeface="Cambria Math" panose="02040503050406030204" pitchFamily="18" charset="0"/>
                                  </a:rPr>
                                  <m:t>0</m:t>
                                </m:r>
                              </m:e>
                              <m:e>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0">
                                        <a:latin typeface="Cambria Math" panose="02040503050406030204" pitchFamily="18" charset="0"/>
                                      </a:rPr>
                                      <m:t>3</m:t>
                                    </m:r>
                                  </m:sub>
                                </m:sSub>
                              </m:e>
                            </m:mr>
                          </m:m>
                        </m:e>
                      </m:d>
                    </m:oMath>
                  </m:oMathPara>
                </a14:m>
                <a:endParaRPr lang="en-US" dirty="0"/>
              </a:p>
            </p:txBody>
          </p:sp>
        </mc:Choice>
        <mc:Fallback xmlns="">
          <p:sp>
            <p:nvSpPr>
              <p:cNvPr id="14" name="TextBox 13">
                <a:extLst>
                  <a:ext uri="{FF2B5EF4-FFF2-40B4-BE49-F238E27FC236}">
                    <a16:creationId xmlns:a16="http://schemas.microsoft.com/office/drawing/2014/main" id="{7A092F8D-CD09-8AA2-F3AF-EB8C480E621D}"/>
                  </a:ext>
                </a:extLst>
              </p:cNvPr>
              <p:cNvSpPr txBox="1">
                <a:spLocks noRot="1" noChangeAspect="1" noMove="1" noResize="1" noEditPoints="1" noAdjustHandles="1" noChangeArrowheads="1" noChangeShapeType="1" noTextEdit="1"/>
              </p:cNvSpPr>
              <p:nvPr/>
            </p:nvSpPr>
            <p:spPr>
              <a:xfrm>
                <a:off x="4117521" y="4956506"/>
                <a:ext cx="4572000" cy="97270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50818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45791-33EB-4E4C-F910-441BFCAE068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rank(H)</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ED266F55-0FAC-281A-EE4E-F7D78FA3D578}"/>
              </a:ext>
            </a:extLst>
          </p:cNvPr>
          <p:cNvSpPr>
            <a:spLocks noGrp="1"/>
          </p:cNvSpPr>
          <p:nvPr>
            <p:ph idx="1"/>
          </p:nvPr>
        </p:nvSpPr>
        <p:spPr>
          <a:xfrm>
            <a:off x="628650" y="1542597"/>
            <a:ext cx="8112579" cy="4351338"/>
          </a:xfrm>
        </p:spPr>
        <p:txBody>
          <a:bodyPr>
            <a:normAutofit lnSpcReduction="10000"/>
          </a:bodyPr>
          <a:lstStyle/>
          <a:p>
            <a:pPr marL="0" indent="0">
              <a:buNone/>
            </a:pPr>
            <a:r>
              <a:rPr lang="en-US" b="1" dirty="0">
                <a:solidFill>
                  <a:srgbClr val="FF0000"/>
                </a:solidFill>
              </a:rPr>
              <a:t>Rank is a measure of how many distinct spatial paths exist between Tx and Rx.</a:t>
            </a:r>
          </a:p>
          <a:p>
            <a:pPr marL="228600" lvl="1">
              <a:lnSpc>
                <a:spcPct val="100000"/>
              </a:lnSpc>
              <a:spcBef>
                <a:spcPts val="1000"/>
              </a:spcBef>
            </a:pPr>
            <a:r>
              <a:rPr lang="en-US" sz="2800" b="1" dirty="0"/>
              <a:t>Rank is high when:</a:t>
            </a:r>
          </a:p>
          <a:p>
            <a:pPr lvl="1"/>
            <a:r>
              <a:rPr lang="en-US" dirty="0"/>
              <a:t>antennas are well spaced,</a:t>
            </a:r>
          </a:p>
          <a:p>
            <a:pPr lvl="1"/>
            <a:r>
              <a:rPr lang="en-US" dirty="0"/>
              <a:t>rich multipath,</a:t>
            </a:r>
          </a:p>
          <a:p>
            <a:pPr lvl="1"/>
            <a:r>
              <a:rPr lang="en-US" dirty="0"/>
              <a:t>different angles of arrival.</a:t>
            </a:r>
          </a:p>
          <a:p>
            <a:r>
              <a:rPr lang="en-US" b="1" dirty="0"/>
              <a:t>Rank is low when:</a:t>
            </a:r>
          </a:p>
          <a:p>
            <a:pPr lvl="1"/>
            <a:r>
              <a:rPr lang="en-US" dirty="0"/>
              <a:t>antennas too close,</a:t>
            </a:r>
          </a:p>
          <a:p>
            <a:pPr lvl="1"/>
            <a:r>
              <a:rPr lang="en-US" dirty="0"/>
              <a:t>line-of-sight only,</a:t>
            </a:r>
          </a:p>
          <a:p>
            <a:pPr lvl="1"/>
            <a:r>
              <a:rPr lang="en-US" dirty="0"/>
              <a:t>strong correlation,</a:t>
            </a:r>
          </a:p>
          <a:p>
            <a:pPr lvl="1"/>
            <a:r>
              <a:rPr lang="en-US" dirty="0"/>
              <a:t>not enough scattering.</a:t>
            </a:r>
          </a:p>
          <a:p>
            <a:endParaRPr lang="en-US" dirty="0"/>
          </a:p>
        </p:txBody>
      </p:sp>
    </p:spTree>
    <p:extLst>
      <p:ext uri="{BB962C8B-B14F-4D97-AF65-F5344CB8AC3E}">
        <p14:creationId xmlns:p14="http://schemas.microsoft.com/office/powerpoint/2010/main" val="162378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1EEBD2-3A76-7FA6-F277-A087E6E9BA1E}"/>
              </a:ext>
            </a:extLst>
          </p:cNvPr>
          <p:cNvSpPr>
            <a:spLocks noGrp="1"/>
          </p:cNvSpPr>
          <p:nvPr>
            <p:ph type="title"/>
          </p:nvPr>
        </p:nvSpPr>
        <p:spPr>
          <a:xfrm>
            <a:off x="628650" y="1195697"/>
            <a:ext cx="2400300" cy="4238118"/>
          </a:xfrm>
        </p:spPr>
        <p:txBody>
          <a:bodyPr>
            <a:normAutofit/>
          </a:bodyPr>
          <a:lstStyle/>
          <a:p>
            <a:r>
              <a:rPr lang="en-US" altLang="en-US" b="1">
                <a:solidFill>
                  <a:schemeClr val="bg1"/>
                </a:solidFill>
                <a:latin typeface="Arial" panose="020B0604020202020204" pitchFamily="34" charset="0"/>
              </a:rPr>
              <a:t>MIMO Modes</a:t>
            </a:r>
            <a:br>
              <a:rPr lang="en-US" altLang="en-US" b="1">
                <a:solidFill>
                  <a:schemeClr val="bg1"/>
                </a:solidFill>
                <a:latin typeface="Arial" panose="020B0604020202020204" pitchFamily="34" charset="0"/>
              </a:rPr>
            </a:br>
            <a:endParaRPr lang="en-US">
              <a:solidFill>
                <a:schemeClr val="bg1"/>
              </a:solidFill>
            </a:endParaRPr>
          </a:p>
        </p:txBody>
      </p:sp>
      <p:grpSp>
        <p:nvGrpSpPr>
          <p:cNvPr id="14"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5" name="Freeform: Shape 14">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8" name="Oval 17">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2"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3" name="Freeform: Shape 22">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6" name="Rectangle 1">
            <a:extLst>
              <a:ext uri="{FF2B5EF4-FFF2-40B4-BE49-F238E27FC236}">
                <a16:creationId xmlns:a16="http://schemas.microsoft.com/office/drawing/2014/main" id="{A4153D31-C87A-C5CA-2505-9B36026262DD}"/>
              </a:ext>
            </a:extLst>
          </p:cNvPr>
          <p:cNvGraphicFramePr>
            <a:graphicFrameLocks noGrp="1"/>
          </p:cNvGraphicFramePr>
          <p:nvPr>
            <p:ph idx="1"/>
            <p:extLst>
              <p:ext uri="{D42A27DB-BD31-4B8C-83A1-F6EECF244321}">
                <p14:modId xmlns:p14="http://schemas.microsoft.com/office/powerpoint/2010/main" val="3284362497"/>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425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1D641B3-AC6E-B19C-0D2D-17D11F10D9F1}"/>
              </a:ext>
            </a:extLst>
          </p:cNvPr>
          <p:cNvSpPr>
            <a:spLocks noGrp="1"/>
          </p:cNvSpPr>
          <p:nvPr>
            <p:ph type="title"/>
          </p:nvPr>
        </p:nvSpPr>
        <p:spPr>
          <a:xfrm>
            <a:off x="628650" y="1195697"/>
            <a:ext cx="2400300" cy="4238118"/>
          </a:xfrm>
        </p:spPr>
        <p:txBody>
          <a:bodyPr>
            <a:normAutofit/>
          </a:bodyPr>
          <a:lstStyle/>
          <a:p>
            <a:r>
              <a:rPr lang="en-US" sz="3400" b="1">
                <a:solidFill>
                  <a:schemeClr val="bg1"/>
                </a:solidFill>
                <a:latin typeface="Times New Roman" panose="02020603050405020304" pitchFamily="18" charset="0"/>
                <a:cs typeface="Times New Roman" panose="02020603050405020304" pitchFamily="18" charset="0"/>
              </a:rPr>
              <a:t>Diversity Techniques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22227086-32A8-615F-D269-D847C0E83D5C}"/>
              </a:ext>
            </a:extLst>
          </p:cNvPr>
          <p:cNvGraphicFramePr>
            <a:graphicFrameLocks noGrp="1"/>
          </p:cNvGraphicFramePr>
          <p:nvPr>
            <p:ph idx="1"/>
            <p:extLst>
              <p:ext uri="{D42A27DB-BD31-4B8C-83A1-F6EECF244321}">
                <p14:modId xmlns:p14="http://schemas.microsoft.com/office/powerpoint/2010/main" val="406447819"/>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218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6B0B3A-C6D4-A1DD-357B-3E98AB85CB4D}"/>
              </a:ext>
            </a:extLst>
          </p:cNvPr>
          <p:cNvSpPr>
            <a:spLocks noGrp="1"/>
          </p:cNvSpPr>
          <p:nvPr>
            <p:ph type="title"/>
          </p:nvPr>
        </p:nvSpPr>
        <p:spPr>
          <a:xfrm>
            <a:off x="628650" y="1195697"/>
            <a:ext cx="2400300" cy="4238118"/>
          </a:xfrm>
        </p:spPr>
        <p:txBody>
          <a:bodyPr>
            <a:normAutofit/>
          </a:bodyPr>
          <a:lstStyle/>
          <a:p>
            <a:r>
              <a:rPr lang="en-US" sz="3400" b="1">
                <a:solidFill>
                  <a:schemeClr val="bg1"/>
                </a:solidFill>
                <a:latin typeface="Times New Roman" panose="02020603050405020304" pitchFamily="18" charset="0"/>
                <a:cs typeface="Times New Roman" panose="02020603050405020304" pitchFamily="18" charset="0"/>
              </a:rPr>
              <a:t>Detection Techniques in MIMO Receivers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016197F3-6C83-EA6C-33DA-98E5C8F70930}"/>
              </a:ext>
            </a:extLst>
          </p:cNvPr>
          <p:cNvGraphicFramePr>
            <a:graphicFrameLocks noGrp="1"/>
          </p:cNvGraphicFramePr>
          <p:nvPr>
            <p:ph idx="1"/>
            <p:extLst>
              <p:ext uri="{D42A27DB-BD31-4B8C-83A1-F6EECF244321}">
                <p14:modId xmlns:p14="http://schemas.microsoft.com/office/powerpoint/2010/main" val="882391317"/>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213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446D55-B8F6-D793-3663-901F8D8408CA}"/>
              </a:ext>
            </a:extLst>
          </p:cNvPr>
          <p:cNvSpPr>
            <a:spLocks noGrp="1"/>
          </p:cNvSpPr>
          <p:nvPr>
            <p:ph type="title"/>
          </p:nvPr>
        </p:nvSpPr>
        <p:spPr>
          <a:xfrm>
            <a:off x="571350" y="381001"/>
            <a:ext cx="4000647" cy="1708242"/>
          </a:xfrm>
        </p:spPr>
        <p:txBody>
          <a:bodyPr anchor="ctr">
            <a:normAutofit/>
          </a:bodyPr>
          <a:lstStyle/>
          <a:p>
            <a:r>
              <a:rPr lang="en-US" sz="3500" b="1" dirty="0">
                <a:latin typeface="Times New Roman" panose="02020603050405020304" pitchFamily="18" charset="0"/>
                <a:cs typeface="Times New Roman" panose="02020603050405020304" pitchFamily="18" charset="0"/>
              </a:rPr>
              <a:t>Channel Estimation in MIMO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858645-120D-43C2-45AA-2DE2CFF569EC}"/>
                  </a:ext>
                </a:extLst>
              </p:cNvPr>
              <p:cNvSpPr>
                <a:spLocks noGrp="1"/>
              </p:cNvSpPr>
              <p:nvPr>
                <p:ph idx="1"/>
              </p:nvPr>
            </p:nvSpPr>
            <p:spPr>
              <a:xfrm>
                <a:off x="291548" y="2470244"/>
                <a:ext cx="5340626" cy="3769835"/>
              </a:xfrm>
            </p:spPr>
            <p:txBody>
              <a:bodyPr anchor="ctr">
                <a:noAutofit/>
              </a:bodyPr>
              <a:lstStyle/>
              <a:p>
                <a:r>
                  <a:rPr lang="en-US" sz="2400" dirty="0"/>
                  <a:t>Channel Estimation means finding or estimating the channel matrix </a:t>
                </a:r>
                <a14:m>
                  <m:oMath xmlns:m="http://schemas.openxmlformats.org/officeDocument/2006/math">
                    <m:r>
                      <a:rPr lang="en-US" sz="2400" b="0" i="1">
                        <a:latin typeface="Cambria Math" panose="02040503050406030204" pitchFamily="18" charset="0"/>
                      </a:rPr>
                      <m:t>𝐻</m:t>
                    </m:r>
                  </m:oMath>
                </a14:m>
                <a:r>
                  <a:rPr lang="en-US" sz="2400" dirty="0"/>
                  <a:t>between the transmitter and receiver.</a:t>
                </a:r>
              </a:p>
              <a:p>
                <a:r>
                  <a:rPr lang="en-US" sz="2400" dirty="0"/>
                  <a:t>Because the MIMO receiver must know:</a:t>
                </a:r>
              </a:p>
              <a:p>
                <a:pPr marL="0" indent="0">
                  <a:buNone/>
                </a:pPr>
                <a14:m>
                  <m:oMathPara xmlns:m="http://schemas.openxmlformats.org/officeDocument/2006/math">
                    <m:oMathParaPr>
                      <m:jc m:val="centerGroup"/>
                    </m:oMathParaPr>
                    <m:oMath xmlns:m="http://schemas.openxmlformats.org/officeDocument/2006/math">
                      <m:r>
                        <a:rPr lang="en-US" sz="2400" b="1">
                          <a:latin typeface="Cambria Math" panose="02040503050406030204" pitchFamily="18" charset="0"/>
                        </a:rPr>
                        <m:t>𝐲</m:t>
                      </m:r>
                      <m:r>
                        <a:rPr lang="en-US" sz="2400">
                          <a:latin typeface="Cambria Math" panose="02040503050406030204" pitchFamily="18" charset="0"/>
                        </a:rPr>
                        <m:t>=</m:t>
                      </m:r>
                      <m:r>
                        <a:rPr lang="en-US" sz="2400" i="1">
                          <a:latin typeface="Cambria Math" panose="02040503050406030204" pitchFamily="18" charset="0"/>
                        </a:rPr>
                        <m:t>𝐻</m:t>
                      </m:r>
                      <m:r>
                        <a:rPr lang="en-US" sz="2400" b="1">
                          <a:latin typeface="Cambria Math" panose="02040503050406030204" pitchFamily="18" charset="0"/>
                        </a:rPr>
                        <m:t>𝐱</m:t>
                      </m:r>
                      <m:r>
                        <a:rPr lang="en-US" sz="2400">
                          <a:latin typeface="Cambria Math" panose="02040503050406030204" pitchFamily="18" charset="0"/>
                        </a:rPr>
                        <m:t>+</m:t>
                      </m:r>
                      <m:r>
                        <a:rPr lang="en-US" sz="2400" b="1">
                          <a:latin typeface="Cambria Math" panose="02040503050406030204" pitchFamily="18" charset="0"/>
                        </a:rPr>
                        <m:t>𝐧</m:t>
                      </m:r>
                    </m:oMath>
                  </m:oMathPara>
                </a14:m>
                <a:endParaRPr lang="en-US" sz="2400" b="1" dirty="0"/>
              </a:p>
              <a:p>
                <a:r>
                  <a:rPr lang="en-US" sz="2400" dirty="0"/>
                  <a:t>To</a:t>
                </a:r>
              </a:p>
              <a:p>
                <a:pPr lvl="1"/>
                <a:r>
                  <a:rPr lang="en-US" dirty="0"/>
                  <a:t>detect symbols,</a:t>
                </a:r>
              </a:p>
              <a:p>
                <a:pPr lvl="1"/>
                <a:r>
                  <a:rPr lang="en-US" dirty="0"/>
                  <a:t>equalize,</a:t>
                </a:r>
              </a:p>
              <a:p>
                <a:pPr lvl="1"/>
                <a:r>
                  <a:rPr lang="en-US" dirty="0"/>
                  <a:t>decode,</a:t>
                </a:r>
              </a:p>
              <a:p>
                <a:pPr lvl="1"/>
                <a:r>
                  <a:rPr lang="en-US" dirty="0"/>
                  <a:t>do beamforming or precoding.</a:t>
                </a:r>
              </a:p>
              <a:p>
                <a:endParaRPr lang="en-US" sz="2400" dirty="0"/>
              </a:p>
            </p:txBody>
          </p:sp>
        </mc:Choice>
        <mc:Fallback xmlns="">
          <p:sp>
            <p:nvSpPr>
              <p:cNvPr id="3" name="Content Placeholder 2">
                <a:extLst>
                  <a:ext uri="{FF2B5EF4-FFF2-40B4-BE49-F238E27FC236}">
                    <a16:creationId xmlns:a16="http://schemas.microsoft.com/office/drawing/2014/main" id="{18858645-120D-43C2-45AA-2DE2CFF569EC}"/>
                  </a:ext>
                </a:extLst>
              </p:cNvPr>
              <p:cNvSpPr>
                <a:spLocks noGrp="1" noRot="1" noChangeAspect="1" noMove="1" noResize="1" noEditPoints="1" noAdjustHandles="1" noChangeArrowheads="1" noChangeShapeType="1" noTextEdit="1"/>
              </p:cNvSpPr>
              <p:nvPr>
                <p:ph idx="1"/>
              </p:nvPr>
            </p:nvSpPr>
            <p:spPr>
              <a:xfrm>
                <a:off x="291548" y="2470244"/>
                <a:ext cx="5340626" cy="3769835"/>
              </a:xfrm>
              <a:blipFill>
                <a:blip r:embed="rId2"/>
                <a:stretch>
                  <a:fillRect l="-1598" t="-14216" r="-1484" b="-355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E97D439-96D2-47F5-9C45-D197B40F41B4}"/>
              </a:ext>
            </a:extLst>
          </p:cNvPr>
          <p:cNvPicPr>
            <a:picLocks noChangeAspect="1"/>
          </p:cNvPicPr>
          <p:nvPr/>
        </p:nvPicPr>
        <p:blipFill>
          <a:blip r:embed="rId3"/>
          <a:srcRect l="30401" r="36837" b="-1"/>
          <a:stretch>
            <a:fillRect/>
          </a:stretch>
        </p:blipFill>
        <p:spPr>
          <a:xfrm>
            <a:off x="5764696" y="-10886"/>
            <a:ext cx="33793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613590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12ED0-6CD4-6D8C-0AAE-A1C9C6CE44A0}"/>
              </a:ext>
            </a:extLst>
          </p:cNvPr>
          <p:cNvSpPr>
            <a:spLocks noGrp="1"/>
          </p:cNvSpPr>
          <p:nvPr>
            <p:ph type="title"/>
          </p:nvPr>
        </p:nvSpPr>
        <p:spPr>
          <a:xfrm>
            <a:off x="628650" y="126588"/>
            <a:ext cx="7886700" cy="867326"/>
          </a:xfrm>
        </p:spPr>
        <p:txBody>
          <a:bodyPr/>
          <a:lstStyle/>
          <a:p>
            <a:r>
              <a:rPr lang="en-US" b="1">
                <a:latin typeface="Times New Roman" panose="02020603050405020304" pitchFamily="18" charset="0"/>
                <a:cs typeface="Times New Roman" panose="02020603050405020304" pitchFamily="18" charset="0"/>
              </a:rPr>
              <a:t>Why CSI?</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11DA13-4BD8-C53D-1000-1E1B009E9D0A}"/>
              </a:ext>
            </a:extLst>
          </p:cNvPr>
          <p:cNvSpPr>
            <a:spLocks noGrp="1"/>
          </p:cNvSpPr>
          <p:nvPr>
            <p:ph idx="1"/>
          </p:nvPr>
        </p:nvSpPr>
        <p:spPr>
          <a:xfrm>
            <a:off x="628650" y="993914"/>
            <a:ext cx="7886700" cy="3342723"/>
          </a:xfrm>
        </p:spPr>
        <p:txBody>
          <a:bodyPr>
            <a:normAutofit/>
          </a:bodyPr>
          <a:lstStyle/>
          <a:p>
            <a:r>
              <a:rPr lang="en-US" sz="2400">
                <a:latin typeface="Times New Roman" panose="02020603050405020304" pitchFamily="18" charset="0"/>
                <a:cs typeface="Times New Roman" panose="02020603050405020304" pitchFamily="18" charset="0"/>
              </a:rPr>
              <a:t>Without channel estimation, MIMO does not work.</a:t>
            </a:r>
          </a:p>
          <a:p>
            <a:r>
              <a:rPr lang="en-US" sz="2400">
                <a:latin typeface="Times New Roman" panose="02020603050405020304" pitchFamily="18" charset="0"/>
                <a:cs typeface="Times New Roman" panose="02020603050405020304" pitchFamily="18" charset="0"/>
              </a:rPr>
              <a:t>MIMO receivers need the channel matrix to:</a:t>
            </a:r>
          </a:p>
          <a:p>
            <a:pPr lvl="1"/>
            <a:r>
              <a:rPr lang="en-US">
                <a:latin typeface="Times New Roman" panose="02020603050405020304" pitchFamily="18" charset="0"/>
                <a:cs typeface="Times New Roman" panose="02020603050405020304" pitchFamily="18" charset="0"/>
              </a:rPr>
              <a:t>separate spatial streams,</a:t>
            </a:r>
          </a:p>
          <a:p>
            <a:pPr lvl="1"/>
            <a:r>
              <a:rPr lang="en-US">
                <a:latin typeface="Times New Roman" panose="02020603050405020304" pitchFamily="18" charset="0"/>
                <a:cs typeface="Times New Roman" panose="02020603050405020304" pitchFamily="18" charset="0"/>
              </a:rPr>
              <a:t>cancel interference,</a:t>
            </a:r>
          </a:p>
          <a:p>
            <a:pPr lvl="1"/>
            <a:r>
              <a:rPr lang="en-US">
                <a:latin typeface="Times New Roman" panose="02020603050405020304" pitchFamily="18" charset="0"/>
                <a:cs typeface="Times New Roman" panose="02020603050405020304" pitchFamily="18" charset="0"/>
              </a:rPr>
              <a:t>measure fading,</a:t>
            </a:r>
          </a:p>
          <a:p>
            <a:pPr lvl="1"/>
            <a:r>
              <a:rPr lang="en-US">
                <a:latin typeface="Times New Roman" panose="02020603050405020304" pitchFamily="18" charset="0"/>
                <a:cs typeface="Times New Roman" panose="02020603050405020304" pitchFamily="18" charset="0"/>
              </a:rPr>
              <a:t>select MIMO mode.</a:t>
            </a:r>
            <a:endParaRPr lang="en-US"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B0CCA84-CF59-0063-3EE9-E5D4FA99C843}"/>
              </a:ext>
            </a:extLst>
          </p:cNvPr>
          <p:cNvSpPr txBox="1">
            <a:spLocks/>
          </p:cNvSpPr>
          <p:nvPr/>
        </p:nvSpPr>
        <p:spPr>
          <a:xfrm>
            <a:off x="628650" y="3429000"/>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latin typeface="Times New Roman" panose="02020603050405020304" pitchFamily="18" charset="0"/>
                <a:cs typeface="Times New Roman" panose="02020603050405020304" pitchFamily="18" charset="0"/>
              </a:rPr>
              <a:t>Perfect CSI vs Imperfect CSI</a:t>
            </a:r>
          </a:p>
          <a:p>
            <a:pPr lvl="1"/>
            <a:r>
              <a:rPr lang="en-US">
                <a:latin typeface="Times New Roman" panose="02020603050405020304" pitchFamily="18" charset="0"/>
                <a:cs typeface="Times New Roman" panose="02020603050405020304" pitchFamily="18" charset="0"/>
              </a:rPr>
              <a:t>At the transmitter → enables precoding and beamforming.</a:t>
            </a:r>
          </a:p>
          <a:p>
            <a:pPr lvl="1"/>
            <a:r>
              <a:rPr lang="en-US">
                <a:latin typeface="Times New Roman" panose="02020603050405020304" pitchFamily="18" charset="0"/>
                <a:cs typeface="Times New Roman" panose="02020603050405020304" pitchFamily="18" charset="0"/>
              </a:rPr>
              <a:t>At the receiver → enables equalization, decoding.</a:t>
            </a:r>
          </a:p>
          <a:p>
            <a:r>
              <a:rPr lang="en-US" b="1">
                <a:latin typeface="Times New Roman" panose="02020603050405020304" pitchFamily="18" charset="0"/>
                <a:cs typeface="Times New Roman" panose="02020603050405020304" pitchFamily="18" charset="0"/>
              </a:rPr>
              <a:t>Pilot-based Channel Estimation</a:t>
            </a:r>
          </a:p>
          <a:p>
            <a:pPr lvl="1"/>
            <a:r>
              <a:rPr lang="en-US">
                <a:latin typeface="Times New Roman" panose="02020603050405020304" pitchFamily="18" charset="0"/>
                <a:cs typeface="Times New Roman" panose="02020603050405020304" pitchFamily="18" charset="0"/>
              </a:rPr>
              <a:t>Pilot contamination (massive MIMO challenge)</a:t>
            </a:r>
          </a:p>
          <a:p>
            <a:pPr lvl="1"/>
            <a:r>
              <a:rPr lang="en-US">
                <a:latin typeface="Times New Roman" panose="02020603050405020304" pitchFamily="18" charset="0"/>
                <a:cs typeface="Times New Roman" panose="02020603050405020304" pitchFamily="18" charset="0"/>
              </a:rPr>
              <a:t>Estimation error propagation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2571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D85EE-64D4-1DBB-A4FB-D7F6EA1F3CD0}"/>
              </a:ext>
            </a:extLst>
          </p:cNvPr>
          <p:cNvSpPr>
            <a:spLocks noGrp="1"/>
          </p:cNvSpPr>
          <p:nvPr>
            <p:ph type="title"/>
          </p:nvPr>
        </p:nvSpPr>
        <p:spPr>
          <a:xfrm>
            <a:off x="628650" y="-125206"/>
            <a:ext cx="7886700" cy="1325563"/>
          </a:xfrm>
        </p:spPr>
        <p:txBody>
          <a:bodyPr/>
          <a:lstStyle/>
          <a:p>
            <a:r>
              <a:rPr lang="en-US" b="1" dirty="0">
                <a:latin typeface="Times New Roman" panose="02020603050405020304" pitchFamily="18" charset="0"/>
                <a:cs typeface="Times New Roman" panose="02020603050405020304" pitchFamily="18" charset="0"/>
              </a:rPr>
              <a:t>What information is estimated?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39080D-9A15-5AF5-02DC-714EA5011C8D}"/>
                  </a:ext>
                </a:extLst>
              </p:cNvPr>
              <p:cNvSpPr>
                <a:spLocks noGrp="1"/>
              </p:cNvSpPr>
              <p:nvPr>
                <p:ph idx="1"/>
              </p:nvPr>
            </p:nvSpPr>
            <p:spPr>
              <a:xfrm>
                <a:off x="628650" y="1361799"/>
                <a:ext cx="7886700" cy="4351338"/>
              </a:xfrm>
            </p:spPr>
            <p:txBody>
              <a:bodyPr>
                <a:normAutofit fontScale="92500" lnSpcReduction="10000"/>
              </a:bodyPr>
              <a:lstStyle/>
              <a:p>
                <a:r>
                  <a:rPr lang="en-US" dirty="0"/>
                  <a:t>For each antenna pair:</a:t>
                </a:r>
              </a:p>
              <a:p>
                <a:pPr lvl="1"/>
                <a:r>
                  <a:rPr lang="en-US" dirty="0"/>
                  <a:t>channel gain</a:t>
                </a:r>
              </a:p>
              <a:p>
                <a:pPr lvl="1"/>
                <a:r>
                  <a:rPr lang="en-US" dirty="0"/>
                  <a:t>delay</a:t>
                </a:r>
              </a:p>
              <a:p>
                <a:pPr lvl="1"/>
                <a:r>
                  <a:rPr lang="en-US" dirty="0"/>
                  <a:t>phase</a:t>
                </a:r>
              </a:p>
              <a:p>
                <a:pPr lvl="1"/>
                <a:r>
                  <a:rPr lang="en-US" dirty="0"/>
                  <a:t>fading coefficient</a:t>
                </a:r>
              </a:p>
              <a:p>
                <a:pPr lvl="1"/>
                <a:endParaRPr lang="en-US" dirty="0"/>
              </a:p>
              <a:p>
                <a:r>
                  <a:rPr lang="en-US" dirty="0"/>
                  <a:t>In MIMO:</a:t>
                </a:r>
              </a:p>
              <a:p>
                <a:pPr marL="457200"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a:latin typeface="Cambria Math" panose="02040503050406030204" pitchFamily="18" charset="0"/>
                        </a:rPr>
                        <m:t>=</m:t>
                      </m:r>
                      <m:d>
                        <m:dPr>
                          <m:begChr m:val="["/>
                          <m:endChr m:val="]"/>
                          <m:ctrlPr>
                            <a:rPr lang="ar-SA" i="1">
                              <a:latin typeface="Cambria Math" panose="02040503050406030204" pitchFamily="18" charset="0"/>
                            </a:rPr>
                          </m:ctrlPr>
                        </m:dPr>
                        <m:e>
                          <m:m>
                            <m:mPr>
                              <m:plcHide m:val="on"/>
                              <m:mcs>
                                <m:mc>
                                  <m:mcPr>
                                    <m:count m:val="3"/>
                                    <m:mcJc m:val="center"/>
                                  </m:mcPr>
                                </m:mc>
                              </m:mcs>
                              <m:ctrlPr>
                                <a:rPr lang="ar-SA" i="1">
                                  <a:latin typeface="Cambria Math" panose="02040503050406030204" pitchFamily="18" charset="0"/>
                                </a:rPr>
                              </m:ctrlPr>
                            </m:mPr>
                            <m:mr>
                              <m:e>
                                <m:sSub>
                                  <m:sSubPr>
                                    <m:ctrlPr>
                                      <a:rPr lang="ar-SA" i="1">
                                        <a:latin typeface="Cambria Math" panose="02040503050406030204" pitchFamily="18" charset="0"/>
                                      </a:rPr>
                                    </m:ctrlPr>
                                  </m:sSubPr>
                                  <m:e>
                                    <m:r>
                                      <a:rPr lang="ar-SA" i="1">
                                        <a:latin typeface="Cambria Math" panose="02040503050406030204" pitchFamily="18" charset="0"/>
                                      </a:rPr>
                                      <m:t>h</m:t>
                                    </m:r>
                                  </m:e>
                                  <m:sub>
                                    <m:r>
                                      <a:rPr lang="ar-SA">
                                        <a:latin typeface="Cambria Math" panose="02040503050406030204" pitchFamily="18" charset="0"/>
                                      </a:rPr>
                                      <m:t>11</m:t>
                                    </m:r>
                                  </m:sub>
                                </m:sSub>
                              </m:e>
                              <m:e>
                                <m:sSub>
                                  <m:sSubPr>
                                    <m:ctrlPr>
                                      <a:rPr lang="ar-SA" i="1">
                                        <a:latin typeface="Cambria Math" panose="02040503050406030204" pitchFamily="18" charset="0"/>
                                      </a:rPr>
                                    </m:ctrlPr>
                                  </m:sSubPr>
                                  <m:e>
                                    <m:r>
                                      <a:rPr lang="ar-SA" i="1">
                                        <a:latin typeface="Cambria Math" panose="02040503050406030204" pitchFamily="18" charset="0"/>
                                      </a:rPr>
                                      <m:t>h</m:t>
                                    </m:r>
                                  </m:e>
                                  <m:sub>
                                    <m:r>
                                      <a:rPr lang="ar-SA">
                                        <a:latin typeface="Cambria Math" panose="02040503050406030204" pitchFamily="18" charset="0"/>
                                      </a:rPr>
                                      <m:t>12</m:t>
                                    </m:r>
                                  </m:sub>
                                </m:sSub>
                              </m:e>
                              <m:e>
                                <m:r>
                                  <a:rPr lang="ar-SA">
                                    <a:latin typeface="Cambria Math" panose="02040503050406030204" pitchFamily="18" charset="0"/>
                                  </a:rPr>
                                  <m:t>…</m:t>
                                </m:r>
                              </m:e>
                            </m:mr>
                            <m:mr>
                              <m:e>
                                <m:sSub>
                                  <m:sSubPr>
                                    <m:ctrlPr>
                                      <a:rPr lang="ar-SA" i="1">
                                        <a:latin typeface="Cambria Math" panose="02040503050406030204" pitchFamily="18" charset="0"/>
                                      </a:rPr>
                                    </m:ctrlPr>
                                  </m:sSubPr>
                                  <m:e>
                                    <m:r>
                                      <a:rPr lang="ar-SA" i="1">
                                        <a:latin typeface="Cambria Math" panose="02040503050406030204" pitchFamily="18" charset="0"/>
                                      </a:rPr>
                                      <m:t>h</m:t>
                                    </m:r>
                                  </m:e>
                                  <m:sub>
                                    <m:r>
                                      <a:rPr lang="ar-SA">
                                        <a:latin typeface="Cambria Math" panose="02040503050406030204" pitchFamily="18" charset="0"/>
                                      </a:rPr>
                                      <m:t>21</m:t>
                                    </m:r>
                                  </m:sub>
                                </m:sSub>
                              </m:e>
                              <m:e>
                                <m:sSub>
                                  <m:sSubPr>
                                    <m:ctrlPr>
                                      <a:rPr lang="ar-SA" i="1">
                                        <a:latin typeface="Cambria Math" panose="02040503050406030204" pitchFamily="18" charset="0"/>
                                      </a:rPr>
                                    </m:ctrlPr>
                                  </m:sSubPr>
                                  <m:e>
                                    <m:r>
                                      <a:rPr lang="ar-SA" i="1">
                                        <a:latin typeface="Cambria Math" panose="02040503050406030204" pitchFamily="18" charset="0"/>
                                      </a:rPr>
                                      <m:t>h</m:t>
                                    </m:r>
                                  </m:e>
                                  <m:sub>
                                    <m:r>
                                      <a:rPr lang="ar-SA">
                                        <a:latin typeface="Cambria Math" panose="02040503050406030204" pitchFamily="18" charset="0"/>
                                      </a:rPr>
                                      <m:t>22</m:t>
                                    </m:r>
                                  </m:sub>
                                </m:sSub>
                              </m:e>
                              <m:e>
                                <m:r>
                                  <a:rPr lang="ar-SA">
                                    <a:latin typeface="Cambria Math" panose="02040503050406030204" pitchFamily="18" charset="0"/>
                                  </a:rPr>
                                  <m:t>…</m:t>
                                </m:r>
                              </m:e>
                            </m:mr>
                            <m:mr>
                              <m:e>
                                <m:r>
                                  <a:rPr lang="ar-SA">
                                    <a:latin typeface="Cambria Math" panose="02040503050406030204" pitchFamily="18" charset="0"/>
                                  </a:rPr>
                                  <m:t>⋮</m:t>
                                </m:r>
                                <m:phant>
                                  <m:phantPr>
                                    <m:zeroAsc m:val="on"/>
                                    <m:ctrlPr>
                                      <a:rPr lang="ar-SA" i="1">
                                        <a:latin typeface="Cambria Math" panose="02040503050406030204" pitchFamily="18" charset="0"/>
                                      </a:rPr>
                                    </m:ctrlPr>
                                  </m:phantPr>
                                  <m:e>
                                    <m:r>
                                      <a:rPr lang="ar-SA">
                                        <a:latin typeface="Cambria Math" panose="02040503050406030204" pitchFamily="18" charset="0"/>
                                      </a:rPr>
                                      <m:t> </m:t>
                                    </m:r>
                                  </m:e>
                                </m:phant>
                              </m:e>
                              <m:e>
                                <m:r>
                                  <a:rPr lang="ar-SA">
                                    <a:latin typeface="Cambria Math" panose="02040503050406030204" pitchFamily="18" charset="0"/>
                                  </a:rPr>
                                  <m:t>⋮</m:t>
                                </m:r>
                                <m:phant>
                                  <m:phantPr>
                                    <m:zeroAsc m:val="on"/>
                                    <m:ctrlPr>
                                      <a:rPr lang="ar-SA" i="1">
                                        <a:latin typeface="Cambria Math" panose="02040503050406030204" pitchFamily="18" charset="0"/>
                                      </a:rPr>
                                    </m:ctrlPr>
                                  </m:phantPr>
                                  <m:e>
                                    <m:r>
                                      <a:rPr lang="ar-SA">
                                        <a:latin typeface="Cambria Math" panose="02040503050406030204" pitchFamily="18" charset="0"/>
                                      </a:rPr>
                                      <m:t> </m:t>
                                    </m:r>
                                  </m:e>
                                </m:phant>
                              </m:e>
                              <m:e>
                                <m:r>
                                  <a:rPr lang="ar-SA">
                                    <a:latin typeface="Cambria Math" panose="02040503050406030204" pitchFamily="18" charset="0"/>
                                  </a:rPr>
                                  <m:t>⋱</m:t>
                                </m:r>
                              </m:e>
                            </m:mr>
                          </m:m>
                        </m:e>
                      </m:d>
                    </m:oMath>
                  </m:oMathPara>
                </a14:m>
                <a:endParaRPr lang="en-US" dirty="0"/>
              </a:p>
              <a:p>
                <a:pPr marL="0" indent="0">
                  <a:buNone/>
                </a:pPr>
                <a:endParaRPr lang="ar-SA" dirty="0"/>
              </a:p>
              <a:p>
                <a:r>
                  <a:rPr lang="en-US" dirty="0"/>
                  <a:t>Channel Estimation estimates all </a:t>
                </a:r>
                <a14:m>
                  <m:oMath xmlns:m="http://schemas.openxmlformats.org/officeDocument/2006/math">
                    <m:sSub>
                      <m:sSubPr>
                        <m:ctrlPr>
                          <a:rPr lang="ar-SA" i="1">
                            <a:latin typeface="Cambria Math" panose="02040503050406030204" pitchFamily="18" charset="0"/>
                          </a:rPr>
                        </m:ctrlPr>
                      </m:sSubPr>
                      <m:e>
                        <m:r>
                          <a:rPr lang="ar-SA" i="1">
                            <a:latin typeface="Cambria Math" panose="02040503050406030204" pitchFamily="18" charset="0"/>
                          </a:rPr>
                          <m:t>h</m:t>
                        </m:r>
                      </m:e>
                      <m:sub>
                        <m:r>
                          <a:rPr lang="ar-SA" i="1">
                            <a:latin typeface="Cambria Math" panose="02040503050406030204" pitchFamily="18" charset="0"/>
                          </a:rPr>
                          <m:t>𝑖𝑗</m:t>
                        </m:r>
                      </m:sub>
                    </m:sSub>
                  </m:oMath>
                </a14:m>
                <a:r>
                  <a:rPr lang="ar-SA" dirty="0"/>
                  <a:t>.</a:t>
                </a:r>
              </a:p>
              <a:p>
                <a:endParaRPr lang="en-US" dirty="0"/>
              </a:p>
            </p:txBody>
          </p:sp>
        </mc:Choice>
        <mc:Fallback>
          <p:sp>
            <p:nvSpPr>
              <p:cNvPr id="3" name="Content Placeholder 2">
                <a:extLst>
                  <a:ext uri="{FF2B5EF4-FFF2-40B4-BE49-F238E27FC236}">
                    <a16:creationId xmlns:a16="http://schemas.microsoft.com/office/drawing/2014/main" id="{4A39080D-9A15-5AF5-02DC-714EA5011C8D}"/>
                  </a:ext>
                </a:extLst>
              </p:cNvPr>
              <p:cNvSpPr>
                <a:spLocks noGrp="1" noRot="1" noChangeAspect="1" noMove="1" noResize="1" noEditPoints="1" noAdjustHandles="1" noChangeArrowheads="1" noChangeShapeType="1" noTextEdit="1"/>
              </p:cNvSpPr>
              <p:nvPr>
                <p:ph idx="1"/>
              </p:nvPr>
            </p:nvSpPr>
            <p:spPr>
              <a:xfrm>
                <a:off x="628650" y="1361799"/>
                <a:ext cx="7886700" cy="4351338"/>
              </a:xfrm>
              <a:blipFill>
                <a:blip r:embed="rId2"/>
                <a:stretch>
                  <a:fillRect l="-1159" t="-2801" b="-112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6B992FE-4ACC-4E67-95C7-2C8ED91D252D}"/>
              </a:ext>
            </a:extLst>
          </p:cNvPr>
          <p:cNvSpPr txBox="1"/>
          <p:nvPr/>
        </p:nvSpPr>
        <p:spPr>
          <a:xfrm>
            <a:off x="761172" y="5874579"/>
            <a:ext cx="8188779" cy="461665"/>
          </a:xfrm>
          <a:prstGeom prst="rect">
            <a:avLst/>
          </a:prstGeom>
          <a:noFill/>
        </p:spPr>
        <p:txBody>
          <a:bodyPr wrap="square">
            <a:spAutoFit/>
          </a:bodyPr>
          <a:lstStyle/>
          <a:p>
            <a:r>
              <a:rPr lang="en-US" sz="2400" dirty="0">
                <a:solidFill>
                  <a:srgbClr val="FF0000"/>
                </a:solidFill>
                <a:highlight>
                  <a:srgbClr val="FFFF00"/>
                </a:highlight>
              </a:rPr>
              <a:t>Why Channel Estimation is harder in MIMO?</a:t>
            </a:r>
          </a:p>
        </p:txBody>
      </p:sp>
    </p:spTree>
    <p:extLst>
      <p:ext uri="{BB962C8B-B14F-4D97-AF65-F5344CB8AC3E}">
        <p14:creationId xmlns:p14="http://schemas.microsoft.com/office/powerpoint/2010/main" val="155468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328009-F881-A35D-59E2-DD94AA31E8CD}"/>
              </a:ext>
            </a:extLst>
          </p:cNvPr>
          <p:cNvSpPr>
            <a:spLocks noGrp="1"/>
          </p:cNvSpPr>
          <p:nvPr>
            <p:ph type="title"/>
          </p:nvPr>
        </p:nvSpPr>
        <p:spPr>
          <a:xfrm>
            <a:off x="476250" y="640823"/>
            <a:ext cx="2563994" cy="5583148"/>
          </a:xfrm>
        </p:spPr>
        <p:txBody>
          <a:bodyPr anchor="ctr">
            <a:normAutofit/>
          </a:bodyPr>
          <a:lstStyle/>
          <a:p>
            <a:r>
              <a:rPr lang="en-US" sz="4000" b="1">
                <a:latin typeface="Times New Roman" panose="02020603050405020304" pitchFamily="18" charset="0"/>
                <a:cs typeface="Times New Roman" panose="02020603050405020304" pitchFamily="18" charset="0"/>
              </a:rPr>
              <a:t>Types of Channel Estimation</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6F5232C-880A-3E92-B88C-B67914B92E9F}"/>
              </a:ext>
            </a:extLst>
          </p:cNvPr>
          <p:cNvGraphicFramePr>
            <a:graphicFrameLocks noGrp="1"/>
          </p:cNvGraphicFramePr>
          <p:nvPr>
            <p:ph idx="1"/>
            <p:extLst>
              <p:ext uri="{D42A27DB-BD31-4B8C-83A1-F6EECF244321}">
                <p14:modId xmlns:p14="http://schemas.microsoft.com/office/powerpoint/2010/main" val="1273440096"/>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1052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BA413-9F5A-20FF-9C9A-FF9ACD17213F}"/>
              </a:ext>
            </a:extLst>
          </p:cNvPr>
          <p:cNvSpPr>
            <a:spLocks noGrp="1"/>
          </p:cNvSpPr>
          <p:nvPr>
            <p:ph type="title"/>
          </p:nvPr>
        </p:nvSpPr>
        <p:spPr>
          <a:xfrm>
            <a:off x="628650" y="365126"/>
            <a:ext cx="7886700" cy="644160"/>
          </a:xfrm>
        </p:spPr>
        <p:txBody>
          <a:bodyPr>
            <a:normAutofit/>
          </a:bodyPr>
          <a:lstStyle/>
          <a:p>
            <a:r>
              <a:rPr lang="en-US" sz="3600" b="1" dirty="0">
                <a:ea typeface="Calibri Light"/>
                <a:cs typeface="Calibri Light"/>
              </a:rPr>
              <a:t>Channel Estimation in MIMO</a:t>
            </a:r>
          </a:p>
          <a:p>
            <a:endParaRPr lang="en-US" sz="3600" b="1" dirty="0">
              <a:ea typeface="Calibri Light"/>
              <a:cs typeface="Calibri Light"/>
            </a:endParaRPr>
          </a:p>
        </p:txBody>
      </p:sp>
      <p:sp>
        <p:nvSpPr>
          <p:cNvPr id="3" name="Content Placeholder 2">
            <a:extLst>
              <a:ext uri="{FF2B5EF4-FFF2-40B4-BE49-F238E27FC236}">
                <a16:creationId xmlns:a16="http://schemas.microsoft.com/office/drawing/2014/main" id="{17D8A66C-567D-3DD8-B5F2-9D93383A99F7}"/>
              </a:ext>
            </a:extLst>
          </p:cNvPr>
          <p:cNvSpPr>
            <a:spLocks noGrp="1"/>
          </p:cNvSpPr>
          <p:nvPr>
            <p:ph idx="1"/>
          </p:nvPr>
        </p:nvSpPr>
        <p:spPr>
          <a:xfrm>
            <a:off x="551717" y="759558"/>
            <a:ext cx="7886700" cy="5692164"/>
          </a:xfrm>
        </p:spPr>
        <p:txBody>
          <a:bodyPr vert="horz" lIns="91440" tIns="45720" rIns="91440" bIns="45720" rtlCol="0" anchor="t">
            <a:noAutofit/>
          </a:bodyPr>
          <a:lstStyle/>
          <a:p>
            <a:pPr>
              <a:lnSpc>
                <a:spcPct val="100000"/>
              </a:lnSpc>
              <a:buFont typeface="+mj-lt"/>
              <a:buAutoNum type="arabicPeriod"/>
            </a:pPr>
            <a:r>
              <a:rPr lang="en-US" sz="2000" b="0" i="0" dirty="0">
                <a:solidFill>
                  <a:srgbClr val="374151"/>
                </a:solidFill>
                <a:effectLst/>
                <a:latin typeface="Söhne"/>
              </a:rPr>
              <a:t>Training-Based Methods: </a:t>
            </a:r>
            <a:endParaRPr lang="en-US" sz="2000" dirty="0">
              <a:ea typeface="Calibri" panose="020F0502020204030204"/>
              <a:cs typeface="Calibri" panose="020F0502020204030204"/>
            </a:endParaRPr>
          </a:p>
          <a:p>
            <a:pPr marL="457200" lvl="1" indent="0">
              <a:lnSpc>
                <a:spcPct val="100000"/>
              </a:lnSpc>
              <a:buNone/>
            </a:pPr>
            <a:r>
              <a:rPr lang="en-US" sz="2000" b="0" i="0" dirty="0">
                <a:solidFill>
                  <a:srgbClr val="374151"/>
                </a:solidFill>
                <a:effectLst/>
                <a:latin typeface="Söhne"/>
              </a:rPr>
              <a:t>Least Squares (LS), </a:t>
            </a:r>
            <a:endParaRPr lang="en-US" sz="2000" dirty="0">
              <a:solidFill>
                <a:srgbClr val="000000"/>
              </a:solidFill>
              <a:latin typeface="Calibri" panose="020F0502020204030204"/>
              <a:ea typeface="Calibri"/>
              <a:cs typeface="Calibri"/>
            </a:endParaRPr>
          </a:p>
          <a:p>
            <a:pPr marL="457200" lvl="1" indent="0">
              <a:lnSpc>
                <a:spcPct val="100000"/>
              </a:lnSpc>
              <a:buNone/>
            </a:pPr>
            <a:r>
              <a:rPr lang="en-US" sz="2000" b="0" i="0" dirty="0">
                <a:solidFill>
                  <a:srgbClr val="374151"/>
                </a:solidFill>
                <a:effectLst/>
                <a:latin typeface="Söhne"/>
              </a:rPr>
              <a:t>Minimum Mean Square Error (MMSE</a:t>
            </a:r>
            <a:r>
              <a:rPr lang="en-US" sz="2000" dirty="0">
                <a:solidFill>
                  <a:srgbClr val="374151"/>
                </a:solidFill>
                <a:latin typeface="Söhne"/>
              </a:rPr>
              <a:t>)</a:t>
            </a:r>
            <a:endParaRPr lang="en-US" sz="2000" dirty="0">
              <a:solidFill>
                <a:srgbClr val="000000"/>
              </a:solidFill>
              <a:latin typeface="Calibri" panose="020F0502020204030204"/>
              <a:ea typeface="Calibri"/>
              <a:cs typeface="Calibri"/>
            </a:endParaRPr>
          </a:p>
          <a:p>
            <a:pPr marL="457200" lvl="1" indent="0">
              <a:lnSpc>
                <a:spcPct val="100000"/>
              </a:lnSpc>
              <a:buNone/>
            </a:pPr>
            <a:r>
              <a:rPr lang="en-US" sz="2000" b="0" i="0" dirty="0">
                <a:solidFill>
                  <a:srgbClr val="374151"/>
                </a:solidFill>
                <a:effectLst/>
                <a:latin typeface="Söhne"/>
              </a:rPr>
              <a:t>Maximum Likelihood (ML</a:t>
            </a:r>
            <a:r>
              <a:rPr lang="en-US" sz="2000" dirty="0">
                <a:solidFill>
                  <a:srgbClr val="374151"/>
                </a:solidFill>
                <a:latin typeface="Söhne"/>
              </a:rPr>
              <a:t>).</a:t>
            </a:r>
            <a:endParaRPr lang="en-US" sz="2000" dirty="0">
              <a:ea typeface="Calibri"/>
              <a:cs typeface="Calibri"/>
            </a:endParaRPr>
          </a:p>
          <a:p>
            <a:pPr>
              <a:lnSpc>
                <a:spcPct val="100000"/>
              </a:lnSpc>
              <a:buFont typeface="+mj-lt"/>
              <a:buAutoNum type="arabicPeriod"/>
            </a:pPr>
            <a:r>
              <a:rPr lang="en-US" sz="2000" b="0" i="0" dirty="0">
                <a:solidFill>
                  <a:srgbClr val="374151"/>
                </a:solidFill>
                <a:effectLst/>
                <a:latin typeface="Söhne"/>
              </a:rPr>
              <a:t>Singular Value Decomposition (SVD): </a:t>
            </a:r>
            <a:endParaRPr lang="en-US" sz="2000" dirty="0">
              <a:solidFill>
                <a:srgbClr val="374151"/>
              </a:solidFill>
              <a:latin typeface="Söhne"/>
            </a:endParaRPr>
          </a:p>
          <a:p>
            <a:pPr>
              <a:lnSpc>
                <a:spcPct val="100000"/>
              </a:lnSpc>
              <a:buAutoNum type="arabicPeriod"/>
            </a:pPr>
            <a:r>
              <a:rPr lang="en-US" sz="2000" b="0" i="0" dirty="0">
                <a:solidFill>
                  <a:srgbClr val="374151"/>
                </a:solidFill>
                <a:effectLst/>
                <a:latin typeface="Söhne"/>
              </a:rPr>
              <a:t>Time-Frequency Methods: </a:t>
            </a:r>
            <a:endParaRPr lang="en-US" sz="2000" dirty="0">
              <a:solidFill>
                <a:srgbClr val="000000"/>
              </a:solidFill>
              <a:latin typeface="Calibri" panose="020F0502020204030204"/>
              <a:ea typeface="Calibri"/>
              <a:cs typeface="Calibri"/>
            </a:endParaRPr>
          </a:p>
          <a:p>
            <a:pPr marL="457200" lvl="1" indent="0">
              <a:lnSpc>
                <a:spcPct val="100000"/>
              </a:lnSpc>
              <a:buNone/>
            </a:pPr>
            <a:r>
              <a:rPr lang="en-US" sz="2000" dirty="0">
                <a:solidFill>
                  <a:srgbClr val="374151"/>
                </a:solidFill>
                <a:latin typeface="Söhne"/>
              </a:rPr>
              <a:t>Discrete Fourier Transform (DFT)</a:t>
            </a:r>
            <a:endParaRPr lang="en-US" sz="2000" dirty="0">
              <a:solidFill>
                <a:srgbClr val="000000"/>
              </a:solidFill>
              <a:latin typeface="Calibri" panose="020F0502020204030204"/>
              <a:ea typeface="Calibri"/>
              <a:cs typeface="Calibri"/>
            </a:endParaRPr>
          </a:p>
          <a:p>
            <a:pPr marL="457200" lvl="1" indent="0">
              <a:lnSpc>
                <a:spcPct val="100000"/>
              </a:lnSpc>
              <a:buNone/>
            </a:pPr>
            <a:r>
              <a:rPr lang="en-US" sz="2000" dirty="0">
                <a:solidFill>
                  <a:srgbClr val="374151"/>
                </a:solidFill>
                <a:latin typeface="Söhne"/>
              </a:rPr>
              <a:t>Discrete Wavelet Transform (DWT) </a:t>
            </a:r>
            <a:endParaRPr lang="en-US" sz="2000" dirty="0">
              <a:solidFill>
                <a:srgbClr val="374151"/>
              </a:solidFill>
              <a:latin typeface="Söhne"/>
              <a:ea typeface="Calibri"/>
              <a:cs typeface="Calibri"/>
            </a:endParaRPr>
          </a:p>
          <a:p>
            <a:pPr marL="457200" lvl="1" indent="0">
              <a:lnSpc>
                <a:spcPct val="100000"/>
              </a:lnSpc>
              <a:buNone/>
            </a:pPr>
            <a:r>
              <a:rPr lang="en-US" sz="2000" dirty="0">
                <a:solidFill>
                  <a:srgbClr val="374151"/>
                </a:solidFill>
                <a:latin typeface="Söhne"/>
              </a:rPr>
              <a:t>C</a:t>
            </a:r>
            <a:r>
              <a:rPr lang="en-US" sz="2000" b="0" i="0" dirty="0">
                <a:solidFill>
                  <a:srgbClr val="374151"/>
                </a:solidFill>
                <a:effectLst/>
                <a:latin typeface="Söhne"/>
              </a:rPr>
              <a:t>ompressed Sensing: </a:t>
            </a:r>
            <a:endParaRPr lang="en-US" sz="2000" dirty="0">
              <a:solidFill>
                <a:srgbClr val="000000"/>
              </a:solidFill>
              <a:latin typeface="Calibri" panose="020F0502020204030204"/>
              <a:ea typeface="Calibri"/>
              <a:cs typeface="Calibri"/>
            </a:endParaRPr>
          </a:p>
          <a:p>
            <a:pPr marL="457200" lvl="1" indent="0">
              <a:lnSpc>
                <a:spcPct val="100000"/>
              </a:lnSpc>
              <a:buNone/>
            </a:pPr>
            <a:r>
              <a:rPr lang="en-US" sz="2000" b="0" i="0" dirty="0">
                <a:solidFill>
                  <a:srgbClr val="374151"/>
                </a:solidFill>
                <a:effectLst/>
                <a:latin typeface="Söhne"/>
              </a:rPr>
              <a:t>Basis Pursuit (BP)</a:t>
            </a:r>
            <a:endParaRPr lang="en-US" sz="2000" dirty="0">
              <a:solidFill>
                <a:srgbClr val="000000"/>
              </a:solidFill>
              <a:latin typeface="Calibri" panose="020F0502020204030204"/>
              <a:ea typeface="Calibri"/>
              <a:cs typeface="Calibri"/>
            </a:endParaRPr>
          </a:p>
          <a:p>
            <a:pPr marL="457200" lvl="1" indent="0">
              <a:lnSpc>
                <a:spcPct val="100000"/>
              </a:lnSpc>
              <a:buNone/>
            </a:pPr>
            <a:r>
              <a:rPr lang="en-US" sz="2000" dirty="0">
                <a:solidFill>
                  <a:srgbClr val="374151"/>
                </a:solidFill>
                <a:latin typeface="Söhne"/>
              </a:rPr>
              <a:t>Orthogonal</a:t>
            </a:r>
            <a:r>
              <a:rPr lang="en-US" sz="2000" b="0" i="0" dirty="0">
                <a:solidFill>
                  <a:srgbClr val="374151"/>
                </a:solidFill>
                <a:effectLst/>
                <a:latin typeface="Söhne"/>
              </a:rPr>
              <a:t> Matching Pursuit (OMP).</a:t>
            </a:r>
            <a:endParaRPr lang="en-US" sz="2000" dirty="0">
              <a:ea typeface="Calibri"/>
              <a:cs typeface="Calibri"/>
            </a:endParaRPr>
          </a:p>
          <a:p>
            <a:pPr>
              <a:lnSpc>
                <a:spcPct val="100000"/>
              </a:lnSpc>
              <a:buFont typeface="+mj-lt"/>
              <a:buAutoNum type="arabicPeriod"/>
            </a:pPr>
            <a:r>
              <a:rPr lang="en-US" sz="2000" dirty="0">
                <a:solidFill>
                  <a:srgbClr val="374151"/>
                </a:solidFill>
                <a:latin typeface="Söhne"/>
              </a:rPr>
              <a:t>Blind</a:t>
            </a:r>
            <a:r>
              <a:rPr lang="en-US" sz="2000" b="0" i="0" dirty="0">
                <a:solidFill>
                  <a:srgbClr val="374151"/>
                </a:solidFill>
                <a:effectLst/>
                <a:latin typeface="Söhne"/>
              </a:rPr>
              <a:t> Estimation: </a:t>
            </a:r>
            <a:endParaRPr lang="en-US" sz="2000" dirty="0">
              <a:solidFill>
                <a:srgbClr val="374151"/>
              </a:solidFill>
              <a:latin typeface="Söhne"/>
            </a:endParaRPr>
          </a:p>
          <a:p>
            <a:pPr marL="457200" lvl="1" indent="0" algn="l">
              <a:lnSpc>
                <a:spcPct val="100000"/>
              </a:lnSpc>
              <a:buNone/>
            </a:pPr>
            <a:r>
              <a:rPr lang="en-US" sz="2000" b="0" i="0" dirty="0">
                <a:solidFill>
                  <a:srgbClr val="374151"/>
                </a:solidFill>
                <a:effectLst/>
                <a:latin typeface="Söhne"/>
              </a:rPr>
              <a:t>These methods include spatial covariance-based approaches, Independent Component Analysis (ICA), higher-order statistics (HOS), and blind Maximum Likelihood (ML) estimation.</a:t>
            </a:r>
            <a:endParaRPr lang="en-US" sz="2000" dirty="0">
              <a:ea typeface="Calibri" panose="020F0502020204030204"/>
              <a:cs typeface="Calibri" panose="020F0502020204030204"/>
            </a:endParaRPr>
          </a:p>
          <a:p>
            <a:pPr>
              <a:lnSpc>
                <a:spcPct val="100000"/>
              </a:lnSpc>
            </a:pPr>
            <a:endParaRPr lang="en-US" sz="2000" dirty="0">
              <a:ea typeface="Calibri" panose="020F0502020204030204"/>
              <a:cs typeface="Calibri" panose="020F0502020204030204"/>
            </a:endParaRPr>
          </a:p>
        </p:txBody>
      </p:sp>
    </p:spTree>
    <p:extLst>
      <p:ext uri="{BB962C8B-B14F-4D97-AF65-F5344CB8AC3E}">
        <p14:creationId xmlns:p14="http://schemas.microsoft.com/office/powerpoint/2010/main" val="325259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FAA98-B237-29FF-61D4-4961E700327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Pilot-based Channel Estimation (Most important)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979009-4ED3-0EEE-5CAD-9EAE03C7800A}"/>
                  </a:ext>
                </a:extLst>
              </p:cNvPr>
              <p:cNvSpPr>
                <a:spLocks noGrp="1"/>
              </p:cNvSpPr>
              <p:nvPr>
                <p:ph idx="1"/>
              </p:nvPr>
            </p:nvSpPr>
            <p:spPr>
              <a:xfrm>
                <a:off x="349526" y="1785868"/>
                <a:ext cx="7886700" cy="4351338"/>
              </a:xfrm>
            </p:spPr>
            <p:txBody>
              <a:bodyPr>
                <a:normAutofit/>
              </a:bodyPr>
              <a:lstStyle/>
              <a:p>
                <a:r>
                  <a:rPr lang="en-US" dirty="0"/>
                  <a:t>Pilots are predefined symbols known at both ends.</a:t>
                </a:r>
              </a:p>
              <a:p>
                <a:pPr marL="0" indent="0">
                  <a:buNone/>
                </a:pPr>
                <a:r>
                  <a:rPr lang="en-US" dirty="0"/>
                  <a:t>Tx sends pilots:</a:t>
                </a:r>
                <a14:m>
                  <m:oMath xmlns:m="http://schemas.openxmlformats.org/officeDocument/2006/math">
                    <m:r>
                      <a:rPr lang="en-US" b="0" i="0" smtClean="0">
                        <a:latin typeface="Cambria Math" panose="02040503050406030204" pitchFamily="18" charset="0"/>
                      </a:rPr>
                      <m:t> </m:t>
                    </m:r>
                    <m:sSub>
                      <m:sSubPr>
                        <m:ctrlPr>
                          <a:rPr lang="ar-SA" i="1">
                            <a:latin typeface="Cambria Math" panose="02040503050406030204" pitchFamily="18" charset="0"/>
                          </a:rPr>
                        </m:ctrlPr>
                      </m:sSubPr>
                      <m:e>
                        <m:r>
                          <a:rPr lang="ar-SA" i="1">
                            <a:latin typeface="Cambria Math" panose="02040503050406030204" pitchFamily="18" charset="0"/>
                          </a:rPr>
                          <m:t>𝑥</m:t>
                        </m:r>
                      </m:e>
                      <m:sub>
                        <m:r>
                          <a:rPr lang="ar-SA" i="1">
                            <a:latin typeface="Cambria Math" panose="02040503050406030204" pitchFamily="18" charset="0"/>
                          </a:rPr>
                          <m:t>𝑝</m:t>
                        </m:r>
                      </m:sub>
                    </m:sSub>
                  </m:oMath>
                </a14:m>
                <a:endParaRPr lang="ar-SA" dirty="0"/>
              </a:p>
              <a:p>
                <a:r>
                  <a:rPr lang="en-US" dirty="0"/>
                  <a:t>Rx gets:</a:t>
                </a:r>
              </a:p>
              <a:p>
                <a:pPr marL="0" indent="0">
                  <a:buNone/>
                </a:pPr>
                <a14:m>
                  <m:oMathPara xmlns:m="http://schemas.openxmlformats.org/officeDocument/2006/math">
                    <m:oMathParaPr>
                      <m:jc m:val="centerGroup"/>
                    </m:oMathParaPr>
                    <m:oMath xmlns:m="http://schemas.openxmlformats.org/officeDocument/2006/math">
                      <m:sSub>
                        <m:sSubPr>
                          <m:ctrlPr>
                            <a:rPr lang="ar-SA" i="1">
                              <a:latin typeface="Cambria Math" panose="02040503050406030204" pitchFamily="18" charset="0"/>
                            </a:rPr>
                          </m:ctrlPr>
                        </m:sSubPr>
                        <m:e>
                          <m:r>
                            <a:rPr lang="ar-SA" i="1">
                              <a:latin typeface="Cambria Math" panose="02040503050406030204" pitchFamily="18" charset="0"/>
                            </a:rPr>
                            <m:t>𝑦</m:t>
                          </m:r>
                        </m:e>
                        <m:sub>
                          <m:r>
                            <a:rPr lang="ar-SA" i="1">
                              <a:latin typeface="Cambria Math" panose="02040503050406030204" pitchFamily="18" charset="0"/>
                            </a:rPr>
                            <m:t>𝑝</m:t>
                          </m:r>
                        </m:sub>
                      </m:sSub>
                      <m:r>
                        <a:rPr lang="ar-SA">
                          <a:latin typeface="Cambria Math" panose="02040503050406030204" pitchFamily="18" charset="0"/>
                        </a:rPr>
                        <m:t>=</m:t>
                      </m:r>
                      <m:r>
                        <a:rPr lang="ar-SA" i="1">
                          <a:latin typeface="Cambria Math" panose="02040503050406030204" pitchFamily="18" charset="0"/>
                        </a:rPr>
                        <m:t>𝐻</m:t>
                      </m:r>
                      <m:sSub>
                        <m:sSubPr>
                          <m:ctrlPr>
                            <a:rPr lang="ar-SA" i="1">
                              <a:latin typeface="Cambria Math" panose="02040503050406030204" pitchFamily="18" charset="0"/>
                            </a:rPr>
                          </m:ctrlPr>
                        </m:sSubPr>
                        <m:e>
                          <m:r>
                            <a:rPr lang="ar-SA" i="1">
                              <a:latin typeface="Cambria Math" panose="02040503050406030204" pitchFamily="18" charset="0"/>
                            </a:rPr>
                            <m:t>𝑥</m:t>
                          </m:r>
                        </m:e>
                        <m:sub>
                          <m:r>
                            <a:rPr lang="ar-SA" i="1">
                              <a:latin typeface="Cambria Math" panose="02040503050406030204" pitchFamily="18" charset="0"/>
                            </a:rPr>
                            <m:t>𝑝</m:t>
                          </m:r>
                        </m:sub>
                      </m:sSub>
                      <m:r>
                        <a:rPr lang="ar-SA">
                          <a:latin typeface="Cambria Math" panose="02040503050406030204" pitchFamily="18" charset="0"/>
                        </a:rPr>
                        <m:t>+</m:t>
                      </m:r>
                      <m:r>
                        <a:rPr lang="ar-SA" i="1">
                          <a:latin typeface="Cambria Math" panose="02040503050406030204" pitchFamily="18" charset="0"/>
                        </a:rPr>
                        <m:t>𝑛</m:t>
                      </m:r>
                    </m:oMath>
                  </m:oMathPara>
                </a14:m>
                <a:endParaRPr lang="ar-SA" dirty="0"/>
              </a:p>
              <a:p>
                <a:r>
                  <a:rPr lang="en-US" dirty="0"/>
                  <a:t>Receiver solves for:</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a:latin typeface="Cambria Math" panose="02040503050406030204" pitchFamily="18" charset="0"/>
                        </a:rPr>
                        <m:t>≈</m:t>
                      </m:r>
                      <m:sSub>
                        <m:sSubPr>
                          <m:ctrlPr>
                            <a:rPr lang="ar-SA" i="1">
                              <a:latin typeface="Cambria Math" panose="02040503050406030204" pitchFamily="18" charset="0"/>
                            </a:rPr>
                          </m:ctrlPr>
                        </m:sSubPr>
                        <m:e>
                          <m:r>
                            <a:rPr lang="ar-SA" i="1">
                              <a:latin typeface="Cambria Math" panose="02040503050406030204" pitchFamily="18" charset="0"/>
                            </a:rPr>
                            <m:t>𝑦</m:t>
                          </m:r>
                        </m:e>
                        <m:sub>
                          <m:r>
                            <a:rPr lang="ar-SA" i="1">
                              <a:latin typeface="Cambria Math" panose="02040503050406030204" pitchFamily="18" charset="0"/>
                            </a:rPr>
                            <m:t>𝑝</m:t>
                          </m:r>
                        </m:sub>
                      </m:sSub>
                      <m:sSubSup>
                        <m:sSubSupPr>
                          <m:ctrlPr>
                            <a:rPr lang="ar-SA" i="1">
                              <a:latin typeface="Cambria Math" panose="02040503050406030204" pitchFamily="18" charset="0"/>
                            </a:rPr>
                          </m:ctrlPr>
                        </m:sSubSupPr>
                        <m:e>
                          <m:r>
                            <a:rPr lang="ar-SA" i="1">
                              <a:latin typeface="Cambria Math" panose="02040503050406030204" pitchFamily="18" charset="0"/>
                            </a:rPr>
                            <m:t>𝑥</m:t>
                          </m:r>
                        </m:e>
                        <m:sub>
                          <m:r>
                            <a:rPr lang="ar-SA" i="1">
                              <a:latin typeface="Cambria Math" panose="02040503050406030204" pitchFamily="18" charset="0"/>
                            </a:rPr>
                            <m:t>𝑝</m:t>
                          </m:r>
                        </m:sub>
                        <m:sup>
                          <m:r>
                            <a:rPr lang="ar-SA">
                              <a:latin typeface="Cambria Math" panose="02040503050406030204" pitchFamily="18" charset="0"/>
                            </a:rPr>
                            <m:t>−</m:t>
                          </m:r>
                          <m:r>
                            <a:rPr lang="ar-SA">
                              <a:latin typeface="Cambria Math" panose="02040503050406030204" pitchFamily="18" charset="0"/>
                            </a:rPr>
                            <m:t>1</m:t>
                          </m:r>
                        </m:sup>
                      </m:sSubSup>
                    </m:oMath>
                  </m:oMathPara>
                </a14:m>
                <a:endParaRPr lang="ar-SA" dirty="0"/>
              </a:p>
              <a:p>
                <a:pPr marL="0" indent="0">
                  <a:buNone/>
                </a:pPr>
                <a:endParaRPr lang="en-US" dirty="0"/>
              </a:p>
              <a:p>
                <a:pPr marL="0" indent="0" algn="ctr">
                  <a:buNone/>
                </a:pPr>
                <a:r>
                  <a:rPr lang="en-US" dirty="0">
                    <a:solidFill>
                      <a:srgbClr val="FF0000"/>
                    </a:solidFill>
                    <a:highlight>
                      <a:srgbClr val="FFFF00"/>
                    </a:highlight>
                  </a:rPr>
                  <a:t>Pilots allow the receiver to “learn” the channel</a:t>
                </a:r>
                <a:r>
                  <a:rPr lang="en-US" dirty="0">
                    <a:highlight>
                      <a:srgbClr val="FFFF00"/>
                    </a:highlight>
                  </a:rPr>
                  <a:t>.</a:t>
                </a:r>
              </a:p>
              <a:p>
                <a:endParaRPr lang="en-US" dirty="0">
                  <a:solidFill>
                    <a:srgbClr val="FF0000"/>
                  </a:solidFill>
                </a:endParaRPr>
              </a:p>
            </p:txBody>
          </p:sp>
        </mc:Choice>
        <mc:Fallback xmlns="">
          <p:sp>
            <p:nvSpPr>
              <p:cNvPr id="3" name="Content Placeholder 2">
                <a:extLst>
                  <a:ext uri="{FF2B5EF4-FFF2-40B4-BE49-F238E27FC236}">
                    <a16:creationId xmlns:a16="http://schemas.microsoft.com/office/drawing/2014/main" id="{CF979009-4ED3-0EEE-5CAD-9EAE03C7800A}"/>
                  </a:ext>
                </a:extLst>
              </p:cNvPr>
              <p:cNvSpPr>
                <a:spLocks noGrp="1" noRot="1" noChangeAspect="1" noMove="1" noResize="1" noEditPoints="1" noAdjustHandles="1" noChangeArrowheads="1" noChangeShapeType="1" noTextEdit="1"/>
              </p:cNvSpPr>
              <p:nvPr>
                <p:ph idx="1"/>
              </p:nvPr>
            </p:nvSpPr>
            <p:spPr>
              <a:xfrm>
                <a:off x="349526" y="1785868"/>
                <a:ext cx="7886700" cy="4351338"/>
              </a:xfrm>
              <a:blipFill>
                <a:blip r:embed="rId2"/>
                <a:stretch>
                  <a:fillRect l="-1546" t="-2381"/>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AFB1E8A-D7A5-AA77-1FB7-661425DCF401}"/>
              </a:ext>
            </a:extLst>
          </p:cNvPr>
          <p:cNvSpPr txBox="1"/>
          <p:nvPr/>
        </p:nvSpPr>
        <p:spPr>
          <a:xfrm>
            <a:off x="349526" y="5963477"/>
            <a:ext cx="7641535" cy="461665"/>
          </a:xfrm>
          <a:prstGeom prst="rect">
            <a:avLst/>
          </a:prstGeom>
          <a:noFill/>
        </p:spPr>
        <p:txBody>
          <a:bodyPr wrap="square">
            <a:spAutoFit/>
          </a:bodyPr>
          <a:lstStyle/>
          <a:p>
            <a:r>
              <a:rPr lang="en-US" sz="2400" dirty="0">
                <a:solidFill>
                  <a:srgbClr val="FF0000"/>
                </a:solidFill>
                <a:highlight>
                  <a:srgbClr val="FFFF00"/>
                </a:highlight>
              </a:rPr>
              <a:t>Used in:  LTE, 5G NR, </a:t>
            </a:r>
            <a:r>
              <a:rPr lang="en-US" sz="2400" dirty="0" err="1">
                <a:solidFill>
                  <a:srgbClr val="FF0000"/>
                </a:solidFill>
                <a:highlight>
                  <a:srgbClr val="FFFF00"/>
                </a:highlight>
              </a:rPr>
              <a:t>WiFi</a:t>
            </a:r>
            <a:r>
              <a:rPr lang="en-US" sz="2400" dirty="0">
                <a:solidFill>
                  <a:srgbClr val="FF0000"/>
                </a:solidFill>
                <a:highlight>
                  <a:srgbClr val="FFFF00"/>
                </a:highlight>
              </a:rPr>
              <a:t> (802.11n/ac/ax)</a:t>
            </a:r>
          </a:p>
        </p:txBody>
      </p:sp>
    </p:spTree>
    <p:extLst>
      <p:ext uri="{BB962C8B-B14F-4D97-AF65-F5344CB8AC3E}">
        <p14:creationId xmlns:p14="http://schemas.microsoft.com/office/powerpoint/2010/main" val="1922968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0B45B3-E757-A993-4942-7729AD9CE8EE}"/>
              </a:ext>
            </a:extLst>
          </p:cNvPr>
          <p:cNvSpPr>
            <a:spLocks noGrp="1"/>
          </p:cNvSpPr>
          <p:nvPr>
            <p:ph type="title"/>
          </p:nvPr>
        </p:nvSpPr>
        <p:spPr>
          <a:xfrm>
            <a:off x="476250" y="640823"/>
            <a:ext cx="2563994" cy="5583148"/>
          </a:xfrm>
        </p:spPr>
        <p:txBody>
          <a:bodyPr anchor="ctr">
            <a:normAutofit/>
          </a:bodyPr>
          <a:lstStyle/>
          <a:p>
            <a:r>
              <a:rPr lang="en-US" sz="3300" b="1">
                <a:latin typeface="Times New Roman" panose="02020603050405020304" pitchFamily="18" charset="0"/>
                <a:cs typeface="Times New Roman" panose="02020603050405020304" pitchFamily="18" charset="0"/>
              </a:rPr>
              <a:t>Challenges: </a:t>
            </a:r>
            <a:br>
              <a:rPr lang="en-US" sz="3300" b="1">
                <a:latin typeface="Times New Roman" panose="02020603050405020304" pitchFamily="18" charset="0"/>
                <a:cs typeface="Times New Roman" panose="02020603050405020304" pitchFamily="18" charset="0"/>
              </a:rPr>
            </a:br>
            <a:r>
              <a:rPr lang="en-US" sz="3300" b="1">
                <a:latin typeface="Times New Roman" panose="02020603050405020304" pitchFamily="18" charset="0"/>
                <a:cs typeface="Times New Roman" panose="02020603050405020304" pitchFamily="18" charset="0"/>
              </a:rPr>
              <a:t>Channel estimation in MIMO</a:t>
            </a:r>
            <a:endParaRPr lang="en-US" sz="3300">
              <a:latin typeface="Times New Roman" panose="02020603050405020304" pitchFamily="18" charset="0"/>
              <a:cs typeface="Times New Roman" panose="02020603050405020304" pitchFamily="18" charset="0"/>
            </a:endParaRP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7D7CE5E-038C-1DD4-4037-0DD5A1FBA2A8}"/>
              </a:ext>
            </a:extLst>
          </p:cNvPr>
          <p:cNvGraphicFramePr>
            <a:graphicFrameLocks noGrp="1"/>
          </p:cNvGraphicFramePr>
          <p:nvPr>
            <p:ph idx="1"/>
            <p:extLst>
              <p:ext uri="{D42A27DB-BD31-4B8C-83A1-F6EECF244321}">
                <p14:modId xmlns:p14="http://schemas.microsoft.com/office/powerpoint/2010/main" val="2925806751"/>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1597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B1C475-2D4D-B643-8868-781610909B38}"/>
              </a:ext>
            </a:extLst>
          </p:cNvPr>
          <p:cNvSpPr>
            <a:spLocks noGrp="1"/>
          </p:cNvSpPr>
          <p:nvPr>
            <p:ph type="title"/>
          </p:nvPr>
        </p:nvSpPr>
        <p:spPr>
          <a:xfrm>
            <a:off x="476250" y="640823"/>
            <a:ext cx="2563994" cy="5583148"/>
          </a:xfrm>
        </p:spPr>
        <p:txBody>
          <a:bodyPr anchor="ctr">
            <a:normAutofit/>
          </a:bodyPr>
          <a:lstStyle/>
          <a:p>
            <a:r>
              <a:rPr lang="en-US" sz="4700" b="1">
                <a:latin typeface="Times New Roman" panose="02020603050405020304" pitchFamily="18" charset="0"/>
                <a:cs typeface="Times New Roman" panose="02020603050405020304" pitchFamily="18" charset="0"/>
              </a:rPr>
              <a:t>Practical Issues in MIMO</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8362329C-EC34-05D6-C42E-641F8352E4BD}"/>
              </a:ext>
            </a:extLst>
          </p:cNvPr>
          <p:cNvGraphicFramePr>
            <a:graphicFrameLocks noGrp="1"/>
          </p:cNvGraphicFramePr>
          <p:nvPr>
            <p:ph idx="1"/>
            <p:extLst>
              <p:ext uri="{D42A27DB-BD31-4B8C-83A1-F6EECF244321}">
                <p14:modId xmlns:p14="http://schemas.microsoft.com/office/powerpoint/2010/main" val="4199133622"/>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6384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2" name="Picture 2" descr="Beamforming and MIMO in 5G | 5G Training | Award Solutions">
            <a:extLst>
              <a:ext uri="{FF2B5EF4-FFF2-40B4-BE49-F238E27FC236}">
                <a16:creationId xmlns:a16="http://schemas.microsoft.com/office/drawing/2014/main" id="{1C281D15-9E26-4349-04BB-496BE9AD9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2336"/>
          <a:stretch>
            <a:fillRect/>
          </a:stretch>
        </p:blipFill>
        <p:spPr bwMode="auto">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graphicFrame>
        <p:nvGraphicFramePr>
          <p:cNvPr id="10244" name="Content Placeholder 2">
            <a:extLst>
              <a:ext uri="{FF2B5EF4-FFF2-40B4-BE49-F238E27FC236}">
                <a16:creationId xmlns:a16="http://schemas.microsoft.com/office/drawing/2014/main" id="{986FFF61-EA42-476C-A6B0-E5571DA9E5D2}"/>
              </a:ext>
            </a:extLst>
          </p:cNvPr>
          <p:cNvGraphicFramePr>
            <a:graphicFrameLocks noGrp="1"/>
          </p:cNvGraphicFramePr>
          <p:nvPr>
            <p:ph idx="1"/>
            <p:extLst>
              <p:ext uri="{D42A27DB-BD31-4B8C-83A1-F6EECF244321}">
                <p14:modId xmlns:p14="http://schemas.microsoft.com/office/powerpoint/2010/main" val="2718783647"/>
              </p:ext>
            </p:extLst>
          </p:nvPr>
        </p:nvGraphicFramePr>
        <p:xfrm>
          <a:off x="-342127" y="3962408"/>
          <a:ext cx="9287344" cy="2452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4751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732E885B-E8B8-78D1-4AFD-FCB9B2AAC0D4}"/>
              </a:ext>
            </a:extLst>
          </p:cNvPr>
          <p:cNvPicPr>
            <a:picLocks noChangeAspect="1"/>
          </p:cNvPicPr>
          <p:nvPr/>
        </p:nvPicPr>
        <p:blipFill>
          <a:blip r:embed="rId2"/>
          <a:stretch>
            <a:fillRect/>
          </a:stretch>
        </p:blipFill>
        <p:spPr>
          <a:xfrm>
            <a:off x="1068266" y="1333008"/>
            <a:ext cx="7249257" cy="1851033"/>
          </a:xfrm>
          <a:prstGeom prst="rect">
            <a:avLst/>
          </a:prstGeom>
        </p:spPr>
      </p:pic>
      <p:pic>
        <p:nvPicPr>
          <p:cNvPr id="6" name="Picture 6" descr="Text&#10;&#10;Description automatically generated">
            <a:extLst>
              <a:ext uri="{FF2B5EF4-FFF2-40B4-BE49-F238E27FC236}">
                <a16:creationId xmlns:a16="http://schemas.microsoft.com/office/drawing/2014/main" id="{C8B1CACB-3167-E595-9F77-39CDBC52ADFD}"/>
              </a:ext>
            </a:extLst>
          </p:cNvPr>
          <p:cNvPicPr>
            <a:picLocks noChangeAspect="1"/>
          </p:cNvPicPr>
          <p:nvPr/>
        </p:nvPicPr>
        <p:blipFill>
          <a:blip r:embed="rId3"/>
          <a:stretch>
            <a:fillRect/>
          </a:stretch>
        </p:blipFill>
        <p:spPr>
          <a:xfrm>
            <a:off x="1277083" y="3355403"/>
            <a:ext cx="7348171" cy="1059397"/>
          </a:xfrm>
          <a:prstGeom prst="rect">
            <a:avLst/>
          </a:prstGeom>
        </p:spPr>
      </p:pic>
      <p:pic>
        <p:nvPicPr>
          <p:cNvPr id="7" name="Picture 7" descr="Graphical user interface, text, email&#10;&#10;Description automatically generated">
            <a:extLst>
              <a:ext uri="{FF2B5EF4-FFF2-40B4-BE49-F238E27FC236}">
                <a16:creationId xmlns:a16="http://schemas.microsoft.com/office/drawing/2014/main" id="{9B17D68A-240E-3562-B542-0689212B1AB1}"/>
              </a:ext>
            </a:extLst>
          </p:cNvPr>
          <p:cNvPicPr>
            <a:picLocks noChangeAspect="1"/>
          </p:cNvPicPr>
          <p:nvPr/>
        </p:nvPicPr>
        <p:blipFill>
          <a:blip r:embed="rId4"/>
          <a:stretch>
            <a:fillRect/>
          </a:stretch>
        </p:blipFill>
        <p:spPr>
          <a:xfrm>
            <a:off x="1277083" y="4744307"/>
            <a:ext cx="7436093" cy="1435827"/>
          </a:xfrm>
          <a:prstGeom prst="rect">
            <a:avLst/>
          </a:prstGeom>
        </p:spPr>
      </p:pic>
      <p:pic>
        <p:nvPicPr>
          <p:cNvPr id="8" name="Picture 8">
            <a:extLst>
              <a:ext uri="{FF2B5EF4-FFF2-40B4-BE49-F238E27FC236}">
                <a16:creationId xmlns:a16="http://schemas.microsoft.com/office/drawing/2014/main" id="{6DAF2860-00CC-7C21-D195-E3914E7ADFA5}"/>
              </a:ext>
            </a:extLst>
          </p:cNvPr>
          <p:cNvPicPr>
            <a:picLocks noChangeAspect="1"/>
          </p:cNvPicPr>
          <p:nvPr/>
        </p:nvPicPr>
        <p:blipFill>
          <a:blip r:embed="rId5"/>
          <a:stretch>
            <a:fillRect/>
          </a:stretch>
        </p:blipFill>
        <p:spPr>
          <a:xfrm>
            <a:off x="1101236" y="416131"/>
            <a:ext cx="6864594" cy="717383"/>
          </a:xfrm>
          <a:prstGeom prst="rect">
            <a:avLst/>
          </a:prstGeom>
        </p:spPr>
      </p:pic>
    </p:spTree>
    <p:extLst>
      <p:ext uri="{BB962C8B-B14F-4D97-AF65-F5344CB8AC3E}">
        <p14:creationId xmlns:p14="http://schemas.microsoft.com/office/powerpoint/2010/main" val="1162418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191659-6BC9-7504-24C4-1EAD9D7BF304}"/>
              </a:ext>
            </a:extLst>
          </p:cNvPr>
          <p:cNvSpPr>
            <a:spLocks noGrp="1"/>
          </p:cNvSpPr>
          <p:nvPr>
            <p:ph type="title"/>
          </p:nvPr>
        </p:nvSpPr>
        <p:spPr>
          <a:xfrm>
            <a:off x="3520367" y="328794"/>
            <a:ext cx="3630007" cy="1172127"/>
          </a:xfrm>
        </p:spPr>
        <p:txBody>
          <a:bodyPr>
            <a:normAutofit/>
          </a:bodyPr>
          <a:lstStyle/>
          <a:p>
            <a:r>
              <a:rPr lang="en-US" b="1" dirty="0">
                <a:latin typeface="Times New Roman" panose="02020603050405020304" pitchFamily="18" charset="0"/>
                <a:cs typeface="Times New Roman" panose="02020603050405020304" pitchFamily="18" charset="0"/>
              </a:rPr>
              <a:t>Basic Idea</a:t>
            </a:r>
          </a:p>
        </p:txBody>
      </p:sp>
      <p:pic>
        <p:nvPicPr>
          <p:cNvPr id="5" name="Picture 4" descr="Person with idea concept">
            <a:extLst>
              <a:ext uri="{FF2B5EF4-FFF2-40B4-BE49-F238E27FC236}">
                <a16:creationId xmlns:a16="http://schemas.microsoft.com/office/drawing/2014/main" id="{FDA12310-FCC6-1C70-4804-179797BE96A1}"/>
              </a:ext>
            </a:extLst>
          </p:cNvPr>
          <p:cNvPicPr>
            <a:picLocks noChangeAspect="1"/>
          </p:cNvPicPr>
          <p:nvPr/>
        </p:nvPicPr>
        <p:blipFill>
          <a:blip r:embed="rId2"/>
          <a:srcRect l="31906" r="23443" b="-1"/>
          <a:stretch>
            <a:fillRect/>
          </a:stretch>
        </p:blipFill>
        <p:spPr>
          <a:xfrm>
            <a:off x="20" y="10"/>
            <a:ext cx="3220258"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FDA654-59BA-87EF-0E63-7DD287C00063}"/>
                  </a:ext>
                </a:extLst>
              </p:cNvPr>
              <p:cNvSpPr>
                <a:spLocks noGrp="1"/>
              </p:cNvSpPr>
              <p:nvPr>
                <p:ph idx="1"/>
              </p:nvPr>
            </p:nvSpPr>
            <p:spPr>
              <a:xfrm>
                <a:off x="3220278" y="1829714"/>
                <a:ext cx="5295070" cy="3843666"/>
              </a:xfrm>
            </p:spPr>
            <p:txBody>
              <a:bodyPr>
                <a:noAutofit/>
              </a:bodyPr>
              <a:lstStyle/>
              <a:p>
                <a:r>
                  <a:rPr lang="en-US" sz="2400" dirty="0"/>
                  <a:t>Array antennas can combine signals </a:t>
                </a:r>
                <a:r>
                  <a:rPr lang="en-US" sz="2400" dirty="0">
                    <a:highlight>
                      <a:srgbClr val="FFFF00"/>
                    </a:highlight>
                  </a:rPr>
                  <a:t>constructively </a:t>
                </a:r>
                <a:r>
                  <a:rPr lang="en-US" sz="2400" dirty="0"/>
                  <a:t>in some directions and </a:t>
                </a:r>
                <a:r>
                  <a:rPr lang="en-US" sz="2400" dirty="0">
                    <a:highlight>
                      <a:srgbClr val="FFFF00"/>
                    </a:highlight>
                  </a:rPr>
                  <a:t>destructively</a:t>
                </a:r>
                <a:r>
                  <a:rPr lang="en-US" sz="2400" dirty="0"/>
                  <a:t> in others.</a:t>
                </a:r>
              </a:p>
              <a:p>
                <a:r>
                  <a:rPr lang="en-US" sz="2400" dirty="0"/>
                  <a:t>Transmit beamforming:</a:t>
                </a:r>
              </a:p>
              <a:p>
                <a:pPr marL="0" indent="0">
                  <a:buNone/>
                </a:pPr>
                <a14:m>
                  <m:oMathPara xmlns:m="http://schemas.openxmlformats.org/officeDocument/2006/math">
                    <m:oMathParaPr>
                      <m:jc m:val="centerGroup"/>
                    </m:oMathParaPr>
                    <m:oMath xmlns:m="http://schemas.openxmlformats.org/officeDocument/2006/math">
                      <m:r>
                        <a:rPr lang="en-US" sz="2400" b="1">
                          <a:latin typeface="Cambria Math" panose="02040503050406030204" pitchFamily="18" charset="0"/>
                        </a:rPr>
                        <m:t>𝐱</m:t>
                      </m:r>
                      <m:r>
                        <a:rPr lang="en-US" sz="2400">
                          <a:latin typeface="Cambria Math" panose="02040503050406030204" pitchFamily="18" charset="0"/>
                        </a:rPr>
                        <m:t>=</m:t>
                      </m:r>
                      <m:r>
                        <a:rPr lang="en-US" sz="2400" b="1">
                          <a:latin typeface="Cambria Math" panose="02040503050406030204" pitchFamily="18" charset="0"/>
                        </a:rPr>
                        <m:t>𝐰</m:t>
                      </m:r>
                      <m:r>
                        <a:rPr lang="en-US" sz="2400" i="1">
                          <a:latin typeface="Cambria Math" panose="02040503050406030204" pitchFamily="18" charset="0"/>
                        </a:rPr>
                        <m:t>𝑠</m:t>
                      </m:r>
                    </m:oMath>
                  </m:oMathPara>
                </a14:m>
                <a:endParaRPr lang="en-US" sz="2400" b="0" dirty="0"/>
              </a:p>
              <a:p>
                <a14:m>
                  <m:oMath xmlns:m="http://schemas.openxmlformats.org/officeDocument/2006/math">
                    <m:r>
                      <a:rPr lang="en-US" sz="2400" i="1">
                        <a:latin typeface="Cambria Math" panose="02040503050406030204" pitchFamily="18" charset="0"/>
                      </a:rPr>
                      <m:t>𝑠</m:t>
                    </m:r>
                  </m:oMath>
                </a14:m>
                <a:r>
                  <a:rPr lang="en-US" sz="2400" dirty="0"/>
                  <a:t>: transmit symbol</a:t>
                </a:r>
              </a:p>
              <a:p>
                <a14:m>
                  <m:oMath xmlns:m="http://schemas.openxmlformats.org/officeDocument/2006/math">
                    <m:r>
                      <a:rPr lang="en-US" sz="2400" i="1">
                        <a:latin typeface="Cambria Math" panose="02040503050406030204" pitchFamily="18" charset="0"/>
                      </a:rPr>
                      <m:t>𝑤</m:t>
                    </m:r>
                  </m:oMath>
                </a14:m>
                <a:r>
                  <a:rPr lang="en-US" sz="2400" dirty="0"/>
                  <a:t>: beamforming weight vector</a:t>
                </a:r>
              </a:p>
              <a:p>
                <a:r>
                  <a:rPr lang="en-US" sz="2400" dirty="0"/>
                  <a:t>At Receiver:</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𝑦</m:t>
                      </m:r>
                      <m:r>
                        <a:rPr lang="en-US" sz="2400">
                          <a:latin typeface="Cambria Math" panose="02040503050406030204" pitchFamily="18" charset="0"/>
                        </a:rPr>
                        <m:t>=</m:t>
                      </m:r>
                      <m:sSup>
                        <m:sSupPr>
                          <m:ctrlPr>
                            <a:rPr lang="ar-SA" sz="2400" i="1">
                              <a:latin typeface="Cambria Math" panose="02040503050406030204" pitchFamily="18" charset="0"/>
                            </a:rPr>
                          </m:ctrlPr>
                        </m:sSupPr>
                        <m:e>
                          <m:r>
                            <a:rPr lang="ar-SA" sz="2400" b="1">
                              <a:latin typeface="Cambria Math" panose="02040503050406030204" pitchFamily="18" charset="0"/>
                            </a:rPr>
                            <m:t>𝐡</m:t>
                          </m:r>
                        </m:e>
                        <m:sup>
                          <m:r>
                            <a:rPr lang="ar-SA" sz="2400" i="1">
                              <a:latin typeface="Cambria Math" panose="02040503050406030204" pitchFamily="18" charset="0"/>
                            </a:rPr>
                            <m:t>𝑇</m:t>
                          </m:r>
                        </m:sup>
                      </m:sSup>
                      <m:r>
                        <a:rPr lang="ar-SA" sz="2400" b="1">
                          <a:latin typeface="Cambria Math" panose="02040503050406030204" pitchFamily="18" charset="0"/>
                        </a:rPr>
                        <m:t>𝐰</m:t>
                      </m:r>
                      <m:r>
                        <a:rPr lang="ar-SA" sz="2400" i="1">
                          <a:latin typeface="Cambria Math" panose="02040503050406030204" pitchFamily="18" charset="0"/>
                        </a:rPr>
                        <m:t>𝑠</m:t>
                      </m:r>
                      <m:r>
                        <a:rPr lang="ar-SA" sz="2400">
                          <a:latin typeface="Cambria Math" panose="02040503050406030204" pitchFamily="18" charset="0"/>
                        </a:rPr>
                        <m:t>+</m:t>
                      </m:r>
                      <m:r>
                        <a:rPr lang="ar-SA" sz="2400" i="1">
                          <a:latin typeface="Cambria Math" panose="02040503050406030204" pitchFamily="18" charset="0"/>
                        </a:rPr>
                        <m:t>𝑛</m:t>
                      </m:r>
                    </m:oMath>
                  </m:oMathPara>
                </a14:m>
                <a:endParaRPr lang="ar-SA" sz="2400" b="0" dirty="0"/>
              </a:p>
              <a:p>
                <a:endParaRPr lang="en-US" sz="2400" dirty="0"/>
              </a:p>
              <a:p>
                <a:r>
                  <a:rPr lang="en-US" sz="2400" dirty="0"/>
                  <a:t>We choose </a:t>
                </a:r>
                <a14:m>
                  <m:oMath xmlns:m="http://schemas.openxmlformats.org/officeDocument/2006/math">
                    <m:r>
                      <a:rPr lang="en-US" sz="2400" i="1">
                        <a:latin typeface="Cambria Math" panose="02040503050406030204" pitchFamily="18" charset="0"/>
                      </a:rPr>
                      <m:t>𝑤</m:t>
                    </m:r>
                  </m:oMath>
                </a14:m>
                <a:r>
                  <a:rPr lang="en-US" sz="2400" dirty="0"/>
                  <a:t>to maximize desired signal and minimize interference.</a:t>
                </a:r>
              </a:p>
              <a:p>
                <a:endParaRPr lang="en-US" sz="2400" dirty="0"/>
              </a:p>
            </p:txBody>
          </p:sp>
        </mc:Choice>
        <mc:Fallback xmlns="">
          <p:sp>
            <p:nvSpPr>
              <p:cNvPr id="3" name="Content Placeholder 2">
                <a:extLst>
                  <a:ext uri="{FF2B5EF4-FFF2-40B4-BE49-F238E27FC236}">
                    <a16:creationId xmlns:a16="http://schemas.microsoft.com/office/drawing/2014/main" id="{13FDA654-59BA-87EF-0E63-7DD287C00063}"/>
                  </a:ext>
                </a:extLst>
              </p:cNvPr>
              <p:cNvSpPr>
                <a:spLocks noGrp="1" noRot="1" noChangeAspect="1" noMove="1" noResize="1" noEditPoints="1" noAdjustHandles="1" noChangeArrowheads="1" noChangeShapeType="1" noTextEdit="1"/>
              </p:cNvSpPr>
              <p:nvPr>
                <p:ph idx="1"/>
              </p:nvPr>
            </p:nvSpPr>
            <p:spPr>
              <a:xfrm>
                <a:off x="3220278" y="1829714"/>
                <a:ext cx="5295070" cy="3843666"/>
              </a:xfrm>
              <a:blipFill>
                <a:blip r:embed="rId3"/>
                <a:stretch>
                  <a:fillRect l="-1496" t="-2219" b="-28526"/>
                </a:stretch>
              </a:blipFill>
            </p:spPr>
            <p:txBody>
              <a:bodyPr/>
              <a:lstStyle/>
              <a:p>
                <a:r>
                  <a:rPr lang="en-US">
                    <a:noFill/>
                  </a:rPr>
                  <a:t> </a:t>
                </a:r>
              </a:p>
            </p:txBody>
          </p:sp>
        </mc:Fallback>
      </mc:AlternateContent>
    </p:spTree>
    <p:extLst>
      <p:ext uri="{BB962C8B-B14F-4D97-AF65-F5344CB8AC3E}">
        <p14:creationId xmlns:p14="http://schemas.microsoft.com/office/powerpoint/2010/main" val="1951094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213" y="575361"/>
            <a:ext cx="428045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C044A6-F1DD-CD7C-83F4-6BE1F9DD5297}"/>
              </a:ext>
            </a:extLst>
          </p:cNvPr>
          <p:cNvSpPr>
            <a:spLocks noGrp="1"/>
          </p:cNvSpPr>
          <p:nvPr>
            <p:ph type="title"/>
          </p:nvPr>
        </p:nvSpPr>
        <p:spPr>
          <a:xfrm>
            <a:off x="628650" y="1748452"/>
            <a:ext cx="3731078" cy="3587786"/>
          </a:xfrm>
        </p:spPr>
        <p:txBody>
          <a:bodyPr>
            <a:normAutofit/>
          </a:bodyPr>
          <a:lstStyle/>
          <a:p>
            <a:pPr algn="ctr"/>
            <a:r>
              <a:rPr lang="en-US" sz="4100" b="1">
                <a:solidFill>
                  <a:schemeClr val="bg1"/>
                </a:solidFill>
                <a:latin typeface="Times New Roman" panose="02020603050405020304" pitchFamily="18" charset="0"/>
                <a:cs typeface="Times New Roman" panose="02020603050405020304" pitchFamily="18" charset="0"/>
              </a:rPr>
              <a:t>Why Beamforming?</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9836" y="1193254"/>
            <a:ext cx="968730"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8295" y="421588"/>
            <a:ext cx="968601"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8295" y="421588"/>
            <a:ext cx="968601"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10689" y="4748271"/>
            <a:ext cx="997902"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10689" y="4748271"/>
            <a:ext cx="997902"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4EEDF964-450B-4F04-8A14-0647BAA14212}"/>
              </a:ext>
            </a:extLst>
          </p:cNvPr>
          <p:cNvSpPr>
            <a:spLocks noGrp="1"/>
          </p:cNvSpPr>
          <p:nvPr>
            <p:ph idx="1"/>
          </p:nvPr>
        </p:nvSpPr>
        <p:spPr>
          <a:xfrm>
            <a:off x="4857952" y="1130846"/>
            <a:ext cx="3731078" cy="4351338"/>
          </a:xfrm>
        </p:spPr>
        <p:txBody>
          <a:bodyPr>
            <a:normAutofit fontScale="92500" lnSpcReduction="20000"/>
          </a:bodyPr>
          <a:lstStyle/>
          <a:p>
            <a:pPr marL="0" indent="0">
              <a:lnSpc>
                <a:spcPct val="200000"/>
              </a:lnSpc>
              <a:buNone/>
            </a:pPr>
            <a:r>
              <a:rPr lang="en-US" dirty="0">
                <a:solidFill>
                  <a:schemeClr val="bg1"/>
                </a:solidFill>
              </a:rPr>
              <a:t>✔ increase SNR</a:t>
            </a:r>
            <a:br>
              <a:rPr lang="en-US" dirty="0">
                <a:solidFill>
                  <a:schemeClr val="bg1"/>
                </a:solidFill>
              </a:rPr>
            </a:br>
            <a:r>
              <a:rPr lang="en-US" dirty="0">
                <a:solidFill>
                  <a:schemeClr val="bg1"/>
                </a:solidFill>
              </a:rPr>
              <a:t>✔ improve coverage</a:t>
            </a:r>
            <a:br>
              <a:rPr lang="en-US" dirty="0">
                <a:solidFill>
                  <a:schemeClr val="bg1"/>
                </a:solidFill>
              </a:rPr>
            </a:br>
            <a:r>
              <a:rPr lang="en-US" dirty="0">
                <a:solidFill>
                  <a:schemeClr val="bg1"/>
                </a:solidFill>
              </a:rPr>
              <a:t>✔ suppress interference</a:t>
            </a:r>
            <a:br>
              <a:rPr lang="en-US" dirty="0">
                <a:solidFill>
                  <a:schemeClr val="bg1"/>
                </a:solidFill>
              </a:rPr>
            </a:br>
            <a:r>
              <a:rPr lang="en-US" dirty="0">
                <a:solidFill>
                  <a:schemeClr val="bg1"/>
                </a:solidFill>
              </a:rPr>
              <a:t>✔ spatial multiplexing</a:t>
            </a:r>
            <a:br>
              <a:rPr lang="en-US" dirty="0">
                <a:solidFill>
                  <a:schemeClr val="bg1"/>
                </a:solidFill>
              </a:rPr>
            </a:br>
            <a:r>
              <a:rPr lang="en-US" dirty="0">
                <a:solidFill>
                  <a:schemeClr val="bg1"/>
                </a:solidFill>
              </a:rPr>
              <a:t>✔ used in LTE/5G, </a:t>
            </a:r>
            <a:r>
              <a:rPr lang="en-US" dirty="0" err="1">
                <a:solidFill>
                  <a:schemeClr val="bg1"/>
                </a:solidFill>
              </a:rPr>
              <a:t>WiFi</a:t>
            </a:r>
            <a:r>
              <a:rPr lang="en-US" dirty="0">
                <a:solidFill>
                  <a:schemeClr val="bg1"/>
                </a:solidFill>
              </a:rPr>
              <a:t>, satellite links</a:t>
            </a:r>
          </a:p>
        </p:txBody>
      </p:sp>
    </p:spTree>
    <p:extLst>
      <p:ext uri="{BB962C8B-B14F-4D97-AF65-F5344CB8AC3E}">
        <p14:creationId xmlns:p14="http://schemas.microsoft.com/office/powerpoint/2010/main" val="908927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8A8374B-C061-7E3A-6276-2692CBF5753C}"/>
              </a:ext>
            </a:extLst>
          </p:cNvPr>
          <p:cNvSpPr>
            <a:spLocks noGrp="1"/>
          </p:cNvSpPr>
          <p:nvPr>
            <p:ph type="title"/>
          </p:nvPr>
        </p:nvSpPr>
        <p:spPr>
          <a:xfrm>
            <a:off x="628650" y="1195697"/>
            <a:ext cx="2400300" cy="4238118"/>
          </a:xfrm>
        </p:spPr>
        <p:txBody>
          <a:bodyPr>
            <a:normAutofit/>
          </a:bodyPr>
          <a:lstStyle/>
          <a:p>
            <a:r>
              <a:rPr lang="en-US" sz="2800" b="1" dirty="0">
                <a:solidFill>
                  <a:schemeClr val="bg1"/>
                </a:solidFill>
                <a:latin typeface="Times New Roman" panose="02020603050405020304" pitchFamily="18" charset="0"/>
                <a:cs typeface="Times New Roman" panose="02020603050405020304" pitchFamily="18" charset="0"/>
              </a:rPr>
              <a:t>Types of Beamforming</a:t>
            </a:r>
          </a:p>
        </p:txBody>
      </p:sp>
      <p:grpSp>
        <p:nvGrpSpPr>
          <p:cNvPr id="14"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5" name="Freeform: Shape 14">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8" name="Oval 17">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2"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3" name="Freeform: Shape 22">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E5F9BF56-5F0E-6BF4-83B6-F94051F39E61}"/>
              </a:ext>
            </a:extLst>
          </p:cNvPr>
          <p:cNvGraphicFramePr>
            <a:graphicFrameLocks noGrp="1"/>
          </p:cNvGraphicFramePr>
          <p:nvPr>
            <p:ph idx="1"/>
            <p:extLst>
              <p:ext uri="{D42A27DB-BD31-4B8C-83A1-F6EECF244321}">
                <p14:modId xmlns:p14="http://schemas.microsoft.com/office/powerpoint/2010/main" val="3579536967"/>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1633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3ED874-8EC1-B824-45B1-D6FA38BDF18E}"/>
              </a:ext>
            </a:extLst>
          </p:cNvPr>
          <p:cNvSpPr>
            <a:spLocks noGrp="1"/>
          </p:cNvSpPr>
          <p:nvPr>
            <p:ph type="title"/>
          </p:nvPr>
        </p:nvSpPr>
        <p:spPr>
          <a:xfrm>
            <a:off x="357810" y="100045"/>
            <a:ext cx="4691269" cy="1624520"/>
          </a:xfrm>
        </p:spPr>
        <p:txBody>
          <a:bodyPr anchor="ctr">
            <a:normAutofit/>
          </a:bodyPr>
          <a:lstStyle/>
          <a:p>
            <a:r>
              <a:rPr lang="en-US" sz="3500" b="1" dirty="0">
                <a:latin typeface="Times New Roman" panose="02020603050405020304" pitchFamily="18" charset="0"/>
                <a:cs typeface="Times New Roman" panose="02020603050405020304" pitchFamily="18" charset="0"/>
              </a:rPr>
              <a:t>How is the Beamforming Vector Selected?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90FFD0-CDFC-D839-887C-6309BD17C9B5}"/>
                  </a:ext>
                </a:extLst>
              </p:cNvPr>
              <p:cNvSpPr>
                <a:spLocks noGrp="1"/>
              </p:cNvSpPr>
              <p:nvPr>
                <p:ph idx="1"/>
              </p:nvPr>
            </p:nvSpPr>
            <p:spPr>
              <a:xfrm>
                <a:off x="172279" y="2743200"/>
                <a:ext cx="4876800" cy="3613149"/>
              </a:xfrm>
            </p:spPr>
            <p:txBody>
              <a:bodyPr anchor="ctr">
                <a:noAutofit/>
              </a:bodyPr>
              <a:lstStyle/>
              <a:p>
                <a:r>
                  <a:rPr lang="en-US" sz="2400" b="1" dirty="0">
                    <a:cs typeface="+mj-cs"/>
                  </a:rPr>
                  <a:t>Maximum Ratio Transmission (MRT)</a:t>
                </a:r>
              </a:p>
              <a:p>
                <a:pPr marL="0" indent="0">
                  <a:buNone/>
                </a:pPr>
                <a14:m>
                  <m:oMathPara xmlns:m="http://schemas.openxmlformats.org/officeDocument/2006/math">
                    <m:oMathParaPr>
                      <m:jc m:val="centerGroup"/>
                    </m:oMathParaPr>
                    <m:oMath xmlns:m="http://schemas.openxmlformats.org/officeDocument/2006/math">
                      <m:r>
                        <a:rPr lang="en-US" sz="2400" b="1">
                          <a:latin typeface="Cambria Math" panose="02040503050406030204" pitchFamily="18" charset="0"/>
                          <a:cs typeface="+mj-cs"/>
                        </a:rPr>
                        <m:t>𝐰</m:t>
                      </m:r>
                      <m:r>
                        <a:rPr lang="en-US" sz="2400">
                          <a:latin typeface="Cambria Math" panose="02040503050406030204" pitchFamily="18" charset="0"/>
                          <a:cs typeface="+mj-cs"/>
                        </a:rPr>
                        <m:t>=</m:t>
                      </m:r>
                      <m:f>
                        <m:fPr>
                          <m:ctrlPr>
                            <a:rPr lang="ar-SA" sz="2400" i="1">
                              <a:latin typeface="Cambria Math" panose="02040503050406030204" pitchFamily="18" charset="0"/>
                              <a:cs typeface="+mj-cs"/>
                            </a:rPr>
                          </m:ctrlPr>
                        </m:fPr>
                        <m:num>
                          <m:sSup>
                            <m:sSupPr>
                              <m:ctrlPr>
                                <a:rPr lang="ar-SA" sz="2400" i="1">
                                  <a:latin typeface="Cambria Math" panose="02040503050406030204" pitchFamily="18" charset="0"/>
                                  <a:cs typeface="+mj-cs"/>
                                </a:rPr>
                              </m:ctrlPr>
                            </m:sSupPr>
                            <m:e>
                              <m:r>
                                <a:rPr lang="ar-SA" sz="2400" b="1">
                                  <a:latin typeface="Cambria Math" panose="02040503050406030204" pitchFamily="18" charset="0"/>
                                  <a:cs typeface="+mj-cs"/>
                                </a:rPr>
                                <m:t>𝐡</m:t>
                              </m:r>
                            </m:e>
                            <m:sup>
                              <m:r>
                                <a:rPr lang="ar-SA" sz="2400">
                                  <a:latin typeface="Cambria Math" panose="02040503050406030204" pitchFamily="18" charset="0"/>
                                  <a:cs typeface="+mj-cs"/>
                                </a:rPr>
                                <m:t>∗</m:t>
                              </m:r>
                            </m:sup>
                          </m:sSup>
                        </m:num>
                        <m:den>
                          <m:r>
                            <a:rPr lang="ar-SA" sz="2400">
                              <a:latin typeface="Cambria Math" panose="02040503050406030204" pitchFamily="18" charset="0"/>
                              <a:cs typeface="+mj-cs"/>
                            </a:rPr>
                            <m:t>∣∣</m:t>
                          </m:r>
                          <m:r>
                            <a:rPr lang="ar-SA" sz="2400" b="1">
                              <a:latin typeface="Cambria Math" panose="02040503050406030204" pitchFamily="18" charset="0"/>
                              <a:cs typeface="+mj-cs"/>
                            </a:rPr>
                            <m:t>𝐡</m:t>
                          </m:r>
                          <m:r>
                            <a:rPr lang="ar-SA" sz="2400">
                              <a:latin typeface="Cambria Math" panose="02040503050406030204" pitchFamily="18" charset="0"/>
                              <a:cs typeface="+mj-cs"/>
                            </a:rPr>
                            <m:t>∣∣</m:t>
                          </m:r>
                        </m:den>
                      </m:f>
                    </m:oMath>
                  </m:oMathPara>
                </a14:m>
                <a:endParaRPr lang="ar-SA" sz="2400" b="0" dirty="0">
                  <a:cs typeface="+mj-cs"/>
                </a:endParaRPr>
              </a:p>
              <a:p>
                <a:r>
                  <a:rPr lang="en-US" sz="2400" dirty="0">
                    <a:cs typeface="+mj-cs"/>
                  </a:rPr>
                  <a:t>points beam in direction of channel</a:t>
                </a:r>
              </a:p>
              <a:p>
                <a:endParaRPr lang="en-US" sz="2400" b="1" dirty="0">
                  <a:cs typeface="+mj-cs"/>
                </a:endParaRPr>
              </a:p>
              <a:p>
                <a:r>
                  <a:rPr lang="en-US" sz="2400" b="1" dirty="0">
                    <a:cs typeface="+mj-cs"/>
                  </a:rPr>
                  <a:t>Zero-Forcing Beamforming (ZFBF)</a:t>
                </a:r>
              </a:p>
              <a:p>
                <a:pPr marL="0" indent="0">
                  <a:buNone/>
                </a:pPr>
                <a:endParaRPr lang="en-US" sz="2400" i="1" dirty="0">
                  <a:cs typeface="+mj-cs"/>
                </a:endParaRP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cs typeface="+mj-cs"/>
                        </a:rPr>
                        <m:t>𝑊</m:t>
                      </m:r>
                      <m:r>
                        <a:rPr lang="en-US" sz="2400">
                          <a:latin typeface="Cambria Math" panose="02040503050406030204" pitchFamily="18" charset="0"/>
                          <a:cs typeface="+mj-cs"/>
                        </a:rPr>
                        <m:t>=</m:t>
                      </m:r>
                      <m:d>
                        <m:dPr>
                          <m:endChr m:val=""/>
                          <m:ctrlPr>
                            <a:rPr lang="ar-SA" sz="2400" i="1">
                              <a:latin typeface="Cambria Math" panose="02040503050406030204" pitchFamily="18" charset="0"/>
                              <a:cs typeface="+mj-cs"/>
                            </a:rPr>
                          </m:ctrlPr>
                        </m:dPr>
                        <m:e>
                          <m:sSup>
                            <m:sSupPr>
                              <m:ctrlPr>
                                <a:rPr lang="ar-SA" sz="2400" i="1">
                                  <a:latin typeface="Cambria Math" panose="02040503050406030204" pitchFamily="18" charset="0"/>
                                  <a:cs typeface="+mj-cs"/>
                                </a:rPr>
                              </m:ctrlPr>
                            </m:sSupPr>
                            <m:e>
                              <m:r>
                                <a:rPr lang="ar-SA" sz="2400" i="1">
                                  <a:latin typeface="Cambria Math" panose="02040503050406030204" pitchFamily="18" charset="0"/>
                                  <a:cs typeface="+mj-cs"/>
                                </a:rPr>
                                <m:t>𝐻</m:t>
                              </m:r>
                            </m:e>
                            <m:sup>
                              <m:r>
                                <a:rPr lang="ar-SA" sz="2400" i="1">
                                  <a:latin typeface="Cambria Math" panose="02040503050406030204" pitchFamily="18" charset="0"/>
                                  <a:cs typeface="+mj-cs"/>
                                </a:rPr>
                                <m:t>𝐻</m:t>
                              </m:r>
                            </m:sup>
                          </m:sSup>
                          <m:r>
                            <a:rPr lang="ar-SA" sz="2400" i="1">
                              <a:latin typeface="Cambria Math" panose="02040503050406030204" pitchFamily="18" charset="0"/>
                              <a:cs typeface="+mj-cs"/>
                            </a:rPr>
                            <m:t>𝐻</m:t>
                          </m:r>
                          <m:sSup>
                            <m:sSupPr>
                              <m:ctrlPr>
                                <a:rPr lang="ar-SA" sz="2400" i="1">
                                  <a:latin typeface="Cambria Math" panose="02040503050406030204" pitchFamily="18" charset="0"/>
                                  <a:cs typeface="+mj-cs"/>
                                </a:rPr>
                              </m:ctrlPr>
                            </m:sSupPr>
                            <m:e>
                              <m:d>
                                <m:dPr>
                                  <m:begChr m:val=""/>
                                  <m:endChr m:val=""/>
                                  <m:ctrlPr>
                                    <a:rPr lang="ar-SA" sz="2400" i="1">
                                      <a:latin typeface="Cambria Math" panose="02040503050406030204" pitchFamily="18" charset="0"/>
                                      <a:cs typeface="+mj-cs"/>
                                    </a:rPr>
                                  </m:ctrlPr>
                                </m:dPr>
                                <m:e>
                                  <m:r>
                                    <a:rPr lang="ar-SA" sz="2400">
                                      <a:latin typeface="Cambria Math" panose="02040503050406030204" pitchFamily="18" charset="0"/>
                                      <a:cs typeface="+mj-cs"/>
                                    </a:rPr>
                                    <m:t>)</m:t>
                                  </m:r>
                                </m:e>
                              </m:d>
                            </m:e>
                            <m:sup>
                              <m:r>
                                <a:rPr lang="ar-SA" sz="2400">
                                  <a:latin typeface="Cambria Math" panose="02040503050406030204" pitchFamily="18" charset="0"/>
                                  <a:cs typeface="+mj-cs"/>
                                </a:rPr>
                                <m:t>−</m:t>
                              </m:r>
                              <m:r>
                                <a:rPr lang="ar-SA" sz="2400">
                                  <a:latin typeface="Cambria Math" panose="02040503050406030204" pitchFamily="18" charset="0"/>
                                  <a:cs typeface="+mj-cs"/>
                                </a:rPr>
                                <m:t>1</m:t>
                              </m:r>
                            </m:sup>
                          </m:sSup>
                          <m:sSup>
                            <m:sSupPr>
                              <m:ctrlPr>
                                <a:rPr lang="ar-SA" sz="2400" i="1">
                                  <a:latin typeface="Cambria Math" panose="02040503050406030204" pitchFamily="18" charset="0"/>
                                  <a:cs typeface="+mj-cs"/>
                                </a:rPr>
                              </m:ctrlPr>
                            </m:sSupPr>
                            <m:e>
                              <m:r>
                                <a:rPr lang="ar-SA" sz="2400" i="1">
                                  <a:latin typeface="Cambria Math" panose="02040503050406030204" pitchFamily="18" charset="0"/>
                                  <a:cs typeface="+mj-cs"/>
                                </a:rPr>
                                <m:t>𝐻</m:t>
                              </m:r>
                            </m:e>
                            <m:sup>
                              <m:r>
                                <a:rPr lang="ar-SA" sz="2400" i="1">
                                  <a:latin typeface="Cambria Math" panose="02040503050406030204" pitchFamily="18" charset="0"/>
                                  <a:cs typeface="+mj-cs"/>
                                </a:rPr>
                                <m:t>𝐻</m:t>
                              </m:r>
                            </m:sup>
                          </m:sSup>
                        </m:e>
                      </m:d>
                    </m:oMath>
                  </m:oMathPara>
                </a14:m>
                <a:endParaRPr lang="ar-SA" sz="2400" dirty="0">
                  <a:cs typeface="+mj-cs"/>
                </a:endParaRPr>
              </a:p>
              <a:p>
                <a:endParaRPr lang="en-US" sz="2400" dirty="0">
                  <a:cs typeface="+mj-cs"/>
                </a:endParaRPr>
              </a:p>
              <a:p>
                <a:r>
                  <a:rPr lang="en-US" sz="2400" dirty="0">
                    <a:cs typeface="+mj-cs"/>
                  </a:rPr>
                  <a:t>suppress interference in multi-user MIMO</a:t>
                </a:r>
              </a:p>
              <a:p>
                <a:endParaRPr lang="en-US" sz="2400" dirty="0">
                  <a:cs typeface="+mj-cs"/>
                </a:endParaRPr>
              </a:p>
            </p:txBody>
          </p:sp>
        </mc:Choice>
        <mc:Fallback xmlns="">
          <p:sp>
            <p:nvSpPr>
              <p:cNvPr id="3" name="Content Placeholder 2">
                <a:extLst>
                  <a:ext uri="{FF2B5EF4-FFF2-40B4-BE49-F238E27FC236}">
                    <a16:creationId xmlns:a16="http://schemas.microsoft.com/office/drawing/2014/main" id="{4F90FFD0-CDFC-D839-887C-6309BD17C9B5}"/>
                  </a:ext>
                </a:extLst>
              </p:cNvPr>
              <p:cNvSpPr>
                <a:spLocks noGrp="1" noRot="1" noChangeAspect="1" noMove="1" noResize="1" noEditPoints="1" noAdjustHandles="1" noChangeArrowheads="1" noChangeShapeType="1" noTextEdit="1"/>
              </p:cNvSpPr>
              <p:nvPr>
                <p:ph idx="1"/>
              </p:nvPr>
            </p:nvSpPr>
            <p:spPr>
              <a:xfrm>
                <a:off x="172279" y="2743200"/>
                <a:ext cx="4876800" cy="3613149"/>
              </a:xfrm>
              <a:blipFill>
                <a:blip r:embed="rId3"/>
                <a:stretch>
                  <a:fillRect l="-1625" t="-27319" r="-500" b="-16189"/>
                </a:stretch>
              </a:blipFill>
            </p:spPr>
            <p:txBody>
              <a:bodyPr/>
              <a:lstStyle/>
              <a:p>
                <a:r>
                  <a:rPr lang="en-US">
                    <a:noFill/>
                  </a:rPr>
                  <a:t> </a:t>
                </a:r>
              </a:p>
            </p:txBody>
          </p:sp>
        </mc:Fallback>
      </mc:AlternateContent>
      <p:pic>
        <p:nvPicPr>
          <p:cNvPr id="5" name="Picture 4" descr="Hand with red strings">
            <a:extLst>
              <a:ext uri="{FF2B5EF4-FFF2-40B4-BE49-F238E27FC236}">
                <a16:creationId xmlns:a16="http://schemas.microsoft.com/office/drawing/2014/main" id="{6D888D27-B06D-665D-F1F7-8015A41F1D1A}"/>
              </a:ext>
            </a:extLst>
          </p:cNvPr>
          <p:cNvPicPr>
            <a:picLocks noChangeAspect="1"/>
          </p:cNvPicPr>
          <p:nvPr/>
        </p:nvPicPr>
        <p:blipFill>
          <a:blip r:embed="rId4"/>
          <a:srcRect l="29718" r="25732" b="-2"/>
          <a:stretch>
            <a:fillRect/>
          </a:stretch>
        </p:blipFill>
        <p:spPr>
          <a:xfrm>
            <a:off x="5208104" y="1"/>
            <a:ext cx="3941014" cy="6858000"/>
          </a:xfrm>
          <a:prstGeom prst="rect">
            <a:avLst/>
          </a:prstGeom>
        </p:spPr>
      </p:pic>
    </p:spTree>
    <p:extLst>
      <p:ext uri="{BB962C8B-B14F-4D97-AF65-F5344CB8AC3E}">
        <p14:creationId xmlns:p14="http://schemas.microsoft.com/office/powerpoint/2010/main" val="577460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B65919-2E24-F744-BEFD-E76E61352567}"/>
              </a:ext>
            </a:extLst>
          </p:cNvPr>
          <p:cNvSpPr>
            <a:spLocks noGrp="1"/>
          </p:cNvSpPr>
          <p:nvPr>
            <p:ph type="title"/>
          </p:nvPr>
        </p:nvSpPr>
        <p:spPr>
          <a:xfrm>
            <a:off x="571350" y="497434"/>
            <a:ext cx="4000647" cy="1708242"/>
          </a:xfrm>
        </p:spPr>
        <p:txBody>
          <a:bodyPr anchor="ctr">
            <a:normAutofit/>
          </a:bodyPr>
          <a:lstStyle/>
          <a:p>
            <a:r>
              <a:rPr lang="en-US" sz="3500" b="1" dirty="0">
                <a:latin typeface="Times New Roman" panose="02020603050405020304" pitchFamily="18" charset="0"/>
                <a:cs typeface="Times New Roman" panose="02020603050405020304" pitchFamily="18" charset="0"/>
              </a:rPr>
              <a:t>Beamforming at Receiver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04CC54-9D30-EEE2-034A-7F0B1ABDF773}"/>
                  </a:ext>
                </a:extLst>
              </p:cNvPr>
              <p:cNvSpPr>
                <a:spLocks noGrp="1"/>
              </p:cNvSpPr>
              <p:nvPr>
                <p:ph idx="1"/>
              </p:nvPr>
            </p:nvSpPr>
            <p:spPr>
              <a:xfrm>
                <a:off x="571350" y="2524981"/>
                <a:ext cx="4292198" cy="4013714"/>
              </a:xfrm>
            </p:spPr>
            <p:txBody>
              <a:bodyPr anchor="ctr">
                <a:normAutofit/>
              </a:bodyPr>
              <a:lstStyle/>
              <a:p>
                <a:r>
                  <a:rPr lang="en-US" sz="2400" dirty="0"/>
                  <a:t>Maximum Ratio Combining:</a:t>
                </a: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ar-SA" sz="2400" i="1">
                              <a:latin typeface="Cambria Math" panose="02040503050406030204" pitchFamily="18" charset="0"/>
                            </a:rPr>
                          </m:ctrlPr>
                        </m:sSubPr>
                        <m:e>
                          <m:r>
                            <a:rPr lang="ar-SA" sz="2400" i="1">
                              <a:latin typeface="Cambria Math" panose="02040503050406030204" pitchFamily="18" charset="0"/>
                            </a:rPr>
                            <m:t>𝑤</m:t>
                          </m:r>
                        </m:e>
                        <m:sub>
                          <m:r>
                            <a:rPr lang="ar-SA" sz="2400" i="1">
                              <a:latin typeface="Cambria Math" panose="02040503050406030204" pitchFamily="18" charset="0"/>
                            </a:rPr>
                            <m:t>𝑖</m:t>
                          </m:r>
                        </m:sub>
                      </m:sSub>
                      <m:r>
                        <a:rPr lang="ar-SA" sz="2400">
                          <a:latin typeface="Cambria Math" panose="02040503050406030204" pitchFamily="18" charset="0"/>
                        </a:rPr>
                        <m:t>=</m:t>
                      </m:r>
                      <m:f>
                        <m:fPr>
                          <m:ctrlPr>
                            <a:rPr lang="ar-SA" sz="2400" i="1">
                              <a:latin typeface="Cambria Math" panose="02040503050406030204" pitchFamily="18" charset="0"/>
                            </a:rPr>
                          </m:ctrlPr>
                        </m:fPr>
                        <m:num>
                          <m:sSubSup>
                            <m:sSubSupPr>
                              <m:ctrlPr>
                                <a:rPr lang="ar-SA" sz="2400" i="1">
                                  <a:latin typeface="Cambria Math" panose="02040503050406030204" pitchFamily="18" charset="0"/>
                                </a:rPr>
                              </m:ctrlPr>
                            </m:sSubSupPr>
                            <m:e>
                              <m:r>
                                <a:rPr lang="ar-SA" sz="2400" i="1">
                                  <a:latin typeface="Cambria Math" panose="02040503050406030204" pitchFamily="18" charset="0"/>
                                </a:rPr>
                                <m:t>h</m:t>
                              </m:r>
                            </m:e>
                            <m:sub>
                              <m:r>
                                <a:rPr lang="ar-SA" sz="2400" i="1">
                                  <a:latin typeface="Cambria Math" panose="02040503050406030204" pitchFamily="18" charset="0"/>
                                </a:rPr>
                                <m:t>𝑖</m:t>
                              </m:r>
                            </m:sub>
                            <m:sup>
                              <m:r>
                                <a:rPr lang="ar-SA" sz="2400">
                                  <a:latin typeface="Cambria Math" panose="02040503050406030204" pitchFamily="18" charset="0"/>
                                </a:rPr>
                                <m:t>∗</m:t>
                              </m:r>
                            </m:sup>
                          </m:sSubSup>
                        </m:num>
                        <m:den>
                          <m:sSup>
                            <m:sSupPr>
                              <m:ctrlPr>
                                <a:rPr lang="ar-SA" sz="2400" i="1">
                                  <a:latin typeface="Cambria Math" panose="02040503050406030204" pitchFamily="18" charset="0"/>
                                </a:rPr>
                              </m:ctrlPr>
                            </m:sSupPr>
                            <m:e>
                              <m:r>
                                <a:rPr lang="ar-SA" sz="2400" i="1">
                                  <a:latin typeface="Cambria Math" panose="02040503050406030204" pitchFamily="18" charset="0"/>
                                </a:rPr>
                                <m:t>𝜎</m:t>
                              </m:r>
                            </m:e>
                            <m:sup>
                              <m:r>
                                <a:rPr lang="ar-SA" sz="2400">
                                  <a:latin typeface="Cambria Math" panose="02040503050406030204" pitchFamily="18" charset="0"/>
                                </a:rPr>
                                <m:t>2</m:t>
                              </m:r>
                            </m:sup>
                          </m:sSup>
                        </m:den>
                      </m:f>
                    </m:oMath>
                  </m:oMathPara>
                </a14:m>
                <a:endParaRPr lang="ar-SA" sz="2400" dirty="0"/>
              </a:p>
              <a:p>
                <a:endParaRPr lang="en-US" sz="2400" dirty="0"/>
              </a:p>
              <a:p>
                <a:r>
                  <a:rPr lang="en-US" sz="2400" dirty="0"/>
                  <a:t>Benefits:</a:t>
                </a:r>
              </a:p>
              <a:p>
                <a:pPr lvl="1"/>
                <a:r>
                  <a:rPr lang="en-US" dirty="0"/>
                  <a:t>diversity gain,</a:t>
                </a:r>
              </a:p>
              <a:p>
                <a:pPr lvl="1"/>
                <a:r>
                  <a:rPr lang="en-US" dirty="0"/>
                  <a:t>suppress fading.</a:t>
                </a:r>
              </a:p>
              <a:p>
                <a:endParaRPr lang="en-US" sz="2400" dirty="0"/>
              </a:p>
            </p:txBody>
          </p:sp>
        </mc:Choice>
        <mc:Fallback xmlns="">
          <p:sp>
            <p:nvSpPr>
              <p:cNvPr id="3" name="Content Placeholder 2">
                <a:extLst>
                  <a:ext uri="{FF2B5EF4-FFF2-40B4-BE49-F238E27FC236}">
                    <a16:creationId xmlns:a16="http://schemas.microsoft.com/office/drawing/2014/main" id="{CB04CC54-9D30-EEE2-034A-7F0B1ABDF773}"/>
                  </a:ext>
                </a:extLst>
              </p:cNvPr>
              <p:cNvSpPr>
                <a:spLocks noGrp="1" noRot="1" noChangeAspect="1" noMove="1" noResize="1" noEditPoints="1" noAdjustHandles="1" noChangeArrowheads="1" noChangeShapeType="1" noTextEdit="1"/>
              </p:cNvSpPr>
              <p:nvPr>
                <p:ph idx="1"/>
              </p:nvPr>
            </p:nvSpPr>
            <p:spPr>
              <a:xfrm>
                <a:off x="571350" y="2524981"/>
                <a:ext cx="4292198" cy="4013714"/>
              </a:xfrm>
              <a:blipFill>
                <a:blip r:embed="rId2"/>
                <a:stretch>
                  <a:fillRect l="-1989"/>
                </a:stretch>
              </a:blipFill>
            </p:spPr>
            <p:txBody>
              <a:bodyPr/>
              <a:lstStyle/>
              <a:p>
                <a:r>
                  <a:rPr lang="en-US">
                    <a:noFill/>
                  </a:rPr>
                  <a:t> </a:t>
                </a:r>
              </a:p>
            </p:txBody>
          </p:sp>
        </mc:Fallback>
      </mc:AlternateContent>
      <p:pic>
        <p:nvPicPr>
          <p:cNvPr id="5" name="Picture 4" descr="Close-up of a metal flute">
            <a:extLst>
              <a:ext uri="{FF2B5EF4-FFF2-40B4-BE49-F238E27FC236}">
                <a16:creationId xmlns:a16="http://schemas.microsoft.com/office/drawing/2014/main" id="{CD179BDB-5C5E-D469-E242-C0CE8B1A7D74}"/>
              </a:ext>
            </a:extLst>
          </p:cNvPr>
          <p:cNvPicPr>
            <a:picLocks noChangeAspect="1"/>
          </p:cNvPicPr>
          <p:nvPr/>
        </p:nvPicPr>
        <p:blipFill>
          <a:blip r:embed="rId3"/>
          <a:srcRect l="36464" r="2495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651320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473973-A5E4-F601-EFEF-C668039F37B5}"/>
              </a:ext>
            </a:extLst>
          </p:cNvPr>
          <p:cNvSpPr>
            <a:spLocks noGrp="1"/>
          </p:cNvSpPr>
          <p:nvPr>
            <p:ph type="title"/>
          </p:nvPr>
        </p:nvSpPr>
        <p:spPr>
          <a:xfrm>
            <a:off x="628650" y="1195697"/>
            <a:ext cx="2400300" cy="4238118"/>
          </a:xfrm>
        </p:spPr>
        <p:txBody>
          <a:bodyPr>
            <a:normAutofit/>
          </a:bodyPr>
          <a:lstStyle/>
          <a:p>
            <a:r>
              <a:rPr lang="en-US" sz="2800" b="1">
                <a:solidFill>
                  <a:schemeClr val="bg1"/>
                </a:solidFill>
                <a:latin typeface="Times New Roman" panose="02020603050405020304" pitchFamily="18" charset="0"/>
                <a:ea typeface="+mj-lt"/>
                <a:cs typeface="Times New Roman" panose="02020603050405020304" pitchFamily="18" charset="0"/>
              </a:rPr>
              <a:t>Challenges in Beamforming</a:t>
            </a:r>
            <a:endParaRPr lang="en-US" sz="2800" b="1">
              <a:solidFill>
                <a:schemeClr val="bg1"/>
              </a:solidFill>
              <a:latin typeface="Times New Roman" panose="02020603050405020304" pitchFamily="18" charset="0"/>
              <a:cs typeface="Times New Roman" panose="02020603050405020304" pitchFamily="18" charset="0"/>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1ABED750-E1AB-C6A0-97DB-B51700ABF3A8}"/>
              </a:ext>
            </a:extLst>
          </p:cNvPr>
          <p:cNvGraphicFramePr>
            <a:graphicFrameLocks noGrp="1"/>
          </p:cNvGraphicFramePr>
          <p:nvPr>
            <p:ph idx="1"/>
            <p:extLst>
              <p:ext uri="{D42A27DB-BD31-4B8C-83A1-F6EECF244321}">
                <p14:modId xmlns:p14="http://schemas.microsoft.com/office/powerpoint/2010/main" val="3458085514"/>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7699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A03CB-5500-7EAB-A762-55A46AD45367}"/>
              </a:ext>
            </a:extLst>
          </p:cNvPr>
          <p:cNvSpPr>
            <a:spLocks noGrp="1"/>
          </p:cNvSpPr>
          <p:nvPr>
            <p:ph type="title"/>
          </p:nvPr>
        </p:nvSpPr>
        <p:spPr>
          <a:xfrm>
            <a:off x="551717" y="211261"/>
            <a:ext cx="7886700" cy="820006"/>
          </a:xfrm>
        </p:spPr>
        <p:txBody>
          <a:bodyPr>
            <a:normAutofit/>
          </a:bodyPr>
          <a:lstStyle/>
          <a:p>
            <a:r>
              <a:rPr lang="en-US" b="1" dirty="0">
                <a:latin typeface="Times New Roman" panose="02020603050405020304" pitchFamily="18" charset="0"/>
                <a:cs typeface="Times New Roman" panose="02020603050405020304" pitchFamily="18" charset="0"/>
              </a:rPr>
              <a:t>Massive MIMO</a:t>
            </a:r>
          </a:p>
        </p:txBody>
      </p:sp>
      <p:pic>
        <p:nvPicPr>
          <p:cNvPr id="4098" name="Picture 2" descr="Massive MIMO architecture | Download Scientific Diagram">
            <a:extLst>
              <a:ext uri="{FF2B5EF4-FFF2-40B4-BE49-F238E27FC236}">
                <a16:creationId xmlns:a16="http://schemas.microsoft.com/office/drawing/2014/main" id="{CA232A49-9872-843C-CAE3-3833591B3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1197" y="1031267"/>
            <a:ext cx="6279696" cy="42332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B820FA-4B5B-FC86-A964-22AA51DE7C63}"/>
              </a:ext>
            </a:extLst>
          </p:cNvPr>
          <p:cNvSpPr txBox="1"/>
          <p:nvPr/>
        </p:nvSpPr>
        <p:spPr>
          <a:xfrm>
            <a:off x="304800" y="5380025"/>
            <a:ext cx="8403325" cy="707886"/>
          </a:xfrm>
          <a:prstGeom prst="rect">
            <a:avLst/>
          </a:prstGeom>
          <a:noFill/>
        </p:spPr>
        <p:txBody>
          <a:bodyPr wrap="square">
            <a:spAutoFit/>
          </a:bodyPr>
          <a:lstStyle/>
          <a:p>
            <a:r>
              <a:rPr lang="en-US" sz="2000" dirty="0"/>
              <a:t>Massive MIMO = MIMO with </a:t>
            </a:r>
            <a:r>
              <a:rPr lang="en-US" sz="2000" b="1" dirty="0"/>
              <a:t>very large number of antennas</a:t>
            </a:r>
            <a:r>
              <a:rPr lang="en-US" sz="2000" dirty="0"/>
              <a:t> (dozens or hundreds).</a:t>
            </a:r>
          </a:p>
        </p:txBody>
      </p:sp>
      <p:sp>
        <p:nvSpPr>
          <p:cNvPr id="6" name="TextBox 5">
            <a:extLst>
              <a:ext uri="{FF2B5EF4-FFF2-40B4-BE49-F238E27FC236}">
                <a16:creationId xmlns:a16="http://schemas.microsoft.com/office/drawing/2014/main" id="{7123DE24-3671-63A0-E1F0-084042EAD6E2}"/>
              </a:ext>
            </a:extLst>
          </p:cNvPr>
          <p:cNvSpPr txBox="1"/>
          <p:nvPr/>
        </p:nvSpPr>
        <p:spPr>
          <a:xfrm>
            <a:off x="304800" y="5984129"/>
            <a:ext cx="8984974" cy="646331"/>
          </a:xfrm>
          <a:prstGeom prst="rect">
            <a:avLst/>
          </a:prstGeom>
          <a:noFill/>
        </p:spPr>
        <p:txBody>
          <a:bodyPr wrap="square">
            <a:spAutoFit/>
          </a:bodyPr>
          <a:lstStyle/>
          <a:p>
            <a:r>
              <a:rPr lang="en-US" dirty="0"/>
              <a:t>Base station has many antennas, serving many users simultaneously on same time and frequency.</a:t>
            </a:r>
          </a:p>
        </p:txBody>
      </p:sp>
    </p:spTree>
    <p:extLst>
      <p:ext uri="{BB962C8B-B14F-4D97-AF65-F5344CB8AC3E}">
        <p14:creationId xmlns:p14="http://schemas.microsoft.com/office/powerpoint/2010/main" val="30925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7CA83F-D26B-4F52-94CE-8F91F5655B15}"/>
              </a:ext>
            </a:extLst>
          </p:cNvPr>
          <p:cNvSpPr>
            <a:spLocks noGrp="1"/>
          </p:cNvSpPr>
          <p:nvPr>
            <p:ph type="title"/>
          </p:nvPr>
        </p:nvSpPr>
        <p:spPr>
          <a:xfrm>
            <a:off x="515125" y="1153572"/>
            <a:ext cx="2400300" cy="4461163"/>
          </a:xfrm>
        </p:spPr>
        <p:txBody>
          <a:bodyPr>
            <a:normAutofit/>
          </a:bodyPr>
          <a:lstStyle/>
          <a:p>
            <a:r>
              <a:rPr lang="en-US" b="1">
                <a:solidFill>
                  <a:srgbClr val="FFFFFF"/>
                </a:solidFill>
                <a:latin typeface="Times New Roman" panose="02020603050405020304" pitchFamily="18" charset="0"/>
                <a:cs typeface="Times New Roman" panose="02020603050405020304" pitchFamily="18" charset="0"/>
              </a:rPr>
              <a:t>Why Massive MIMO?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2B60A75-80B9-F98B-FB47-644AA178E4B6}"/>
              </a:ext>
            </a:extLst>
          </p:cNvPr>
          <p:cNvSpPr>
            <a:spLocks noGrp="1"/>
          </p:cNvSpPr>
          <p:nvPr>
            <p:ph idx="1"/>
          </p:nvPr>
        </p:nvSpPr>
        <p:spPr>
          <a:xfrm>
            <a:off x="3335481" y="591344"/>
            <a:ext cx="5596484" cy="5585619"/>
          </a:xfrm>
        </p:spPr>
        <p:txBody>
          <a:bodyPr anchor="ct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 huge capacity increase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spatial multiplexing for many users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high SNR beams → better coverage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energy efficient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robustness to fading</a:t>
            </a:r>
          </a:p>
        </p:txBody>
      </p:sp>
    </p:spTree>
    <p:extLst>
      <p:ext uri="{BB962C8B-B14F-4D97-AF65-F5344CB8AC3E}">
        <p14:creationId xmlns:p14="http://schemas.microsoft.com/office/powerpoint/2010/main" val="2801526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FAD62F-5678-CD18-EAA6-8C1BAAADBB6B}"/>
              </a:ext>
            </a:extLst>
          </p:cNvPr>
          <p:cNvSpPr>
            <a:spLocks noGrp="1"/>
          </p:cNvSpPr>
          <p:nvPr>
            <p:ph type="title"/>
          </p:nvPr>
        </p:nvSpPr>
        <p:spPr>
          <a:xfrm>
            <a:off x="515125" y="1153572"/>
            <a:ext cx="2400300" cy="4461163"/>
          </a:xfrm>
        </p:spPr>
        <p:txBody>
          <a:bodyPr>
            <a:normAutofit/>
          </a:bodyPr>
          <a:lstStyle/>
          <a:p>
            <a:r>
              <a:rPr lang="en-US" sz="3700" b="1">
                <a:solidFill>
                  <a:srgbClr val="FFFFFF"/>
                </a:solidFill>
                <a:latin typeface="Times New Roman" panose="02020603050405020304" pitchFamily="18" charset="0"/>
                <a:cs typeface="Times New Roman" panose="02020603050405020304" pitchFamily="18" charset="0"/>
              </a:rPr>
              <a:t>Challenges in Massive MIMO</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1">
            <a:extLst>
              <a:ext uri="{FF2B5EF4-FFF2-40B4-BE49-F238E27FC236}">
                <a16:creationId xmlns:a16="http://schemas.microsoft.com/office/drawing/2014/main" id="{24DC471C-3B74-4462-3924-45BC479E235A}"/>
              </a:ext>
            </a:extLst>
          </p:cNvPr>
          <p:cNvSpPr>
            <a:spLocks noGrp="1" noChangeArrowheads="1"/>
          </p:cNvSpPr>
          <p:nvPr>
            <p:ph idx="1"/>
          </p:nvPr>
        </p:nvSpPr>
        <p:spPr bwMode="auto">
          <a:xfrm>
            <a:off x="3428264" y="472075"/>
            <a:ext cx="5806233"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R="0" lvl="0" defTabSz="914400" rtl="0" eaLnBrk="0" fontAlgn="base" latinLnBrk="0" hangingPunct="0">
              <a:lnSpc>
                <a:spcPct val="200000"/>
              </a:lnSpc>
              <a:spcBef>
                <a:spcPct val="0"/>
              </a:spcBef>
              <a:spcAft>
                <a:spcPts val="600"/>
              </a:spcAft>
              <a:buClrTx/>
              <a:buSzTx/>
              <a:buFont typeface="Wingdings" panose="05000000000000000000" pitchFamily="2" charset="2"/>
              <a:buChar char="q"/>
              <a:tabLst/>
            </a:pPr>
            <a:r>
              <a:rPr kumimoji="0" lang="en-US" altLang="en-US" b="0" i="0" u="none" strike="noStrike" cap="none" normalizeH="0" baseline="0" dirty="0">
                <a:ln>
                  <a:noFill/>
                </a:ln>
                <a:effectLst/>
                <a:latin typeface="Arial" panose="020B0604020202020204" pitchFamily="34" charset="0"/>
              </a:rPr>
              <a:t>High channel estimation overhead</a:t>
            </a:r>
          </a:p>
          <a:p>
            <a:pPr marR="0" lvl="0" defTabSz="914400" rtl="0" eaLnBrk="0" fontAlgn="base" latinLnBrk="0" hangingPunct="0">
              <a:lnSpc>
                <a:spcPct val="200000"/>
              </a:lnSpc>
              <a:spcBef>
                <a:spcPct val="0"/>
              </a:spcBef>
              <a:spcAft>
                <a:spcPts val="600"/>
              </a:spcAft>
              <a:buClrTx/>
              <a:buSzTx/>
              <a:buFont typeface="Wingdings" panose="05000000000000000000" pitchFamily="2" charset="2"/>
              <a:buChar char="q"/>
              <a:tabLst/>
            </a:pPr>
            <a:r>
              <a:rPr kumimoji="0" lang="en-US" altLang="en-US" b="0" i="0" u="none" strike="noStrike" cap="none" normalizeH="0" baseline="0" dirty="0">
                <a:ln>
                  <a:noFill/>
                </a:ln>
                <a:effectLst/>
                <a:latin typeface="Arial" panose="020B0604020202020204" pitchFamily="34" charset="0"/>
              </a:rPr>
              <a:t>Hardware complexity</a:t>
            </a:r>
          </a:p>
          <a:p>
            <a:pPr marR="0" lvl="0" defTabSz="914400" rtl="0" eaLnBrk="0" fontAlgn="base" latinLnBrk="0" hangingPunct="0">
              <a:lnSpc>
                <a:spcPct val="200000"/>
              </a:lnSpc>
              <a:spcBef>
                <a:spcPct val="0"/>
              </a:spcBef>
              <a:spcAft>
                <a:spcPts val="600"/>
              </a:spcAft>
              <a:buClrTx/>
              <a:buSzTx/>
              <a:buFont typeface="Wingdings" panose="05000000000000000000" pitchFamily="2" charset="2"/>
              <a:buChar char="q"/>
              <a:tabLst/>
            </a:pPr>
            <a:r>
              <a:rPr kumimoji="0" lang="en-US" altLang="en-US" b="0" i="0" u="none" strike="noStrike" cap="none" normalizeH="0" baseline="0" dirty="0">
                <a:ln>
                  <a:noFill/>
                </a:ln>
                <a:effectLst/>
                <a:latin typeface="Arial" panose="020B0604020202020204" pitchFamily="34" charset="0"/>
              </a:rPr>
              <a:t>Antenna correlation</a:t>
            </a:r>
          </a:p>
          <a:p>
            <a:pPr marR="0" lvl="0" defTabSz="914400" rtl="0" eaLnBrk="0" fontAlgn="base" latinLnBrk="0" hangingPunct="0">
              <a:lnSpc>
                <a:spcPct val="200000"/>
              </a:lnSpc>
              <a:spcBef>
                <a:spcPct val="0"/>
              </a:spcBef>
              <a:spcAft>
                <a:spcPts val="600"/>
              </a:spcAft>
              <a:buClrTx/>
              <a:buSzTx/>
              <a:buFont typeface="Wingdings" panose="05000000000000000000" pitchFamily="2" charset="2"/>
              <a:buChar char="q"/>
              <a:tabLst/>
            </a:pPr>
            <a:r>
              <a:rPr kumimoji="0" lang="en-US" altLang="en-US" b="0" i="0" u="none" strike="noStrike" cap="none" normalizeH="0" baseline="0" dirty="0">
                <a:ln>
                  <a:noFill/>
                </a:ln>
                <a:effectLst/>
                <a:latin typeface="Arial" panose="020B0604020202020204" pitchFamily="34" charset="0"/>
              </a:rPr>
              <a:t>Pilot contamination</a:t>
            </a:r>
          </a:p>
          <a:p>
            <a:pPr marR="0" lvl="0" defTabSz="914400" rtl="0" eaLnBrk="0" fontAlgn="base" latinLnBrk="0" hangingPunct="0">
              <a:lnSpc>
                <a:spcPct val="200000"/>
              </a:lnSpc>
              <a:spcBef>
                <a:spcPct val="0"/>
              </a:spcBef>
              <a:spcAft>
                <a:spcPts val="600"/>
              </a:spcAft>
              <a:buClrTx/>
              <a:buSzTx/>
              <a:buFont typeface="Wingdings" panose="05000000000000000000" pitchFamily="2" charset="2"/>
              <a:buChar char="q"/>
              <a:tabLst/>
            </a:pPr>
            <a:r>
              <a:rPr kumimoji="0" lang="en-US" altLang="en-US" b="0" i="0" u="none" strike="noStrike" cap="none" normalizeH="0" baseline="0" dirty="0">
                <a:ln>
                  <a:noFill/>
                </a:ln>
                <a:effectLst/>
                <a:latin typeface="Arial" panose="020B0604020202020204" pitchFamily="34" charset="0"/>
              </a:rPr>
              <a:t>Hybrid beamforming design</a:t>
            </a:r>
          </a:p>
        </p:txBody>
      </p:sp>
    </p:spTree>
    <p:extLst>
      <p:ext uri="{BB962C8B-B14F-4D97-AF65-F5344CB8AC3E}">
        <p14:creationId xmlns:p14="http://schemas.microsoft.com/office/powerpoint/2010/main" val="3521321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1329B-8209-DB8F-D30C-9E108F1F5683}"/>
              </a:ext>
            </a:extLst>
          </p:cNvPr>
          <p:cNvSpPr>
            <a:spLocks noGrp="1"/>
          </p:cNvSpPr>
          <p:nvPr>
            <p:ph type="title"/>
          </p:nvPr>
        </p:nvSpPr>
        <p:spPr>
          <a:xfrm>
            <a:off x="298938" y="222251"/>
            <a:ext cx="7886700" cy="589208"/>
          </a:xfrm>
        </p:spPr>
        <p:txBody>
          <a:bodyPr>
            <a:noAutofit/>
          </a:bodyPr>
          <a:lstStyle/>
          <a:p>
            <a:r>
              <a:rPr lang="en-US" sz="4000" b="1" dirty="0">
                <a:latin typeface="Times New Roman" panose="02020603050405020304" pitchFamily="18" charset="0"/>
                <a:cs typeface="Times New Roman" panose="02020603050405020304" pitchFamily="18" charset="0"/>
              </a:rPr>
              <a:t>Multi-User MIMO</a:t>
            </a:r>
          </a:p>
        </p:txBody>
      </p:sp>
      <p:pic>
        <p:nvPicPr>
          <p:cNvPr id="13314" name="Picture 2" descr="Multi-user MIMO - Wikipedia">
            <a:extLst>
              <a:ext uri="{FF2B5EF4-FFF2-40B4-BE49-F238E27FC236}">
                <a16:creationId xmlns:a16="http://schemas.microsoft.com/office/drawing/2014/main" id="{5DA3E6EB-D042-1E04-6643-66EFCBE56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293" y="819448"/>
            <a:ext cx="7130143" cy="429591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0C3B4EC-DF9E-621F-806C-F2E4D27F5EF2}"/>
              </a:ext>
            </a:extLst>
          </p:cNvPr>
          <p:cNvSpPr txBox="1"/>
          <p:nvPr/>
        </p:nvSpPr>
        <p:spPr>
          <a:xfrm>
            <a:off x="386862" y="5310553"/>
            <a:ext cx="837027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latin typeface="Söhne"/>
              </a:rPr>
              <a:t>Massive MIMO stands for Massive Multiple-Input, Multiple-Output. It is an advanced wireless communication technology that utilizes a large number of antennas at the base station to enhance network capacity and spectral efficiency.​</a:t>
            </a:r>
            <a:endParaRPr lang="en-US" sz="2000" dirty="0"/>
          </a:p>
        </p:txBody>
      </p:sp>
    </p:spTree>
    <p:extLst>
      <p:ext uri="{BB962C8B-B14F-4D97-AF65-F5344CB8AC3E}">
        <p14:creationId xmlns:p14="http://schemas.microsoft.com/office/powerpoint/2010/main" val="323783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diagram&#10;&#10;Description automatically generated">
            <a:extLst>
              <a:ext uri="{FF2B5EF4-FFF2-40B4-BE49-F238E27FC236}">
                <a16:creationId xmlns:a16="http://schemas.microsoft.com/office/drawing/2014/main" id="{13B4FB8C-36D6-E099-84F4-EE0DCC2D8440}"/>
              </a:ext>
            </a:extLst>
          </p:cNvPr>
          <p:cNvPicPr>
            <a:picLocks noChangeAspect="1"/>
          </p:cNvPicPr>
          <p:nvPr/>
        </p:nvPicPr>
        <p:blipFill>
          <a:blip r:embed="rId2"/>
          <a:stretch>
            <a:fillRect/>
          </a:stretch>
        </p:blipFill>
        <p:spPr>
          <a:xfrm>
            <a:off x="1160650" y="1028665"/>
            <a:ext cx="7820757" cy="4245957"/>
          </a:xfrm>
          <a:prstGeom prst="rect">
            <a:avLst/>
          </a:prstGeom>
        </p:spPr>
      </p:pic>
      <p:sp>
        <p:nvSpPr>
          <p:cNvPr id="6" name="Title 1">
            <a:extLst>
              <a:ext uri="{FF2B5EF4-FFF2-40B4-BE49-F238E27FC236}">
                <a16:creationId xmlns:a16="http://schemas.microsoft.com/office/drawing/2014/main" id="{18391D10-D18D-80E8-4F01-6FED686F0EF9}"/>
              </a:ext>
            </a:extLst>
          </p:cNvPr>
          <p:cNvSpPr>
            <a:spLocks noGrp="1"/>
          </p:cNvSpPr>
          <p:nvPr>
            <p:ph type="title"/>
          </p:nvPr>
        </p:nvSpPr>
        <p:spPr>
          <a:xfrm>
            <a:off x="298938" y="222251"/>
            <a:ext cx="7886700" cy="589208"/>
          </a:xfrm>
        </p:spPr>
        <p:txBody>
          <a:bodyPr>
            <a:noAutofit/>
          </a:bodyPr>
          <a:lstStyle/>
          <a:p>
            <a:r>
              <a:rPr lang="en-US" sz="4000" b="1" dirty="0">
                <a:latin typeface="Times New Roman" panose="02020603050405020304" pitchFamily="18" charset="0"/>
                <a:cs typeface="Times New Roman" panose="02020603050405020304" pitchFamily="18" charset="0"/>
              </a:rPr>
              <a:t>Multi-User MIMO</a:t>
            </a:r>
          </a:p>
        </p:txBody>
      </p:sp>
      <p:pic>
        <p:nvPicPr>
          <p:cNvPr id="7" name="Picture 7" descr="Diagram, icon&#10;&#10;Description automatically generated">
            <a:extLst>
              <a:ext uri="{FF2B5EF4-FFF2-40B4-BE49-F238E27FC236}">
                <a16:creationId xmlns:a16="http://schemas.microsoft.com/office/drawing/2014/main" id="{6FE80821-1DD3-5564-4C33-91A98EBC5C05}"/>
              </a:ext>
            </a:extLst>
          </p:cNvPr>
          <p:cNvPicPr>
            <a:picLocks noChangeAspect="1"/>
          </p:cNvPicPr>
          <p:nvPr/>
        </p:nvPicPr>
        <p:blipFill>
          <a:blip r:embed="rId3"/>
          <a:stretch>
            <a:fillRect/>
          </a:stretch>
        </p:blipFill>
        <p:spPr>
          <a:xfrm>
            <a:off x="1329773" y="3323315"/>
            <a:ext cx="2743200" cy="2951129"/>
          </a:xfrm>
          <a:prstGeom prst="rect">
            <a:avLst/>
          </a:prstGeom>
        </p:spPr>
      </p:pic>
    </p:spTree>
    <p:extLst>
      <p:ext uri="{BB962C8B-B14F-4D97-AF65-F5344CB8AC3E}">
        <p14:creationId xmlns:p14="http://schemas.microsoft.com/office/powerpoint/2010/main" val="3516120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B3F471-B40E-05AB-A6B7-BC3A6CA459FB}"/>
              </a:ext>
            </a:extLst>
          </p:cNvPr>
          <p:cNvSpPr>
            <a:spLocks noGrp="1"/>
          </p:cNvSpPr>
          <p:nvPr>
            <p:ph idx="1"/>
          </p:nvPr>
        </p:nvSpPr>
        <p:spPr>
          <a:xfrm>
            <a:off x="546221" y="1253331"/>
            <a:ext cx="7392133" cy="4351338"/>
          </a:xfrm>
        </p:spPr>
        <p:txBody>
          <a:bodyPr vert="horz" lIns="91440" tIns="45720" rIns="91440" bIns="45720" rtlCol="0" anchor="t">
            <a:normAutofit fontScale="92500" lnSpcReduction="10000"/>
          </a:bodyPr>
          <a:lstStyle/>
          <a:p>
            <a:pPr>
              <a:lnSpc>
                <a:spcPct val="200000"/>
              </a:lnSpc>
              <a:buFont typeface="+mj-lt"/>
              <a:buAutoNum type="arabicPeriod"/>
            </a:pPr>
            <a:r>
              <a:rPr lang="en-US" b="0" i="0" dirty="0">
                <a:solidFill>
                  <a:srgbClr val="374151"/>
                </a:solidFill>
                <a:effectLst/>
                <a:latin typeface="Times New Roman" panose="02020603050405020304" pitchFamily="18" charset="0"/>
                <a:cs typeface="Times New Roman" panose="02020603050405020304" pitchFamily="18" charset="0"/>
              </a:rPr>
              <a:t>Simultaneous Transmission: </a:t>
            </a:r>
            <a:endParaRPr lang="en-US" dirty="0">
              <a:solidFill>
                <a:srgbClr val="000000"/>
              </a:solidFill>
              <a:latin typeface="Times New Roman" panose="02020603050405020304" pitchFamily="18" charset="0"/>
              <a:cs typeface="Times New Roman" panose="02020603050405020304" pitchFamily="18" charset="0"/>
            </a:endParaRPr>
          </a:p>
          <a:p>
            <a:pPr>
              <a:lnSpc>
                <a:spcPct val="200000"/>
              </a:lnSpc>
              <a:buAutoNum type="arabicPeriod"/>
            </a:pPr>
            <a:r>
              <a:rPr lang="en-US" b="0" i="0" dirty="0">
                <a:solidFill>
                  <a:srgbClr val="374151"/>
                </a:solidFill>
                <a:effectLst/>
                <a:latin typeface="Times New Roman" panose="02020603050405020304" pitchFamily="18" charset="0"/>
                <a:cs typeface="Times New Roman" panose="02020603050405020304" pitchFamily="18" charset="0"/>
              </a:rPr>
              <a:t>Improved Spectral Efficiency: </a:t>
            </a:r>
            <a:endParaRPr lang="en-US" dirty="0">
              <a:solidFill>
                <a:srgbClr val="000000"/>
              </a:solidFill>
              <a:latin typeface="Times New Roman" panose="02020603050405020304" pitchFamily="18" charset="0"/>
              <a:cs typeface="Times New Roman" panose="02020603050405020304" pitchFamily="18" charset="0"/>
            </a:endParaRPr>
          </a:p>
          <a:p>
            <a:pPr>
              <a:lnSpc>
                <a:spcPct val="200000"/>
              </a:lnSpc>
              <a:buAutoNum type="arabicPeriod"/>
            </a:pPr>
            <a:r>
              <a:rPr lang="en-US" b="0" i="0" dirty="0">
                <a:solidFill>
                  <a:srgbClr val="374151"/>
                </a:solidFill>
                <a:effectLst/>
                <a:latin typeface="Times New Roman" panose="02020603050405020304" pitchFamily="18" charset="0"/>
                <a:cs typeface="Times New Roman" panose="02020603050405020304" pitchFamily="18" charset="0"/>
              </a:rPr>
              <a:t>Interference Mitigation: </a:t>
            </a:r>
            <a:endParaRPr lang="en-US" dirty="0">
              <a:solidFill>
                <a:srgbClr val="000000"/>
              </a:solidFill>
              <a:latin typeface="Times New Roman" panose="02020603050405020304" pitchFamily="18" charset="0"/>
              <a:cs typeface="Times New Roman" panose="02020603050405020304" pitchFamily="18" charset="0"/>
            </a:endParaRPr>
          </a:p>
          <a:p>
            <a:pPr>
              <a:lnSpc>
                <a:spcPct val="200000"/>
              </a:lnSpc>
              <a:buAutoNum type="arabicPeriod"/>
            </a:pPr>
            <a:r>
              <a:rPr lang="en-US" b="0" i="0" dirty="0">
                <a:solidFill>
                  <a:srgbClr val="374151"/>
                </a:solidFill>
                <a:effectLst/>
                <a:latin typeface="Times New Roman" panose="02020603050405020304" pitchFamily="18" charset="0"/>
                <a:cs typeface="Times New Roman" panose="02020603050405020304" pitchFamily="18" charset="0"/>
              </a:rPr>
              <a:t>User Fairness: </a:t>
            </a:r>
            <a:endParaRPr lang="en-US" dirty="0">
              <a:solidFill>
                <a:srgbClr val="000000"/>
              </a:solidFill>
              <a:latin typeface="Times New Roman" panose="02020603050405020304" pitchFamily="18" charset="0"/>
              <a:cs typeface="Times New Roman" panose="02020603050405020304" pitchFamily="18" charset="0"/>
            </a:endParaRPr>
          </a:p>
          <a:p>
            <a:pPr>
              <a:lnSpc>
                <a:spcPct val="200000"/>
              </a:lnSpc>
              <a:buAutoNum type="arabicPeriod"/>
            </a:pPr>
            <a:r>
              <a:rPr lang="en-US" b="0" i="0" dirty="0">
                <a:solidFill>
                  <a:srgbClr val="374151"/>
                </a:solidFill>
                <a:effectLst/>
                <a:latin typeface="Times New Roman" panose="02020603050405020304" pitchFamily="18" charset="0"/>
                <a:cs typeface="Times New Roman" panose="02020603050405020304" pitchFamily="18" charset="0"/>
              </a:rPr>
              <a:t>Device Flexibility:</a:t>
            </a:r>
            <a:r>
              <a:rPr lang="en-US" dirty="0">
                <a:solidFill>
                  <a:srgbClr val="374151"/>
                </a:solidFill>
                <a:latin typeface="Times New Roman" panose="02020603050405020304" pitchFamily="18" charset="0"/>
                <a:cs typeface="Times New Roman" panose="02020603050405020304" pitchFamily="18" charset="0"/>
              </a:rPr>
              <a:t> </a:t>
            </a:r>
          </a:p>
        </p:txBody>
      </p:sp>
      <p:sp>
        <p:nvSpPr>
          <p:cNvPr id="5" name="Title 1">
            <a:extLst>
              <a:ext uri="{FF2B5EF4-FFF2-40B4-BE49-F238E27FC236}">
                <a16:creationId xmlns:a16="http://schemas.microsoft.com/office/drawing/2014/main" id="{2833CAFA-DE5F-EF34-B46C-BC100F2FEAF6}"/>
              </a:ext>
            </a:extLst>
          </p:cNvPr>
          <p:cNvSpPr>
            <a:spLocks noGrp="1"/>
          </p:cNvSpPr>
          <p:nvPr>
            <p:ph type="title"/>
          </p:nvPr>
        </p:nvSpPr>
        <p:spPr>
          <a:xfrm>
            <a:off x="298938" y="222251"/>
            <a:ext cx="7886700" cy="589208"/>
          </a:xfrm>
        </p:spPr>
        <p:txBody>
          <a:bodyPr>
            <a:noAutofit/>
          </a:bodyPr>
          <a:lstStyle/>
          <a:p>
            <a:r>
              <a:rPr lang="en-US" sz="4000" b="1" dirty="0">
                <a:latin typeface="Times New Roman" panose="02020603050405020304" pitchFamily="18" charset="0"/>
                <a:cs typeface="Times New Roman" panose="02020603050405020304" pitchFamily="18" charset="0"/>
              </a:rPr>
              <a:t>Multi-User MIMO-Highlights</a:t>
            </a:r>
          </a:p>
        </p:txBody>
      </p:sp>
    </p:spTree>
    <p:extLst>
      <p:ext uri="{BB962C8B-B14F-4D97-AF65-F5344CB8AC3E}">
        <p14:creationId xmlns:p14="http://schemas.microsoft.com/office/powerpoint/2010/main" val="130110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ACF6636-DCB0-3D08-22DF-2828B59244C9}"/>
              </a:ext>
            </a:extLst>
          </p:cNvPr>
          <p:cNvSpPr>
            <a:spLocks noGrp="1"/>
          </p:cNvSpPr>
          <p:nvPr>
            <p:ph type="title"/>
          </p:nvPr>
        </p:nvSpPr>
        <p:spPr>
          <a:xfrm>
            <a:off x="628650" y="1195697"/>
            <a:ext cx="2400300" cy="4238118"/>
          </a:xfrm>
        </p:spPr>
        <p:txBody>
          <a:bodyPr>
            <a:normAutofit/>
          </a:bodyPr>
          <a:lstStyle/>
          <a:p>
            <a:r>
              <a:rPr lang="en-US" sz="2400" b="1">
                <a:solidFill>
                  <a:schemeClr val="bg1"/>
                </a:solidFill>
                <a:latin typeface="Times New Roman" panose="02020603050405020304" pitchFamily="18" charset="0"/>
                <a:cs typeface="Times New Roman" panose="02020603050405020304" pitchFamily="18" charset="0"/>
              </a:rPr>
              <a:t>Real-World MIMO Implementation</a:t>
            </a:r>
          </a:p>
        </p:txBody>
      </p:sp>
      <p:grpSp>
        <p:nvGrpSpPr>
          <p:cNvPr id="14"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5" name="Freeform: Shape 14">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8" name="Oval 17">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2"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3" name="Freeform: Shape 22">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6" name="Rectangle 1">
            <a:extLst>
              <a:ext uri="{FF2B5EF4-FFF2-40B4-BE49-F238E27FC236}">
                <a16:creationId xmlns:a16="http://schemas.microsoft.com/office/drawing/2014/main" id="{B9AD33A2-9A33-5DC5-3380-E43CF9212AF1}"/>
              </a:ext>
            </a:extLst>
          </p:cNvPr>
          <p:cNvGraphicFramePr>
            <a:graphicFrameLocks noGrp="1"/>
          </p:cNvGraphicFramePr>
          <p:nvPr>
            <p:ph idx="1"/>
            <p:extLst>
              <p:ext uri="{D42A27DB-BD31-4B8C-83A1-F6EECF244321}">
                <p14:modId xmlns:p14="http://schemas.microsoft.com/office/powerpoint/2010/main" val="119093941"/>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89615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Yellow question mark">
            <a:extLst>
              <a:ext uri="{FF2B5EF4-FFF2-40B4-BE49-F238E27FC236}">
                <a16:creationId xmlns:a16="http://schemas.microsoft.com/office/drawing/2014/main" id="{272F2F1E-163A-C425-052F-261E5A63BC02}"/>
              </a:ext>
            </a:extLst>
          </p:cNvPr>
          <p:cNvPicPr>
            <a:picLocks noChangeAspect="1"/>
          </p:cNvPicPr>
          <p:nvPr/>
        </p:nvPicPr>
        <p:blipFill>
          <a:blip r:embed="rId2"/>
          <a:srcRect l="20000"/>
          <a:stretch>
            <a:fillRect/>
          </a:stretch>
        </p:blipFill>
        <p:spPr>
          <a:xfrm>
            <a:off x="20" y="10"/>
            <a:ext cx="9143980" cy="6857990"/>
          </a:xfrm>
          <a:prstGeom prst="rect">
            <a:avLst/>
          </a:prstGeom>
        </p:spPr>
      </p:pic>
      <p:sp>
        <p:nvSpPr>
          <p:cNvPr id="11"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1E71E72-67AD-77E6-9C46-4DD477CF0807}"/>
              </a:ext>
            </a:extLst>
          </p:cNvPr>
          <p:cNvSpPr>
            <a:spLocks noGrp="1"/>
          </p:cNvSpPr>
          <p:nvPr>
            <p:ph type="title"/>
          </p:nvPr>
        </p:nvSpPr>
        <p:spPr>
          <a:xfrm>
            <a:off x="303414" y="3091928"/>
            <a:ext cx="6808922" cy="2387600"/>
          </a:xfrm>
        </p:spPr>
        <p:txBody>
          <a:bodyPr vert="horz" lIns="91440" tIns="45720" rIns="91440" bIns="45720" rtlCol="0" anchor="b">
            <a:normAutofit/>
          </a:bodyPr>
          <a:lstStyle/>
          <a:p>
            <a:r>
              <a:rPr lang="en-US" sz="5700" dirty="0">
                <a:solidFill>
                  <a:schemeClr val="bg1"/>
                </a:solidFill>
              </a:rPr>
              <a:t>Questions</a:t>
            </a:r>
          </a:p>
        </p:txBody>
      </p:sp>
      <p:sp>
        <p:nvSpPr>
          <p:cNvPr id="13"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1714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6f8f3b6-16be-436e-bf2d-dedadcb7712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59F6BB5A7D914C9B3EBC96A6E21F77" ma:contentTypeVersion="14" ma:contentTypeDescription="Create a new document." ma:contentTypeScope="" ma:versionID="fda4ccff6591671c81d9f7567ae569d0">
  <xsd:schema xmlns:xsd="http://www.w3.org/2001/XMLSchema" xmlns:xs="http://www.w3.org/2001/XMLSchema" xmlns:p="http://schemas.microsoft.com/office/2006/metadata/properties" xmlns:ns3="76f8f3b6-16be-436e-bf2d-dedadcb77122" xmlns:ns4="d8514a62-9400-4177-9856-d6f8215948cc" targetNamespace="http://schemas.microsoft.com/office/2006/metadata/properties" ma:root="true" ma:fieldsID="5dd2106159393f1d8dbedbc6d6b27a07" ns3:_="" ns4:_="">
    <xsd:import namespace="76f8f3b6-16be-436e-bf2d-dedadcb77122"/>
    <xsd:import namespace="d8514a62-9400-4177-9856-d6f8215948c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f8f3b6-16be-436e-bf2d-dedadcb771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514a62-9400-4177-9856-d6f8215948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1BC10A-AC43-4888-BBEF-22D31D87E8F1}">
  <ds:schemaRefs>
    <ds:schemaRef ds:uri="http://purl.org/dc/terms/"/>
    <ds:schemaRef ds:uri="http://www.w3.org/XML/1998/namespace"/>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d8514a62-9400-4177-9856-d6f8215948cc"/>
    <ds:schemaRef ds:uri="76f8f3b6-16be-436e-bf2d-dedadcb77122"/>
    <ds:schemaRef ds:uri="http://schemas.microsoft.com/office/2006/metadata/properties"/>
  </ds:schemaRefs>
</ds:datastoreItem>
</file>

<file path=customXml/itemProps2.xml><?xml version="1.0" encoding="utf-8"?>
<ds:datastoreItem xmlns:ds="http://schemas.openxmlformats.org/officeDocument/2006/customXml" ds:itemID="{1AF01DB4-B638-40AA-A96B-CDB0BCBB8FD8}">
  <ds:schemaRefs>
    <ds:schemaRef ds:uri="http://schemas.microsoft.com/sharepoint/v3/contenttype/forms"/>
  </ds:schemaRefs>
</ds:datastoreItem>
</file>

<file path=customXml/itemProps3.xml><?xml version="1.0" encoding="utf-8"?>
<ds:datastoreItem xmlns:ds="http://schemas.openxmlformats.org/officeDocument/2006/customXml" ds:itemID="{E469DD6B-0C77-4907-9AFC-74AC6720B2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f8f3b6-16be-436e-bf2d-dedadcb77122"/>
    <ds:schemaRef ds:uri="d8514a62-9400-4177-9856-d6f8215948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3791</TotalTime>
  <Words>1841</Words>
  <Application>Microsoft Office PowerPoint</Application>
  <PresentationFormat>On-screen Show (4:3)</PresentationFormat>
  <Paragraphs>291</Paragraphs>
  <Slides>41</Slides>
  <Notes>7</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53" baseType="lpstr">
      <vt:lpstr>ＭＳ Ｐゴシック</vt:lpstr>
      <vt:lpstr>Arial</vt:lpstr>
      <vt:lpstr>Calibri</vt:lpstr>
      <vt:lpstr>Calibri Light</vt:lpstr>
      <vt:lpstr>Cambria Math</vt:lpstr>
      <vt:lpstr>Myriad Pro</vt:lpstr>
      <vt:lpstr>Söhne</vt:lpstr>
      <vt:lpstr>Times New Roman</vt:lpstr>
      <vt:lpstr>Verdana</vt:lpstr>
      <vt:lpstr>Wingdings</vt:lpstr>
      <vt:lpstr>Office Theme</vt:lpstr>
      <vt:lpstr>Equation</vt:lpstr>
      <vt:lpstr> MIMO-2 </vt:lpstr>
      <vt:lpstr>MIMO</vt:lpstr>
      <vt:lpstr>MIMO-Multiple Input Multiple Output</vt:lpstr>
      <vt:lpstr>  </vt:lpstr>
      <vt:lpstr>PowerPoint Presentation</vt:lpstr>
      <vt:lpstr>MIMO System Model</vt:lpstr>
      <vt:lpstr>The MIMO system as a linear transformation</vt:lpstr>
      <vt:lpstr>Types of MIMO</vt:lpstr>
      <vt:lpstr>MIMO Capacity on Fading channels</vt:lpstr>
      <vt:lpstr>MIMO Capacity on Fading channels</vt:lpstr>
      <vt:lpstr>Average capacity of a MIMO Rayleigh fading channel </vt:lpstr>
      <vt:lpstr>Spatial Multiplexing  and  Diversity Gain</vt:lpstr>
      <vt:lpstr>Why you can’t just “add more antennas” forever:</vt:lpstr>
      <vt:lpstr>rank(H) </vt:lpstr>
      <vt:lpstr>MIMO Modes </vt:lpstr>
      <vt:lpstr>Diversity Techniques</vt:lpstr>
      <vt:lpstr>Detection Techniques in MIMO Receivers</vt:lpstr>
      <vt:lpstr>Channel Estimation in MIMO</vt:lpstr>
      <vt:lpstr>Why CSI?</vt:lpstr>
      <vt:lpstr>What information is estimated?</vt:lpstr>
      <vt:lpstr>Types of Channel Estimation</vt:lpstr>
      <vt:lpstr>Channel Estimation in MIMO </vt:lpstr>
      <vt:lpstr>Pilot-based Channel Estimation (Most important)</vt:lpstr>
      <vt:lpstr>Challenges:  Channel estimation in MIMO</vt:lpstr>
      <vt:lpstr>Practical Issues in MIMO</vt:lpstr>
      <vt:lpstr>PowerPoint Presentation</vt:lpstr>
      <vt:lpstr>PowerPoint Presentation</vt:lpstr>
      <vt:lpstr>Basic Idea</vt:lpstr>
      <vt:lpstr>Why Beamforming?</vt:lpstr>
      <vt:lpstr>Types of Beamforming</vt:lpstr>
      <vt:lpstr>How is the Beamforming Vector Selected?</vt:lpstr>
      <vt:lpstr>Beamforming at Receiver</vt:lpstr>
      <vt:lpstr>Challenges in Beamforming</vt:lpstr>
      <vt:lpstr>Massive MIMO</vt:lpstr>
      <vt:lpstr>Why Massive MIMO?</vt:lpstr>
      <vt:lpstr>Challenges in Massive MIMO</vt:lpstr>
      <vt:lpstr>Multi-User MIMO</vt:lpstr>
      <vt:lpstr>Multi-User MIMO</vt:lpstr>
      <vt:lpstr>Multi-User MIMO-Highlights</vt:lpstr>
      <vt:lpstr>Real-World MIMO Implementation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Abrar, Muhammad</dc:creator>
  <cp:lastModifiedBy>Abrar, Muhammad</cp:lastModifiedBy>
  <cp:revision>593</cp:revision>
  <dcterms:created xsi:type="dcterms:W3CDTF">2023-04-08T04:37:24Z</dcterms:created>
  <dcterms:modified xsi:type="dcterms:W3CDTF">2025-11-30T13:46:58Z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0x010100BB59F6BB5A7D914C9B3EBC96A6E21F77</vt:lpwstr>
  </property>
</Properties>
</file>