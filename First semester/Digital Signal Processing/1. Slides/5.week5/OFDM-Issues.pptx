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339" r:id="rId5"/>
    <p:sldId id="340" r:id="rId6"/>
    <p:sldId id="341" r:id="rId7"/>
    <p:sldId id="359" r:id="rId8"/>
    <p:sldId id="342" r:id="rId9"/>
    <p:sldId id="357" r:id="rId10"/>
    <p:sldId id="344" r:id="rId11"/>
    <p:sldId id="358" r:id="rId12"/>
    <p:sldId id="360" r:id="rId13"/>
    <p:sldId id="364" r:id="rId14"/>
    <p:sldId id="343" r:id="rId15"/>
    <p:sldId id="365" r:id="rId16"/>
    <p:sldId id="361" r:id="rId17"/>
    <p:sldId id="362" r:id="rId18"/>
    <p:sldId id="345" r:id="rId19"/>
    <p:sldId id="363" r:id="rId20"/>
    <p:sldId id="347" r:id="rId21"/>
    <p:sldId id="349" r:id="rId22"/>
    <p:sldId id="351" r:id="rId23"/>
    <p:sldId id="352" r:id="rId24"/>
    <p:sldId id="350" r:id="rId25"/>
    <p:sldId id="353" r:id="rId26"/>
    <p:sldId id="354" r:id="rId27"/>
    <p:sldId id="355" r:id="rId28"/>
    <p:sldId id="356" r:id="rId29"/>
    <p:sldId id="366" r:id="rId30"/>
    <p:sldId id="367"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E13F87-A67E-0916-847E-B8A9A5906EF8}" v="565" dt="2023-05-12T07:24:21.582"/>
    <p1510:client id="{C904D959-8807-0840-8EC9-0568C3A98CA8}" v="914" dt="2023-05-08T07:52:46.646"/>
    <p1510:client id="{E0A96765-6CD1-AD9F-4DD3-8C49D6B0C3E6}" v="23" dt="2023-05-17T15:56:19.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3447" autoAdjust="0"/>
  </p:normalViewPr>
  <p:slideViewPr>
    <p:cSldViewPr snapToGrid="0">
      <p:cViewPr varScale="1">
        <p:scale>
          <a:sx n="63" d="100"/>
          <a:sy n="63" d="100"/>
        </p:scale>
        <p:origin x="17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A2B23-253C-4CB3-BBBB-82EDD4515B2E}" type="datetimeFigureOut">
              <a:rPr lang="en-US" smtClean="0"/>
              <a:t>11/26/2023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1E985-387E-4400-B108-EA1B51C5B9E2}" type="slidenum">
              <a:rPr lang="en-US" smtClean="0"/>
              <a:t>‹#›</a:t>
            </a:fld>
            <a:endParaRPr lang="en-US"/>
          </a:p>
        </p:txBody>
      </p:sp>
    </p:spTree>
    <p:extLst>
      <p:ext uri="{BB962C8B-B14F-4D97-AF65-F5344CB8AC3E}">
        <p14:creationId xmlns:p14="http://schemas.microsoft.com/office/powerpoint/2010/main" val="268535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charset="-128"/>
            </a:endParaRPr>
          </a:p>
        </p:txBody>
      </p:sp>
      <p:sp>
        <p:nvSpPr>
          <p:cNvPr id="15363" name="Slide Number Placeholder 3"/>
          <p:cNvSpPr>
            <a:spLocks noGrp="1"/>
          </p:cNvSpPr>
          <p:nvPr>
            <p:ph type="sldNum" sz="quarter" idx="5"/>
          </p:nvPr>
        </p:nvSpPr>
        <p:spPr bwMode="auto">
          <a:noFill/>
          <a:ln>
            <a:miter lim="800000"/>
            <a:headEnd/>
            <a:tailEnd/>
          </a:ln>
        </p:spPr>
        <p:txBody>
          <a:bodyPr/>
          <a:lstStyle/>
          <a:p>
            <a:fld id="{347E1331-397A-4A4B-A652-1EAF84AD9D1F}"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OFDM system, the synchronization is considered as a key factor of designing OFDM receiver. The synchronization precision significantly affects the receiver performance and usually depends on the precision of frame acquisition, symbol timing and frequency offset estimation. In contrast to single carrier modulation, OFDM has greater immunity to time synchronization error because of longer symbol duration, and is much more sensitive to frequency synchronization error due to small sub-channel bandwidth. </a:t>
            </a:r>
          </a:p>
        </p:txBody>
      </p:sp>
      <p:sp>
        <p:nvSpPr>
          <p:cNvPr id="4" name="Slide Number Placeholder 3"/>
          <p:cNvSpPr>
            <a:spLocks noGrp="1"/>
          </p:cNvSpPr>
          <p:nvPr>
            <p:ph type="sldNum" sz="quarter" idx="5"/>
          </p:nvPr>
        </p:nvSpPr>
        <p:spPr/>
        <p:txBody>
          <a:bodyPr/>
          <a:lstStyle/>
          <a:p>
            <a:fld id="{9D31E985-387E-4400-B108-EA1B51C5B9E2}" type="slidenum">
              <a:rPr lang="en-US" smtClean="0"/>
              <a:t>3</a:t>
            </a:fld>
            <a:endParaRPr lang="en-US"/>
          </a:p>
        </p:txBody>
      </p:sp>
    </p:spTree>
    <p:extLst>
      <p:ext uri="{BB962C8B-B14F-4D97-AF65-F5344CB8AC3E}">
        <p14:creationId xmlns:p14="http://schemas.microsoft.com/office/powerpoint/2010/main" val="3555393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starting point is exact, a little earlier, too early, or a little later than the exact timing instance.</a:t>
            </a:r>
          </a:p>
          <a:p>
            <a:endParaRPr lang="en-US" dirty="0">
              <a:cs typeface="Calibri"/>
            </a:endParaRPr>
          </a:p>
        </p:txBody>
      </p:sp>
      <p:sp>
        <p:nvSpPr>
          <p:cNvPr id="4" name="Slide Number Placeholder 3"/>
          <p:cNvSpPr>
            <a:spLocks noGrp="1"/>
          </p:cNvSpPr>
          <p:nvPr>
            <p:ph type="sldNum" sz="quarter" idx="5"/>
          </p:nvPr>
        </p:nvSpPr>
        <p:spPr/>
        <p:txBody>
          <a:bodyPr/>
          <a:lstStyle/>
          <a:p>
            <a:fld id="{9D31E985-387E-4400-B108-EA1B51C5B9E2}" type="slidenum">
              <a:rPr lang="en-US" smtClean="0"/>
              <a:t>5</a:t>
            </a:fld>
            <a:endParaRPr lang="en-US"/>
          </a:p>
        </p:txBody>
      </p:sp>
    </p:spTree>
    <p:extLst>
      <p:ext uri="{BB962C8B-B14F-4D97-AF65-F5344CB8AC3E}">
        <p14:creationId xmlns:p14="http://schemas.microsoft.com/office/powerpoint/2010/main" val="744286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received signal subject to STO suffers from a phase rotation. Since the phase rotation is proportional to subcarrier frequency, the STO can be estimated</a:t>
            </a:r>
            <a:endParaRPr lang="en-US" dirty="0">
              <a:cs typeface="Calibri"/>
            </a:endParaRPr>
          </a:p>
          <a:p>
            <a:r>
              <a:rPr lang="en-US" dirty="0"/>
              <a:t>by the phase difference between adjacent subcarrier components of the received signal in the frequency domain.</a:t>
            </a:r>
            <a:endParaRPr lang="en-US" dirty="0">
              <a:cs typeface="Calibri"/>
            </a:endParaRPr>
          </a:p>
        </p:txBody>
      </p:sp>
      <p:sp>
        <p:nvSpPr>
          <p:cNvPr id="4" name="Slide Number Placeholder 3"/>
          <p:cNvSpPr>
            <a:spLocks noGrp="1"/>
          </p:cNvSpPr>
          <p:nvPr>
            <p:ph type="sldNum" sz="quarter" idx="5"/>
          </p:nvPr>
        </p:nvSpPr>
        <p:spPr/>
        <p:txBody>
          <a:bodyPr/>
          <a:lstStyle/>
          <a:p>
            <a:fld id="{9D31E985-387E-4400-B108-EA1B51C5B9E2}" type="slidenum">
              <a:rPr lang="en-US" smtClean="0"/>
              <a:t>8</a:t>
            </a:fld>
            <a:endParaRPr lang="en-US"/>
          </a:p>
        </p:txBody>
      </p:sp>
    </p:spTree>
    <p:extLst>
      <p:ext uri="{BB962C8B-B14F-4D97-AF65-F5344CB8AC3E}">
        <p14:creationId xmlns:p14="http://schemas.microsoft.com/office/powerpoint/2010/main" val="4014317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shows how a high peak is obtained by adding four sinusoidal signals with different frequencies and phase shifts coherently. The resulting signal’s envelope exhibits high peaks when the instantaneous amplitudes of the different signals have high peaks aligned at the same time. </a:t>
            </a:r>
            <a:endParaRPr lang="en-US"/>
          </a:p>
        </p:txBody>
      </p:sp>
      <p:sp>
        <p:nvSpPr>
          <p:cNvPr id="4" name="Slide Number Placeholder 3"/>
          <p:cNvSpPr>
            <a:spLocks noGrp="1"/>
          </p:cNvSpPr>
          <p:nvPr>
            <p:ph type="sldNum" sz="quarter" idx="5"/>
          </p:nvPr>
        </p:nvSpPr>
        <p:spPr/>
        <p:txBody>
          <a:bodyPr/>
          <a:lstStyle/>
          <a:p>
            <a:fld id="{9D31E985-387E-4400-B108-EA1B51C5B9E2}" type="slidenum">
              <a:rPr lang="en-US" smtClean="0"/>
              <a:t>19</a:t>
            </a:fld>
            <a:endParaRPr lang="en-US"/>
          </a:p>
        </p:txBody>
      </p:sp>
    </p:spTree>
    <p:extLst>
      <p:ext uri="{BB962C8B-B14F-4D97-AF65-F5344CB8AC3E}">
        <p14:creationId xmlns:p14="http://schemas.microsoft.com/office/powerpoint/2010/main" val="1155115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Clipping is the simplest</a:t>
            </a:r>
            <a:r>
              <a:rPr lang="en-US" b="1" dirty="0"/>
              <a:t> non-linear and distortion-based technique that decreases the high PAPR by clipping the signal to the preset threshold</a:t>
            </a:r>
            <a:r>
              <a:rPr lang="en-US" dirty="0"/>
              <a:t>. The non-linear </a:t>
            </a:r>
            <a:r>
              <a:rPr lang="en-US" dirty="0" err="1"/>
              <a:t>companding</a:t>
            </a:r>
            <a:r>
              <a:rPr lang="en-US" dirty="0"/>
              <a:t> is applied to the time-domain signal at the transmitter side, and a </a:t>
            </a:r>
            <a:r>
              <a:rPr lang="en-US" dirty="0" err="1"/>
              <a:t>decompanding</a:t>
            </a:r>
            <a:r>
              <a:rPr lang="en-US" dirty="0"/>
              <a:t> function is employed at the receiver end to determine the original OFDM signal.</a:t>
            </a:r>
          </a:p>
        </p:txBody>
      </p:sp>
      <p:sp>
        <p:nvSpPr>
          <p:cNvPr id="4" name="Slide Number Placeholder 3"/>
          <p:cNvSpPr>
            <a:spLocks noGrp="1"/>
          </p:cNvSpPr>
          <p:nvPr>
            <p:ph type="sldNum" sz="quarter" idx="5"/>
          </p:nvPr>
        </p:nvSpPr>
        <p:spPr/>
        <p:txBody>
          <a:bodyPr/>
          <a:lstStyle/>
          <a:p>
            <a:fld id="{9D31E985-387E-4400-B108-EA1B51C5B9E2}" type="slidenum">
              <a:rPr lang="en-US" smtClean="0"/>
              <a:t>21</a:t>
            </a:fld>
            <a:endParaRPr lang="en-US"/>
          </a:p>
        </p:txBody>
      </p:sp>
    </p:spTree>
    <p:extLst>
      <p:ext uri="{BB962C8B-B14F-4D97-AF65-F5344CB8AC3E}">
        <p14:creationId xmlns:p14="http://schemas.microsoft.com/office/powerpoint/2010/main" val="1891228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Clipping is the simplest</a:t>
            </a:r>
            <a:r>
              <a:rPr lang="en-US" b="1" dirty="0"/>
              <a:t> non-linear and distortion-based technique that decreases the high PAPR by clipping the signal to the preset threshold</a:t>
            </a:r>
            <a:r>
              <a:rPr lang="en-US" dirty="0"/>
              <a:t>. The non-linear </a:t>
            </a:r>
            <a:r>
              <a:rPr lang="en-US" dirty="0" err="1"/>
              <a:t>companding</a:t>
            </a:r>
            <a:r>
              <a:rPr lang="en-US" dirty="0"/>
              <a:t> is applied to the time-domain signal at the transmitter side, and a </a:t>
            </a:r>
            <a:r>
              <a:rPr lang="en-US" dirty="0" err="1"/>
              <a:t>decompanding</a:t>
            </a:r>
            <a:r>
              <a:rPr lang="en-US" dirty="0"/>
              <a:t> function is employed at the receiver end to determine the original OFDM signal.</a:t>
            </a:r>
          </a:p>
        </p:txBody>
      </p:sp>
      <p:sp>
        <p:nvSpPr>
          <p:cNvPr id="4" name="Slide Number Placeholder 3"/>
          <p:cNvSpPr>
            <a:spLocks noGrp="1"/>
          </p:cNvSpPr>
          <p:nvPr>
            <p:ph type="sldNum" sz="quarter" idx="5"/>
          </p:nvPr>
        </p:nvSpPr>
        <p:spPr/>
        <p:txBody>
          <a:bodyPr/>
          <a:lstStyle/>
          <a:p>
            <a:fld id="{9D31E985-387E-4400-B108-EA1B51C5B9E2}" type="slidenum">
              <a:rPr lang="en-US" smtClean="0"/>
              <a:t>23</a:t>
            </a:fld>
            <a:endParaRPr lang="en-US"/>
          </a:p>
        </p:txBody>
      </p:sp>
    </p:spTree>
    <p:extLst>
      <p:ext uri="{BB962C8B-B14F-4D97-AF65-F5344CB8AC3E}">
        <p14:creationId xmlns:p14="http://schemas.microsoft.com/office/powerpoint/2010/main" val="1957808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Clipping is the simplest</a:t>
            </a:r>
            <a:r>
              <a:rPr lang="en-US" b="1" dirty="0"/>
              <a:t> non-linear and distortion-based technique that decreases the high PAPR by clipping the signal to the preset threshold</a:t>
            </a:r>
            <a:r>
              <a:rPr lang="en-US" dirty="0"/>
              <a:t>. The non-linear </a:t>
            </a:r>
            <a:r>
              <a:rPr lang="en-US" dirty="0" err="1"/>
              <a:t>companding</a:t>
            </a:r>
            <a:r>
              <a:rPr lang="en-US" dirty="0"/>
              <a:t> is applied to the time-domain signal at the transmitter side, and a </a:t>
            </a:r>
            <a:r>
              <a:rPr lang="en-US" dirty="0" err="1"/>
              <a:t>decompanding</a:t>
            </a:r>
            <a:r>
              <a:rPr lang="en-US" dirty="0"/>
              <a:t> function is employed at the receiver end to determine the original OFDM signal.</a:t>
            </a:r>
          </a:p>
        </p:txBody>
      </p:sp>
      <p:sp>
        <p:nvSpPr>
          <p:cNvPr id="4" name="Slide Number Placeholder 3"/>
          <p:cNvSpPr>
            <a:spLocks noGrp="1"/>
          </p:cNvSpPr>
          <p:nvPr>
            <p:ph type="sldNum" sz="quarter" idx="5"/>
          </p:nvPr>
        </p:nvSpPr>
        <p:spPr/>
        <p:txBody>
          <a:bodyPr/>
          <a:lstStyle/>
          <a:p>
            <a:fld id="{9D31E985-387E-4400-B108-EA1B51C5B9E2}" type="slidenum">
              <a:rPr lang="en-US" smtClean="0"/>
              <a:t>24</a:t>
            </a:fld>
            <a:endParaRPr lang="en-US"/>
          </a:p>
        </p:txBody>
      </p:sp>
    </p:spTree>
    <p:extLst>
      <p:ext uri="{BB962C8B-B14F-4D97-AF65-F5344CB8AC3E}">
        <p14:creationId xmlns:p14="http://schemas.microsoft.com/office/powerpoint/2010/main" val="1289040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DFT-spreading technique is to spread the input signal with DFT, which can be subsequently taken into IFFT. This can reduce the PAPR of OFDM signal to the level of</a:t>
            </a:r>
          </a:p>
          <a:p>
            <a:r>
              <a:rPr lang="en-US" dirty="0"/>
              <a:t>single-carrier transmission. This technique is particularly useful for mobile terminals in uplink transmission. It is known as the Single Carrier-FDMA (SC-FDMA), which is adopted</a:t>
            </a:r>
            <a:endParaRPr lang="en-US" dirty="0">
              <a:ea typeface="Calibri"/>
              <a:cs typeface="Calibri"/>
            </a:endParaRPr>
          </a:p>
          <a:p>
            <a:r>
              <a:rPr lang="en-US" dirty="0"/>
              <a:t>for uplink transmission in the 3GPP LTE standard</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D31E985-387E-4400-B108-EA1B51C5B9E2}" type="slidenum">
              <a:rPr lang="en-US" smtClean="0"/>
              <a:t>25</a:t>
            </a:fld>
            <a:endParaRPr lang="en-US"/>
          </a:p>
        </p:txBody>
      </p:sp>
    </p:spTree>
    <p:extLst>
      <p:ext uri="{BB962C8B-B14F-4D97-AF65-F5344CB8AC3E}">
        <p14:creationId xmlns:p14="http://schemas.microsoft.com/office/powerpoint/2010/main" val="671548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655132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944058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78860F-9BD5-42E1-91FE-31F6B999C27B}" type="datetimeFigureOut">
              <a:rPr lang="en-US" smtClean="0"/>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567230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78860F-9BD5-42E1-91FE-31F6B999C27B}" type="datetimeFigureOut">
              <a:rPr lang="en-US" smtClean="0"/>
              <a:t>11/26/2023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34795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78860F-9BD5-42E1-91FE-31F6B999C27B}" type="datetimeFigureOut">
              <a:rPr lang="en-US" smtClean="0"/>
              <a:t>11/26/2023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08092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78860F-9BD5-42E1-91FE-31F6B999C27B}" type="datetimeFigureOut">
              <a:rPr lang="en-US" smtClean="0"/>
              <a:t>11/26/2023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33772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8860F-9BD5-42E1-91FE-31F6B999C27B}" type="datetimeFigureOut">
              <a:rPr lang="en-US" smtClean="0"/>
              <a:t>11/26/2023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85861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5605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29607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4014580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715569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8860F-9BD5-42E1-91FE-31F6B999C27B}" type="datetimeFigureOut">
              <a:rPr lang="en-US" smtClean="0"/>
              <a:t>11/26/2023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943F1-416A-4DD9-B254-68C50F22A07F}" type="slidenum">
              <a:rPr lang="en-US" smtClean="0"/>
              <a:t>‹#›</a:t>
            </a:fld>
            <a:endParaRPr lang="en-US"/>
          </a:p>
        </p:txBody>
      </p:sp>
    </p:spTree>
    <p:extLst>
      <p:ext uri="{BB962C8B-B14F-4D97-AF65-F5344CB8AC3E}">
        <p14:creationId xmlns:p14="http://schemas.microsoft.com/office/powerpoint/2010/main" val="113546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i.chatzigeorgiou@lancaster.ac.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SSC-slide-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11" name="Text Box 9"/>
          <p:cNvSpPr txBox="1">
            <a:spLocks noChangeArrowheads="1"/>
          </p:cNvSpPr>
          <p:nvPr/>
        </p:nvSpPr>
        <p:spPr bwMode="auto">
          <a:xfrm>
            <a:off x="1821912" y="4403909"/>
            <a:ext cx="4697322" cy="738664"/>
          </a:xfrm>
          <a:prstGeom prst="rect">
            <a:avLst/>
          </a:prstGeom>
          <a:noFill/>
          <a:ln w="9525">
            <a:noFill/>
            <a:miter lim="800000"/>
            <a:headEnd/>
            <a:tailEnd/>
          </a:ln>
        </p:spPr>
        <p:txBody>
          <a:bodyPr wrap="square" lIns="91440" tIns="45720" rIns="91440" bIns="45720" anchor="t">
            <a:spAutoFit/>
          </a:bodyPr>
          <a:lstStyle/>
          <a:p>
            <a:pPr eaLnBrk="1" hangingPunct="1">
              <a:spcBef>
                <a:spcPts val="0"/>
              </a:spcBef>
              <a:buClr>
                <a:schemeClr val="tx1"/>
              </a:buClr>
            </a:pPr>
            <a:r>
              <a:rPr lang="en-US" dirty="0">
                <a:latin typeface="Arial"/>
                <a:ea typeface="ヒラギノ角ゴ Pro W3"/>
                <a:cs typeface="Arial"/>
              </a:rPr>
              <a:t>Dr Muhammad Abrar (Dr. MAB)</a:t>
            </a:r>
            <a:endParaRPr lang="en-US" dirty="0"/>
          </a:p>
          <a:p>
            <a:pPr eaLnBrk="1" hangingPunct="1">
              <a:spcBef>
                <a:spcPts val="0"/>
              </a:spcBef>
              <a:buClr>
                <a:schemeClr val="tx1"/>
              </a:buClr>
            </a:pP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m.</a:t>
            </a:r>
            <a:r>
              <a:rPr lang="en-GB" sz="1800" dirty="0">
                <a:solidFill>
                  <a:srgbClr val="000000"/>
                </a:solidFill>
                <a:latin typeface="Arial"/>
                <a:ea typeface="ヒラギノ角ゴ Pro W3"/>
                <a:cs typeface="ヒラギノ角ゴ Pro W3" charset="0"/>
                <a:hlinkClick r:id="rId4"/>
              </a:rPr>
              <a:t>abrar</a:t>
            </a: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@lancaster.ac.uk</a:t>
            </a:r>
            <a:endParaRPr lang="en-US" sz="1800" dirty="0">
              <a:latin typeface="Arial"/>
              <a:ea typeface="ヒラギノ角ゴ Pro W3"/>
              <a:hlinkClick r:id="rId4">
                <a:extLst>
                  <a:ext uri="{A12FA001-AC4F-418D-AE19-62706E023703}">
                    <ahyp:hlinkClr xmlns:ahyp="http://schemas.microsoft.com/office/drawing/2018/hyperlinkcolor" val="tx"/>
                  </a:ext>
                </a:extLst>
              </a:hlinkClick>
            </a:endParaRPr>
          </a:p>
        </p:txBody>
      </p:sp>
      <p:sp>
        <p:nvSpPr>
          <p:cNvPr id="12" name="Title 1"/>
          <p:cNvSpPr>
            <a:spLocks noGrp="1"/>
          </p:cNvSpPr>
          <p:nvPr>
            <p:ph type="title"/>
          </p:nvPr>
        </p:nvSpPr>
        <p:spPr>
          <a:xfrm>
            <a:off x="1908175" y="1893316"/>
            <a:ext cx="5976194" cy="1967732"/>
          </a:xfrm>
        </p:spPr>
        <p:txBody>
          <a:bodyPr/>
          <a:lstStyle/>
          <a:p>
            <a:pPr algn="l"/>
            <a:r>
              <a:rPr lang="en-US" altLang="en-US" b="1" dirty="0"/>
              <a:t>OFDM</a:t>
            </a:r>
            <a:br>
              <a:rPr lang="en-US" sz="1800" b="0" i="0" u="none" strike="noStrike" baseline="0" dirty="0">
                <a:latin typeface="Verdana" panose="020B0604030504040204" pitchFamily="34" charset="0"/>
              </a:rPr>
            </a:br>
            <a:r>
              <a:rPr lang="en-US" sz="1800" dirty="0">
                <a:solidFill>
                  <a:srgbClr val="000000"/>
                </a:solidFill>
                <a:latin typeface="Verdana"/>
                <a:ea typeface="Verdana"/>
              </a:rPr>
              <a:t>Issues-Solutions</a:t>
            </a:r>
            <a:endParaRPr lang="en-US" sz="3600" b="1" dirty="0">
              <a:solidFill>
                <a:schemeClr val="accent5">
                  <a:lumMod val="25000"/>
                </a:schemeClr>
              </a:solidFill>
              <a:latin typeface="Myriad Pro" charset="0"/>
            </a:endParaRPr>
          </a:p>
        </p:txBody>
      </p:sp>
      <p:sp>
        <p:nvSpPr>
          <p:cNvPr id="13" name="TextBox 3"/>
          <p:cNvSpPr txBox="1">
            <a:spLocks noChangeArrowheads="1"/>
          </p:cNvSpPr>
          <p:nvPr/>
        </p:nvSpPr>
        <p:spPr bwMode="auto">
          <a:xfrm>
            <a:off x="1908175" y="549275"/>
            <a:ext cx="4163319" cy="1031051"/>
          </a:xfrm>
          <a:prstGeom prst="rect">
            <a:avLst/>
          </a:prstGeom>
          <a:noFill/>
          <a:ln w="9525">
            <a:noFill/>
            <a:miter lim="800000"/>
            <a:headEnd/>
            <a:tailEnd/>
          </a:ln>
        </p:spPr>
        <p:txBody>
          <a:bodyPr wrap="none" lIns="91440" tIns="45720" rIns="91440" bIns="45720" anchor="t">
            <a:spAutoFit/>
          </a:bodyPr>
          <a:lstStyle/>
          <a:p>
            <a:pPr>
              <a:spcBef>
                <a:spcPts val="600"/>
              </a:spcBef>
            </a:pPr>
            <a:r>
              <a:rPr lang="en-US" sz="2800" dirty="0">
                <a:latin typeface="Arial"/>
                <a:ea typeface="ヒラギノ角ゴ Pro W3"/>
                <a:cs typeface="Arial"/>
              </a:rPr>
              <a:t>CNSCC.405</a:t>
            </a:r>
            <a:endParaRPr lang="en-US" dirty="0">
              <a:cs typeface="Arial" pitchFamily="34" charset="0"/>
            </a:endParaRPr>
          </a:p>
          <a:p>
            <a:pPr>
              <a:spcBef>
                <a:spcPts val="600"/>
              </a:spcBef>
            </a:pPr>
            <a:r>
              <a:rPr lang="en-US" sz="2800" dirty="0">
                <a:latin typeface="Arial"/>
                <a:ea typeface="ヒラギノ角ゴ Pro W3"/>
                <a:cs typeface="Arial"/>
              </a:rPr>
              <a:t>Digital Signal Processing</a:t>
            </a:r>
            <a:endParaRPr lang="en-US" dirty="0">
              <a:cs typeface="Arial"/>
            </a:endParaRPr>
          </a:p>
        </p:txBody>
      </p:sp>
      <p:grpSp>
        <p:nvGrpSpPr>
          <p:cNvPr id="2" name="Group 1"/>
          <p:cNvGrpSpPr/>
          <p:nvPr/>
        </p:nvGrpSpPr>
        <p:grpSpPr>
          <a:xfrm>
            <a:off x="203200" y="194733"/>
            <a:ext cx="1312334" cy="821267"/>
            <a:chOff x="203200" y="194733"/>
            <a:chExt cx="1312334" cy="821267"/>
          </a:xfrm>
        </p:grpSpPr>
        <p:sp>
          <p:nvSpPr>
            <p:cNvPr id="16" name="Rectangle 15"/>
            <p:cNvSpPr/>
            <p:nvPr userDrawn="1"/>
          </p:nvSpPr>
          <p:spPr bwMode="auto">
            <a:xfrm>
              <a:off x="203200" y="194733"/>
              <a:ext cx="1312334" cy="82126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Arial" pitchFamily="34" charset="0"/>
                <a:ea typeface="ヒラギノ角ゴ Pro W3" charset="-128"/>
              </a:endParaRPr>
            </a:p>
          </p:txBody>
        </p:sp>
        <p:pic>
          <p:nvPicPr>
            <p:cNvPr id="17" name="Picture 2" descr="\\lancs\homes\05\chatzige\My Desktop\bg-logo.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10480" y="456159"/>
              <a:ext cx="1082502" cy="338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Tm="35928"/>
    </mc:Choice>
    <mc:Fallback xmlns="">
      <p:transition spd="slow" advTm="3592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CBB51-BE9C-EB3D-E6C0-838AFA585D22}"/>
              </a:ext>
            </a:extLst>
          </p:cNvPr>
          <p:cNvSpPr>
            <a:spLocks noGrp="1"/>
          </p:cNvSpPr>
          <p:nvPr>
            <p:ph type="title"/>
          </p:nvPr>
        </p:nvSpPr>
        <p:spPr>
          <a:xfrm>
            <a:off x="663955" y="2245118"/>
            <a:ext cx="7886700" cy="1325563"/>
          </a:xfrm>
        </p:spPr>
        <p:txBody>
          <a:bodyPr>
            <a:normAutofit/>
          </a:bodyPr>
          <a:lstStyle/>
          <a:p>
            <a:pPr algn="ctr"/>
            <a:r>
              <a:rPr lang="en-US" sz="3600" b="1" dirty="0">
                <a:ea typeface="+mj-lt"/>
                <a:cs typeface="+mj-lt"/>
              </a:rPr>
              <a:t>Synchronization for OFDM</a:t>
            </a:r>
            <a:endParaRPr lang="en-US" sz="3600" b="1" dirty="0"/>
          </a:p>
        </p:txBody>
      </p:sp>
      <p:sp>
        <p:nvSpPr>
          <p:cNvPr id="3" name="TextBox 1">
            <a:extLst>
              <a:ext uri="{FF2B5EF4-FFF2-40B4-BE49-F238E27FC236}">
                <a16:creationId xmlns:a16="http://schemas.microsoft.com/office/drawing/2014/main" id="{79C06953-FDB8-2EC7-18FF-0C0ADC9CD674}"/>
              </a:ext>
            </a:extLst>
          </p:cNvPr>
          <p:cNvSpPr txBox="1"/>
          <p:nvPr/>
        </p:nvSpPr>
        <p:spPr>
          <a:xfrm>
            <a:off x="1117600" y="3200400"/>
            <a:ext cx="753872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the synchronization is considered as a key factor of designing OFDM receiver.</a:t>
            </a:r>
          </a:p>
        </p:txBody>
      </p:sp>
    </p:spTree>
    <p:extLst>
      <p:ext uri="{BB962C8B-B14F-4D97-AF65-F5344CB8AC3E}">
        <p14:creationId xmlns:p14="http://schemas.microsoft.com/office/powerpoint/2010/main" val="1917285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620F8-16A3-0572-6592-1D7EED803173}"/>
              </a:ext>
            </a:extLst>
          </p:cNvPr>
          <p:cNvSpPr>
            <a:spLocks noGrp="1"/>
          </p:cNvSpPr>
          <p:nvPr>
            <p:ph type="title"/>
          </p:nvPr>
        </p:nvSpPr>
        <p:spPr>
          <a:xfrm>
            <a:off x="628650" y="365126"/>
            <a:ext cx="7886700" cy="540027"/>
          </a:xfrm>
        </p:spPr>
        <p:txBody>
          <a:bodyPr>
            <a:normAutofit fontScale="90000"/>
          </a:bodyPr>
          <a:lstStyle/>
          <a:p>
            <a:r>
              <a:rPr lang="en-US" sz="3600" b="1" dirty="0">
                <a:cs typeface="Calibri Light"/>
              </a:rPr>
              <a:t>Time and </a:t>
            </a:r>
            <a:r>
              <a:rPr lang="en-US" sz="3600" b="1" dirty="0">
                <a:ea typeface="+mj-lt"/>
                <a:cs typeface="+mj-lt"/>
              </a:rPr>
              <a:t>Frequency Error</a:t>
            </a:r>
            <a:endParaRPr lang="en-US" sz="3600" b="1" dirty="0"/>
          </a:p>
        </p:txBody>
      </p:sp>
      <p:sp>
        <p:nvSpPr>
          <p:cNvPr id="3" name="Content Placeholder 2">
            <a:extLst>
              <a:ext uri="{FF2B5EF4-FFF2-40B4-BE49-F238E27FC236}">
                <a16:creationId xmlns:a16="http://schemas.microsoft.com/office/drawing/2014/main" id="{8A70863D-CF9D-ACCA-6ECD-0DFD9B8BAB77}"/>
              </a:ext>
            </a:extLst>
          </p:cNvPr>
          <p:cNvSpPr>
            <a:spLocks noGrp="1"/>
          </p:cNvSpPr>
          <p:nvPr>
            <p:ph idx="1"/>
          </p:nvPr>
        </p:nvSpPr>
        <p:spPr>
          <a:xfrm>
            <a:off x="588834" y="2626696"/>
            <a:ext cx="7886700" cy="1201738"/>
          </a:xfrm>
        </p:spPr>
        <p:txBody>
          <a:bodyPr vert="horz" lIns="91440" tIns="45720" rIns="91440" bIns="45720" rtlCol="0" anchor="t">
            <a:normAutofit/>
          </a:bodyPr>
          <a:lstStyle/>
          <a:p>
            <a:r>
              <a:rPr lang="en-US" dirty="0">
                <a:ea typeface="+mn-lt"/>
                <a:cs typeface="+mn-lt"/>
              </a:rPr>
              <a:t>Symbol time offset (STO)</a:t>
            </a:r>
            <a:endParaRPr lang="en-US" dirty="0">
              <a:cs typeface="Calibri" panose="020F0502020204030204"/>
            </a:endParaRPr>
          </a:p>
          <a:p>
            <a:r>
              <a:rPr lang="en-US" dirty="0">
                <a:ea typeface="+mn-lt"/>
                <a:cs typeface="+mn-lt"/>
              </a:rPr>
              <a:t>Carrier frequency offset (CFO)</a:t>
            </a:r>
            <a:endParaRPr lang="en-US" dirty="0"/>
          </a:p>
        </p:txBody>
      </p:sp>
      <p:sp>
        <p:nvSpPr>
          <p:cNvPr id="4" name="TextBox 3">
            <a:extLst>
              <a:ext uri="{FF2B5EF4-FFF2-40B4-BE49-F238E27FC236}">
                <a16:creationId xmlns:a16="http://schemas.microsoft.com/office/drawing/2014/main" id="{A64D0D03-8CBC-AE96-F295-C222FD633D8F}"/>
              </a:ext>
            </a:extLst>
          </p:cNvPr>
          <p:cNvSpPr txBox="1"/>
          <p:nvPr/>
        </p:nvSpPr>
        <p:spPr>
          <a:xfrm>
            <a:off x="812800" y="1026160"/>
            <a:ext cx="765961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33333"/>
                </a:solidFill>
                <a:latin typeface="Georgia"/>
              </a:rPr>
              <a:t>Due to frequency-selective and time-variant property of wireless channel together with additive noise and mismatch of oscillators between transmitter and receiver, there are always time and frequency synchronization errors in a practical OFDM system. </a:t>
            </a:r>
            <a:endParaRPr lang="en-US" dirty="0">
              <a:cs typeface="Calibri" panose="020F0502020204030204"/>
            </a:endParaRPr>
          </a:p>
        </p:txBody>
      </p:sp>
    </p:spTree>
    <p:extLst>
      <p:ext uri="{BB962C8B-B14F-4D97-AF65-F5344CB8AC3E}">
        <p14:creationId xmlns:p14="http://schemas.microsoft.com/office/powerpoint/2010/main" val="4174317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90B75-69DC-EEE7-7C41-AEC8924344AF}"/>
              </a:ext>
            </a:extLst>
          </p:cNvPr>
          <p:cNvSpPr>
            <a:spLocks noGrp="1"/>
          </p:cNvSpPr>
          <p:nvPr>
            <p:ph type="title"/>
          </p:nvPr>
        </p:nvSpPr>
        <p:spPr>
          <a:xfrm>
            <a:off x="1970240" y="2430470"/>
            <a:ext cx="5450654" cy="1343215"/>
          </a:xfrm>
        </p:spPr>
        <p:txBody>
          <a:bodyPr>
            <a:normAutofit/>
          </a:bodyPr>
          <a:lstStyle/>
          <a:p>
            <a:pPr algn="ctr">
              <a:spcBef>
                <a:spcPts val="1000"/>
              </a:spcBef>
            </a:pPr>
            <a:r>
              <a:rPr lang="en-US" sz="3600" b="1" dirty="0">
                <a:latin typeface="Calibri"/>
                <a:cs typeface="Calibri"/>
              </a:rPr>
              <a:t>Symbol Time Offset </a:t>
            </a:r>
            <a:br>
              <a:rPr lang="en-US" sz="3600" b="1" dirty="0">
                <a:latin typeface="Calibri"/>
                <a:cs typeface="Calibri"/>
              </a:rPr>
            </a:br>
            <a:r>
              <a:rPr lang="en-US" sz="3600" b="1">
                <a:latin typeface="Calibri"/>
                <a:cs typeface="Calibri"/>
              </a:rPr>
              <a:t>(STO)</a:t>
            </a:r>
            <a:endParaRPr lang="en-US">
              <a:cs typeface="Calibri Light" panose="020F0302020204030204"/>
            </a:endParaRPr>
          </a:p>
          <a:p>
            <a:endParaRPr lang="en-US" sz="3600" b="1" dirty="0">
              <a:cs typeface="Calibri Light"/>
            </a:endParaRPr>
          </a:p>
        </p:txBody>
      </p:sp>
    </p:spTree>
    <p:extLst>
      <p:ext uri="{BB962C8B-B14F-4D97-AF65-F5344CB8AC3E}">
        <p14:creationId xmlns:p14="http://schemas.microsoft.com/office/powerpoint/2010/main" val="425001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D71F-F9D0-1702-FDA3-6A0AF0845AD6}"/>
              </a:ext>
            </a:extLst>
          </p:cNvPr>
          <p:cNvSpPr>
            <a:spLocks noGrp="1"/>
          </p:cNvSpPr>
          <p:nvPr>
            <p:ph type="title"/>
          </p:nvPr>
        </p:nvSpPr>
        <p:spPr>
          <a:xfrm>
            <a:off x="628650" y="365126"/>
            <a:ext cx="7886700" cy="584158"/>
          </a:xfrm>
        </p:spPr>
        <p:txBody>
          <a:bodyPr>
            <a:normAutofit fontScale="90000"/>
          </a:bodyPr>
          <a:lstStyle/>
          <a:p>
            <a:r>
              <a:rPr lang="en-US" sz="3600" b="1" dirty="0">
                <a:ea typeface="+mj-lt"/>
                <a:cs typeface="+mj-lt"/>
              </a:rPr>
              <a:t>Effect of STO</a:t>
            </a:r>
            <a:endParaRPr lang="en-US" sz="3600" b="1" dirty="0"/>
          </a:p>
        </p:txBody>
      </p:sp>
      <p:sp>
        <p:nvSpPr>
          <p:cNvPr id="3" name="Content Placeholder 2">
            <a:extLst>
              <a:ext uri="{FF2B5EF4-FFF2-40B4-BE49-F238E27FC236}">
                <a16:creationId xmlns:a16="http://schemas.microsoft.com/office/drawing/2014/main" id="{B2D9BED2-F386-6E1F-D13E-908BDE7BE692}"/>
              </a:ext>
            </a:extLst>
          </p:cNvPr>
          <p:cNvSpPr>
            <a:spLocks noGrp="1"/>
          </p:cNvSpPr>
          <p:nvPr>
            <p:ph idx="1"/>
          </p:nvPr>
        </p:nvSpPr>
        <p:spPr>
          <a:xfrm>
            <a:off x="628650" y="1075393"/>
            <a:ext cx="7886700" cy="4351338"/>
          </a:xfrm>
        </p:spPr>
        <p:txBody>
          <a:bodyPr vert="horz" lIns="91440" tIns="45720" rIns="91440" bIns="45720" rtlCol="0" anchor="t">
            <a:normAutofit/>
          </a:bodyPr>
          <a:lstStyle/>
          <a:p>
            <a:r>
              <a:rPr lang="en-US" sz="2000" dirty="0">
                <a:ea typeface="+mn-lt"/>
                <a:cs typeface="+mn-lt"/>
              </a:rPr>
              <a:t>IFFT and FFT are the fundamental functions required for the modulation and demodulation at the transmitter and receiver of OFDM systems, respectively</a:t>
            </a:r>
            <a:endParaRPr lang="en-US" sz="2000">
              <a:cs typeface="Calibri"/>
            </a:endParaRPr>
          </a:p>
        </p:txBody>
      </p:sp>
      <p:pic>
        <p:nvPicPr>
          <p:cNvPr id="4" name="Picture 4" descr="Diagram&#10;&#10;Description automatically generated">
            <a:extLst>
              <a:ext uri="{FF2B5EF4-FFF2-40B4-BE49-F238E27FC236}">
                <a16:creationId xmlns:a16="http://schemas.microsoft.com/office/drawing/2014/main" id="{9A857B13-561E-80B6-79B8-FA8097580BF8}"/>
              </a:ext>
            </a:extLst>
          </p:cNvPr>
          <p:cNvPicPr>
            <a:picLocks noChangeAspect="1"/>
          </p:cNvPicPr>
          <p:nvPr/>
        </p:nvPicPr>
        <p:blipFill>
          <a:blip r:embed="rId3"/>
          <a:stretch>
            <a:fillRect/>
          </a:stretch>
        </p:blipFill>
        <p:spPr>
          <a:xfrm>
            <a:off x="1082491" y="3503826"/>
            <a:ext cx="6807200" cy="2202563"/>
          </a:xfrm>
          <a:prstGeom prst="rect">
            <a:avLst/>
          </a:prstGeom>
        </p:spPr>
      </p:pic>
      <p:sp>
        <p:nvSpPr>
          <p:cNvPr id="5" name="TextBox 4">
            <a:extLst>
              <a:ext uri="{FF2B5EF4-FFF2-40B4-BE49-F238E27FC236}">
                <a16:creationId xmlns:a16="http://schemas.microsoft.com/office/drawing/2014/main" id="{821DCFFB-9C69-E092-9285-298F5AF2F672}"/>
              </a:ext>
            </a:extLst>
          </p:cNvPr>
          <p:cNvSpPr txBox="1"/>
          <p:nvPr/>
        </p:nvSpPr>
        <p:spPr>
          <a:xfrm>
            <a:off x="1214767" y="5628287"/>
            <a:ext cx="63804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Four different cases of OFDM symbol starting point subject to STO</a:t>
            </a:r>
          </a:p>
        </p:txBody>
      </p:sp>
      <p:sp>
        <p:nvSpPr>
          <p:cNvPr id="7" name="TextBox 6">
            <a:extLst>
              <a:ext uri="{FF2B5EF4-FFF2-40B4-BE49-F238E27FC236}">
                <a16:creationId xmlns:a16="http://schemas.microsoft.com/office/drawing/2014/main" id="{02CD6D7B-AADB-FBA1-FE3E-AD8DD93F2D43}"/>
              </a:ext>
            </a:extLst>
          </p:cNvPr>
          <p:cNvSpPr txBox="1"/>
          <p:nvPr/>
        </p:nvSpPr>
        <p:spPr>
          <a:xfrm>
            <a:off x="1080647" y="6251538"/>
            <a:ext cx="7061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In the current analysis, the effects of the noise and channel are ignored</a:t>
            </a:r>
          </a:p>
        </p:txBody>
      </p:sp>
      <p:pic>
        <p:nvPicPr>
          <p:cNvPr id="6" name="Picture 7" descr="Table&#10;&#10;Description automatically generated">
            <a:extLst>
              <a:ext uri="{FF2B5EF4-FFF2-40B4-BE49-F238E27FC236}">
                <a16:creationId xmlns:a16="http://schemas.microsoft.com/office/drawing/2014/main" id="{3BF23EE7-5E8F-F518-F283-D85A9C2F507A}"/>
              </a:ext>
            </a:extLst>
          </p:cNvPr>
          <p:cNvPicPr>
            <a:picLocks noChangeAspect="1"/>
          </p:cNvPicPr>
          <p:nvPr/>
        </p:nvPicPr>
        <p:blipFill>
          <a:blip r:embed="rId4"/>
          <a:stretch>
            <a:fillRect/>
          </a:stretch>
        </p:blipFill>
        <p:spPr>
          <a:xfrm>
            <a:off x="2900307" y="1865071"/>
            <a:ext cx="5285160" cy="1609744"/>
          </a:xfrm>
          <a:prstGeom prst="rect">
            <a:avLst/>
          </a:prstGeom>
        </p:spPr>
      </p:pic>
    </p:spTree>
    <p:extLst>
      <p:ext uri="{BB962C8B-B14F-4D97-AF65-F5344CB8AC3E}">
        <p14:creationId xmlns:p14="http://schemas.microsoft.com/office/powerpoint/2010/main" val="215718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scatter chart&#10;&#10;Description automatically generated">
            <a:extLst>
              <a:ext uri="{FF2B5EF4-FFF2-40B4-BE49-F238E27FC236}">
                <a16:creationId xmlns:a16="http://schemas.microsoft.com/office/drawing/2014/main" id="{CC72753E-DCD1-B415-EB99-2081210BC4FA}"/>
              </a:ext>
            </a:extLst>
          </p:cNvPr>
          <p:cNvPicPr>
            <a:picLocks noChangeAspect="1"/>
          </p:cNvPicPr>
          <p:nvPr/>
        </p:nvPicPr>
        <p:blipFill>
          <a:blip r:embed="rId2"/>
          <a:stretch>
            <a:fillRect/>
          </a:stretch>
        </p:blipFill>
        <p:spPr>
          <a:xfrm>
            <a:off x="1574800" y="160633"/>
            <a:ext cx="5862320" cy="3102654"/>
          </a:xfrm>
          <a:prstGeom prst="rect">
            <a:avLst/>
          </a:prstGeom>
        </p:spPr>
      </p:pic>
      <p:sp>
        <p:nvSpPr>
          <p:cNvPr id="5" name="TextBox 4">
            <a:extLst>
              <a:ext uri="{FF2B5EF4-FFF2-40B4-BE49-F238E27FC236}">
                <a16:creationId xmlns:a16="http://schemas.microsoft.com/office/drawing/2014/main" id="{A44DBE21-DDAB-470F-4CFE-16A5597A78B5}"/>
              </a:ext>
            </a:extLst>
          </p:cNvPr>
          <p:cNvSpPr txBox="1"/>
          <p:nvPr/>
        </p:nvSpPr>
        <p:spPr>
          <a:xfrm>
            <a:off x="2768600" y="6410071"/>
            <a:ext cx="34747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Signal constellation subject to STO</a:t>
            </a:r>
          </a:p>
        </p:txBody>
      </p:sp>
      <p:pic>
        <p:nvPicPr>
          <p:cNvPr id="6" name="Picture 6" descr="Chart, diagram, scatter chart&#10;&#10;Description automatically generated">
            <a:extLst>
              <a:ext uri="{FF2B5EF4-FFF2-40B4-BE49-F238E27FC236}">
                <a16:creationId xmlns:a16="http://schemas.microsoft.com/office/drawing/2014/main" id="{678FE57E-D8A0-8FF5-452A-29E6D30411D2}"/>
              </a:ext>
            </a:extLst>
          </p:cNvPr>
          <p:cNvPicPr>
            <a:picLocks noChangeAspect="1"/>
          </p:cNvPicPr>
          <p:nvPr/>
        </p:nvPicPr>
        <p:blipFill>
          <a:blip r:embed="rId3"/>
          <a:stretch>
            <a:fillRect/>
          </a:stretch>
        </p:blipFill>
        <p:spPr>
          <a:xfrm>
            <a:off x="1244600" y="3269836"/>
            <a:ext cx="6654800" cy="3133686"/>
          </a:xfrm>
          <a:prstGeom prst="rect">
            <a:avLst/>
          </a:prstGeom>
        </p:spPr>
      </p:pic>
    </p:spTree>
    <p:extLst>
      <p:ext uri="{BB962C8B-B14F-4D97-AF65-F5344CB8AC3E}">
        <p14:creationId xmlns:p14="http://schemas.microsoft.com/office/powerpoint/2010/main" val="71836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94A0C-DE42-3127-90A3-F4B43BAD3392}"/>
              </a:ext>
            </a:extLst>
          </p:cNvPr>
          <p:cNvSpPr>
            <a:spLocks noGrp="1"/>
          </p:cNvSpPr>
          <p:nvPr>
            <p:ph type="title"/>
          </p:nvPr>
        </p:nvSpPr>
        <p:spPr>
          <a:xfrm>
            <a:off x="513909" y="73860"/>
            <a:ext cx="7886700" cy="575332"/>
          </a:xfrm>
        </p:spPr>
        <p:txBody>
          <a:bodyPr>
            <a:normAutofit fontScale="90000"/>
          </a:bodyPr>
          <a:lstStyle/>
          <a:p>
            <a:r>
              <a:rPr lang="en-US" sz="3600" b="1" dirty="0">
                <a:ea typeface="+mj-lt"/>
                <a:cs typeface="+mj-lt"/>
              </a:rPr>
              <a:t>Estimation Techniques for STO</a:t>
            </a:r>
            <a:endParaRPr lang="en-US" sz="3600" b="1" dirty="0"/>
          </a:p>
        </p:txBody>
      </p:sp>
      <p:sp>
        <p:nvSpPr>
          <p:cNvPr id="4" name="TextBox 3">
            <a:extLst>
              <a:ext uri="{FF2B5EF4-FFF2-40B4-BE49-F238E27FC236}">
                <a16:creationId xmlns:a16="http://schemas.microsoft.com/office/drawing/2014/main" id="{268ED6F0-1D44-0692-7A71-3121FE8702AF}"/>
              </a:ext>
            </a:extLst>
          </p:cNvPr>
          <p:cNvSpPr txBox="1"/>
          <p:nvPr/>
        </p:nvSpPr>
        <p:spPr>
          <a:xfrm>
            <a:off x="596655" y="658439"/>
            <a:ext cx="48968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Time-Domain Estimation Techniques for STO</a:t>
            </a:r>
          </a:p>
        </p:txBody>
      </p:sp>
      <p:sp>
        <p:nvSpPr>
          <p:cNvPr id="5" name="TextBox 4">
            <a:extLst>
              <a:ext uri="{FF2B5EF4-FFF2-40B4-BE49-F238E27FC236}">
                <a16:creationId xmlns:a16="http://schemas.microsoft.com/office/drawing/2014/main" id="{84FB5E26-6318-3F06-63C4-ECAF02F80B2C}"/>
              </a:ext>
            </a:extLst>
          </p:cNvPr>
          <p:cNvSpPr txBox="1"/>
          <p:nvPr/>
        </p:nvSpPr>
        <p:spPr>
          <a:xfrm>
            <a:off x="4771474" y="114388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 Using Cyclic Prefix (CP)</a:t>
            </a:r>
            <a:endParaRPr lang="en-US"/>
          </a:p>
        </p:txBody>
      </p:sp>
      <p:sp>
        <p:nvSpPr>
          <p:cNvPr id="6" name="TextBox 5">
            <a:extLst>
              <a:ext uri="{FF2B5EF4-FFF2-40B4-BE49-F238E27FC236}">
                <a16:creationId xmlns:a16="http://schemas.microsoft.com/office/drawing/2014/main" id="{3603D0B4-1350-7391-3FFC-2662FC785001}"/>
              </a:ext>
            </a:extLst>
          </p:cNvPr>
          <p:cNvSpPr txBox="1"/>
          <p:nvPr/>
        </p:nvSpPr>
        <p:spPr>
          <a:xfrm>
            <a:off x="1020315" y="324453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Using Training Symbol</a:t>
            </a:r>
          </a:p>
        </p:txBody>
      </p:sp>
      <p:pic>
        <p:nvPicPr>
          <p:cNvPr id="3" name="Picture 7" descr="Diagram&#10;&#10;Description automatically generated">
            <a:extLst>
              <a:ext uri="{FF2B5EF4-FFF2-40B4-BE49-F238E27FC236}">
                <a16:creationId xmlns:a16="http://schemas.microsoft.com/office/drawing/2014/main" id="{2751D2FB-22F5-AC14-BA93-856A75D0DB10}"/>
              </a:ext>
            </a:extLst>
          </p:cNvPr>
          <p:cNvPicPr>
            <a:picLocks noChangeAspect="1"/>
          </p:cNvPicPr>
          <p:nvPr/>
        </p:nvPicPr>
        <p:blipFill>
          <a:blip r:embed="rId2"/>
          <a:stretch>
            <a:fillRect/>
          </a:stretch>
        </p:blipFill>
        <p:spPr>
          <a:xfrm>
            <a:off x="1541063" y="1503774"/>
            <a:ext cx="6467880" cy="1635063"/>
          </a:xfrm>
          <a:prstGeom prst="rect">
            <a:avLst/>
          </a:prstGeom>
        </p:spPr>
      </p:pic>
      <p:pic>
        <p:nvPicPr>
          <p:cNvPr id="8" name="Picture 8" descr="Diagram&#10;&#10;Description automatically generated">
            <a:extLst>
              <a:ext uri="{FF2B5EF4-FFF2-40B4-BE49-F238E27FC236}">
                <a16:creationId xmlns:a16="http://schemas.microsoft.com/office/drawing/2014/main" id="{E4E800A9-8661-16AB-B303-FADCE2CA65E7}"/>
              </a:ext>
            </a:extLst>
          </p:cNvPr>
          <p:cNvPicPr>
            <a:picLocks noChangeAspect="1"/>
          </p:cNvPicPr>
          <p:nvPr/>
        </p:nvPicPr>
        <p:blipFill>
          <a:blip r:embed="rId3"/>
          <a:stretch>
            <a:fillRect/>
          </a:stretch>
        </p:blipFill>
        <p:spPr>
          <a:xfrm>
            <a:off x="826137" y="3570913"/>
            <a:ext cx="6194264" cy="2161046"/>
          </a:xfrm>
          <a:prstGeom prst="rect">
            <a:avLst/>
          </a:prstGeom>
        </p:spPr>
      </p:pic>
      <p:pic>
        <p:nvPicPr>
          <p:cNvPr id="9" name="Picture 9">
            <a:extLst>
              <a:ext uri="{FF2B5EF4-FFF2-40B4-BE49-F238E27FC236}">
                <a16:creationId xmlns:a16="http://schemas.microsoft.com/office/drawing/2014/main" id="{9688AD76-93B4-F619-557B-3B6B505A697E}"/>
              </a:ext>
            </a:extLst>
          </p:cNvPr>
          <p:cNvPicPr>
            <a:picLocks noChangeAspect="1"/>
          </p:cNvPicPr>
          <p:nvPr/>
        </p:nvPicPr>
        <p:blipFill>
          <a:blip r:embed="rId4"/>
          <a:stretch>
            <a:fillRect/>
          </a:stretch>
        </p:blipFill>
        <p:spPr>
          <a:xfrm>
            <a:off x="2388384" y="5726719"/>
            <a:ext cx="3899439" cy="241349"/>
          </a:xfrm>
          <a:prstGeom prst="rect">
            <a:avLst/>
          </a:prstGeom>
        </p:spPr>
      </p:pic>
      <p:sp>
        <p:nvSpPr>
          <p:cNvPr id="10" name="TextBox 9">
            <a:extLst>
              <a:ext uri="{FF2B5EF4-FFF2-40B4-BE49-F238E27FC236}">
                <a16:creationId xmlns:a16="http://schemas.microsoft.com/office/drawing/2014/main" id="{F7278623-F6E4-0445-8523-DE0CA0BD7E55}"/>
              </a:ext>
            </a:extLst>
          </p:cNvPr>
          <p:cNvSpPr txBox="1"/>
          <p:nvPr/>
        </p:nvSpPr>
        <p:spPr>
          <a:xfrm>
            <a:off x="4250725" y="3147442"/>
            <a:ext cx="375821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STO estimation technique using double sliding windows</a:t>
            </a:r>
          </a:p>
        </p:txBody>
      </p:sp>
      <p:sp>
        <p:nvSpPr>
          <p:cNvPr id="11" name="TextBox 10">
            <a:extLst>
              <a:ext uri="{FF2B5EF4-FFF2-40B4-BE49-F238E27FC236}">
                <a16:creationId xmlns:a16="http://schemas.microsoft.com/office/drawing/2014/main" id="{FC26EF8B-EB99-AD76-D767-35DC9138BA81}"/>
              </a:ext>
            </a:extLst>
          </p:cNvPr>
          <p:cNvSpPr txBox="1"/>
          <p:nvPr/>
        </p:nvSpPr>
        <p:spPr>
          <a:xfrm>
            <a:off x="985010" y="6086585"/>
            <a:ext cx="79418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cs typeface="Calibri"/>
              </a:rPr>
              <a:t>Correlation-based Estimation: </a:t>
            </a:r>
            <a:r>
              <a:rPr lang="en-US" dirty="0">
                <a:ea typeface="+mn-lt"/>
                <a:cs typeface="+mn-lt"/>
              </a:rPr>
              <a:t>use the cross-correlation between the</a:t>
            </a:r>
            <a:endParaRPr lang="en-US">
              <a:cs typeface="Calibri"/>
            </a:endParaRPr>
          </a:p>
          <a:p>
            <a:r>
              <a:rPr lang="en-US" dirty="0">
                <a:ea typeface="+mn-lt"/>
                <a:cs typeface="+mn-lt"/>
              </a:rPr>
              <a:t>      training symbol and received signal</a:t>
            </a:r>
            <a:endParaRPr lang="en-US" dirty="0"/>
          </a:p>
        </p:txBody>
      </p:sp>
    </p:spTree>
    <p:extLst>
      <p:ext uri="{BB962C8B-B14F-4D97-AF65-F5344CB8AC3E}">
        <p14:creationId xmlns:p14="http://schemas.microsoft.com/office/powerpoint/2010/main" val="619851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B928B52D-4C56-CF03-2C3D-5928EED4BD7A}"/>
              </a:ext>
            </a:extLst>
          </p:cNvPr>
          <p:cNvSpPr txBox="1"/>
          <p:nvPr/>
        </p:nvSpPr>
        <p:spPr>
          <a:xfrm>
            <a:off x="570177" y="58254"/>
            <a:ext cx="8012473"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b="1" dirty="0"/>
              <a:t>Frequency-Domain Estimation Techniques for STO</a:t>
            </a:r>
          </a:p>
        </p:txBody>
      </p:sp>
      <p:pic>
        <p:nvPicPr>
          <p:cNvPr id="5" name="Picture 5" descr="Diagram&#10;&#10;Description automatically generated">
            <a:extLst>
              <a:ext uri="{FF2B5EF4-FFF2-40B4-BE49-F238E27FC236}">
                <a16:creationId xmlns:a16="http://schemas.microsoft.com/office/drawing/2014/main" id="{2B7EFBBA-7539-753C-CC4D-EBA3D33384E4}"/>
              </a:ext>
            </a:extLst>
          </p:cNvPr>
          <p:cNvPicPr>
            <a:picLocks noChangeAspect="1"/>
          </p:cNvPicPr>
          <p:nvPr/>
        </p:nvPicPr>
        <p:blipFill>
          <a:blip r:embed="rId3"/>
          <a:stretch>
            <a:fillRect/>
          </a:stretch>
        </p:blipFill>
        <p:spPr>
          <a:xfrm>
            <a:off x="467125" y="1219832"/>
            <a:ext cx="8418482" cy="1895826"/>
          </a:xfrm>
          <a:prstGeom prst="rect">
            <a:avLst/>
          </a:prstGeom>
        </p:spPr>
      </p:pic>
      <p:pic>
        <p:nvPicPr>
          <p:cNvPr id="3" name="Picture 2">
            <a:extLst>
              <a:ext uri="{FF2B5EF4-FFF2-40B4-BE49-F238E27FC236}">
                <a16:creationId xmlns:a16="http://schemas.microsoft.com/office/drawing/2014/main" id="{C64C8270-940D-BE10-1DB1-E3973676ADFB}"/>
              </a:ext>
            </a:extLst>
          </p:cNvPr>
          <p:cNvPicPr>
            <a:picLocks noChangeAspect="1"/>
          </p:cNvPicPr>
          <p:nvPr/>
        </p:nvPicPr>
        <p:blipFill>
          <a:blip r:embed="rId4"/>
          <a:stretch>
            <a:fillRect/>
          </a:stretch>
        </p:blipFill>
        <p:spPr>
          <a:xfrm>
            <a:off x="1910980" y="3017139"/>
            <a:ext cx="5139159" cy="3599727"/>
          </a:xfrm>
          <a:prstGeom prst="rect">
            <a:avLst/>
          </a:prstGeom>
        </p:spPr>
      </p:pic>
    </p:spTree>
    <p:extLst>
      <p:ext uri="{BB962C8B-B14F-4D97-AF65-F5344CB8AC3E}">
        <p14:creationId xmlns:p14="http://schemas.microsoft.com/office/powerpoint/2010/main" val="2553109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EE329-2713-7C0F-273D-58191F062E23}"/>
              </a:ext>
            </a:extLst>
          </p:cNvPr>
          <p:cNvSpPr>
            <a:spLocks noGrp="1"/>
          </p:cNvSpPr>
          <p:nvPr>
            <p:ph type="title"/>
          </p:nvPr>
        </p:nvSpPr>
        <p:spPr>
          <a:xfrm>
            <a:off x="672781" y="2730562"/>
            <a:ext cx="7886700" cy="1325563"/>
          </a:xfrm>
        </p:spPr>
        <p:txBody>
          <a:bodyPr>
            <a:normAutofit/>
          </a:bodyPr>
          <a:lstStyle/>
          <a:p>
            <a:pPr algn="ctr">
              <a:spcBef>
                <a:spcPts val="1000"/>
              </a:spcBef>
            </a:pPr>
            <a:r>
              <a:rPr lang="en-US" sz="3600" b="1" dirty="0">
                <a:latin typeface="Calibri"/>
                <a:cs typeface="Calibri"/>
              </a:rPr>
              <a:t>Carrier Frequency Offset </a:t>
            </a:r>
            <a:br>
              <a:rPr lang="en-US" sz="3600" b="1" dirty="0">
                <a:latin typeface="Calibri"/>
                <a:cs typeface="Calibri"/>
              </a:rPr>
            </a:br>
            <a:r>
              <a:rPr lang="en-US" sz="3600" b="1" dirty="0">
                <a:latin typeface="Calibri"/>
                <a:cs typeface="Calibri"/>
              </a:rPr>
              <a:t>(CFO)</a:t>
            </a:r>
            <a:endParaRPr lang="en-US" sz="3600" b="1" dirty="0">
              <a:cs typeface="Calibri Light"/>
            </a:endParaRPr>
          </a:p>
          <a:p>
            <a:endParaRPr lang="en-US" sz="3600" b="1" dirty="0">
              <a:cs typeface="Calibri Light"/>
            </a:endParaRPr>
          </a:p>
        </p:txBody>
      </p:sp>
    </p:spTree>
    <p:extLst>
      <p:ext uri="{BB962C8B-B14F-4D97-AF65-F5344CB8AC3E}">
        <p14:creationId xmlns:p14="http://schemas.microsoft.com/office/powerpoint/2010/main" val="2217514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641CF-6457-E318-4A8D-D75C4B17DC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7CC75F-BA7B-B5B7-4E10-3BC4B6F09151}"/>
              </a:ext>
            </a:extLst>
          </p:cNvPr>
          <p:cNvSpPr>
            <a:spLocks noGrp="1"/>
          </p:cNvSpPr>
          <p:nvPr>
            <p:ph idx="1"/>
          </p:nvPr>
        </p:nvSpPr>
        <p:spPr/>
        <p:txBody>
          <a:bodyPr/>
          <a:lstStyle/>
          <a:p>
            <a:pPr algn="l"/>
            <a:r>
              <a:rPr lang="en-US" sz="1800" b="0" i="0" u="none" strike="noStrike" baseline="0" dirty="0">
                <a:latin typeface="AdvP41153C"/>
              </a:rPr>
              <a:t>In general, there are two types of distortion associated with the carrier signal .</a:t>
            </a:r>
          </a:p>
          <a:p>
            <a:pPr algn="l"/>
            <a:r>
              <a:rPr lang="en-US" sz="1800" b="0" i="0" u="none" strike="noStrike" baseline="0" dirty="0">
                <a:latin typeface="AdvP41153C"/>
              </a:rPr>
              <a:t> One is the phase noise due to the instability of carrier signal generators used at the transmitter and receiver </a:t>
            </a:r>
          </a:p>
          <a:p>
            <a:pPr algn="l"/>
            <a:r>
              <a:rPr lang="en-US" sz="1800" b="0" i="0" u="none" strike="noStrike" baseline="0" dirty="0">
                <a:latin typeface="AdvP41153C"/>
              </a:rPr>
              <a:t>The other is the carrier frequency offset (CFO) caused by Doppler frequency</a:t>
            </a:r>
            <a:endParaRPr lang="en-US" dirty="0"/>
          </a:p>
        </p:txBody>
      </p:sp>
    </p:spTree>
    <p:extLst>
      <p:ext uri="{BB962C8B-B14F-4D97-AF65-F5344CB8AC3E}">
        <p14:creationId xmlns:p14="http://schemas.microsoft.com/office/powerpoint/2010/main" val="2229168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7AA3D-DDC9-4E15-0913-2ED66051FC42}"/>
              </a:ext>
            </a:extLst>
          </p:cNvPr>
          <p:cNvSpPr>
            <a:spLocks noGrp="1"/>
          </p:cNvSpPr>
          <p:nvPr>
            <p:ph type="title"/>
          </p:nvPr>
        </p:nvSpPr>
        <p:spPr>
          <a:xfrm>
            <a:off x="628650" y="365126"/>
            <a:ext cx="7886700" cy="548853"/>
          </a:xfrm>
        </p:spPr>
        <p:txBody>
          <a:bodyPr>
            <a:normAutofit fontScale="90000"/>
          </a:bodyPr>
          <a:lstStyle/>
          <a:p>
            <a:r>
              <a:rPr lang="en-US" sz="3600" b="1" dirty="0">
                <a:ea typeface="+mj-lt"/>
                <a:cs typeface="+mj-lt"/>
              </a:rPr>
              <a:t>Effect of CFO</a:t>
            </a:r>
            <a:endParaRPr lang="en-US" sz="3600" b="1" dirty="0"/>
          </a:p>
        </p:txBody>
      </p:sp>
      <p:sp>
        <p:nvSpPr>
          <p:cNvPr id="3" name="Content Placeholder 2">
            <a:extLst>
              <a:ext uri="{FF2B5EF4-FFF2-40B4-BE49-F238E27FC236}">
                <a16:creationId xmlns:a16="http://schemas.microsoft.com/office/drawing/2014/main" id="{8B81ECC1-AEF4-C4A8-66C5-DD7E1F58F596}"/>
              </a:ext>
            </a:extLst>
          </p:cNvPr>
          <p:cNvSpPr>
            <a:spLocks noGrp="1"/>
          </p:cNvSpPr>
          <p:nvPr>
            <p:ph idx="1"/>
          </p:nvPr>
        </p:nvSpPr>
        <p:spPr>
          <a:xfrm>
            <a:off x="699770" y="2124031"/>
            <a:ext cx="7907020" cy="2075498"/>
          </a:xfrm>
        </p:spPr>
        <p:txBody>
          <a:bodyPr vert="horz" lIns="91440" tIns="45720" rIns="91440" bIns="45720" rtlCol="0" anchor="t">
            <a:normAutofit/>
          </a:bodyPr>
          <a:lstStyle/>
          <a:p>
            <a:r>
              <a:rPr lang="en-US" sz="2000" dirty="0">
                <a:ea typeface="+mn-lt"/>
                <a:cs typeface="+mn-lt"/>
              </a:rPr>
              <a:t>Frequency mismatched in the transmitter and the receiver oscillator; </a:t>
            </a:r>
            <a:endParaRPr lang="en-US" sz="2000" dirty="0"/>
          </a:p>
          <a:p>
            <a:endParaRPr lang="en-US" sz="2000" dirty="0">
              <a:ea typeface="+mn-lt"/>
              <a:cs typeface="+mn-lt"/>
            </a:endParaRPr>
          </a:p>
          <a:p>
            <a:r>
              <a:rPr lang="en-US" sz="2000" dirty="0">
                <a:ea typeface="+mn-lt"/>
                <a:cs typeface="+mn-lt"/>
              </a:rPr>
              <a:t>Inter Carrier Interference (ICI); </a:t>
            </a:r>
          </a:p>
          <a:p>
            <a:endParaRPr lang="en-US" sz="2000" dirty="0">
              <a:ea typeface="+mn-lt"/>
              <a:cs typeface="+mn-lt"/>
            </a:endParaRPr>
          </a:p>
          <a:p>
            <a:r>
              <a:rPr lang="en-US" sz="2000" dirty="0">
                <a:ea typeface="+mn-lt"/>
                <a:cs typeface="+mn-lt"/>
              </a:rPr>
              <a:t>Doppler Effect (DE).</a:t>
            </a:r>
            <a:endParaRPr lang="en-US" sz="2000" dirty="0">
              <a:cs typeface="Calibri"/>
            </a:endParaRPr>
          </a:p>
        </p:txBody>
      </p:sp>
      <p:pic>
        <p:nvPicPr>
          <p:cNvPr id="4" name="Picture 4">
            <a:extLst>
              <a:ext uri="{FF2B5EF4-FFF2-40B4-BE49-F238E27FC236}">
                <a16:creationId xmlns:a16="http://schemas.microsoft.com/office/drawing/2014/main" id="{AA8B3B9C-2F1F-C7F9-859E-8D6FC7A7E4C8}"/>
              </a:ext>
            </a:extLst>
          </p:cNvPr>
          <p:cNvPicPr>
            <a:picLocks noChangeAspect="1"/>
          </p:cNvPicPr>
          <p:nvPr/>
        </p:nvPicPr>
        <p:blipFill>
          <a:blip r:embed="rId2"/>
          <a:stretch>
            <a:fillRect/>
          </a:stretch>
        </p:blipFill>
        <p:spPr>
          <a:xfrm>
            <a:off x="3495040" y="175192"/>
            <a:ext cx="5110480" cy="1945776"/>
          </a:xfrm>
          <a:prstGeom prst="rect">
            <a:avLst/>
          </a:prstGeom>
        </p:spPr>
      </p:pic>
      <p:pic>
        <p:nvPicPr>
          <p:cNvPr id="5" name="Picture 5" descr="Diagram&#10;&#10;Description automatically generated">
            <a:extLst>
              <a:ext uri="{FF2B5EF4-FFF2-40B4-BE49-F238E27FC236}">
                <a16:creationId xmlns:a16="http://schemas.microsoft.com/office/drawing/2014/main" id="{9B9029AF-D11D-7E27-21CA-05A4C2DD8924}"/>
              </a:ext>
            </a:extLst>
          </p:cNvPr>
          <p:cNvPicPr>
            <a:picLocks noChangeAspect="1"/>
          </p:cNvPicPr>
          <p:nvPr/>
        </p:nvPicPr>
        <p:blipFill>
          <a:blip r:embed="rId3"/>
          <a:stretch>
            <a:fillRect/>
          </a:stretch>
        </p:blipFill>
        <p:spPr>
          <a:xfrm>
            <a:off x="4003040" y="2802939"/>
            <a:ext cx="4663440" cy="3375561"/>
          </a:xfrm>
          <a:prstGeom prst="rect">
            <a:avLst/>
          </a:prstGeom>
        </p:spPr>
      </p:pic>
      <p:pic>
        <p:nvPicPr>
          <p:cNvPr id="6" name="Picture 6" descr="A picture containing text, clock, watch&#10;&#10;Description automatically generated">
            <a:extLst>
              <a:ext uri="{FF2B5EF4-FFF2-40B4-BE49-F238E27FC236}">
                <a16:creationId xmlns:a16="http://schemas.microsoft.com/office/drawing/2014/main" id="{25D64D65-FEAD-47CD-D130-C9EFC4D6B5FF}"/>
              </a:ext>
            </a:extLst>
          </p:cNvPr>
          <p:cNvPicPr>
            <a:picLocks noChangeAspect="1"/>
          </p:cNvPicPr>
          <p:nvPr/>
        </p:nvPicPr>
        <p:blipFill>
          <a:blip r:embed="rId4"/>
          <a:stretch>
            <a:fillRect/>
          </a:stretch>
        </p:blipFill>
        <p:spPr>
          <a:xfrm>
            <a:off x="725236" y="4274387"/>
            <a:ext cx="2419350" cy="733425"/>
          </a:xfrm>
          <a:prstGeom prst="rect">
            <a:avLst/>
          </a:prstGeom>
        </p:spPr>
      </p:pic>
      <p:pic>
        <p:nvPicPr>
          <p:cNvPr id="7" name="Picture 7" descr="A picture containing diagram&#10;&#10;Description automatically generated">
            <a:extLst>
              <a:ext uri="{FF2B5EF4-FFF2-40B4-BE49-F238E27FC236}">
                <a16:creationId xmlns:a16="http://schemas.microsoft.com/office/drawing/2014/main" id="{1830E3CF-EBD2-D2C3-875D-DE5CE3555D8F}"/>
              </a:ext>
            </a:extLst>
          </p:cNvPr>
          <p:cNvPicPr>
            <a:picLocks noChangeAspect="1"/>
          </p:cNvPicPr>
          <p:nvPr/>
        </p:nvPicPr>
        <p:blipFill>
          <a:blip r:embed="rId5"/>
          <a:stretch>
            <a:fillRect/>
          </a:stretch>
        </p:blipFill>
        <p:spPr>
          <a:xfrm>
            <a:off x="4522345" y="5965552"/>
            <a:ext cx="1527935" cy="891856"/>
          </a:xfrm>
          <a:prstGeom prst="rect">
            <a:avLst/>
          </a:prstGeom>
        </p:spPr>
      </p:pic>
      <p:pic>
        <p:nvPicPr>
          <p:cNvPr id="8" name="Picture 8" descr="A picture containing box and whisker chart&#10;&#10;Description automatically generated">
            <a:extLst>
              <a:ext uri="{FF2B5EF4-FFF2-40B4-BE49-F238E27FC236}">
                <a16:creationId xmlns:a16="http://schemas.microsoft.com/office/drawing/2014/main" id="{33807325-EAB7-59AE-BE29-11569119BF67}"/>
              </a:ext>
            </a:extLst>
          </p:cNvPr>
          <p:cNvPicPr>
            <a:picLocks noChangeAspect="1"/>
          </p:cNvPicPr>
          <p:nvPr/>
        </p:nvPicPr>
        <p:blipFill>
          <a:blip r:embed="rId6"/>
          <a:stretch>
            <a:fillRect/>
          </a:stretch>
        </p:blipFill>
        <p:spPr>
          <a:xfrm>
            <a:off x="513743" y="4941452"/>
            <a:ext cx="1514475" cy="876300"/>
          </a:xfrm>
          <a:prstGeom prst="rect">
            <a:avLst/>
          </a:prstGeom>
        </p:spPr>
      </p:pic>
      <p:sp>
        <p:nvSpPr>
          <p:cNvPr id="10" name="TextBox 9">
            <a:extLst>
              <a:ext uri="{FF2B5EF4-FFF2-40B4-BE49-F238E27FC236}">
                <a16:creationId xmlns:a16="http://schemas.microsoft.com/office/drawing/2014/main" id="{0B3E1396-8274-5CED-37CF-BF58507C8AA1}"/>
              </a:ext>
            </a:extLst>
          </p:cNvPr>
          <p:cNvSpPr txBox="1"/>
          <p:nvPr/>
        </p:nvSpPr>
        <p:spPr>
          <a:xfrm>
            <a:off x="725236" y="6036477"/>
            <a:ext cx="4572000" cy="646331"/>
          </a:xfrm>
          <a:prstGeom prst="rect">
            <a:avLst/>
          </a:prstGeom>
          <a:noFill/>
        </p:spPr>
        <p:txBody>
          <a:bodyPr wrap="square">
            <a:spAutoFit/>
          </a:bodyPr>
          <a:lstStyle/>
          <a:p>
            <a:pPr algn="l"/>
            <a:r>
              <a:rPr lang="en-US" sz="1800" b="0" i="0" u="none" strike="noStrike" baseline="0" dirty="0">
                <a:latin typeface="AdvP41153C"/>
              </a:rPr>
              <a:t>normalized CFO, as a ratio of the CFO to</a:t>
            </a:r>
          </a:p>
          <a:p>
            <a:pPr algn="l"/>
            <a:r>
              <a:rPr lang="en-US" sz="1800" b="0" i="0" u="none" strike="noStrike" baseline="0" dirty="0">
                <a:latin typeface="AdvP41153C"/>
              </a:rPr>
              <a:t>subcarrier spacing  shown as</a:t>
            </a:r>
            <a:endParaRPr lang="en-US" dirty="0"/>
          </a:p>
        </p:txBody>
      </p:sp>
    </p:spTree>
    <p:extLst>
      <p:ext uri="{BB962C8B-B14F-4D97-AF65-F5344CB8AC3E}">
        <p14:creationId xmlns:p14="http://schemas.microsoft.com/office/powerpoint/2010/main" val="2290591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75420"/>
            <a:ext cx="9036544" cy="4093306"/>
            <a:chOff x="1" y="2075420"/>
            <a:chExt cx="12048729" cy="4093306"/>
          </a:xfrm>
        </p:grpSpPr>
        <p:sp>
          <p:nvSpPr>
            <p:cNvPr id="17" name="Oval 16">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79052" y="1131512"/>
            <a:ext cx="2796461" cy="533439"/>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44654" y="317578"/>
            <a:ext cx="41148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140785"/>
            <a:ext cx="4571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45785" y="5940560"/>
            <a:ext cx="1285875" cy="549007"/>
            <a:chOff x="7029447" y="3514725"/>
            <a:chExt cx="1285875" cy="549007"/>
          </a:xfrm>
        </p:grpSpPr>
        <p:cxnSp>
          <p:nvCxnSpPr>
            <p:cNvPr id="35" name="Straight Connector 34">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A912917-BB8E-F179-EDBF-CE7C7130B024}"/>
              </a:ext>
            </a:extLst>
          </p:cNvPr>
          <p:cNvSpPr>
            <a:spLocks noGrp="1"/>
          </p:cNvSpPr>
          <p:nvPr>
            <p:ph type="title"/>
          </p:nvPr>
        </p:nvSpPr>
        <p:spPr>
          <a:xfrm>
            <a:off x="725455" y="213961"/>
            <a:ext cx="7714454" cy="2129586"/>
          </a:xfrm>
          <a:noFill/>
        </p:spPr>
        <p:txBody>
          <a:bodyPr vert="horz" lIns="91440" tIns="45720" rIns="91440" bIns="45720" rtlCol="0" anchor="t">
            <a:normAutofit/>
          </a:bodyPr>
          <a:lstStyle/>
          <a:p>
            <a:r>
              <a:rPr lang="en-US" sz="3600" b="0" i="0" u="none" strike="noStrike" kern="1200" baseline="0" dirty="0">
                <a:solidFill>
                  <a:schemeClr val="bg1"/>
                </a:solidFill>
                <a:latin typeface="+mj-lt"/>
                <a:ea typeface="+mj-ea"/>
                <a:cs typeface="+mj-cs"/>
              </a:rPr>
              <a:t>Doppler frequency and normalized CFO: An example.</a:t>
            </a:r>
            <a:endParaRPr lang="en-US" sz="3600" kern="1200" dirty="0">
              <a:solidFill>
                <a:schemeClr val="bg1"/>
              </a:solidFill>
              <a:latin typeface="+mj-lt"/>
              <a:ea typeface="+mj-ea"/>
              <a:cs typeface="+mj-cs"/>
            </a:endParaRPr>
          </a:p>
        </p:txBody>
      </p:sp>
      <p:pic>
        <p:nvPicPr>
          <p:cNvPr id="5" name="Picture 4">
            <a:extLst>
              <a:ext uri="{FF2B5EF4-FFF2-40B4-BE49-F238E27FC236}">
                <a16:creationId xmlns:a16="http://schemas.microsoft.com/office/drawing/2014/main" id="{6F57A6E8-2511-8284-B8C7-8F99492FDFE8}"/>
              </a:ext>
            </a:extLst>
          </p:cNvPr>
          <p:cNvPicPr>
            <a:picLocks noChangeAspect="1"/>
          </p:cNvPicPr>
          <p:nvPr/>
        </p:nvPicPr>
        <p:blipFill>
          <a:blip r:embed="rId2"/>
          <a:stretch>
            <a:fillRect/>
          </a:stretch>
        </p:blipFill>
        <p:spPr>
          <a:xfrm>
            <a:off x="475978" y="1746240"/>
            <a:ext cx="8132299" cy="1789801"/>
          </a:xfrm>
          <a:prstGeom prst="rect">
            <a:avLst/>
          </a:prstGeom>
        </p:spPr>
      </p:pic>
      <p:grpSp>
        <p:nvGrpSpPr>
          <p:cNvPr id="40" name="Group 39">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17544" y="830625"/>
            <a:ext cx="304800" cy="322326"/>
            <a:chOff x="215328" y="-46937"/>
            <a:chExt cx="304800" cy="2773841"/>
          </a:xfrm>
        </p:grpSpPr>
        <p:cxnSp>
          <p:nvCxnSpPr>
            <p:cNvPr id="41" name="Straight Connector 40">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7613133" y="4270841"/>
            <a:ext cx="1423414"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E1CEBB4-1F38-E96F-69EE-537AC7ED48FE}"/>
              </a:ext>
            </a:extLst>
          </p:cNvPr>
          <p:cNvSpPr txBox="1"/>
          <p:nvPr/>
        </p:nvSpPr>
        <p:spPr>
          <a:xfrm>
            <a:off x="549008" y="4018143"/>
            <a:ext cx="8466968" cy="2129599"/>
          </a:xfrm>
          <a:prstGeom prst="rect">
            <a:avLst/>
          </a:prstGeom>
          <a:noFill/>
        </p:spPr>
        <p:txBody>
          <a:bodyPr vert="horz" lIns="91440" tIns="45720" rIns="91440" bIns="45720" rtlCol="0" anchor="t">
            <a:noAutofit/>
          </a:bodyPr>
          <a:lstStyle/>
          <a:p>
            <a:pPr indent="-228600" defTabSz="914400">
              <a:lnSpc>
                <a:spcPct val="90000"/>
              </a:lnSpc>
              <a:spcAft>
                <a:spcPts val="600"/>
              </a:spcAft>
              <a:buFont typeface="Arial" panose="020B0604020202020204" pitchFamily="34" charset="0"/>
              <a:buChar char="•"/>
            </a:pPr>
            <a:r>
              <a:rPr lang="en-US" sz="2400" b="0" i="0" u="none" strike="noStrike" baseline="0" dirty="0">
                <a:solidFill>
                  <a:schemeClr val="bg1"/>
                </a:solidFill>
              </a:rPr>
              <a:t>Table  presents examples of the Doppler frequency and normalized CFO at the mobile speed of 120 km/h for different commercial systems, each of which employs different carrier frequency.</a:t>
            </a:r>
            <a:endParaRPr lang="en-US" sz="2400" dirty="0">
              <a:solidFill>
                <a:schemeClr val="bg1"/>
              </a:solidFill>
            </a:endParaRPr>
          </a:p>
        </p:txBody>
      </p:sp>
    </p:spTree>
    <p:extLst>
      <p:ext uri="{BB962C8B-B14F-4D97-AF65-F5344CB8AC3E}">
        <p14:creationId xmlns:p14="http://schemas.microsoft.com/office/powerpoint/2010/main" val="729681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F1AD89D-C55E-C3A3-9E4D-8DDB0B8C0DFA}"/>
              </a:ext>
            </a:extLst>
          </p:cNvPr>
          <p:cNvSpPr txBox="1">
            <a:spLocks/>
          </p:cNvSpPr>
          <p:nvPr/>
        </p:nvSpPr>
        <p:spPr>
          <a:xfrm>
            <a:off x="628650" y="365126"/>
            <a:ext cx="7886700" cy="54885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ea typeface="+mj-lt"/>
                <a:cs typeface="+mj-lt"/>
              </a:rPr>
              <a:t>Effect of CFO</a:t>
            </a:r>
            <a:endParaRPr lang="en-US" sz="3600" b="1" dirty="0"/>
          </a:p>
        </p:txBody>
      </p:sp>
      <p:pic>
        <p:nvPicPr>
          <p:cNvPr id="6" name="Picture 6" descr="Table&#10;&#10;Description automatically generated">
            <a:extLst>
              <a:ext uri="{FF2B5EF4-FFF2-40B4-BE49-F238E27FC236}">
                <a16:creationId xmlns:a16="http://schemas.microsoft.com/office/drawing/2014/main" id="{80ED460F-D9C4-054C-DF84-03087948172D}"/>
              </a:ext>
            </a:extLst>
          </p:cNvPr>
          <p:cNvPicPr>
            <a:picLocks noChangeAspect="1"/>
          </p:cNvPicPr>
          <p:nvPr/>
        </p:nvPicPr>
        <p:blipFill>
          <a:blip r:embed="rId2"/>
          <a:stretch>
            <a:fillRect/>
          </a:stretch>
        </p:blipFill>
        <p:spPr>
          <a:xfrm>
            <a:off x="1611674" y="1176274"/>
            <a:ext cx="6300180" cy="1760487"/>
          </a:xfrm>
          <a:prstGeom prst="rect">
            <a:avLst/>
          </a:prstGeom>
        </p:spPr>
      </p:pic>
      <p:pic>
        <p:nvPicPr>
          <p:cNvPr id="7" name="Picture 7" descr="Diagram&#10;&#10;Description automatically generated">
            <a:extLst>
              <a:ext uri="{FF2B5EF4-FFF2-40B4-BE49-F238E27FC236}">
                <a16:creationId xmlns:a16="http://schemas.microsoft.com/office/drawing/2014/main" id="{DDD742DD-F093-0C42-DED7-1450F8456D82}"/>
              </a:ext>
            </a:extLst>
          </p:cNvPr>
          <p:cNvPicPr>
            <a:picLocks noChangeAspect="1"/>
          </p:cNvPicPr>
          <p:nvPr/>
        </p:nvPicPr>
        <p:blipFill>
          <a:blip r:embed="rId3"/>
          <a:stretch>
            <a:fillRect/>
          </a:stretch>
        </p:blipFill>
        <p:spPr>
          <a:xfrm>
            <a:off x="3906500" y="3273770"/>
            <a:ext cx="4384883" cy="2446412"/>
          </a:xfrm>
          <a:prstGeom prst="rect">
            <a:avLst/>
          </a:prstGeom>
        </p:spPr>
      </p:pic>
      <p:sp>
        <p:nvSpPr>
          <p:cNvPr id="8" name="TextBox 7">
            <a:extLst>
              <a:ext uri="{FF2B5EF4-FFF2-40B4-BE49-F238E27FC236}">
                <a16:creationId xmlns:a16="http://schemas.microsoft.com/office/drawing/2014/main" id="{E2E21934-52B2-9395-5B87-D78E660BF6C8}"/>
              </a:ext>
            </a:extLst>
          </p:cNvPr>
          <p:cNvSpPr txBox="1"/>
          <p:nvPr/>
        </p:nvSpPr>
        <p:spPr>
          <a:xfrm>
            <a:off x="4356640" y="5715883"/>
            <a:ext cx="44554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Inter-carrier interference (ICI) subject to CFO</a:t>
            </a:r>
          </a:p>
        </p:txBody>
      </p:sp>
      <p:pic>
        <p:nvPicPr>
          <p:cNvPr id="9" name="Picture 9">
            <a:extLst>
              <a:ext uri="{FF2B5EF4-FFF2-40B4-BE49-F238E27FC236}">
                <a16:creationId xmlns:a16="http://schemas.microsoft.com/office/drawing/2014/main" id="{CF8F2C9D-F996-D1B8-FA17-19542962A343}"/>
              </a:ext>
            </a:extLst>
          </p:cNvPr>
          <p:cNvPicPr>
            <a:picLocks noChangeAspect="1"/>
          </p:cNvPicPr>
          <p:nvPr/>
        </p:nvPicPr>
        <p:blipFill>
          <a:blip r:embed="rId4"/>
          <a:stretch>
            <a:fillRect/>
          </a:stretch>
        </p:blipFill>
        <p:spPr>
          <a:xfrm>
            <a:off x="526044" y="3992167"/>
            <a:ext cx="3616999" cy="806615"/>
          </a:xfrm>
          <a:prstGeom prst="rect">
            <a:avLst/>
          </a:prstGeom>
        </p:spPr>
      </p:pic>
      <p:sp>
        <p:nvSpPr>
          <p:cNvPr id="10" name="TextBox 9">
            <a:extLst>
              <a:ext uri="{FF2B5EF4-FFF2-40B4-BE49-F238E27FC236}">
                <a16:creationId xmlns:a16="http://schemas.microsoft.com/office/drawing/2014/main" id="{C12F80BF-B201-09D6-D2F4-FAFEAD5793C3}"/>
              </a:ext>
            </a:extLst>
          </p:cNvPr>
          <p:cNvSpPr txBox="1"/>
          <p:nvPr/>
        </p:nvSpPr>
        <p:spPr>
          <a:xfrm>
            <a:off x="349520" y="3350446"/>
            <a:ext cx="35640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time-domain received signal can be written as</a:t>
            </a:r>
            <a:endParaRPr lang="en-US" dirty="0">
              <a:cs typeface="Calibri"/>
            </a:endParaRPr>
          </a:p>
        </p:txBody>
      </p:sp>
    </p:spTree>
    <p:extLst>
      <p:ext uri="{BB962C8B-B14F-4D97-AF65-F5344CB8AC3E}">
        <p14:creationId xmlns:p14="http://schemas.microsoft.com/office/powerpoint/2010/main" val="103414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Diagram&#10;&#10;Description automatically generated">
            <a:extLst>
              <a:ext uri="{FF2B5EF4-FFF2-40B4-BE49-F238E27FC236}">
                <a16:creationId xmlns:a16="http://schemas.microsoft.com/office/drawing/2014/main" id="{68FEB84C-E77D-19E7-2F4F-B2D103B29ACD}"/>
              </a:ext>
            </a:extLst>
          </p:cNvPr>
          <p:cNvPicPr>
            <a:picLocks noChangeAspect="1"/>
          </p:cNvPicPr>
          <p:nvPr/>
        </p:nvPicPr>
        <p:blipFill>
          <a:blip r:embed="rId2"/>
          <a:stretch>
            <a:fillRect/>
          </a:stretch>
        </p:blipFill>
        <p:spPr>
          <a:xfrm>
            <a:off x="1832331" y="77896"/>
            <a:ext cx="5479338" cy="6340330"/>
          </a:xfrm>
          <a:prstGeom prst="rect">
            <a:avLst/>
          </a:prstGeom>
        </p:spPr>
      </p:pic>
      <p:sp>
        <p:nvSpPr>
          <p:cNvPr id="7" name="TextBox 6">
            <a:extLst>
              <a:ext uri="{FF2B5EF4-FFF2-40B4-BE49-F238E27FC236}">
                <a16:creationId xmlns:a16="http://schemas.microsoft.com/office/drawing/2014/main" id="{B749C1AD-B9BB-B3BA-1236-BD9587B863AE}"/>
              </a:ext>
            </a:extLst>
          </p:cNvPr>
          <p:cNvSpPr txBox="1"/>
          <p:nvPr/>
        </p:nvSpPr>
        <p:spPr>
          <a:xfrm>
            <a:off x="2759088" y="6474941"/>
            <a:ext cx="48261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Effects of CFO on the phase of the time-domain signal.</a:t>
            </a:r>
          </a:p>
        </p:txBody>
      </p:sp>
    </p:spTree>
    <p:extLst>
      <p:ext uri="{BB962C8B-B14F-4D97-AF65-F5344CB8AC3E}">
        <p14:creationId xmlns:p14="http://schemas.microsoft.com/office/powerpoint/2010/main" val="2481700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4476-5D0E-09BF-6F46-EC3A9038F4E6}"/>
              </a:ext>
            </a:extLst>
          </p:cNvPr>
          <p:cNvSpPr>
            <a:spLocks noGrp="1"/>
          </p:cNvSpPr>
          <p:nvPr>
            <p:ph type="title"/>
          </p:nvPr>
        </p:nvSpPr>
        <p:spPr>
          <a:xfrm>
            <a:off x="628650" y="365126"/>
            <a:ext cx="7886700" cy="637116"/>
          </a:xfrm>
        </p:spPr>
        <p:txBody>
          <a:bodyPr>
            <a:normAutofit/>
          </a:bodyPr>
          <a:lstStyle/>
          <a:p>
            <a:r>
              <a:rPr lang="en-US" sz="3600" b="1" dirty="0">
                <a:ea typeface="+mj-lt"/>
                <a:cs typeface="+mj-lt"/>
              </a:rPr>
              <a:t>Estimation Techniques for CFO</a:t>
            </a:r>
            <a:endParaRPr lang="en-US" sz="3600" b="1" dirty="0"/>
          </a:p>
        </p:txBody>
      </p:sp>
      <p:sp>
        <p:nvSpPr>
          <p:cNvPr id="3" name="TextBox 2">
            <a:extLst>
              <a:ext uri="{FF2B5EF4-FFF2-40B4-BE49-F238E27FC236}">
                <a16:creationId xmlns:a16="http://schemas.microsoft.com/office/drawing/2014/main" id="{E6793236-E6D8-B000-2D84-B410BBAD2588}"/>
              </a:ext>
            </a:extLst>
          </p:cNvPr>
          <p:cNvSpPr txBox="1"/>
          <p:nvPr/>
        </p:nvSpPr>
        <p:spPr>
          <a:xfrm>
            <a:off x="1029141" y="142632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374151"/>
                </a:solidFill>
                <a:latin typeface="Söhne"/>
              </a:rPr>
              <a:t>Pilot-Based Estimation</a:t>
            </a:r>
            <a:endParaRPr lang="en-US"/>
          </a:p>
        </p:txBody>
      </p:sp>
    </p:spTree>
    <p:extLst>
      <p:ext uri="{BB962C8B-B14F-4D97-AF65-F5344CB8AC3E}">
        <p14:creationId xmlns:p14="http://schemas.microsoft.com/office/powerpoint/2010/main" val="1775952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4476-5D0E-09BF-6F46-EC3A9038F4E6}"/>
              </a:ext>
            </a:extLst>
          </p:cNvPr>
          <p:cNvSpPr>
            <a:spLocks noGrp="1"/>
          </p:cNvSpPr>
          <p:nvPr>
            <p:ph type="title"/>
          </p:nvPr>
        </p:nvSpPr>
        <p:spPr>
          <a:xfrm>
            <a:off x="628650" y="365126"/>
            <a:ext cx="7886700" cy="637116"/>
          </a:xfrm>
        </p:spPr>
        <p:txBody>
          <a:bodyPr>
            <a:normAutofit/>
          </a:bodyPr>
          <a:lstStyle/>
          <a:p>
            <a:r>
              <a:rPr lang="en-US" sz="3600" b="1" dirty="0">
                <a:ea typeface="+mj-lt"/>
                <a:cs typeface="+mj-lt"/>
              </a:rPr>
              <a:t>Estimation Techniques for CFO</a:t>
            </a:r>
            <a:endParaRPr lang="en-US" sz="3600" b="1" dirty="0"/>
          </a:p>
        </p:txBody>
      </p:sp>
      <p:sp>
        <p:nvSpPr>
          <p:cNvPr id="3" name="TextBox 2">
            <a:extLst>
              <a:ext uri="{FF2B5EF4-FFF2-40B4-BE49-F238E27FC236}">
                <a16:creationId xmlns:a16="http://schemas.microsoft.com/office/drawing/2014/main" id="{E6793236-E6D8-B000-2D84-B410BBAD2588}"/>
              </a:ext>
            </a:extLst>
          </p:cNvPr>
          <p:cNvSpPr txBox="1"/>
          <p:nvPr/>
        </p:nvSpPr>
        <p:spPr>
          <a:xfrm>
            <a:off x="1152709" y="135571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Pilot-Based Estimation</a:t>
            </a:r>
            <a:endParaRPr lang="en-US" dirty="0"/>
          </a:p>
        </p:txBody>
      </p:sp>
      <p:sp>
        <p:nvSpPr>
          <p:cNvPr id="4" name="TextBox 3">
            <a:extLst>
              <a:ext uri="{FF2B5EF4-FFF2-40B4-BE49-F238E27FC236}">
                <a16:creationId xmlns:a16="http://schemas.microsoft.com/office/drawing/2014/main" id="{58BDC890-5EB1-BCB5-0116-4224A56C2333}"/>
              </a:ext>
            </a:extLst>
          </p:cNvPr>
          <p:cNvSpPr txBox="1"/>
          <p:nvPr/>
        </p:nvSpPr>
        <p:spPr>
          <a:xfrm>
            <a:off x="1152709" y="1982377"/>
            <a:ext cx="53204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Correlation-Based Estimation</a:t>
            </a:r>
            <a:endParaRPr lang="en-US" dirty="0"/>
          </a:p>
        </p:txBody>
      </p:sp>
      <p:sp>
        <p:nvSpPr>
          <p:cNvPr id="5" name="TextBox 4">
            <a:extLst>
              <a:ext uri="{FF2B5EF4-FFF2-40B4-BE49-F238E27FC236}">
                <a16:creationId xmlns:a16="http://schemas.microsoft.com/office/drawing/2014/main" id="{87AD92CD-159F-4714-41AB-FED1D6C65C97}"/>
              </a:ext>
            </a:extLst>
          </p:cNvPr>
          <p:cNvSpPr txBox="1"/>
          <p:nvPr/>
        </p:nvSpPr>
        <p:spPr>
          <a:xfrm>
            <a:off x="1152709" y="2741435"/>
            <a:ext cx="71386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Discrete Fourier Transform (DFT)-Based Estimation</a:t>
            </a:r>
            <a:endParaRPr lang="en-US" dirty="0"/>
          </a:p>
        </p:txBody>
      </p:sp>
      <p:sp>
        <p:nvSpPr>
          <p:cNvPr id="6" name="TextBox 5">
            <a:extLst>
              <a:ext uri="{FF2B5EF4-FFF2-40B4-BE49-F238E27FC236}">
                <a16:creationId xmlns:a16="http://schemas.microsoft.com/office/drawing/2014/main" id="{E1CBFCDD-EE64-9B8E-BB26-15C6F0447AD0}"/>
              </a:ext>
            </a:extLst>
          </p:cNvPr>
          <p:cNvSpPr txBox="1"/>
          <p:nvPr/>
        </p:nvSpPr>
        <p:spPr>
          <a:xfrm>
            <a:off x="1152709" y="3509319"/>
            <a:ext cx="51615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Maximum Likelihood Estimation:</a:t>
            </a:r>
            <a:endParaRPr lang="en-US" dirty="0"/>
          </a:p>
        </p:txBody>
      </p:sp>
    </p:spTree>
    <p:extLst>
      <p:ext uri="{BB962C8B-B14F-4D97-AF65-F5344CB8AC3E}">
        <p14:creationId xmlns:p14="http://schemas.microsoft.com/office/powerpoint/2010/main" val="291166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5692F-709B-55A9-1577-8D536D88772D}"/>
              </a:ext>
            </a:extLst>
          </p:cNvPr>
          <p:cNvSpPr>
            <a:spLocks noGrp="1"/>
          </p:cNvSpPr>
          <p:nvPr>
            <p:ph type="title"/>
          </p:nvPr>
        </p:nvSpPr>
        <p:spPr>
          <a:xfrm>
            <a:off x="628650" y="276863"/>
            <a:ext cx="7886700" cy="725378"/>
          </a:xfrm>
        </p:spPr>
        <p:txBody>
          <a:bodyPr>
            <a:normAutofit/>
          </a:bodyPr>
          <a:lstStyle/>
          <a:p>
            <a:r>
              <a:rPr lang="en-US" sz="3600" b="1" dirty="0">
                <a:ea typeface="+mj-lt"/>
                <a:cs typeface="+mj-lt"/>
              </a:rPr>
              <a:t>Peak-to-Average Power Ratio (PAPR)</a:t>
            </a:r>
            <a:endParaRPr lang="en-US" sz="3600" b="1" dirty="0"/>
          </a:p>
        </p:txBody>
      </p:sp>
      <p:sp>
        <p:nvSpPr>
          <p:cNvPr id="4" name="TextBox 3">
            <a:extLst>
              <a:ext uri="{FF2B5EF4-FFF2-40B4-BE49-F238E27FC236}">
                <a16:creationId xmlns:a16="http://schemas.microsoft.com/office/drawing/2014/main" id="{6D971054-885D-433F-9F97-66E3D76C079B}"/>
              </a:ext>
            </a:extLst>
          </p:cNvPr>
          <p:cNvSpPr txBox="1"/>
          <p:nvPr/>
        </p:nvSpPr>
        <p:spPr>
          <a:xfrm>
            <a:off x="691076" y="2237282"/>
            <a:ext cx="781829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t>The transmit signals in an OFDM system can have high peak values in the time domain since many subcarrier components are added via an IFFT operation. </a:t>
            </a:r>
          </a:p>
          <a:p>
            <a:pPr algn="just"/>
            <a:endParaRPr lang="en-US" sz="2000" dirty="0"/>
          </a:p>
          <a:p>
            <a:pPr algn="just"/>
            <a:r>
              <a:rPr lang="en-US" sz="2000" dirty="0"/>
              <a:t>Therefore, OFDM systems are known to have a high PAPR as compared with single-carrier systems.</a:t>
            </a:r>
            <a:endParaRPr lang="en-US" sz="2000" dirty="0">
              <a:cs typeface="Calibri"/>
            </a:endParaRPr>
          </a:p>
        </p:txBody>
      </p:sp>
      <p:sp>
        <p:nvSpPr>
          <p:cNvPr id="5" name="TextBox 4">
            <a:extLst>
              <a:ext uri="{FF2B5EF4-FFF2-40B4-BE49-F238E27FC236}">
                <a16:creationId xmlns:a16="http://schemas.microsoft.com/office/drawing/2014/main" id="{6761D93F-C5D5-7BA4-A271-378EA2D970EB}"/>
              </a:ext>
            </a:extLst>
          </p:cNvPr>
          <p:cNvSpPr txBox="1"/>
          <p:nvPr/>
        </p:nvSpPr>
        <p:spPr>
          <a:xfrm>
            <a:off x="667265" y="4268377"/>
            <a:ext cx="765942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The high PAPR is one of the most detrimental aspects in the OFDM system, as it decreases the SQNR (Signal-to-Quantization Noise Ratio) of ADC (Analog-to-Digital Converter) and DAC (Digital-to-Analog Converter) while degrading the efficiency of the power amplifier in the transmitter.</a:t>
            </a:r>
            <a:endParaRPr lang="en-US" sz="2000" dirty="0">
              <a:cs typeface="Calibri"/>
            </a:endParaRPr>
          </a:p>
        </p:txBody>
      </p:sp>
      <p:sp>
        <p:nvSpPr>
          <p:cNvPr id="6" name="TextBox 5">
            <a:extLst>
              <a:ext uri="{FF2B5EF4-FFF2-40B4-BE49-F238E27FC236}">
                <a16:creationId xmlns:a16="http://schemas.microsoft.com/office/drawing/2014/main" id="{5B19FEEE-53E0-212B-71B7-717745E0EC0A}"/>
              </a:ext>
            </a:extLst>
          </p:cNvPr>
          <p:cNvSpPr txBox="1"/>
          <p:nvPr/>
        </p:nvSpPr>
        <p:spPr>
          <a:xfrm>
            <a:off x="664186" y="1099751"/>
            <a:ext cx="755658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t>Peak-to-Average Power Ratio (PAPR) is defined as the ratio of peak power to the average power of a signal and is expressed in decibels (dB).  A lower PAPR is desired for efficient performance of a system.</a:t>
            </a:r>
            <a:endParaRPr lang="en-US" sz="2000" dirty="0">
              <a:cs typeface="Calibri"/>
            </a:endParaRPr>
          </a:p>
        </p:txBody>
      </p:sp>
    </p:spTree>
    <p:extLst>
      <p:ext uri="{BB962C8B-B14F-4D97-AF65-F5344CB8AC3E}">
        <p14:creationId xmlns:p14="http://schemas.microsoft.com/office/powerpoint/2010/main" val="3979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59FBB5-47D7-FE7B-B971-62BCC7892518}"/>
              </a:ext>
            </a:extLst>
          </p:cNvPr>
          <p:cNvSpPr txBox="1"/>
          <p:nvPr/>
        </p:nvSpPr>
        <p:spPr>
          <a:xfrm>
            <a:off x="631960" y="1029141"/>
            <a:ext cx="793303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PAPR is the ratio between the maximum power and the average power of the complex passband signal s(t) , that is,</a:t>
            </a:r>
          </a:p>
        </p:txBody>
      </p:sp>
      <p:pic>
        <p:nvPicPr>
          <p:cNvPr id="4" name="Picture 4" descr="Text, letter&#10;&#10;Description automatically generated">
            <a:extLst>
              <a:ext uri="{FF2B5EF4-FFF2-40B4-BE49-F238E27FC236}">
                <a16:creationId xmlns:a16="http://schemas.microsoft.com/office/drawing/2014/main" id="{F5D95B73-EE4A-7DCB-66B4-6D13E8E797AF}"/>
              </a:ext>
            </a:extLst>
          </p:cNvPr>
          <p:cNvPicPr>
            <a:picLocks noChangeAspect="1"/>
          </p:cNvPicPr>
          <p:nvPr/>
        </p:nvPicPr>
        <p:blipFill>
          <a:blip r:embed="rId2"/>
          <a:stretch>
            <a:fillRect/>
          </a:stretch>
        </p:blipFill>
        <p:spPr>
          <a:xfrm>
            <a:off x="1461628" y="2033038"/>
            <a:ext cx="6282528" cy="1309113"/>
          </a:xfrm>
          <a:prstGeom prst="rect">
            <a:avLst/>
          </a:prstGeom>
        </p:spPr>
      </p:pic>
      <p:grpSp>
        <p:nvGrpSpPr>
          <p:cNvPr id="2" name="Group 1">
            <a:extLst>
              <a:ext uri="{FF2B5EF4-FFF2-40B4-BE49-F238E27FC236}">
                <a16:creationId xmlns:a16="http://schemas.microsoft.com/office/drawing/2014/main" id="{79E36E39-6301-279D-E093-C270CE7F4111}"/>
              </a:ext>
            </a:extLst>
          </p:cNvPr>
          <p:cNvGrpSpPr/>
          <p:nvPr/>
        </p:nvGrpSpPr>
        <p:grpSpPr>
          <a:xfrm>
            <a:off x="667265" y="3456361"/>
            <a:ext cx="7897732" cy="2308324"/>
            <a:chOff x="667265" y="3456361"/>
            <a:chExt cx="7897732" cy="2308324"/>
          </a:xfrm>
        </p:grpSpPr>
        <p:sp>
          <p:nvSpPr>
            <p:cNvPr id="5" name="TextBox 4">
              <a:extLst>
                <a:ext uri="{FF2B5EF4-FFF2-40B4-BE49-F238E27FC236}">
                  <a16:creationId xmlns:a16="http://schemas.microsoft.com/office/drawing/2014/main" id="{DF20C58C-B797-5FA7-5096-DBAACF7B7876}"/>
                </a:ext>
              </a:extLst>
            </p:cNvPr>
            <p:cNvSpPr txBox="1"/>
            <p:nvPr/>
          </p:nvSpPr>
          <p:spPr>
            <a:xfrm>
              <a:off x="667265" y="3456361"/>
              <a:ext cx="789773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t>In the PSK/OFDM system with </a:t>
              </a:r>
              <a:r>
                <a:rPr lang="en-US" i="1" dirty="0"/>
                <a:t>N</a:t>
              </a:r>
              <a:r>
                <a:rPr lang="en-US" dirty="0"/>
                <a:t> subcarriers, the maximum power occurs when all of the subcarrier components happen to be added with identical phases.</a:t>
              </a:r>
            </a:p>
            <a:p>
              <a:pPr algn="just"/>
              <a:endParaRPr lang="en-US" dirty="0"/>
            </a:p>
            <a:p>
              <a:pPr algn="just"/>
              <a:r>
                <a:rPr lang="en-US" dirty="0"/>
                <a:t>Assuming that </a:t>
              </a:r>
              <a:endParaRPr lang="en-US" dirty="0">
                <a:ea typeface="Calibri"/>
                <a:cs typeface="Calibri"/>
              </a:endParaRPr>
            </a:p>
            <a:p>
              <a:pPr algn="just"/>
              <a:endParaRPr lang="en-US" dirty="0">
                <a:ea typeface="Calibri"/>
                <a:cs typeface="Calibri"/>
              </a:endParaRPr>
            </a:p>
            <a:p>
              <a:pPr algn="just"/>
              <a:r>
                <a:rPr lang="en-US" dirty="0"/>
                <a:t>PAPR  = </a:t>
              </a:r>
              <a:r>
                <a:rPr lang="en-US" i="1" dirty="0"/>
                <a:t>N</a:t>
              </a:r>
              <a:r>
                <a:rPr lang="en-US" dirty="0"/>
                <a:t>, </a:t>
              </a:r>
            </a:p>
            <a:p>
              <a:pPr algn="just"/>
              <a:endParaRPr lang="en-US" dirty="0">
                <a:ea typeface="Calibri"/>
                <a:cs typeface="Calibri"/>
              </a:endParaRPr>
            </a:p>
            <a:p>
              <a:pPr algn="just"/>
              <a:r>
                <a:rPr lang="en-US" dirty="0"/>
                <a:t>that is, the maximum power equivalent to </a:t>
              </a:r>
              <a:r>
                <a:rPr lang="en-US" i="1" dirty="0"/>
                <a:t>N</a:t>
              </a:r>
              <a:r>
                <a:rPr lang="en-US" dirty="0"/>
                <a:t> times the average power.</a:t>
              </a:r>
              <a:endParaRPr lang="en-US" dirty="0">
                <a:ea typeface="Calibri"/>
                <a:cs typeface="Calibri"/>
              </a:endParaRPr>
            </a:p>
          </p:txBody>
        </p:sp>
        <p:pic>
          <p:nvPicPr>
            <p:cNvPr id="6" name="Picture 6">
              <a:extLst>
                <a:ext uri="{FF2B5EF4-FFF2-40B4-BE49-F238E27FC236}">
                  <a16:creationId xmlns:a16="http://schemas.microsoft.com/office/drawing/2014/main" id="{6A1DE996-D194-A217-FF44-8F3C42C39066}"/>
                </a:ext>
              </a:extLst>
            </p:cNvPr>
            <p:cNvPicPr>
              <a:picLocks noChangeAspect="1"/>
            </p:cNvPicPr>
            <p:nvPr/>
          </p:nvPicPr>
          <p:blipFill>
            <a:blip r:embed="rId3"/>
            <a:stretch>
              <a:fillRect/>
            </a:stretch>
          </p:blipFill>
          <p:spPr>
            <a:xfrm>
              <a:off x="2405228" y="4284760"/>
              <a:ext cx="1562100" cy="371475"/>
            </a:xfrm>
            <a:prstGeom prst="rect">
              <a:avLst/>
            </a:prstGeom>
          </p:spPr>
        </p:pic>
      </p:grpSp>
    </p:spTree>
    <p:extLst>
      <p:ext uri="{BB962C8B-B14F-4D97-AF65-F5344CB8AC3E}">
        <p14:creationId xmlns:p14="http://schemas.microsoft.com/office/powerpoint/2010/main" val="423495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7FB7-F159-C974-3338-FD6471DA70C4}"/>
              </a:ext>
            </a:extLst>
          </p:cNvPr>
          <p:cNvSpPr>
            <a:spLocks noGrp="1"/>
          </p:cNvSpPr>
          <p:nvPr>
            <p:ph type="title"/>
          </p:nvPr>
        </p:nvSpPr>
        <p:spPr>
          <a:xfrm>
            <a:off x="628650" y="365126"/>
            <a:ext cx="7886700" cy="228283"/>
          </a:xfrm>
        </p:spPr>
        <p:txBody>
          <a:bodyPr>
            <a:normAutofit fontScale="90000"/>
          </a:bodyPr>
          <a:lstStyle/>
          <a:p>
            <a:r>
              <a:rPr lang="en-US" b="1" dirty="0">
                <a:ea typeface="Calibri Light"/>
                <a:cs typeface="Calibri Light"/>
              </a:rPr>
              <a:t>PAPR</a:t>
            </a:r>
            <a:endParaRPr lang="en-US" b="1" dirty="0"/>
          </a:p>
        </p:txBody>
      </p:sp>
      <p:pic>
        <p:nvPicPr>
          <p:cNvPr id="4" name="Picture 4" descr="Diagram&#10;&#10;Description automatically generated">
            <a:extLst>
              <a:ext uri="{FF2B5EF4-FFF2-40B4-BE49-F238E27FC236}">
                <a16:creationId xmlns:a16="http://schemas.microsoft.com/office/drawing/2014/main" id="{E74D85C8-3E02-9D42-652D-ACC5F7BD023F}"/>
              </a:ext>
            </a:extLst>
          </p:cNvPr>
          <p:cNvPicPr>
            <a:picLocks noChangeAspect="1"/>
          </p:cNvPicPr>
          <p:nvPr/>
        </p:nvPicPr>
        <p:blipFill>
          <a:blip r:embed="rId3"/>
          <a:stretch>
            <a:fillRect/>
          </a:stretch>
        </p:blipFill>
        <p:spPr>
          <a:xfrm>
            <a:off x="406753" y="825205"/>
            <a:ext cx="5320466" cy="3483683"/>
          </a:xfrm>
          <a:prstGeom prst="rect">
            <a:avLst/>
          </a:prstGeom>
        </p:spPr>
      </p:pic>
      <p:sp>
        <p:nvSpPr>
          <p:cNvPr id="5" name="TextBox 4">
            <a:extLst>
              <a:ext uri="{FF2B5EF4-FFF2-40B4-BE49-F238E27FC236}">
                <a16:creationId xmlns:a16="http://schemas.microsoft.com/office/drawing/2014/main" id="{D1B44C18-6CD2-233C-15A4-3651A1A3BE44}"/>
              </a:ext>
            </a:extLst>
          </p:cNvPr>
          <p:cNvSpPr txBox="1"/>
          <p:nvPr/>
        </p:nvSpPr>
        <p:spPr>
          <a:xfrm>
            <a:off x="5892800" y="3037840"/>
            <a:ext cx="278384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33333"/>
                </a:solidFill>
                <a:latin typeface="HelveticaNeue Regular"/>
              </a:rPr>
              <a:t>Decreases spectrum efficiency and energy efficiency</a:t>
            </a:r>
            <a:endParaRPr lang="en-US" dirty="0">
              <a:solidFill>
                <a:srgbClr val="333333"/>
              </a:solidFill>
              <a:latin typeface="HelveticaNeue Regular"/>
              <a:ea typeface="Calibri" panose="020F0502020204030204"/>
              <a:cs typeface="Calibri" panose="020F0502020204030204"/>
            </a:endParaRPr>
          </a:p>
        </p:txBody>
      </p:sp>
      <p:sp>
        <p:nvSpPr>
          <p:cNvPr id="6" name="TextBox 5">
            <a:extLst>
              <a:ext uri="{FF2B5EF4-FFF2-40B4-BE49-F238E27FC236}">
                <a16:creationId xmlns:a16="http://schemas.microsoft.com/office/drawing/2014/main" id="{241B10DD-0DC9-5CFC-2D17-08A58FE6B82A}"/>
              </a:ext>
            </a:extLst>
          </p:cNvPr>
          <p:cNvSpPr txBox="1"/>
          <p:nvPr/>
        </p:nvSpPr>
        <p:spPr>
          <a:xfrm>
            <a:off x="883920" y="4307840"/>
            <a:ext cx="74168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most common way to evaluate the PAPR is to determine the probability that this PAPR exceeds a certain threshold         . This is represented by the Complementary Cumulative Distribution Function (CCDF), which is a random variable, as:</a:t>
            </a:r>
          </a:p>
        </p:txBody>
      </p:sp>
      <p:pic>
        <p:nvPicPr>
          <p:cNvPr id="7" name="Picture 7">
            <a:extLst>
              <a:ext uri="{FF2B5EF4-FFF2-40B4-BE49-F238E27FC236}">
                <a16:creationId xmlns:a16="http://schemas.microsoft.com/office/drawing/2014/main" id="{8A55B550-5411-096A-3774-DA1CBA6B6A67}"/>
              </a:ext>
            </a:extLst>
          </p:cNvPr>
          <p:cNvPicPr>
            <a:picLocks noChangeAspect="1"/>
          </p:cNvPicPr>
          <p:nvPr/>
        </p:nvPicPr>
        <p:blipFill>
          <a:blip r:embed="rId4"/>
          <a:stretch>
            <a:fillRect/>
          </a:stretch>
        </p:blipFill>
        <p:spPr>
          <a:xfrm>
            <a:off x="1889760" y="5504154"/>
            <a:ext cx="5770880" cy="624892"/>
          </a:xfrm>
          <a:prstGeom prst="rect">
            <a:avLst/>
          </a:prstGeom>
        </p:spPr>
      </p:pic>
      <p:pic>
        <p:nvPicPr>
          <p:cNvPr id="8" name="Picture 8">
            <a:extLst>
              <a:ext uri="{FF2B5EF4-FFF2-40B4-BE49-F238E27FC236}">
                <a16:creationId xmlns:a16="http://schemas.microsoft.com/office/drawing/2014/main" id="{F1188535-3440-3E6A-DB86-EE354EDDB250}"/>
              </a:ext>
            </a:extLst>
          </p:cNvPr>
          <p:cNvPicPr>
            <a:picLocks noChangeAspect="1"/>
          </p:cNvPicPr>
          <p:nvPr/>
        </p:nvPicPr>
        <p:blipFill>
          <a:blip r:embed="rId5"/>
          <a:stretch>
            <a:fillRect/>
          </a:stretch>
        </p:blipFill>
        <p:spPr>
          <a:xfrm>
            <a:off x="4963477" y="4645660"/>
            <a:ext cx="314325" cy="228600"/>
          </a:xfrm>
          <a:prstGeom prst="rect">
            <a:avLst/>
          </a:prstGeom>
        </p:spPr>
      </p:pic>
      <p:sp>
        <p:nvSpPr>
          <p:cNvPr id="9" name="TextBox 8">
            <a:extLst>
              <a:ext uri="{FF2B5EF4-FFF2-40B4-BE49-F238E27FC236}">
                <a16:creationId xmlns:a16="http://schemas.microsoft.com/office/drawing/2014/main" id="{1F61A2E0-8E80-3AC7-867C-DEB2C778ABF5}"/>
              </a:ext>
            </a:extLst>
          </p:cNvPr>
          <p:cNvSpPr txBox="1"/>
          <p:nvPr/>
        </p:nvSpPr>
        <p:spPr>
          <a:xfrm>
            <a:off x="5770880" y="914400"/>
            <a:ext cx="30988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High PAPR degrades performance of OFDM signals by forcing the analog amplifier to work in the nonlinear region, distorting this way the signal and making the amplifier to consume more power. </a:t>
            </a:r>
          </a:p>
        </p:txBody>
      </p:sp>
    </p:spTree>
    <p:extLst>
      <p:ext uri="{BB962C8B-B14F-4D97-AF65-F5344CB8AC3E}">
        <p14:creationId xmlns:p14="http://schemas.microsoft.com/office/powerpoint/2010/main" val="420191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9F23-971A-8380-16A4-FCAF15AB3ED8}"/>
              </a:ext>
            </a:extLst>
          </p:cNvPr>
          <p:cNvSpPr>
            <a:spLocks noGrp="1"/>
          </p:cNvSpPr>
          <p:nvPr>
            <p:ph type="title"/>
          </p:nvPr>
        </p:nvSpPr>
        <p:spPr>
          <a:xfrm>
            <a:off x="537210" y="314326"/>
            <a:ext cx="7886700" cy="543243"/>
          </a:xfrm>
        </p:spPr>
        <p:txBody>
          <a:bodyPr>
            <a:normAutofit fontScale="90000"/>
          </a:bodyPr>
          <a:lstStyle/>
          <a:p>
            <a:r>
              <a:rPr lang="en-US" sz="3600" b="1" dirty="0">
                <a:ea typeface="+mj-lt"/>
                <a:cs typeface="+mj-lt"/>
              </a:rPr>
              <a:t>PAPR Reduction Techniques</a:t>
            </a:r>
            <a:endParaRPr lang="en-US" sz="3600" b="1" dirty="0"/>
          </a:p>
        </p:txBody>
      </p:sp>
      <p:sp>
        <p:nvSpPr>
          <p:cNvPr id="3" name="Content Placeholder 2">
            <a:extLst>
              <a:ext uri="{FF2B5EF4-FFF2-40B4-BE49-F238E27FC236}">
                <a16:creationId xmlns:a16="http://schemas.microsoft.com/office/drawing/2014/main" id="{A33A460B-0325-7E87-0A24-F8C80BCE31BE}"/>
              </a:ext>
            </a:extLst>
          </p:cNvPr>
          <p:cNvSpPr>
            <a:spLocks noGrp="1"/>
          </p:cNvSpPr>
          <p:nvPr>
            <p:ph idx="1"/>
          </p:nvPr>
        </p:nvSpPr>
        <p:spPr>
          <a:xfrm>
            <a:off x="628650" y="1256665"/>
            <a:ext cx="7886700" cy="4351338"/>
          </a:xfrm>
        </p:spPr>
        <p:txBody>
          <a:bodyPr vert="horz" lIns="91440" tIns="45720" rIns="91440" bIns="45720" rtlCol="0" anchor="t">
            <a:normAutofit lnSpcReduction="10000"/>
          </a:bodyPr>
          <a:lstStyle/>
          <a:p>
            <a:r>
              <a:rPr lang="en-US" dirty="0">
                <a:ea typeface="+mn-lt"/>
                <a:cs typeface="+mn-lt"/>
              </a:rPr>
              <a:t>Clipping technique</a:t>
            </a:r>
          </a:p>
          <a:p>
            <a:endParaRPr lang="en-US" dirty="0">
              <a:ea typeface="+mn-lt"/>
              <a:cs typeface="+mn-lt"/>
            </a:endParaRPr>
          </a:p>
          <a:p>
            <a:r>
              <a:rPr lang="en-US" dirty="0">
                <a:ea typeface="+mn-lt"/>
                <a:cs typeface="+mn-lt"/>
              </a:rPr>
              <a:t>Coding technique</a:t>
            </a:r>
          </a:p>
          <a:p>
            <a:endParaRPr lang="en-US" dirty="0">
              <a:ea typeface="+mn-lt"/>
              <a:cs typeface="+mn-lt"/>
            </a:endParaRPr>
          </a:p>
          <a:p>
            <a:r>
              <a:rPr lang="en-US" dirty="0">
                <a:ea typeface="+mn-lt"/>
                <a:cs typeface="+mn-lt"/>
              </a:rPr>
              <a:t>Probabilistic (scrambling) technique</a:t>
            </a:r>
          </a:p>
          <a:p>
            <a:endParaRPr lang="en-US" dirty="0">
              <a:ea typeface="+mn-lt"/>
              <a:cs typeface="+mn-lt"/>
            </a:endParaRPr>
          </a:p>
          <a:p>
            <a:r>
              <a:rPr lang="en-US" dirty="0">
                <a:ea typeface="+mn-lt"/>
                <a:cs typeface="+mn-lt"/>
              </a:rPr>
              <a:t>Adaptive predistortion technique</a:t>
            </a:r>
          </a:p>
          <a:p>
            <a:endParaRPr lang="en-US" dirty="0">
              <a:ea typeface="+mn-lt"/>
              <a:cs typeface="+mn-lt"/>
            </a:endParaRPr>
          </a:p>
          <a:p>
            <a:r>
              <a:rPr lang="en-US" dirty="0">
                <a:ea typeface="+mn-lt"/>
                <a:cs typeface="+mn-lt"/>
              </a:rPr>
              <a:t>DFT-spreading technique</a:t>
            </a:r>
            <a:endParaRPr lang="en-US" dirty="0">
              <a:ea typeface="Calibri"/>
              <a:cs typeface="Calibri"/>
            </a:endParaRPr>
          </a:p>
        </p:txBody>
      </p:sp>
    </p:spTree>
    <p:extLst>
      <p:ext uri="{BB962C8B-B14F-4D97-AF65-F5344CB8AC3E}">
        <p14:creationId xmlns:p14="http://schemas.microsoft.com/office/powerpoint/2010/main" val="283289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D416-BA75-EDBA-18B7-80E2CCAC6B4C}"/>
              </a:ext>
            </a:extLst>
          </p:cNvPr>
          <p:cNvSpPr>
            <a:spLocks noGrp="1"/>
          </p:cNvSpPr>
          <p:nvPr>
            <p:ph type="title"/>
          </p:nvPr>
        </p:nvSpPr>
        <p:spPr>
          <a:xfrm>
            <a:off x="455930" y="354966"/>
            <a:ext cx="7886700" cy="553403"/>
          </a:xfrm>
        </p:spPr>
        <p:txBody>
          <a:bodyPr>
            <a:noAutofit/>
          </a:bodyPr>
          <a:lstStyle/>
          <a:p>
            <a:pPr>
              <a:spcBef>
                <a:spcPts val="1000"/>
              </a:spcBef>
            </a:pPr>
            <a:r>
              <a:rPr lang="en-US" sz="3600" b="1" dirty="0">
                <a:latin typeface="Calibri"/>
                <a:ea typeface="Calibri"/>
                <a:cs typeface="Calibri"/>
              </a:rPr>
              <a:t>Clipping technique</a:t>
            </a:r>
            <a:endParaRPr lang="en-US" sz="3600" b="1" dirty="0"/>
          </a:p>
          <a:p>
            <a:endParaRPr lang="en-US" sz="3600" b="1" dirty="0">
              <a:ea typeface="Calibri Light"/>
              <a:cs typeface="Calibri Light"/>
            </a:endParaRPr>
          </a:p>
        </p:txBody>
      </p:sp>
      <p:sp>
        <p:nvSpPr>
          <p:cNvPr id="6" name="TextBox 5">
            <a:extLst>
              <a:ext uri="{FF2B5EF4-FFF2-40B4-BE49-F238E27FC236}">
                <a16:creationId xmlns:a16="http://schemas.microsoft.com/office/drawing/2014/main" id="{4988DCF9-C04D-9A9A-7061-0A618ABF5EB8}"/>
              </a:ext>
            </a:extLst>
          </p:cNvPr>
          <p:cNvSpPr txBox="1"/>
          <p:nvPr/>
        </p:nvSpPr>
        <p:spPr>
          <a:xfrm>
            <a:off x="619760" y="863600"/>
            <a:ext cx="75488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simplest PAPR reduction method consists basically in clipping the high parts of the signal amplitude that are outside the allowed region</a:t>
            </a:r>
          </a:p>
        </p:txBody>
      </p:sp>
      <p:sp>
        <p:nvSpPr>
          <p:cNvPr id="7" name="TextBox 6">
            <a:extLst>
              <a:ext uri="{FF2B5EF4-FFF2-40B4-BE49-F238E27FC236}">
                <a16:creationId xmlns:a16="http://schemas.microsoft.com/office/drawing/2014/main" id="{091D3ECA-62EB-E11F-9A84-72ABE9F67251}"/>
              </a:ext>
            </a:extLst>
          </p:cNvPr>
          <p:cNvSpPr txBox="1"/>
          <p:nvPr/>
        </p:nvSpPr>
        <p:spPr>
          <a:xfrm>
            <a:off x="701040" y="2814320"/>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Advantages</a:t>
            </a:r>
          </a:p>
        </p:txBody>
      </p:sp>
      <p:sp>
        <p:nvSpPr>
          <p:cNvPr id="8" name="TextBox 7">
            <a:extLst>
              <a:ext uri="{FF2B5EF4-FFF2-40B4-BE49-F238E27FC236}">
                <a16:creationId xmlns:a16="http://schemas.microsoft.com/office/drawing/2014/main" id="{8D2BD9C6-721C-0354-CE1C-32B5816D6A0A}"/>
              </a:ext>
            </a:extLst>
          </p:cNvPr>
          <p:cNvSpPr txBox="1"/>
          <p:nvPr/>
        </p:nvSpPr>
        <p:spPr>
          <a:xfrm>
            <a:off x="2184400" y="4338320"/>
            <a:ext cx="4927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causes in-band distortion, which degrades the performance of the BER</a:t>
            </a:r>
          </a:p>
        </p:txBody>
      </p:sp>
      <p:sp>
        <p:nvSpPr>
          <p:cNvPr id="9" name="TextBox 8">
            <a:extLst>
              <a:ext uri="{FF2B5EF4-FFF2-40B4-BE49-F238E27FC236}">
                <a16:creationId xmlns:a16="http://schemas.microsoft.com/office/drawing/2014/main" id="{2FBA2DDC-8320-DA9C-4A0D-7E582E98A250}"/>
              </a:ext>
            </a:extLst>
          </p:cNvPr>
          <p:cNvSpPr txBox="1"/>
          <p:nvPr/>
        </p:nvSpPr>
        <p:spPr>
          <a:xfrm>
            <a:off x="2204720" y="5161280"/>
            <a:ext cx="43891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causes out-of-band radiation, resulting in adjacent interference.</a:t>
            </a:r>
            <a:endParaRPr lang="en-US"/>
          </a:p>
        </p:txBody>
      </p:sp>
      <p:pic>
        <p:nvPicPr>
          <p:cNvPr id="10" name="Picture 10" descr="Text&#10;&#10;Description automatically generated">
            <a:extLst>
              <a:ext uri="{FF2B5EF4-FFF2-40B4-BE49-F238E27FC236}">
                <a16:creationId xmlns:a16="http://schemas.microsoft.com/office/drawing/2014/main" id="{0FAC1AEB-A004-0B6E-D56E-290734AFBB9F}"/>
              </a:ext>
            </a:extLst>
          </p:cNvPr>
          <p:cNvPicPr>
            <a:picLocks noChangeAspect="1"/>
          </p:cNvPicPr>
          <p:nvPr/>
        </p:nvPicPr>
        <p:blipFill>
          <a:blip r:embed="rId3"/>
          <a:stretch>
            <a:fillRect/>
          </a:stretch>
        </p:blipFill>
        <p:spPr>
          <a:xfrm>
            <a:off x="2804160" y="1764947"/>
            <a:ext cx="3474720" cy="1021786"/>
          </a:xfrm>
          <a:prstGeom prst="rect">
            <a:avLst/>
          </a:prstGeom>
        </p:spPr>
      </p:pic>
      <p:sp>
        <p:nvSpPr>
          <p:cNvPr id="11" name="TextBox 10">
            <a:extLst>
              <a:ext uri="{FF2B5EF4-FFF2-40B4-BE49-F238E27FC236}">
                <a16:creationId xmlns:a16="http://schemas.microsoft.com/office/drawing/2014/main" id="{9A8EE28F-FFB7-A671-6622-4611A7D2F15C}"/>
              </a:ext>
            </a:extLst>
          </p:cNvPr>
          <p:cNvSpPr txBox="1"/>
          <p:nvPr/>
        </p:nvSpPr>
        <p:spPr>
          <a:xfrm>
            <a:off x="1869440" y="3180080"/>
            <a:ext cx="37287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simple and low-complexity</a:t>
            </a:r>
          </a:p>
          <a:p>
            <a:r>
              <a:rPr lang="en-US" dirty="0">
                <a:solidFill>
                  <a:srgbClr val="374151"/>
                </a:solidFill>
                <a:latin typeface="Söhne"/>
              </a:rPr>
              <a:t>easily implemented</a:t>
            </a:r>
          </a:p>
        </p:txBody>
      </p:sp>
      <p:sp>
        <p:nvSpPr>
          <p:cNvPr id="12" name="TextBox 11">
            <a:extLst>
              <a:ext uri="{FF2B5EF4-FFF2-40B4-BE49-F238E27FC236}">
                <a16:creationId xmlns:a16="http://schemas.microsoft.com/office/drawing/2014/main" id="{60BF6976-E4A2-8CD2-7DB9-7E1DF20BA783}"/>
              </a:ext>
            </a:extLst>
          </p:cNvPr>
          <p:cNvSpPr txBox="1"/>
          <p:nvPr/>
        </p:nvSpPr>
        <p:spPr>
          <a:xfrm>
            <a:off x="751839" y="3901440"/>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Disadvantages</a:t>
            </a:r>
          </a:p>
        </p:txBody>
      </p:sp>
    </p:spTree>
    <p:extLst>
      <p:ext uri="{BB962C8B-B14F-4D97-AF65-F5344CB8AC3E}">
        <p14:creationId xmlns:p14="http://schemas.microsoft.com/office/powerpoint/2010/main" val="20837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4245B-39DD-6B7D-7277-FD2415D852CF}"/>
              </a:ext>
            </a:extLst>
          </p:cNvPr>
          <p:cNvSpPr>
            <a:spLocks noGrp="1"/>
          </p:cNvSpPr>
          <p:nvPr>
            <p:ph type="title"/>
          </p:nvPr>
        </p:nvSpPr>
        <p:spPr>
          <a:xfrm>
            <a:off x="628650" y="365126"/>
            <a:ext cx="7886700" cy="655003"/>
          </a:xfrm>
        </p:spPr>
        <p:txBody>
          <a:bodyPr>
            <a:normAutofit/>
          </a:bodyPr>
          <a:lstStyle/>
          <a:p>
            <a:r>
              <a:rPr lang="en-US" sz="3600" b="1" dirty="0">
                <a:ea typeface="+mj-lt"/>
                <a:cs typeface="+mj-lt"/>
              </a:rPr>
              <a:t>Coding technique</a:t>
            </a:r>
            <a:endParaRPr lang="en-US" sz="3600" b="1" dirty="0"/>
          </a:p>
        </p:txBody>
      </p:sp>
      <p:sp>
        <p:nvSpPr>
          <p:cNvPr id="4" name="TextBox 3">
            <a:extLst>
              <a:ext uri="{FF2B5EF4-FFF2-40B4-BE49-F238E27FC236}">
                <a16:creationId xmlns:a16="http://schemas.microsoft.com/office/drawing/2014/main" id="{8087C7EB-94DD-51C9-83AC-BA71E190DEC7}"/>
              </a:ext>
            </a:extLst>
          </p:cNvPr>
          <p:cNvSpPr txBox="1"/>
          <p:nvPr/>
        </p:nvSpPr>
        <p:spPr>
          <a:xfrm>
            <a:off x="731520" y="1117600"/>
            <a:ext cx="79654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coding technique is to select such codewords that minimize or reduce the PAPR</a:t>
            </a:r>
          </a:p>
        </p:txBody>
      </p:sp>
      <p:sp>
        <p:nvSpPr>
          <p:cNvPr id="6" name="TextBox 5">
            <a:extLst>
              <a:ext uri="{FF2B5EF4-FFF2-40B4-BE49-F238E27FC236}">
                <a16:creationId xmlns:a16="http://schemas.microsoft.com/office/drawing/2014/main" id="{FB184272-F6EF-A82B-2EC0-0B8B87EF04D3}"/>
              </a:ext>
            </a:extLst>
          </p:cNvPr>
          <p:cNvSpPr txBox="1"/>
          <p:nvPr/>
        </p:nvSpPr>
        <p:spPr>
          <a:xfrm>
            <a:off x="802640" y="2367280"/>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Advantages</a:t>
            </a:r>
          </a:p>
        </p:txBody>
      </p:sp>
      <p:sp>
        <p:nvSpPr>
          <p:cNvPr id="8" name="TextBox 7">
            <a:extLst>
              <a:ext uri="{FF2B5EF4-FFF2-40B4-BE49-F238E27FC236}">
                <a16:creationId xmlns:a16="http://schemas.microsoft.com/office/drawing/2014/main" id="{0119C383-3500-3775-DF54-CB98783CEC53}"/>
              </a:ext>
            </a:extLst>
          </p:cNvPr>
          <p:cNvSpPr txBox="1"/>
          <p:nvPr/>
        </p:nvSpPr>
        <p:spPr>
          <a:xfrm>
            <a:off x="843279" y="3931920"/>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Disadvantages</a:t>
            </a:r>
          </a:p>
        </p:txBody>
      </p:sp>
      <p:sp>
        <p:nvSpPr>
          <p:cNvPr id="9" name="TextBox 8">
            <a:extLst>
              <a:ext uri="{FF2B5EF4-FFF2-40B4-BE49-F238E27FC236}">
                <a16:creationId xmlns:a16="http://schemas.microsoft.com/office/drawing/2014/main" id="{B5F3D017-30CB-0919-8EEE-D7A078A13254}"/>
              </a:ext>
            </a:extLst>
          </p:cNvPr>
          <p:cNvSpPr txBox="1"/>
          <p:nvPr/>
        </p:nvSpPr>
        <p:spPr>
          <a:xfrm>
            <a:off x="2143760" y="2641600"/>
            <a:ext cx="57708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 distortion and creates no out-of-band radiation</a:t>
            </a:r>
          </a:p>
        </p:txBody>
      </p:sp>
      <p:sp>
        <p:nvSpPr>
          <p:cNvPr id="10" name="TextBox 9">
            <a:extLst>
              <a:ext uri="{FF2B5EF4-FFF2-40B4-BE49-F238E27FC236}">
                <a16:creationId xmlns:a16="http://schemas.microsoft.com/office/drawing/2014/main" id="{591EDD6B-3E24-4A85-E429-FD989642F644}"/>
              </a:ext>
            </a:extLst>
          </p:cNvPr>
          <p:cNvSpPr txBox="1"/>
          <p:nvPr/>
        </p:nvSpPr>
        <p:spPr>
          <a:xfrm>
            <a:off x="2194560" y="31496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374151"/>
                </a:solidFill>
                <a:latin typeface="Söhne"/>
              </a:rPr>
              <a:t>easily implemented</a:t>
            </a:r>
            <a:endParaRPr lang="en-US"/>
          </a:p>
        </p:txBody>
      </p:sp>
      <p:sp>
        <p:nvSpPr>
          <p:cNvPr id="11" name="TextBox 10">
            <a:extLst>
              <a:ext uri="{FF2B5EF4-FFF2-40B4-BE49-F238E27FC236}">
                <a16:creationId xmlns:a16="http://schemas.microsoft.com/office/drawing/2014/main" id="{A2F4BF4E-C8A9-B724-020C-AA9309676E7F}"/>
              </a:ext>
            </a:extLst>
          </p:cNvPr>
          <p:cNvSpPr txBox="1"/>
          <p:nvPr/>
        </p:nvSpPr>
        <p:spPr>
          <a:xfrm>
            <a:off x="2316480" y="4297680"/>
            <a:ext cx="58521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374151"/>
                </a:solidFill>
                <a:latin typeface="Söhne"/>
              </a:rPr>
              <a:t>increase the computational complexity of the system</a:t>
            </a:r>
            <a:endParaRPr lang="en-US"/>
          </a:p>
        </p:txBody>
      </p:sp>
      <p:sp>
        <p:nvSpPr>
          <p:cNvPr id="12" name="TextBox 11">
            <a:extLst>
              <a:ext uri="{FF2B5EF4-FFF2-40B4-BE49-F238E27FC236}">
                <a16:creationId xmlns:a16="http://schemas.microsoft.com/office/drawing/2014/main" id="{E0F267F1-8FBE-3A55-FF44-A4146E0FD3CD}"/>
              </a:ext>
            </a:extLst>
          </p:cNvPr>
          <p:cNvSpPr txBox="1"/>
          <p:nvPr/>
        </p:nvSpPr>
        <p:spPr>
          <a:xfrm>
            <a:off x="2428240" y="4724400"/>
            <a:ext cx="52933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suffers from bandwidth efficiency</a:t>
            </a:r>
          </a:p>
        </p:txBody>
      </p:sp>
    </p:spTree>
    <p:extLst>
      <p:ext uri="{BB962C8B-B14F-4D97-AF65-F5344CB8AC3E}">
        <p14:creationId xmlns:p14="http://schemas.microsoft.com/office/powerpoint/2010/main" val="2188401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D416-BA75-EDBA-18B7-80E2CCAC6B4C}"/>
              </a:ext>
            </a:extLst>
          </p:cNvPr>
          <p:cNvSpPr>
            <a:spLocks noGrp="1"/>
          </p:cNvSpPr>
          <p:nvPr>
            <p:ph type="title"/>
          </p:nvPr>
        </p:nvSpPr>
        <p:spPr>
          <a:xfrm>
            <a:off x="455930" y="487360"/>
            <a:ext cx="7886700" cy="553403"/>
          </a:xfrm>
        </p:spPr>
        <p:txBody>
          <a:bodyPr>
            <a:noAutofit/>
          </a:bodyPr>
          <a:lstStyle/>
          <a:p>
            <a:pPr>
              <a:spcBef>
                <a:spcPts val="1000"/>
              </a:spcBef>
            </a:pPr>
            <a:r>
              <a:rPr lang="en-US" sz="3600" b="1" dirty="0">
                <a:ea typeface="+mj-lt"/>
                <a:cs typeface="+mj-lt"/>
              </a:rPr>
              <a:t>Probabilistic (scrambling) technique</a:t>
            </a:r>
          </a:p>
          <a:p>
            <a:endParaRPr lang="en-US" sz="3600" b="1" dirty="0">
              <a:ea typeface="Calibri Light"/>
              <a:cs typeface="Calibri Light"/>
            </a:endParaRPr>
          </a:p>
        </p:txBody>
      </p:sp>
      <p:sp>
        <p:nvSpPr>
          <p:cNvPr id="7" name="TextBox 6">
            <a:extLst>
              <a:ext uri="{FF2B5EF4-FFF2-40B4-BE49-F238E27FC236}">
                <a16:creationId xmlns:a16="http://schemas.microsoft.com/office/drawing/2014/main" id="{091D3ECA-62EB-E11F-9A84-72ABE9F67251}"/>
              </a:ext>
            </a:extLst>
          </p:cNvPr>
          <p:cNvSpPr txBox="1"/>
          <p:nvPr/>
        </p:nvSpPr>
        <p:spPr>
          <a:xfrm>
            <a:off x="629920" y="2702560"/>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Advantages</a:t>
            </a:r>
          </a:p>
        </p:txBody>
      </p:sp>
      <p:sp>
        <p:nvSpPr>
          <p:cNvPr id="9" name="TextBox 8">
            <a:extLst>
              <a:ext uri="{FF2B5EF4-FFF2-40B4-BE49-F238E27FC236}">
                <a16:creationId xmlns:a16="http://schemas.microsoft.com/office/drawing/2014/main" id="{2FBA2DDC-8320-DA9C-4A0D-7E582E98A250}"/>
              </a:ext>
            </a:extLst>
          </p:cNvPr>
          <p:cNvSpPr txBox="1"/>
          <p:nvPr/>
        </p:nvSpPr>
        <p:spPr>
          <a:xfrm>
            <a:off x="1849120" y="4439920"/>
            <a:ext cx="43891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ea typeface="Söhne"/>
                <a:cs typeface="Söhne"/>
              </a:rPr>
              <a:t>Additional complexity in the receiver,</a:t>
            </a:r>
            <a:endParaRPr lang="en-US" dirty="0"/>
          </a:p>
        </p:txBody>
      </p:sp>
      <p:sp>
        <p:nvSpPr>
          <p:cNvPr id="11" name="TextBox 10">
            <a:extLst>
              <a:ext uri="{FF2B5EF4-FFF2-40B4-BE49-F238E27FC236}">
                <a16:creationId xmlns:a16="http://schemas.microsoft.com/office/drawing/2014/main" id="{9A8EE28F-FFB7-A671-6622-4611A7D2F15C}"/>
              </a:ext>
            </a:extLst>
          </p:cNvPr>
          <p:cNvSpPr txBox="1"/>
          <p:nvPr/>
        </p:nvSpPr>
        <p:spPr>
          <a:xfrm>
            <a:off x="1798320" y="3068320"/>
            <a:ext cx="37287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simple and low-complexity</a:t>
            </a:r>
          </a:p>
          <a:p>
            <a:r>
              <a:rPr lang="en-US" dirty="0">
                <a:solidFill>
                  <a:srgbClr val="374151"/>
                </a:solidFill>
                <a:latin typeface="Söhne"/>
              </a:rPr>
              <a:t>easily implemented</a:t>
            </a:r>
          </a:p>
        </p:txBody>
      </p:sp>
      <p:sp>
        <p:nvSpPr>
          <p:cNvPr id="12" name="TextBox 11">
            <a:extLst>
              <a:ext uri="{FF2B5EF4-FFF2-40B4-BE49-F238E27FC236}">
                <a16:creationId xmlns:a16="http://schemas.microsoft.com/office/drawing/2014/main" id="{60BF6976-E4A2-8CD2-7DB9-7E1DF20BA783}"/>
              </a:ext>
            </a:extLst>
          </p:cNvPr>
          <p:cNvSpPr txBox="1"/>
          <p:nvPr/>
        </p:nvSpPr>
        <p:spPr>
          <a:xfrm>
            <a:off x="701039" y="3881120"/>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Disadvantages</a:t>
            </a:r>
          </a:p>
        </p:txBody>
      </p:sp>
      <p:sp>
        <p:nvSpPr>
          <p:cNvPr id="3" name="TextBox 2">
            <a:extLst>
              <a:ext uri="{FF2B5EF4-FFF2-40B4-BE49-F238E27FC236}">
                <a16:creationId xmlns:a16="http://schemas.microsoft.com/office/drawing/2014/main" id="{F6440791-72C4-D20A-E9B0-D29A9D847C06}"/>
              </a:ext>
            </a:extLst>
          </p:cNvPr>
          <p:cNvSpPr txBox="1"/>
          <p:nvPr/>
        </p:nvSpPr>
        <p:spPr>
          <a:xfrm>
            <a:off x="457200" y="979675"/>
            <a:ext cx="788416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This technique involves multiplying the data symbols with a random sequence before performing the inverse discrete Fourier transform (IDFT) to generate the OFDM signal. The random sequence is generated based on a probabilistic model, which helps to reduce the PAPR of the transmitted signal while maintaining the integrity of the data.</a:t>
            </a:r>
            <a:endParaRPr lang="en-US" dirty="0">
              <a:ea typeface="Calibri" panose="020F0502020204030204"/>
              <a:cs typeface="Calibri" panose="020F0502020204030204"/>
            </a:endParaRPr>
          </a:p>
        </p:txBody>
      </p:sp>
      <p:sp>
        <p:nvSpPr>
          <p:cNvPr id="5" name="TextBox 4">
            <a:extLst>
              <a:ext uri="{FF2B5EF4-FFF2-40B4-BE49-F238E27FC236}">
                <a16:creationId xmlns:a16="http://schemas.microsoft.com/office/drawing/2014/main" id="{90E81530-4C5A-00D7-6982-2D7173D5B3CE}"/>
              </a:ext>
            </a:extLst>
          </p:cNvPr>
          <p:cNvSpPr txBox="1"/>
          <p:nvPr/>
        </p:nvSpPr>
        <p:spPr>
          <a:xfrm>
            <a:off x="1849120" y="4988560"/>
            <a:ext cx="52120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74151"/>
                </a:solidFill>
                <a:latin typeface="Söhne"/>
              </a:rPr>
              <a:t>Reduce the overall signal-to-noise ratio (SNR)</a:t>
            </a:r>
            <a:endParaRPr lang="en-US" dirty="0"/>
          </a:p>
        </p:txBody>
      </p:sp>
    </p:spTree>
    <p:extLst>
      <p:ext uri="{BB962C8B-B14F-4D97-AF65-F5344CB8AC3E}">
        <p14:creationId xmlns:p14="http://schemas.microsoft.com/office/powerpoint/2010/main" val="3748126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D416-BA75-EDBA-18B7-80E2CCAC6B4C}"/>
              </a:ext>
            </a:extLst>
          </p:cNvPr>
          <p:cNvSpPr>
            <a:spLocks noGrp="1"/>
          </p:cNvSpPr>
          <p:nvPr>
            <p:ph type="title"/>
          </p:nvPr>
        </p:nvSpPr>
        <p:spPr>
          <a:xfrm>
            <a:off x="455930" y="354966"/>
            <a:ext cx="7886700" cy="553403"/>
          </a:xfrm>
        </p:spPr>
        <p:txBody>
          <a:bodyPr>
            <a:noAutofit/>
          </a:bodyPr>
          <a:lstStyle/>
          <a:p>
            <a:pPr>
              <a:spcBef>
                <a:spcPts val="1000"/>
              </a:spcBef>
            </a:pPr>
            <a:r>
              <a:rPr lang="en-US" sz="3600" b="1" dirty="0">
                <a:ea typeface="+mj-lt"/>
                <a:cs typeface="+mj-lt"/>
              </a:rPr>
              <a:t>Adaptive predistortion technique</a:t>
            </a:r>
            <a:endParaRPr lang="en-US" b="1" dirty="0">
              <a:ea typeface="+mj-lt"/>
              <a:cs typeface="+mj-lt"/>
            </a:endParaRPr>
          </a:p>
          <a:p>
            <a:endParaRPr lang="en-US" sz="3600" b="1" dirty="0">
              <a:ea typeface="Calibri Light"/>
              <a:cs typeface="Calibri Light"/>
            </a:endParaRPr>
          </a:p>
        </p:txBody>
      </p:sp>
      <p:sp>
        <p:nvSpPr>
          <p:cNvPr id="7" name="TextBox 6">
            <a:extLst>
              <a:ext uri="{FF2B5EF4-FFF2-40B4-BE49-F238E27FC236}">
                <a16:creationId xmlns:a16="http://schemas.microsoft.com/office/drawing/2014/main" id="{091D3ECA-62EB-E11F-9A84-72ABE9F67251}"/>
              </a:ext>
            </a:extLst>
          </p:cNvPr>
          <p:cNvSpPr txBox="1"/>
          <p:nvPr/>
        </p:nvSpPr>
        <p:spPr>
          <a:xfrm>
            <a:off x="700530" y="2552514"/>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Advantages</a:t>
            </a:r>
          </a:p>
        </p:txBody>
      </p:sp>
      <p:sp>
        <p:nvSpPr>
          <p:cNvPr id="9" name="TextBox 8">
            <a:extLst>
              <a:ext uri="{FF2B5EF4-FFF2-40B4-BE49-F238E27FC236}">
                <a16:creationId xmlns:a16="http://schemas.microsoft.com/office/drawing/2014/main" id="{2FBA2DDC-8320-DA9C-4A0D-7E582E98A250}"/>
              </a:ext>
            </a:extLst>
          </p:cNvPr>
          <p:cNvSpPr txBox="1"/>
          <p:nvPr/>
        </p:nvSpPr>
        <p:spPr>
          <a:xfrm>
            <a:off x="1937383" y="4669402"/>
            <a:ext cx="525409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use of a feedback loop-accuracy of the feedback </a:t>
            </a:r>
          </a:p>
        </p:txBody>
      </p:sp>
      <p:sp>
        <p:nvSpPr>
          <p:cNvPr id="11" name="TextBox 10">
            <a:extLst>
              <a:ext uri="{FF2B5EF4-FFF2-40B4-BE49-F238E27FC236}">
                <a16:creationId xmlns:a16="http://schemas.microsoft.com/office/drawing/2014/main" id="{9A8EE28F-FFB7-A671-6622-4611A7D2F15C}"/>
              </a:ext>
            </a:extLst>
          </p:cNvPr>
          <p:cNvSpPr txBox="1"/>
          <p:nvPr/>
        </p:nvSpPr>
        <p:spPr>
          <a:xfrm>
            <a:off x="1798320" y="3068320"/>
            <a:ext cx="539688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low-complexity</a:t>
            </a:r>
          </a:p>
          <a:p>
            <a:r>
              <a:rPr lang="en-US" sz="2000" dirty="0">
                <a:solidFill>
                  <a:srgbClr val="374151"/>
                </a:solidFill>
                <a:ea typeface="+mn-lt"/>
                <a:cs typeface="+mn-lt"/>
              </a:rPr>
              <a:t>can be used in combination with other signal processing techniques</a:t>
            </a:r>
          </a:p>
        </p:txBody>
      </p:sp>
      <p:sp>
        <p:nvSpPr>
          <p:cNvPr id="12" name="TextBox 11">
            <a:extLst>
              <a:ext uri="{FF2B5EF4-FFF2-40B4-BE49-F238E27FC236}">
                <a16:creationId xmlns:a16="http://schemas.microsoft.com/office/drawing/2014/main" id="{60BF6976-E4A2-8CD2-7DB9-7E1DF20BA783}"/>
              </a:ext>
            </a:extLst>
          </p:cNvPr>
          <p:cNvSpPr txBox="1"/>
          <p:nvPr/>
        </p:nvSpPr>
        <p:spPr>
          <a:xfrm>
            <a:off x="701039" y="4066471"/>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Disadvantage</a:t>
            </a:r>
            <a:r>
              <a:rPr lang="en-US" dirty="0"/>
              <a:t>s</a:t>
            </a:r>
          </a:p>
        </p:txBody>
      </p:sp>
      <p:sp>
        <p:nvSpPr>
          <p:cNvPr id="3" name="TextBox 2">
            <a:extLst>
              <a:ext uri="{FF2B5EF4-FFF2-40B4-BE49-F238E27FC236}">
                <a16:creationId xmlns:a16="http://schemas.microsoft.com/office/drawing/2014/main" id="{F6440791-72C4-D20A-E9B0-D29A9D847C06}"/>
              </a:ext>
            </a:extLst>
          </p:cNvPr>
          <p:cNvSpPr txBox="1"/>
          <p:nvPr/>
        </p:nvSpPr>
        <p:spPr>
          <a:xfrm>
            <a:off x="629920" y="873760"/>
            <a:ext cx="796359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This technique involves introducing a predistortion signal to the transmitted signal to counteract the effects of PAPR. The predistortion signal is adaptive and can be adjusted in real-time based on the characteristics of the transmitted signal.</a:t>
            </a:r>
            <a:endParaRPr lang="en-US" sz="2000" dirty="0">
              <a:ea typeface="+mn-lt"/>
              <a:cs typeface="+mn-lt"/>
            </a:endParaRPr>
          </a:p>
        </p:txBody>
      </p:sp>
      <p:sp>
        <p:nvSpPr>
          <p:cNvPr id="5" name="TextBox 4">
            <a:extLst>
              <a:ext uri="{FF2B5EF4-FFF2-40B4-BE49-F238E27FC236}">
                <a16:creationId xmlns:a16="http://schemas.microsoft.com/office/drawing/2014/main" id="{90E81530-4C5A-00D7-6982-2D7173D5B3CE}"/>
              </a:ext>
            </a:extLst>
          </p:cNvPr>
          <p:cNvSpPr txBox="1"/>
          <p:nvPr/>
        </p:nvSpPr>
        <p:spPr>
          <a:xfrm>
            <a:off x="1981514" y="5226869"/>
            <a:ext cx="5212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Requires careful optimization</a:t>
            </a:r>
          </a:p>
        </p:txBody>
      </p:sp>
    </p:spTree>
    <p:extLst>
      <p:ext uri="{BB962C8B-B14F-4D97-AF65-F5344CB8AC3E}">
        <p14:creationId xmlns:p14="http://schemas.microsoft.com/office/powerpoint/2010/main" val="3335595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Diagram&#10;&#10;Description automatically generated">
            <a:extLst>
              <a:ext uri="{FF2B5EF4-FFF2-40B4-BE49-F238E27FC236}">
                <a16:creationId xmlns:a16="http://schemas.microsoft.com/office/drawing/2014/main" id="{0B17FEEB-5A1D-C4D3-0FA6-64DBACD82B85}"/>
              </a:ext>
            </a:extLst>
          </p:cNvPr>
          <p:cNvPicPr>
            <a:picLocks noChangeAspect="1"/>
          </p:cNvPicPr>
          <p:nvPr/>
        </p:nvPicPr>
        <p:blipFill>
          <a:blip r:embed="rId3"/>
          <a:stretch>
            <a:fillRect/>
          </a:stretch>
        </p:blipFill>
        <p:spPr>
          <a:xfrm>
            <a:off x="2688476" y="1976056"/>
            <a:ext cx="5841214" cy="1352467"/>
          </a:xfrm>
          <a:prstGeom prst="rect">
            <a:avLst/>
          </a:prstGeom>
        </p:spPr>
      </p:pic>
      <p:sp>
        <p:nvSpPr>
          <p:cNvPr id="2" name="Title 1">
            <a:extLst>
              <a:ext uri="{FF2B5EF4-FFF2-40B4-BE49-F238E27FC236}">
                <a16:creationId xmlns:a16="http://schemas.microsoft.com/office/drawing/2014/main" id="{F624D416-BA75-EDBA-18B7-80E2CCAC6B4C}"/>
              </a:ext>
            </a:extLst>
          </p:cNvPr>
          <p:cNvSpPr>
            <a:spLocks noGrp="1"/>
          </p:cNvSpPr>
          <p:nvPr>
            <p:ph type="title"/>
          </p:nvPr>
        </p:nvSpPr>
        <p:spPr>
          <a:xfrm>
            <a:off x="455930" y="354966"/>
            <a:ext cx="7886700" cy="553403"/>
          </a:xfrm>
        </p:spPr>
        <p:txBody>
          <a:bodyPr>
            <a:noAutofit/>
          </a:bodyPr>
          <a:lstStyle/>
          <a:p>
            <a:pPr>
              <a:spcBef>
                <a:spcPts val="1000"/>
              </a:spcBef>
            </a:pPr>
            <a:r>
              <a:rPr lang="en-US" sz="3600" b="1" dirty="0">
                <a:ea typeface="+mj-lt"/>
                <a:cs typeface="+mj-lt"/>
              </a:rPr>
              <a:t>DFT-spreading technique</a:t>
            </a:r>
            <a:endParaRPr lang="en-US" b="1" dirty="0" err="1">
              <a:ea typeface="+mj-lt"/>
              <a:cs typeface="+mj-lt"/>
            </a:endParaRPr>
          </a:p>
          <a:p>
            <a:endParaRPr lang="en-US" sz="3600" b="1" dirty="0">
              <a:ea typeface="Calibri Light"/>
              <a:cs typeface="Calibri Light"/>
            </a:endParaRPr>
          </a:p>
        </p:txBody>
      </p:sp>
      <p:sp>
        <p:nvSpPr>
          <p:cNvPr id="7" name="TextBox 6">
            <a:extLst>
              <a:ext uri="{FF2B5EF4-FFF2-40B4-BE49-F238E27FC236}">
                <a16:creationId xmlns:a16="http://schemas.microsoft.com/office/drawing/2014/main" id="{091D3ECA-62EB-E11F-9A84-72ABE9F67251}"/>
              </a:ext>
            </a:extLst>
          </p:cNvPr>
          <p:cNvSpPr txBox="1"/>
          <p:nvPr/>
        </p:nvSpPr>
        <p:spPr>
          <a:xfrm>
            <a:off x="524005" y="2702560"/>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Advantages</a:t>
            </a:r>
          </a:p>
        </p:txBody>
      </p:sp>
      <p:sp>
        <p:nvSpPr>
          <p:cNvPr id="9" name="TextBox 8">
            <a:extLst>
              <a:ext uri="{FF2B5EF4-FFF2-40B4-BE49-F238E27FC236}">
                <a16:creationId xmlns:a16="http://schemas.microsoft.com/office/drawing/2014/main" id="{2FBA2DDC-8320-DA9C-4A0D-7E582E98A250}"/>
              </a:ext>
            </a:extLst>
          </p:cNvPr>
          <p:cNvSpPr txBox="1"/>
          <p:nvPr/>
        </p:nvSpPr>
        <p:spPr>
          <a:xfrm>
            <a:off x="631097" y="4581140"/>
            <a:ext cx="438912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reduce the overall data rate</a:t>
            </a:r>
          </a:p>
        </p:txBody>
      </p:sp>
      <p:sp>
        <p:nvSpPr>
          <p:cNvPr id="11" name="TextBox 10">
            <a:extLst>
              <a:ext uri="{FF2B5EF4-FFF2-40B4-BE49-F238E27FC236}">
                <a16:creationId xmlns:a16="http://schemas.microsoft.com/office/drawing/2014/main" id="{9A8EE28F-FFB7-A671-6622-4611A7D2F15C}"/>
              </a:ext>
            </a:extLst>
          </p:cNvPr>
          <p:cNvSpPr txBox="1"/>
          <p:nvPr/>
        </p:nvSpPr>
        <p:spPr>
          <a:xfrm>
            <a:off x="527340" y="3165409"/>
            <a:ext cx="820363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low-complexity</a:t>
            </a:r>
          </a:p>
          <a:p>
            <a:r>
              <a:rPr lang="en-US" sz="2000" dirty="0">
                <a:solidFill>
                  <a:srgbClr val="374151"/>
                </a:solidFill>
                <a:ea typeface="+mn-lt"/>
                <a:cs typeface="+mn-lt"/>
              </a:rPr>
              <a:t>can be used in combination with other signal processing techniques</a:t>
            </a:r>
          </a:p>
          <a:p>
            <a:r>
              <a:rPr lang="en-US" sz="2000" dirty="0">
                <a:solidFill>
                  <a:srgbClr val="374151"/>
                </a:solidFill>
                <a:ea typeface="+mn-lt"/>
                <a:cs typeface="+mn-lt"/>
              </a:rPr>
              <a:t>improve the spectral efficiency</a:t>
            </a:r>
          </a:p>
        </p:txBody>
      </p:sp>
      <p:sp>
        <p:nvSpPr>
          <p:cNvPr id="12" name="TextBox 11">
            <a:extLst>
              <a:ext uri="{FF2B5EF4-FFF2-40B4-BE49-F238E27FC236}">
                <a16:creationId xmlns:a16="http://schemas.microsoft.com/office/drawing/2014/main" id="{60BF6976-E4A2-8CD2-7DB9-7E1DF20BA783}"/>
              </a:ext>
            </a:extLst>
          </p:cNvPr>
          <p:cNvSpPr txBox="1"/>
          <p:nvPr/>
        </p:nvSpPr>
        <p:spPr>
          <a:xfrm>
            <a:off x="577471" y="4172386"/>
            <a:ext cx="1584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Disadvantages</a:t>
            </a:r>
          </a:p>
        </p:txBody>
      </p:sp>
      <p:sp>
        <p:nvSpPr>
          <p:cNvPr id="3" name="TextBox 2">
            <a:extLst>
              <a:ext uri="{FF2B5EF4-FFF2-40B4-BE49-F238E27FC236}">
                <a16:creationId xmlns:a16="http://schemas.microsoft.com/office/drawing/2014/main" id="{F6440791-72C4-D20A-E9B0-D29A9D847C06}"/>
              </a:ext>
            </a:extLst>
          </p:cNvPr>
          <p:cNvSpPr txBox="1"/>
          <p:nvPr/>
        </p:nvSpPr>
        <p:spPr>
          <a:xfrm>
            <a:off x="629920" y="873760"/>
            <a:ext cx="788416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This technique involves spreading the data symbols over multiple subcarriers using the discrete Fourier transform (DFT). The spreading operation reduces the PAPR of the transmitted signal by redistributing the power over a larger bandwidth.</a:t>
            </a:r>
            <a:endParaRPr lang="en-US" sz="2000" dirty="0">
              <a:ea typeface="+mn-lt"/>
              <a:cs typeface="+mn-lt"/>
            </a:endParaRPr>
          </a:p>
        </p:txBody>
      </p:sp>
      <p:sp>
        <p:nvSpPr>
          <p:cNvPr id="5" name="TextBox 4">
            <a:extLst>
              <a:ext uri="{FF2B5EF4-FFF2-40B4-BE49-F238E27FC236}">
                <a16:creationId xmlns:a16="http://schemas.microsoft.com/office/drawing/2014/main" id="{90E81530-4C5A-00D7-6982-2D7173D5B3CE}"/>
              </a:ext>
            </a:extLst>
          </p:cNvPr>
          <p:cNvSpPr txBox="1"/>
          <p:nvPr/>
        </p:nvSpPr>
        <p:spPr>
          <a:xfrm>
            <a:off x="631097" y="5112128"/>
            <a:ext cx="63418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ea typeface="+mn-lt"/>
                <a:cs typeface="+mn-lt"/>
              </a:rPr>
              <a:t>Introduce some additional delay in the transmitted signal</a:t>
            </a:r>
          </a:p>
        </p:txBody>
      </p:sp>
      <p:sp>
        <p:nvSpPr>
          <p:cNvPr id="4" name="TextBox 3">
            <a:extLst>
              <a:ext uri="{FF2B5EF4-FFF2-40B4-BE49-F238E27FC236}">
                <a16:creationId xmlns:a16="http://schemas.microsoft.com/office/drawing/2014/main" id="{87E68345-15CD-9D24-EA5E-99CEC8D1ACE0}"/>
              </a:ext>
            </a:extLst>
          </p:cNvPr>
          <p:cNvSpPr txBox="1"/>
          <p:nvPr/>
        </p:nvSpPr>
        <p:spPr>
          <a:xfrm>
            <a:off x="357758" y="5738360"/>
            <a:ext cx="87884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This can reduce the PAPR of OFDM signal to the level of single-carrier transmission.</a:t>
            </a:r>
            <a:r>
              <a:rPr lang="en-US" dirty="0"/>
              <a:t> </a:t>
            </a:r>
          </a:p>
          <a:p>
            <a:r>
              <a:rPr lang="en-US"/>
              <a:t>This </a:t>
            </a:r>
            <a:r>
              <a:rPr lang="en-US" dirty="0"/>
              <a:t>technique is particularly useful for mobile terminals in uplink transmission</a:t>
            </a:r>
            <a:endParaRPr lang="en-US">
              <a:ea typeface="Calibri"/>
              <a:cs typeface="Calibri"/>
            </a:endParaRPr>
          </a:p>
        </p:txBody>
      </p:sp>
    </p:spTree>
    <p:extLst>
      <p:ext uri="{BB962C8B-B14F-4D97-AF65-F5344CB8AC3E}">
        <p14:creationId xmlns:p14="http://schemas.microsoft.com/office/powerpoint/2010/main" val="3238085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EB3EF-78D7-7FBE-FEC2-8A1964D82F5B}"/>
              </a:ext>
            </a:extLst>
          </p:cNvPr>
          <p:cNvSpPr>
            <a:spLocks noGrp="1"/>
          </p:cNvSpPr>
          <p:nvPr>
            <p:ph type="title"/>
          </p:nvPr>
        </p:nvSpPr>
        <p:spPr>
          <a:xfrm>
            <a:off x="628650" y="365127"/>
            <a:ext cx="7886700" cy="925194"/>
          </a:xfrm>
        </p:spPr>
        <p:txBody>
          <a:bodyPr/>
          <a:lstStyle/>
          <a:p>
            <a:r>
              <a:rPr lang="en-US" b="1" dirty="0"/>
              <a:t>Questions</a:t>
            </a:r>
          </a:p>
        </p:txBody>
      </p:sp>
      <p:sp>
        <p:nvSpPr>
          <p:cNvPr id="3" name="Content Placeholder 2">
            <a:extLst>
              <a:ext uri="{FF2B5EF4-FFF2-40B4-BE49-F238E27FC236}">
                <a16:creationId xmlns:a16="http://schemas.microsoft.com/office/drawing/2014/main" id="{02B06591-827E-3891-B603-6463384AF5D1}"/>
              </a:ext>
            </a:extLst>
          </p:cNvPr>
          <p:cNvSpPr>
            <a:spLocks noGrp="1"/>
          </p:cNvSpPr>
          <p:nvPr>
            <p:ph idx="1"/>
          </p:nvPr>
        </p:nvSpPr>
        <p:spPr>
          <a:xfrm>
            <a:off x="396240" y="1517969"/>
            <a:ext cx="8575040" cy="4351338"/>
          </a:xfrm>
        </p:spPr>
        <p:txBody>
          <a:bodyPr>
            <a:normAutofit fontScale="85000" lnSpcReduction="20000"/>
          </a:bodyPr>
          <a:lstStyle/>
          <a:p>
            <a:r>
              <a:rPr lang="en-US" i="0" dirty="0">
                <a:effectLst/>
                <a:latin typeface="Söhne"/>
              </a:rPr>
              <a:t>What is OFDM, and how does it differ from traditional modulation schemes?</a:t>
            </a:r>
          </a:p>
          <a:p>
            <a:r>
              <a:rPr lang="en-US" i="0" dirty="0">
                <a:effectLst/>
                <a:latin typeface="Söhne"/>
              </a:rPr>
              <a:t>Explain the concept of subcarriers in OFDM. How are they used in transmitting data?</a:t>
            </a:r>
          </a:p>
          <a:p>
            <a:r>
              <a:rPr lang="en-US" i="0" dirty="0">
                <a:effectLst/>
                <a:latin typeface="Söhne"/>
              </a:rPr>
              <a:t>Why is the cyclic prefix (CP) important in OFDM systems, and how does it address the issue of inter-symbol interference?</a:t>
            </a:r>
          </a:p>
          <a:p>
            <a:r>
              <a:rPr lang="en-US" i="0" dirty="0">
                <a:effectLst/>
                <a:latin typeface="Söhne"/>
              </a:rPr>
              <a:t>What is the significance of the guard interval in OFDM, and how does it contribute to robust communication in the presence of multipath propagation?</a:t>
            </a:r>
          </a:p>
          <a:p>
            <a:r>
              <a:rPr lang="en-US" i="0" dirty="0">
                <a:effectLst/>
                <a:latin typeface="Söhne"/>
              </a:rPr>
              <a:t>How does OFDM handle frequency-selective fading in wireless channels?</a:t>
            </a:r>
          </a:p>
          <a:p>
            <a:r>
              <a:rPr lang="en-US" i="0" dirty="0">
                <a:effectLst/>
                <a:latin typeface="Söhne"/>
              </a:rPr>
              <a:t>Explain the role of pilot symbols in OFDM. Why are they inserted into the transmitted signal?</a:t>
            </a:r>
            <a:endParaRPr lang="en-US" dirty="0"/>
          </a:p>
        </p:txBody>
      </p:sp>
    </p:spTree>
    <p:extLst>
      <p:ext uri="{BB962C8B-B14F-4D97-AF65-F5344CB8AC3E}">
        <p14:creationId xmlns:p14="http://schemas.microsoft.com/office/powerpoint/2010/main" val="16947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1FA37-71E6-873D-1E5B-106D176428B2}"/>
              </a:ext>
            </a:extLst>
          </p:cNvPr>
          <p:cNvSpPr>
            <a:spLocks noGrp="1"/>
          </p:cNvSpPr>
          <p:nvPr>
            <p:ph type="title"/>
          </p:nvPr>
        </p:nvSpPr>
        <p:spPr>
          <a:xfrm>
            <a:off x="628650" y="243205"/>
            <a:ext cx="7886700" cy="884555"/>
          </a:xfrm>
        </p:spPr>
        <p:txBody>
          <a:bodyPr/>
          <a:lstStyle/>
          <a:p>
            <a:r>
              <a:rPr lang="en-US" dirty="0"/>
              <a:t>Questions</a:t>
            </a:r>
          </a:p>
        </p:txBody>
      </p:sp>
      <p:sp>
        <p:nvSpPr>
          <p:cNvPr id="3" name="Content Placeholder 2">
            <a:extLst>
              <a:ext uri="{FF2B5EF4-FFF2-40B4-BE49-F238E27FC236}">
                <a16:creationId xmlns:a16="http://schemas.microsoft.com/office/drawing/2014/main" id="{26D11BE6-7989-1275-C7E6-63AA446BE45A}"/>
              </a:ext>
            </a:extLst>
          </p:cNvPr>
          <p:cNvSpPr>
            <a:spLocks noGrp="1"/>
          </p:cNvSpPr>
          <p:nvPr>
            <p:ph idx="1"/>
          </p:nvPr>
        </p:nvSpPr>
        <p:spPr>
          <a:xfrm>
            <a:off x="628650" y="1127760"/>
            <a:ext cx="7886700" cy="4802185"/>
          </a:xfrm>
        </p:spPr>
        <p:txBody>
          <a:bodyPr>
            <a:noAutofit/>
          </a:bodyPr>
          <a:lstStyle/>
          <a:p>
            <a:pPr>
              <a:lnSpc>
                <a:spcPct val="100000"/>
              </a:lnSpc>
            </a:pPr>
            <a:r>
              <a:rPr lang="en-US" sz="2400" i="0" dirty="0">
                <a:effectLst/>
                <a:latin typeface="Söhne"/>
              </a:rPr>
              <a:t>What is the Synchronization Timing Offset (STO) in OFDM, and why is accurate synchronization crucial for successful data reception?</a:t>
            </a:r>
          </a:p>
          <a:p>
            <a:pPr>
              <a:lnSpc>
                <a:spcPct val="100000"/>
              </a:lnSpc>
            </a:pPr>
            <a:r>
              <a:rPr lang="en-US" sz="2400" i="0" dirty="0">
                <a:effectLst/>
                <a:latin typeface="Söhne"/>
              </a:rPr>
              <a:t>How does frequency offset affect the performance of an OFDM system, and what techniques are employed to mitigate this issue?</a:t>
            </a:r>
          </a:p>
          <a:p>
            <a:pPr>
              <a:lnSpc>
                <a:spcPct val="100000"/>
              </a:lnSpc>
            </a:pPr>
            <a:r>
              <a:rPr lang="en-US" sz="2400" i="0" dirty="0">
                <a:effectLst/>
                <a:latin typeface="Söhne"/>
              </a:rPr>
              <a:t>Discuss the impact of channel impairments, such as noise and interference, on the performance of OFDM systems.</a:t>
            </a:r>
          </a:p>
          <a:p>
            <a:pPr>
              <a:lnSpc>
                <a:spcPct val="100000"/>
              </a:lnSpc>
            </a:pPr>
            <a:r>
              <a:rPr lang="en-US" sz="2400" i="0" dirty="0">
                <a:effectLst/>
                <a:latin typeface="Söhne"/>
              </a:rPr>
              <a:t>Explain the concept of Peak-to-Average Power Ratio (PAPR) in OFDM. Why is it a concern, and what techniques can be used to reduce PAPR?</a:t>
            </a:r>
          </a:p>
          <a:p>
            <a:pPr>
              <a:lnSpc>
                <a:spcPct val="100000"/>
              </a:lnSpc>
            </a:pPr>
            <a:r>
              <a:rPr lang="en-US" sz="2400" i="0" dirty="0">
                <a:effectLst/>
                <a:latin typeface="Söhne"/>
              </a:rPr>
              <a:t>Describe the trade-offs between time-domain and frequency-domain synchronization techniques in OFDM systems.</a:t>
            </a:r>
          </a:p>
          <a:p>
            <a:pPr>
              <a:lnSpc>
                <a:spcPct val="100000"/>
              </a:lnSpc>
            </a:pPr>
            <a:endParaRPr lang="en-US" sz="2400" i="0" dirty="0">
              <a:effectLst/>
              <a:latin typeface="Söhne"/>
            </a:endParaRPr>
          </a:p>
          <a:p>
            <a:pPr>
              <a:lnSpc>
                <a:spcPct val="100000"/>
              </a:lnSpc>
            </a:pPr>
            <a:r>
              <a:rPr lang="en-US" sz="2400" i="0" dirty="0">
                <a:effectLst/>
                <a:latin typeface="Söhne"/>
              </a:rPr>
              <a:t>How does OFDM support multiple access in the context of multiple users sharing the same frequency band?</a:t>
            </a:r>
          </a:p>
          <a:p>
            <a:pPr>
              <a:lnSpc>
                <a:spcPct val="100000"/>
              </a:lnSpc>
            </a:pPr>
            <a:endParaRPr lang="en-US" sz="2400" dirty="0"/>
          </a:p>
        </p:txBody>
      </p:sp>
    </p:spTree>
    <p:extLst>
      <p:ext uri="{BB962C8B-B14F-4D97-AF65-F5344CB8AC3E}">
        <p14:creationId xmlns:p14="http://schemas.microsoft.com/office/powerpoint/2010/main" val="333814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59F6BB5A7D914C9B3EBC96A6E21F77" ma:contentTypeVersion="14" ma:contentTypeDescription="Create a new document." ma:contentTypeScope="" ma:versionID="fda4ccff6591671c81d9f7567ae569d0">
  <xsd:schema xmlns:xsd="http://www.w3.org/2001/XMLSchema" xmlns:xs="http://www.w3.org/2001/XMLSchema" xmlns:p="http://schemas.microsoft.com/office/2006/metadata/properties" xmlns:ns3="76f8f3b6-16be-436e-bf2d-dedadcb77122" xmlns:ns4="d8514a62-9400-4177-9856-d6f8215948cc" targetNamespace="http://schemas.microsoft.com/office/2006/metadata/properties" ma:root="true" ma:fieldsID="5dd2106159393f1d8dbedbc6d6b27a07" ns3:_="" ns4:_="">
    <xsd:import namespace="76f8f3b6-16be-436e-bf2d-dedadcb77122"/>
    <xsd:import namespace="d8514a62-9400-4177-9856-d6f8215948c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f8f3b6-16be-436e-bf2d-dedadcb771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514a62-9400-4177-9856-d6f8215948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6f8f3b6-16be-436e-bf2d-dedadcb77122" xsi:nil="true"/>
  </documentManagement>
</p:properties>
</file>

<file path=customXml/itemProps1.xml><?xml version="1.0" encoding="utf-8"?>
<ds:datastoreItem xmlns:ds="http://schemas.openxmlformats.org/officeDocument/2006/customXml" ds:itemID="{1AF01DB4-B638-40AA-A96B-CDB0BCBB8FD8}">
  <ds:schemaRefs>
    <ds:schemaRef ds:uri="http://schemas.microsoft.com/sharepoint/v3/contenttype/forms"/>
  </ds:schemaRefs>
</ds:datastoreItem>
</file>

<file path=customXml/itemProps2.xml><?xml version="1.0" encoding="utf-8"?>
<ds:datastoreItem xmlns:ds="http://schemas.openxmlformats.org/officeDocument/2006/customXml" ds:itemID="{E469DD6B-0C77-4907-9AFC-74AC6720B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f8f3b6-16be-436e-bf2d-dedadcb77122"/>
    <ds:schemaRef ds:uri="d8514a62-9400-4177-9856-d6f8215948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B1BC10A-AC43-4888-BBEF-22D31D87E8F1}">
  <ds:schemaRefs>
    <ds:schemaRef ds:uri="d8514a62-9400-4177-9856-d6f8215948cc"/>
    <ds:schemaRef ds:uri="http://purl.org/dc/dcmitype/"/>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purl.org/dc/terms/"/>
    <ds:schemaRef ds:uri="http://schemas.openxmlformats.org/package/2006/metadata/core-properties"/>
    <ds:schemaRef ds:uri="76f8f3b6-16be-436e-bf2d-dedadcb7712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2297</TotalTime>
  <Words>1696</Words>
  <Application>Microsoft Office PowerPoint</Application>
  <PresentationFormat>On-screen Show (4:3)</PresentationFormat>
  <Paragraphs>156</Paragraphs>
  <Slides>27</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AdvP41153C</vt:lpstr>
      <vt:lpstr>Arial</vt:lpstr>
      <vt:lpstr>Calibri</vt:lpstr>
      <vt:lpstr>Calibri Light</vt:lpstr>
      <vt:lpstr>Georgia</vt:lpstr>
      <vt:lpstr>HelveticaNeue Regular</vt:lpstr>
      <vt:lpstr>Myriad Pro</vt:lpstr>
      <vt:lpstr>Söhne</vt:lpstr>
      <vt:lpstr>Verdana</vt:lpstr>
      <vt:lpstr>Office Theme</vt:lpstr>
      <vt:lpstr>OFDM Issues-Solutions</vt:lpstr>
      <vt:lpstr>Synchronization for OFDM</vt:lpstr>
      <vt:lpstr>Time and Frequency Error</vt:lpstr>
      <vt:lpstr>Symbol Time Offset  (STO) </vt:lpstr>
      <vt:lpstr>Effect of STO</vt:lpstr>
      <vt:lpstr>PowerPoint Presentation</vt:lpstr>
      <vt:lpstr>Estimation Techniques for STO</vt:lpstr>
      <vt:lpstr>PowerPoint Presentation</vt:lpstr>
      <vt:lpstr>Carrier Frequency Offset  (CFO) </vt:lpstr>
      <vt:lpstr>PowerPoint Presentation</vt:lpstr>
      <vt:lpstr>Effect of CFO</vt:lpstr>
      <vt:lpstr>Doppler frequency and normalized CFO: An example.</vt:lpstr>
      <vt:lpstr>PowerPoint Presentation</vt:lpstr>
      <vt:lpstr>PowerPoint Presentation</vt:lpstr>
      <vt:lpstr>Estimation Techniques for CFO</vt:lpstr>
      <vt:lpstr>Estimation Techniques for CFO</vt:lpstr>
      <vt:lpstr>Peak-to-Average Power Ratio (PAPR)</vt:lpstr>
      <vt:lpstr>PowerPoint Presentation</vt:lpstr>
      <vt:lpstr>PAPR</vt:lpstr>
      <vt:lpstr>PAPR Reduction Techniques</vt:lpstr>
      <vt:lpstr>Clipping technique </vt:lpstr>
      <vt:lpstr>Coding technique</vt:lpstr>
      <vt:lpstr>Probabilistic (scrambling) technique </vt:lpstr>
      <vt:lpstr>Adaptive predistortion technique </vt:lpstr>
      <vt:lpstr>DFT-spreading technique </vt:lpstr>
      <vt:lpstr>Questions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Abrar, Muhammad</dc:creator>
  <cp:lastModifiedBy>Abrar, Muhammad</cp:lastModifiedBy>
  <cp:revision>754</cp:revision>
  <dcterms:created xsi:type="dcterms:W3CDTF">2023-04-08T04:37:24Z</dcterms:created>
  <dcterms:modified xsi:type="dcterms:W3CDTF">2023-11-26T06:54:22Z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0x010100BB59F6BB5A7D914C9B3EBC96A6E21F77</vt:lpwstr>
  </property>
</Properties>
</file>