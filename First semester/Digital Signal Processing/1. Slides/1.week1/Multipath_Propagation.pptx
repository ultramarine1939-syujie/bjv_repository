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notesMasterIdLst>
    <p:notesMasterId r:id="rId53"/>
  </p:notesMasterIdLst>
  <p:sldIdLst>
    <p:sldId id="339" r:id="rId5"/>
    <p:sldId id="259" r:id="rId6"/>
    <p:sldId id="269" r:id="rId7"/>
    <p:sldId id="292" r:id="rId8"/>
    <p:sldId id="263" r:id="rId9"/>
    <p:sldId id="293" r:id="rId10"/>
    <p:sldId id="294" r:id="rId11"/>
    <p:sldId id="295" r:id="rId12"/>
    <p:sldId id="296" r:id="rId13"/>
    <p:sldId id="298" r:id="rId14"/>
    <p:sldId id="299" r:id="rId15"/>
    <p:sldId id="300" r:id="rId16"/>
    <p:sldId id="270" r:id="rId17"/>
    <p:sldId id="288" r:id="rId18"/>
    <p:sldId id="289" r:id="rId19"/>
    <p:sldId id="311" r:id="rId20"/>
    <p:sldId id="316" r:id="rId21"/>
    <p:sldId id="317" r:id="rId22"/>
    <p:sldId id="330" r:id="rId23"/>
    <p:sldId id="331" r:id="rId24"/>
    <p:sldId id="301" r:id="rId25"/>
    <p:sldId id="290" r:id="rId26"/>
    <p:sldId id="291" r:id="rId27"/>
    <p:sldId id="313" r:id="rId28"/>
    <p:sldId id="314" r:id="rId29"/>
    <p:sldId id="315" r:id="rId30"/>
    <p:sldId id="297" r:id="rId31"/>
    <p:sldId id="264" r:id="rId32"/>
    <p:sldId id="265" r:id="rId33"/>
    <p:sldId id="274" r:id="rId34"/>
    <p:sldId id="275" r:id="rId35"/>
    <p:sldId id="276" r:id="rId36"/>
    <p:sldId id="277" r:id="rId37"/>
    <p:sldId id="278" r:id="rId38"/>
    <p:sldId id="280" r:id="rId39"/>
    <p:sldId id="281" r:id="rId40"/>
    <p:sldId id="282" r:id="rId41"/>
    <p:sldId id="279" r:id="rId42"/>
    <p:sldId id="310" r:id="rId43"/>
    <p:sldId id="333" r:id="rId44"/>
    <p:sldId id="334" r:id="rId45"/>
    <p:sldId id="335" r:id="rId46"/>
    <p:sldId id="336" r:id="rId47"/>
    <p:sldId id="337" r:id="rId48"/>
    <p:sldId id="318" r:id="rId49"/>
    <p:sldId id="338" r:id="rId50"/>
    <p:sldId id="320" r:id="rId51"/>
    <p:sldId id="321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092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1F68E1-92FE-46C2-9A77-DE70720CD3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629C-AE5A-40DB-AD60-402E18EF6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2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charset="-128"/>
            </a:endParaRPr>
          </a:p>
        </p:txBody>
      </p:sp>
      <p:sp>
        <p:nvSpPr>
          <p:cNvPr id="153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47E1331-397A-4A4B-A652-1EAF84AD9D1F}" type="slidenum">
              <a:rPr lang="en-US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example, if an impulse is transmitted then it will be no longer a impulse when it is received at the other end, but it will become a pulse with spreading effect. The effect which makes this spreading of signal is known as Delay spread.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52629C-AE5A-40DB-AD60-402E18EF62E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0850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61D4008-01A3-4705-9E2B-DDC517DEF1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F1C67F4-F76E-487E-A939-27516D4FDA15}" type="slidenum">
              <a:rPr lang="en-US" altLang="zh-TW"/>
              <a:pPr/>
              <a:t>10</a:t>
            </a:fld>
            <a:endParaRPr lang="en-US" altLang="zh-TW"/>
          </a:p>
        </p:txBody>
      </p:sp>
      <p:sp>
        <p:nvSpPr>
          <p:cNvPr id="147458" name="Rectangle 2">
            <a:extLst>
              <a:ext uri="{FF2B5EF4-FFF2-40B4-BE49-F238E27FC236}">
                <a16:creationId xmlns:a16="http://schemas.microsoft.com/office/drawing/2014/main" id="{64690AA6-BF00-4EB2-B992-77A49B669D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59" name="Rectangle 3">
            <a:extLst>
              <a:ext uri="{FF2B5EF4-FFF2-40B4-BE49-F238E27FC236}">
                <a16:creationId xmlns:a16="http://schemas.microsoft.com/office/drawing/2014/main" id="{6BB29B59-CD80-4152-82B4-8568CFF5AE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9EDBDCF-ABE7-48DE-8C46-FA710B7C30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CF612B-7821-425C-A1D0-4826F3F9DCAE}" type="slidenum">
              <a:rPr lang="en-US" altLang="zh-TW"/>
              <a:pPr/>
              <a:t>11</a:t>
            </a:fld>
            <a:endParaRPr lang="en-US" altLang="zh-TW"/>
          </a:p>
        </p:txBody>
      </p:sp>
      <p:sp>
        <p:nvSpPr>
          <p:cNvPr id="148482" name="Rectangle 2">
            <a:extLst>
              <a:ext uri="{FF2B5EF4-FFF2-40B4-BE49-F238E27FC236}">
                <a16:creationId xmlns:a16="http://schemas.microsoft.com/office/drawing/2014/main" id="{19D6DEE2-B82E-4FB6-9A95-04ABCEDC83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3" name="Rectangle 3">
            <a:extLst>
              <a:ext uri="{FF2B5EF4-FFF2-40B4-BE49-F238E27FC236}">
                <a16:creationId xmlns:a16="http://schemas.microsoft.com/office/drawing/2014/main" id="{452287DA-B2A8-4420-9BED-83ED96D1C4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799F484-2DDB-4B17-9451-61E1386F31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E87BC0-C647-43CC-B2FB-D9F226EA2178}" type="slidenum">
              <a:rPr lang="en-US" altLang="zh-TW"/>
              <a:pPr/>
              <a:t>12</a:t>
            </a:fld>
            <a:endParaRPr lang="en-US" altLang="zh-TW"/>
          </a:p>
        </p:txBody>
      </p:sp>
      <p:sp>
        <p:nvSpPr>
          <p:cNvPr id="149506" name="Rectangle 2">
            <a:extLst>
              <a:ext uri="{FF2B5EF4-FFF2-40B4-BE49-F238E27FC236}">
                <a16:creationId xmlns:a16="http://schemas.microsoft.com/office/drawing/2014/main" id="{F7F4A718-9B60-4C6B-A28F-9F6A625C04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7" name="Rectangle 3">
            <a:extLst>
              <a:ext uri="{FF2B5EF4-FFF2-40B4-BE49-F238E27FC236}">
                <a16:creationId xmlns:a16="http://schemas.microsoft.com/office/drawing/2014/main" id="{CF14106E-68B1-4A03-BC79-F8FA797640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example, if an impulse is transmitted then it will be no longer a impulse when it is received at the other end, but it will become a pulse with spreading effect. The effect which makes this spreading of signal is known as Delay spread.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52629C-AE5A-40DB-AD60-402E18EF62E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5980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EF73A35-2E2F-13AB-8A5E-D836100BE5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5938DC-9113-426A-B6C5-7668E3DBFA8A}" type="slidenum">
              <a:rPr lang="en-US" altLang="zh-TW"/>
              <a:pPr/>
              <a:t>17</a:t>
            </a:fld>
            <a:endParaRPr lang="en-US" altLang="zh-TW"/>
          </a:p>
        </p:txBody>
      </p:sp>
      <p:sp>
        <p:nvSpPr>
          <p:cNvPr id="183298" name="Rectangle 2">
            <a:extLst>
              <a:ext uri="{FF2B5EF4-FFF2-40B4-BE49-F238E27FC236}">
                <a16:creationId xmlns:a16="http://schemas.microsoft.com/office/drawing/2014/main" id="{81092182-6048-F0DE-3087-F408F14AAF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299" name="Rectangle 3">
            <a:extLst>
              <a:ext uri="{FF2B5EF4-FFF2-40B4-BE49-F238E27FC236}">
                <a16:creationId xmlns:a16="http://schemas.microsoft.com/office/drawing/2014/main" id="{5AB83245-900C-0B8D-135C-17283FFC29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520290D-9007-8D9D-8CDB-83B4C48BF6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1D8472-AA67-4559-96DD-BBB1EFDB87F8}" type="slidenum">
              <a:rPr lang="en-US" altLang="zh-TW"/>
              <a:pPr/>
              <a:t>18</a:t>
            </a:fld>
            <a:endParaRPr lang="en-US" altLang="zh-TW"/>
          </a:p>
        </p:txBody>
      </p:sp>
      <p:sp>
        <p:nvSpPr>
          <p:cNvPr id="184322" name="Rectangle 2">
            <a:extLst>
              <a:ext uri="{FF2B5EF4-FFF2-40B4-BE49-F238E27FC236}">
                <a16:creationId xmlns:a16="http://schemas.microsoft.com/office/drawing/2014/main" id="{47503191-EA51-1B5F-0CA4-719DBA90A5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3" name="Rectangle 3">
            <a:extLst>
              <a:ext uri="{FF2B5EF4-FFF2-40B4-BE49-F238E27FC236}">
                <a16:creationId xmlns:a16="http://schemas.microsoft.com/office/drawing/2014/main" id="{4FFD636E-2282-C1B7-366F-D0EBFC5BB9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CEBAC99-9559-306F-6266-AE9563CAFA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F3DDF7-54E2-4943-8180-88855D99F1CA}" type="slidenum">
              <a:rPr lang="en-US" altLang="zh-TW"/>
              <a:pPr/>
              <a:t>19</a:t>
            </a:fld>
            <a:endParaRPr lang="en-US" altLang="zh-TW"/>
          </a:p>
        </p:txBody>
      </p:sp>
      <p:sp>
        <p:nvSpPr>
          <p:cNvPr id="185346" name="Rectangle 2">
            <a:extLst>
              <a:ext uri="{FF2B5EF4-FFF2-40B4-BE49-F238E27FC236}">
                <a16:creationId xmlns:a16="http://schemas.microsoft.com/office/drawing/2014/main" id="{BAFD69A7-D6B0-D3FC-1C92-EDDCE93565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7" name="Rectangle 3">
            <a:extLst>
              <a:ext uri="{FF2B5EF4-FFF2-40B4-BE49-F238E27FC236}">
                <a16:creationId xmlns:a16="http://schemas.microsoft.com/office/drawing/2014/main" id="{85E89AE1-EDD3-9EF1-98EB-091D3D5A7F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E30B0E6-9980-8D40-4134-314A9D8E4A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B1E8C7-7E56-429C-9C2E-49DEF19107EE}" type="slidenum">
              <a:rPr lang="en-US" altLang="zh-TW"/>
              <a:pPr/>
              <a:t>20</a:t>
            </a:fld>
            <a:endParaRPr lang="en-US" altLang="zh-TW"/>
          </a:p>
        </p:txBody>
      </p:sp>
      <p:sp>
        <p:nvSpPr>
          <p:cNvPr id="186370" name="Rectangle 2">
            <a:extLst>
              <a:ext uri="{FF2B5EF4-FFF2-40B4-BE49-F238E27FC236}">
                <a16:creationId xmlns:a16="http://schemas.microsoft.com/office/drawing/2014/main" id="{87CBB708-37EE-13F3-69CE-12B56BD97C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1" name="Rectangle 3">
            <a:extLst>
              <a:ext uri="{FF2B5EF4-FFF2-40B4-BE49-F238E27FC236}">
                <a16:creationId xmlns:a16="http://schemas.microsoft.com/office/drawing/2014/main" id="{1642147F-3AE9-CBCA-51C8-C5C28F9C80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1523496-6A7E-646C-CED7-7B76674B06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C81E88-34E3-4B87-A2D0-1EC960F3A237}" type="slidenum">
              <a:rPr lang="en-US" altLang="zh-TW"/>
              <a:pPr/>
              <a:t>21</a:t>
            </a:fld>
            <a:endParaRPr lang="en-US" altLang="zh-TW"/>
          </a:p>
        </p:txBody>
      </p:sp>
      <p:sp>
        <p:nvSpPr>
          <p:cNvPr id="187394" name="Rectangle 2">
            <a:extLst>
              <a:ext uri="{FF2B5EF4-FFF2-40B4-BE49-F238E27FC236}">
                <a16:creationId xmlns:a16="http://schemas.microsoft.com/office/drawing/2014/main" id="{54571EDE-4365-A43A-E24E-C95BC9F17C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5" name="Rectangle 3">
            <a:extLst>
              <a:ext uri="{FF2B5EF4-FFF2-40B4-BE49-F238E27FC236}">
                <a16:creationId xmlns:a16="http://schemas.microsoft.com/office/drawing/2014/main" id="{68A667D6-5FA6-2786-AAF8-1CAA6A66F9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EE4E192-4C4C-4A3F-9984-D67318A5B3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46CC94-DA95-41C2-8C89-0B48A48FC3BC}" type="slidenum">
              <a:rPr lang="en-US" altLang="zh-TW"/>
              <a:pPr/>
              <a:t>24</a:t>
            </a:fld>
            <a:endParaRPr lang="en-US" altLang="zh-TW"/>
          </a:p>
        </p:txBody>
      </p:sp>
      <p:sp>
        <p:nvSpPr>
          <p:cNvPr id="177154" name="Rectangle 2">
            <a:extLst>
              <a:ext uri="{FF2B5EF4-FFF2-40B4-BE49-F238E27FC236}">
                <a16:creationId xmlns:a16="http://schemas.microsoft.com/office/drawing/2014/main" id="{BF052A9B-E232-4A6D-8E14-52652ABD44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Rectangle 3">
            <a:extLst>
              <a:ext uri="{FF2B5EF4-FFF2-40B4-BE49-F238E27FC236}">
                <a16:creationId xmlns:a16="http://schemas.microsoft.com/office/drawing/2014/main" id="{1D7C85FA-9087-4F41-9ADB-587B2E5C85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DE15211-1C01-4AF8-BE3B-0BC149CB49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C065E0-A6B2-41D4-AFDE-B6CC27EA62CE}" type="slidenum">
              <a:rPr lang="en-US" altLang="zh-TW"/>
              <a:pPr/>
              <a:t>25</a:t>
            </a:fld>
            <a:endParaRPr lang="en-US" altLang="zh-TW"/>
          </a:p>
        </p:txBody>
      </p:sp>
      <p:sp>
        <p:nvSpPr>
          <p:cNvPr id="180226" name="Rectangle 2">
            <a:extLst>
              <a:ext uri="{FF2B5EF4-FFF2-40B4-BE49-F238E27FC236}">
                <a16:creationId xmlns:a16="http://schemas.microsoft.com/office/drawing/2014/main" id="{C8F2DE88-52B5-4CBB-94FA-A187E765F6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7" name="Rectangle 3">
            <a:extLst>
              <a:ext uri="{FF2B5EF4-FFF2-40B4-BE49-F238E27FC236}">
                <a16:creationId xmlns:a16="http://schemas.microsoft.com/office/drawing/2014/main" id="{5182EFE6-6539-4650-BF54-358B74EA31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4680C97-E0ED-4EBE-8694-C8B0287406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7DD2751-AC6C-4105-8247-1811D2AA24D3}" type="slidenum">
              <a:rPr lang="en-US" altLang="zh-TW"/>
              <a:pPr/>
              <a:t>26</a:t>
            </a:fld>
            <a:endParaRPr lang="en-US" altLang="zh-TW"/>
          </a:p>
        </p:txBody>
      </p:sp>
      <p:sp>
        <p:nvSpPr>
          <p:cNvPr id="181250" name="Rectangle 2">
            <a:extLst>
              <a:ext uri="{FF2B5EF4-FFF2-40B4-BE49-F238E27FC236}">
                <a16:creationId xmlns:a16="http://schemas.microsoft.com/office/drawing/2014/main" id="{47F995B0-ADC9-4DF5-B324-EB81205BD7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1" name="Rectangle 3">
            <a:extLst>
              <a:ext uri="{FF2B5EF4-FFF2-40B4-BE49-F238E27FC236}">
                <a16:creationId xmlns:a16="http://schemas.microsoft.com/office/drawing/2014/main" id="{2F2CB13C-FCC5-40AA-AEB2-317637C886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4122809-512F-4358-909F-8DDDDE1EE3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1C7747-B437-4CBE-B57D-2DBC68E413F7}" type="slidenum">
              <a:rPr lang="en-US" altLang="zh-TW"/>
              <a:pPr/>
              <a:t>27</a:t>
            </a:fld>
            <a:endParaRPr lang="en-US" altLang="zh-TW"/>
          </a:p>
        </p:txBody>
      </p:sp>
      <p:sp>
        <p:nvSpPr>
          <p:cNvPr id="182274" name="Rectangle 2">
            <a:extLst>
              <a:ext uri="{FF2B5EF4-FFF2-40B4-BE49-F238E27FC236}">
                <a16:creationId xmlns:a16="http://schemas.microsoft.com/office/drawing/2014/main" id="{665EEF08-BD74-4D12-9100-295DD0748F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2275" name="Rectangle 3">
            <a:extLst>
              <a:ext uri="{FF2B5EF4-FFF2-40B4-BE49-F238E27FC236}">
                <a16:creationId xmlns:a16="http://schemas.microsoft.com/office/drawing/2014/main" id="{441C7DE1-07BC-4354-B2C1-83304D426C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93AD768-1C1A-4AA5-AE75-0432E61461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2D31A8-0441-44C6-97E7-DD623D30B2DE}" type="slidenum">
              <a:rPr lang="en-US" altLang="zh-TW"/>
              <a:pPr/>
              <a:t>39</a:t>
            </a:fld>
            <a:endParaRPr lang="en-US" altLang="zh-TW"/>
          </a:p>
        </p:txBody>
      </p:sp>
      <p:sp>
        <p:nvSpPr>
          <p:cNvPr id="195586" name="Rectangle 2">
            <a:extLst>
              <a:ext uri="{FF2B5EF4-FFF2-40B4-BE49-F238E27FC236}">
                <a16:creationId xmlns:a16="http://schemas.microsoft.com/office/drawing/2014/main" id="{54A789A7-0757-495A-9616-D0287EB24F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7" name="Rectangle 3">
            <a:extLst>
              <a:ext uri="{FF2B5EF4-FFF2-40B4-BE49-F238E27FC236}">
                <a16:creationId xmlns:a16="http://schemas.microsoft.com/office/drawing/2014/main" id="{5AC467CD-AC9E-4086-91E0-7D3557423C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75D51F9-89FA-9865-15C7-9AEDC45711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232071-77DF-45DD-A2EF-A24F89C1101A}" type="slidenum">
              <a:rPr lang="en-US" altLang="zh-TW"/>
              <a:pPr/>
              <a:t>40</a:t>
            </a:fld>
            <a:endParaRPr lang="en-US" altLang="zh-TW"/>
          </a:p>
        </p:txBody>
      </p:sp>
      <p:sp>
        <p:nvSpPr>
          <p:cNvPr id="196610" name="Rectangle 2">
            <a:extLst>
              <a:ext uri="{FF2B5EF4-FFF2-40B4-BE49-F238E27FC236}">
                <a16:creationId xmlns:a16="http://schemas.microsoft.com/office/drawing/2014/main" id="{88907401-D290-DCD8-9C64-5B278F2A84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6611" name="Rectangle 3">
            <a:extLst>
              <a:ext uri="{FF2B5EF4-FFF2-40B4-BE49-F238E27FC236}">
                <a16:creationId xmlns:a16="http://schemas.microsoft.com/office/drawing/2014/main" id="{69FA45AD-1AB6-9385-D320-84F113EF42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602A358-0DD2-1165-D80A-4FA802F12F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FF69DF-39C4-43ED-9D7F-2966B3C896E0}" type="slidenum">
              <a:rPr lang="en-US" altLang="zh-TW"/>
              <a:pPr/>
              <a:t>41</a:t>
            </a:fld>
            <a:endParaRPr lang="en-US" altLang="zh-TW"/>
          </a:p>
        </p:txBody>
      </p:sp>
      <p:sp>
        <p:nvSpPr>
          <p:cNvPr id="197634" name="Rectangle 2">
            <a:extLst>
              <a:ext uri="{FF2B5EF4-FFF2-40B4-BE49-F238E27FC236}">
                <a16:creationId xmlns:a16="http://schemas.microsoft.com/office/drawing/2014/main" id="{04A0DA6F-0794-91DC-CB35-51855D5AEE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7635" name="Rectangle 3">
            <a:extLst>
              <a:ext uri="{FF2B5EF4-FFF2-40B4-BE49-F238E27FC236}">
                <a16:creationId xmlns:a16="http://schemas.microsoft.com/office/drawing/2014/main" id="{06CC2E8A-8E88-4298-AFC0-BCE7B6787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A6F96A9-3968-92EE-F22C-ABF2A5FA94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7265BC-9DB1-4F56-B324-0250FD284FD5}" type="slidenum">
              <a:rPr lang="en-US" altLang="zh-TW"/>
              <a:pPr/>
              <a:t>42</a:t>
            </a:fld>
            <a:endParaRPr lang="en-US" altLang="zh-TW"/>
          </a:p>
        </p:txBody>
      </p:sp>
      <p:sp>
        <p:nvSpPr>
          <p:cNvPr id="198658" name="Rectangle 2">
            <a:extLst>
              <a:ext uri="{FF2B5EF4-FFF2-40B4-BE49-F238E27FC236}">
                <a16:creationId xmlns:a16="http://schemas.microsoft.com/office/drawing/2014/main" id="{CE886F01-3C7B-750C-2569-6134CF2BD7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8659" name="Rectangle 3">
            <a:extLst>
              <a:ext uri="{FF2B5EF4-FFF2-40B4-BE49-F238E27FC236}">
                <a16:creationId xmlns:a16="http://schemas.microsoft.com/office/drawing/2014/main" id="{A782CDFB-D3E4-7EF0-8A83-475CA81E7F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DF0E3DB-8810-1D2E-7F6E-F85CDD66D5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D076FE-01AC-401C-BBC4-BB49AB4698DE}" type="slidenum">
              <a:rPr lang="en-US" altLang="zh-TW"/>
              <a:pPr/>
              <a:t>43</a:t>
            </a:fld>
            <a:endParaRPr lang="en-US" altLang="zh-TW"/>
          </a:p>
        </p:txBody>
      </p:sp>
      <p:sp>
        <p:nvSpPr>
          <p:cNvPr id="199682" name="Rectangle 2">
            <a:extLst>
              <a:ext uri="{FF2B5EF4-FFF2-40B4-BE49-F238E27FC236}">
                <a16:creationId xmlns:a16="http://schemas.microsoft.com/office/drawing/2014/main" id="{80A653D8-63D7-6090-48D2-FF91C98D73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9683" name="Rectangle 3">
            <a:extLst>
              <a:ext uri="{FF2B5EF4-FFF2-40B4-BE49-F238E27FC236}">
                <a16:creationId xmlns:a16="http://schemas.microsoft.com/office/drawing/2014/main" id="{0D6C76C3-9B67-8F1C-851B-C11DBD2705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B2A171F-40C2-985F-08FB-7F9094B721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B6581A-117D-4AFB-A208-A91BF3BC8A09}" type="slidenum">
              <a:rPr lang="en-US" altLang="zh-TW"/>
              <a:pPr/>
              <a:t>44</a:t>
            </a:fld>
            <a:endParaRPr lang="en-US" altLang="zh-TW"/>
          </a:p>
        </p:txBody>
      </p:sp>
      <p:sp>
        <p:nvSpPr>
          <p:cNvPr id="200706" name="Rectangle 2">
            <a:extLst>
              <a:ext uri="{FF2B5EF4-FFF2-40B4-BE49-F238E27FC236}">
                <a16:creationId xmlns:a16="http://schemas.microsoft.com/office/drawing/2014/main" id="{382C6866-D72C-9069-2DFD-FD268C67E4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0707" name="Rectangle 3">
            <a:extLst>
              <a:ext uri="{FF2B5EF4-FFF2-40B4-BE49-F238E27FC236}">
                <a16:creationId xmlns:a16="http://schemas.microsoft.com/office/drawing/2014/main" id="{DA9A7009-948A-FA79-71E5-3A79FEEF54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176EF4C-A18B-776D-6688-0CD0A8826D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2826E6-EC75-49A9-A039-120839792A2C}" type="slidenum">
              <a:rPr lang="en-US" altLang="zh-TW"/>
              <a:pPr/>
              <a:t>45</a:t>
            </a:fld>
            <a:endParaRPr lang="en-US" altLang="zh-TW"/>
          </a:p>
        </p:txBody>
      </p:sp>
      <p:sp>
        <p:nvSpPr>
          <p:cNvPr id="201730" name="Rectangle 2">
            <a:extLst>
              <a:ext uri="{FF2B5EF4-FFF2-40B4-BE49-F238E27FC236}">
                <a16:creationId xmlns:a16="http://schemas.microsoft.com/office/drawing/2014/main" id="{3DB3BAB6-B698-167B-81A1-41376883B0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1" name="Rectangle 3">
            <a:extLst>
              <a:ext uri="{FF2B5EF4-FFF2-40B4-BE49-F238E27FC236}">
                <a16:creationId xmlns:a16="http://schemas.microsoft.com/office/drawing/2014/main" id="{EE1B819F-FE52-9D0F-5EB5-1774451A7D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7E2AD7F-1EC4-7C2E-8A4E-5DDDCF7F66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84DBA2-5C20-4482-8D94-872C12296DB8}" type="slidenum">
              <a:rPr lang="en-US" altLang="zh-TW"/>
              <a:pPr/>
              <a:t>46</a:t>
            </a:fld>
            <a:endParaRPr lang="en-US" altLang="zh-TW"/>
          </a:p>
        </p:txBody>
      </p:sp>
      <p:sp>
        <p:nvSpPr>
          <p:cNvPr id="202754" name="Rectangle 2">
            <a:extLst>
              <a:ext uri="{FF2B5EF4-FFF2-40B4-BE49-F238E27FC236}">
                <a16:creationId xmlns:a16="http://schemas.microsoft.com/office/drawing/2014/main" id="{A611FD1D-1528-8A45-B004-2C31142CB8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>
            <a:extLst>
              <a:ext uri="{FF2B5EF4-FFF2-40B4-BE49-F238E27FC236}">
                <a16:creationId xmlns:a16="http://schemas.microsoft.com/office/drawing/2014/main" id="{F9FED09E-77CD-C2F9-7FD8-5021356667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4D945FB-7753-DEA3-5F31-29BB4D88EB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1FDF9A-11B0-436B-AA4B-D84D2BB4F55F}" type="slidenum">
              <a:rPr lang="en-US" altLang="zh-TW"/>
              <a:pPr/>
              <a:t>47</a:t>
            </a:fld>
            <a:endParaRPr lang="en-US" altLang="zh-TW"/>
          </a:p>
        </p:txBody>
      </p:sp>
      <p:sp>
        <p:nvSpPr>
          <p:cNvPr id="205826" name="Rectangle 2">
            <a:extLst>
              <a:ext uri="{FF2B5EF4-FFF2-40B4-BE49-F238E27FC236}">
                <a16:creationId xmlns:a16="http://schemas.microsoft.com/office/drawing/2014/main" id="{A3345319-6443-4651-886C-6610F1417E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5827" name="Rectangle 3">
            <a:extLst>
              <a:ext uri="{FF2B5EF4-FFF2-40B4-BE49-F238E27FC236}">
                <a16:creationId xmlns:a16="http://schemas.microsoft.com/office/drawing/2014/main" id="{A66327C8-8FF3-C53D-6C8A-1B69F6DB78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E0BA494-41B2-732D-AF89-C75632A935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0F163C-0319-4091-9B29-99EC837351DE}" type="slidenum">
              <a:rPr lang="en-US" altLang="zh-TW"/>
              <a:pPr/>
              <a:t>48</a:t>
            </a:fld>
            <a:endParaRPr lang="en-US" altLang="zh-TW"/>
          </a:p>
        </p:txBody>
      </p:sp>
      <p:sp>
        <p:nvSpPr>
          <p:cNvPr id="206850" name="Rectangle 2">
            <a:extLst>
              <a:ext uri="{FF2B5EF4-FFF2-40B4-BE49-F238E27FC236}">
                <a16:creationId xmlns:a16="http://schemas.microsoft.com/office/drawing/2014/main" id="{CB909D04-73E9-C89D-3A75-C1B691B9DC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1" name="Rectangle 3">
            <a:extLst>
              <a:ext uri="{FF2B5EF4-FFF2-40B4-BE49-F238E27FC236}">
                <a16:creationId xmlns:a16="http://schemas.microsoft.com/office/drawing/2014/main" id="{6FE95950-9C72-6D36-C52C-47A2CE8703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18CE-8E08-4C2B-B23B-25B09061759C}" type="datetimeFigureOut">
              <a:rPr lang="en-IN" smtClean="0"/>
              <a:pPr/>
              <a:t>27-10-2025</a:t>
            </a:fld>
            <a:endParaRPr lang="en-IN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64A8-9798-473C-AE21-151B31DECA4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18CE-8E08-4C2B-B23B-25B09061759C}" type="datetimeFigureOut">
              <a:rPr lang="en-IN" smtClean="0"/>
              <a:pPr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64A8-9798-473C-AE21-151B31DECA4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18CE-8E08-4C2B-B23B-25B09061759C}" type="datetimeFigureOut">
              <a:rPr lang="en-IN" smtClean="0"/>
              <a:pPr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64A8-9798-473C-AE21-151B31DECA4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18CE-8E08-4C2B-B23B-25B09061759C}" type="datetimeFigureOut">
              <a:rPr lang="en-IN" smtClean="0"/>
              <a:pPr/>
              <a:t>27-10-2025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64A8-9798-473C-AE21-151B31DECA4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18CE-8E08-4C2B-B23B-25B09061759C}" type="datetimeFigureOut">
              <a:rPr lang="en-IN" smtClean="0"/>
              <a:pPr/>
              <a:t>27-10-2025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64A8-9798-473C-AE21-151B31DECA4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18CE-8E08-4C2B-B23B-25B09061759C}" type="datetimeFigureOut">
              <a:rPr lang="en-IN" smtClean="0"/>
              <a:pPr/>
              <a:t>27-10-2025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64A8-9798-473C-AE21-151B31DECA4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18CE-8E08-4C2B-B23B-25B09061759C}" type="datetimeFigureOut">
              <a:rPr lang="en-IN" smtClean="0"/>
              <a:pPr/>
              <a:t>27-10-2025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64A8-9798-473C-AE21-151B31DECA4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18CE-8E08-4C2B-B23B-25B09061759C}" type="datetimeFigureOut">
              <a:rPr lang="en-IN" smtClean="0"/>
              <a:pPr/>
              <a:t>27-10-2025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64A8-9798-473C-AE21-151B31DECA4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18CE-8E08-4C2B-B23B-25B09061759C}" type="datetimeFigureOut">
              <a:rPr lang="en-IN" smtClean="0"/>
              <a:pPr/>
              <a:t>27-10-2025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070164A8-9798-473C-AE21-151B31DECA4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18CE-8E08-4C2B-B23B-25B09061759C}" type="datetimeFigureOut">
              <a:rPr lang="en-IN" smtClean="0"/>
              <a:pPr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64A8-9798-473C-AE21-151B31DECA4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18CE-8E08-4C2B-B23B-25B09061759C}" type="datetimeFigureOut">
              <a:rPr lang="en-IN" smtClean="0"/>
              <a:pPr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64A8-9798-473C-AE21-151B31DECA4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85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914400"/>
            <a:ext cx="3810000" cy="533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914400"/>
            <a:ext cx="3810000" cy="2590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657600"/>
            <a:ext cx="3810000" cy="2590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858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400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F38A6E0-FAC4-4017-916F-D49706D9C5AB}" type="slidenum">
              <a:rPr lang="en-US"/>
              <a:pPr/>
              <a:t>‹#›</a:t>
            </a:fld>
            <a:endParaRPr lang="en-US">
              <a:latin typeface="Times New Roman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534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600200"/>
            <a:ext cx="41910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910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Z. Ghassemlooy 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CC29C1-F891-4CEB-956D-4F3451BBE2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269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88218CE-8E08-4C2B-B23B-25B09061759C}" type="datetimeFigureOut">
              <a:rPr lang="en-IN" smtClean="0"/>
              <a:pPr/>
              <a:t>27-10-2025</a:t>
            </a:fld>
            <a:endParaRPr lang="en-IN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70164A8-9798-473C-AE21-151B31DECA4B}" type="slidenum">
              <a:rPr lang="en-IN" smtClean="0"/>
              <a:pPr/>
              <a:t>‹#›</a:t>
            </a:fld>
            <a:endParaRPr lang="en-IN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1" r:id="rId12"/>
    <p:sldLayoutId id="2147483722" r:id="rId13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mailto:i.chatzigeorgiou@lancaster.ac.uk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oleObject" Target="../embeddings/oleObject3.bin"/><Relationship Id="rId4" Type="http://schemas.openxmlformats.org/officeDocument/2006/relationships/image" Target="../media/image7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25.wmf"/><Relationship Id="rId7" Type="http://schemas.openxmlformats.org/officeDocument/2006/relationships/image" Target="../media/image27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29.wmf"/><Relationship Id="rId5" Type="http://schemas.openxmlformats.org/officeDocument/2006/relationships/image" Target="../media/image26.w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28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30.e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34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7" Type="http://schemas.openxmlformats.org/officeDocument/2006/relationships/image" Target="../media/image35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39.png"/><Relationship Id="rId4" Type="http://schemas.openxmlformats.org/officeDocument/2006/relationships/image" Target="../media/image38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SSC-slide-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821912" y="4403909"/>
            <a:ext cx="4697322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eaLnBrk="1" hangingPunct="1">
              <a:spcBef>
                <a:spcPts val="0"/>
              </a:spcBef>
              <a:buClr>
                <a:schemeClr val="tx1"/>
              </a:buClr>
            </a:pPr>
            <a:r>
              <a:rPr lang="en-US" dirty="0">
                <a:latin typeface="Arial"/>
                <a:ea typeface="ヒラギノ角ゴ Pro W3"/>
                <a:cs typeface="Arial"/>
              </a:rPr>
              <a:t>Dr Muhammad Abrar (Dr. MAB)</a:t>
            </a:r>
            <a:endParaRPr lang="en-US" dirty="0"/>
          </a:p>
          <a:p>
            <a:pPr eaLnBrk="1" hangingPunct="1">
              <a:spcBef>
                <a:spcPts val="0"/>
              </a:spcBef>
              <a:buClr>
                <a:schemeClr val="tx1"/>
              </a:buClr>
            </a:pPr>
            <a:r>
              <a:rPr lang="en-GB" sz="1800" dirty="0">
                <a:solidFill>
                  <a:srgbClr val="000000"/>
                </a:solidFill>
                <a:latin typeface="Arial"/>
                <a:ea typeface="ヒラギノ角ゴ Pro W3"/>
                <a:cs typeface="ヒラギノ角ゴ Pro W3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m.</a:t>
            </a:r>
            <a:r>
              <a:rPr lang="en-GB" sz="1800" dirty="0">
                <a:solidFill>
                  <a:srgbClr val="000000"/>
                </a:solidFill>
                <a:latin typeface="Arial"/>
                <a:ea typeface="ヒラギノ角ゴ Pro W3"/>
                <a:cs typeface="ヒラギノ角ゴ Pro W3" charset="0"/>
                <a:hlinkClick r:id="rId4"/>
              </a:rPr>
              <a:t>abrar</a:t>
            </a:r>
            <a:r>
              <a:rPr lang="en-GB" sz="1800" dirty="0">
                <a:solidFill>
                  <a:srgbClr val="000000"/>
                </a:solidFill>
                <a:latin typeface="Arial"/>
                <a:ea typeface="ヒラギノ角ゴ Pro W3"/>
                <a:cs typeface="ヒラギノ角ゴ Pro W3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@lancaster.ac.uk</a:t>
            </a:r>
            <a:endParaRPr lang="en-US" sz="1800" dirty="0">
              <a:latin typeface="Arial"/>
              <a:ea typeface="ヒラギノ角ゴ Pro W3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908175" y="1893316"/>
            <a:ext cx="5976194" cy="1967732"/>
          </a:xfrm>
        </p:spPr>
        <p:txBody>
          <a:bodyPr/>
          <a:lstStyle/>
          <a:p>
            <a:pPr eaLnBrk="1" hangingPunct="1">
              <a:spcBef>
                <a:spcPts val="1200"/>
              </a:spcBef>
              <a:defRPr/>
            </a:pPr>
            <a:r>
              <a:rPr lang="en-US" cap="small" dirty="0">
                <a:solidFill>
                  <a:schemeClr val="accent5">
                    <a:lumMod val="25000"/>
                  </a:schemeClr>
                </a:solidFill>
              </a:rPr>
              <a:t>Multipath Propagation</a:t>
            </a:r>
            <a:endParaRPr lang="en-US" sz="3600" b="1" dirty="0">
              <a:solidFill>
                <a:schemeClr val="accent5">
                  <a:lumMod val="25000"/>
                </a:schemeClr>
              </a:solidFill>
              <a:latin typeface="Myriad Pro" charset="0"/>
            </a:endParaRPr>
          </a:p>
        </p:txBody>
      </p:sp>
      <p:sp>
        <p:nvSpPr>
          <p:cNvPr id="13" name="TextBox 3"/>
          <p:cNvSpPr txBox="1">
            <a:spLocks noChangeArrowheads="1"/>
          </p:cNvSpPr>
          <p:nvPr/>
        </p:nvSpPr>
        <p:spPr bwMode="auto">
          <a:xfrm>
            <a:off x="1908175" y="549275"/>
            <a:ext cx="4163319" cy="1031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40" tIns="45720" rIns="91440" bIns="45720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US" sz="2800" dirty="0">
                <a:latin typeface="Arial"/>
                <a:ea typeface="ヒラギノ角ゴ Pro W3"/>
                <a:cs typeface="Arial"/>
              </a:rPr>
              <a:t>CNSCC.405</a:t>
            </a:r>
            <a:endParaRPr lang="en-US" dirty="0">
              <a:cs typeface="Arial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2800" dirty="0">
                <a:latin typeface="Arial"/>
                <a:ea typeface="ヒラギノ角ゴ Pro W3"/>
                <a:cs typeface="Arial"/>
              </a:rPr>
              <a:t>Digital Signal Processing</a:t>
            </a:r>
            <a:endParaRPr lang="en-US" dirty="0">
              <a:cs typeface="Arial"/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1908175" y="5507940"/>
            <a:ext cx="197802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eaLnBrk="1" hangingPunct="1">
              <a:spcBef>
                <a:spcPts val="0"/>
              </a:spcBef>
              <a:buClr>
                <a:schemeClr val="tx1"/>
              </a:buClr>
            </a:pPr>
            <a:r>
              <a:rPr lang="en-US" sz="1800" b="1" dirty="0">
                <a:latin typeface="Arial"/>
                <a:ea typeface="ヒラギノ角ゴ Pro W3"/>
                <a:cs typeface="Arial"/>
              </a:rPr>
              <a:t>Spring Term 20223</a:t>
            </a:r>
            <a:endParaRPr lang="en-US" sz="1800" b="1" dirty="0"/>
          </a:p>
        </p:txBody>
      </p:sp>
      <p:grpSp>
        <p:nvGrpSpPr>
          <p:cNvPr id="2" name="Group 1"/>
          <p:cNvGrpSpPr/>
          <p:nvPr/>
        </p:nvGrpSpPr>
        <p:grpSpPr>
          <a:xfrm>
            <a:off x="203200" y="194733"/>
            <a:ext cx="1312334" cy="821267"/>
            <a:chOff x="203200" y="194733"/>
            <a:chExt cx="1312334" cy="821267"/>
          </a:xfrm>
        </p:grpSpPr>
        <p:sp>
          <p:nvSpPr>
            <p:cNvPr id="16" name="Rectangle 15"/>
            <p:cNvSpPr/>
            <p:nvPr userDrawn="1"/>
          </p:nvSpPr>
          <p:spPr bwMode="auto">
            <a:xfrm>
              <a:off x="203200" y="194733"/>
              <a:ext cx="1312334" cy="821267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ヒラギノ角ゴ Pro W3" charset="-128"/>
              </a:endParaRPr>
            </a:p>
          </p:txBody>
        </p:sp>
        <p:pic>
          <p:nvPicPr>
            <p:cNvPr id="17" name="Picture 2" descr="\\lancs\homes\05\chatzige\My Desktop\bg-logo.png"/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480" y="456159"/>
              <a:ext cx="1082502" cy="3389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928"/>
    </mc:Choice>
    <mc:Fallback xmlns="">
      <p:transition spd="slow" advTm="3592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537207"/>
            <a:ext cx="2088232" cy="720080"/>
          </a:xfrm>
        </p:spPr>
        <p:txBody>
          <a:bodyPr>
            <a:normAutofit/>
          </a:bodyPr>
          <a:lstStyle/>
          <a:p>
            <a:r>
              <a:rPr lang="en-US" sz="3600" b="1" dirty="0"/>
              <a:t>FADING…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268760"/>
            <a:ext cx="8229600" cy="5256584"/>
          </a:xfrm>
        </p:spPr>
        <p:txBody>
          <a:bodyPr>
            <a:normAutofit lnSpcReduction="10000"/>
          </a:bodyPr>
          <a:lstStyle/>
          <a:p>
            <a:pPr marL="495300" indent="-495300"/>
            <a:r>
              <a:rPr lang="en-US" altLang="zh-TW" dirty="0"/>
              <a:t>It is the  rapid fluctuations of received signal strength over short time intervals and/or travel distances </a:t>
            </a:r>
          </a:p>
          <a:p>
            <a:pPr marL="495300" indent="-495300"/>
            <a:r>
              <a:rPr lang="en-US" altLang="zh-TW" dirty="0"/>
              <a:t>Caused by interference from multiple copies of Tx signal arriving at Rx at slightly </a:t>
            </a:r>
            <a:r>
              <a:rPr lang="en-US" altLang="zh-TW" b="1" u="sng" dirty="0"/>
              <a:t>different </a:t>
            </a:r>
            <a:r>
              <a:rPr lang="en-US" altLang="zh-TW" dirty="0"/>
              <a:t>times.</a:t>
            </a:r>
          </a:p>
          <a:p>
            <a:pPr marL="495300" indent="-495300"/>
            <a:r>
              <a:rPr lang="en-US" altLang="zh-TW" dirty="0"/>
              <a:t>Three most important effects: </a:t>
            </a:r>
          </a:p>
          <a:p>
            <a:pPr lvl="1">
              <a:buFont typeface="Wingdings" pitchFamily="2" charset="2"/>
              <a:buAutoNum type="arabicPeriod"/>
            </a:pPr>
            <a:r>
              <a:rPr lang="en-US" altLang="zh-TW" dirty="0"/>
              <a:t>Rapid changes in signal strengths over small travel distances or short time periods. </a:t>
            </a:r>
          </a:p>
          <a:p>
            <a:pPr lvl="1">
              <a:buFont typeface="Wingdings" pitchFamily="2" charset="2"/>
              <a:buAutoNum type="arabicPeriod"/>
            </a:pPr>
            <a:r>
              <a:rPr lang="en-US" altLang="zh-TW" dirty="0"/>
              <a:t>Changes in the frequency of signals. </a:t>
            </a:r>
          </a:p>
          <a:p>
            <a:pPr lvl="1">
              <a:buFont typeface="Wingdings" pitchFamily="2" charset="2"/>
              <a:buAutoNum type="arabicPeriod"/>
            </a:pPr>
            <a:r>
              <a:rPr lang="en-US" altLang="zh-TW" dirty="0"/>
              <a:t>Multiple signals arriving at different times. When added together at the antenna, signals are spread out in time. This can cause a smearing of the signal and interference between bits that are received.</a:t>
            </a:r>
            <a:r>
              <a:rPr lang="en-US" altLang="zh-TW" sz="2200" dirty="0"/>
              <a:t> </a:t>
            </a:r>
          </a:p>
          <a:p>
            <a:pPr marL="495300" indent="-495300"/>
            <a:endParaRPr lang="en-US" altLang="zh-TW" dirty="0"/>
          </a:p>
          <a:p>
            <a:pPr marL="495300" indent="-495300"/>
            <a:endParaRPr lang="en-US" altLang="zh-TW" dirty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0"/>
            <a:ext cx="8305800" cy="1143000"/>
          </a:xfrm>
        </p:spPr>
        <p:txBody>
          <a:bodyPr/>
          <a:lstStyle/>
          <a:p>
            <a:pPr eaLnBrk="1" hangingPunct="1"/>
            <a:r>
              <a:rPr lang="en-GB" sz="3200" dirty="0"/>
              <a:t>Multipath Propagation - </a:t>
            </a:r>
            <a:r>
              <a:rPr lang="en-GB" sz="3200" dirty="0">
                <a:solidFill>
                  <a:srgbClr val="FF3300"/>
                </a:solidFill>
              </a:rPr>
              <a:t>Fading </a:t>
            </a:r>
          </a:p>
        </p:txBody>
      </p:sp>
      <p:grpSp>
        <p:nvGrpSpPr>
          <p:cNvPr id="6" name="Group 128"/>
          <p:cNvGrpSpPr>
            <a:grpSpLocks/>
          </p:cNvGrpSpPr>
          <p:nvPr/>
        </p:nvGrpSpPr>
        <p:grpSpPr bwMode="auto">
          <a:xfrm>
            <a:off x="457200" y="4038600"/>
            <a:ext cx="3451225" cy="838200"/>
            <a:chOff x="288" y="2544"/>
            <a:chExt cx="2174" cy="528"/>
          </a:xfrm>
        </p:grpSpPr>
        <p:sp>
          <p:nvSpPr>
            <p:cNvPr id="7" name="Text Box 94"/>
            <p:cNvSpPr txBox="1">
              <a:spLocks noChangeArrowheads="1"/>
            </p:cNvSpPr>
            <p:nvPr/>
          </p:nvSpPr>
          <p:spPr bwMode="auto">
            <a:xfrm>
              <a:off x="854" y="2618"/>
              <a:ext cx="766" cy="442"/>
            </a:xfrm>
            <a:prstGeom prst="rect">
              <a:avLst/>
            </a:prstGeom>
            <a:solidFill>
              <a:srgbClr val="CCFF66"/>
            </a:soli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>
                <a:defRPr/>
              </a:pPr>
              <a:endParaRPr lang="en-GB" sz="800" dirty="0"/>
            </a:p>
            <a:p>
              <a:pPr>
                <a:defRPr/>
              </a:pPr>
              <a:r>
                <a:rPr lang="en-GB" dirty="0"/>
                <a:t>Antenna</a:t>
              </a:r>
            </a:p>
            <a:p>
              <a:pPr>
                <a:defRPr/>
              </a:pPr>
              <a:endParaRPr lang="en-GB" sz="800" dirty="0"/>
            </a:p>
          </p:txBody>
        </p:sp>
        <p:grpSp>
          <p:nvGrpSpPr>
            <p:cNvPr id="8" name="Group 123"/>
            <p:cNvGrpSpPr>
              <a:grpSpLocks/>
            </p:cNvGrpSpPr>
            <p:nvPr/>
          </p:nvGrpSpPr>
          <p:grpSpPr bwMode="auto">
            <a:xfrm>
              <a:off x="288" y="2544"/>
              <a:ext cx="576" cy="288"/>
              <a:chOff x="288" y="2544"/>
              <a:chExt cx="576" cy="288"/>
            </a:xfrm>
          </p:grpSpPr>
          <p:sp>
            <p:nvSpPr>
              <p:cNvPr id="14" name="Line 95"/>
              <p:cNvSpPr>
                <a:spLocks noChangeShapeType="1"/>
              </p:cNvSpPr>
              <p:nvPr/>
            </p:nvSpPr>
            <p:spPr bwMode="auto">
              <a:xfrm>
                <a:off x="480" y="2736"/>
                <a:ext cx="384" cy="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Text Box 97"/>
              <p:cNvSpPr txBox="1">
                <a:spLocks noChangeArrowheads="1"/>
              </p:cNvSpPr>
              <p:nvPr/>
            </p:nvSpPr>
            <p:spPr bwMode="auto">
              <a:xfrm>
                <a:off x="288" y="2544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GB" i="1">
                    <a:solidFill>
                      <a:schemeClr val="accent2"/>
                    </a:solidFill>
                  </a:rPr>
                  <a:t>a</a:t>
                </a:r>
              </a:p>
            </p:txBody>
          </p:sp>
        </p:grpSp>
        <p:grpSp>
          <p:nvGrpSpPr>
            <p:cNvPr id="9" name="Group 124"/>
            <p:cNvGrpSpPr>
              <a:grpSpLocks/>
            </p:cNvGrpSpPr>
            <p:nvPr/>
          </p:nvGrpSpPr>
          <p:grpSpPr bwMode="auto">
            <a:xfrm>
              <a:off x="288" y="2784"/>
              <a:ext cx="576" cy="288"/>
              <a:chOff x="288" y="2784"/>
              <a:chExt cx="576" cy="288"/>
            </a:xfrm>
          </p:grpSpPr>
          <p:sp>
            <p:nvSpPr>
              <p:cNvPr id="12" name="Line 96"/>
              <p:cNvSpPr>
                <a:spLocks noChangeShapeType="1"/>
              </p:cNvSpPr>
              <p:nvPr/>
            </p:nvSpPr>
            <p:spPr bwMode="auto">
              <a:xfrm>
                <a:off x="480" y="2976"/>
                <a:ext cx="384" cy="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Text Box 98"/>
              <p:cNvSpPr txBox="1">
                <a:spLocks noChangeArrowheads="1"/>
              </p:cNvSpPr>
              <p:nvPr/>
            </p:nvSpPr>
            <p:spPr bwMode="auto">
              <a:xfrm>
                <a:off x="288" y="2784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GB" i="1">
                    <a:solidFill>
                      <a:srgbClr val="FF3300"/>
                    </a:solidFill>
                  </a:rPr>
                  <a:t>b</a:t>
                </a:r>
              </a:p>
            </p:txBody>
          </p:sp>
        </p:grpSp>
        <p:sp>
          <p:nvSpPr>
            <p:cNvPr id="10" name="AutoShape 100"/>
            <p:cNvSpPr>
              <a:spLocks noChangeArrowheads="1"/>
            </p:cNvSpPr>
            <p:nvPr/>
          </p:nvSpPr>
          <p:spPr bwMode="auto">
            <a:xfrm>
              <a:off x="1620" y="2716"/>
              <a:ext cx="192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Text Box 101"/>
            <p:cNvSpPr txBox="1">
              <a:spLocks noChangeArrowheads="1"/>
            </p:cNvSpPr>
            <p:nvPr/>
          </p:nvSpPr>
          <p:spPr bwMode="auto">
            <a:xfrm>
              <a:off x="1826" y="2688"/>
              <a:ext cx="63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i="1" dirty="0"/>
                <a:t>y = a</a:t>
              </a:r>
              <a:r>
                <a:rPr lang="en-GB" dirty="0"/>
                <a:t> + </a:t>
              </a:r>
              <a:r>
                <a:rPr lang="en-GB" i="1" dirty="0"/>
                <a:t>b</a:t>
              </a:r>
            </a:p>
          </p:txBody>
        </p:sp>
      </p:grpSp>
      <p:sp>
        <p:nvSpPr>
          <p:cNvPr id="16" name="Text Box 108"/>
          <p:cNvSpPr txBox="1">
            <a:spLocks noChangeArrowheads="1"/>
          </p:cNvSpPr>
          <p:nvPr/>
        </p:nvSpPr>
        <p:spPr bwMode="auto">
          <a:xfrm>
            <a:off x="762000" y="5146675"/>
            <a:ext cx="2408238" cy="457200"/>
          </a:xfrm>
          <a:prstGeom prst="rect">
            <a:avLst/>
          </a:prstGeom>
          <a:solidFill>
            <a:srgbClr val="CCFF66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i="1">
                <a:solidFill>
                  <a:schemeClr val="accent2"/>
                </a:solidFill>
              </a:rPr>
              <a:t>a</a:t>
            </a:r>
            <a:r>
              <a:rPr lang="en-GB">
                <a:solidFill>
                  <a:schemeClr val="accent2"/>
                </a:solidFill>
              </a:rPr>
              <a:t> &amp; </a:t>
            </a:r>
            <a:r>
              <a:rPr lang="en-GB" i="1">
                <a:solidFill>
                  <a:schemeClr val="accent2"/>
                </a:solidFill>
              </a:rPr>
              <a:t>b</a:t>
            </a:r>
            <a:r>
              <a:rPr lang="en-GB">
                <a:solidFill>
                  <a:schemeClr val="accent2"/>
                </a:solidFill>
              </a:rPr>
              <a:t> are in phase</a:t>
            </a:r>
          </a:p>
        </p:txBody>
      </p:sp>
      <p:grpSp>
        <p:nvGrpSpPr>
          <p:cNvPr id="18" name="Group 130"/>
          <p:cNvGrpSpPr>
            <a:grpSpLocks/>
          </p:cNvGrpSpPr>
          <p:nvPr/>
        </p:nvGrpSpPr>
        <p:grpSpPr bwMode="auto">
          <a:xfrm>
            <a:off x="3419475" y="5715000"/>
            <a:ext cx="5724525" cy="1050925"/>
            <a:chOff x="3312" y="3600"/>
            <a:chExt cx="1776" cy="662"/>
          </a:xfrm>
        </p:grpSpPr>
        <p:sp>
          <p:nvSpPr>
            <p:cNvPr id="19" name="AutoShape 118"/>
            <p:cNvSpPr>
              <a:spLocks noChangeArrowheads="1"/>
            </p:cNvSpPr>
            <p:nvPr/>
          </p:nvSpPr>
          <p:spPr bwMode="auto">
            <a:xfrm>
              <a:off x="3312" y="3600"/>
              <a:ext cx="1776" cy="432"/>
            </a:xfrm>
            <a:prstGeom prst="upArrowCallout">
              <a:avLst>
                <a:gd name="adj1" fmla="val 102778"/>
                <a:gd name="adj2" fmla="val 102778"/>
                <a:gd name="adj3" fmla="val 16667"/>
                <a:gd name="adj4" fmla="val 66667"/>
              </a:avLst>
            </a:prstGeom>
            <a:solidFill>
              <a:srgbClr val="CCFF66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Text Box 117"/>
            <p:cNvSpPr txBox="1">
              <a:spLocks noChangeArrowheads="1"/>
            </p:cNvSpPr>
            <p:nvPr/>
          </p:nvSpPr>
          <p:spPr bwMode="auto">
            <a:xfrm>
              <a:off x="3408" y="3744"/>
              <a:ext cx="1476" cy="518"/>
            </a:xfrm>
            <a:prstGeom prst="rect">
              <a:avLst/>
            </a:prstGeom>
            <a:solidFill>
              <a:srgbClr val="CCFF66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b="1" dirty="0">
                  <a:solidFill>
                    <a:schemeClr val="accent2"/>
                  </a:solidFill>
                </a:rPr>
                <a:t>Complete fading when </a:t>
              </a:r>
            </a:p>
            <a:p>
              <a:pPr algn="ctr"/>
              <a:r>
                <a:rPr lang="en-GB" b="1" dirty="0">
                  <a:solidFill>
                    <a:schemeClr val="accent2"/>
                  </a:solidFill>
                </a:rPr>
                <a:t>2</a:t>
              </a:r>
              <a:r>
                <a:rPr lang="en-GB" dirty="0">
                  <a:solidFill>
                    <a:schemeClr val="accent2"/>
                  </a:solidFill>
                  <a:sym typeface="Symbol" pitchFamily="18" charset="2"/>
                </a:rPr>
                <a:t></a:t>
              </a:r>
              <a:r>
                <a:rPr lang="en-GB" i="1" dirty="0">
                  <a:solidFill>
                    <a:schemeClr val="accent2"/>
                  </a:solidFill>
                  <a:sym typeface="Symbol" pitchFamily="18" charset="2"/>
                </a:rPr>
                <a:t>d</a:t>
              </a:r>
              <a:r>
                <a:rPr lang="en-GB" dirty="0">
                  <a:solidFill>
                    <a:schemeClr val="accent2"/>
                  </a:solidFill>
                  <a:sym typeface="Symbol" pitchFamily="18" charset="2"/>
                </a:rPr>
                <a:t>/ = </a:t>
              </a:r>
              <a:r>
                <a:rPr lang="en-GB" i="1" dirty="0">
                  <a:solidFill>
                    <a:schemeClr val="accent2"/>
                  </a:solidFill>
                  <a:sym typeface="Symbol" pitchFamily="18" charset="2"/>
                </a:rPr>
                <a:t>n</a:t>
              </a:r>
              <a:r>
                <a:rPr lang="en-GB" dirty="0">
                  <a:solidFill>
                    <a:schemeClr val="accent2"/>
                  </a:solidFill>
                  <a:sym typeface="Symbol" pitchFamily="18" charset="2"/>
                </a:rPr>
                <a:t>, </a:t>
              </a:r>
              <a:r>
                <a:rPr lang="en-GB" i="1" dirty="0">
                  <a:solidFill>
                    <a:schemeClr val="accent2"/>
                  </a:solidFill>
                  <a:sym typeface="Symbol" pitchFamily="18" charset="2"/>
                </a:rPr>
                <a:t>d</a:t>
              </a:r>
              <a:r>
                <a:rPr lang="en-GB" dirty="0">
                  <a:solidFill>
                    <a:schemeClr val="accent2"/>
                  </a:solidFill>
                  <a:sym typeface="Symbol" pitchFamily="18" charset="2"/>
                </a:rPr>
                <a:t> is the path difference</a:t>
              </a:r>
            </a:p>
          </p:txBody>
        </p:sp>
      </p:grpSp>
      <p:grpSp>
        <p:nvGrpSpPr>
          <p:cNvPr id="21" name="Group 131"/>
          <p:cNvGrpSpPr>
            <a:grpSpLocks/>
          </p:cNvGrpSpPr>
          <p:nvPr/>
        </p:nvGrpSpPr>
        <p:grpSpPr bwMode="auto">
          <a:xfrm>
            <a:off x="304800" y="1409700"/>
            <a:ext cx="8731696" cy="2435225"/>
            <a:chOff x="192" y="888"/>
            <a:chExt cx="5616" cy="1534"/>
          </a:xfrm>
        </p:grpSpPr>
        <p:sp>
          <p:nvSpPr>
            <p:cNvPr id="22" name="Line 6"/>
            <p:cNvSpPr>
              <a:spLocks noChangeShapeType="1"/>
            </p:cNvSpPr>
            <p:nvPr/>
          </p:nvSpPr>
          <p:spPr bwMode="auto">
            <a:xfrm>
              <a:off x="240" y="2374"/>
              <a:ext cx="41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23" name="Picture 7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784" y="2127"/>
              <a:ext cx="576" cy="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4" name="Line 8"/>
            <p:cNvSpPr>
              <a:spLocks noChangeShapeType="1"/>
            </p:cNvSpPr>
            <p:nvPr/>
          </p:nvSpPr>
          <p:spPr bwMode="auto">
            <a:xfrm>
              <a:off x="3072" y="1990"/>
              <a:ext cx="0" cy="14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Line 11"/>
            <p:cNvSpPr>
              <a:spLocks noChangeShapeType="1"/>
            </p:cNvSpPr>
            <p:nvPr/>
          </p:nvSpPr>
          <p:spPr bwMode="auto">
            <a:xfrm>
              <a:off x="384" y="1008"/>
              <a:ext cx="3744" cy="33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Line 14"/>
            <p:cNvSpPr>
              <a:spLocks noChangeShapeType="1"/>
            </p:cNvSpPr>
            <p:nvPr/>
          </p:nvSpPr>
          <p:spPr bwMode="auto">
            <a:xfrm>
              <a:off x="1392" y="1296"/>
              <a:ext cx="1632" cy="72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27" name="Group 17"/>
            <p:cNvGrpSpPr>
              <a:grpSpLocks/>
            </p:cNvGrpSpPr>
            <p:nvPr/>
          </p:nvGrpSpPr>
          <p:grpSpPr bwMode="auto">
            <a:xfrm>
              <a:off x="192" y="2374"/>
              <a:ext cx="3792" cy="48"/>
              <a:chOff x="768" y="2400"/>
              <a:chExt cx="3168" cy="48"/>
            </a:xfrm>
          </p:grpSpPr>
          <p:sp>
            <p:nvSpPr>
              <p:cNvPr id="58" name="Line 18"/>
              <p:cNvSpPr>
                <a:spLocks noChangeShapeType="1"/>
              </p:cNvSpPr>
              <p:nvPr/>
            </p:nvSpPr>
            <p:spPr bwMode="auto">
              <a:xfrm flipH="1">
                <a:off x="768" y="2400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9" name="Line 19"/>
              <p:cNvSpPr>
                <a:spLocks noChangeShapeType="1"/>
              </p:cNvSpPr>
              <p:nvPr/>
            </p:nvSpPr>
            <p:spPr bwMode="auto">
              <a:xfrm flipH="1">
                <a:off x="864" y="2400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0" name="Line 20"/>
              <p:cNvSpPr>
                <a:spLocks noChangeShapeType="1"/>
              </p:cNvSpPr>
              <p:nvPr/>
            </p:nvSpPr>
            <p:spPr bwMode="auto">
              <a:xfrm flipH="1">
                <a:off x="960" y="2400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1" name="Line 21"/>
              <p:cNvSpPr>
                <a:spLocks noChangeShapeType="1"/>
              </p:cNvSpPr>
              <p:nvPr/>
            </p:nvSpPr>
            <p:spPr bwMode="auto">
              <a:xfrm flipH="1">
                <a:off x="1056" y="2400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2" name="Line 22"/>
              <p:cNvSpPr>
                <a:spLocks noChangeShapeType="1"/>
              </p:cNvSpPr>
              <p:nvPr/>
            </p:nvSpPr>
            <p:spPr bwMode="auto">
              <a:xfrm flipH="1">
                <a:off x="1296" y="2400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3" name="Line 23"/>
              <p:cNvSpPr>
                <a:spLocks noChangeShapeType="1"/>
              </p:cNvSpPr>
              <p:nvPr/>
            </p:nvSpPr>
            <p:spPr bwMode="auto">
              <a:xfrm flipH="1">
                <a:off x="1392" y="2400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4" name="Line 24"/>
              <p:cNvSpPr>
                <a:spLocks noChangeShapeType="1"/>
              </p:cNvSpPr>
              <p:nvPr/>
            </p:nvSpPr>
            <p:spPr bwMode="auto">
              <a:xfrm flipH="1">
                <a:off x="1488" y="2400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5" name="Line 25"/>
              <p:cNvSpPr>
                <a:spLocks noChangeShapeType="1"/>
              </p:cNvSpPr>
              <p:nvPr/>
            </p:nvSpPr>
            <p:spPr bwMode="auto">
              <a:xfrm flipH="1">
                <a:off x="1584" y="2400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6" name="Line 26"/>
              <p:cNvSpPr>
                <a:spLocks noChangeShapeType="1"/>
              </p:cNvSpPr>
              <p:nvPr/>
            </p:nvSpPr>
            <p:spPr bwMode="auto">
              <a:xfrm flipH="1">
                <a:off x="1680" y="2400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7" name="Line 27"/>
              <p:cNvSpPr>
                <a:spLocks noChangeShapeType="1"/>
              </p:cNvSpPr>
              <p:nvPr/>
            </p:nvSpPr>
            <p:spPr bwMode="auto">
              <a:xfrm flipH="1">
                <a:off x="1776" y="2400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8" name="Line 28"/>
              <p:cNvSpPr>
                <a:spLocks noChangeShapeType="1"/>
              </p:cNvSpPr>
              <p:nvPr/>
            </p:nvSpPr>
            <p:spPr bwMode="auto">
              <a:xfrm flipH="1">
                <a:off x="1872" y="2400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9" name="Line 29"/>
              <p:cNvSpPr>
                <a:spLocks noChangeShapeType="1"/>
              </p:cNvSpPr>
              <p:nvPr/>
            </p:nvSpPr>
            <p:spPr bwMode="auto">
              <a:xfrm flipH="1">
                <a:off x="2112" y="2400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0" name="Line 30"/>
              <p:cNvSpPr>
                <a:spLocks noChangeShapeType="1"/>
              </p:cNvSpPr>
              <p:nvPr/>
            </p:nvSpPr>
            <p:spPr bwMode="auto">
              <a:xfrm flipH="1">
                <a:off x="2208" y="2400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1" name="Line 31"/>
              <p:cNvSpPr>
                <a:spLocks noChangeShapeType="1"/>
              </p:cNvSpPr>
              <p:nvPr/>
            </p:nvSpPr>
            <p:spPr bwMode="auto">
              <a:xfrm flipH="1">
                <a:off x="2304" y="2400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2" name="Line 32"/>
              <p:cNvSpPr>
                <a:spLocks noChangeShapeType="1"/>
              </p:cNvSpPr>
              <p:nvPr/>
            </p:nvSpPr>
            <p:spPr bwMode="auto">
              <a:xfrm flipH="1">
                <a:off x="2352" y="2400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3" name="Line 33"/>
              <p:cNvSpPr>
                <a:spLocks noChangeShapeType="1"/>
              </p:cNvSpPr>
              <p:nvPr/>
            </p:nvSpPr>
            <p:spPr bwMode="auto">
              <a:xfrm flipH="1">
                <a:off x="2448" y="2400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4" name="Line 34"/>
              <p:cNvSpPr>
                <a:spLocks noChangeShapeType="1"/>
              </p:cNvSpPr>
              <p:nvPr/>
            </p:nvSpPr>
            <p:spPr bwMode="auto">
              <a:xfrm flipH="1">
                <a:off x="2544" y="2400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5" name="Line 35"/>
              <p:cNvSpPr>
                <a:spLocks noChangeShapeType="1"/>
              </p:cNvSpPr>
              <p:nvPr/>
            </p:nvSpPr>
            <p:spPr bwMode="auto">
              <a:xfrm flipH="1">
                <a:off x="2640" y="2400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6" name="Line 36"/>
              <p:cNvSpPr>
                <a:spLocks noChangeShapeType="1"/>
              </p:cNvSpPr>
              <p:nvPr/>
            </p:nvSpPr>
            <p:spPr bwMode="auto">
              <a:xfrm flipH="1">
                <a:off x="2880" y="2400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7" name="Line 37"/>
              <p:cNvSpPr>
                <a:spLocks noChangeShapeType="1"/>
              </p:cNvSpPr>
              <p:nvPr/>
            </p:nvSpPr>
            <p:spPr bwMode="auto">
              <a:xfrm flipH="1">
                <a:off x="2976" y="2400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8" name="Line 38"/>
              <p:cNvSpPr>
                <a:spLocks noChangeShapeType="1"/>
              </p:cNvSpPr>
              <p:nvPr/>
            </p:nvSpPr>
            <p:spPr bwMode="auto">
              <a:xfrm flipH="1">
                <a:off x="3072" y="2400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9" name="Line 39"/>
              <p:cNvSpPr>
                <a:spLocks noChangeShapeType="1"/>
              </p:cNvSpPr>
              <p:nvPr/>
            </p:nvSpPr>
            <p:spPr bwMode="auto">
              <a:xfrm flipH="1">
                <a:off x="3168" y="2400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0" name="Line 40"/>
              <p:cNvSpPr>
                <a:spLocks noChangeShapeType="1"/>
              </p:cNvSpPr>
              <p:nvPr/>
            </p:nvSpPr>
            <p:spPr bwMode="auto">
              <a:xfrm flipH="1">
                <a:off x="3264" y="2400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1" name="Line 41"/>
              <p:cNvSpPr>
                <a:spLocks noChangeShapeType="1"/>
              </p:cNvSpPr>
              <p:nvPr/>
            </p:nvSpPr>
            <p:spPr bwMode="auto">
              <a:xfrm flipH="1">
                <a:off x="3360" y="2400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2" name="Line 42"/>
              <p:cNvSpPr>
                <a:spLocks noChangeShapeType="1"/>
              </p:cNvSpPr>
              <p:nvPr/>
            </p:nvSpPr>
            <p:spPr bwMode="auto">
              <a:xfrm flipH="1">
                <a:off x="3456" y="2400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3" name="Line 43"/>
              <p:cNvSpPr>
                <a:spLocks noChangeShapeType="1"/>
              </p:cNvSpPr>
              <p:nvPr/>
            </p:nvSpPr>
            <p:spPr bwMode="auto">
              <a:xfrm flipH="1">
                <a:off x="3696" y="2400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4" name="Line 44"/>
              <p:cNvSpPr>
                <a:spLocks noChangeShapeType="1"/>
              </p:cNvSpPr>
              <p:nvPr/>
            </p:nvSpPr>
            <p:spPr bwMode="auto">
              <a:xfrm flipH="1">
                <a:off x="3792" y="2400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5" name="Line 45"/>
              <p:cNvSpPr>
                <a:spLocks noChangeShapeType="1"/>
              </p:cNvSpPr>
              <p:nvPr/>
            </p:nvSpPr>
            <p:spPr bwMode="auto">
              <a:xfrm flipH="1">
                <a:off x="3888" y="2400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8" name="Group 70"/>
            <p:cNvGrpSpPr>
              <a:grpSpLocks/>
            </p:cNvGrpSpPr>
            <p:nvPr/>
          </p:nvGrpSpPr>
          <p:grpSpPr bwMode="auto">
            <a:xfrm>
              <a:off x="1056" y="1296"/>
              <a:ext cx="336" cy="1092"/>
              <a:chOff x="624" y="3072"/>
              <a:chExt cx="768" cy="1008"/>
            </a:xfrm>
          </p:grpSpPr>
          <p:sp>
            <p:nvSpPr>
              <p:cNvPr id="50" name="AutoShape 69"/>
              <p:cNvSpPr>
                <a:spLocks noChangeArrowheads="1"/>
              </p:cNvSpPr>
              <p:nvPr/>
            </p:nvSpPr>
            <p:spPr bwMode="auto">
              <a:xfrm>
                <a:off x="624" y="3072"/>
                <a:ext cx="768" cy="1008"/>
              </a:xfrm>
              <a:prstGeom prst="cube">
                <a:avLst>
                  <a:gd name="adj" fmla="val 25000"/>
                </a:avLst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" name="Rectangle 60"/>
              <p:cNvSpPr>
                <a:spLocks noChangeArrowheads="1"/>
              </p:cNvSpPr>
              <p:nvPr/>
            </p:nvSpPr>
            <p:spPr bwMode="auto">
              <a:xfrm>
                <a:off x="720" y="3312"/>
                <a:ext cx="144" cy="14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" name="Rectangle 61"/>
              <p:cNvSpPr>
                <a:spLocks noChangeArrowheads="1"/>
              </p:cNvSpPr>
              <p:nvPr/>
            </p:nvSpPr>
            <p:spPr bwMode="auto">
              <a:xfrm>
                <a:off x="960" y="3312"/>
                <a:ext cx="144" cy="14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" name="Rectangle 62"/>
              <p:cNvSpPr>
                <a:spLocks noChangeArrowheads="1"/>
              </p:cNvSpPr>
              <p:nvPr/>
            </p:nvSpPr>
            <p:spPr bwMode="auto">
              <a:xfrm>
                <a:off x="720" y="3504"/>
                <a:ext cx="144" cy="14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" name="Rectangle 63"/>
              <p:cNvSpPr>
                <a:spLocks noChangeArrowheads="1"/>
              </p:cNvSpPr>
              <p:nvPr/>
            </p:nvSpPr>
            <p:spPr bwMode="auto">
              <a:xfrm>
                <a:off x="960" y="3504"/>
                <a:ext cx="144" cy="14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" name="Rectangle 64"/>
              <p:cNvSpPr>
                <a:spLocks noChangeArrowheads="1"/>
              </p:cNvSpPr>
              <p:nvPr/>
            </p:nvSpPr>
            <p:spPr bwMode="auto">
              <a:xfrm>
                <a:off x="720" y="3696"/>
                <a:ext cx="144" cy="14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" name="Rectangle 65"/>
              <p:cNvSpPr>
                <a:spLocks noChangeArrowheads="1"/>
              </p:cNvSpPr>
              <p:nvPr/>
            </p:nvSpPr>
            <p:spPr bwMode="auto">
              <a:xfrm>
                <a:off x="960" y="3696"/>
                <a:ext cx="144" cy="14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" name="Rectangle 66"/>
              <p:cNvSpPr>
                <a:spLocks noChangeArrowheads="1"/>
              </p:cNvSpPr>
              <p:nvPr/>
            </p:nvSpPr>
            <p:spPr bwMode="auto">
              <a:xfrm>
                <a:off x="840" y="3912"/>
                <a:ext cx="144" cy="14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9" name="Line 71"/>
            <p:cNvSpPr>
              <a:spLocks noChangeShapeType="1"/>
            </p:cNvSpPr>
            <p:nvPr/>
          </p:nvSpPr>
          <p:spPr bwMode="auto">
            <a:xfrm>
              <a:off x="384" y="1152"/>
              <a:ext cx="1536" cy="20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30" name="Group 90"/>
            <p:cNvGrpSpPr>
              <a:grpSpLocks/>
            </p:cNvGrpSpPr>
            <p:nvPr/>
          </p:nvGrpSpPr>
          <p:grpSpPr bwMode="auto">
            <a:xfrm>
              <a:off x="4128" y="1080"/>
              <a:ext cx="432" cy="1296"/>
              <a:chOff x="3936" y="1536"/>
              <a:chExt cx="576" cy="1296"/>
            </a:xfrm>
          </p:grpSpPr>
          <p:sp>
            <p:nvSpPr>
              <p:cNvPr id="40" name="Rectangle 72"/>
              <p:cNvSpPr>
                <a:spLocks noChangeArrowheads="1"/>
              </p:cNvSpPr>
              <p:nvPr/>
            </p:nvSpPr>
            <p:spPr bwMode="auto">
              <a:xfrm>
                <a:off x="3936" y="1536"/>
                <a:ext cx="576" cy="129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" name="Rectangle 73"/>
              <p:cNvSpPr>
                <a:spLocks noChangeArrowheads="1"/>
              </p:cNvSpPr>
              <p:nvPr/>
            </p:nvSpPr>
            <p:spPr bwMode="auto">
              <a:xfrm>
                <a:off x="3984" y="1584"/>
                <a:ext cx="96" cy="288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" name="Rectangle 75"/>
              <p:cNvSpPr>
                <a:spLocks noChangeArrowheads="1"/>
              </p:cNvSpPr>
              <p:nvPr/>
            </p:nvSpPr>
            <p:spPr bwMode="auto">
              <a:xfrm>
                <a:off x="4128" y="1584"/>
                <a:ext cx="96" cy="288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" name="Rectangle 76"/>
              <p:cNvSpPr>
                <a:spLocks noChangeArrowheads="1"/>
              </p:cNvSpPr>
              <p:nvPr/>
            </p:nvSpPr>
            <p:spPr bwMode="auto">
              <a:xfrm>
                <a:off x="4272" y="1584"/>
                <a:ext cx="96" cy="288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" name="Rectangle 77"/>
              <p:cNvSpPr>
                <a:spLocks noChangeArrowheads="1"/>
              </p:cNvSpPr>
              <p:nvPr/>
            </p:nvSpPr>
            <p:spPr bwMode="auto">
              <a:xfrm>
                <a:off x="3984" y="1968"/>
                <a:ext cx="96" cy="288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" name="Rectangle 78"/>
              <p:cNvSpPr>
                <a:spLocks noChangeArrowheads="1"/>
              </p:cNvSpPr>
              <p:nvPr/>
            </p:nvSpPr>
            <p:spPr bwMode="auto">
              <a:xfrm>
                <a:off x="4128" y="1968"/>
                <a:ext cx="96" cy="288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" name="Rectangle 79"/>
              <p:cNvSpPr>
                <a:spLocks noChangeArrowheads="1"/>
              </p:cNvSpPr>
              <p:nvPr/>
            </p:nvSpPr>
            <p:spPr bwMode="auto">
              <a:xfrm>
                <a:off x="4272" y="1968"/>
                <a:ext cx="96" cy="288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" name="Rectangle 80"/>
              <p:cNvSpPr>
                <a:spLocks noChangeArrowheads="1"/>
              </p:cNvSpPr>
              <p:nvPr/>
            </p:nvSpPr>
            <p:spPr bwMode="auto">
              <a:xfrm>
                <a:off x="3984" y="2352"/>
                <a:ext cx="96" cy="288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" name="Rectangle 81"/>
              <p:cNvSpPr>
                <a:spLocks noChangeArrowheads="1"/>
              </p:cNvSpPr>
              <p:nvPr/>
            </p:nvSpPr>
            <p:spPr bwMode="auto">
              <a:xfrm>
                <a:off x="4128" y="2352"/>
                <a:ext cx="96" cy="288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" name="Rectangle 82"/>
              <p:cNvSpPr>
                <a:spLocks noChangeArrowheads="1"/>
              </p:cNvSpPr>
              <p:nvPr/>
            </p:nvSpPr>
            <p:spPr bwMode="auto">
              <a:xfrm>
                <a:off x="4272" y="2352"/>
                <a:ext cx="96" cy="288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1" name="Line 84"/>
            <p:cNvSpPr>
              <a:spLocks noChangeShapeType="1"/>
            </p:cNvSpPr>
            <p:nvPr/>
          </p:nvSpPr>
          <p:spPr bwMode="auto">
            <a:xfrm flipH="1">
              <a:off x="3120" y="1344"/>
              <a:ext cx="960" cy="67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 Box 85"/>
            <p:cNvSpPr txBox="1">
              <a:spLocks noChangeArrowheads="1"/>
            </p:cNvSpPr>
            <p:nvPr/>
          </p:nvSpPr>
          <p:spPr bwMode="auto">
            <a:xfrm>
              <a:off x="1728" y="1801"/>
              <a:ext cx="904" cy="4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GB">
                  <a:solidFill>
                    <a:schemeClr val="accent2"/>
                  </a:solidFill>
                </a:rPr>
                <a:t>Diffracted</a:t>
              </a:r>
            </a:p>
            <a:p>
              <a:pPr algn="ctr">
                <a:lnSpc>
                  <a:spcPct val="80000"/>
                </a:lnSpc>
              </a:pPr>
              <a:r>
                <a:rPr lang="en-GB">
                  <a:solidFill>
                    <a:schemeClr val="accent2"/>
                  </a:solidFill>
                </a:rPr>
                <a:t>wave</a:t>
              </a:r>
            </a:p>
          </p:txBody>
        </p:sp>
        <p:sp>
          <p:nvSpPr>
            <p:cNvPr id="33" name="Text Box 86"/>
            <p:cNvSpPr txBox="1">
              <a:spLocks noChangeArrowheads="1"/>
            </p:cNvSpPr>
            <p:nvPr/>
          </p:nvSpPr>
          <p:spPr bwMode="auto">
            <a:xfrm>
              <a:off x="3251" y="1897"/>
              <a:ext cx="850" cy="4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GB">
                  <a:solidFill>
                    <a:srgbClr val="FF3300"/>
                  </a:solidFill>
                </a:rPr>
                <a:t>Reflected</a:t>
              </a:r>
            </a:p>
            <a:p>
              <a:pPr algn="ctr">
                <a:lnSpc>
                  <a:spcPct val="80000"/>
                </a:lnSpc>
              </a:pPr>
              <a:r>
                <a:rPr lang="en-GB">
                  <a:solidFill>
                    <a:srgbClr val="FF3300"/>
                  </a:solidFill>
                </a:rPr>
                <a:t>wave</a:t>
              </a:r>
            </a:p>
          </p:txBody>
        </p:sp>
        <p:sp>
          <p:nvSpPr>
            <p:cNvPr id="34" name="Text Box 89"/>
            <p:cNvSpPr txBox="1">
              <a:spLocks noChangeArrowheads="1"/>
            </p:cNvSpPr>
            <p:nvPr/>
          </p:nvSpPr>
          <p:spPr bwMode="auto">
            <a:xfrm>
              <a:off x="4512" y="1584"/>
              <a:ext cx="129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>
                  <a:solidFill>
                    <a:srgbClr val="FF3300"/>
                  </a:solidFill>
                </a:rPr>
                <a:t>No direct path</a:t>
              </a:r>
            </a:p>
          </p:txBody>
        </p:sp>
        <p:sp>
          <p:nvSpPr>
            <p:cNvPr id="35" name="Text Box 91"/>
            <p:cNvSpPr txBox="1">
              <a:spLocks noChangeArrowheads="1"/>
            </p:cNvSpPr>
            <p:nvPr/>
          </p:nvSpPr>
          <p:spPr bwMode="auto">
            <a:xfrm>
              <a:off x="2064" y="1380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i="1">
                  <a:solidFill>
                    <a:schemeClr val="accent2"/>
                  </a:solidFill>
                </a:rPr>
                <a:t>a</a:t>
              </a:r>
            </a:p>
          </p:txBody>
        </p:sp>
        <p:sp>
          <p:nvSpPr>
            <p:cNvPr id="36" name="Text Box 92"/>
            <p:cNvSpPr txBox="1">
              <a:spLocks noChangeArrowheads="1"/>
            </p:cNvSpPr>
            <p:nvPr/>
          </p:nvSpPr>
          <p:spPr bwMode="auto">
            <a:xfrm>
              <a:off x="3484" y="1440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i="1">
                  <a:solidFill>
                    <a:srgbClr val="FF3300"/>
                  </a:solidFill>
                </a:rPr>
                <a:t>b</a:t>
              </a:r>
            </a:p>
          </p:txBody>
        </p:sp>
        <p:grpSp>
          <p:nvGrpSpPr>
            <p:cNvPr id="37" name="Group 119"/>
            <p:cNvGrpSpPr>
              <a:grpSpLocks/>
            </p:cNvGrpSpPr>
            <p:nvPr/>
          </p:nvGrpSpPr>
          <p:grpSpPr bwMode="auto">
            <a:xfrm>
              <a:off x="240" y="888"/>
              <a:ext cx="144" cy="1488"/>
              <a:chOff x="384" y="1440"/>
              <a:chExt cx="145" cy="672"/>
            </a:xfrm>
          </p:grpSpPr>
          <p:sp>
            <p:nvSpPr>
              <p:cNvPr id="38" name="AutoShape 120"/>
              <p:cNvSpPr>
                <a:spLocks noChangeArrowheads="1"/>
              </p:cNvSpPr>
              <p:nvPr/>
            </p:nvSpPr>
            <p:spPr bwMode="auto">
              <a:xfrm>
                <a:off x="384" y="1536"/>
                <a:ext cx="144" cy="576"/>
              </a:xfrm>
              <a:prstGeom prst="triangle">
                <a:avLst>
                  <a:gd name="adj" fmla="val 50000"/>
                </a:avLst>
              </a:prstGeom>
              <a:solidFill>
                <a:schemeClr val="tx2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AutoShape 121"/>
              <p:cNvSpPr>
                <a:spLocks noChangeArrowheads="1"/>
              </p:cNvSpPr>
              <p:nvPr/>
            </p:nvSpPr>
            <p:spPr bwMode="auto">
              <a:xfrm rot="5342630">
                <a:off x="386" y="1438"/>
                <a:ext cx="142" cy="145"/>
              </a:xfrm>
              <a:prstGeom prst="flowChartCollate">
                <a:avLst/>
              </a:prstGeom>
              <a:solidFill>
                <a:schemeClr val="tx2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488B1CC-57F6-50E3-D57D-EA0DF687C6DE}"/>
              </a:ext>
            </a:extLst>
          </p:cNvPr>
          <p:cNvGrpSpPr/>
          <p:nvPr/>
        </p:nvGrpSpPr>
        <p:grpSpPr>
          <a:xfrm>
            <a:off x="4648200" y="4038600"/>
            <a:ext cx="3514725" cy="1593850"/>
            <a:chOff x="4648200" y="4038600"/>
            <a:chExt cx="3514725" cy="1593850"/>
          </a:xfrm>
        </p:grpSpPr>
        <p:sp>
          <p:nvSpPr>
            <p:cNvPr id="17" name="Text Box 115"/>
            <p:cNvSpPr txBox="1">
              <a:spLocks noChangeArrowheads="1"/>
            </p:cNvSpPr>
            <p:nvPr/>
          </p:nvSpPr>
          <p:spPr bwMode="auto">
            <a:xfrm>
              <a:off x="4648200" y="5175250"/>
              <a:ext cx="3514725" cy="457200"/>
            </a:xfrm>
            <a:prstGeom prst="rect">
              <a:avLst/>
            </a:prstGeom>
            <a:solidFill>
              <a:srgbClr val="FFFF66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i="1">
                  <a:solidFill>
                    <a:schemeClr val="accent2"/>
                  </a:solidFill>
                </a:rPr>
                <a:t>a</a:t>
              </a:r>
              <a:r>
                <a:rPr lang="en-GB">
                  <a:solidFill>
                    <a:schemeClr val="accent2"/>
                  </a:solidFill>
                </a:rPr>
                <a:t> &amp; </a:t>
              </a:r>
              <a:r>
                <a:rPr lang="en-GB" i="1">
                  <a:solidFill>
                    <a:schemeClr val="accent2"/>
                  </a:solidFill>
                </a:rPr>
                <a:t>b</a:t>
              </a:r>
              <a:r>
                <a:rPr lang="en-GB">
                  <a:solidFill>
                    <a:schemeClr val="accent2"/>
                  </a:solidFill>
                </a:rPr>
                <a:t> are out of phase by </a:t>
              </a:r>
              <a:r>
                <a:rPr lang="en-GB">
                  <a:solidFill>
                    <a:schemeClr val="accent2"/>
                  </a:solidFill>
                  <a:sym typeface="Symbol" pitchFamily="18" charset="2"/>
                </a:rPr>
                <a:t></a:t>
              </a:r>
              <a:endParaRPr lang="en-GB">
                <a:solidFill>
                  <a:schemeClr val="accent2"/>
                </a:solidFill>
              </a:endParaRPr>
            </a:p>
          </p:txBody>
        </p:sp>
        <p:grpSp>
          <p:nvGrpSpPr>
            <p:cNvPr id="86" name="Group 129"/>
            <p:cNvGrpSpPr>
              <a:grpSpLocks/>
            </p:cNvGrpSpPr>
            <p:nvPr/>
          </p:nvGrpSpPr>
          <p:grpSpPr bwMode="auto">
            <a:xfrm>
              <a:off x="4845050" y="4038600"/>
              <a:ext cx="3114675" cy="873125"/>
              <a:chOff x="3052" y="2544"/>
              <a:chExt cx="1962" cy="550"/>
            </a:xfrm>
          </p:grpSpPr>
          <p:sp>
            <p:nvSpPr>
              <p:cNvPr id="87" name="Text Box 109"/>
              <p:cNvSpPr txBox="1">
                <a:spLocks noChangeArrowheads="1"/>
              </p:cNvSpPr>
              <p:nvPr/>
            </p:nvSpPr>
            <p:spPr bwMode="auto">
              <a:xfrm>
                <a:off x="3629" y="2640"/>
                <a:ext cx="766" cy="442"/>
              </a:xfrm>
              <a:prstGeom prst="rect">
                <a:avLst/>
              </a:prstGeom>
              <a:solidFill>
                <a:srgbClr val="CCFF66"/>
              </a:solidFill>
              <a:ln w="9525">
                <a:noFill/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>
                <a:spAutoFit/>
              </a:bodyPr>
              <a:lstStyle/>
              <a:p>
                <a:pPr>
                  <a:defRPr/>
                </a:pPr>
                <a:endParaRPr lang="en-GB" sz="800" dirty="0"/>
              </a:p>
              <a:p>
                <a:pPr>
                  <a:defRPr/>
                </a:pPr>
                <a:r>
                  <a:rPr lang="en-GB" dirty="0"/>
                  <a:t>Antenna</a:t>
                </a:r>
              </a:p>
              <a:p>
                <a:pPr>
                  <a:defRPr/>
                </a:pPr>
                <a:endParaRPr lang="en-GB" sz="800" dirty="0"/>
              </a:p>
            </p:txBody>
          </p:sp>
          <p:grpSp>
            <p:nvGrpSpPr>
              <p:cNvPr id="88" name="Group 126"/>
              <p:cNvGrpSpPr>
                <a:grpSpLocks/>
              </p:cNvGrpSpPr>
              <p:nvPr/>
            </p:nvGrpSpPr>
            <p:grpSpPr bwMode="auto">
              <a:xfrm>
                <a:off x="3063" y="2806"/>
                <a:ext cx="576" cy="288"/>
                <a:chOff x="3063" y="2806"/>
                <a:chExt cx="576" cy="288"/>
              </a:xfrm>
            </p:grpSpPr>
            <p:sp>
              <p:nvSpPr>
                <p:cNvPr id="94" name="Line 111"/>
                <p:cNvSpPr>
                  <a:spLocks noChangeShapeType="1"/>
                </p:cNvSpPr>
                <p:nvPr/>
              </p:nvSpPr>
              <p:spPr bwMode="auto">
                <a:xfrm>
                  <a:off x="3255" y="2998"/>
                  <a:ext cx="384" cy="0"/>
                </a:xfrm>
                <a:prstGeom prst="line">
                  <a:avLst/>
                </a:prstGeom>
                <a:noFill/>
                <a:ln w="19050">
                  <a:solidFill>
                    <a:srgbClr val="FF33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95" name="Text Box 112"/>
                <p:cNvSpPr txBox="1">
                  <a:spLocks noChangeArrowheads="1"/>
                </p:cNvSpPr>
                <p:nvPr/>
              </p:nvSpPr>
              <p:spPr bwMode="auto">
                <a:xfrm>
                  <a:off x="3063" y="2806"/>
                  <a:ext cx="212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GB" i="1">
                      <a:solidFill>
                        <a:srgbClr val="FF3300"/>
                      </a:solidFill>
                    </a:rPr>
                    <a:t>b</a:t>
                  </a:r>
                </a:p>
              </p:txBody>
            </p:sp>
          </p:grpSp>
          <p:sp>
            <p:nvSpPr>
              <p:cNvPr id="89" name="AutoShape 113"/>
              <p:cNvSpPr>
                <a:spLocks noChangeArrowheads="1"/>
              </p:cNvSpPr>
              <p:nvPr/>
            </p:nvSpPr>
            <p:spPr bwMode="auto">
              <a:xfrm>
                <a:off x="4395" y="2738"/>
                <a:ext cx="192" cy="306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0" name="Text Box 114"/>
              <p:cNvSpPr txBox="1">
                <a:spLocks noChangeArrowheads="1"/>
              </p:cNvSpPr>
              <p:nvPr/>
            </p:nvSpPr>
            <p:spPr bwMode="auto">
              <a:xfrm>
                <a:off x="4601" y="2710"/>
                <a:ext cx="413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GB" i="1" dirty="0"/>
                  <a:t>y = </a:t>
                </a:r>
                <a:r>
                  <a:rPr lang="en-GB" dirty="0"/>
                  <a:t>0</a:t>
                </a:r>
              </a:p>
            </p:txBody>
          </p:sp>
          <p:grpSp>
            <p:nvGrpSpPr>
              <p:cNvPr id="91" name="Group 125"/>
              <p:cNvGrpSpPr>
                <a:grpSpLocks/>
              </p:cNvGrpSpPr>
              <p:nvPr/>
            </p:nvGrpSpPr>
            <p:grpSpPr bwMode="auto">
              <a:xfrm>
                <a:off x="3052" y="2544"/>
                <a:ext cx="587" cy="288"/>
                <a:chOff x="3052" y="2544"/>
                <a:chExt cx="587" cy="288"/>
              </a:xfrm>
            </p:grpSpPr>
            <p:sp>
              <p:nvSpPr>
                <p:cNvPr id="92" name="Line 110"/>
                <p:cNvSpPr>
                  <a:spLocks noChangeShapeType="1"/>
                </p:cNvSpPr>
                <p:nvPr/>
              </p:nvSpPr>
              <p:spPr bwMode="auto">
                <a:xfrm>
                  <a:off x="3255" y="2758"/>
                  <a:ext cx="384" cy="0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93" name="Text Box 122"/>
                <p:cNvSpPr txBox="1">
                  <a:spLocks noChangeArrowheads="1"/>
                </p:cNvSpPr>
                <p:nvPr/>
              </p:nvSpPr>
              <p:spPr bwMode="auto">
                <a:xfrm>
                  <a:off x="3052" y="2544"/>
                  <a:ext cx="212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GB" i="1">
                      <a:solidFill>
                        <a:schemeClr val="accent2"/>
                      </a:solidFill>
                    </a:rPr>
                    <a:t>a</a:t>
                  </a:r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8868"/>
            <a:ext cx="8229600" cy="5035732"/>
          </a:xfrm>
        </p:spPr>
        <p:txBody>
          <a:bodyPr/>
          <a:lstStyle/>
          <a:p>
            <a:r>
              <a:rPr lang="en-US" altLang="zh-TW" dirty="0"/>
              <a:t>Due to the motion of objects (cars, people, trees, etc.) in surrounding environment off of which come the reflections.</a:t>
            </a:r>
          </a:p>
          <a:p>
            <a:pPr>
              <a:buNone/>
            </a:pPr>
            <a:endParaRPr lang="en-US" altLang="zh-TW" dirty="0"/>
          </a:p>
          <a:p>
            <a:endParaRPr lang="en-US" altLang="zh-TW" dirty="0"/>
          </a:p>
          <a:p>
            <a:pPr>
              <a:buNone/>
            </a:pPr>
            <a:endParaRPr lang="en-IN" dirty="0"/>
          </a:p>
        </p:txBody>
      </p:sp>
      <p:sp>
        <p:nvSpPr>
          <p:cNvPr id="154" name="Date Placeholder 3"/>
          <p:cNvSpPr>
            <a:spLocks noGrp="1"/>
          </p:cNvSpPr>
          <p:nvPr>
            <p:ph type="dt" sz="half" idx="10"/>
          </p:nvPr>
        </p:nvSpPr>
        <p:spPr>
          <a:xfrm>
            <a:off x="475928" y="7436371"/>
            <a:ext cx="2133600" cy="365125"/>
          </a:xfrm>
          <a:noFill/>
        </p:spPr>
        <p:txBody>
          <a:bodyPr/>
          <a:lstStyle/>
          <a:p>
            <a:r>
              <a:rPr lang="en-GB"/>
              <a:t>Z. Ghassemlooy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B791B00-19AE-612F-ABB8-12A6BD5DE760}"/>
              </a:ext>
            </a:extLst>
          </p:cNvPr>
          <p:cNvGrpSpPr/>
          <p:nvPr/>
        </p:nvGrpSpPr>
        <p:grpSpPr>
          <a:xfrm>
            <a:off x="323528" y="2492896"/>
            <a:ext cx="8534400" cy="4572000"/>
            <a:chOff x="323528" y="2492896"/>
            <a:chExt cx="8534400" cy="4572000"/>
          </a:xfrm>
        </p:grpSpPr>
        <p:sp>
          <p:nvSpPr>
            <p:cNvPr id="153" name="Rectangle 3"/>
            <p:cNvSpPr txBox="1">
              <a:spLocks noChangeArrowheads="1"/>
            </p:cNvSpPr>
            <p:nvPr/>
          </p:nvSpPr>
          <p:spPr>
            <a:xfrm>
              <a:off x="323528" y="2492896"/>
              <a:ext cx="8534400" cy="4572000"/>
            </a:xfrm>
            <a:prstGeom prst="rect">
              <a:avLst/>
            </a:prstGeom>
          </p:spPr>
          <p:txBody>
            <a:bodyPr vert="horz">
              <a:normAutofit/>
            </a:bodyPr>
            <a:lstStyle/>
            <a:p>
              <a:pPr marL="274320" marR="0" lvl="0" indent="-27432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3"/>
                </a:buClr>
                <a:buSzPct val="95000"/>
                <a:buFont typeface="Wingdings" pitchFamily="2" charset="2"/>
                <a:buNone/>
                <a:tabLst/>
                <a:defRPr/>
              </a:pPr>
              <a:r>
                <a:rPr kumimoji="0" 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Transmitting a short pulse over a </a:t>
              </a:r>
            </a:p>
            <a:p>
              <a:pPr marL="274320" marR="0" lvl="0" indent="-27432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3"/>
                </a:buClr>
                <a:buSzPct val="95000"/>
                <a:buFont typeface="Wingdings" pitchFamily="2" charset="2"/>
                <a:buNone/>
                <a:tabLst/>
                <a:defRPr/>
              </a:pPr>
              <a:r>
                <a:rPr kumimoji="0" 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(</a:t>
              </a:r>
              <a:r>
                <a:rPr kumimoji="0" lang="en-US" sz="26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i</a:t>
              </a:r>
              <a:r>
                <a:rPr kumimoji="0" 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) frequency-selective (delay-spread) fading channel:</a:t>
              </a:r>
            </a:p>
            <a:p>
              <a:pPr marL="274320" marR="0" lvl="0" indent="-27432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3"/>
                </a:buClr>
                <a:buSzPct val="95000"/>
                <a:buFont typeface="Wingdings 2"/>
                <a:buChar char=""/>
                <a:tabLst/>
                <a:defRPr/>
              </a:pPr>
              <a:endParaRPr kumimoji="0" lang="en-GB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  <a:p>
              <a:pPr marL="274320" marR="0" lvl="0" indent="-27432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3"/>
                </a:buClr>
                <a:buSzPct val="95000"/>
                <a:buFont typeface="Wingdings 2"/>
                <a:buChar char=""/>
                <a:tabLst/>
                <a:defRPr/>
              </a:pPr>
              <a:endParaRPr kumimoji="0" lang="en-GB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  <a:p>
              <a:pPr marL="274320" marR="0" lvl="0" indent="-27432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3"/>
                </a:buClr>
                <a:buSzPct val="95000"/>
                <a:buFont typeface="Wingdings" pitchFamily="2" charset="2"/>
                <a:buNone/>
                <a:tabLst/>
                <a:defRPr/>
              </a:pPr>
              <a:endPara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  <a:p>
              <a:pPr marL="274320" marR="0" lvl="0" indent="-27432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3"/>
                </a:buClr>
                <a:buSzPct val="95000"/>
                <a:buFont typeface="Wingdings" pitchFamily="2" charset="2"/>
                <a:buNone/>
                <a:tabLst/>
                <a:defRPr/>
              </a:pPr>
              <a:r>
                <a:rPr kumimoji="0" 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(ii) time-selective (Doppler-spread) fading channel:</a:t>
              </a:r>
            </a:p>
            <a:p>
              <a:pPr marL="274320" marR="0" lvl="0" indent="-27432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3"/>
                </a:buClr>
                <a:buSzPct val="95000"/>
                <a:buFont typeface="Wingdings 2"/>
                <a:buChar char=""/>
                <a:tabLst/>
                <a:defRPr/>
              </a:pPr>
              <a:endParaRPr kumimoji="0" lang="en-GB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6F22399-C1F5-F37E-5873-EF61BE5F2ED5}"/>
                </a:ext>
              </a:extLst>
            </p:cNvPr>
            <p:cNvGrpSpPr/>
            <p:nvPr/>
          </p:nvGrpSpPr>
          <p:grpSpPr>
            <a:xfrm>
              <a:off x="2483768" y="3356992"/>
              <a:ext cx="3979193" cy="3242790"/>
              <a:chOff x="2483768" y="3356992"/>
              <a:chExt cx="3979193" cy="3242790"/>
            </a:xfrm>
          </p:grpSpPr>
          <p:grpSp>
            <p:nvGrpSpPr>
              <p:cNvPr id="155" name="Group 16"/>
              <p:cNvGrpSpPr>
                <a:grpSpLocks/>
              </p:cNvGrpSpPr>
              <p:nvPr/>
            </p:nvGrpSpPr>
            <p:grpSpPr bwMode="auto">
              <a:xfrm>
                <a:off x="2555776" y="3356992"/>
                <a:ext cx="3907185" cy="1562000"/>
                <a:chOff x="1519" y="1609"/>
                <a:chExt cx="2495" cy="1291"/>
              </a:xfrm>
            </p:grpSpPr>
            <p:sp>
              <p:nvSpPr>
                <p:cNvPr id="156" name="Line 4"/>
                <p:cNvSpPr>
                  <a:spLocks noChangeShapeType="1"/>
                </p:cNvSpPr>
                <p:nvPr/>
              </p:nvSpPr>
              <p:spPr bwMode="auto">
                <a:xfrm>
                  <a:off x="1519" y="1732"/>
                  <a:ext cx="0" cy="8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99276" tIns="49638" rIns="99276" bIns="49638"/>
                <a:lstStyle/>
                <a:p>
                  <a:endParaRPr lang="en-IN"/>
                </a:p>
              </p:txBody>
            </p:sp>
            <p:sp>
              <p:nvSpPr>
                <p:cNvPr id="157" name="Line 5"/>
                <p:cNvSpPr>
                  <a:spLocks noChangeShapeType="1"/>
                </p:cNvSpPr>
                <p:nvPr/>
              </p:nvSpPr>
              <p:spPr bwMode="auto">
                <a:xfrm>
                  <a:off x="1519" y="2452"/>
                  <a:ext cx="71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99276" tIns="49638" rIns="99276" bIns="49638"/>
                <a:lstStyle/>
                <a:p>
                  <a:endParaRPr lang="en-IN"/>
                </a:p>
              </p:txBody>
            </p:sp>
            <p:sp>
              <p:nvSpPr>
                <p:cNvPr id="158" name="Rectangle 6"/>
                <p:cNvSpPr>
                  <a:spLocks noChangeArrowheads="1"/>
                </p:cNvSpPr>
                <p:nvPr/>
              </p:nvSpPr>
              <p:spPr bwMode="auto">
                <a:xfrm>
                  <a:off x="1519" y="1868"/>
                  <a:ext cx="551" cy="5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9276" tIns="49638" rIns="99276" bIns="49638" anchor="ctr"/>
                <a:lstStyle/>
                <a:p>
                  <a:endParaRPr lang="en-US"/>
                </a:p>
              </p:txBody>
            </p:sp>
            <p:sp>
              <p:nvSpPr>
                <p:cNvPr id="159" name="Line 7"/>
                <p:cNvSpPr>
                  <a:spLocks noChangeShapeType="1"/>
                </p:cNvSpPr>
                <p:nvPr/>
              </p:nvSpPr>
              <p:spPr bwMode="auto">
                <a:xfrm>
                  <a:off x="2880" y="1724"/>
                  <a:ext cx="0" cy="8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99276" tIns="49638" rIns="99276" bIns="49638"/>
                <a:lstStyle/>
                <a:p>
                  <a:endParaRPr lang="en-IN"/>
                </a:p>
              </p:txBody>
            </p:sp>
            <p:sp>
              <p:nvSpPr>
                <p:cNvPr id="160" name="Line 8"/>
                <p:cNvSpPr>
                  <a:spLocks noChangeShapeType="1"/>
                </p:cNvSpPr>
                <p:nvPr/>
              </p:nvSpPr>
              <p:spPr bwMode="auto">
                <a:xfrm>
                  <a:off x="2886" y="2444"/>
                  <a:ext cx="8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99276" tIns="49638" rIns="99276" bIns="49638"/>
                <a:lstStyle/>
                <a:p>
                  <a:endParaRPr lang="en-IN"/>
                </a:p>
              </p:txBody>
            </p:sp>
            <p:sp>
              <p:nvSpPr>
                <p:cNvPr id="161" name="Freeform 9"/>
                <p:cNvSpPr>
                  <a:spLocks/>
                </p:cNvSpPr>
                <p:nvPr/>
              </p:nvSpPr>
              <p:spPr bwMode="auto">
                <a:xfrm>
                  <a:off x="2880" y="1908"/>
                  <a:ext cx="830" cy="536"/>
                </a:xfrm>
                <a:custGeom>
                  <a:avLst/>
                  <a:gdLst>
                    <a:gd name="T0" fmla="*/ 0 w 648"/>
                    <a:gd name="T1" fmla="*/ 0 h 536"/>
                    <a:gd name="T2" fmla="*/ 318 w 648"/>
                    <a:gd name="T3" fmla="*/ 32 h 536"/>
                    <a:gd name="T4" fmla="*/ 482 w 648"/>
                    <a:gd name="T5" fmla="*/ 56 h 536"/>
                    <a:gd name="T6" fmla="*/ 564 w 648"/>
                    <a:gd name="T7" fmla="*/ 160 h 536"/>
                    <a:gd name="T8" fmla="*/ 646 w 648"/>
                    <a:gd name="T9" fmla="*/ 344 h 536"/>
                    <a:gd name="T10" fmla="*/ 830 w 648"/>
                    <a:gd name="T11" fmla="*/ 536 h 53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48"/>
                    <a:gd name="T19" fmla="*/ 0 h 536"/>
                    <a:gd name="T20" fmla="*/ 648 w 648"/>
                    <a:gd name="T21" fmla="*/ 536 h 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48" h="536">
                      <a:moveTo>
                        <a:pt x="0" y="0"/>
                      </a:moveTo>
                      <a:cubicBezTo>
                        <a:pt x="83" y="12"/>
                        <a:pt x="165" y="20"/>
                        <a:pt x="248" y="32"/>
                      </a:cubicBezTo>
                      <a:cubicBezTo>
                        <a:pt x="290" y="46"/>
                        <a:pt x="334" y="42"/>
                        <a:pt x="376" y="56"/>
                      </a:cubicBezTo>
                      <a:cubicBezTo>
                        <a:pt x="404" y="99"/>
                        <a:pt x="400" y="120"/>
                        <a:pt x="440" y="160"/>
                      </a:cubicBezTo>
                      <a:cubicBezTo>
                        <a:pt x="455" y="222"/>
                        <a:pt x="468" y="290"/>
                        <a:pt x="504" y="344"/>
                      </a:cubicBezTo>
                      <a:cubicBezTo>
                        <a:pt x="522" y="432"/>
                        <a:pt x="534" y="536"/>
                        <a:pt x="648" y="53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99276" tIns="49638" rIns="99276" bIns="49638"/>
                <a:lstStyle/>
                <a:p>
                  <a:endParaRPr lang="en-IN"/>
                </a:p>
              </p:txBody>
            </p:sp>
            <p:sp>
              <p:nvSpPr>
                <p:cNvPr id="162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2200" y="2314"/>
                  <a:ext cx="166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99276" tIns="49638" rIns="99276" bIns="49638">
                  <a:spAutoFit/>
                </a:bodyPr>
                <a:lstStyle/>
                <a:p>
                  <a:pPr algn="ctr" eaLnBrk="0" hangingPunct="0"/>
                  <a:r>
                    <a:rPr lang="en-US" sz="1800" i="1">
                      <a:solidFill>
                        <a:srgbClr val="006600"/>
                      </a:solidFill>
                      <a:latin typeface="Arial" pitchFamily="34" charset="0"/>
                    </a:rPr>
                    <a:t>t</a:t>
                  </a:r>
                </a:p>
              </p:txBody>
            </p:sp>
            <p:sp>
              <p:nvSpPr>
                <p:cNvPr id="163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3732" y="2322"/>
                  <a:ext cx="166" cy="25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99276" tIns="49638" rIns="99276" bIns="49638">
                  <a:spAutoFit/>
                </a:bodyPr>
                <a:lstStyle/>
                <a:p>
                  <a:pPr algn="ctr" eaLnBrk="0" hangingPunct="0"/>
                  <a:r>
                    <a:rPr lang="en-US" sz="1800" i="1">
                      <a:solidFill>
                        <a:srgbClr val="006600"/>
                      </a:solidFill>
                      <a:latin typeface="Arial" pitchFamily="34" charset="0"/>
                    </a:rPr>
                    <a:t>t</a:t>
                  </a:r>
                </a:p>
              </p:txBody>
            </p:sp>
            <p:sp>
              <p:nvSpPr>
                <p:cNvPr id="164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1926" y="2441"/>
                  <a:ext cx="280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99276" tIns="49638" rIns="99276" bIns="49638">
                  <a:spAutoFit/>
                </a:bodyPr>
                <a:lstStyle/>
                <a:p>
                  <a:pPr algn="ctr" eaLnBrk="0" hangingPunct="0"/>
                  <a:r>
                    <a:rPr lang="en-US" sz="1800" i="1" dirty="0" err="1">
                      <a:solidFill>
                        <a:srgbClr val="006600"/>
                      </a:solidFill>
                      <a:latin typeface="Arial" pitchFamily="34" charset="0"/>
                    </a:rPr>
                    <a:t>T</a:t>
                  </a:r>
                  <a:r>
                    <a:rPr lang="en-US" sz="1800" i="1" baseline="-25000" dirty="0" err="1">
                      <a:solidFill>
                        <a:srgbClr val="006600"/>
                      </a:solidFill>
                      <a:latin typeface="Arial" pitchFamily="34" charset="0"/>
                    </a:rPr>
                    <a:t>p</a:t>
                  </a:r>
                  <a:endParaRPr lang="en-US" sz="1800" i="1" dirty="0">
                    <a:solidFill>
                      <a:srgbClr val="006600"/>
                    </a:solidFill>
                    <a:latin typeface="Arial" pitchFamily="34" charset="0"/>
                  </a:endParaRPr>
                </a:p>
              </p:txBody>
            </p:sp>
            <p:sp>
              <p:nvSpPr>
                <p:cNvPr id="165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3454" y="2465"/>
                  <a:ext cx="560" cy="4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99276" tIns="49638" rIns="99276" bIns="49638">
                  <a:spAutoFit/>
                </a:bodyPr>
                <a:lstStyle/>
                <a:p>
                  <a:pPr algn="ctr" eaLnBrk="0" hangingPunct="0"/>
                  <a:r>
                    <a:rPr lang="en-US" sz="1800" i="1" dirty="0" err="1">
                      <a:solidFill>
                        <a:srgbClr val="006600"/>
                      </a:solidFill>
                      <a:latin typeface="Arial" pitchFamily="34" charset="0"/>
                    </a:rPr>
                    <a:t>T</a:t>
                  </a:r>
                  <a:r>
                    <a:rPr lang="en-US" sz="1800" i="1" baseline="-25000" dirty="0" err="1">
                      <a:solidFill>
                        <a:srgbClr val="006600"/>
                      </a:solidFill>
                      <a:latin typeface="Arial" pitchFamily="34" charset="0"/>
                    </a:rPr>
                    <a:t>p</a:t>
                  </a:r>
                  <a:r>
                    <a:rPr lang="en-US" sz="1800" i="1" baseline="-25000" dirty="0">
                      <a:solidFill>
                        <a:srgbClr val="006600"/>
                      </a:solidFill>
                      <a:latin typeface="Arial" pitchFamily="34" charset="0"/>
                    </a:rPr>
                    <a:t> </a:t>
                  </a:r>
                  <a:r>
                    <a:rPr lang="en-US" sz="1800" i="1" dirty="0">
                      <a:solidFill>
                        <a:srgbClr val="006600"/>
                      </a:solidFill>
                      <a:latin typeface="Arial" pitchFamily="34" charset="0"/>
                    </a:rPr>
                    <a:t>+ </a:t>
                  </a:r>
                  <a:r>
                    <a:rPr lang="en-US" sz="1800" dirty="0" err="1">
                      <a:solidFill>
                        <a:srgbClr val="006600"/>
                      </a:solidFill>
                      <a:latin typeface="Arial" pitchFamily="34" charset="0"/>
                    </a:rPr>
                    <a:t>d</a:t>
                  </a:r>
                  <a:r>
                    <a:rPr lang="en-US" sz="1800" i="1" dirty="0" err="1">
                      <a:solidFill>
                        <a:srgbClr val="006600"/>
                      </a:solidFill>
                      <a:latin typeface="Arial" pitchFamily="34" charset="0"/>
                    </a:rPr>
                    <a:t>t</a:t>
                  </a:r>
                  <a:endParaRPr lang="en-US" sz="1800" dirty="0">
                    <a:solidFill>
                      <a:srgbClr val="006600"/>
                    </a:solidFill>
                    <a:latin typeface="Arial" pitchFamily="34" charset="0"/>
                  </a:endParaRPr>
                </a:p>
                <a:p>
                  <a:pPr algn="ctr" eaLnBrk="0" hangingPunct="0"/>
                  <a:r>
                    <a:rPr lang="en-US" sz="1800" i="1" dirty="0">
                      <a:solidFill>
                        <a:srgbClr val="006600"/>
                      </a:solidFill>
                      <a:latin typeface="Arial" pitchFamily="34" charset="0"/>
                    </a:rPr>
                    <a:t> </a:t>
                  </a:r>
                </a:p>
              </p:txBody>
            </p:sp>
            <p:sp>
              <p:nvSpPr>
                <p:cNvPr id="166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1702" y="1609"/>
                  <a:ext cx="886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99276" tIns="49638" rIns="99276" bIns="49638">
                  <a:spAutoFit/>
                </a:bodyPr>
                <a:lstStyle/>
                <a:p>
                  <a:pPr algn="ctr" eaLnBrk="0" hangingPunct="0"/>
                  <a:r>
                    <a:rPr lang="en-US" sz="1800" dirty="0">
                      <a:solidFill>
                        <a:srgbClr val="006600"/>
                      </a:solidFill>
                      <a:latin typeface="Arial" pitchFamily="34" charset="0"/>
                    </a:rPr>
                    <a:t>Transmitted</a:t>
                  </a:r>
                </a:p>
              </p:txBody>
            </p:sp>
            <p:sp>
              <p:nvSpPr>
                <p:cNvPr id="167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2996" y="1625"/>
                  <a:ext cx="726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99276" tIns="49638" rIns="99276" bIns="49638">
                  <a:spAutoFit/>
                </a:bodyPr>
                <a:lstStyle/>
                <a:p>
                  <a:pPr algn="ctr" eaLnBrk="0" hangingPunct="0"/>
                  <a:r>
                    <a:rPr lang="en-US" sz="1800" dirty="0">
                      <a:solidFill>
                        <a:srgbClr val="006600"/>
                      </a:solidFill>
                      <a:latin typeface="Arial" pitchFamily="34" charset="0"/>
                    </a:rPr>
                    <a:t>Received</a:t>
                  </a:r>
                </a:p>
              </p:txBody>
            </p:sp>
          </p:grpSp>
          <p:grpSp>
            <p:nvGrpSpPr>
              <p:cNvPr id="168" name="Group 30"/>
              <p:cNvGrpSpPr>
                <a:grpSpLocks/>
              </p:cNvGrpSpPr>
              <p:nvPr/>
            </p:nvGrpSpPr>
            <p:grpSpPr bwMode="auto">
              <a:xfrm>
                <a:off x="2483768" y="5301208"/>
                <a:ext cx="3835301" cy="1298574"/>
                <a:chOff x="1389" y="3045"/>
                <a:chExt cx="2444" cy="1139"/>
              </a:xfrm>
            </p:grpSpPr>
            <p:sp>
              <p:nvSpPr>
                <p:cNvPr id="169" name="Line 17"/>
                <p:cNvSpPr>
                  <a:spLocks noChangeShapeType="1"/>
                </p:cNvSpPr>
                <p:nvPr/>
              </p:nvSpPr>
              <p:spPr bwMode="auto">
                <a:xfrm>
                  <a:off x="1469" y="3200"/>
                  <a:ext cx="0" cy="8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99276" tIns="49638" rIns="99276" bIns="49638"/>
                <a:lstStyle/>
                <a:p>
                  <a:endParaRPr lang="en-IN"/>
                </a:p>
              </p:txBody>
            </p:sp>
            <p:sp>
              <p:nvSpPr>
                <p:cNvPr id="170" name="Line 18"/>
                <p:cNvSpPr>
                  <a:spLocks noChangeShapeType="1"/>
                </p:cNvSpPr>
                <p:nvPr/>
              </p:nvSpPr>
              <p:spPr bwMode="auto">
                <a:xfrm>
                  <a:off x="1429" y="3920"/>
                  <a:ext cx="71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99276" tIns="49638" rIns="99276" bIns="49638"/>
                <a:lstStyle/>
                <a:p>
                  <a:endParaRPr lang="en-IN"/>
                </a:p>
              </p:txBody>
            </p:sp>
            <p:sp>
              <p:nvSpPr>
                <p:cNvPr id="171" name="Rectangle 19"/>
                <p:cNvSpPr>
                  <a:spLocks noChangeArrowheads="1"/>
                </p:cNvSpPr>
                <p:nvPr/>
              </p:nvSpPr>
              <p:spPr bwMode="auto">
                <a:xfrm>
                  <a:off x="1469" y="3336"/>
                  <a:ext cx="616" cy="5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9276" tIns="49638" rIns="99276" bIns="49638" anchor="ctr"/>
                <a:lstStyle/>
                <a:p>
                  <a:endParaRPr lang="en-US"/>
                </a:p>
              </p:txBody>
            </p:sp>
            <p:sp>
              <p:nvSpPr>
                <p:cNvPr id="172" name="Line 20"/>
                <p:cNvSpPr>
                  <a:spLocks noChangeShapeType="1"/>
                </p:cNvSpPr>
                <p:nvPr/>
              </p:nvSpPr>
              <p:spPr bwMode="auto">
                <a:xfrm>
                  <a:off x="2789" y="3192"/>
                  <a:ext cx="0" cy="8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99276" tIns="49638" rIns="99276" bIns="49638"/>
                <a:lstStyle/>
                <a:p>
                  <a:endParaRPr lang="en-IN"/>
                </a:p>
              </p:txBody>
            </p:sp>
            <p:sp>
              <p:nvSpPr>
                <p:cNvPr id="173" name="Line 21"/>
                <p:cNvSpPr>
                  <a:spLocks noChangeShapeType="1"/>
                </p:cNvSpPr>
                <p:nvPr/>
              </p:nvSpPr>
              <p:spPr bwMode="auto">
                <a:xfrm>
                  <a:off x="2749" y="3912"/>
                  <a:ext cx="92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99276" tIns="49638" rIns="99276" bIns="49638"/>
                <a:lstStyle/>
                <a:p>
                  <a:endParaRPr lang="en-IN"/>
                </a:p>
              </p:txBody>
            </p:sp>
            <p:sp>
              <p:nvSpPr>
                <p:cNvPr id="174" name="Line 22"/>
                <p:cNvSpPr>
                  <a:spLocks noChangeShapeType="1"/>
                </p:cNvSpPr>
                <p:nvPr/>
              </p:nvSpPr>
              <p:spPr bwMode="auto">
                <a:xfrm flipV="1">
                  <a:off x="3397" y="3312"/>
                  <a:ext cx="0" cy="6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99276" tIns="49638" rIns="99276" bIns="49638"/>
                <a:lstStyle/>
                <a:p>
                  <a:endParaRPr lang="en-IN"/>
                </a:p>
              </p:txBody>
            </p:sp>
            <p:sp>
              <p:nvSpPr>
                <p:cNvPr id="175" name="Freeform 23"/>
                <p:cNvSpPr>
                  <a:spLocks/>
                </p:cNvSpPr>
                <p:nvPr/>
              </p:nvSpPr>
              <p:spPr bwMode="auto">
                <a:xfrm>
                  <a:off x="2797" y="3256"/>
                  <a:ext cx="630" cy="152"/>
                </a:xfrm>
                <a:custGeom>
                  <a:avLst/>
                  <a:gdLst>
                    <a:gd name="T0" fmla="*/ 0 w 646"/>
                    <a:gd name="T1" fmla="*/ 0 h 120"/>
                    <a:gd name="T2" fmla="*/ 117 w 646"/>
                    <a:gd name="T3" fmla="*/ 51 h 120"/>
                    <a:gd name="T4" fmla="*/ 179 w 646"/>
                    <a:gd name="T5" fmla="*/ 122 h 120"/>
                    <a:gd name="T6" fmla="*/ 226 w 646"/>
                    <a:gd name="T7" fmla="*/ 142 h 120"/>
                    <a:gd name="T8" fmla="*/ 250 w 646"/>
                    <a:gd name="T9" fmla="*/ 152 h 120"/>
                    <a:gd name="T10" fmla="*/ 453 w 646"/>
                    <a:gd name="T11" fmla="*/ 122 h 120"/>
                    <a:gd name="T12" fmla="*/ 538 w 646"/>
                    <a:gd name="T13" fmla="*/ 81 h 120"/>
                    <a:gd name="T14" fmla="*/ 593 w 646"/>
                    <a:gd name="T15" fmla="*/ 61 h 12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646"/>
                    <a:gd name="T25" fmla="*/ 0 h 120"/>
                    <a:gd name="T26" fmla="*/ 646 w 646"/>
                    <a:gd name="T27" fmla="*/ 120 h 120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646" h="120">
                      <a:moveTo>
                        <a:pt x="0" y="0"/>
                      </a:moveTo>
                      <a:cubicBezTo>
                        <a:pt x="54" y="9"/>
                        <a:pt x="72" y="24"/>
                        <a:pt x="120" y="40"/>
                      </a:cubicBezTo>
                      <a:cubicBezTo>
                        <a:pt x="139" y="68"/>
                        <a:pt x="144" y="83"/>
                        <a:pt x="184" y="96"/>
                      </a:cubicBezTo>
                      <a:cubicBezTo>
                        <a:pt x="200" y="101"/>
                        <a:pt x="216" y="107"/>
                        <a:pt x="232" y="112"/>
                      </a:cubicBezTo>
                      <a:cubicBezTo>
                        <a:pt x="240" y="115"/>
                        <a:pt x="256" y="120"/>
                        <a:pt x="256" y="120"/>
                      </a:cubicBezTo>
                      <a:cubicBezTo>
                        <a:pt x="347" y="115"/>
                        <a:pt x="391" y="120"/>
                        <a:pt x="464" y="96"/>
                      </a:cubicBezTo>
                      <a:cubicBezTo>
                        <a:pt x="495" y="50"/>
                        <a:pt x="466" y="79"/>
                        <a:pt x="552" y="64"/>
                      </a:cubicBezTo>
                      <a:cubicBezTo>
                        <a:pt x="646" y="47"/>
                        <a:pt x="635" y="48"/>
                        <a:pt x="608" y="48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lIns="99276" tIns="49638" rIns="99276" bIns="49638"/>
                <a:lstStyle/>
                <a:p>
                  <a:endParaRPr lang="en-IN"/>
                </a:p>
              </p:txBody>
            </p:sp>
            <p:sp>
              <p:nvSpPr>
                <p:cNvPr id="176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2131" y="3790"/>
                  <a:ext cx="166" cy="2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99276" tIns="49638" rIns="99276" bIns="49638">
                  <a:spAutoFit/>
                </a:bodyPr>
                <a:lstStyle/>
                <a:p>
                  <a:pPr algn="ctr" eaLnBrk="0" hangingPunct="0"/>
                  <a:r>
                    <a:rPr lang="en-US" sz="1800" i="1">
                      <a:solidFill>
                        <a:srgbClr val="006600"/>
                      </a:solidFill>
                      <a:latin typeface="Arial" pitchFamily="34" charset="0"/>
                    </a:rPr>
                    <a:t>t</a:t>
                  </a:r>
                </a:p>
              </p:txBody>
            </p:sp>
            <p:sp>
              <p:nvSpPr>
                <p:cNvPr id="177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3667" y="3790"/>
                  <a:ext cx="166" cy="2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99276" tIns="49638" rIns="99276" bIns="49638">
                  <a:spAutoFit/>
                </a:bodyPr>
                <a:lstStyle/>
                <a:p>
                  <a:pPr algn="ctr" eaLnBrk="0" hangingPunct="0"/>
                  <a:r>
                    <a:rPr lang="en-US" sz="1800" i="1">
                      <a:solidFill>
                        <a:srgbClr val="006600"/>
                      </a:solidFill>
                      <a:latin typeface="Arial" pitchFamily="34" charset="0"/>
                    </a:rPr>
                    <a:t>t</a:t>
                  </a:r>
                </a:p>
              </p:txBody>
            </p:sp>
            <p:sp>
              <p:nvSpPr>
                <p:cNvPr id="178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1935" y="3949"/>
                  <a:ext cx="355" cy="2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99276" tIns="49638" rIns="99276" bIns="49638">
                  <a:spAutoFit/>
                </a:bodyPr>
                <a:lstStyle/>
                <a:p>
                  <a:pPr algn="ctr" eaLnBrk="0" hangingPunct="0"/>
                  <a:r>
                    <a:rPr lang="en-US" sz="1800" i="1">
                      <a:solidFill>
                        <a:srgbClr val="006600"/>
                      </a:solidFill>
                      <a:latin typeface="Arial" pitchFamily="34" charset="0"/>
                    </a:rPr>
                    <a:t>T</a:t>
                  </a:r>
                  <a:r>
                    <a:rPr lang="en-US" sz="1800" i="1" baseline="-25000">
                      <a:solidFill>
                        <a:srgbClr val="006600"/>
                      </a:solidFill>
                      <a:latin typeface="Arial" pitchFamily="34" charset="0"/>
                    </a:rPr>
                    <a:t>p</a:t>
                  </a:r>
                  <a:endParaRPr lang="en-US" sz="1800" i="1">
                    <a:solidFill>
                      <a:srgbClr val="006600"/>
                    </a:solidFill>
                    <a:latin typeface="Arial" pitchFamily="34" charset="0"/>
                  </a:endParaRPr>
                </a:p>
              </p:txBody>
            </p:sp>
            <p:sp>
              <p:nvSpPr>
                <p:cNvPr id="179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3245" y="3949"/>
                  <a:ext cx="296" cy="2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99276" tIns="49638" rIns="99276" bIns="49638">
                  <a:spAutoFit/>
                </a:bodyPr>
                <a:lstStyle/>
                <a:p>
                  <a:pPr algn="ctr" eaLnBrk="0" hangingPunct="0"/>
                  <a:r>
                    <a:rPr lang="en-US" sz="1800" i="1">
                      <a:solidFill>
                        <a:srgbClr val="006600"/>
                      </a:solidFill>
                      <a:latin typeface="Arial" pitchFamily="34" charset="0"/>
                    </a:rPr>
                    <a:t>T</a:t>
                  </a:r>
                  <a:r>
                    <a:rPr lang="en-US" sz="1800" i="1" baseline="-25000">
                      <a:solidFill>
                        <a:srgbClr val="006600"/>
                      </a:solidFill>
                      <a:latin typeface="Arial" pitchFamily="34" charset="0"/>
                    </a:rPr>
                    <a:t>p</a:t>
                  </a:r>
                  <a:endParaRPr lang="en-US" sz="1800" i="1">
                    <a:solidFill>
                      <a:srgbClr val="006600"/>
                    </a:solidFill>
                    <a:latin typeface="Arial" pitchFamily="34" charset="0"/>
                  </a:endParaRPr>
                </a:p>
              </p:txBody>
            </p:sp>
            <p:sp>
              <p:nvSpPr>
                <p:cNvPr id="180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1389" y="3045"/>
                  <a:ext cx="886" cy="2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99276" tIns="49638" rIns="99276" bIns="49638">
                  <a:spAutoFit/>
                </a:bodyPr>
                <a:lstStyle/>
                <a:p>
                  <a:pPr algn="ctr" eaLnBrk="0" hangingPunct="0"/>
                  <a:r>
                    <a:rPr lang="en-US" sz="1800" dirty="0">
                      <a:solidFill>
                        <a:srgbClr val="006600"/>
                      </a:solidFill>
                      <a:latin typeface="Arial" pitchFamily="34" charset="0"/>
                    </a:rPr>
                    <a:t>Transmitted</a:t>
                  </a:r>
                </a:p>
              </p:txBody>
            </p:sp>
            <p:sp>
              <p:nvSpPr>
                <p:cNvPr id="181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2747" y="3061"/>
                  <a:ext cx="726" cy="2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99276" tIns="49638" rIns="99276" bIns="49638">
                  <a:spAutoFit/>
                </a:bodyPr>
                <a:lstStyle/>
                <a:p>
                  <a:pPr algn="ctr" eaLnBrk="0" hangingPunct="0"/>
                  <a:r>
                    <a:rPr lang="en-US" sz="1800">
                      <a:solidFill>
                        <a:srgbClr val="006600"/>
                      </a:solidFill>
                      <a:latin typeface="Arial" pitchFamily="34" charset="0"/>
                    </a:rPr>
                    <a:t>Received</a:t>
                  </a:r>
                </a:p>
              </p:txBody>
            </p:sp>
          </p:grp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DCDC429-AFC2-F94B-34E1-858F220F3044}"/>
              </a:ext>
            </a:extLst>
          </p:cNvPr>
          <p:cNvSpPr txBox="1"/>
          <p:nvPr/>
        </p:nvSpPr>
        <p:spPr>
          <a:xfrm>
            <a:off x="874654" y="836136"/>
            <a:ext cx="74321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</a:rPr>
              <a:t>Even stationary</a:t>
            </a:r>
            <a:r>
              <a:rPr lang="en-US" altLang="zh-TW" sz="2000" i="1" dirty="0">
                <a:solidFill>
                  <a:srgbClr val="FF0000"/>
                </a:solidFill>
              </a:rPr>
              <a:t> </a:t>
            </a:r>
            <a:r>
              <a:rPr lang="en-US" altLang="zh-TW" sz="2000" dirty="0">
                <a:solidFill>
                  <a:srgbClr val="FF0000"/>
                </a:solidFill>
              </a:rPr>
              <a:t>Tx/Rx wireless links can experience fading: Why?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350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1058694"/>
            <a:ext cx="6192688" cy="36492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  <p:sp>
        <p:nvSpPr>
          <p:cNvPr id="6" name="Rectangle 5"/>
          <p:cNvSpPr/>
          <p:nvPr/>
        </p:nvSpPr>
        <p:spPr>
          <a:xfrm>
            <a:off x="2339752" y="5152975"/>
            <a:ext cx="41764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Figure Explaining Multi-path Fading </a:t>
            </a:r>
            <a:br>
              <a:rPr lang="en-US" b="1" dirty="0"/>
            </a:b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 idx="4294967295"/>
          </p:nvPr>
        </p:nvSpPr>
        <p:spPr>
          <a:xfrm>
            <a:off x="2771800" y="188640"/>
            <a:ext cx="3513584" cy="1143000"/>
          </a:xfrm>
        </p:spPr>
        <p:txBody>
          <a:bodyPr/>
          <a:lstStyle/>
          <a:p>
            <a:r>
              <a:rPr lang="en-US" altLang="en-US" dirty="0"/>
              <a:t>Fading</a:t>
            </a:r>
            <a:endParaRPr lang="en-MY" altLang="en-US" dirty="0"/>
          </a:p>
        </p:txBody>
      </p:sp>
      <p:sp>
        <p:nvSpPr>
          <p:cNvPr id="3075" name="Content Placeholder 2"/>
          <p:cNvSpPr>
            <a:spLocks noGrp="1"/>
          </p:cNvSpPr>
          <p:nvPr>
            <p:ph idx="4294967295"/>
          </p:nvPr>
        </p:nvSpPr>
        <p:spPr>
          <a:xfrm>
            <a:off x="457200" y="1628800"/>
            <a:ext cx="8229600" cy="4525963"/>
          </a:xfrm>
        </p:spPr>
        <p:txBody>
          <a:bodyPr/>
          <a:lstStyle/>
          <a:p>
            <a:r>
              <a:rPr lang="en-US" altLang="en-US" dirty="0"/>
              <a:t>Large-scale fading (shadowing)</a:t>
            </a:r>
          </a:p>
          <a:p>
            <a:pPr lvl="1"/>
            <a:r>
              <a:rPr lang="en-US" altLang="en-US" dirty="0"/>
              <a:t>Long term variation in the mean signal level caused by the mobile unit moving into the shadow of surrounding objects</a:t>
            </a:r>
          </a:p>
          <a:p>
            <a:r>
              <a:rPr lang="en-US" altLang="en-US" dirty="0"/>
              <a:t>Small-scale fading (multipath)</a:t>
            </a:r>
          </a:p>
          <a:p>
            <a:pPr lvl="1"/>
            <a:r>
              <a:rPr lang="en-US" altLang="en-US" dirty="0"/>
              <a:t>Short term fluctuation in the signal amplitude caused by the local multipath</a:t>
            </a:r>
          </a:p>
          <a:p>
            <a:pPr lvl="1">
              <a:buFontTx/>
              <a:buNone/>
            </a:pPr>
            <a:endParaRPr lang="en-US" altLang="en-US" dirty="0"/>
          </a:p>
          <a:p>
            <a:pPr>
              <a:buFontTx/>
              <a:buNone/>
            </a:pPr>
            <a:endParaRPr lang="en-MY" altLang="en-US" dirty="0"/>
          </a:p>
        </p:txBody>
      </p:sp>
    </p:spTree>
    <p:extLst>
      <p:ext uri="{BB962C8B-B14F-4D97-AF65-F5344CB8AC3E}">
        <p14:creationId xmlns:p14="http://schemas.microsoft.com/office/powerpoint/2010/main" val="3973523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704088"/>
            <a:ext cx="8229600" cy="708688"/>
          </a:xfrm>
        </p:spPr>
        <p:txBody>
          <a:bodyPr>
            <a:normAutofit/>
          </a:bodyPr>
          <a:lstStyle/>
          <a:p>
            <a:r>
              <a:rPr lang="en-US" altLang="en-US" sz="3600" dirty="0"/>
              <a:t>Shadow Fading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754501"/>
            <a:ext cx="8229600" cy="438912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Long term shadow fading due to variations in radio signal power due to encounters with terrain obstructions such as hills or manmade structures such as buildings</a:t>
            </a:r>
          </a:p>
          <a:p>
            <a:pPr>
              <a:lnSpc>
                <a:spcPct val="90000"/>
              </a:lnSpc>
            </a:pP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The measured signal power differ substantially at different locations even though at the same radial distance from a transmitter</a:t>
            </a:r>
          </a:p>
          <a:p>
            <a:pPr>
              <a:lnSpc>
                <a:spcPct val="90000"/>
              </a:lnSpc>
            </a:pP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Represents the medium scale fluctuations of the radio signal strength over distances from tens to hundreds of meters</a:t>
            </a:r>
          </a:p>
        </p:txBody>
      </p:sp>
    </p:spTree>
    <p:extLst>
      <p:ext uri="{BB962C8B-B14F-4D97-AF65-F5344CB8AC3E}">
        <p14:creationId xmlns:p14="http://schemas.microsoft.com/office/powerpoint/2010/main" val="1952037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704088"/>
            <a:ext cx="8229600" cy="708688"/>
          </a:xfrm>
        </p:spPr>
        <p:txBody>
          <a:bodyPr>
            <a:normAutofit/>
          </a:bodyPr>
          <a:lstStyle/>
          <a:p>
            <a:r>
              <a:rPr lang="en-US" altLang="en-US" sz="3600" dirty="0"/>
              <a:t>Shadow Fading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 dirty="0"/>
              <a:t>Many empirical studies demonstrate that the received mean power fluctuates about the average power with a log-normal distribution</a:t>
            </a:r>
          </a:p>
          <a:p>
            <a:endParaRPr lang="en-US" altLang="en-US" dirty="0"/>
          </a:p>
          <a:p>
            <a:r>
              <a:rPr lang="en-US" altLang="en-US" dirty="0"/>
              <a:t>Can be modelled by a gaussian random variable with standard deviation, </a:t>
            </a:r>
            <a:r>
              <a:rPr lang="el-GR" altLang="en-US" dirty="0">
                <a:cs typeface="Arial" charset="0"/>
              </a:rPr>
              <a:t>δ</a:t>
            </a:r>
          </a:p>
        </p:txBody>
      </p:sp>
    </p:spTree>
    <p:extLst>
      <p:ext uri="{BB962C8B-B14F-4D97-AF65-F5344CB8AC3E}">
        <p14:creationId xmlns:p14="http://schemas.microsoft.com/office/powerpoint/2010/main" val="4242751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771800" y="116632"/>
            <a:ext cx="4546848" cy="1143000"/>
          </a:xfrm>
        </p:spPr>
        <p:txBody>
          <a:bodyPr>
            <a:normAutofit/>
          </a:bodyPr>
          <a:lstStyle/>
          <a:p>
            <a:r>
              <a:rPr lang="en-US" altLang="en-US" sz="3600" dirty="0"/>
              <a:t>Small Scale Fading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71600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A small scale fading that describes short-term, rapid amplitude fluctuations of the received signal during a short period of time</a:t>
            </a:r>
          </a:p>
          <a:p>
            <a:pPr>
              <a:lnSpc>
                <a:spcPct val="90000"/>
              </a:lnSpc>
            </a:pP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The actual power received over a much smaller distance vary considerably due to the destructive/constructive interference of multiple signals that follow multiple paths to the receiver</a:t>
            </a:r>
          </a:p>
          <a:p>
            <a:pPr>
              <a:lnSpc>
                <a:spcPct val="90000"/>
              </a:lnSpc>
            </a:pP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The direct ray is actually made up of many rays due to scattering multiple times by obstructions along its path, all travelling about the same distance</a:t>
            </a:r>
          </a:p>
          <a:p>
            <a:pPr>
              <a:lnSpc>
                <a:spcPct val="90000"/>
              </a:lnSpc>
            </a:pP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Each of these rays appearing at the receiver will differ randomly in amplitude and phase due to the scattering</a:t>
            </a:r>
          </a:p>
          <a:p>
            <a:pPr>
              <a:lnSpc>
                <a:spcPct val="90000"/>
              </a:lnSpc>
            </a:pPr>
            <a:endParaRPr lang="en-US" altLang="en-US" sz="2000" dirty="0"/>
          </a:p>
          <a:p>
            <a:pPr>
              <a:lnSpc>
                <a:spcPct val="90000"/>
              </a:lnSpc>
            </a:pPr>
            <a:endParaRPr lang="en-US" altLang="en-US" sz="2000" dirty="0"/>
          </a:p>
          <a:p>
            <a:pPr>
              <a:lnSpc>
                <a:spcPct val="90000"/>
              </a:lnSpc>
            </a:pPr>
            <a:endParaRPr lang="en-US" altLang="en-US" sz="2000" dirty="0"/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MY" altLang="en-US"/>
          </a:p>
        </p:txBody>
      </p:sp>
    </p:spTree>
    <p:extLst>
      <p:ext uri="{BB962C8B-B14F-4D97-AF65-F5344CB8AC3E}">
        <p14:creationId xmlns:p14="http://schemas.microsoft.com/office/powerpoint/2010/main" val="3088824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4115A2C-CD90-420A-859F-6948A850E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682E-2597-42F1-AE65-61AA3A631805}" type="slidenum">
              <a:rPr lang="en-US" altLang="zh-TW"/>
              <a:pPr/>
              <a:t>10</a:t>
            </a:fld>
            <a:endParaRPr lang="en-US" altLang="zh-TW"/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1020E987-7841-4EC1-8E40-4D29958645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3608" y="1340768"/>
            <a:ext cx="7520880" cy="411162"/>
          </a:xfrm>
        </p:spPr>
        <p:txBody>
          <a:bodyPr>
            <a:noAutofit/>
          </a:bodyPr>
          <a:lstStyle/>
          <a:p>
            <a:r>
              <a:rPr lang="en-US" altLang="zh-TW" sz="3600" b="1" dirty="0"/>
              <a:t>Physical Factors Influencing Fading in Mobile Radio Channel (MRC) 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EB512D3F-BF52-4807-A18A-94D617945C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95983"/>
            <a:ext cx="8229600" cy="438912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/>
              <a:t>1) Multipath Propagation 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# and strength of multipath signals 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time delay of signal arrival </a:t>
            </a:r>
          </a:p>
          <a:p>
            <a:pPr lvl="2">
              <a:lnSpc>
                <a:spcPct val="90000"/>
              </a:lnSpc>
            </a:pPr>
            <a:r>
              <a:rPr lang="en-US" altLang="zh-TW" dirty="0"/>
              <a:t>large path length differences → large differences in delay between signals 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urban area w/ many buildings distributed over large spatial scale </a:t>
            </a:r>
          </a:p>
          <a:p>
            <a:pPr lvl="2">
              <a:lnSpc>
                <a:spcPct val="90000"/>
              </a:lnSpc>
            </a:pPr>
            <a:r>
              <a:rPr lang="en-US" altLang="zh-TW" dirty="0"/>
              <a:t>large # of strong multipath signals with only a few having a large time delay 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suburb with nearby office park or shopping mall </a:t>
            </a:r>
          </a:p>
          <a:p>
            <a:pPr lvl="2">
              <a:lnSpc>
                <a:spcPct val="90000"/>
              </a:lnSpc>
            </a:pPr>
            <a:r>
              <a:rPr lang="en-US" altLang="zh-TW" dirty="0"/>
              <a:t>moderate # of strong multipath signals with small to moderate delay times 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rural → few multipath signals (LOS + ground reflection)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AB02637-12AB-4B1F-AB5C-0AE8D4024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268BE-AEE0-488C-9E03-E100D322DA67}" type="slidenum">
              <a:rPr lang="en-US" altLang="zh-TW"/>
              <a:pPr/>
              <a:t>11</a:t>
            </a:fld>
            <a:endParaRPr lang="en-US" altLang="zh-TW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1D0AC3D6-3CC1-46A5-A4E5-24ED0B785A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1500" y="1076659"/>
            <a:ext cx="8001000" cy="56165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dirty="0"/>
              <a:t>2) Speed of Mobile </a:t>
            </a:r>
          </a:p>
          <a:p>
            <a:pPr lvl="1"/>
            <a:r>
              <a:rPr lang="en-US" altLang="zh-TW" dirty="0"/>
              <a:t>relative motion between base station &amp; mobile causes random frequency modulation due to Doppler shift (</a:t>
            </a:r>
            <a:r>
              <a:rPr lang="en-US" altLang="zh-TW" i="1" dirty="0" err="1"/>
              <a:t>f</a:t>
            </a:r>
            <a:r>
              <a:rPr lang="en-US" altLang="zh-TW" i="1" baseline="-25000" dirty="0" err="1"/>
              <a:t>d</a:t>
            </a:r>
            <a:r>
              <a:rPr lang="en-US" altLang="zh-TW" dirty="0"/>
              <a:t>) </a:t>
            </a:r>
          </a:p>
          <a:p>
            <a:pPr lvl="1"/>
            <a:r>
              <a:rPr lang="en-US" altLang="zh-TW" dirty="0"/>
              <a:t>Different multipath components may have different frequency shifts. </a:t>
            </a:r>
          </a:p>
          <a:p>
            <a:pPr lvl="1"/>
            <a:endParaRPr lang="en-US" altLang="zh-TW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TW" dirty="0"/>
              <a:t>3) Speed of Surrounding Objects </a:t>
            </a:r>
          </a:p>
          <a:p>
            <a:pPr lvl="1"/>
            <a:r>
              <a:rPr lang="en-US" altLang="zh-TW" dirty="0"/>
              <a:t>also influence Doppler shifts on multipath signals </a:t>
            </a:r>
          </a:p>
          <a:p>
            <a:pPr lvl="1"/>
            <a:r>
              <a:rPr lang="en-US" altLang="zh-TW" dirty="0"/>
              <a:t>dominates small-scale fading if speed of objects &gt; mobile speed </a:t>
            </a:r>
          </a:p>
          <a:p>
            <a:pPr lvl="2"/>
            <a:r>
              <a:rPr lang="en-US" altLang="zh-TW" dirty="0"/>
              <a:t>otherwise ignored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F91AAF8-5DB7-4142-98F7-3370B3557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A609A-45D1-4077-AC45-3BA04B8ACF39}" type="slidenum">
              <a:rPr lang="en-US" altLang="zh-TW"/>
              <a:pPr/>
              <a:t>12</a:t>
            </a:fld>
            <a:endParaRPr lang="en-US" altLang="zh-TW"/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74E868DD-BCE0-474D-85D4-AA4D5D74C8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1500" y="994745"/>
            <a:ext cx="8001000" cy="5545137"/>
          </a:xfrm>
        </p:spPr>
        <p:txBody>
          <a:bodyPr/>
          <a:lstStyle/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TW" dirty="0"/>
              <a:t>4) Tx signal bandwidth (</a:t>
            </a:r>
            <a:r>
              <a:rPr lang="en-US" altLang="zh-TW" i="1" dirty="0"/>
              <a:t>B</a:t>
            </a:r>
            <a:r>
              <a:rPr lang="en-US" altLang="zh-TW" i="1" baseline="-25000" dirty="0"/>
              <a:t>s</a:t>
            </a:r>
            <a:r>
              <a:rPr lang="en-US" altLang="zh-TW" dirty="0"/>
              <a:t>) </a:t>
            </a:r>
          </a:p>
          <a:p>
            <a:pPr lvl="1">
              <a:lnSpc>
                <a:spcPct val="110000"/>
              </a:lnSpc>
            </a:pPr>
            <a:r>
              <a:rPr lang="en-US" altLang="zh-TW" dirty="0"/>
              <a:t>The mobile radio channel (MRC) is modeled as filter w/ specific bandwidth (BW) </a:t>
            </a:r>
          </a:p>
          <a:p>
            <a:pPr lvl="1"/>
            <a:r>
              <a:rPr lang="en-US" altLang="zh-TW" dirty="0"/>
              <a:t>The relationship between the signal BW &amp; the MRC BW will affect fading rates and distortion, and so will determine: 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TW" dirty="0"/>
              <a:t>a) if small-scale fading is significant 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TW" dirty="0"/>
              <a:t>b) if time distortion of signal leads to inter-symbol interference (ISI)</a:t>
            </a:r>
          </a:p>
          <a:p>
            <a:pPr lvl="1"/>
            <a:r>
              <a:rPr lang="en-US" altLang="zh-TW" dirty="0"/>
              <a:t>An MRC can cause distortion/ISI or small-scale fading, or both.</a:t>
            </a:r>
          </a:p>
          <a:p>
            <a:pPr lvl="2"/>
            <a:r>
              <a:rPr lang="en-US" altLang="zh-TW" dirty="0"/>
              <a:t>But typically one or the other.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836712"/>
            <a:ext cx="8305800" cy="716632"/>
          </a:xfrm>
        </p:spPr>
        <p:txBody>
          <a:bodyPr>
            <a:normAutofit/>
          </a:bodyPr>
          <a:lstStyle/>
          <a:p>
            <a:r>
              <a:rPr lang="en-US" altLang="zh-CN" sz="3600" b="1" dirty="0">
                <a:ea typeface="SimSun" pitchFamily="2" charset="-122"/>
              </a:rPr>
              <a:t>Small Scale Fading Classification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B443D8F-E3FA-133E-A1D3-D303ADD5A2F8}"/>
              </a:ext>
            </a:extLst>
          </p:cNvPr>
          <p:cNvGrpSpPr/>
          <p:nvPr/>
        </p:nvGrpSpPr>
        <p:grpSpPr>
          <a:xfrm>
            <a:off x="717848" y="1772816"/>
            <a:ext cx="7454552" cy="3960418"/>
            <a:chOff x="717848" y="1966094"/>
            <a:chExt cx="6824664" cy="3767140"/>
          </a:xfrm>
        </p:grpSpPr>
        <p:sp>
          <p:nvSpPr>
            <p:cNvPr id="5" name="Text Box 4"/>
            <p:cNvSpPr txBox="1">
              <a:spLocks noChangeArrowheads="1"/>
            </p:cNvSpPr>
            <p:nvPr/>
          </p:nvSpPr>
          <p:spPr bwMode="auto">
            <a:xfrm>
              <a:off x="2327573" y="2696344"/>
              <a:ext cx="2047875" cy="336550"/>
            </a:xfrm>
            <a:prstGeom prst="rect">
              <a:avLst/>
            </a:prstGeom>
            <a:solidFill>
              <a:srgbClr val="3366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Arial" pitchFamily="34" charset="0"/>
                </a:rPr>
                <a:t>Multi path time delay</a:t>
              </a:r>
            </a:p>
          </p:txBody>
        </p:sp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2394248" y="4709294"/>
              <a:ext cx="1571625" cy="336550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schemeClr val="bg2"/>
                  </a:solidFill>
                  <a:latin typeface="Arial" pitchFamily="34" charset="0"/>
                </a:rPr>
                <a:t>Doppler spread</a:t>
              </a:r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 flipV="1">
              <a:off x="1403648" y="2924944"/>
              <a:ext cx="923925" cy="1174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Line 10"/>
            <p:cNvSpPr>
              <a:spLocks noChangeShapeType="1"/>
            </p:cNvSpPr>
            <p:nvPr/>
          </p:nvSpPr>
          <p:spPr bwMode="auto">
            <a:xfrm>
              <a:off x="1403648" y="4099694"/>
              <a:ext cx="9906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IN"/>
            </a:p>
          </p:txBody>
        </p:sp>
        <p:grpSp>
          <p:nvGrpSpPr>
            <p:cNvPr id="2" name="Group 35"/>
            <p:cNvGrpSpPr>
              <a:grpSpLocks/>
            </p:cNvGrpSpPr>
            <p:nvPr/>
          </p:nvGrpSpPr>
          <p:grpSpPr bwMode="auto">
            <a:xfrm>
              <a:off x="4375449" y="1966094"/>
              <a:ext cx="3167063" cy="838200"/>
              <a:chOff x="2592" y="960"/>
              <a:chExt cx="1995" cy="528"/>
            </a:xfrm>
          </p:grpSpPr>
          <p:sp>
            <p:nvSpPr>
              <p:cNvPr id="10" name="Text Box 8"/>
              <p:cNvSpPr txBox="1">
                <a:spLocks noChangeArrowheads="1"/>
              </p:cNvSpPr>
              <p:nvPr/>
            </p:nvSpPr>
            <p:spPr bwMode="auto">
              <a:xfrm>
                <a:off x="2784" y="1152"/>
                <a:ext cx="713" cy="212"/>
              </a:xfrm>
              <a:prstGeom prst="rect">
                <a:avLst/>
              </a:prstGeom>
              <a:solidFill>
                <a:srgbClr val="3366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600" dirty="0">
                    <a:latin typeface="Arial" pitchFamily="34" charset="0"/>
                  </a:rPr>
                  <a:t>Flat fading</a:t>
                </a:r>
              </a:p>
            </p:txBody>
          </p:sp>
          <p:sp>
            <p:nvSpPr>
              <p:cNvPr id="11" name="Line 11"/>
              <p:cNvSpPr>
                <a:spLocks noChangeShapeType="1"/>
              </p:cNvSpPr>
              <p:nvPr/>
            </p:nvSpPr>
            <p:spPr bwMode="auto">
              <a:xfrm flipV="1">
                <a:off x="2592" y="1248"/>
                <a:ext cx="192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Text Box 20"/>
              <p:cNvSpPr txBox="1">
                <a:spLocks noChangeArrowheads="1"/>
              </p:cNvSpPr>
              <p:nvPr/>
            </p:nvSpPr>
            <p:spPr bwMode="auto">
              <a:xfrm>
                <a:off x="4471" y="1152"/>
                <a:ext cx="116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endParaRPr lang="en-US" baseline="-25000" dirty="0">
                  <a:solidFill>
                    <a:srgbClr val="FF3399"/>
                  </a:solidFill>
                </a:endParaRPr>
              </a:p>
            </p:txBody>
          </p:sp>
          <p:sp>
            <p:nvSpPr>
              <p:cNvPr id="13" name="Text Box 21"/>
              <p:cNvSpPr txBox="1">
                <a:spLocks noChangeArrowheads="1"/>
              </p:cNvSpPr>
              <p:nvPr/>
            </p:nvSpPr>
            <p:spPr bwMode="auto">
              <a:xfrm>
                <a:off x="4464" y="960"/>
                <a:ext cx="116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endParaRPr lang="en-US" baseline="-25000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9" name="Group 36"/>
            <p:cNvGrpSpPr>
              <a:grpSpLocks/>
            </p:cNvGrpSpPr>
            <p:nvPr/>
          </p:nvGrpSpPr>
          <p:grpSpPr bwMode="auto">
            <a:xfrm>
              <a:off x="4375449" y="2804295"/>
              <a:ext cx="3167063" cy="795338"/>
              <a:chOff x="2592" y="1488"/>
              <a:chExt cx="1995" cy="501"/>
            </a:xfrm>
          </p:grpSpPr>
          <p:sp>
            <p:nvSpPr>
              <p:cNvPr id="15" name="Text Box 9"/>
              <p:cNvSpPr txBox="1">
                <a:spLocks noChangeArrowheads="1"/>
              </p:cNvSpPr>
              <p:nvPr/>
            </p:nvSpPr>
            <p:spPr bwMode="auto">
              <a:xfrm>
                <a:off x="2784" y="1756"/>
                <a:ext cx="1637" cy="212"/>
              </a:xfrm>
              <a:prstGeom prst="rect">
                <a:avLst/>
              </a:prstGeom>
              <a:solidFill>
                <a:srgbClr val="3366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600" dirty="0">
                    <a:latin typeface="Arial" pitchFamily="34" charset="0"/>
                  </a:rPr>
                  <a:t>Frequency selective fading</a:t>
                </a:r>
              </a:p>
            </p:txBody>
          </p:sp>
          <p:sp>
            <p:nvSpPr>
              <p:cNvPr id="16" name="Line 12"/>
              <p:cNvSpPr>
                <a:spLocks noChangeShapeType="1"/>
              </p:cNvSpPr>
              <p:nvPr/>
            </p:nvSpPr>
            <p:spPr bwMode="auto">
              <a:xfrm>
                <a:off x="2592" y="1488"/>
                <a:ext cx="19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Text Box 24"/>
              <p:cNvSpPr txBox="1">
                <a:spLocks noChangeArrowheads="1"/>
              </p:cNvSpPr>
              <p:nvPr/>
            </p:nvSpPr>
            <p:spPr bwMode="auto">
              <a:xfrm>
                <a:off x="4471" y="1776"/>
                <a:ext cx="116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endParaRPr lang="en-US" baseline="-25000" dirty="0">
                  <a:solidFill>
                    <a:srgbClr val="FF3399"/>
                  </a:solidFill>
                </a:endParaRPr>
              </a:p>
            </p:txBody>
          </p:sp>
          <p:sp>
            <p:nvSpPr>
              <p:cNvPr id="18" name="Text Box 25"/>
              <p:cNvSpPr txBox="1">
                <a:spLocks noChangeArrowheads="1"/>
              </p:cNvSpPr>
              <p:nvPr/>
            </p:nvSpPr>
            <p:spPr bwMode="auto">
              <a:xfrm>
                <a:off x="4464" y="1584"/>
                <a:ext cx="116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endParaRPr lang="en-US" baseline="-25000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14" name="Group 40"/>
            <p:cNvGrpSpPr>
              <a:grpSpLocks/>
            </p:cNvGrpSpPr>
            <p:nvPr/>
          </p:nvGrpSpPr>
          <p:grpSpPr bwMode="auto">
            <a:xfrm>
              <a:off x="3918249" y="4861696"/>
              <a:ext cx="3624263" cy="871538"/>
              <a:chOff x="2304" y="2784"/>
              <a:chExt cx="2283" cy="549"/>
            </a:xfrm>
          </p:grpSpPr>
          <p:sp>
            <p:nvSpPr>
              <p:cNvPr id="20" name="Text Box 28"/>
              <p:cNvSpPr txBox="1">
                <a:spLocks noChangeArrowheads="1"/>
              </p:cNvSpPr>
              <p:nvPr/>
            </p:nvSpPr>
            <p:spPr bwMode="auto">
              <a:xfrm>
                <a:off x="4471" y="3120"/>
                <a:ext cx="116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endParaRPr lang="en-US" baseline="-25000" dirty="0">
                  <a:solidFill>
                    <a:srgbClr val="FF3399"/>
                  </a:solidFill>
                </a:endParaRPr>
              </a:p>
            </p:txBody>
          </p:sp>
          <p:sp>
            <p:nvSpPr>
              <p:cNvPr id="21" name="Text Box 29"/>
              <p:cNvSpPr txBox="1">
                <a:spLocks noChangeArrowheads="1"/>
              </p:cNvSpPr>
              <p:nvPr/>
            </p:nvSpPr>
            <p:spPr bwMode="auto">
              <a:xfrm>
                <a:off x="4464" y="2928"/>
                <a:ext cx="116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endParaRPr lang="en-US" baseline="-250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22" name="Text Box 14"/>
              <p:cNvSpPr txBox="1">
                <a:spLocks noChangeArrowheads="1"/>
              </p:cNvSpPr>
              <p:nvPr/>
            </p:nvSpPr>
            <p:spPr bwMode="auto">
              <a:xfrm>
                <a:off x="2784" y="3024"/>
                <a:ext cx="776" cy="212"/>
              </a:xfrm>
              <a:prstGeom prst="rect">
                <a:avLst/>
              </a:prstGeom>
              <a:solidFill>
                <a:srgbClr val="FF99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600" dirty="0">
                    <a:solidFill>
                      <a:schemeClr val="bg2"/>
                    </a:solidFill>
                    <a:latin typeface="Arial" pitchFamily="34" charset="0"/>
                  </a:rPr>
                  <a:t>Slow fading</a:t>
                </a:r>
              </a:p>
            </p:txBody>
          </p:sp>
          <p:sp>
            <p:nvSpPr>
              <p:cNvPr id="23" name="Line 16"/>
              <p:cNvSpPr>
                <a:spLocks noChangeShapeType="1"/>
              </p:cNvSpPr>
              <p:nvPr/>
            </p:nvSpPr>
            <p:spPr bwMode="auto">
              <a:xfrm>
                <a:off x="2304" y="2784"/>
                <a:ext cx="48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9" name="Group 39"/>
            <p:cNvGrpSpPr>
              <a:grpSpLocks/>
            </p:cNvGrpSpPr>
            <p:nvPr/>
          </p:nvGrpSpPr>
          <p:grpSpPr bwMode="auto">
            <a:xfrm>
              <a:off x="3918249" y="4099694"/>
              <a:ext cx="3624263" cy="762000"/>
              <a:chOff x="2304" y="2304"/>
              <a:chExt cx="2283" cy="480"/>
            </a:xfrm>
          </p:grpSpPr>
          <p:sp>
            <p:nvSpPr>
              <p:cNvPr id="25" name="Text Box 13"/>
              <p:cNvSpPr txBox="1">
                <a:spLocks noChangeArrowheads="1"/>
              </p:cNvSpPr>
              <p:nvPr/>
            </p:nvSpPr>
            <p:spPr bwMode="auto">
              <a:xfrm>
                <a:off x="2784" y="2496"/>
                <a:ext cx="749" cy="212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600" dirty="0">
                    <a:solidFill>
                      <a:schemeClr val="bg2"/>
                    </a:solidFill>
                    <a:latin typeface="Arial" pitchFamily="34" charset="0"/>
                  </a:rPr>
                  <a:t>Fast fading</a:t>
                </a:r>
              </a:p>
            </p:txBody>
          </p:sp>
          <p:sp>
            <p:nvSpPr>
              <p:cNvPr id="26" name="Line 15"/>
              <p:cNvSpPr>
                <a:spLocks noChangeShapeType="1"/>
              </p:cNvSpPr>
              <p:nvPr/>
            </p:nvSpPr>
            <p:spPr bwMode="auto">
              <a:xfrm flipV="1">
                <a:off x="2304" y="2592"/>
                <a:ext cx="48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Text Box 32"/>
              <p:cNvSpPr txBox="1">
                <a:spLocks noChangeArrowheads="1"/>
              </p:cNvSpPr>
              <p:nvPr/>
            </p:nvSpPr>
            <p:spPr bwMode="auto">
              <a:xfrm>
                <a:off x="4471" y="2496"/>
                <a:ext cx="116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endParaRPr lang="en-US" baseline="-25000" dirty="0">
                  <a:solidFill>
                    <a:srgbClr val="FF3399"/>
                  </a:solidFill>
                </a:endParaRPr>
              </a:p>
            </p:txBody>
          </p:sp>
          <p:sp>
            <p:nvSpPr>
              <p:cNvPr id="28" name="Text Box 33"/>
              <p:cNvSpPr txBox="1">
                <a:spLocks noChangeArrowheads="1"/>
              </p:cNvSpPr>
              <p:nvPr/>
            </p:nvSpPr>
            <p:spPr bwMode="auto">
              <a:xfrm>
                <a:off x="4464" y="2304"/>
                <a:ext cx="116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endParaRPr lang="en-US" baseline="-25000" dirty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29" name="Text Box 34"/>
            <p:cNvSpPr txBox="1">
              <a:spLocks noChangeArrowheads="1"/>
            </p:cNvSpPr>
            <p:nvPr/>
          </p:nvSpPr>
          <p:spPr bwMode="auto">
            <a:xfrm>
              <a:off x="717848" y="3871094"/>
              <a:ext cx="809837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Arial" pitchFamily="34" charset="0"/>
                </a:rPr>
                <a:t>Fading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6016" y="-31138"/>
            <a:ext cx="3096344" cy="72008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DELAY SPREAD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757" y="832907"/>
            <a:ext cx="8478056" cy="3727407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rgbClr val="040C28"/>
                </a:solidFill>
                <a:latin typeface="Google Sans"/>
              </a:rPr>
              <a:t>The different signal paths between Tx and a Rx  corresponds to different transmission times. For an identical signal pulse from the Tx, multiple copies of the signals are received at the receiver at different moments.</a:t>
            </a:r>
          </a:p>
          <a:p>
            <a:endParaRPr lang="en-US" sz="2000" dirty="0">
              <a:solidFill>
                <a:srgbClr val="040C28"/>
              </a:solidFill>
              <a:latin typeface="Google Sans"/>
            </a:endParaRPr>
          </a:p>
          <a:p>
            <a:r>
              <a:rPr lang="en-US" sz="2000" dirty="0">
                <a:solidFill>
                  <a:srgbClr val="040C28"/>
                </a:solidFill>
                <a:latin typeface="Google Sans"/>
              </a:rPr>
              <a:t>The signal on the shortest path (typically LOS) reaches first than those on longer paths.  The direct effect of these un-simultaneous arrivals of signal causes the spread of the original signal in time domain.</a:t>
            </a:r>
          </a:p>
          <a:p>
            <a:endParaRPr lang="en-US" sz="2000" dirty="0">
              <a:solidFill>
                <a:srgbClr val="040C28"/>
              </a:solidFill>
              <a:latin typeface="Google Sans"/>
            </a:endParaRPr>
          </a:p>
          <a:p>
            <a:r>
              <a:rPr lang="en-US" sz="2000" dirty="0">
                <a:solidFill>
                  <a:srgbClr val="040C28"/>
                </a:solidFill>
                <a:latin typeface="Google Sans"/>
              </a:rPr>
              <a:t>This spread is called the </a:t>
            </a:r>
            <a:r>
              <a:rPr lang="en-US" sz="2000" b="1" dirty="0">
                <a:solidFill>
                  <a:srgbClr val="040C28"/>
                </a:solidFill>
                <a:latin typeface="Google Sans"/>
              </a:rPr>
              <a:t>DELAY SPREAD.</a:t>
            </a:r>
          </a:p>
          <a:p>
            <a:endParaRPr lang="en-US" sz="2000" dirty="0"/>
          </a:p>
          <a:p>
            <a:endParaRPr lang="en-IN" sz="2000" dirty="0"/>
          </a:p>
        </p:txBody>
      </p:sp>
      <p:grpSp>
        <p:nvGrpSpPr>
          <p:cNvPr id="4" name="Group 16">
            <a:extLst>
              <a:ext uri="{FF2B5EF4-FFF2-40B4-BE49-F238E27FC236}">
                <a16:creationId xmlns:a16="http://schemas.microsoft.com/office/drawing/2014/main" id="{CFC564C1-6D29-06DF-B21B-C0CA7ADE6F99}"/>
              </a:ext>
            </a:extLst>
          </p:cNvPr>
          <p:cNvGrpSpPr>
            <a:grpSpLocks/>
          </p:cNvGrpSpPr>
          <p:nvPr/>
        </p:nvGrpSpPr>
        <p:grpSpPr bwMode="auto">
          <a:xfrm>
            <a:off x="5081504" y="3601666"/>
            <a:ext cx="3907185" cy="1562000"/>
            <a:chOff x="1519" y="1609"/>
            <a:chExt cx="2495" cy="1291"/>
          </a:xfrm>
        </p:grpSpPr>
        <p:sp>
          <p:nvSpPr>
            <p:cNvPr id="5" name="Line 4">
              <a:extLst>
                <a:ext uri="{FF2B5EF4-FFF2-40B4-BE49-F238E27FC236}">
                  <a16:creationId xmlns:a16="http://schemas.microsoft.com/office/drawing/2014/main" id="{03AA4960-C987-C88F-3F40-AFAB2F75D6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1732"/>
              <a:ext cx="0" cy="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9276" tIns="49638" rIns="99276" bIns="49638"/>
            <a:lstStyle/>
            <a:p>
              <a:endParaRPr lang="en-IN"/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635324A2-9033-B7B5-2043-1A465767D9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2452"/>
              <a:ext cx="7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9276" tIns="49638" rIns="99276" bIns="49638"/>
            <a:lstStyle/>
            <a:p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ED5CB4D-3568-5004-5433-6C59C1407A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1868"/>
              <a:ext cx="551" cy="5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9276" tIns="49638" rIns="99276" bIns="49638" anchor="ctr"/>
            <a:lstStyle/>
            <a:p>
              <a:endParaRPr lang="en-US"/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9E2EDD48-F751-3642-4163-1827733C2B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724"/>
              <a:ext cx="0" cy="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9276" tIns="49638" rIns="99276" bIns="49638"/>
            <a:lstStyle/>
            <a:p>
              <a:endParaRPr lang="en-IN"/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7D341C51-7FEB-C132-CE86-FE06F7A2F2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6" y="2444"/>
              <a:ext cx="8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9276" tIns="49638" rIns="99276" bIns="49638"/>
            <a:lstStyle/>
            <a:p>
              <a:endParaRPr lang="en-IN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4551E7D6-C4BA-5E17-DCEC-F6CC1567FD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1908"/>
              <a:ext cx="830" cy="536"/>
            </a:xfrm>
            <a:custGeom>
              <a:avLst/>
              <a:gdLst>
                <a:gd name="T0" fmla="*/ 0 w 648"/>
                <a:gd name="T1" fmla="*/ 0 h 536"/>
                <a:gd name="T2" fmla="*/ 318 w 648"/>
                <a:gd name="T3" fmla="*/ 32 h 536"/>
                <a:gd name="T4" fmla="*/ 482 w 648"/>
                <a:gd name="T5" fmla="*/ 56 h 536"/>
                <a:gd name="T6" fmla="*/ 564 w 648"/>
                <a:gd name="T7" fmla="*/ 160 h 536"/>
                <a:gd name="T8" fmla="*/ 646 w 648"/>
                <a:gd name="T9" fmla="*/ 344 h 536"/>
                <a:gd name="T10" fmla="*/ 830 w 648"/>
                <a:gd name="T11" fmla="*/ 536 h 5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8"/>
                <a:gd name="T19" fmla="*/ 0 h 536"/>
                <a:gd name="T20" fmla="*/ 648 w 648"/>
                <a:gd name="T21" fmla="*/ 536 h 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8" h="536">
                  <a:moveTo>
                    <a:pt x="0" y="0"/>
                  </a:moveTo>
                  <a:cubicBezTo>
                    <a:pt x="83" y="12"/>
                    <a:pt x="165" y="20"/>
                    <a:pt x="248" y="32"/>
                  </a:cubicBezTo>
                  <a:cubicBezTo>
                    <a:pt x="290" y="46"/>
                    <a:pt x="334" y="42"/>
                    <a:pt x="376" y="56"/>
                  </a:cubicBezTo>
                  <a:cubicBezTo>
                    <a:pt x="404" y="99"/>
                    <a:pt x="400" y="120"/>
                    <a:pt x="440" y="160"/>
                  </a:cubicBezTo>
                  <a:cubicBezTo>
                    <a:pt x="455" y="222"/>
                    <a:pt x="468" y="290"/>
                    <a:pt x="504" y="344"/>
                  </a:cubicBezTo>
                  <a:cubicBezTo>
                    <a:pt x="522" y="432"/>
                    <a:pt x="534" y="536"/>
                    <a:pt x="648" y="53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9276" tIns="49638" rIns="99276" bIns="49638"/>
            <a:lstStyle/>
            <a:p>
              <a:endParaRPr lang="en-IN"/>
            </a:p>
          </p:txBody>
        </p:sp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5313AB33-1E50-CE5B-8F02-90A2A949FE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0" y="2314"/>
              <a:ext cx="16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9276" tIns="49638" rIns="99276" bIns="49638">
              <a:spAutoFit/>
            </a:bodyPr>
            <a:lstStyle/>
            <a:p>
              <a:pPr algn="ctr" eaLnBrk="0" hangingPunct="0"/>
              <a:r>
                <a:rPr lang="en-US" sz="1800" i="1">
                  <a:solidFill>
                    <a:srgbClr val="006600"/>
                  </a:solidFill>
                  <a:latin typeface="Arial" pitchFamily="34" charset="0"/>
                </a:rPr>
                <a:t>t</a:t>
              </a:r>
            </a:p>
          </p:txBody>
        </p:sp>
        <p:sp>
          <p:nvSpPr>
            <p:cNvPr id="12" name="Text Box 11">
              <a:extLst>
                <a:ext uri="{FF2B5EF4-FFF2-40B4-BE49-F238E27FC236}">
                  <a16:creationId xmlns:a16="http://schemas.microsoft.com/office/drawing/2014/main" id="{59851967-692E-CDAE-F121-907BE061A8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2" y="2322"/>
              <a:ext cx="166" cy="2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9276" tIns="49638" rIns="99276" bIns="49638">
              <a:spAutoFit/>
            </a:bodyPr>
            <a:lstStyle/>
            <a:p>
              <a:pPr algn="ctr" eaLnBrk="0" hangingPunct="0"/>
              <a:r>
                <a:rPr lang="en-US" sz="1800" i="1">
                  <a:solidFill>
                    <a:srgbClr val="006600"/>
                  </a:solidFill>
                  <a:latin typeface="Arial" pitchFamily="34" charset="0"/>
                </a:rPr>
                <a:t>t</a:t>
              </a:r>
            </a:p>
          </p:txBody>
        </p:sp>
        <p:sp>
          <p:nvSpPr>
            <p:cNvPr id="13" name="Text Box 12">
              <a:extLst>
                <a:ext uri="{FF2B5EF4-FFF2-40B4-BE49-F238E27FC236}">
                  <a16:creationId xmlns:a16="http://schemas.microsoft.com/office/drawing/2014/main" id="{11A30BF6-0BB8-0617-80A1-631EC6E27C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6" y="2441"/>
              <a:ext cx="28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9276" tIns="49638" rIns="99276" bIns="49638">
              <a:spAutoFit/>
            </a:bodyPr>
            <a:lstStyle/>
            <a:p>
              <a:pPr algn="ctr" eaLnBrk="0" hangingPunct="0"/>
              <a:r>
                <a:rPr lang="en-US" sz="1800" i="1" dirty="0" err="1">
                  <a:solidFill>
                    <a:srgbClr val="006600"/>
                  </a:solidFill>
                  <a:latin typeface="Arial" pitchFamily="34" charset="0"/>
                </a:rPr>
                <a:t>T</a:t>
              </a:r>
              <a:r>
                <a:rPr lang="en-US" sz="1800" i="1" baseline="-25000" dirty="0" err="1">
                  <a:solidFill>
                    <a:srgbClr val="006600"/>
                  </a:solidFill>
                  <a:latin typeface="Arial" pitchFamily="34" charset="0"/>
                </a:rPr>
                <a:t>p</a:t>
              </a:r>
              <a:endParaRPr lang="en-US" sz="1800" i="1" dirty="0">
                <a:solidFill>
                  <a:srgbClr val="006600"/>
                </a:solidFill>
                <a:latin typeface="Arial" pitchFamily="34" charset="0"/>
              </a:endParaRPr>
            </a:p>
          </p:txBody>
        </p:sp>
        <p:sp>
          <p:nvSpPr>
            <p:cNvPr id="14" name="Text Box 13">
              <a:extLst>
                <a:ext uri="{FF2B5EF4-FFF2-40B4-BE49-F238E27FC236}">
                  <a16:creationId xmlns:a16="http://schemas.microsoft.com/office/drawing/2014/main" id="{9D83A334-6A53-31F0-2D9D-FCCEA3389B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4" y="2465"/>
              <a:ext cx="560" cy="4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9276" tIns="49638" rIns="99276" bIns="49638">
              <a:spAutoFit/>
            </a:bodyPr>
            <a:lstStyle/>
            <a:p>
              <a:pPr algn="ctr" eaLnBrk="0" hangingPunct="0"/>
              <a:r>
                <a:rPr lang="en-US" sz="1800" i="1" dirty="0" err="1">
                  <a:solidFill>
                    <a:srgbClr val="006600"/>
                  </a:solidFill>
                  <a:latin typeface="Arial" pitchFamily="34" charset="0"/>
                </a:rPr>
                <a:t>T</a:t>
              </a:r>
              <a:r>
                <a:rPr lang="en-US" sz="1800" i="1" baseline="-25000" dirty="0" err="1">
                  <a:solidFill>
                    <a:srgbClr val="006600"/>
                  </a:solidFill>
                  <a:latin typeface="Arial" pitchFamily="34" charset="0"/>
                </a:rPr>
                <a:t>p</a:t>
              </a:r>
              <a:r>
                <a:rPr lang="en-US" sz="1800" i="1" baseline="-25000" dirty="0">
                  <a:solidFill>
                    <a:srgbClr val="006600"/>
                  </a:solidFill>
                  <a:latin typeface="Arial" pitchFamily="34" charset="0"/>
                </a:rPr>
                <a:t> </a:t>
              </a:r>
              <a:r>
                <a:rPr lang="en-US" sz="1800" i="1" dirty="0">
                  <a:solidFill>
                    <a:srgbClr val="006600"/>
                  </a:solidFill>
                  <a:latin typeface="Arial" pitchFamily="34" charset="0"/>
                </a:rPr>
                <a:t>+ </a:t>
              </a:r>
              <a:r>
                <a:rPr lang="en-US" sz="1800" dirty="0" err="1">
                  <a:solidFill>
                    <a:srgbClr val="006600"/>
                  </a:solidFill>
                  <a:latin typeface="Arial" pitchFamily="34" charset="0"/>
                </a:rPr>
                <a:t>d</a:t>
              </a:r>
              <a:r>
                <a:rPr lang="en-US" sz="1800" i="1" dirty="0" err="1">
                  <a:solidFill>
                    <a:srgbClr val="006600"/>
                  </a:solidFill>
                  <a:latin typeface="Arial" pitchFamily="34" charset="0"/>
                </a:rPr>
                <a:t>t</a:t>
              </a:r>
              <a:endParaRPr lang="en-US" sz="1800" dirty="0">
                <a:solidFill>
                  <a:srgbClr val="006600"/>
                </a:solidFill>
                <a:latin typeface="Arial" pitchFamily="34" charset="0"/>
              </a:endParaRPr>
            </a:p>
            <a:p>
              <a:pPr algn="ctr" eaLnBrk="0" hangingPunct="0"/>
              <a:r>
                <a:rPr lang="en-US" sz="1800" i="1" dirty="0">
                  <a:solidFill>
                    <a:srgbClr val="006600"/>
                  </a:solidFill>
                  <a:latin typeface="Arial" pitchFamily="34" charset="0"/>
                </a:rPr>
                <a:t> </a:t>
              </a:r>
            </a:p>
          </p:txBody>
        </p: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B9C22562-2B44-E2F8-9E62-9A32F12407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2" y="1609"/>
              <a:ext cx="88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9276" tIns="49638" rIns="99276" bIns="49638">
              <a:spAutoFit/>
            </a:bodyPr>
            <a:lstStyle/>
            <a:p>
              <a:pPr algn="ctr" eaLnBrk="0" hangingPunct="0"/>
              <a:r>
                <a:rPr lang="en-US" sz="1800" dirty="0">
                  <a:solidFill>
                    <a:srgbClr val="006600"/>
                  </a:solidFill>
                  <a:latin typeface="Arial" pitchFamily="34" charset="0"/>
                </a:rPr>
                <a:t>Transmitted</a:t>
              </a:r>
            </a:p>
          </p:txBody>
        </p:sp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6268CD5D-F0DA-8D25-C4EE-817125506D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6" y="1625"/>
              <a:ext cx="72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9276" tIns="49638" rIns="99276" bIns="49638">
              <a:spAutoFit/>
            </a:bodyPr>
            <a:lstStyle/>
            <a:p>
              <a:pPr algn="ctr" eaLnBrk="0" hangingPunct="0"/>
              <a:r>
                <a:rPr lang="en-US" sz="1800">
                  <a:solidFill>
                    <a:srgbClr val="006600"/>
                  </a:solidFill>
                  <a:latin typeface="Arial" pitchFamily="34" charset="0"/>
                </a:rPr>
                <a:t>Received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2BC166D-A43D-2E21-ECB8-19CBB6E650FE}"/>
              </a:ext>
            </a:extLst>
          </p:cNvPr>
          <p:cNvSpPr txBox="1"/>
          <p:nvPr/>
        </p:nvSpPr>
        <p:spPr>
          <a:xfrm>
            <a:off x="498661" y="5273913"/>
            <a:ext cx="843470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dirty="0">
              <a:solidFill>
                <a:srgbClr val="202124"/>
              </a:solidFill>
              <a:latin typeface="Google Sans"/>
            </a:endParaRPr>
          </a:p>
          <a:p>
            <a:r>
              <a:rPr lang="en-US" sz="2000" dirty="0">
                <a:solidFill>
                  <a:srgbClr val="202124"/>
                </a:solidFill>
                <a:latin typeface="Google Sans"/>
              </a:rPr>
              <a:t> It is generally defined as the difference between the time of arrival of the earliest component (e.g., the line-of-sight wave if there exists) and the time of arrival of the latest multipath component.</a:t>
            </a:r>
            <a:endParaRPr lang="en-US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20FC3D-E1A6-63BC-B7CE-1B813F649806}"/>
              </a:ext>
            </a:extLst>
          </p:cNvPr>
          <p:cNvSpPr txBox="1"/>
          <p:nvPr/>
        </p:nvSpPr>
        <p:spPr>
          <a:xfrm>
            <a:off x="644444" y="4148003"/>
            <a:ext cx="38884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latin typeface="Google Sans"/>
              </a:rPr>
              <a:t>Delay spread is </a:t>
            </a:r>
            <a:r>
              <a:rPr lang="en-US" sz="2000" dirty="0">
                <a:solidFill>
                  <a:srgbClr val="040C28"/>
                </a:solidFill>
                <a:latin typeface="Google Sans"/>
              </a:rPr>
              <a:t>a measure of the multipath profile of a mobile communications channel</a:t>
            </a:r>
            <a:r>
              <a:rPr lang="en-US" sz="2000" dirty="0">
                <a:solidFill>
                  <a:srgbClr val="202124"/>
                </a:solidFill>
                <a:latin typeface="Google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5962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544616"/>
          </a:xfrm>
        </p:spPr>
        <p:txBody>
          <a:bodyPr>
            <a:normAutofit/>
          </a:bodyPr>
          <a:lstStyle/>
          <a:p>
            <a:r>
              <a:rPr lang="en-US" sz="2000" dirty="0"/>
              <a:t>Corresponding to the concept of delay spread, there is a term called </a:t>
            </a:r>
            <a:r>
              <a:rPr lang="en-US" sz="2000" dirty="0">
                <a:solidFill>
                  <a:schemeClr val="tx2"/>
                </a:solidFill>
              </a:rPr>
              <a:t>COHERENCE BANDWIDTH </a:t>
            </a:r>
            <a:r>
              <a:rPr lang="en-US" sz="2000" dirty="0"/>
              <a:t>used to measure the up-limit bandwidth that can be transmitted for a channel to be free of ISI.</a:t>
            </a:r>
          </a:p>
          <a:p>
            <a:endParaRPr lang="en-US" sz="2000" dirty="0"/>
          </a:p>
          <a:p>
            <a:r>
              <a:rPr lang="en-US" sz="2000" dirty="0">
                <a:solidFill>
                  <a:srgbClr val="202124"/>
                </a:solidFill>
                <a:latin typeface="arial" panose="020B0604020202020204" pitchFamily="34" charset="0"/>
              </a:rPr>
              <a:t>Coherence bandwidth is </a:t>
            </a:r>
            <a:r>
              <a:rPr lang="en-US" sz="2000" b="1" dirty="0">
                <a:solidFill>
                  <a:srgbClr val="202124"/>
                </a:solidFill>
                <a:latin typeface="arial" panose="020B0604020202020204" pitchFamily="34" charset="0"/>
              </a:rPr>
              <a:t>a statistical measurement of the range of frequencies over which the channel can be considered "flat“.</a:t>
            </a:r>
          </a:p>
          <a:p>
            <a:endParaRPr lang="en-US" sz="2000" b="1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r>
              <a:rPr lang="en-US" sz="2000" dirty="0">
                <a:solidFill>
                  <a:srgbClr val="202124"/>
                </a:solidFill>
                <a:latin typeface="arial" panose="020B0604020202020204" pitchFamily="34" charset="0"/>
              </a:rPr>
              <a:t>The approximate maximum bandwidth or frequency interval over which two frequencies of a signal are likely to experience comparable or correlated amplitude fading.</a:t>
            </a:r>
            <a:endParaRPr lang="en-US" sz="2000" dirty="0"/>
          </a:p>
          <a:p>
            <a:endParaRPr lang="en-US" sz="2000" b="1" dirty="0">
              <a:solidFill>
                <a:srgbClr val="202124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6034D0-B4A4-453F-845B-48A8167FB952}"/>
              </a:ext>
            </a:extLst>
          </p:cNvPr>
          <p:cNvSpPr/>
          <p:nvPr/>
        </p:nvSpPr>
        <p:spPr>
          <a:xfrm>
            <a:off x="2267744" y="620688"/>
            <a:ext cx="46401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COHERENCE BANDWIDTH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6C3BDD-639C-4B25-9551-9D8C63CE1566}"/>
              </a:ext>
            </a:extLst>
          </p:cNvPr>
          <p:cNvSpPr/>
          <p:nvPr/>
        </p:nvSpPr>
        <p:spPr>
          <a:xfrm>
            <a:off x="1743486" y="4941168"/>
            <a:ext cx="58326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55555"/>
                </a:solidFill>
                <a:latin typeface="Arial" panose="020B0604020202020204" pitchFamily="34" charset="0"/>
              </a:rPr>
              <a:t>Coherence Bandwidth ~ (1/Maximum Delay Spread)</a:t>
            </a:r>
            <a:endParaRPr lang="en-US" b="1" dirty="0"/>
          </a:p>
        </p:txBody>
      </p:sp>
      <p:pic>
        <p:nvPicPr>
          <p:cNvPr id="7170" name="Picture 2" descr="Coherence Bandwidth">
            <a:extLst>
              <a:ext uri="{FF2B5EF4-FFF2-40B4-BE49-F238E27FC236}">
                <a16:creationId xmlns:a16="http://schemas.microsoft.com/office/drawing/2014/main" id="{CF388CAF-F91B-42B3-8E4C-A29173831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5446060"/>
            <a:ext cx="5223268" cy="679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0231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2E12E-6E86-42DE-8E28-E3A1860EE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6792"/>
            <a:ext cx="8291264" cy="4389120"/>
          </a:xfrm>
        </p:spPr>
        <p:txBody>
          <a:bodyPr>
            <a:normAutofit/>
          </a:bodyPr>
          <a:lstStyle/>
          <a:p>
            <a:r>
              <a:rPr lang="en-US" sz="2000" dirty="0"/>
              <a:t>The coherence time is the characteristic time over which the channel gain does not change appreciably.</a:t>
            </a:r>
          </a:p>
          <a:p>
            <a:endParaRPr lang="en-US" sz="2000" dirty="0"/>
          </a:p>
          <a:p>
            <a:r>
              <a:rPr lang="en-US" sz="2000" dirty="0"/>
              <a:t>Time over which channel is constant is called coherence time. 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62CA38-EA83-4FE3-ABA9-4F430E05B184}"/>
              </a:ext>
            </a:extLst>
          </p:cNvPr>
          <p:cNvSpPr/>
          <p:nvPr/>
        </p:nvSpPr>
        <p:spPr>
          <a:xfrm>
            <a:off x="2627784" y="556324"/>
            <a:ext cx="331552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COHERENCE TIME </a:t>
            </a:r>
          </a:p>
        </p:txBody>
      </p:sp>
    </p:spTree>
    <p:extLst>
      <p:ext uri="{BB962C8B-B14F-4D97-AF65-F5344CB8AC3E}">
        <p14:creationId xmlns:p14="http://schemas.microsoft.com/office/powerpoint/2010/main" val="2063245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F7B313E1-2FB8-D049-99B2-3BA763A32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BA4CC-ACCD-459E-A14E-FF99ECBA1DFE}" type="slidenum">
              <a:rPr lang="en-US" altLang="zh-TW"/>
              <a:pPr/>
              <a:t>17</a:t>
            </a:fld>
            <a:endParaRPr lang="en-US" altLang="zh-TW"/>
          </a:p>
        </p:txBody>
      </p:sp>
      <p:sp>
        <p:nvSpPr>
          <p:cNvPr id="87048" name="Rectangle 8">
            <a:extLst>
              <a:ext uri="{FF2B5EF4-FFF2-40B4-BE49-F238E27FC236}">
                <a16:creationId xmlns:a16="http://schemas.microsoft.com/office/drawing/2014/main" id="{D36A785B-72BE-09DE-9236-516C2F2B7E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576" y="647700"/>
            <a:ext cx="8534400" cy="1143000"/>
          </a:xfrm>
        </p:spPr>
        <p:txBody>
          <a:bodyPr>
            <a:normAutofit/>
          </a:bodyPr>
          <a:lstStyle/>
          <a:p>
            <a:r>
              <a:rPr lang="en-US" altLang="zh-TW" sz="3600" dirty="0"/>
              <a:t>Coherence BW (</a:t>
            </a:r>
            <a:r>
              <a:rPr lang="en-US" altLang="zh-TW" sz="3600" i="1" dirty="0" err="1"/>
              <a:t>B</a:t>
            </a:r>
            <a:r>
              <a:rPr lang="en-US" altLang="zh-TW" sz="3600" i="1" baseline="-25000" dirty="0" err="1"/>
              <a:t>c</a:t>
            </a:r>
            <a:r>
              <a:rPr lang="en-US" altLang="zh-TW" sz="3600" dirty="0"/>
              <a:t>) and Delay Spread (    )</a:t>
            </a:r>
            <a:br>
              <a:rPr lang="en-US" altLang="zh-TW" sz="3600" dirty="0"/>
            </a:br>
            <a:endParaRPr lang="en-US" altLang="en-US" sz="3600" dirty="0"/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49096D29-8815-A5F5-AFD7-4D28CE5BBD6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69008"/>
            <a:ext cx="8064500" cy="56896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en-US" altLang="zh-TW" sz="1600" dirty="0"/>
          </a:p>
          <a:p>
            <a:pPr lvl="1"/>
            <a:r>
              <a:rPr lang="en-US" altLang="zh-TW" sz="2400" dirty="0"/>
              <a:t>The Fourier Transform of multipath delay shows frequency (spectral) characteristics of the MRC </a:t>
            </a:r>
          </a:p>
          <a:p>
            <a:pPr lvl="1"/>
            <a:r>
              <a:rPr lang="en-US" altLang="zh-TW" sz="2400" i="1" dirty="0" err="1"/>
              <a:t>B</a:t>
            </a:r>
            <a:r>
              <a:rPr lang="en-US" altLang="zh-TW" sz="2400" i="1" baseline="-25000" dirty="0" err="1"/>
              <a:t>c</a:t>
            </a:r>
            <a:r>
              <a:rPr lang="en-US" altLang="zh-TW" sz="2400" i="1" dirty="0"/>
              <a:t> </a:t>
            </a:r>
            <a:r>
              <a:rPr lang="en-US" altLang="zh-TW" sz="2400" dirty="0"/>
              <a:t>: statistical measure of frequency range where MRC response is </a:t>
            </a:r>
            <a:r>
              <a:rPr lang="en-US" altLang="zh-TW" sz="2400" b="1" dirty="0"/>
              <a:t>flat</a:t>
            </a:r>
          </a:p>
          <a:p>
            <a:pPr lvl="2"/>
            <a:r>
              <a:rPr lang="en-US" altLang="zh-TW" sz="2400" u="sng" dirty="0"/>
              <a:t>MRC response is </a:t>
            </a:r>
            <a:r>
              <a:rPr lang="en-US" altLang="zh-TW" sz="2400" b="1" u="sng" dirty="0"/>
              <a:t>flat</a:t>
            </a:r>
            <a:r>
              <a:rPr lang="en-US" altLang="zh-TW" sz="2400" i="1" dirty="0"/>
              <a:t> </a:t>
            </a:r>
            <a:r>
              <a:rPr lang="en-US" altLang="zh-TW" sz="2400" dirty="0"/>
              <a:t>= passes all frequencies with ≈ equal gain &amp; linear phase</a:t>
            </a:r>
          </a:p>
          <a:p>
            <a:pPr lvl="2"/>
            <a:r>
              <a:rPr lang="en-US" altLang="zh-TW" sz="2400" dirty="0"/>
              <a:t>amplitudes of different frequency components are correlated</a:t>
            </a:r>
          </a:p>
          <a:p>
            <a:pPr lvl="2"/>
            <a:r>
              <a:rPr lang="en-US" altLang="zh-TW" sz="2400" dirty="0"/>
              <a:t>if two sinusoids have frequency separation greater than </a:t>
            </a:r>
            <a:r>
              <a:rPr lang="en-US" altLang="zh-TW" sz="2400" i="1" dirty="0" err="1"/>
              <a:t>B</a:t>
            </a:r>
            <a:r>
              <a:rPr lang="en-US" altLang="zh-TW" sz="2400" i="1" baseline="-25000" dirty="0" err="1"/>
              <a:t>c</a:t>
            </a:r>
            <a:r>
              <a:rPr lang="en-US" altLang="zh-TW" sz="2400" dirty="0"/>
              <a:t>, they are affected quite differently by the channel</a:t>
            </a:r>
          </a:p>
        </p:txBody>
      </p:sp>
      <p:graphicFrame>
        <p:nvGraphicFramePr>
          <p:cNvPr id="87047" name="Object 7">
            <a:extLst>
              <a:ext uri="{FF2B5EF4-FFF2-40B4-BE49-F238E27FC236}">
                <a16:creationId xmlns:a16="http://schemas.microsoft.com/office/drawing/2014/main" id="{822DF0CB-EF83-C7AC-9DBB-454D1F684994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02563188"/>
              </p:ext>
            </p:extLst>
          </p:nvPr>
        </p:nvGraphicFramePr>
        <p:xfrm>
          <a:off x="7812360" y="674885"/>
          <a:ext cx="493440" cy="59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0440" imgH="228600" progId="Equation.DSMT4">
                  <p:embed/>
                </p:oleObj>
              </mc:Choice>
              <mc:Fallback>
                <p:oleObj name="Equation" r:id="rId3" imgW="190440" imgH="228600" progId="Equation.DSMT4">
                  <p:embed/>
                  <p:pic>
                    <p:nvPicPr>
                      <p:cNvPr id="87047" name="Object 7">
                        <a:extLst>
                          <a:ext uri="{FF2B5EF4-FFF2-40B4-BE49-F238E27FC236}">
                            <a16:creationId xmlns:a16="http://schemas.microsoft.com/office/drawing/2014/main" id="{822DF0CB-EF83-C7AC-9DBB-454D1F6849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360" y="674885"/>
                        <a:ext cx="493440" cy="59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7C1208E-E8FA-F991-92CD-6E7BFD51A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D825-DA41-44D5-A4D6-C7679A6DB4EB}" type="slidenum">
              <a:rPr lang="en-US" altLang="zh-TW"/>
              <a:pPr/>
              <a:t>18</a:t>
            </a:fld>
            <a:endParaRPr lang="en-US" altLang="zh-TW"/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D825E4B1-2184-0096-71AE-4ADEF15A46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4744"/>
            <a:ext cx="8229600" cy="4389120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en-US" altLang="zh-TW" sz="2800" dirty="0"/>
              <a:t>amplitude correlation → multipath signals have close to the same amplitude → if they are then out-of-phase they have significant destructive interference with each other (deep fades)</a:t>
            </a:r>
          </a:p>
          <a:p>
            <a:pPr lvl="1"/>
            <a:endParaRPr lang="en-US" altLang="zh-TW" sz="2800" dirty="0"/>
          </a:p>
          <a:p>
            <a:pPr lvl="1"/>
            <a:r>
              <a:rPr lang="en-US" altLang="zh-TW" sz="2800" dirty="0"/>
              <a:t>so a flat fading channel is both “good” and “bad”</a:t>
            </a:r>
          </a:p>
          <a:p>
            <a:pPr lvl="1"/>
            <a:endParaRPr lang="en-US" altLang="zh-TW" sz="2800" dirty="0"/>
          </a:p>
          <a:p>
            <a:pPr lvl="2"/>
            <a:r>
              <a:rPr lang="en-US" altLang="zh-TW" sz="2800" dirty="0"/>
              <a:t>Good: The MRC is like a bandpass filter and passes signals without major attenuation from the channel.</a:t>
            </a:r>
          </a:p>
          <a:p>
            <a:pPr lvl="2"/>
            <a:r>
              <a:rPr lang="en-US" altLang="zh-TW" sz="2800" dirty="0"/>
              <a:t>Bad: Deep fading can occur.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747CCE6-29A2-5461-0169-7E06360F3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D3789-F9CD-4188-ABFA-E735AF202D34}" type="slidenum">
              <a:rPr lang="en-US" altLang="zh-TW"/>
              <a:pPr/>
              <a:t>19</a:t>
            </a:fld>
            <a:endParaRPr lang="en-US" altLang="zh-TW"/>
          </a:p>
        </p:txBody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9282C7FC-89C1-1944-092B-A259531408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341438"/>
            <a:ext cx="8001000" cy="5040312"/>
          </a:xfrm>
        </p:spPr>
        <p:txBody>
          <a:bodyPr/>
          <a:lstStyle/>
          <a:p>
            <a:pPr lvl="1"/>
            <a:r>
              <a:rPr lang="en-US" altLang="zh-TW" sz="3200" dirty="0"/>
              <a:t>so the </a:t>
            </a:r>
            <a:r>
              <a:rPr lang="en-US" altLang="zh-TW" sz="3200" u="sng" dirty="0"/>
              <a:t>coherence bandwidth</a:t>
            </a:r>
            <a:r>
              <a:rPr lang="en-US" altLang="zh-TW" sz="3200" dirty="0"/>
              <a:t> is “the range of frequencies over which two frequency components have a strong potential for amplitude correlation.” (quote from textbook)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TW" sz="3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7">
            <a:extLst>
              <a:ext uri="{FF2B5EF4-FFF2-40B4-BE49-F238E27FC236}">
                <a16:creationId xmlns:a16="http://schemas.microsoft.com/office/drawing/2014/main" id="{83554B3D-0B60-C89B-D5F8-9F9A1AF32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551E4-6FAE-4FA7-921E-DCCCCEFC9E4C}" type="slidenum">
              <a:rPr lang="en-US" altLang="zh-TW"/>
              <a:pPr/>
              <a:t>20</a:t>
            </a:fld>
            <a:endParaRPr lang="en-US" altLang="zh-TW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7B8B6377-BEEB-9F00-CE07-B0C6F855521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9552" y="939800"/>
            <a:ext cx="8280400" cy="5689600"/>
          </a:xfrm>
        </p:spPr>
        <p:txBody>
          <a:bodyPr/>
          <a:lstStyle/>
          <a:p>
            <a:r>
              <a:rPr lang="en-US" altLang="zh-TW" sz="2800" dirty="0"/>
              <a:t>Estimates</a:t>
            </a:r>
          </a:p>
          <a:p>
            <a:pPr lvl="1"/>
            <a:r>
              <a:rPr lang="en-US" altLang="zh-TW" sz="2400" dirty="0"/>
              <a:t>0.9 correlation → </a:t>
            </a:r>
            <a:r>
              <a:rPr lang="en-US" altLang="zh-TW" sz="2400" b="1" i="1" dirty="0" err="1"/>
              <a:t>Bc</a:t>
            </a:r>
            <a:r>
              <a:rPr lang="en-US" altLang="zh-TW" sz="2400" b="1" i="1" dirty="0"/>
              <a:t> </a:t>
            </a:r>
            <a:r>
              <a:rPr lang="en-US" altLang="zh-TW" sz="2400" b="1" dirty="0"/>
              <a:t>≈ 1 / 50       </a:t>
            </a:r>
            <a:r>
              <a:rPr lang="en-US" altLang="zh-TW" sz="2400" dirty="0"/>
              <a:t>(signals are 90% correlated with each other)</a:t>
            </a:r>
          </a:p>
          <a:p>
            <a:pPr lvl="1"/>
            <a:r>
              <a:rPr lang="en-US" altLang="zh-TW" sz="2400" dirty="0"/>
              <a:t>0.5 correlation → </a:t>
            </a:r>
            <a:r>
              <a:rPr lang="en-US" altLang="zh-TW" sz="2400" b="1" i="1" dirty="0" err="1"/>
              <a:t>Bc</a:t>
            </a:r>
            <a:r>
              <a:rPr lang="en-US" altLang="zh-TW" sz="2400" b="1" i="1" dirty="0"/>
              <a:t> </a:t>
            </a:r>
            <a:r>
              <a:rPr lang="en-US" altLang="zh-TW" sz="2400" b="1" dirty="0"/>
              <a:t>≈ 1 / 5          </a:t>
            </a:r>
            <a:r>
              <a:rPr lang="en-US" altLang="zh-TW" sz="2400" dirty="0"/>
              <a:t>Which has a larger bandwidth and why?</a:t>
            </a:r>
          </a:p>
          <a:p>
            <a:endParaRPr lang="en-US" altLang="zh-TW" sz="2400" dirty="0"/>
          </a:p>
          <a:p>
            <a:pPr>
              <a:buFont typeface="Wingdings" panose="05000000000000000000" pitchFamily="2" charset="2"/>
              <a:buNone/>
            </a:pPr>
            <a:endParaRPr lang="en-US" altLang="zh-TW" sz="2600" dirty="0"/>
          </a:p>
          <a:p>
            <a:r>
              <a:rPr lang="en-US" altLang="zh-TW" sz="2800" dirty="0"/>
              <a:t>specific channels require detailed analysis for a particular transmitted signal – these are just rough estimates</a:t>
            </a:r>
          </a:p>
        </p:txBody>
      </p:sp>
      <p:graphicFrame>
        <p:nvGraphicFramePr>
          <p:cNvPr id="89092" name="Object 4">
            <a:extLst>
              <a:ext uri="{FF2B5EF4-FFF2-40B4-BE49-F238E27FC236}">
                <a16:creationId xmlns:a16="http://schemas.microsoft.com/office/drawing/2014/main" id="{3C742D6E-37DC-D8E7-D78D-CB958F948072}"/>
              </a:ext>
            </a:extLst>
          </p:cNvPr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404695556"/>
              </p:ext>
            </p:extLst>
          </p:nvPr>
        </p:nvGraphicFramePr>
        <p:xfrm>
          <a:off x="5004048" y="1485602"/>
          <a:ext cx="4191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0440" imgH="228600" progId="Equation.DSMT4">
                  <p:embed/>
                </p:oleObj>
              </mc:Choice>
              <mc:Fallback>
                <p:oleObj name="Equation" r:id="rId3" imgW="190440" imgH="228600" progId="Equation.DSMT4">
                  <p:embed/>
                  <p:pic>
                    <p:nvPicPr>
                      <p:cNvPr id="89092" name="Object 4">
                        <a:extLst>
                          <a:ext uri="{FF2B5EF4-FFF2-40B4-BE49-F238E27FC236}">
                            <a16:creationId xmlns:a16="http://schemas.microsoft.com/office/drawing/2014/main" id="{3C742D6E-37DC-D8E7-D78D-CB958F9480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8" y="1485602"/>
                        <a:ext cx="41910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5" name="Object 7">
            <a:extLst>
              <a:ext uri="{FF2B5EF4-FFF2-40B4-BE49-F238E27FC236}">
                <a16:creationId xmlns:a16="http://schemas.microsoft.com/office/drawing/2014/main" id="{8C03D951-7741-801F-841E-BC5D98A8B29C}"/>
              </a:ext>
            </a:extLst>
          </p:cNvPr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4210435257"/>
              </p:ext>
            </p:extLst>
          </p:nvPr>
        </p:nvGraphicFramePr>
        <p:xfrm>
          <a:off x="4860032" y="2204864"/>
          <a:ext cx="42068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0440" imgH="228600" progId="Equation.DSMT4">
                  <p:embed/>
                </p:oleObj>
              </mc:Choice>
              <mc:Fallback>
                <p:oleObj name="Equation" r:id="rId5" imgW="190440" imgH="228600" progId="Equation.DSMT4">
                  <p:embed/>
                  <p:pic>
                    <p:nvPicPr>
                      <p:cNvPr id="89095" name="Object 7">
                        <a:extLst>
                          <a:ext uri="{FF2B5EF4-FFF2-40B4-BE49-F238E27FC236}">
                            <a16:creationId xmlns:a16="http://schemas.microsoft.com/office/drawing/2014/main" id="{8C03D951-7741-801F-841E-BC5D98A8B2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032" y="2204864"/>
                        <a:ext cx="420688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D1A01F9-542D-C01C-B156-D334E1BA8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62F91-50D0-4471-A514-96D4F8B95F90}" type="slidenum">
              <a:rPr lang="en-US" altLang="zh-TW"/>
              <a:pPr/>
              <a:t>21</a:t>
            </a:fld>
            <a:endParaRPr lang="en-US" altLang="zh-TW"/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2F073151-9B0D-E787-AC29-B6FE8DA835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3154054"/>
            <a:ext cx="8001000" cy="3601070"/>
          </a:xfrm>
        </p:spPr>
        <p:txBody>
          <a:bodyPr/>
          <a:lstStyle/>
          <a:p>
            <a:r>
              <a:rPr lang="en-US" altLang="zh-TW" dirty="0"/>
              <a:t>A channel that is not a flat fading channel is called </a:t>
            </a:r>
            <a:r>
              <a:rPr lang="en-US" altLang="zh-TW" i="1" dirty="0"/>
              <a:t>frequency selective fading</a:t>
            </a:r>
            <a:r>
              <a:rPr lang="en-US" altLang="zh-TW" dirty="0"/>
              <a:t> because different frequencies within a signal are attenuated differently by the MRC.</a:t>
            </a:r>
          </a:p>
          <a:p>
            <a:endParaRPr lang="en-US" altLang="zh-TW" sz="1600" dirty="0"/>
          </a:p>
          <a:p>
            <a:pPr lvl="1"/>
            <a:r>
              <a:rPr lang="en-US" altLang="zh-TW" dirty="0"/>
              <a:t>Note: The definition of flat or frequency selective fading is defined with respect to the bandwidth of the signal that is being transmitted.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7A2369B-3CAC-FADC-C8C7-7847F5D3A250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981075"/>
            <a:ext cx="8001000" cy="2015877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i="1"/>
              <a:t>B</a:t>
            </a:r>
            <a:r>
              <a:rPr lang="en-US" altLang="zh-TW" i="1" baseline="-25000"/>
              <a:t>c</a:t>
            </a:r>
            <a:r>
              <a:rPr lang="en-US" altLang="zh-TW" i="1"/>
              <a:t> </a:t>
            </a:r>
            <a:r>
              <a:rPr lang="en-US" altLang="zh-TW"/>
              <a:t>and </a:t>
            </a:r>
            <a:r>
              <a:rPr lang="en-US" altLang="zh-TW" b="1"/>
              <a:t>σ</a:t>
            </a:r>
            <a:r>
              <a:rPr lang="en-US" altLang="zh-TW" b="1" baseline="-25000"/>
              <a:t>τ</a:t>
            </a:r>
            <a:r>
              <a:rPr lang="en-US" altLang="zh-TW"/>
              <a:t> are </a:t>
            </a:r>
            <a:r>
              <a:rPr lang="en-US" altLang="zh-TW" b="1"/>
              <a:t>related </a:t>
            </a:r>
            <a:r>
              <a:rPr lang="en-US" altLang="zh-TW"/>
              <a:t>quantities that characterize time-varying nature of the MRC for multipath interference from frequency &amp; time domain perspectives</a:t>
            </a:r>
          </a:p>
          <a:p>
            <a:endParaRPr lang="en-US" altLang="zh-TW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Multipath Delay Spread</a:t>
            </a:r>
            <a:endParaRPr lang="en-GB" sz="3200" dirty="0"/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1412875"/>
            <a:ext cx="4191000" cy="4572000"/>
          </a:xfrm>
        </p:spPr>
        <p:txBody>
          <a:bodyPr/>
          <a:lstStyle/>
          <a:p>
            <a:pPr eaLnBrk="1" hangingPunct="1"/>
            <a:r>
              <a:rPr lang="en-US" altLang="zh-TW" sz="2400">
                <a:ea typeface="PMingLiU" pitchFamily="18" charset="-120"/>
              </a:rPr>
              <a:t>First-arrival delay (</a:t>
            </a:r>
            <a:r>
              <a:rPr lang="el-GR" altLang="zh-TW" sz="2400">
                <a:cs typeface="Arial" pitchFamily="34" charset="0"/>
              </a:rPr>
              <a:t>τ</a:t>
            </a:r>
            <a:r>
              <a:rPr lang="en-US" altLang="zh-TW" sz="2400" baseline="-25000">
                <a:ea typeface="PMingLiU" pitchFamily="18" charset="-120"/>
                <a:cs typeface="Arial" pitchFamily="34" charset="0"/>
              </a:rPr>
              <a:t>A</a:t>
            </a:r>
            <a:r>
              <a:rPr lang="en-US" altLang="zh-TW" sz="2400">
                <a:ea typeface="PMingLiU" pitchFamily="18" charset="-120"/>
                <a:cs typeface="Arial" pitchFamily="34" charset="0"/>
              </a:rPr>
              <a:t>)</a:t>
            </a:r>
            <a:endParaRPr lang="el-GR" altLang="zh-TW" sz="2400">
              <a:cs typeface="Arial" pitchFamily="34" charset="0"/>
            </a:endParaRPr>
          </a:p>
          <a:p>
            <a:pPr eaLnBrk="1" hangingPunct="1"/>
            <a:r>
              <a:rPr lang="en-US" altLang="zh-TW" sz="2400">
                <a:ea typeface="PMingLiU" pitchFamily="18" charset="-120"/>
              </a:rPr>
              <a:t>Mean excess delay</a:t>
            </a:r>
          </a:p>
          <a:p>
            <a:pPr eaLnBrk="1" hangingPunct="1"/>
            <a:endParaRPr lang="en-GB" sz="2400"/>
          </a:p>
        </p:txBody>
      </p:sp>
      <p:graphicFrame>
        <p:nvGraphicFramePr>
          <p:cNvPr id="15362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3925888" y="1801813"/>
          <a:ext cx="2589212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20480" imgH="279360" progId="Equation.3">
                  <p:embed/>
                </p:oleObj>
              </mc:Choice>
              <mc:Fallback>
                <p:oleObj name="Equation" r:id="rId2" imgW="1320480" imgH="279360" progId="Equation.3">
                  <p:embed/>
                  <p:pic>
                    <p:nvPicPr>
                      <p:cNvPr id="1536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5888" y="1801813"/>
                        <a:ext cx="2589212" cy="547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3" name="Date Placeholder 4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r>
              <a:rPr lang="en-GB"/>
              <a:t>Z. Ghassemlooy </a:t>
            </a:r>
          </a:p>
        </p:txBody>
      </p:sp>
      <p:pic>
        <p:nvPicPr>
          <p:cNvPr id="1536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850" y="2311400"/>
            <a:ext cx="8785225" cy="438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980008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17" y="373364"/>
            <a:ext cx="8229600" cy="578328"/>
          </a:xfrm>
        </p:spPr>
        <p:txBody>
          <a:bodyPr>
            <a:normAutofit fontScale="90000"/>
          </a:bodyPr>
          <a:lstStyle/>
          <a:p>
            <a:r>
              <a:rPr lang="en-US" dirty="0"/>
              <a:t>Effects of delay spread: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17" y="1145204"/>
            <a:ext cx="8229600" cy="4389120"/>
          </a:xfrm>
        </p:spPr>
        <p:txBody>
          <a:bodyPr/>
          <a:lstStyle/>
          <a:p>
            <a:r>
              <a:rPr lang="en-US" dirty="0"/>
              <a:t>It causes-</a:t>
            </a:r>
          </a:p>
          <a:p>
            <a:pPr marL="514350" indent="-514350">
              <a:buNone/>
            </a:pPr>
            <a:r>
              <a:rPr lang="en-US" b="1" dirty="0"/>
              <a:t>INTER SYMBOL INTERFERENCE (ISI)</a:t>
            </a:r>
          </a:p>
          <a:p>
            <a:pPr marL="514350" indent="-514350">
              <a:buFont typeface="Wingdings" pitchFamily="2" charset="2"/>
              <a:buChar char="Ø"/>
            </a:pPr>
            <a:r>
              <a:rPr lang="en-US" dirty="0"/>
              <a:t>  if the bandwidth of a transmitter signal is less      than the channel coherence bandwidth, the channel shows flat fading to be free of ISI.</a:t>
            </a:r>
          </a:p>
          <a:p>
            <a:pPr marL="514350" indent="-514350">
              <a:buFont typeface="Wingdings" pitchFamily="2" charset="2"/>
              <a:buChar char="Ø"/>
            </a:pPr>
            <a:r>
              <a:rPr lang="en-US" dirty="0"/>
              <a:t>otherwise, the channel shows frequency selective fading and may suffer from ISI.</a:t>
            </a:r>
          </a:p>
          <a:p>
            <a:pPr marL="514350" indent="-514350">
              <a:buNone/>
            </a:pP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54349" y="4365104"/>
            <a:ext cx="792088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0"/>
              </a:spcBef>
              <a:buFontTx/>
              <a:buChar char="•"/>
            </a:pPr>
            <a:r>
              <a:rPr lang="en-AU" dirty="0">
                <a:solidFill>
                  <a:srgbClr val="3333FF"/>
                </a:solidFill>
              </a:rPr>
              <a:t>Delay spread varies with the terrain with typical values for rural, urban and suburban areas: </a:t>
            </a:r>
            <a:endParaRPr lang="en-GB" dirty="0">
              <a:solidFill>
                <a:srgbClr val="3333FF"/>
              </a:solidFill>
            </a:endParaRPr>
          </a:p>
        </p:txBody>
      </p:sp>
      <p:grpSp>
        <p:nvGrpSpPr>
          <p:cNvPr id="5" name="Group 52"/>
          <p:cNvGrpSpPr>
            <a:grpSpLocks/>
          </p:cNvGrpSpPr>
          <p:nvPr/>
        </p:nvGrpSpPr>
        <p:grpSpPr bwMode="auto">
          <a:xfrm>
            <a:off x="708042" y="5096905"/>
            <a:ext cx="7651750" cy="509587"/>
            <a:chOff x="476" y="3653"/>
            <a:chExt cx="4820" cy="321"/>
          </a:xfrm>
        </p:grpSpPr>
        <p:grpSp>
          <p:nvGrpSpPr>
            <p:cNvPr id="6" name="Group 23"/>
            <p:cNvGrpSpPr>
              <a:grpSpLocks/>
            </p:cNvGrpSpPr>
            <p:nvPr/>
          </p:nvGrpSpPr>
          <p:grpSpPr bwMode="auto">
            <a:xfrm>
              <a:off x="476" y="3657"/>
              <a:ext cx="1178" cy="316"/>
              <a:chOff x="766" y="3547"/>
              <a:chExt cx="1178" cy="316"/>
            </a:xfrm>
          </p:grpSpPr>
          <p:sp>
            <p:nvSpPr>
              <p:cNvPr id="29" name="Rectangle 12"/>
              <p:cNvSpPr>
                <a:spLocks noChangeArrowheads="1"/>
              </p:cNvSpPr>
              <p:nvPr/>
            </p:nvSpPr>
            <p:spPr bwMode="auto">
              <a:xfrm>
                <a:off x="1382" y="3547"/>
                <a:ext cx="85" cy="3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3200">
                    <a:solidFill>
                      <a:srgbClr val="000000"/>
                    </a:solidFill>
                    <a:latin typeface="Symbol" pitchFamily="18" charset="2"/>
                  </a:rPr>
                  <a:t>(</a:t>
                </a:r>
                <a:endParaRPr lang="en-GB"/>
              </a:p>
            </p:txBody>
          </p:sp>
          <p:sp>
            <p:nvSpPr>
              <p:cNvPr id="30" name="Rectangle 13"/>
              <p:cNvSpPr>
                <a:spLocks noChangeArrowheads="1"/>
              </p:cNvSpPr>
              <p:nvPr/>
            </p:nvSpPr>
            <p:spPr bwMode="auto">
              <a:xfrm>
                <a:off x="1859" y="3547"/>
                <a:ext cx="85" cy="3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3200">
                    <a:solidFill>
                      <a:srgbClr val="000000"/>
                    </a:solidFill>
                    <a:latin typeface="Symbol" pitchFamily="18" charset="2"/>
                  </a:rPr>
                  <a:t>)</a:t>
                </a:r>
                <a:endParaRPr lang="en-GB"/>
              </a:p>
            </p:txBody>
          </p:sp>
          <p:sp>
            <p:nvSpPr>
              <p:cNvPr id="31" name="Rectangle 14"/>
              <p:cNvSpPr>
                <a:spLocks noChangeArrowheads="1"/>
              </p:cNvSpPr>
              <p:nvPr/>
            </p:nvSpPr>
            <p:spPr bwMode="auto">
              <a:xfrm>
                <a:off x="1442" y="3633"/>
                <a:ext cx="395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i="1" dirty="0">
                    <a:solidFill>
                      <a:srgbClr val="000000"/>
                    </a:solidFill>
                  </a:rPr>
                  <a:t>rural</a:t>
                </a:r>
                <a:endParaRPr lang="en-GB" dirty="0"/>
              </a:p>
            </p:txBody>
          </p:sp>
          <p:sp>
            <p:nvSpPr>
              <p:cNvPr id="32" name="Rectangle 15"/>
              <p:cNvSpPr>
                <a:spLocks noChangeArrowheads="1"/>
              </p:cNvSpPr>
              <p:nvPr/>
            </p:nvSpPr>
            <p:spPr bwMode="auto">
              <a:xfrm>
                <a:off x="1255" y="3633"/>
                <a:ext cx="75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i="1">
                    <a:solidFill>
                      <a:srgbClr val="000000"/>
                    </a:solidFill>
                  </a:rPr>
                  <a:t>s</a:t>
                </a:r>
                <a:endParaRPr lang="en-GB"/>
              </a:p>
            </p:txBody>
          </p:sp>
          <p:sp>
            <p:nvSpPr>
              <p:cNvPr id="33" name="Rectangle 17"/>
              <p:cNvSpPr>
                <a:spLocks noChangeArrowheads="1"/>
              </p:cNvSpPr>
              <p:nvPr/>
            </p:nvSpPr>
            <p:spPr bwMode="auto">
              <a:xfrm>
                <a:off x="1143" y="3611"/>
                <a:ext cx="111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i="1" dirty="0">
                    <a:solidFill>
                      <a:srgbClr val="000000"/>
                    </a:solidFill>
                    <a:latin typeface="Symbol" pitchFamily="18" charset="2"/>
                  </a:rPr>
                  <a:t>m</a:t>
                </a:r>
                <a:endParaRPr lang="en-GB" dirty="0"/>
              </a:p>
            </p:txBody>
          </p:sp>
          <p:sp>
            <p:nvSpPr>
              <p:cNvPr id="34" name="Rectangle 19"/>
              <p:cNvSpPr>
                <a:spLocks noChangeArrowheads="1"/>
              </p:cNvSpPr>
              <p:nvPr/>
            </p:nvSpPr>
            <p:spPr bwMode="auto">
              <a:xfrm>
                <a:off x="1041" y="3633"/>
                <a:ext cx="9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>
                    <a:solidFill>
                      <a:srgbClr val="000000"/>
                    </a:solidFill>
                  </a:rPr>
                  <a:t>2</a:t>
                </a:r>
                <a:endParaRPr lang="en-GB"/>
              </a:p>
            </p:txBody>
          </p:sp>
          <p:sp>
            <p:nvSpPr>
              <p:cNvPr id="35" name="Rectangle 20"/>
              <p:cNvSpPr>
                <a:spLocks noChangeArrowheads="1"/>
              </p:cNvSpPr>
              <p:nvPr/>
            </p:nvSpPr>
            <p:spPr bwMode="auto">
              <a:xfrm>
                <a:off x="992" y="3633"/>
                <a:ext cx="48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>
                    <a:solidFill>
                      <a:srgbClr val="000000"/>
                    </a:solidFill>
                  </a:rPr>
                  <a:t>.</a:t>
                </a:r>
                <a:endParaRPr lang="en-GB"/>
              </a:p>
            </p:txBody>
          </p:sp>
          <p:sp>
            <p:nvSpPr>
              <p:cNvPr id="36" name="Rectangle 21"/>
              <p:cNvSpPr>
                <a:spLocks noChangeArrowheads="1"/>
              </p:cNvSpPr>
              <p:nvPr/>
            </p:nvSpPr>
            <p:spPr bwMode="auto">
              <a:xfrm>
                <a:off x="895" y="3633"/>
                <a:ext cx="96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>
                    <a:solidFill>
                      <a:srgbClr val="000000"/>
                    </a:solidFill>
                  </a:rPr>
                  <a:t>0</a:t>
                </a:r>
                <a:endParaRPr lang="en-GB"/>
              </a:p>
            </p:txBody>
          </p:sp>
          <p:sp>
            <p:nvSpPr>
              <p:cNvPr id="37" name="Rectangle 22"/>
              <p:cNvSpPr>
                <a:spLocks noChangeArrowheads="1"/>
              </p:cNvSpPr>
              <p:nvPr/>
            </p:nvSpPr>
            <p:spPr bwMode="auto">
              <a:xfrm>
                <a:off x="766" y="3611"/>
                <a:ext cx="105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dirty="0">
                    <a:solidFill>
                      <a:srgbClr val="000000"/>
                    </a:solidFill>
                    <a:latin typeface="Symbol" pitchFamily="18" charset="2"/>
                  </a:rPr>
                  <a:t>»</a:t>
                </a:r>
                <a:endParaRPr lang="en-GB" dirty="0"/>
              </a:p>
            </p:txBody>
          </p:sp>
        </p:grpSp>
        <p:grpSp>
          <p:nvGrpSpPr>
            <p:cNvPr id="7" name="Group 37"/>
            <p:cNvGrpSpPr>
              <a:grpSpLocks/>
            </p:cNvGrpSpPr>
            <p:nvPr/>
          </p:nvGrpSpPr>
          <p:grpSpPr bwMode="auto">
            <a:xfrm>
              <a:off x="1791" y="3653"/>
              <a:ext cx="1409" cy="321"/>
              <a:chOff x="2154" y="3553"/>
              <a:chExt cx="1409" cy="321"/>
            </a:xfrm>
          </p:grpSpPr>
          <p:sp>
            <p:nvSpPr>
              <p:cNvPr id="19" name="AutoShape 24"/>
              <p:cNvSpPr>
                <a:spLocks noChangeAspect="1" noChangeArrowheads="1" noTextEdit="1"/>
              </p:cNvSpPr>
              <p:nvPr/>
            </p:nvSpPr>
            <p:spPr bwMode="auto">
              <a:xfrm>
                <a:off x="2154" y="3612"/>
                <a:ext cx="1388" cy="26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26"/>
              <p:cNvSpPr>
                <a:spLocks noChangeArrowheads="1"/>
              </p:cNvSpPr>
              <p:nvPr/>
            </p:nvSpPr>
            <p:spPr bwMode="auto">
              <a:xfrm>
                <a:off x="3011" y="3553"/>
                <a:ext cx="77" cy="27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2900">
                    <a:solidFill>
                      <a:srgbClr val="000000"/>
                    </a:solidFill>
                    <a:latin typeface="Symbol" pitchFamily="18" charset="2"/>
                  </a:rPr>
                  <a:t>(</a:t>
                </a:r>
                <a:endParaRPr lang="en-GB"/>
              </a:p>
            </p:txBody>
          </p:sp>
          <p:sp>
            <p:nvSpPr>
              <p:cNvPr id="21" name="Rectangle 27"/>
              <p:cNvSpPr>
                <a:spLocks noChangeArrowheads="1"/>
              </p:cNvSpPr>
              <p:nvPr/>
            </p:nvSpPr>
            <p:spPr bwMode="auto">
              <a:xfrm>
                <a:off x="3486" y="3553"/>
                <a:ext cx="77" cy="27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2900">
                    <a:solidFill>
                      <a:srgbClr val="000000"/>
                    </a:solidFill>
                    <a:latin typeface="Symbol" pitchFamily="18" charset="2"/>
                  </a:rPr>
                  <a:t>)</a:t>
                </a:r>
                <a:endParaRPr lang="en-GB"/>
              </a:p>
            </p:txBody>
          </p:sp>
          <p:sp>
            <p:nvSpPr>
              <p:cNvPr id="22" name="Rectangle 28"/>
              <p:cNvSpPr>
                <a:spLocks noChangeArrowheads="1"/>
              </p:cNvSpPr>
              <p:nvPr/>
            </p:nvSpPr>
            <p:spPr bwMode="auto">
              <a:xfrm>
                <a:off x="3060" y="3631"/>
                <a:ext cx="420" cy="2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2200" i="1" dirty="0">
                    <a:solidFill>
                      <a:srgbClr val="000000"/>
                    </a:solidFill>
                  </a:rPr>
                  <a:t>urban</a:t>
                </a:r>
                <a:endParaRPr lang="en-GB" dirty="0"/>
              </a:p>
            </p:txBody>
          </p:sp>
          <p:sp>
            <p:nvSpPr>
              <p:cNvPr id="23" name="Rectangle 29"/>
              <p:cNvSpPr>
                <a:spLocks noChangeArrowheads="1"/>
              </p:cNvSpPr>
              <p:nvPr/>
            </p:nvSpPr>
            <p:spPr bwMode="auto">
              <a:xfrm>
                <a:off x="2896" y="3631"/>
                <a:ext cx="68" cy="2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2200" i="1">
                    <a:solidFill>
                      <a:srgbClr val="000000"/>
                    </a:solidFill>
                  </a:rPr>
                  <a:t>s</a:t>
                </a:r>
                <a:endParaRPr lang="en-GB"/>
              </a:p>
            </p:txBody>
          </p:sp>
          <p:sp>
            <p:nvSpPr>
              <p:cNvPr id="24" name="Rectangle 31"/>
              <p:cNvSpPr>
                <a:spLocks noChangeArrowheads="1"/>
              </p:cNvSpPr>
              <p:nvPr/>
            </p:nvSpPr>
            <p:spPr bwMode="auto">
              <a:xfrm>
                <a:off x="2795" y="3611"/>
                <a:ext cx="101" cy="2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2200" i="1">
                    <a:solidFill>
                      <a:srgbClr val="000000"/>
                    </a:solidFill>
                    <a:latin typeface="Symbol" pitchFamily="18" charset="2"/>
                  </a:rPr>
                  <a:t>m</a:t>
                </a:r>
                <a:endParaRPr lang="en-GB"/>
              </a:p>
            </p:txBody>
          </p:sp>
          <p:sp>
            <p:nvSpPr>
              <p:cNvPr id="25" name="Rectangle 33"/>
              <p:cNvSpPr>
                <a:spLocks noChangeArrowheads="1"/>
              </p:cNvSpPr>
              <p:nvPr/>
            </p:nvSpPr>
            <p:spPr bwMode="auto">
              <a:xfrm>
                <a:off x="2702" y="3631"/>
                <a:ext cx="88" cy="2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2200">
                    <a:solidFill>
                      <a:srgbClr val="000000"/>
                    </a:solidFill>
                  </a:rPr>
                  <a:t>0</a:t>
                </a:r>
                <a:endParaRPr lang="en-GB"/>
              </a:p>
            </p:txBody>
          </p:sp>
          <p:sp>
            <p:nvSpPr>
              <p:cNvPr id="26" name="Rectangle 34"/>
              <p:cNvSpPr>
                <a:spLocks noChangeArrowheads="1"/>
              </p:cNvSpPr>
              <p:nvPr/>
            </p:nvSpPr>
            <p:spPr bwMode="auto">
              <a:xfrm>
                <a:off x="2659" y="3631"/>
                <a:ext cx="44" cy="2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2200">
                    <a:solidFill>
                      <a:srgbClr val="000000"/>
                    </a:solidFill>
                  </a:rPr>
                  <a:t>.</a:t>
                </a:r>
                <a:endParaRPr lang="en-GB"/>
              </a:p>
            </p:txBody>
          </p:sp>
          <p:sp>
            <p:nvSpPr>
              <p:cNvPr id="27" name="Rectangle 35"/>
              <p:cNvSpPr>
                <a:spLocks noChangeArrowheads="1"/>
              </p:cNvSpPr>
              <p:nvPr/>
            </p:nvSpPr>
            <p:spPr bwMode="auto">
              <a:xfrm>
                <a:off x="2571" y="3631"/>
                <a:ext cx="88" cy="2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2200">
                    <a:solidFill>
                      <a:srgbClr val="000000"/>
                    </a:solidFill>
                  </a:rPr>
                  <a:t>3</a:t>
                </a:r>
                <a:endParaRPr lang="en-GB"/>
              </a:p>
            </p:txBody>
          </p:sp>
          <p:sp>
            <p:nvSpPr>
              <p:cNvPr id="28" name="Rectangle 36"/>
              <p:cNvSpPr>
                <a:spLocks noChangeArrowheads="1"/>
              </p:cNvSpPr>
              <p:nvPr/>
            </p:nvSpPr>
            <p:spPr bwMode="auto">
              <a:xfrm>
                <a:off x="2456" y="3611"/>
                <a:ext cx="97" cy="2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2200">
                    <a:solidFill>
                      <a:srgbClr val="000000"/>
                    </a:solidFill>
                    <a:latin typeface="Symbol" pitchFamily="18" charset="2"/>
                  </a:rPr>
                  <a:t>»</a:t>
                </a:r>
                <a:endParaRPr lang="en-GB"/>
              </a:p>
            </p:txBody>
          </p:sp>
        </p:grpSp>
        <p:grpSp>
          <p:nvGrpSpPr>
            <p:cNvPr id="8" name="Group 51"/>
            <p:cNvGrpSpPr>
              <a:grpSpLocks/>
            </p:cNvGrpSpPr>
            <p:nvPr/>
          </p:nvGrpSpPr>
          <p:grpSpPr bwMode="auto">
            <a:xfrm>
              <a:off x="3742" y="3664"/>
              <a:ext cx="1554" cy="310"/>
              <a:chOff x="3969" y="3555"/>
              <a:chExt cx="1554" cy="310"/>
            </a:xfrm>
          </p:grpSpPr>
          <p:sp>
            <p:nvSpPr>
              <p:cNvPr id="9" name="AutoShape 38"/>
              <p:cNvSpPr>
                <a:spLocks noChangeAspect="1" noChangeArrowheads="1" noTextEdit="1"/>
              </p:cNvSpPr>
              <p:nvPr/>
            </p:nvSpPr>
            <p:spPr bwMode="auto">
              <a:xfrm>
                <a:off x="3969" y="3612"/>
                <a:ext cx="1541" cy="2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" name="Rectangle 40"/>
              <p:cNvSpPr>
                <a:spLocks noChangeArrowheads="1"/>
              </p:cNvSpPr>
              <p:nvPr/>
            </p:nvSpPr>
            <p:spPr bwMode="auto">
              <a:xfrm>
                <a:off x="4744" y="3555"/>
                <a:ext cx="75" cy="2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2800">
                    <a:solidFill>
                      <a:srgbClr val="000000"/>
                    </a:solidFill>
                    <a:latin typeface="Symbol" pitchFamily="18" charset="2"/>
                  </a:rPr>
                  <a:t>(</a:t>
                </a:r>
                <a:endParaRPr lang="en-GB"/>
              </a:p>
            </p:txBody>
          </p:sp>
          <p:sp>
            <p:nvSpPr>
              <p:cNvPr id="11" name="Rectangle 41"/>
              <p:cNvSpPr>
                <a:spLocks noChangeArrowheads="1"/>
              </p:cNvSpPr>
              <p:nvPr/>
            </p:nvSpPr>
            <p:spPr bwMode="auto">
              <a:xfrm>
                <a:off x="5448" y="3555"/>
                <a:ext cx="75" cy="2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2800">
                    <a:solidFill>
                      <a:srgbClr val="000000"/>
                    </a:solidFill>
                    <a:latin typeface="Symbol" pitchFamily="18" charset="2"/>
                  </a:rPr>
                  <a:t>)</a:t>
                </a:r>
                <a:endParaRPr lang="en-GB"/>
              </a:p>
            </p:txBody>
          </p:sp>
          <p:sp>
            <p:nvSpPr>
              <p:cNvPr id="12" name="Rectangle 42"/>
              <p:cNvSpPr>
                <a:spLocks noChangeArrowheads="1"/>
              </p:cNvSpPr>
              <p:nvPr/>
            </p:nvSpPr>
            <p:spPr bwMode="auto">
              <a:xfrm>
                <a:off x="4800" y="3630"/>
                <a:ext cx="634" cy="2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2100" i="1">
                    <a:solidFill>
                      <a:srgbClr val="000000"/>
                    </a:solidFill>
                  </a:rPr>
                  <a:t>suburban</a:t>
                </a:r>
                <a:endParaRPr lang="en-GB"/>
              </a:p>
            </p:txBody>
          </p:sp>
          <p:sp>
            <p:nvSpPr>
              <p:cNvPr id="13" name="Rectangle 43"/>
              <p:cNvSpPr>
                <a:spLocks noChangeArrowheads="1"/>
              </p:cNvSpPr>
              <p:nvPr/>
            </p:nvSpPr>
            <p:spPr bwMode="auto">
              <a:xfrm>
                <a:off x="4634" y="3630"/>
                <a:ext cx="65" cy="2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2100" i="1">
                    <a:solidFill>
                      <a:srgbClr val="000000"/>
                    </a:solidFill>
                  </a:rPr>
                  <a:t>s</a:t>
                </a:r>
                <a:endParaRPr lang="en-GB"/>
              </a:p>
            </p:txBody>
          </p:sp>
          <p:sp>
            <p:nvSpPr>
              <p:cNvPr id="14" name="Rectangle 45"/>
              <p:cNvSpPr>
                <a:spLocks noChangeArrowheads="1"/>
              </p:cNvSpPr>
              <p:nvPr/>
            </p:nvSpPr>
            <p:spPr bwMode="auto">
              <a:xfrm>
                <a:off x="4536" y="3611"/>
                <a:ext cx="97" cy="2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2100" i="1">
                    <a:solidFill>
                      <a:srgbClr val="000000"/>
                    </a:solidFill>
                    <a:latin typeface="Symbol" pitchFamily="18" charset="2"/>
                  </a:rPr>
                  <a:t>m</a:t>
                </a:r>
                <a:endParaRPr lang="en-GB"/>
              </a:p>
            </p:txBody>
          </p:sp>
          <p:sp>
            <p:nvSpPr>
              <p:cNvPr id="15" name="Rectangle 47"/>
              <p:cNvSpPr>
                <a:spLocks noChangeArrowheads="1"/>
              </p:cNvSpPr>
              <p:nvPr/>
            </p:nvSpPr>
            <p:spPr bwMode="auto">
              <a:xfrm>
                <a:off x="4449" y="3630"/>
                <a:ext cx="84" cy="2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2100">
                    <a:solidFill>
                      <a:srgbClr val="000000"/>
                    </a:solidFill>
                  </a:rPr>
                  <a:t>5</a:t>
                </a:r>
                <a:endParaRPr lang="en-GB"/>
              </a:p>
            </p:txBody>
          </p:sp>
          <p:sp>
            <p:nvSpPr>
              <p:cNvPr id="16" name="Rectangle 48"/>
              <p:cNvSpPr>
                <a:spLocks noChangeArrowheads="1"/>
              </p:cNvSpPr>
              <p:nvPr/>
            </p:nvSpPr>
            <p:spPr bwMode="auto">
              <a:xfrm>
                <a:off x="4406" y="3630"/>
                <a:ext cx="42" cy="2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2100">
                    <a:solidFill>
                      <a:srgbClr val="000000"/>
                    </a:solidFill>
                  </a:rPr>
                  <a:t>.</a:t>
                </a:r>
                <a:endParaRPr lang="en-GB"/>
              </a:p>
            </p:txBody>
          </p:sp>
          <p:sp>
            <p:nvSpPr>
              <p:cNvPr id="17" name="Rectangle 49"/>
              <p:cNvSpPr>
                <a:spLocks noChangeArrowheads="1"/>
              </p:cNvSpPr>
              <p:nvPr/>
            </p:nvSpPr>
            <p:spPr bwMode="auto">
              <a:xfrm>
                <a:off x="4322" y="3630"/>
                <a:ext cx="84" cy="2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2100" dirty="0">
                    <a:solidFill>
                      <a:srgbClr val="000000"/>
                    </a:solidFill>
                  </a:rPr>
                  <a:t>0</a:t>
                </a:r>
                <a:endParaRPr lang="en-GB" dirty="0"/>
              </a:p>
            </p:txBody>
          </p:sp>
          <p:sp>
            <p:nvSpPr>
              <p:cNvPr id="18" name="Rectangle 50"/>
              <p:cNvSpPr>
                <a:spLocks noChangeArrowheads="1"/>
              </p:cNvSpPr>
              <p:nvPr/>
            </p:nvSpPr>
            <p:spPr bwMode="auto">
              <a:xfrm>
                <a:off x="4208" y="3611"/>
                <a:ext cx="92" cy="2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GB" sz="2100" dirty="0">
                    <a:solidFill>
                      <a:srgbClr val="000000"/>
                    </a:solidFill>
                    <a:latin typeface="Symbol" pitchFamily="18" charset="2"/>
                  </a:rPr>
                  <a:t>»</a:t>
                </a:r>
                <a:endParaRPr lang="en-GB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84391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0EF3632-1666-4663-996F-0E0D28504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91E6D-46A2-4B7F-B432-4418D82BF55A}" type="slidenum">
              <a:rPr lang="en-US" altLang="zh-TW"/>
              <a:pPr/>
              <a:t>24</a:t>
            </a:fld>
            <a:endParaRPr lang="en-US" altLang="zh-TW"/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4EDDC8B9-00A1-4771-975D-8B7A52F455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111" y="874112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sz="3600" dirty="0"/>
              <a:t>Time Dispersion Parameters</a:t>
            </a:r>
            <a:br>
              <a:rPr lang="en-US" altLang="zh-TW" sz="3600" dirty="0"/>
            </a:br>
            <a:endParaRPr lang="en-US" altLang="en-US" sz="3600" dirty="0"/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389C665F-7D3C-47FF-BD7E-C050125E8C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0637" y="1628316"/>
            <a:ext cx="8229600" cy="4389120"/>
          </a:xfrm>
        </p:spPr>
        <p:txBody>
          <a:bodyPr>
            <a:normAutofit/>
          </a:bodyPr>
          <a:lstStyle/>
          <a:p>
            <a:pPr lvl="1"/>
            <a:r>
              <a:rPr lang="en-US" altLang="zh-TW" dirty="0"/>
              <a:t>“excess delay” : all values computed </a:t>
            </a:r>
            <a:r>
              <a:rPr lang="en-US" altLang="zh-TW" b="1" dirty="0"/>
              <a:t>relative </a:t>
            </a:r>
            <a:r>
              <a:rPr lang="en-US" altLang="zh-TW" dirty="0"/>
              <a:t>to the time of first signal arrival </a:t>
            </a:r>
            <a:r>
              <a:rPr lang="en-US" altLang="zh-TW" dirty="0" err="1"/>
              <a:t>τ</a:t>
            </a:r>
            <a:r>
              <a:rPr lang="en-US" altLang="zh-TW" i="1" baseline="-25000" dirty="0" err="1"/>
              <a:t>o</a:t>
            </a:r>
            <a:endParaRPr lang="en-US" altLang="zh-TW" i="1" baseline="-25000" dirty="0"/>
          </a:p>
          <a:p>
            <a:pPr lvl="1"/>
            <a:endParaRPr lang="en-US" altLang="zh-TW" i="1" baseline="-25000" dirty="0"/>
          </a:p>
          <a:p>
            <a:pPr lvl="1"/>
            <a:r>
              <a:rPr lang="en-US" altLang="zh-TW" dirty="0"/>
              <a:t>mean excess delay →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RMS delay spread →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TW" dirty="0"/>
              <a:t>	where Avg  ( τ</a:t>
            </a:r>
            <a:r>
              <a:rPr lang="en-US" altLang="zh-TW" i="1" baseline="30000" dirty="0"/>
              <a:t>2</a:t>
            </a:r>
            <a:r>
              <a:rPr lang="en-US" altLang="zh-TW" dirty="0"/>
              <a:t>) is the same computation as above as used for     except that</a:t>
            </a:r>
            <a:endParaRPr lang="en-US" altLang="zh-TW" i="1" dirty="0"/>
          </a:p>
          <a:p>
            <a:pPr lvl="2"/>
            <a:r>
              <a:rPr lang="en-US" altLang="zh-TW" dirty="0"/>
              <a:t>A simple way to explain this is “the range of time within which most of the delayed signals arrive”</a:t>
            </a:r>
          </a:p>
        </p:txBody>
      </p:sp>
      <p:pic>
        <p:nvPicPr>
          <p:cNvPr id="79876" name="Picture 4">
            <a:extLst>
              <a:ext uri="{FF2B5EF4-FFF2-40B4-BE49-F238E27FC236}">
                <a16:creationId xmlns:a16="http://schemas.microsoft.com/office/drawing/2014/main" id="{D4B88239-A4BB-4AC2-AB33-B2E2A4D29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1075" y="2372218"/>
            <a:ext cx="1728788" cy="120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9877" name="Picture 5">
            <a:extLst>
              <a:ext uri="{FF2B5EF4-FFF2-40B4-BE49-F238E27FC236}">
                <a16:creationId xmlns:a16="http://schemas.microsoft.com/office/drawing/2014/main" id="{29455701-E7A5-437A-8895-52F37573F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2763" y="3912887"/>
            <a:ext cx="2665412" cy="547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9878" name="Picture 6">
            <a:extLst>
              <a:ext uri="{FF2B5EF4-FFF2-40B4-BE49-F238E27FC236}">
                <a16:creationId xmlns:a16="http://schemas.microsoft.com/office/drawing/2014/main" id="{94FAA762-B511-4C27-8C2A-A4A193482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2763" y="4840889"/>
            <a:ext cx="1368425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9879" name="Picture 7">
            <a:extLst>
              <a:ext uri="{FF2B5EF4-FFF2-40B4-BE49-F238E27FC236}">
                <a16:creationId xmlns:a16="http://schemas.microsoft.com/office/drawing/2014/main" id="{CD6A1E10-1F61-4CDE-8808-6482D6445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4888210"/>
            <a:ext cx="362456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C3E7F80-FC07-43F4-B7E1-339AA059B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CD86B-E47E-4A58-8A7B-0ADCBDC7B13C}" type="slidenum">
              <a:rPr lang="en-US" altLang="zh-TW"/>
              <a:pPr/>
              <a:t>25</a:t>
            </a:fld>
            <a:endParaRPr lang="en-US" altLang="zh-TW"/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5AE7849D-7F66-4078-9EA9-C69CAAD016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981075"/>
            <a:ext cx="8001000" cy="5400675"/>
          </a:xfrm>
        </p:spPr>
        <p:txBody>
          <a:bodyPr/>
          <a:lstStyle/>
          <a:p>
            <a:r>
              <a:rPr lang="en-US" altLang="zh-TW" dirty="0"/>
              <a:t>τ and </a:t>
            </a:r>
            <a:r>
              <a:rPr lang="en-US" altLang="zh-TW" dirty="0" err="1"/>
              <a:t>σ</a:t>
            </a:r>
            <a:r>
              <a:rPr lang="en-US" altLang="zh-TW" baseline="-25000" dirty="0" err="1"/>
              <a:t>τ</a:t>
            </a:r>
            <a:r>
              <a:rPr lang="en-US" altLang="zh-TW" dirty="0"/>
              <a:t> provide a measure of propagation delay of interfering signals</a:t>
            </a:r>
          </a:p>
          <a:p>
            <a:endParaRPr lang="en-US" altLang="zh-TW" sz="1600" dirty="0"/>
          </a:p>
          <a:p>
            <a:pPr lvl="1"/>
            <a:r>
              <a:rPr lang="en-US" altLang="zh-TW" dirty="0"/>
              <a:t>Then give an indication of how time smearing might occur for the signal.</a:t>
            </a:r>
          </a:p>
          <a:p>
            <a:pPr lvl="1"/>
            <a:r>
              <a:rPr lang="en-US" altLang="zh-TW" dirty="0"/>
              <a:t>A small </a:t>
            </a:r>
            <a:r>
              <a:rPr lang="en-US" altLang="zh-TW" dirty="0" err="1"/>
              <a:t>σ</a:t>
            </a:r>
            <a:r>
              <a:rPr lang="en-US" altLang="zh-TW" baseline="-25000" dirty="0" err="1"/>
              <a:t>τ</a:t>
            </a:r>
            <a:r>
              <a:rPr lang="en-US" altLang="zh-TW" dirty="0"/>
              <a:t> is desired.</a:t>
            </a:r>
          </a:p>
          <a:p>
            <a:pPr lvl="1"/>
            <a:r>
              <a:rPr lang="en-US" altLang="zh-TW" dirty="0"/>
              <a:t>The noise threshold is used to differentiate between received multipath components and thermal noise</a:t>
            </a:r>
          </a:p>
          <a:p>
            <a:endParaRPr lang="en-US" altLang="zh-TW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0773031-FD6C-4315-9F21-2E541F594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80A2A-DE27-4739-ACD8-17A30E8D97F4}" type="slidenum">
              <a:rPr lang="en-US" altLang="zh-TW"/>
              <a:pPr/>
              <a:t>26</a:t>
            </a:fld>
            <a:endParaRPr lang="en-US" altLang="zh-TW"/>
          </a:p>
        </p:txBody>
      </p:sp>
      <p:pic>
        <p:nvPicPr>
          <p:cNvPr id="84995" name="Picture 3">
            <a:extLst>
              <a:ext uri="{FF2B5EF4-FFF2-40B4-BE49-F238E27FC236}">
                <a16:creationId xmlns:a16="http://schemas.microsoft.com/office/drawing/2014/main" id="{0498A4C5-D21C-47DC-90E0-FA9334B7541A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750" y="1557338"/>
            <a:ext cx="8001000" cy="3240087"/>
          </a:xfr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FD6D2A3-EC67-4F7F-8A3B-380E3DB31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60A45-7A68-4F0B-8FA8-64ACBE83D43F}" type="slidenum">
              <a:rPr lang="en-US" altLang="zh-TW"/>
              <a:pPr/>
              <a:t>27</a:t>
            </a:fld>
            <a:endParaRPr lang="en-US" altLang="zh-TW"/>
          </a:p>
        </p:txBody>
      </p:sp>
      <p:pic>
        <p:nvPicPr>
          <p:cNvPr id="86020" name="Picture 4">
            <a:extLst>
              <a:ext uri="{FF2B5EF4-FFF2-40B4-BE49-F238E27FC236}">
                <a16:creationId xmlns:a16="http://schemas.microsoft.com/office/drawing/2014/main" id="{AF8F7A69-31CE-41D6-B8E9-A245AE751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282" y="1058862"/>
            <a:ext cx="7416800" cy="474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85900" y="1208591"/>
            <a:ext cx="6172200" cy="2895600"/>
          </a:xfrm>
          <a:prstGeom prst="rect">
            <a:avLst/>
          </a:prstGeom>
          <a:solidFill>
            <a:schemeClr val="bg1">
              <a:alpha val="50195"/>
            </a:schemeClr>
          </a:solidFill>
          <a:ln w="12700" cap="sq">
            <a:solidFill>
              <a:schemeClr val="bg1"/>
            </a:solidFill>
            <a:miter lim="800000"/>
            <a:headEnd type="none" w="sm" len="sm"/>
            <a:tailEnd type="none" w="sm" len="sm"/>
          </a:ln>
        </p:spPr>
      </p:pic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0" y="691009"/>
            <a:ext cx="5791200" cy="5794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dirty="0"/>
              <a:t> </a:t>
            </a:r>
            <a:r>
              <a:rPr lang="en-US" sz="3200" b="1" u="sng" dirty="0">
                <a:solidFill>
                  <a:schemeClr val="tx2"/>
                </a:solidFill>
              </a:rPr>
              <a:t>Flat Fading</a:t>
            </a:r>
            <a:endParaRPr lang="en-US" sz="3200" b="1" u="sng" dirty="0"/>
          </a:p>
        </p:txBody>
      </p:sp>
      <p:sp>
        <p:nvSpPr>
          <p:cNvPr id="33796" name="Text Box 5"/>
          <p:cNvSpPr txBox="1">
            <a:spLocks noChangeArrowheads="1"/>
          </p:cNvSpPr>
          <p:nvPr/>
        </p:nvSpPr>
        <p:spPr bwMode="auto">
          <a:xfrm>
            <a:off x="1187624" y="4005064"/>
            <a:ext cx="7467600" cy="412420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Algerian" pitchFamily="82" charset="0"/>
              </a:rPr>
              <a:t> </a:t>
            </a:r>
            <a:r>
              <a:rPr lang="en-US" sz="2400" dirty="0"/>
              <a:t>Flat Fading is caused by absorbers between the two antennas and is countered by antenna placement and transmit power level.</a:t>
            </a:r>
          </a:p>
          <a:p>
            <a:pPr marL="0" lvl="2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2400" dirty="0"/>
              <a:t>Bandwidth of signal &lt; bandwidth of channel.</a:t>
            </a:r>
          </a:p>
          <a:p>
            <a:pPr marL="0" lvl="2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2400" dirty="0"/>
              <a:t>Delay Spread is less than the symbol period.</a:t>
            </a:r>
          </a:p>
          <a:p>
            <a:pPr algn="ctr">
              <a:spcBef>
                <a:spcPct val="50000"/>
              </a:spcBef>
            </a:pPr>
            <a:endParaRPr lang="en-US" sz="2400" dirty="0"/>
          </a:p>
          <a:p>
            <a:pPr algn="ctr">
              <a:spcBef>
                <a:spcPct val="50000"/>
              </a:spcBef>
              <a:buFont typeface="Arial" pitchFamily="34" charset="0"/>
              <a:buChar char="•"/>
            </a:pPr>
            <a:endParaRPr lang="en-US" sz="2400" dirty="0"/>
          </a:p>
          <a:p>
            <a:pPr algn="ctr">
              <a:spcBef>
                <a:spcPct val="50000"/>
              </a:spcBef>
            </a:pPr>
            <a:endParaRPr lang="en-US" sz="2800" dirty="0"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2536825" y="914400"/>
            <a:ext cx="4473575" cy="5794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sz="3200"/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1600200" y="646173"/>
            <a:ext cx="5943600" cy="5794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u="sng" dirty="0">
                <a:solidFill>
                  <a:schemeClr val="tx2"/>
                </a:solidFill>
              </a:rPr>
              <a:t>Frequency Selective Fading</a:t>
            </a:r>
          </a:p>
        </p:txBody>
      </p:sp>
      <p:pic>
        <p:nvPicPr>
          <p:cNvPr id="3482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1321561"/>
            <a:ext cx="6480720" cy="309634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  <p:sp>
        <p:nvSpPr>
          <p:cNvPr id="11" name="TextBox 10"/>
          <p:cNvSpPr txBox="1"/>
          <p:nvPr/>
        </p:nvSpPr>
        <p:spPr>
          <a:xfrm>
            <a:off x="1259632" y="4221088"/>
            <a:ext cx="756084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/>
              <a:t>Frequency selective fading is caused by the reflectors between the transmitter  and the receiver creating multi-path effects.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Bandwidth of signal &gt; bandwidth of channel.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Delay Spread is greater than the symbol period</a:t>
            </a:r>
          </a:p>
          <a:p>
            <a:endParaRPr lang="en-IN" dirty="0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49266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/>
              <a:t>DOPPLER SPREAD</a:t>
            </a: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9919"/>
            <a:ext cx="8229600" cy="4389120"/>
          </a:xfrm>
        </p:spPr>
        <p:txBody>
          <a:bodyPr/>
          <a:lstStyle/>
          <a:p>
            <a:r>
              <a:rPr lang="en-US" sz="2800" dirty="0" err="1"/>
              <a:t>Def</a:t>
            </a:r>
            <a:r>
              <a:rPr lang="en-US" sz="2800" u="sng" dirty="0" err="1"/>
              <a:t>n</a:t>
            </a:r>
            <a:r>
              <a:rPr lang="en-US" sz="2800" dirty="0"/>
              <a:t> : Time varying fading due to the motion of a scatter or the motion of the transmitter or receiver or both results in </a:t>
            </a:r>
            <a:r>
              <a:rPr lang="en-US" sz="2800" b="1" dirty="0"/>
              <a:t>Doppler spread.</a:t>
            </a:r>
          </a:p>
          <a:p>
            <a:r>
              <a:rPr lang="en-US" sz="2800" dirty="0"/>
              <a:t> It is caused by TIME SELECTIVE FADING.</a:t>
            </a:r>
          </a:p>
          <a:p>
            <a:pPr lvl="1">
              <a:buNone/>
            </a:pPr>
            <a:r>
              <a:rPr lang="en-US" dirty="0"/>
              <a:t>	</a:t>
            </a:r>
            <a:r>
              <a:rPr lang="en-US" dirty="0" err="1"/>
              <a:t>i.e</a:t>
            </a:r>
            <a:r>
              <a:rPr lang="en-US" dirty="0"/>
              <a:t> for a particular instance of time channel behaves as a fading channel and for rest it behaves as FLAT channel.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481854" y="5006033"/>
            <a:ext cx="439248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Fast fading </a:t>
            </a:r>
            <a:r>
              <a:rPr lang="en-US" dirty="0"/>
              <a:t>– channel impulse response changes rapidly within the symbol duration </a:t>
            </a:r>
          </a:p>
        </p:txBody>
      </p:sp>
      <p:sp>
        <p:nvSpPr>
          <p:cNvPr id="5" name="Rectangle 4"/>
          <p:cNvSpPr/>
          <p:nvPr/>
        </p:nvSpPr>
        <p:spPr>
          <a:xfrm>
            <a:off x="4494571" y="5006032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/>
              <a:t>Slow fading </a:t>
            </a:r>
            <a:r>
              <a:rPr lang="en-US" dirty="0"/>
              <a:t>– channel impulse response changes at a rate much slower than the transmitted symbol bandwidth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927" y="4369226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TYPES OF FADING ON BASIS OF DOPPLER SPREAD:</a:t>
            </a:r>
            <a:endParaRPr lang="en-IN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08688"/>
          </a:xfrm>
        </p:spPr>
        <p:txBody>
          <a:bodyPr>
            <a:normAutofit/>
          </a:bodyPr>
          <a:lstStyle/>
          <a:p>
            <a:r>
              <a:rPr lang="en-US" sz="4000" dirty="0"/>
              <a:t>EFFECT OF MOVEMENT</a:t>
            </a:r>
            <a:endParaRPr lang="en-IN" sz="4000" dirty="0"/>
          </a:p>
        </p:txBody>
      </p:sp>
      <p:pic>
        <p:nvPicPr>
          <p:cNvPr id="4" name="Picture 4" descr="C:\Classes\419\Multipath\JustFreq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735363"/>
            <a:ext cx="4653629" cy="3708723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5292080" y="1881565"/>
            <a:ext cx="370790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Here is a plot of the magnitude of fading as a function of time and frequency.</a:t>
            </a:r>
          </a:p>
          <a:p>
            <a:r>
              <a:rPr lang="en-US" sz="2400" dirty="0"/>
              <a:t> </a:t>
            </a:r>
          </a:p>
          <a:p>
            <a:r>
              <a:rPr lang="en-US" sz="2400" dirty="0"/>
              <a:t>In this case, the channel does not change much over time. It is a slowly fading channel.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924712"/>
          </a:xfrm>
        </p:spPr>
        <p:txBody>
          <a:bodyPr>
            <a:normAutofit/>
          </a:bodyPr>
          <a:lstStyle/>
          <a:p>
            <a:r>
              <a:rPr lang="en-US" sz="3600" dirty="0"/>
              <a:t>EFFECT OF MOVEMENT</a:t>
            </a:r>
            <a:endParaRPr lang="en-IN" sz="3600" dirty="0"/>
          </a:p>
        </p:txBody>
      </p:sp>
      <p:pic>
        <p:nvPicPr>
          <p:cNvPr id="4" name="Picture 1029" descr="C:\Classes\419\Multipath\JustTime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0107" y="2060848"/>
            <a:ext cx="4149202" cy="3077022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5148064" y="2564904"/>
            <a:ext cx="379211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Here is a plot of the magnitude of fading as a function of time and frequency.</a:t>
            </a:r>
          </a:p>
          <a:p>
            <a:endParaRPr lang="en-US" sz="2000" dirty="0"/>
          </a:p>
          <a:p>
            <a:r>
              <a:rPr lang="en-US" sz="2000" dirty="0"/>
              <a:t>In this case, the channel does not vary with frequency, it only varies over time.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08688"/>
          </a:xfrm>
        </p:spPr>
        <p:txBody>
          <a:bodyPr>
            <a:normAutofit/>
          </a:bodyPr>
          <a:lstStyle/>
          <a:p>
            <a:r>
              <a:rPr lang="en-US" sz="3600" dirty="0"/>
              <a:t>EFFECT OF MOVEMENT</a:t>
            </a:r>
            <a:endParaRPr lang="en-IN" sz="3600" dirty="0"/>
          </a:p>
        </p:txBody>
      </p:sp>
      <p:pic>
        <p:nvPicPr>
          <p:cNvPr id="4" name="Picture 1031" descr="C:\Classes\419\Multipath\both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568902"/>
            <a:ext cx="5486400" cy="4398962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5302424" y="1988840"/>
            <a:ext cx="338437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Here is a plot of the magnitude of fading as a function of time and frequency.</a:t>
            </a:r>
          </a:p>
          <a:p>
            <a:endParaRPr lang="en-US" sz="2400" dirty="0"/>
          </a:p>
          <a:p>
            <a:r>
              <a:rPr lang="en-US" sz="2400" dirty="0"/>
              <a:t>In this case, the channel varies both with frequency and time.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346142" y="-35177"/>
            <a:ext cx="77724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Doppler Effect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0" y="1143000"/>
            <a:ext cx="8458200" cy="1524000"/>
          </a:xfrm>
        </p:spPr>
        <p:txBody>
          <a:bodyPr/>
          <a:lstStyle/>
          <a:p>
            <a:r>
              <a:rPr lang="en-US" sz="2400" dirty="0"/>
              <a:t>When the receiver or transmitter are moving, the </a:t>
            </a:r>
            <a:r>
              <a:rPr lang="en-US" sz="2400" dirty="0">
                <a:solidFill>
                  <a:srgbClr val="FF0000"/>
                </a:solidFill>
              </a:rPr>
              <a:t>frequency</a:t>
            </a:r>
            <a:r>
              <a:rPr lang="en-US" sz="2400" dirty="0"/>
              <a:t> is shifted by  </a:t>
            </a:r>
            <a:r>
              <a:rPr lang="en-US" sz="2400" dirty="0">
                <a:sym typeface="Symbol" pitchFamily="18" charset="2"/>
              </a:rPr>
              <a:t>f = v/ cos(), v is velocity and  is wavelength</a:t>
            </a:r>
          </a:p>
        </p:txBody>
      </p:sp>
      <p:pic>
        <p:nvPicPr>
          <p:cNvPr id="16388" name="Picture 4" descr="C:\Classes\419\Multipath\doppler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400" y="2133600"/>
            <a:ext cx="2582863" cy="1017588"/>
          </a:xfrm>
          <a:prstGeom prst="rect">
            <a:avLst/>
          </a:prstGeom>
          <a:noFill/>
        </p:spPr>
      </p:pic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5105400" y="2133600"/>
            <a:ext cx="342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ym typeface="Symbol" pitchFamily="18" charset="2"/>
              </a:rPr>
              <a:t></a:t>
            </a:r>
          </a:p>
        </p:txBody>
      </p:sp>
      <p:graphicFrame>
        <p:nvGraphicFramePr>
          <p:cNvPr id="28672" name="Object 1024"/>
          <p:cNvGraphicFramePr>
            <a:graphicFrameLocks noChangeAspect="1"/>
          </p:cNvGraphicFramePr>
          <p:nvPr/>
        </p:nvGraphicFramePr>
        <p:xfrm>
          <a:off x="381000" y="3124200"/>
          <a:ext cx="4129088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42920" imgH="393480" progId="Equation.3">
                  <p:embed/>
                </p:oleObj>
              </mc:Choice>
              <mc:Fallback>
                <p:oleObj name="Equation" r:id="rId3" imgW="1942920" imgH="393480" progId="Equation.3">
                  <p:embed/>
                  <p:pic>
                    <p:nvPicPr>
                      <p:cNvPr id="28672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124200"/>
                        <a:ext cx="4129088" cy="836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4840288" y="3276600"/>
            <a:ext cx="28559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c is the speed of light.</a:t>
            </a:r>
          </a:p>
        </p:txBody>
      </p:sp>
      <p:pic>
        <p:nvPicPr>
          <p:cNvPr id="16392" name="Picture 8" descr="C:\Classes\419\Multipath\doppspec.g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29200" y="3962400"/>
            <a:ext cx="2571750" cy="2251075"/>
          </a:xfrm>
          <a:prstGeom prst="rect">
            <a:avLst/>
          </a:prstGeom>
          <a:noFill/>
        </p:spPr>
      </p:pic>
      <p:sp>
        <p:nvSpPr>
          <p:cNvPr id="16393" name="Text Box 9"/>
          <p:cNvSpPr txBox="1">
            <a:spLocks noChangeArrowheads="1"/>
          </p:cNvSpPr>
          <p:nvPr/>
        </p:nvSpPr>
        <p:spPr bwMode="auto">
          <a:xfrm>
            <a:off x="228600" y="4460875"/>
            <a:ext cx="4740275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If the the signal is sent at fc and passed through a fading channel, the spectrum of the received signal is:</a:t>
            </a:r>
          </a:p>
        </p:txBody>
      </p:sp>
      <p:sp>
        <p:nvSpPr>
          <p:cNvPr id="16394" name="Text Box 10"/>
          <p:cNvSpPr txBox="1">
            <a:spLocks noChangeArrowheads="1"/>
          </p:cNvSpPr>
          <p:nvPr/>
        </p:nvSpPr>
        <p:spPr bwMode="auto">
          <a:xfrm>
            <a:off x="1203325" y="6365875"/>
            <a:ext cx="6518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Thus, not only one frequency is received, but many.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baier2.gif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042257" y="1256575"/>
            <a:ext cx="4133850" cy="22955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823182" y="374316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Figure: Measured Doppler spread at 1800 </a:t>
            </a:r>
            <a:r>
              <a:rPr lang="en-IN" dirty="0" err="1"/>
              <a:t>MHz.</a:t>
            </a:r>
            <a:r>
              <a:rPr lang="en-IN" dirty="0"/>
              <a:t> Doppler spread = 60.3 Hz</a:t>
            </a:r>
          </a:p>
        </p:txBody>
      </p:sp>
      <p:sp>
        <p:nvSpPr>
          <p:cNvPr id="6" name="Rectangle 5"/>
          <p:cNvSpPr/>
          <p:nvPr/>
        </p:nvSpPr>
        <p:spPr>
          <a:xfrm>
            <a:off x="377688" y="1065510"/>
            <a:ext cx="464400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400" dirty="0"/>
              <a:t>If a sinusoidal signal is transmitted (represented by a spectral line in the frequency domain), after transmission over a fading channel, we will receive a power spectrum that is spread according to the image. 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552" y="4869160"/>
            <a:ext cx="75608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400" dirty="0"/>
              <a:t>The frequency range where the power spectrum is nonzero defines the Doppler spread.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395536" y="2924944"/>
            <a:ext cx="8467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GB" sz="2800" dirty="0"/>
              <a:t> </a:t>
            </a:r>
            <a:r>
              <a:rPr lang="en-GB" sz="2600" dirty="0">
                <a:solidFill>
                  <a:schemeClr val="accent2"/>
                </a:solidFill>
                <a:latin typeface="Arial" pitchFamily="34" charset="0"/>
              </a:rPr>
              <a:t>When </a:t>
            </a:r>
            <a:r>
              <a:rPr lang="en-GB" sz="2600" dirty="0">
                <a:solidFill>
                  <a:schemeClr val="accent2"/>
                </a:solidFill>
                <a:latin typeface="Arial" pitchFamily="34" charset="0"/>
                <a:sym typeface="Symbol" pitchFamily="18" charset="2"/>
              </a:rPr>
              <a:t> = 0</a:t>
            </a:r>
            <a:r>
              <a:rPr lang="en-GB" sz="2600" baseline="30000" dirty="0">
                <a:solidFill>
                  <a:schemeClr val="accent2"/>
                </a:solidFill>
                <a:latin typeface="Arial" pitchFamily="34" charset="0"/>
                <a:sym typeface="Symbol" pitchFamily="18" charset="2"/>
              </a:rPr>
              <a:t>o</a:t>
            </a:r>
            <a:r>
              <a:rPr lang="en-GB" sz="2600" dirty="0">
                <a:solidFill>
                  <a:schemeClr val="accent2"/>
                </a:solidFill>
                <a:latin typeface="Arial" pitchFamily="34" charset="0"/>
                <a:sym typeface="Symbol" pitchFamily="18" charset="2"/>
              </a:rPr>
              <a:t> (mobile moving away from the transmitter)</a:t>
            </a:r>
            <a:endParaRPr lang="en-GB" sz="2600" dirty="0">
              <a:solidFill>
                <a:schemeClr val="accent2"/>
              </a:solidFill>
              <a:latin typeface="Arial" pitchFamily="34" charset="0"/>
            </a:endParaRPr>
          </a:p>
        </p:txBody>
      </p:sp>
      <p:graphicFrame>
        <p:nvGraphicFramePr>
          <p:cNvPr id="29701" name="Object 5"/>
          <p:cNvGraphicFramePr>
            <a:graphicFrameLocks noChangeAspect="1"/>
          </p:cNvGraphicFramePr>
          <p:nvPr/>
        </p:nvGraphicFramePr>
        <p:xfrm>
          <a:off x="3275856" y="3573016"/>
          <a:ext cx="2222500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1760" imgH="228600" progId="Equation.3">
                  <p:embed/>
                </p:oleObj>
              </mc:Choice>
              <mc:Fallback>
                <p:oleObj name="Equation" r:id="rId2" imgW="761760" imgH="228600" progId="Equation.3">
                  <p:embed/>
                  <p:pic>
                    <p:nvPicPr>
                      <p:cNvPr id="297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3573016"/>
                        <a:ext cx="2222500" cy="668338"/>
                      </a:xfrm>
                      <a:prstGeom prst="rect">
                        <a:avLst/>
                      </a:prstGeom>
                      <a:solidFill>
                        <a:srgbClr val="CCFF66"/>
                      </a:solidFill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2" name="Text Box 6"/>
          <p:cNvSpPr txBox="1">
            <a:spLocks noChangeArrowheads="1"/>
          </p:cNvSpPr>
          <p:nvPr/>
        </p:nvSpPr>
        <p:spPr bwMode="auto">
          <a:xfrm>
            <a:off x="395536" y="4221088"/>
            <a:ext cx="64674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GB" sz="2800" dirty="0"/>
              <a:t> </a:t>
            </a:r>
            <a:r>
              <a:rPr lang="en-GB" sz="2600" dirty="0">
                <a:solidFill>
                  <a:schemeClr val="accent2"/>
                </a:solidFill>
                <a:latin typeface="Arial" pitchFamily="34" charset="0"/>
              </a:rPr>
              <a:t>When </a:t>
            </a:r>
            <a:r>
              <a:rPr lang="en-GB" sz="2600" dirty="0">
                <a:solidFill>
                  <a:schemeClr val="accent2"/>
                </a:solidFill>
                <a:latin typeface="Arial" pitchFamily="34" charset="0"/>
                <a:sym typeface="Symbol" pitchFamily="18" charset="2"/>
              </a:rPr>
              <a:t> = 90</a:t>
            </a:r>
            <a:r>
              <a:rPr lang="en-GB" sz="2600" baseline="30000" dirty="0">
                <a:solidFill>
                  <a:schemeClr val="accent2"/>
                </a:solidFill>
                <a:latin typeface="Arial" pitchFamily="34" charset="0"/>
                <a:sym typeface="Symbol" pitchFamily="18" charset="2"/>
              </a:rPr>
              <a:t>o</a:t>
            </a:r>
            <a:r>
              <a:rPr lang="en-GB" sz="2600" dirty="0">
                <a:solidFill>
                  <a:schemeClr val="accent2"/>
                </a:solidFill>
                <a:latin typeface="Arial" pitchFamily="34" charset="0"/>
                <a:sym typeface="Symbol" pitchFamily="18" charset="2"/>
              </a:rPr>
              <a:t> (I.e. mobile circling around)</a:t>
            </a:r>
          </a:p>
        </p:txBody>
      </p:sp>
      <p:graphicFrame>
        <p:nvGraphicFramePr>
          <p:cNvPr id="29703" name="Object 7"/>
          <p:cNvGraphicFramePr>
            <a:graphicFrameLocks noChangeAspect="1"/>
          </p:cNvGraphicFramePr>
          <p:nvPr/>
        </p:nvGraphicFramePr>
        <p:xfrm>
          <a:off x="3707904" y="4797152"/>
          <a:ext cx="14462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200" imgH="228600" progId="Equation.3">
                  <p:embed/>
                </p:oleObj>
              </mc:Choice>
              <mc:Fallback>
                <p:oleObj name="Equation" r:id="rId4" imgW="457200" imgH="228600" progId="Equation.3">
                  <p:embed/>
                  <p:pic>
                    <p:nvPicPr>
                      <p:cNvPr id="2970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4797152"/>
                        <a:ext cx="1446213" cy="723900"/>
                      </a:xfrm>
                      <a:prstGeom prst="rect">
                        <a:avLst/>
                      </a:prstGeom>
                      <a:solidFill>
                        <a:srgbClr val="CCFF66"/>
                      </a:solidFill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4" name="Text Box 8"/>
          <p:cNvSpPr txBox="1">
            <a:spLocks noChangeArrowheads="1"/>
          </p:cNvSpPr>
          <p:nvPr/>
        </p:nvSpPr>
        <p:spPr bwMode="auto">
          <a:xfrm>
            <a:off x="323528" y="5445224"/>
            <a:ext cx="84693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GB" sz="2800" dirty="0"/>
              <a:t> </a:t>
            </a:r>
            <a:r>
              <a:rPr lang="en-GB" sz="2600" dirty="0">
                <a:solidFill>
                  <a:schemeClr val="accent2"/>
                </a:solidFill>
                <a:latin typeface="Arial" pitchFamily="34" charset="0"/>
              </a:rPr>
              <a:t>When </a:t>
            </a:r>
            <a:r>
              <a:rPr lang="en-GB" sz="2600" dirty="0">
                <a:solidFill>
                  <a:schemeClr val="accent2"/>
                </a:solidFill>
                <a:latin typeface="Arial" pitchFamily="34" charset="0"/>
                <a:sym typeface="Symbol" pitchFamily="18" charset="2"/>
              </a:rPr>
              <a:t> = 180</a:t>
            </a:r>
            <a:r>
              <a:rPr lang="en-GB" sz="2600" baseline="30000" dirty="0">
                <a:solidFill>
                  <a:schemeClr val="accent2"/>
                </a:solidFill>
                <a:latin typeface="Arial" pitchFamily="34" charset="0"/>
                <a:sym typeface="Symbol" pitchFamily="18" charset="2"/>
              </a:rPr>
              <a:t>o</a:t>
            </a:r>
            <a:r>
              <a:rPr lang="en-GB" sz="2600" dirty="0">
                <a:solidFill>
                  <a:schemeClr val="accent2"/>
                </a:solidFill>
                <a:latin typeface="Arial" pitchFamily="34" charset="0"/>
                <a:sym typeface="Symbol" pitchFamily="18" charset="2"/>
              </a:rPr>
              <a:t> (mobile moving towards the transmitter)</a:t>
            </a:r>
            <a:endParaRPr lang="en-GB" sz="2600" dirty="0">
              <a:solidFill>
                <a:schemeClr val="accent2"/>
              </a:solidFill>
              <a:latin typeface="Arial" pitchFamily="34" charset="0"/>
            </a:endParaRPr>
          </a:p>
        </p:txBody>
      </p:sp>
      <p:graphicFrame>
        <p:nvGraphicFramePr>
          <p:cNvPr id="29705" name="Object 9"/>
          <p:cNvGraphicFramePr>
            <a:graphicFrameLocks noChangeAspect="1"/>
          </p:cNvGraphicFramePr>
          <p:nvPr/>
        </p:nvGraphicFramePr>
        <p:xfrm>
          <a:off x="3491880" y="6021288"/>
          <a:ext cx="2219325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61760" imgH="228600" progId="Equation.3">
                  <p:embed/>
                </p:oleObj>
              </mc:Choice>
              <mc:Fallback>
                <p:oleObj name="Equation" r:id="rId6" imgW="761760" imgH="228600" progId="Equation.3">
                  <p:embed/>
                  <p:pic>
                    <p:nvPicPr>
                      <p:cNvPr id="2970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880" y="6021288"/>
                        <a:ext cx="2219325" cy="666750"/>
                      </a:xfrm>
                      <a:prstGeom prst="rect">
                        <a:avLst/>
                      </a:prstGeom>
                      <a:solidFill>
                        <a:srgbClr val="CCFF66"/>
                      </a:solidFill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395536" y="548680"/>
            <a:ext cx="3146425" cy="884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dirty="0">
                <a:solidFill>
                  <a:schemeClr val="accent2"/>
                </a:solidFill>
                <a:latin typeface="Arial" pitchFamily="34" charset="0"/>
              </a:rPr>
              <a:t>The Doppler frequency</a:t>
            </a:r>
            <a:r>
              <a:rPr lang="en-GB" sz="2800" dirty="0"/>
              <a:t> </a:t>
            </a:r>
          </a:p>
        </p:txBody>
      </p:sp>
      <p:graphicFrame>
        <p:nvGraphicFramePr>
          <p:cNvPr id="11" name="Object 6"/>
          <p:cNvGraphicFramePr>
            <a:graphicFrameLocks noChangeAspect="1"/>
          </p:cNvGraphicFramePr>
          <p:nvPr/>
        </p:nvGraphicFramePr>
        <p:xfrm>
          <a:off x="3347864" y="476672"/>
          <a:ext cx="3890962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47560" imgH="393480" progId="Equation.3">
                  <p:embed/>
                </p:oleObj>
              </mc:Choice>
              <mc:Fallback>
                <p:oleObj name="Equation" r:id="rId8" imgW="1447560" imgH="393480" progId="Equation.3">
                  <p:embed/>
                  <p:pic>
                    <p:nvPicPr>
                      <p:cNvPr id="1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476672"/>
                        <a:ext cx="3890962" cy="860425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611560" y="1844824"/>
            <a:ext cx="2693987" cy="884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dirty="0">
                <a:solidFill>
                  <a:srgbClr val="FF3300"/>
                </a:solidFill>
                <a:latin typeface="Arial" pitchFamily="34" charset="0"/>
              </a:rPr>
              <a:t>The received signal  frequency</a:t>
            </a:r>
            <a:r>
              <a:rPr lang="en-GB" sz="2800" dirty="0">
                <a:solidFill>
                  <a:srgbClr val="FF3300"/>
                </a:solidFill>
              </a:rPr>
              <a:t> </a:t>
            </a:r>
          </a:p>
        </p:txBody>
      </p:sp>
      <p:graphicFrame>
        <p:nvGraphicFramePr>
          <p:cNvPr id="13" name="Object 8"/>
          <p:cNvGraphicFramePr>
            <a:graphicFrameLocks noChangeAspect="1"/>
          </p:cNvGraphicFramePr>
          <p:nvPr/>
        </p:nvGraphicFramePr>
        <p:xfrm>
          <a:off x="3804022" y="1895624"/>
          <a:ext cx="2974975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91880" imgH="228600" progId="Equation.3">
                  <p:embed/>
                </p:oleObj>
              </mc:Choice>
              <mc:Fallback>
                <p:oleObj name="Equation" r:id="rId10" imgW="1091880" imgH="228600" progId="Equation.3">
                  <p:embed/>
                  <p:pic>
                    <p:nvPicPr>
                      <p:cNvPr id="1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4022" y="1895624"/>
                        <a:ext cx="2974975" cy="544513"/>
                      </a:xfrm>
                      <a:prstGeom prst="rect">
                        <a:avLst/>
                      </a:prstGeom>
                      <a:solidFill>
                        <a:srgbClr val="CCFF66"/>
                      </a:solidFill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700832"/>
            <a:ext cx="7772400" cy="685800"/>
          </a:xfrm>
        </p:spPr>
        <p:txBody>
          <a:bodyPr>
            <a:noAutofit/>
          </a:bodyPr>
          <a:lstStyle/>
          <a:p>
            <a:br>
              <a:rPr lang="en-US" altLang="zh-CN" sz="3600" dirty="0">
                <a:ea typeface="SimSun" pitchFamily="2" charset="-122"/>
              </a:rPr>
            </a:br>
            <a:r>
              <a:rPr lang="en-US" altLang="zh-CN" sz="3600" dirty="0">
                <a:ea typeface="SimSun" pitchFamily="2" charset="-122"/>
              </a:rPr>
              <a:t>Doppler spread and coherence time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536" y="1628800"/>
            <a:ext cx="3810000" cy="1066800"/>
          </a:xfrm>
        </p:spPr>
        <p:txBody>
          <a:bodyPr>
            <a:noAutofit/>
          </a:bodyPr>
          <a:lstStyle/>
          <a:p>
            <a:r>
              <a:rPr lang="en-US" altLang="zh-CN" sz="2400" dirty="0">
                <a:ea typeface="SimSun" pitchFamily="2" charset="-122"/>
              </a:rPr>
              <a:t>Doppler spread and coherence time (</a:t>
            </a:r>
            <a:r>
              <a:rPr lang="en-US" altLang="zh-CN" sz="2400" dirty="0" err="1">
                <a:ea typeface="SimSun" pitchFamily="2" charset="-122"/>
              </a:rPr>
              <a:t>T</a:t>
            </a:r>
            <a:r>
              <a:rPr lang="en-US" altLang="zh-CN" sz="2400" baseline="-25000" dirty="0" err="1">
                <a:ea typeface="SimSun" pitchFamily="2" charset="-122"/>
              </a:rPr>
              <a:t>c</a:t>
            </a:r>
            <a:r>
              <a:rPr lang="en-US" altLang="zh-CN" sz="2400" dirty="0">
                <a:ea typeface="SimSun" pitchFamily="2" charset="-122"/>
              </a:rPr>
              <a:t>) are inversely proportional</a:t>
            </a:r>
          </a:p>
          <a:p>
            <a:pPr lvl="1"/>
            <a:endParaRPr lang="zh-CN" altLang="en-US" dirty="0">
              <a:ea typeface="SimSun" pitchFamily="2" charset="-122"/>
            </a:endParaRPr>
          </a:p>
        </p:txBody>
      </p:sp>
      <p:graphicFrame>
        <p:nvGraphicFramePr>
          <p:cNvPr id="84996" name="Rectangle 4"/>
          <p:cNvGraphicFramePr>
            <a:graphicFrameLocks noGrp="1"/>
          </p:cNvGraphicFramePr>
          <p:nvPr>
            <p:ph sz="quarter" idx="2"/>
          </p:nvPr>
        </p:nvGraphicFramePr>
        <p:xfrm>
          <a:off x="6553200" y="2209800"/>
          <a:ext cx="0" cy="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84996" name="Rectangle 4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209800"/>
                        <a:ext cx="0" cy="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7" name="Object 5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896293022"/>
              </p:ext>
            </p:extLst>
          </p:nvPr>
        </p:nvGraphicFramePr>
        <p:xfrm>
          <a:off x="4427984" y="1483687"/>
          <a:ext cx="1440160" cy="15604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480" imgH="660240" progId="Equation.3">
                  <p:embed/>
                </p:oleObj>
              </mc:Choice>
              <mc:Fallback>
                <p:oleObj name="Equation" r:id="rId3" imgW="609480" imgH="660240" progId="Equation.3">
                  <p:embed/>
                  <p:pic>
                    <p:nvPicPr>
                      <p:cNvPr id="849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4" y="1483687"/>
                        <a:ext cx="1440160" cy="156041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2310368" y="4656733"/>
            <a:ext cx="4160838" cy="1779588"/>
            <a:chOff x="2083" y="2592"/>
            <a:chExt cx="2621" cy="1121"/>
          </a:xfrm>
        </p:grpSpPr>
        <p:graphicFrame>
          <p:nvGraphicFramePr>
            <p:cNvPr id="85002" name="Object 10"/>
            <p:cNvGraphicFramePr>
              <a:graphicFrameLocks noChangeAspect="1"/>
            </p:cNvGraphicFramePr>
            <p:nvPr/>
          </p:nvGraphicFramePr>
          <p:xfrm>
            <a:off x="2083" y="2592"/>
            <a:ext cx="928" cy="11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736560" imgH="888840" progId="Equation.3">
                    <p:embed/>
                  </p:oleObj>
                </mc:Choice>
                <mc:Fallback>
                  <p:oleObj name="Equation" r:id="rId5" imgW="736560" imgH="888840" progId="Equation.3">
                    <p:embed/>
                    <p:pic>
                      <p:nvPicPr>
                        <p:cNvPr id="85002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3" y="2592"/>
                          <a:ext cx="928" cy="11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5003" name="Text Box 11"/>
            <p:cNvSpPr txBox="1">
              <a:spLocks noChangeArrowheads="1"/>
            </p:cNvSpPr>
            <p:nvPr/>
          </p:nvSpPr>
          <p:spPr bwMode="auto">
            <a:xfrm>
              <a:off x="3420" y="2841"/>
              <a:ext cx="12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dirty="0">
                  <a:latin typeface="Arial" pitchFamily="34" charset="0"/>
                </a:rPr>
                <a:t>For 0.5 correlation</a:t>
              </a:r>
            </a:p>
          </p:txBody>
        </p:sp>
      </p:grpSp>
      <p:sp>
        <p:nvSpPr>
          <p:cNvPr id="85004" name="Text Box 12"/>
          <p:cNvSpPr txBox="1">
            <a:spLocks noChangeArrowheads="1"/>
          </p:cNvSpPr>
          <p:nvPr/>
        </p:nvSpPr>
        <p:spPr bwMode="auto">
          <a:xfrm>
            <a:off x="5292080" y="2382770"/>
            <a:ext cx="345638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i="1" dirty="0" err="1"/>
              <a:t>f</a:t>
            </a:r>
            <a:r>
              <a:rPr lang="en-US" sz="2400" i="1" baseline="-25000" dirty="0" err="1"/>
              <a:t>rms</a:t>
            </a:r>
            <a:r>
              <a:rPr lang="en-US" sz="2400" i="1" dirty="0"/>
              <a:t> </a:t>
            </a:r>
            <a:r>
              <a:rPr lang="en-US" sz="2400" dirty="0">
                <a:latin typeface="Arial" pitchFamily="34" charset="0"/>
              </a:rPr>
              <a:t>is the </a:t>
            </a:r>
            <a:r>
              <a:rPr lang="en-US" sz="2400" dirty="0" err="1">
                <a:latin typeface="Arial" pitchFamily="34" charset="0"/>
              </a:rPr>
              <a:t>rms</a:t>
            </a:r>
            <a:r>
              <a:rPr lang="en-US" sz="2400" dirty="0">
                <a:latin typeface="Arial" pitchFamily="34" charset="0"/>
              </a:rPr>
              <a:t> value of maximum </a:t>
            </a:r>
            <a:r>
              <a:rPr lang="en-US" sz="2400" dirty="0" err="1">
                <a:latin typeface="Arial" pitchFamily="34" charset="0"/>
              </a:rPr>
              <a:t>doppler</a:t>
            </a:r>
            <a:r>
              <a:rPr lang="en-US" sz="2400" dirty="0">
                <a:latin typeface="Arial" pitchFamily="34" charset="0"/>
              </a:rPr>
              <a:t> shift</a:t>
            </a:r>
            <a:endParaRPr lang="en-US" sz="2400" i="1" dirty="0">
              <a:latin typeface="Arial" pitchFamily="34" charset="0"/>
            </a:endParaRPr>
          </a:p>
        </p:txBody>
      </p:sp>
      <p:graphicFrame>
        <p:nvGraphicFramePr>
          <p:cNvPr id="1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911614"/>
              </p:ext>
            </p:extLst>
          </p:nvPr>
        </p:nvGraphicFramePr>
        <p:xfrm>
          <a:off x="4317455" y="3347765"/>
          <a:ext cx="1440159" cy="1530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22080" imgH="660240" progId="Equation.3">
                  <p:embed/>
                </p:oleObj>
              </mc:Choice>
              <mc:Fallback>
                <p:oleObj name="Equation" r:id="rId7" imgW="622080" imgH="660240" progId="Equation.3">
                  <p:embed/>
                  <p:pic>
                    <p:nvPicPr>
                      <p:cNvPr id="13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7455" y="3347765"/>
                        <a:ext cx="1440159" cy="153017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619672" y="3645024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Given as,</a:t>
            </a:r>
            <a:endParaRPr lang="en-IN" dirty="0"/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259632" y="260648"/>
            <a:ext cx="4824536" cy="1143000"/>
          </a:xfrm>
        </p:spPr>
        <p:txBody>
          <a:bodyPr>
            <a:normAutofit/>
          </a:bodyPr>
          <a:lstStyle/>
          <a:p>
            <a:r>
              <a:rPr lang="en-US" sz="3600" dirty="0"/>
              <a:t>Doppler Effect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00808"/>
            <a:ext cx="8229600" cy="4389120"/>
          </a:xfrm>
        </p:spPr>
        <p:txBody>
          <a:bodyPr/>
          <a:lstStyle/>
          <a:p>
            <a:r>
              <a:rPr lang="en-US" dirty="0"/>
              <a:t>To mitigate the Doppler effect:</a:t>
            </a:r>
          </a:p>
          <a:p>
            <a:endParaRPr lang="en-US" dirty="0"/>
          </a:p>
          <a:p>
            <a:pPr lvl="1"/>
            <a:r>
              <a:rPr lang="en-US" dirty="0"/>
              <a:t>Use low frequencies</a:t>
            </a:r>
          </a:p>
          <a:p>
            <a:pPr lvl="1"/>
            <a:r>
              <a:rPr lang="en-US" dirty="0"/>
              <a:t>Transmit in bursts so the channel is constant during the burst.</a:t>
            </a:r>
          </a:p>
          <a:p>
            <a:pPr lvl="1"/>
            <a:r>
              <a:rPr lang="en-US" dirty="0"/>
              <a:t>Include training sequences on each frame so the channel can be re-estimated for each transmission.</a:t>
            </a:r>
          </a:p>
          <a:p>
            <a:pPr lvl="1"/>
            <a:r>
              <a:rPr lang="en-US" dirty="0"/>
              <a:t>Do move – indoor use only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940676C-2A7D-43CE-B78F-0331E63E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3FD07-D554-400E-9572-99A1E50DDCBA}" type="slidenum">
              <a:rPr lang="en-US" altLang="zh-TW"/>
              <a:pPr/>
              <a:t>39</a:t>
            </a:fld>
            <a:endParaRPr lang="en-US" altLang="zh-TW"/>
          </a:p>
        </p:txBody>
      </p:sp>
      <p:sp>
        <p:nvSpPr>
          <p:cNvPr id="101378" name="Rectangle 2">
            <a:extLst>
              <a:ext uri="{FF2B5EF4-FFF2-40B4-BE49-F238E27FC236}">
                <a16:creationId xmlns:a16="http://schemas.microsoft.com/office/drawing/2014/main" id="{60056DAE-3B20-487D-894D-319E8F80FE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/>
              <a:t>illustrates types of small-scale fading</a:t>
            </a:r>
          </a:p>
        </p:txBody>
      </p:sp>
      <p:pic>
        <p:nvPicPr>
          <p:cNvPr id="101380" name="Picture 4" descr="TMP13">
            <a:extLst>
              <a:ext uri="{FF2B5EF4-FFF2-40B4-BE49-F238E27FC236}">
                <a16:creationId xmlns:a16="http://schemas.microsoft.com/office/drawing/2014/main" id="{1467929B-2942-47E1-8B9B-5453D4AF9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692150"/>
            <a:ext cx="8610600" cy="566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7">
            <a:extLst>
              <a:ext uri="{FF2B5EF4-FFF2-40B4-BE49-F238E27FC236}">
                <a16:creationId xmlns:a16="http://schemas.microsoft.com/office/drawing/2014/main" id="{54B52B0E-CA50-CC62-8029-D6E1C43A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2B2DC-949C-47A1-BA0D-210764F4F785}" type="slidenum">
              <a:rPr lang="en-US" altLang="zh-TW"/>
              <a:pPr/>
              <a:t>40</a:t>
            </a:fld>
            <a:endParaRPr lang="en-US" altLang="zh-TW"/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52A2FAB5-5438-0ABA-70A5-60B810D39A7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692150"/>
            <a:ext cx="8353425" cy="5689600"/>
          </a:xfrm>
        </p:spPr>
        <p:txBody>
          <a:bodyPr>
            <a:normAutofit lnSpcReduction="10000"/>
          </a:bodyPr>
          <a:lstStyle/>
          <a:p>
            <a:pPr marL="571500" indent="-571500">
              <a:lnSpc>
                <a:spcPct val="90000"/>
              </a:lnSpc>
              <a:buFont typeface="Wingdings" panose="05000000000000000000" pitchFamily="2" charset="2"/>
              <a:buAutoNum type="arabicParenR"/>
            </a:pPr>
            <a:r>
              <a:rPr lang="en-US" altLang="zh-TW" sz="2800" dirty="0"/>
              <a:t>Fading due to Multipath Delay</a:t>
            </a:r>
          </a:p>
          <a:p>
            <a:pPr marL="571500" indent="-571500">
              <a:lnSpc>
                <a:spcPct val="90000"/>
              </a:lnSpc>
              <a:buFont typeface="Wingdings" panose="05000000000000000000" pitchFamily="2" charset="2"/>
              <a:buAutoNum type="arabicParenR"/>
            </a:pPr>
            <a:endParaRPr lang="en-US" altLang="zh-TW" sz="1200" dirty="0"/>
          </a:p>
          <a:p>
            <a:pPr marL="966788" lvl="1" indent="-495300">
              <a:lnSpc>
                <a:spcPct val="9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zh-TW" sz="2800" dirty="0">
                <a:solidFill>
                  <a:srgbClr val="0000FF"/>
                </a:solidFill>
              </a:rPr>
              <a:t>A</a:t>
            </a:r>
            <a:r>
              <a:rPr lang="zh-TW" altLang="en-US" sz="2800" dirty="0">
                <a:solidFill>
                  <a:srgbClr val="0000FF"/>
                </a:solidFill>
              </a:rPr>
              <a:t>）</a:t>
            </a:r>
            <a:r>
              <a:rPr lang="en-US" altLang="zh-TW" sz="2800" dirty="0"/>
              <a:t>Flat Fading → </a:t>
            </a:r>
            <a:r>
              <a:rPr lang="en-US" altLang="zh-TW" sz="2800" i="1" dirty="0"/>
              <a:t>B</a:t>
            </a:r>
            <a:r>
              <a:rPr lang="en-US" altLang="zh-TW" sz="2800" i="1" baseline="-25000" dirty="0"/>
              <a:t>s</a:t>
            </a:r>
            <a:r>
              <a:rPr lang="en-US" altLang="zh-TW" sz="2500" i="1" dirty="0"/>
              <a:t> </a:t>
            </a:r>
            <a:r>
              <a:rPr lang="en-US" altLang="zh-TW" sz="2500" dirty="0"/>
              <a:t>&lt;&lt; </a:t>
            </a:r>
            <a:r>
              <a:rPr lang="en-US" altLang="zh-TW" sz="2500" i="1" dirty="0" err="1"/>
              <a:t>B</a:t>
            </a:r>
            <a:r>
              <a:rPr lang="en-US" altLang="zh-TW" sz="2500" i="1" baseline="-25000" dirty="0" err="1"/>
              <a:t>c</a:t>
            </a:r>
            <a:r>
              <a:rPr lang="en-US" altLang="zh-TW" sz="2500" i="1" dirty="0"/>
              <a:t> </a:t>
            </a:r>
            <a:r>
              <a:rPr lang="en-US" altLang="zh-TW" sz="2500" dirty="0"/>
              <a:t>or </a:t>
            </a:r>
            <a:r>
              <a:rPr lang="en-US" altLang="zh-TW" sz="2500" i="1" dirty="0"/>
              <a:t>T</a:t>
            </a:r>
            <a:r>
              <a:rPr lang="en-US" altLang="zh-TW" sz="2500" i="1" baseline="-25000" dirty="0"/>
              <a:t>s</a:t>
            </a:r>
            <a:r>
              <a:rPr lang="en-US" altLang="zh-TW" sz="2500" i="1" dirty="0"/>
              <a:t> </a:t>
            </a:r>
            <a:r>
              <a:rPr lang="en-US" altLang="zh-TW" sz="2500" dirty="0"/>
              <a:t>&gt;&gt;       </a:t>
            </a:r>
          </a:p>
          <a:p>
            <a:pPr marL="1347788" lvl="2" indent="-438150">
              <a:lnSpc>
                <a:spcPct val="90000"/>
              </a:lnSpc>
              <a:buFont typeface="Wingdings" panose="05000000000000000000" pitchFamily="2" charset="2"/>
              <a:buAutoNum type="alphaUcParenR"/>
            </a:pPr>
            <a:endParaRPr lang="en-US" altLang="zh-TW" sz="1000" dirty="0"/>
          </a:p>
          <a:p>
            <a:pPr marL="1347788" lvl="2" indent="-438150">
              <a:buFont typeface="Wingdings" panose="05000000000000000000" pitchFamily="2" charset="2"/>
              <a:buChar char="p"/>
            </a:pPr>
            <a:r>
              <a:rPr lang="en-US" altLang="zh-TW" sz="2200" dirty="0"/>
              <a:t> </a:t>
            </a:r>
          </a:p>
          <a:p>
            <a:pPr marL="1347788" lvl="2" indent="-438150">
              <a:buFont typeface="Wingdings" panose="05000000000000000000" pitchFamily="2" charset="2"/>
              <a:buChar char="p"/>
            </a:pPr>
            <a:r>
              <a:rPr lang="en-US" altLang="zh-TW" sz="2400" dirty="0"/>
              <a:t>signal fits easily within the bandwidth of the channel</a:t>
            </a:r>
          </a:p>
          <a:p>
            <a:pPr marL="1347788" lvl="2" indent="-438150">
              <a:lnSpc>
                <a:spcPct val="90000"/>
              </a:lnSpc>
              <a:buFont typeface="Wingdings" panose="05000000000000000000" pitchFamily="2" charset="2"/>
              <a:buChar char="p"/>
            </a:pPr>
            <a:r>
              <a:rPr lang="en-US" altLang="zh-TW" sz="2400" dirty="0"/>
              <a:t>channel BW &gt;&gt; signal BW </a:t>
            </a:r>
            <a:endParaRPr lang="en-US" altLang="zh-TW" sz="2400" i="1" dirty="0"/>
          </a:p>
          <a:p>
            <a:pPr marL="1347788" lvl="2" indent="-438150">
              <a:lnSpc>
                <a:spcPct val="90000"/>
              </a:lnSpc>
            </a:pPr>
            <a:endParaRPr lang="en-US" altLang="zh-TW" sz="2400" i="1" dirty="0"/>
          </a:p>
          <a:p>
            <a:pPr marL="1347788" lvl="2" indent="-438150">
              <a:lnSpc>
                <a:spcPct val="90000"/>
              </a:lnSpc>
            </a:pPr>
            <a:endParaRPr lang="en-US" altLang="zh-TW" sz="2400" i="1" dirty="0"/>
          </a:p>
          <a:p>
            <a:pPr marL="1347788" lvl="2" indent="-438150">
              <a:lnSpc>
                <a:spcPct val="90000"/>
              </a:lnSpc>
            </a:pPr>
            <a:endParaRPr lang="en-US" altLang="zh-TW" sz="2400" i="1" dirty="0"/>
          </a:p>
          <a:p>
            <a:pPr marL="1347788" lvl="2" indent="-43815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 i="1" dirty="0"/>
              <a:t>                            </a:t>
            </a:r>
          </a:p>
          <a:p>
            <a:pPr marL="1347788" lvl="2" indent="-43815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TW" sz="2400" i="1" dirty="0"/>
              <a:t>                                   </a:t>
            </a:r>
          </a:p>
          <a:p>
            <a:pPr marL="1347788" lvl="2" indent="-43815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TW" sz="2400" i="1" dirty="0"/>
              <a:t>                                     </a:t>
            </a:r>
            <a:endParaRPr lang="en-US" altLang="zh-TW" sz="2400" dirty="0"/>
          </a:p>
          <a:p>
            <a:pPr marL="1347788" lvl="2" indent="-438150">
              <a:lnSpc>
                <a:spcPct val="90000"/>
              </a:lnSpc>
            </a:pPr>
            <a:r>
              <a:rPr lang="en-US" altLang="zh-TW" sz="2400" dirty="0"/>
              <a:t>most commonly occurring type of fading</a:t>
            </a:r>
            <a:endParaRPr lang="en-US" altLang="zh-TW" sz="1900" dirty="0"/>
          </a:p>
        </p:txBody>
      </p:sp>
      <p:graphicFrame>
        <p:nvGraphicFramePr>
          <p:cNvPr id="102408" name="Object 8">
            <a:extLst>
              <a:ext uri="{FF2B5EF4-FFF2-40B4-BE49-F238E27FC236}">
                <a16:creationId xmlns:a16="http://schemas.microsoft.com/office/drawing/2014/main" id="{186CCB88-3766-67D8-2908-41282A9DB574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124075" y="1916113"/>
          <a:ext cx="129540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96880" imgH="228600" progId="Equation.DSMT4">
                  <p:embed/>
                </p:oleObj>
              </mc:Choice>
              <mc:Fallback>
                <p:oleObj name="Equation" r:id="rId3" imgW="596880" imgH="228600" progId="Equation.DSMT4">
                  <p:embed/>
                  <p:pic>
                    <p:nvPicPr>
                      <p:cNvPr id="102408" name="Object 8">
                        <a:extLst>
                          <a:ext uri="{FF2B5EF4-FFF2-40B4-BE49-F238E27FC236}">
                            <a16:creationId xmlns:a16="http://schemas.microsoft.com/office/drawing/2014/main" id="{186CCB88-3766-67D8-2908-41282A9DB5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1916113"/>
                        <a:ext cx="1295400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11" name="Object 11">
            <a:extLst>
              <a:ext uri="{FF2B5EF4-FFF2-40B4-BE49-F238E27FC236}">
                <a16:creationId xmlns:a16="http://schemas.microsoft.com/office/drawing/2014/main" id="{51306AD9-4111-6C5E-CC81-1B36E49A76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56325" y="1268413"/>
          <a:ext cx="477838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0440" imgH="228600" progId="Equation.DSMT4">
                  <p:embed/>
                </p:oleObj>
              </mc:Choice>
              <mc:Fallback>
                <p:oleObj name="Equation" r:id="rId5" imgW="190440" imgH="228600" progId="Equation.DSMT4">
                  <p:embed/>
                  <p:pic>
                    <p:nvPicPr>
                      <p:cNvPr id="102411" name="Object 11">
                        <a:extLst>
                          <a:ext uri="{FF2B5EF4-FFF2-40B4-BE49-F238E27FC236}">
                            <a16:creationId xmlns:a16="http://schemas.microsoft.com/office/drawing/2014/main" id="{51306AD9-4111-6C5E-CC81-1B36E49A76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1268413"/>
                        <a:ext cx="477838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412" name="Picture 12">
            <a:extLst>
              <a:ext uri="{FF2B5EF4-FFF2-40B4-BE49-F238E27FC236}">
                <a16:creationId xmlns:a16="http://schemas.microsoft.com/office/drawing/2014/main" id="{C981281F-B780-D9C1-7C45-35FC14FFA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3500438"/>
            <a:ext cx="4968875" cy="218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7">
            <a:extLst>
              <a:ext uri="{FF2B5EF4-FFF2-40B4-BE49-F238E27FC236}">
                <a16:creationId xmlns:a16="http://schemas.microsoft.com/office/drawing/2014/main" id="{EA6ED269-F3AE-7B2B-0C9B-62B0E7442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67B5B-2B98-450D-BCD8-D17ABE9B9FEE}" type="slidenum">
              <a:rPr lang="en-US" altLang="zh-TW"/>
              <a:pPr/>
              <a:t>41</a:t>
            </a:fld>
            <a:endParaRPr lang="en-US" altLang="zh-TW"/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B315445B-9876-2D95-0CE6-4654FE96A60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692150"/>
            <a:ext cx="8208963" cy="5689600"/>
          </a:xfrm>
        </p:spPr>
        <p:txBody>
          <a:bodyPr/>
          <a:lstStyle/>
          <a:p>
            <a:r>
              <a:rPr lang="en-US" altLang="zh-TW" sz="2800"/>
              <a:t>spectral properties of Tx signal are preserved</a:t>
            </a:r>
          </a:p>
          <a:p>
            <a:pPr lvl="1"/>
            <a:r>
              <a:rPr lang="en-US" altLang="zh-TW" sz="2400"/>
              <a:t>signal is called a </a:t>
            </a:r>
            <a:r>
              <a:rPr lang="en-US" altLang="zh-TW" sz="2400" i="1"/>
              <a:t>narrowband </a:t>
            </a:r>
            <a:r>
              <a:rPr lang="en-US" altLang="zh-TW" sz="2400"/>
              <a:t>channel, since the bandwidth of the signal is narrow with respect to the channel bandwidth</a:t>
            </a:r>
          </a:p>
          <a:p>
            <a:pPr lvl="1"/>
            <a:r>
              <a:rPr lang="en-US" altLang="zh-TW" sz="2400"/>
              <a:t>signal is not distorted</a:t>
            </a:r>
          </a:p>
          <a:p>
            <a:pPr lvl="1"/>
            <a:endParaRPr lang="en-US" altLang="zh-TW" sz="2200"/>
          </a:p>
          <a:p>
            <a:r>
              <a:rPr lang="en-US" altLang="zh-TW" sz="2800"/>
              <a:t>What does </a:t>
            </a:r>
            <a:r>
              <a:rPr lang="en-US" altLang="zh-TW" sz="2800" i="1"/>
              <a:t>T</a:t>
            </a:r>
            <a:r>
              <a:rPr lang="en-US" altLang="zh-TW" sz="2800" i="1" baseline="-25000"/>
              <a:t>s</a:t>
            </a:r>
            <a:r>
              <a:rPr lang="en-US" altLang="zh-TW" sz="2800" i="1"/>
              <a:t> </a:t>
            </a:r>
            <a:r>
              <a:rPr lang="en-US" altLang="zh-TW" sz="2800"/>
              <a:t>&gt;&gt;          mean?? </a:t>
            </a:r>
          </a:p>
          <a:p>
            <a:pPr lvl="1"/>
            <a:r>
              <a:rPr lang="en-US" altLang="zh-TW" sz="2400"/>
              <a:t>all multipath signals arrive at mobile Rx during 1 symbol period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TW" sz="2800"/>
              <a:t>∴ </a:t>
            </a:r>
            <a:r>
              <a:rPr lang="en-US" altLang="zh-TW" sz="2400"/>
              <a:t>Little intersymbol interference occurs (no multipath components arrive late to interfere with the next symbol)</a:t>
            </a:r>
          </a:p>
        </p:txBody>
      </p:sp>
      <p:graphicFrame>
        <p:nvGraphicFramePr>
          <p:cNvPr id="103428" name="Object 4">
            <a:extLst>
              <a:ext uri="{FF2B5EF4-FFF2-40B4-BE49-F238E27FC236}">
                <a16:creationId xmlns:a16="http://schemas.microsoft.com/office/drawing/2014/main" id="{CB52BB7F-A344-AD89-152A-9F67D75BE30F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3563938" y="3213100"/>
          <a:ext cx="47942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0440" imgH="228600" progId="Equation.DSMT4">
                  <p:embed/>
                </p:oleObj>
              </mc:Choice>
              <mc:Fallback>
                <p:oleObj name="Equation" r:id="rId3" imgW="190440" imgH="228600" progId="Equation.DSMT4">
                  <p:embed/>
                  <p:pic>
                    <p:nvPicPr>
                      <p:cNvPr id="103428" name="Object 4">
                        <a:extLst>
                          <a:ext uri="{FF2B5EF4-FFF2-40B4-BE49-F238E27FC236}">
                            <a16:creationId xmlns:a16="http://schemas.microsoft.com/office/drawing/2014/main" id="{CB52BB7F-A344-AD89-152A-9F67D75BE3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3213100"/>
                        <a:ext cx="479425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C946576-60F7-E3E2-82B4-C65AB34E5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5BD3A-4BB7-4862-AE17-55990171F02B}" type="slidenum">
              <a:rPr lang="en-US" altLang="zh-TW"/>
              <a:pPr/>
              <a:t>42</a:t>
            </a:fld>
            <a:endParaRPr lang="en-US" altLang="zh-TW"/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980448DD-6717-AE05-51E6-BE4CCD5D76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105476" name="Picture 4">
            <a:extLst>
              <a:ext uri="{FF2B5EF4-FFF2-40B4-BE49-F238E27FC236}">
                <a16:creationId xmlns:a16="http://schemas.microsoft.com/office/drawing/2014/main" id="{9176BFAD-4CA3-25BE-E431-AD83FE2BA6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143000"/>
            <a:ext cx="8305800" cy="4433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51CCA1E-281A-CB90-89FC-80ED5C009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B8FC3-7ED6-49FB-8357-2300EEE20CFC}" type="slidenum">
              <a:rPr lang="en-US" altLang="zh-TW"/>
              <a:pPr/>
              <a:t>43</a:t>
            </a:fld>
            <a:endParaRPr lang="en-US" altLang="zh-TW"/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7335AE3E-7460-A9BA-3378-E18B37D34B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908050"/>
            <a:ext cx="8001000" cy="5473700"/>
          </a:xfrm>
        </p:spPr>
        <p:txBody>
          <a:bodyPr/>
          <a:lstStyle/>
          <a:p>
            <a:r>
              <a:rPr lang="en-US" altLang="zh-TW" dirty="0"/>
              <a:t>flat fading is generally considered </a:t>
            </a:r>
            <a:r>
              <a:rPr lang="en-US" altLang="zh-TW" b="1" dirty="0"/>
              <a:t>desirable</a:t>
            </a:r>
          </a:p>
          <a:p>
            <a:endParaRPr lang="en-US" altLang="zh-TW" sz="1200" b="1" dirty="0"/>
          </a:p>
          <a:p>
            <a:pPr lvl="1"/>
            <a:r>
              <a:rPr lang="en-US" altLang="zh-TW" dirty="0"/>
              <a:t>Even though fading in amplitude occurs, the signal is not distorted</a:t>
            </a:r>
          </a:p>
          <a:p>
            <a:pPr lvl="1"/>
            <a:r>
              <a:rPr lang="en-US" altLang="zh-TW" dirty="0"/>
              <a:t>Forward link → can increase mobile Rx gain (automatic gain control)</a:t>
            </a:r>
          </a:p>
          <a:p>
            <a:pPr lvl="1"/>
            <a:r>
              <a:rPr lang="en-US" altLang="zh-TW" dirty="0"/>
              <a:t>Reverse link → can increase mobile Tx power (power control)</a:t>
            </a:r>
          </a:p>
          <a:p>
            <a:pPr lvl="1"/>
            <a:r>
              <a:rPr lang="en-US" altLang="zh-TW" dirty="0"/>
              <a:t>Can use diversity techniques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7">
            <a:extLst>
              <a:ext uri="{FF2B5EF4-FFF2-40B4-BE49-F238E27FC236}">
                <a16:creationId xmlns:a16="http://schemas.microsoft.com/office/drawing/2014/main" id="{17088A41-E43A-C443-6733-7BD5A579B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7710-895A-4F38-8EF5-7E2B1B1A8E14}" type="slidenum">
              <a:rPr lang="en-US" altLang="zh-TW"/>
              <a:pPr/>
              <a:t>44</a:t>
            </a:fld>
            <a:endParaRPr lang="en-US" altLang="zh-TW"/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249939BB-18F5-B27D-E8B9-70C9BB3EBA3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836613"/>
            <a:ext cx="7993063" cy="5545137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None/>
            </a:pPr>
            <a:r>
              <a:rPr lang="en-US" altLang="zh-TW" sz="2600">
                <a:solidFill>
                  <a:srgbClr val="0000FF"/>
                </a:solidFill>
              </a:rPr>
              <a:t>B)</a:t>
            </a:r>
            <a:r>
              <a:rPr lang="en-US" altLang="zh-TW" sz="2600"/>
              <a:t> </a:t>
            </a:r>
            <a:r>
              <a:rPr lang="en-US" altLang="zh-TW" sz="2800"/>
              <a:t>Frequency Selective Fading → </a:t>
            </a:r>
            <a:r>
              <a:rPr lang="en-US" altLang="zh-TW" sz="2800" i="1"/>
              <a:t>B</a:t>
            </a:r>
            <a:r>
              <a:rPr lang="en-US" altLang="zh-TW" sz="2800" i="1" baseline="-25000"/>
              <a:t>s</a:t>
            </a:r>
            <a:r>
              <a:rPr lang="en-US" altLang="zh-TW" sz="2800" i="1"/>
              <a:t> </a:t>
            </a:r>
            <a:r>
              <a:rPr lang="en-US" altLang="zh-TW" sz="2800"/>
              <a:t>&gt; </a:t>
            </a:r>
            <a:r>
              <a:rPr lang="en-US" altLang="zh-TW" sz="2800" i="1"/>
              <a:t>B</a:t>
            </a:r>
            <a:r>
              <a:rPr lang="en-US" altLang="zh-TW" sz="2800" i="1" baseline="-25000"/>
              <a:t>c</a:t>
            </a:r>
            <a:r>
              <a:rPr lang="en-US" altLang="zh-TW" sz="2800" i="1"/>
              <a:t> </a:t>
            </a:r>
            <a:r>
              <a:rPr lang="en-US" altLang="zh-TW" sz="2800"/>
              <a:t>or </a:t>
            </a:r>
            <a:r>
              <a:rPr lang="en-US" altLang="zh-TW" sz="2800" i="1"/>
              <a:t>T</a:t>
            </a:r>
            <a:r>
              <a:rPr lang="en-US" altLang="zh-TW" sz="2800" i="1" baseline="-25000"/>
              <a:t>s</a:t>
            </a:r>
            <a:r>
              <a:rPr lang="en-US" altLang="zh-TW" sz="2800" i="1"/>
              <a:t> </a:t>
            </a:r>
            <a:r>
              <a:rPr lang="en-US" altLang="zh-TW" sz="2800"/>
              <a:t>&lt;  </a:t>
            </a:r>
            <a:endParaRPr lang="en-US" altLang="zh-TW" sz="2800" baseline="-25000"/>
          </a:p>
          <a:p>
            <a:pPr marL="571500" indent="-571500">
              <a:buFont typeface="Wingdings" panose="05000000000000000000" pitchFamily="2" charset="2"/>
              <a:buNone/>
            </a:pPr>
            <a:endParaRPr lang="en-US" altLang="zh-TW" sz="2400"/>
          </a:p>
          <a:p>
            <a:pPr marL="966788" lvl="1" indent="-495300"/>
            <a:r>
              <a:rPr lang="en-US" altLang="zh-TW" sz="2200" i="1"/>
              <a:t> </a:t>
            </a:r>
          </a:p>
          <a:p>
            <a:pPr marL="966788" lvl="1" indent="-495300"/>
            <a:r>
              <a:rPr lang="en-US" altLang="zh-TW" sz="2400" i="1"/>
              <a:t>B</a:t>
            </a:r>
            <a:r>
              <a:rPr lang="en-US" altLang="zh-TW" sz="2400" i="1" baseline="-25000"/>
              <a:t>s</a:t>
            </a:r>
            <a:r>
              <a:rPr lang="en-US" altLang="zh-TW" sz="2400" i="1"/>
              <a:t> </a:t>
            </a:r>
            <a:r>
              <a:rPr lang="en-US" altLang="zh-TW" sz="2400"/>
              <a:t>&gt; </a:t>
            </a:r>
            <a:r>
              <a:rPr lang="en-US" altLang="zh-TW" sz="2400" i="1"/>
              <a:t>B</a:t>
            </a:r>
            <a:r>
              <a:rPr lang="en-US" altLang="zh-TW" sz="2400" i="1" baseline="-25000"/>
              <a:t>c</a:t>
            </a:r>
            <a:r>
              <a:rPr lang="en-US" altLang="zh-TW" sz="2400" i="1"/>
              <a:t> </a:t>
            </a:r>
            <a:r>
              <a:rPr lang="en-US" altLang="zh-TW" sz="2400"/>
              <a:t>→ certain frequency components of the signal are attenuated much more than others</a:t>
            </a:r>
          </a:p>
          <a:p>
            <a:pPr marL="571500" indent="-571500"/>
            <a:endParaRPr lang="en-US" altLang="zh-TW" sz="2400"/>
          </a:p>
        </p:txBody>
      </p:sp>
      <p:graphicFrame>
        <p:nvGraphicFramePr>
          <p:cNvPr id="106501" name="Object 5">
            <a:extLst>
              <a:ext uri="{FF2B5EF4-FFF2-40B4-BE49-F238E27FC236}">
                <a16:creationId xmlns:a16="http://schemas.microsoft.com/office/drawing/2014/main" id="{E432023D-990E-17C3-8B97-523CEE2A7636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1619250" y="1773238"/>
          <a:ext cx="1223963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96880" imgH="228600" progId="Equation.DSMT4">
                  <p:embed/>
                </p:oleObj>
              </mc:Choice>
              <mc:Fallback>
                <p:oleObj name="Equation" r:id="rId3" imgW="596880" imgH="228600" progId="Equation.DSMT4">
                  <p:embed/>
                  <p:pic>
                    <p:nvPicPr>
                      <p:cNvPr id="106501" name="Object 5">
                        <a:extLst>
                          <a:ext uri="{FF2B5EF4-FFF2-40B4-BE49-F238E27FC236}">
                            <a16:creationId xmlns:a16="http://schemas.microsoft.com/office/drawing/2014/main" id="{E432023D-990E-17C3-8B97-523CEE2A76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773238"/>
                        <a:ext cx="1223963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6500" name="Picture 4">
            <a:extLst>
              <a:ext uri="{FF2B5EF4-FFF2-40B4-BE49-F238E27FC236}">
                <a16:creationId xmlns:a16="http://schemas.microsoft.com/office/drawing/2014/main" id="{8CACE5AD-0076-9689-68E3-3873811C2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3500438"/>
            <a:ext cx="489585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06504" name="Object 8">
            <a:extLst>
              <a:ext uri="{FF2B5EF4-FFF2-40B4-BE49-F238E27FC236}">
                <a16:creationId xmlns:a16="http://schemas.microsoft.com/office/drawing/2014/main" id="{7AB4569A-D90C-9F30-1792-605A6E50411A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7766050" y="709613"/>
          <a:ext cx="481013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0440" imgH="228600" progId="Equation.DSMT4">
                  <p:embed/>
                </p:oleObj>
              </mc:Choice>
              <mc:Fallback>
                <p:oleObj name="Equation" r:id="rId6" imgW="190440" imgH="228600" progId="Equation.DSMT4">
                  <p:embed/>
                  <p:pic>
                    <p:nvPicPr>
                      <p:cNvPr id="106504" name="Object 8">
                        <a:extLst>
                          <a:ext uri="{FF2B5EF4-FFF2-40B4-BE49-F238E27FC236}">
                            <a16:creationId xmlns:a16="http://schemas.microsoft.com/office/drawing/2014/main" id="{7AB4569A-D90C-9F30-1792-605A6E5041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6050" y="709613"/>
                        <a:ext cx="481013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3128F11-BDCC-1194-F8AF-B22E398DA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1301F-3EFA-4C3D-9F63-359FB5634BCD}" type="slidenum">
              <a:rPr lang="en-US" altLang="zh-TW"/>
              <a:pPr/>
              <a:t>45</a:t>
            </a:fld>
            <a:endParaRPr lang="en-US" altLang="zh-TW"/>
          </a:p>
        </p:txBody>
      </p:sp>
      <p:sp>
        <p:nvSpPr>
          <p:cNvPr id="109570" name="Rectangle 2">
            <a:extLst>
              <a:ext uri="{FF2B5EF4-FFF2-40B4-BE49-F238E27FC236}">
                <a16:creationId xmlns:a16="http://schemas.microsoft.com/office/drawing/2014/main" id="{96BDF8E8-F224-94BF-7269-B0633DF04F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109572" name="Picture 4">
            <a:extLst>
              <a:ext uri="{FF2B5EF4-FFF2-40B4-BE49-F238E27FC236}">
                <a16:creationId xmlns:a16="http://schemas.microsoft.com/office/drawing/2014/main" id="{4DDD7B4B-35A4-3A15-526C-44F8C2347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196975"/>
            <a:ext cx="8088312" cy="4033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082F3C0-79D6-E975-EDC1-24EB86127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86861-A896-44C1-A90E-9DEC4B2E454C}" type="slidenum">
              <a:rPr lang="en-US" altLang="zh-TW"/>
              <a:pPr/>
              <a:t>46</a:t>
            </a:fld>
            <a:endParaRPr lang="en-US" altLang="zh-TW"/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24215269-4772-5554-ABAA-06C54CDAF7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836613"/>
            <a:ext cx="8001000" cy="5545137"/>
          </a:xfrm>
        </p:spPr>
        <p:txBody>
          <a:bodyPr/>
          <a:lstStyle/>
          <a:p>
            <a:r>
              <a:rPr lang="en-US" altLang="zh-TW" i="1"/>
              <a:t>Ts </a:t>
            </a:r>
            <a:r>
              <a:rPr lang="en-US" altLang="zh-TW"/>
              <a:t>&lt; </a:t>
            </a:r>
            <a:r>
              <a:rPr lang="en-US" altLang="zh-TW" sz="2800"/>
              <a:t>σ</a:t>
            </a:r>
            <a:r>
              <a:rPr lang="en-US" altLang="zh-TW" sz="2800" baseline="-25000"/>
              <a:t>τ</a:t>
            </a:r>
            <a:r>
              <a:rPr lang="en-US" altLang="zh-TW"/>
              <a:t> → delayed versions of Tx signal arrive during </a:t>
            </a:r>
            <a:r>
              <a:rPr lang="en-US" altLang="zh-TW" b="1"/>
              <a:t>different </a:t>
            </a:r>
            <a:r>
              <a:rPr lang="en-US" altLang="zh-TW"/>
              <a:t>symbol periods</a:t>
            </a:r>
          </a:p>
          <a:p>
            <a:pPr lvl="1"/>
            <a:r>
              <a:rPr lang="en-US" altLang="zh-TW"/>
              <a:t>e.g. receiving an LOS → “1” &amp; multipath “0” (from prior symbol!)</a:t>
            </a:r>
          </a:p>
          <a:p>
            <a:pPr lvl="1"/>
            <a:r>
              <a:rPr lang="en-US" altLang="zh-TW"/>
              <a:t>This results in intersymbol interference (ISI)</a:t>
            </a:r>
          </a:p>
          <a:p>
            <a:pPr lvl="1"/>
            <a:r>
              <a:rPr lang="en-US" altLang="zh-TW"/>
              <a:t>Undesirable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zh-TW"/>
          </a:p>
          <a:p>
            <a:r>
              <a:rPr lang="en-US" altLang="zh-TW"/>
              <a:t>it is very difficult to predict mobile Rx performance with frequency selective channels</a:t>
            </a:r>
          </a:p>
          <a:p>
            <a:endParaRPr lang="en-US" altLang="zh-TW" b="1" u="sng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2C7F974-5017-830C-38BD-793A584ED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34835-214B-48CB-B2F8-B3D9A3E12BD8}" type="slidenum">
              <a:rPr lang="en-US" altLang="zh-TW"/>
              <a:pPr/>
              <a:t>47</a:t>
            </a:fld>
            <a:endParaRPr lang="en-US" altLang="zh-TW"/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2D6A7668-2255-7CEB-9A6F-1EFCF82EFC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576" y="1234440"/>
            <a:ext cx="8229600" cy="438912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dirty="0"/>
              <a:t>2) Fading due to Doppler Spread</a:t>
            </a:r>
          </a:p>
          <a:p>
            <a:pPr lvl="1"/>
            <a:r>
              <a:rPr lang="en-US" altLang="zh-TW" dirty="0"/>
              <a:t>Caused by motion of Tx and Rx and reflection sources.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0000FF"/>
                </a:solidFill>
              </a:rPr>
              <a:t>A)</a:t>
            </a:r>
            <a:r>
              <a:rPr lang="en-US" altLang="zh-TW" dirty="0"/>
              <a:t> </a:t>
            </a:r>
            <a:r>
              <a:rPr lang="en-US" altLang="zh-TW" b="1" dirty="0"/>
              <a:t>Fast Fading</a:t>
            </a:r>
            <a:r>
              <a:rPr lang="en-US" altLang="zh-TW" dirty="0"/>
              <a:t> → </a:t>
            </a:r>
            <a:r>
              <a:rPr lang="en-US" altLang="zh-TW" i="1" dirty="0"/>
              <a:t>B</a:t>
            </a:r>
            <a:r>
              <a:rPr lang="en-US" altLang="zh-TW" i="1" baseline="-25000" dirty="0"/>
              <a:t>s</a:t>
            </a:r>
            <a:r>
              <a:rPr lang="en-US" altLang="zh-TW" i="1" dirty="0"/>
              <a:t> </a:t>
            </a:r>
            <a:r>
              <a:rPr lang="en-US" altLang="zh-TW" dirty="0"/>
              <a:t>&lt; </a:t>
            </a:r>
            <a:r>
              <a:rPr lang="en-US" altLang="zh-TW" i="1" dirty="0"/>
              <a:t>B</a:t>
            </a:r>
            <a:r>
              <a:rPr lang="en-US" altLang="zh-TW" i="1" baseline="-25000" dirty="0"/>
              <a:t>D</a:t>
            </a:r>
            <a:r>
              <a:rPr lang="en-US" altLang="zh-TW" i="1" dirty="0"/>
              <a:t> </a:t>
            </a:r>
            <a:r>
              <a:rPr lang="en-US" altLang="zh-TW" dirty="0"/>
              <a:t>or </a:t>
            </a:r>
            <a:r>
              <a:rPr lang="en-US" altLang="zh-TW" i="1" dirty="0"/>
              <a:t>T</a:t>
            </a:r>
            <a:r>
              <a:rPr lang="en-US" altLang="zh-TW" i="1" baseline="-25000" dirty="0"/>
              <a:t>s</a:t>
            </a:r>
            <a:r>
              <a:rPr lang="en-US" altLang="zh-TW" i="1" dirty="0"/>
              <a:t> </a:t>
            </a:r>
            <a:r>
              <a:rPr lang="en-US" altLang="zh-TW" dirty="0"/>
              <a:t>&gt; </a:t>
            </a:r>
            <a:r>
              <a:rPr lang="en-US" altLang="zh-TW" i="1" dirty="0"/>
              <a:t>T</a:t>
            </a:r>
            <a:r>
              <a:rPr lang="en-US" altLang="zh-TW" i="1" baseline="-25000" dirty="0"/>
              <a:t>c</a:t>
            </a:r>
          </a:p>
          <a:p>
            <a:pPr lvl="1">
              <a:lnSpc>
                <a:spcPct val="110000"/>
              </a:lnSpc>
            </a:pPr>
            <a:r>
              <a:rPr lang="en-US" altLang="zh-TW" i="1" dirty="0"/>
              <a:t>B</a:t>
            </a:r>
            <a:r>
              <a:rPr lang="en-US" altLang="zh-TW" i="1" baseline="-25000" dirty="0"/>
              <a:t>s</a:t>
            </a:r>
            <a:r>
              <a:rPr lang="en-US" altLang="zh-TW" i="1" dirty="0"/>
              <a:t> </a:t>
            </a:r>
            <a:r>
              <a:rPr lang="en-US" altLang="zh-TW" dirty="0"/>
              <a:t>&lt; </a:t>
            </a:r>
            <a:r>
              <a:rPr lang="en-US" altLang="zh-TW" i="1" dirty="0"/>
              <a:t>B</a:t>
            </a:r>
            <a:r>
              <a:rPr lang="en-US" altLang="zh-TW" i="1" baseline="-25000" dirty="0"/>
              <a:t>D</a:t>
            </a:r>
          </a:p>
          <a:p>
            <a:pPr lvl="2">
              <a:lnSpc>
                <a:spcPct val="110000"/>
              </a:lnSpc>
            </a:pPr>
            <a:r>
              <a:rPr lang="en-US" altLang="zh-TW" dirty="0"/>
              <a:t>Doppler shifts significantly alter spectral BW of TX signal</a:t>
            </a:r>
          </a:p>
          <a:p>
            <a:pPr lvl="2"/>
            <a:r>
              <a:rPr lang="en-US" altLang="zh-TW" dirty="0"/>
              <a:t>signal “spreading”</a:t>
            </a:r>
          </a:p>
          <a:p>
            <a:pPr lvl="1"/>
            <a:r>
              <a:rPr lang="en-US" altLang="zh-TW" i="1" dirty="0"/>
              <a:t>Ts </a:t>
            </a:r>
            <a:r>
              <a:rPr lang="en-US" altLang="zh-TW" dirty="0"/>
              <a:t>&gt; </a:t>
            </a:r>
            <a:r>
              <a:rPr lang="en-US" altLang="zh-TW" i="1" dirty="0"/>
              <a:t>Tc</a:t>
            </a:r>
          </a:p>
          <a:p>
            <a:pPr lvl="2"/>
            <a:r>
              <a:rPr lang="en-US" altLang="zh-TW" dirty="0"/>
              <a:t>MRC changes within 1 symbol period</a:t>
            </a:r>
          </a:p>
          <a:p>
            <a:pPr lvl="2"/>
            <a:r>
              <a:rPr lang="en-US" altLang="zh-TW" dirty="0"/>
              <a:t>rapid amplitude fluctuations</a:t>
            </a:r>
          </a:p>
          <a:p>
            <a:pPr lvl="1"/>
            <a:r>
              <a:rPr lang="en-US" altLang="zh-TW" dirty="0"/>
              <a:t>uncommon in most digital communication systems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140B390-8C1C-2D4C-1898-BC857F6CB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E9B6A-18E1-4C1F-9416-DB2F8D5D2474}" type="slidenum">
              <a:rPr lang="en-US" altLang="zh-TW"/>
              <a:pPr/>
              <a:t>48</a:t>
            </a:fld>
            <a:endParaRPr lang="en-US" altLang="zh-TW"/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C0C1749C-F2C9-569B-DC4A-8038065918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3568" y="1234440"/>
            <a:ext cx="8229600" cy="4389120"/>
          </a:xfrm>
        </p:spPr>
        <p:txBody>
          <a:bodyPr/>
          <a:lstStyle/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0000FF"/>
                </a:solidFill>
              </a:rPr>
              <a:t>B)</a:t>
            </a:r>
            <a:r>
              <a:rPr lang="en-US" altLang="zh-TW" dirty="0"/>
              <a:t> </a:t>
            </a:r>
            <a:r>
              <a:rPr lang="en-US" altLang="zh-TW" b="1" dirty="0"/>
              <a:t>Slow Fading</a:t>
            </a:r>
            <a:r>
              <a:rPr lang="en-US" altLang="zh-TW" dirty="0"/>
              <a:t> → </a:t>
            </a:r>
            <a:r>
              <a:rPr lang="en-US" altLang="zh-TW" i="1" dirty="0"/>
              <a:t>T</a:t>
            </a:r>
            <a:r>
              <a:rPr lang="en-US" altLang="zh-TW" i="1" baseline="-25000" dirty="0"/>
              <a:t>s</a:t>
            </a:r>
            <a:r>
              <a:rPr lang="en-US" altLang="zh-TW" i="1" dirty="0"/>
              <a:t> </a:t>
            </a:r>
            <a:r>
              <a:rPr lang="en-US" altLang="zh-TW" dirty="0"/>
              <a:t>&lt;&lt; </a:t>
            </a:r>
            <a:r>
              <a:rPr lang="en-US" altLang="zh-TW" i="1" dirty="0"/>
              <a:t>T</a:t>
            </a:r>
            <a:r>
              <a:rPr lang="en-US" altLang="zh-TW" i="1" baseline="-25000" dirty="0"/>
              <a:t>c</a:t>
            </a:r>
            <a:r>
              <a:rPr lang="en-US" altLang="zh-TW" i="1" dirty="0"/>
              <a:t> </a:t>
            </a:r>
            <a:r>
              <a:rPr lang="en-US" altLang="zh-TW" dirty="0"/>
              <a:t>or </a:t>
            </a:r>
            <a:r>
              <a:rPr lang="en-US" altLang="zh-TW" i="1" dirty="0"/>
              <a:t>B</a:t>
            </a:r>
            <a:r>
              <a:rPr lang="en-US" altLang="zh-TW" i="1" baseline="-25000" dirty="0"/>
              <a:t>s</a:t>
            </a:r>
            <a:r>
              <a:rPr lang="en-US" altLang="zh-TW" i="1" dirty="0"/>
              <a:t> </a:t>
            </a:r>
            <a:r>
              <a:rPr lang="en-US" altLang="zh-TW" dirty="0"/>
              <a:t>&gt;&gt; </a:t>
            </a:r>
            <a:r>
              <a:rPr lang="en-US" altLang="zh-TW" i="1" dirty="0"/>
              <a:t>B</a:t>
            </a:r>
            <a:r>
              <a:rPr lang="en-US" altLang="zh-TW" i="1" baseline="-25000" dirty="0"/>
              <a:t>D</a:t>
            </a:r>
            <a:endParaRPr lang="en-US" altLang="zh-TW" i="1" dirty="0"/>
          </a:p>
          <a:p>
            <a:pPr lvl="1">
              <a:lnSpc>
                <a:spcPct val="110000"/>
              </a:lnSpc>
            </a:pPr>
            <a:r>
              <a:rPr lang="en-US" altLang="zh-TW" dirty="0"/>
              <a:t>MRC constant over many symbol periods</a:t>
            </a:r>
          </a:p>
          <a:p>
            <a:pPr lvl="1"/>
            <a:r>
              <a:rPr lang="en-US" altLang="zh-TW" dirty="0"/>
              <a:t>slow amplitude fluctuations</a:t>
            </a:r>
          </a:p>
          <a:p>
            <a:pPr lvl="1">
              <a:lnSpc>
                <a:spcPct val="110000"/>
              </a:lnSpc>
            </a:pPr>
            <a:r>
              <a:rPr lang="en-US" altLang="zh-TW" dirty="0"/>
              <a:t>for </a:t>
            </a:r>
            <a:r>
              <a:rPr lang="en-US" altLang="zh-TW" i="1" dirty="0"/>
              <a:t>v </a:t>
            </a:r>
            <a:r>
              <a:rPr lang="en-US" altLang="zh-TW" dirty="0"/>
              <a:t>= 60 mph @ </a:t>
            </a:r>
            <a:r>
              <a:rPr lang="en-US" altLang="zh-TW" i="1" dirty="0"/>
              <a:t>f</a:t>
            </a:r>
            <a:r>
              <a:rPr lang="en-US" altLang="zh-TW" i="1" baseline="-25000" dirty="0"/>
              <a:t>c</a:t>
            </a:r>
            <a:r>
              <a:rPr lang="en-US" altLang="zh-TW" i="1" dirty="0"/>
              <a:t> </a:t>
            </a:r>
            <a:r>
              <a:rPr lang="en-US" altLang="zh-TW" dirty="0"/>
              <a:t>= 2 GHz → </a:t>
            </a:r>
            <a:r>
              <a:rPr lang="en-US" altLang="zh-TW" i="1" dirty="0"/>
              <a:t>B</a:t>
            </a:r>
            <a:r>
              <a:rPr lang="en-US" altLang="zh-TW" i="1" baseline="-25000" dirty="0"/>
              <a:t>D</a:t>
            </a:r>
            <a:r>
              <a:rPr lang="en-US" altLang="zh-TW" i="1" dirty="0"/>
              <a:t> </a:t>
            </a:r>
            <a:r>
              <a:rPr lang="en-US" altLang="zh-TW" dirty="0"/>
              <a:t>= 178 Hz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TW" dirty="0"/>
              <a:t>	∴ </a:t>
            </a:r>
            <a:r>
              <a:rPr lang="en-US" altLang="zh-TW" i="1" dirty="0"/>
              <a:t>B</a:t>
            </a:r>
            <a:r>
              <a:rPr lang="en-US" altLang="zh-TW" i="1" baseline="-25000" dirty="0"/>
              <a:t>s</a:t>
            </a:r>
            <a:r>
              <a:rPr lang="en-US" altLang="zh-TW" i="1" dirty="0"/>
              <a:t> </a:t>
            </a:r>
            <a:r>
              <a:rPr lang="en-US" altLang="zh-TW" dirty="0"/>
              <a:t>≈ 2 kHz &gt;&gt; </a:t>
            </a:r>
            <a:r>
              <a:rPr lang="en-US" altLang="zh-TW" i="1" dirty="0"/>
              <a:t>B</a:t>
            </a:r>
            <a:r>
              <a:rPr lang="en-US" altLang="zh-TW" i="1" baseline="-25000" dirty="0"/>
              <a:t>D</a:t>
            </a:r>
            <a:endParaRPr lang="en-US" altLang="zh-TW" i="1" dirty="0"/>
          </a:p>
          <a:p>
            <a:pPr lvl="2">
              <a:lnSpc>
                <a:spcPct val="110000"/>
              </a:lnSpc>
            </a:pPr>
            <a:r>
              <a:rPr lang="en-US" altLang="zh-TW" i="1" dirty="0"/>
              <a:t>B</a:t>
            </a:r>
            <a:r>
              <a:rPr lang="en-US" altLang="zh-TW" i="1" baseline="-25000" dirty="0"/>
              <a:t>s</a:t>
            </a:r>
            <a:r>
              <a:rPr lang="en-US" altLang="zh-TW" i="1" dirty="0"/>
              <a:t> </a:t>
            </a:r>
            <a:r>
              <a:rPr lang="en-US" altLang="zh-TW" dirty="0"/>
              <a:t>almost always &gt;&gt; </a:t>
            </a:r>
            <a:r>
              <a:rPr lang="en-US" altLang="zh-TW" i="1" dirty="0"/>
              <a:t>B</a:t>
            </a:r>
            <a:r>
              <a:rPr lang="en-US" altLang="zh-TW" i="1" baseline="-25000" dirty="0"/>
              <a:t>D</a:t>
            </a:r>
            <a:r>
              <a:rPr lang="en-US" altLang="zh-TW" i="1" dirty="0"/>
              <a:t> </a:t>
            </a:r>
            <a:r>
              <a:rPr lang="en-US" altLang="zh-TW" dirty="0"/>
              <a:t>for most applications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en-US" altLang="zh-TW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6f8f3b6-16be-436e-bf2d-dedadcb7712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59F6BB5A7D914C9B3EBC96A6E21F77" ma:contentTypeVersion="14" ma:contentTypeDescription="Create a new document." ma:contentTypeScope="" ma:versionID="fda4ccff6591671c81d9f7567ae569d0">
  <xsd:schema xmlns:xsd="http://www.w3.org/2001/XMLSchema" xmlns:xs="http://www.w3.org/2001/XMLSchema" xmlns:p="http://schemas.microsoft.com/office/2006/metadata/properties" xmlns:ns3="76f8f3b6-16be-436e-bf2d-dedadcb77122" xmlns:ns4="d8514a62-9400-4177-9856-d6f8215948cc" targetNamespace="http://schemas.microsoft.com/office/2006/metadata/properties" ma:root="true" ma:fieldsID="5dd2106159393f1d8dbedbc6d6b27a07" ns3:_="" ns4:_="">
    <xsd:import namespace="76f8f3b6-16be-436e-bf2d-dedadcb77122"/>
    <xsd:import namespace="d8514a62-9400-4177-9856-d6f8215948c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f8f3b6-16be-436e-bf2d-dedadcb771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514a62-9400-4177-9856-d6f8215948c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367A217-119F-412E-8D8E-6C385F4240DD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76f8f3b6-16be-436e-bf2d-dedadcb77122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d8514a62-9400-4177-9856-d6f8215948cc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499F0FA-F3CE-4932-B13D-EA7184E2FD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f8f3b6-16be-436e-bf2d-dedadcb77122"/>
    <ds:schemaRef ds:uri="d8514a62-9400-4177-9856-d6f8215948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A24957-7244-4531-9CD9-0FA4B778471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891</TotalTime>
  <Words>2633</Words>
  <Application>Microsoft Office PowerPoint</Application>
  <PresentationFormat>全屏显示(4:3)</PresentationFormat>
  <Paragraphs>376</Paragraphs>
  <Slides>48</Slides>
  <Notes>25</Notes>
  <HiddenSlides>2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64" baseType="lpstr">
      <vt:lpstr>Google Sans</vt:lpstr>
      <vt:lpstr>ＭＳ Ｐゴシック</vt:lpstr>
      <vt:lpstr>Myriad Pro</vt:lpstr>
      <vt:lpstr>PMingLiU</vt:lpstr>
      <vt:lpstr>SimSun</vt:lpstr>
      <vt:lpstr>Algerian</vt:lpstr>
      <vt:lpstr>arial</vt:lpstr>
      <vt:lpstr>arial</vt:lpstr>
      <vt:lpstr>Calibri</vt:lpstr>
      <vt:lpstr>Constantia</vt:lpstr>
      <vt:lpstr>Symbol</vt:lpstr>
      <vt:lpstr>Times New Roman</vt:lpstr>
      <vt:lpstr>Wingdings</vt:lpstr>
      <vt:lpstr>Wingdings 2</vt:lpstr>
      <vt:lpstr>Flow</vt:lpstr>
      <vt:lpstr>Equation</vt:lpstr>
      <vt:lpstr>Multipath Propagation</vt:lpstr>
      <vt:lpstr>FADING…</vt:lpstr>
      <vt:lpstr>Multipath Propagation - Fading </vt:lpstr>
      <vt:lpstr>PowerPoint 演示文稿</vt:lpstr>
      <vt:lpstr>PowerPoint 演示文稿</vt:lpstr>
      <vt:lpstr>Fading</vt:lpstr>
      <vt:lpstr>Shadow Fading</vt:lpstr>
      <vt:lpstr>Shadow Fading</vt:lpstr>
      <vt:lpstr>Small Scale Fading</vt:lpstr>
      <vt:lpstr>Physical Factors Influencing Fading in Mobile Radio Channel (MRC) </vt:lpstr>
      <vt:lpstr>PowerPoint 演示文稿</vt:lpstr>
      <vt:lpstr>PowerPoint 演示文稿</vt:lpstr>
      <vt:lpstr>Small Scale Fading Classification</vt:lpstr>
      <vt:lpstr>DELAY SPREAD</vt:lpstr>
      <vt:lpstr>PowerPoint 演示文稿</vt:lpstr>
      <vt:lpstr>PowerPoint 演示文稿</vt:lpstr>
      <vt:lpstr>Coherence BW (Bc) and Delay Spread (    ) </vt:lpstr>
      <vt:lpstr>PowerPoint 演示文稿</vt:lpstr>
      <vt:lpstr>PowerPoint 演示文稿</vt:lpstr>
      <vt:lpstr>PowerPoint 演示文稿</vt:lpstr>
      <vt:lpstr>PowerPoint 演示文稿</vt:lpstr>
      <vt:lpstr>Multipath Delay Spread</vt:lpstr>
      <vt:lpstr>Effects of delay spread:</vt:lpstr>
      <vt:lpstr>Time Dispersion Parameters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DOPPLER SPREAD</vt:lpstr>
      <vt:lpstr>EFFECT OF MOVEMENT</vt:lpstr>
      <vt:lpstr>EFFECT OF MOVEMENT</vt:lpstr>
      <vt:lpstr>EFFECT OF MOVEMENT</vt:lpstr>
      <vt:lpstr>Doppler Effect</vt:lpstr>
      <vt:lpstr>PowerPoint 演示文稿</vt:lpstr>
      <vt:lpstr>PowerPoint 演示文稿</vt:lpstr>
      <vt:lpstr> Doppler spread and coherence time</vt:lpstr>
      <vt:lpstr>Doppler Effect</vt:lpstr>
      <vt:lpstr>illustrates types of small-scale fading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hp</dc:creator>
  <cp:lastModifiedBy>Xujie Gao</cp:lastModifiedBy>
  <cp:revision>72</cp:revision>
  <dcterms:created xsi:type="dcterms:W3CDTF">2012-08-27T12:13:24Z</dcterms:created>
  <dcterms:modified xsi:type="dcterms:W3CDTF">2025-10-27T03:03:15Z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0x010100BB59F6BB5A7D914C9B3EBC96A6E21F77</vt:lpwstr>
  </property>
</Properties>
</file>