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9" r:id="rId5"/>
    <p:sldId id="668" r:id="rId6"/>
    <p:sldId id="405" r:id="rId7"/>
    <p:sldId id="669" r:id="rId8"/>
    <p:sldId id="670" r:id="rId9"/>
    <p:sldId id="672" r:id="rId10"/>
    <p:sldId id="682" r:id="rId11"/>
    <p:sldId id="665" r:id="rId12"/>
    <p:sldId id="653" r:id="rId13"/>
    <p:sldId id="267" r:id="rId14"/>
    <p:sldId id="676" r:id="rId15"/>
    <p:sldId id="678" r:id="rId16"/>
    <p:sldId id="664" r:id="rId17"/>
    <p:sldId id="663" r:id="rId18"/>
    <p:sldId id="264" r:id="rId19"/>
    <p:sldId id="674" r:id="rId20"/>
    <p:sldId id="675" r:id="rId21"/>
    <p:sldId id="679" r:id="rId22"/>
    <p:sldId id="655" r:id="rId23"/>
    <p:sldId id="656" r:id="rId24"/>
    <p:sldId id="657" r:id="rId25"/>
    <p:sldId id="658" r:id="rId26"/>
    <p:sldId id="683" r:id="rId27"/>
    <p:sldId id="680" r:id="rId28"/>
    <p:sldId id="659" r:id="rId29"/>
    <p:sldId id="266" r:id="rId30"/>
    <p:sldId id="667" r:id="rId31"/>
    <p:sldId id="270" r:id="rId32"/>
    <p:sldId id="276" r:id="rId33"/>
    <p:sldId id="279" r:id="rId34"/>
    <p:sldId id="280" r:id="rId35"/>
    <p:sldId id="281" r:id="rId36"/>
    <p:sldId id="282" r:id="rId37"/>
    <p:sldId id="285" r:id="rId38"/>
    <p:sldId id="287" r:id="rId39"/>
    <p:sldId id="288" r:id="rId4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CCFFCC"/>
    <a:srgbClr val="FFFFCC"/>
    <a:srgbClr val="FFCCCC"/>
    <a:srgbClr val="000000"/>
    <a:srgbClr val="99FFCC"/>
    <a:srgbClr val="FF9999"/>
    <a:srgbClr val="DDDDDD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5" autoAdjust="0"/>
    <p:restoredTop sz="94660" autoAdjust="0"/>
  </p:normalViewPr>
  <p:slideViewPr>
    <p:cSldViewPr>
      <p:cViewPr varScale="1">
        <p:scale>
          <a:sx n="63" d="100"/>
          <a:sy n="63" d="100"/>
        </p:scale>
        <p:origin x="166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3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D69E78-15C8-4B4C-ABC4-0C87D1C9B3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ADEDC08-2AD8-4696-B478-D4A529274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Reflection</a:t>
          </a:r>
          <a:r>
            <a:rPr lang="en-US" dirty="0"/>
            <a:t> occurs when the electromagnetic wave impinges on an object which has very large dimensions as compared to the wavelength e.g., surface of the earth, buildings wall etc.</a:t>
          </a:r>
        </a:p>
      </dgm:t>
    </dgm:pt>
    <dgm:pt modelId="{57C79891-C1FE-449E-82B1-87F30CE7E391}" type="parTrans" cxnId="{9D7E9F69-A2DD-4125-ACAC-720FFC0A1BF3}">
      <dgm:prSet/>
      <dgm:spPr/>
      <dgm:t>
        <a:bodyPr/>
        <a:lstStyle/>
        <a:p>
          <a:endParaRPr lang="en-US"/>
        </a:p>
      </dgm:t>
    </dgm:pt>
    <dgm:pt modelId="{3DD2A4F7-4743-476C-9272-DB784DC73210}" type="sibTrans" cxnId="{9D7E9F69-A2DD-4125-ACAC-720FFC0A1BF3}">
      <dgm:prSet/>
      <dgm:spPr/>
      <dgm:t>
        <a:bodyPr/>
        <a:lstStyle/>
        <a:p>
          <a:endParaRPr lang="en-US"/>
        </a:p>
      </dgm:t>
    </dgm:pt>
    <dgm:pt modelId="{42BACCC5-825F-4489-ACC4-2C81709114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Diffraction</a:t>
          </a:r>
          <a:r>
            <a:rPr lang="en-US" dirty="0"/>
            <a:t> occurs when the radio path between the transmitter and receiver is obstructed by a surface that has sharp irregularities (edges)</a:t>
          </a:r>
        </a:p>
      </dgm:t>
    </dgm:pt>
    <dgm:pt modelId="{4D40304C-7098-46C5-AD2E-8425B821814C}" type="parTrans" cxnId="{C906A565-27BD-4729-8CE7-AACDB4CD4219}">
      <dgm:prSet/>
      <dgm:spPr/>
      <dgm:t>
        <a:bodyPr/>
        <a:lstStyle/>
        <a:p>
          <a:endParaRPr lang="en-US"/>
        </a:p>
      </dgm:t>
    </dgm:pt>
    <dgm:pt modelId="{71CDF3A3-3F12-4328-85E1-1ABB082FEF41}" type="sibTrans" cxnId="{C906A565-27BD-4729-8CE7-AACDB4CD4219}">
      <dgm:prSet/>
      <dgm:spPr/>
      <dgm:t>
        <a:bodyPr/>
        <a:lstStyle/>
        <a:p>
          <a:endParaRPr lang="en-US"/>
        </a:p>
      </dgm:t>
    </dgm:pt>
    <dgm:pt modelId="{FCDFA422-6F3C-4379-861B-8C43758D1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Scattering</a:t>
          </a:r>
          <a:r>
            <a:rPr lang="en-US" dirty="0"/>
            <a:t> occurs when the medium has objects that are smaller or comparable to the wavelength (smaller objects, rough surfaces or other irregularities on the channel)    </a:t>
          </a:r>
        </a:p>
      </dgm:t>
    </dgm:pt>
    <dgm:pt modelId="{117C8E35-A9AB-4F6D-BE7B-BFB22C8ED3E8}" type="parTrans" cxnId="{A0F03274-3DCC-441E-B707-B2886E066841}">
      <dgm:prSet/>
      <dgm:spPr/>
      <dgm:t>
        <a:bodyPr/>
        <a:lstStyle/>
        <a:p>
          <a:endParaRPr lang="en-US"/>
        </a:p>
      </dgm:t>
    </dgm:pt>
    <dgm:pt modelId="{0E4C3FE4-4904-48D8-9DAD-BD62906AA6FE}" type="sibTrans" cxnId="{A0F03274-3DCC-441E-B707-B2886E066841}">
      <dgm:prSet/>
      <dgm:spPr/>
      <dgm:t>
        <a:bodyPr/>
        <a:lstStyle/>
        <a:p>
          <a:endParaRPr lang="en-US"/>
        </a:p>
      </dgm:t>
    </dgm:pt>
    <dgm:pt modelId="{AA180045-3288-4B7A-9DAC-71321C13D60D}" type="pres">
      <dgm:prSet presAssocID="{F8D69E78-15C8-4B4C-ABC4-0C87D1C9B3DB}" presName="root" presStyleCnt="0">
        <dgm:presLayoutVars>
          <dgm:dir/>
          <dgm:resizeHandles val="exact"/>
        </dgm:presLayoutVars>
      </dgm:prSet>
      <dgm:spPr/>
    </dgm:pt>
    <dgm:pt modelId="{F2B1A8DD-A17F-459A-A1E5-C7B43050FB3E}" type="pres">
      <dgm:prSet presAssocID="{4ADEDC08-2AD8-4696-B478-D4A529274F5F}" presName="compNode" presStyleCnt="0"/>
      <dgm:spPr/>
    </dgm:pt>
    <dgm:pt modelId="{9DAAA80D-DDEF-414C-BC6E-D7682782DF6F}" type="pres">
      <dgm:prSet presAssocID="{4ADEDC08-2AD8-4696-B478-D4A529274F5F}" presName="bgRect" presStyleLbl="bgShp" presStyleIdx="0" presStyleCnt="3"/>
      <dgm:spPr/>
    </dgm:pt>
    <dgm:pt modelId="{D8ADDE16-BD24-4A18-B2C6-E92176BD8856}" type="pres">
      <dgm:prSet presAssocID="{4ADEDC08-2AD8-4696-B478-D4A529274F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ED027F7-76EF-4089-ADFA-86AF4E02E51C}" type="pres">
      <dgm:prSet presAssocID="{4ADEDC08-2AD8-4696-B478-D4A529274F5F}" presName="spaceRect" presStyleCnt="0"/>
      <dgm:spPr/>
    </dgm:pt>
    <dgm:pt modelId="{35AB09A2-B267-4E8B-B388-C8184331D1A8}" type="pres">
      <dgm:prSet presAssocID="{4ADEDC08-2AD8-4696-B478-D4A529274F5F}" presName="parTx" presStyleLbl="revTx" presStyleIdx="0" presStyleCnt="3">
        <dgm:presLayoutVars>
          <dgm:chMax val="0"/>
          <dgm:chPref val="0"/>
        </dgm:presLayoutVars>
      </dgm:prSet>
      <dgm:spPr/>
    </dgm:pt>
    <dgm:pt modelId="{0E62E683-D2E4-4AAD-82EB-F5125F7C925B}" type="pres">
      <dgm:prSet presAssocID="{3DD2A4F7-4743-476C-9272-DB784DC73210}" presName="sibTrans" presStyleCnt="0"/>
      <dgm:spPr/>
    </dgm:pt>
    <dgm:pt modelId="{F66E8DF1-5A4C-42F4-BAB9-DECFFE0C8FCD}" type="pres">
      <dgm:prSet presAssocID="{42BACCC5-825F-4489-ACC4-2C817091140E}" presName="compNode" presStyleCnt="0"/>
      <dgm:spPr/>
    </dgm:pt>
    <dgm:pt modelId="{142EC972-B9CD-4FF5-AC2A-142D869FB6CD}" type="pres">
      <dgm:prSet presAssocID="{42BACCC5-825F-4489-ACC4-2C817091140E}" presName="bgRect" presStyleLbl="bgShp" presStyleIdx="1" presStyleCnt="3"/>
      <dgm:spPr/>
    </dgm:pt>
    <dgm:pt modelId="{6845EF49-50C4-475C-9C5E-B51AE8EDED6F}" type="pres">
      <dgm:prSet presAssocID="{42BACCC5-825F-4489-ACC4-2C81709114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9A862680-6E3E-4781-A1E5-5DA7A67EFF0C}" type="pres">
      <dgm:prSet presAssocID="{42BACCC5-825F-4489-ACC4-2C817091140E}" presName="spaceRect" presStyleCnt="0"/>
      <dgm:spPr/>
    </dgm:pt>
    <dgm:pt modelId="{D7D9A12C-9A84-4BFC-9C7B-6487CE9E22B7}" type="pres">
      <dgm:prSet presAssocID="{42BACCC5-825F-4489-ACC4-2C817091140E}" presName="parTx" presStyleLbl="revTx" presStyleIdx="1" presStyleCnt="3">
        <dgm:presLayoutVars>
          <dgm:chMax val="0"/>
          <dgm:chPref val="0"/>
        </dgm:presLayoutVars>
      </dgm:prSet>
      <dgm:spPr/>
    </dgm:pt>
    <dgm:pt modelId="{A741646A-DB9C-4325-90F0-FC9131B5CEF9}" type="pres">
      <dgm:prSet presAssocID="{71CDF3A3-3F12-4328-85E1-1ABB082FEF41}" presName="sibTrans" presStyleCnt="0"/>
      <dgm:spPr/>
    </dgm:pt>
    <dgm:pt modelId="{812FC1D0-9522-4238-80EF-6DA0BDE9CC27}" type="pres">
      <dgm:prSet presAssocID="{FCDFA422-6F3C-4379-861B-8C43758D175E}" presName="compNode" presStyleCnt="0"/>
      <dgm:spPr/>
    </dgm:pt>
    <dgm:pt modelId="{BA2CE5CE-364B-442D-9421-404F37C4228A}" type="pres">
      <dgm:prSet presAssocID="{FCDFA422-6F3C-4379-861B-8C43758D175E}" presName="bgRect" presStyleLbl="bgShp" presStyleIdx="2" presStyleCnt="3"/>
      <dgm:spPr/>
    </dgm:pt>
    <dgm:pt modelId="{5975F9B1-461D-44F2-81CA-DE3770954FA2}" type="pres">
      <dgm:prSet presAssocID="{FCDFA422-6F3C-4379-861B-8C43758D175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3F3AE832-2EDE-407D-8CC6-CD156D450983}" type="pres">
      <dgm:prSet presAssocID="{FCDFA422-6F3C-4379-861B-8C43758D175E}" presName="spaceRect" presStyleCnt="0"/>
      <dgm:spPr/>
    </dgm:pt>
    <dgm:pt modelId="{4F4C7242-DAE7-4DD9-8732-8B8AC4D30766}" type="pres">
      <dgm:prSet presAssocID="{FCDFA422-6F3C-4379-861B-8C43758D17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03CFC44-EE9E-4861-A7D6-F78880E02917}" type="presOf" srcId="{F8D69E78-15C8-4B4C-ABC4-0C87D1C9B3DB}" destId="{AA180045-3288-4B7A-9DAC-71321C13D60D}" srcOrd="0" destOrd="0" presId="urn:microsoft.com/office/officeart/2018/2/layout/IconVerticalSolidList"/>
    <dgm:cxn modelId="{C906A565-27BD-4729-8CE7-AACDB4CD4219}" srcId="{F8D69E78-15C8-4B4C-ABC4-0C87D1C9B3DB}" destId="{42BACCC5-825F-4489-ACC4-2C817091140E}" srcOrd="1" destOrd="0" parTransId="{4D40304C-7098-46C5-AD2E-8425B821814C}" sibTransId="{71CDF3A3-3F12-4328-85E1-1ABB082FEF41}"/>
    <dgm:cxn modelId="{9D7E9F69-A2DD-4125-ACAC-720FFC0A1BF3}" srcId="{F8D69E78-15C8-4B4C-ABC4-0C87D1C9B3DB}" destId="{4ADEDC08-2AD8-4696-B478-D4A529274F5F}" srcOrd="0" destOrd="0" parTransId="{57C79891-C1FE-449E-82B1-87F30CE7E391}" sibTransId="{3DD2A4F7-4743-476C-9272-DB784DC73210}"/>
    <dgm:cxn modelId="{8E24346D-E787-4607-9068-C6AC6A50A842}" type="presOf" srcId="{FCDFA422-6F3C-4379-861B-8C43758D175E}" destId="{4F4C7242-DAE7-4DD9-8732-8B8AC4D30766}" srcOrd="0" destOrd="0" presId="urn:microsoft.com/office/officeart/2018/2/layout/IconVerticalSolidList"/>
    <dgm:cxn modelId="{A0F03274-3DCC-441E-B707-B2886E066841}" srcId="{F8D69E78-15C8-4B4C-ABC4-0C87D1C9B3DB}" destId="{FCDFA422-6F3C-4379-861B-8C43758D175E}" srcOrd="2" destOrd="0" parTransId="{117C8E35-A9AB-4F6D-BE7B-BFB22C8ED3E8}" sibTransId="{0E4C3FE4-4904-48D8-9DAD-BD62906AA6FE}"/>
    <dgm:cxn modelId="{EF0A8ACA-244B-4792-B3CC-C57C41B93881}" type="presOf" srcId="{4ADEDC08-2AD8-4696-B478-D4A529274F5F}" destId="{35AB09A2-B267-4E8B-B388-C8184331D1A8}" srcOrd="0" destOrd="0" presId="urn:microsoft.com/office/officeart/2018/2/layout/IconVerticalSolidList"/>
    <dgm:cxn modelId="{F5B65BD5-3523-4EE1-98B3-511DB8AD58EB}" type="presOf" srcId="{42BACCC5-825F-4489-ACC4-2C817091140E}" destId="{D7D9A12C-9A84-4BFC-9C7B-6487CE9E22B7}" srcOrd="0" destOrd="0" presId="urn:microsoft.com/office/officeart/2018/2/layout/IconVerticalSolidList"/>
    <dgm:cxn modelId="{948CABCE-9412-4E70-866E-6D814E96647E}" type="presParOf" srcId="{AA180045-3288-4B7A-9DAC-71321C13D60D}" destId="{F2B1A8DD-A17F-459A-A1E5-C7B43050FB3E}" srcOrd="0" destOrd="0" presId="urn:microsoft.com/office/officeart/2018/2/layout/IconVerticalSolidList"/>
    <dgm:cxn modelId="{5CF47C61-1EAC-485D-A9C4-65F4160038DA}" type="presParOf" srcId="{F2B1A8DD-A17F-459A-A1E5-C7B43050FB3E}" destId="{9DAAA80D-DDEF-414C-BC6E-D7682782DF6F}" srcOrd="0" destOrd="0" presId="urn:microsoft.com/office/officeart/2018/2/layout/IconVerticalSolidList"/>
    <dgm:cxn modelId="{2CF08681-F320-4455-A670-14DFBBA8D769}" type="presParOf" srcId="{F2B1A8DD-A17F-459A-A1E5-C7B43050FB3E}" destId="{D8ADDE16-BD24-4A18-B2C6-E92176BD8856}" srcOrd="1" destOrd="0" presId="urn:microsoft.com/office/officeart/2018/2/layout/IconVerticalSolidList"/>
    <dgm:cxn modelId="{4C7BCB75-81D7-4935-939A-EE6D1E3769A2}" type="presParOf" srcId="{F2B1A8DD-A17F-459A-A1E5-C7B43050FB3E}" destId="{7ED027F7-76EF-4089-ADFA-86AF4E02E51C}" srcOrd="2" destOrd="0" presId="urn:microsoft.com/office/officeart/2018/2/layout/IconVerticalSolidList"/>
    <dgm:cxn modelId="{7A60B57D-EA92-42A0-9931-DCE7DBF18433}" type="presParOf" srcId="{F2B1A8DD-A17F-459A-A1E5-C7B43050FB3E}" destId="{35AB09A2-B267-4E8B-B388-C8184331D1A8}" srcOrd="3" destOrd="0" presId="urn:microsoft.com/office/officeart/2018/2/layout/IconVerticalSolidList"/>
    <dgm:cxn modelId="{E8E7F64D-3A54-4E38-B724-D41C521F799A}" type="presParOf" srcId="{AA180045-3288-4B7A-9DAC-71321C13D60D}" destId="{0E62E683-D2E4-4AAD-82EB-F5125F7C925B}" srcOrd="1" destOrd="0" presId="urn:microsoft.com/office/officeart/2018/2/layout/IconVerticalSolidList"/>
    <dgm:cxn modelId="{8FD41E13-46B8-4143-BA27-109F3DB5E1B3}" type="presParOf" srcId="{AA180045-3288-4B7A-9DAC-71321C13D60D}" destId="{F66E8DF1-5A4C-42F4-BAB9-DECFFE0C8FCD}" srcOrd="2" destOrd="0" presId="urn:microsoft.com/office/officeart/2018/2/layout/IconVerticalSolidList"/>
    <dgm:cxn modelId="{DE140B34-924D-428F-BDED-847ECDF8381F}" type="presParOf" srcId="{F66E8DF1-5A4C-42F4-BAB9-DECFFE0C8FCD}" destId="{142EC972-B9CD-4FF5-AC2A-142D869FB6CD}" srcOrd="0" destOrd="0" presId="urn:microsoft.com/office/officeart/2018/2/layout/IconVerticalSolidList"/>
    <dgm:cxn modelId="{0CD563B9-EF1E-4DAE-ABAF-9389D81B4C45}" type="presParOf" srcId="{F66E8DF1-5A4C-42F4-BAB9-DECFFE0C8FCD}" destId="{6845EF49-50C4-475C-9C5E-B51AE8EDED6F}" srcOrd="1" destOrd="0" presId="urn:microsoft.com/office/officeart/2018/2/layout/IconVerticalSolidList"/>
    <dgm:cxn modelId="{66A99DA2-2F56-4A77-87FA-11FAF56C5834}" type="presParOf" srcId="{F66E8DF1-5A4C-42F4-BAB9-DECFFE0C8FCD}" destId="{9A862680-6E3E-4781-A1E5-5DA7A67EFF0C}" srcOrd="2" destOrd="0" presId="urn:microsoft.com/office/officeart/2018/2/layout/IconVerticalSolidList"/>
    <dgm:cxn modelId="{10BD2C59-82F3-4072-BF3A-70047379398C}" type="presParOf" srcId="{F66E8DF1-5A4C-42F4-BAB9-DECFFE0C8FCD}" destId="{D7D9A12C-9A84-4BFC-9C7B-6487CE9E22B7}" srcOrd="3" destOrd="0" presId="urn:microsoft.com/office/officeart/2018/2/layout/IconVerticalSolidList"/>
    <dgm:cxn modelId="{8F6A2314-25C7-4FDF-B3D8-CD7309399054}" type="presParOf" srcId="{AA180045-3288-4B7A-9DAC-71321C13D60D}" destId="{A741646A-DB9C-4325-90F0-FC9131B5CEF9}" srcOrd="3" destOrd="0" presId="urn:microsoft.com/office/officeart/2018/2/layout/IconVerticalSolidList"/>
    <dgm:cxn modelId="{39E2F7B7-7035-4F58-B62E-CB1F20A2E75D}" type="presParOf" srcId="{AA180045-3288-4B7A-9DAC-71321C13D60D}" destId="{812FC1D0-9522-4238-80EF-6DA0BDE9CC27}" srcOrd="4" destOrd="0" presId="urn:microsoft.com/office/officeart/2018/2/layout/IconVerticalSolidList"/>
    <dgm:cxn modelId="{692F9D51-5E56-4937-82FF-D3D0F88DA078}" type="presParOf" srcId="{812FC1D0-9522-4238-80EF-6DA0BDE9CC27}" destId="{BA2CE5CE-364B-442D-9421-404F37C4228A}" srcOrd="0" destOrd="0" presId="urn:microsoft.com/office/officeart/2018/2/layout/IconVerticalSolidList"/>
    <dgm:cxn modelId="{4880F16A-DDAB-4842-A009-1C409C633876}" type="presParOf" srcId="{812FC1D0-9522-4238-80EF-6DA0BDE9CC27}" destId="{5975F9B1-461D-44F2-81CA-DE3770954FA2}" srcOrd="1" destOrd="0" presId="urn:microsoft.com/office/officeart/2018/2/layout/IconVerticalSolidList"/>
    <dgm:cxn modelId="{64B27723-46DD-4D58-99C9-D471105B81B5}" type="presParOf" srcId="{812FC1D0-9522-4238-80EF-6DA0BDE9CC27}" destId="{3F3AE832-2EDE-407D-8CC6-CD156D450983}" srcOrd="2" destOrd="0" presId="urn:microsoft.com/office/officeart/2018/2/layout/IconVerticalSolidList"/>
    <dgm:cxn modelId="{0EFA697F-05CA-47B1-8711-F803D3B6A4E8}" type="presParOf" srcId="{812FC1D0-9522-4238-80EF-6DA0BDE9CC27}" destId="{4F4C7242-DAE7-4DD9-8732-8B8AC4D3076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A6C694-E373-4FA0-A32D-8F88ED9CBAEC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BF7334B-654D-4C56-B40C-4DA91F923BCD}">
      <dgm:prSet custT="1"/>
      <dgm:spPr/>
      <dgm:t>
        <a:bodyPr/>
        <a:lstStyle/>
        <a:p>
          <a:r>
            <a:rPr lang="en-US" sz="3200"/>
            <a:t>Diversity</a:t>
          </a:r>
        </a:p>
      </dgm:t>
    </dgm:pt>
    <dgm:pt modelId="{183C9650-D15B-417D-BE1C-E1D6DF1DBB72}" type="parTrans" cxnId="{08D49ABE-C209-48C7-B79E-B34459326CA4}">
      <dgm:prSet/>
      <dgm:spPr/>
      <dgm:t>
        <a:bodyPr/>
        <a:lstStyle/>
        <a:p>
          <a:endParaRPr lang="en-US"/>
        </a:p>
      </dgm:t>
    </dgm:pt>
    <dgm:pt modelId="{F81FC75C-7BA7-4BD6-8D59-83BD6B872B3D}" type="sibTrans" cxnId="{08D49ABE-C209-48C7-B79E-B34459326CA4}">
      <dgm:prSet/>
      <dgm:spPr/>
      <dgm:t>
        <a:bodyPr/>
        <a:lstStyle/>
        <a:p>
          <a:endParaRPr lang="en-US"/>
        </a:p>
      </dgm:t>
    </dgm:pt>
    <dgm:pt modelId="{4E49840F-108E-46E5-829E-B63117B68F1B}" type="pres">
      <dgm:prSet presAssocID="{02A6C694-E373-4FA0-A32D-8F88ED9CBAEC}" presName="outerComposite" presStyleCnt="0">
        <dgm:presLayoutVars>
          <dgm:chMax val="5"/>
          <dgm:dir/>
          <dgm:resizeHandles val="exact"/>
        </dgm:presLayoutVars>
      </dgm:prSet>
      <dgm:spPr/>
    </dgm:pt>
    <dgm:pt modelId="{64A90B32-40EF-4FD9-A0BF-1F22C91E683F}" type="pres">
      <dgm:prSet presAssocID="{02A6C694-E373-4FA0-A32D-8F88ED9CBAEC}" presName="dummyMaxCanvas" presStyleCnt="0">
        <dgm:presLayoutVars/>
      </dgm:prSet>
      <dgm:spPr/>
    </dgm:pt>
    <dgm:pt modelId="{79BAA127-7E98-4800-9031-75C83AB9056E}" type="pres">
      <dgm:prSet presAssocID="{02A6C694-E373-4FA0-A32D-8F88ED9CBAEC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BD7B015A-1775-422D-B733-567E7F5976CB}" type="presOf" srcId="{02A6C694-E373-4FA0-A32D-8F88ED9CBAEC}" destId="{4E49840F-108E-46E5-829E-B63117B68F1B}" srcOrd="0" destOrd="0" presId="urn:microsoft.com/office/officeart/2005/8/layout/vProcess5"/>
    <dgm:cxn modelId="{988A1B96-42BA-40BC-836B-8CD97A8FE4D1}" type="presOf" srcId="{2BF7334B-654D-4C56-B40C-4DA91F923BCD}" destId="{79BAA127-7E98-4800-9031-75C83AB9056E}" srcOrd="0" destOrd="0" presId="urn:microsoft.com/office/officeart/2005/8/layout/vProcess5"/>
    <dgm:cxn modelId="{08D49ABE-C209-48C7-B79E-B34459326CA4}" srcId="{02A6C694-E373-4FA0-A32D-8F88ED9CBAEC}" destId="{2BF7334B-654D-4C56-B40C-4DA91F923BCD}" srcOrd="0" destOrd="0" parTransId="{183C9650-D15B-417D-BE1C-E1D6DF1DBB72}" sibTransId="{F81FC75C-7BA7-4BD6-8D59-83BD6B872B3D}"/>
    <dgm:cxn modelId="{EB844DEC-4517-4B5A-AE4F-3B61ED390F53}" type="presParOf" srcId="{4E49840F-108E-46E5-829E-B63117B68F1B}" destId="{64A90B32-40EF-4FD9-A0BF-1F22C91E683F}" srcOrd="0" destOrd="0" presId="urn:microsoft.com/office/officeart/2005/8/layout/vProcess5"/>
    <dgm:cxn modelId="{9166AE30-3F59-47F0-ABA0-79074B7BA5F7}" type="presParOf" srcId="{4E49840F-108E-46E5-829E-B63117B68F1B}" destId="{79BAA127-7E98-4800-9031-75C83AB9056E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AA80D-DDEF-414C-BC6E-D7682782DF6F}">
      <dsp:nvSpPr>
        <dsp:cNvPr id="0" name=""/>
        <dsp:cNvSpPr/>
      </dsp:nvSpPr>
      <dsp:spPr>
        <a:xfrm>
          <a:off x="0" y="579"/>
          <a:ext cx="8667750" cy="13549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ADDE16-BD24-4A18-B2C6-E92176BD8856}">
      <dsp:nvSpPr>
        <dsp:cNvPr id="0" name=""/>
        <dsp:cNvSpPr/>
      </dsp:nvSpPr>
      <dsp:spPr>
        <a:xfrm>
          <a:off x="409869" y="305440"/>
          <a:ext cx="745217" cy="7452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B09A2-B267-4E8B-B388-C8184331D1A8}">
      <dsp:nvSpPr>
        <dsp:cNvPr id="0" name=""/>
        <dsp:cNvSpPr/>
      </dsp:nvSpPr>
      <dsp:spPr>
        <a:xfrm>
          <a:off x="1564956" y="579"/>
          <a:ext cx="7102793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Reflection</a:t>
          </a:r>
          <a:r>
            <a:rPr lang="en-US" sz="2000" kern="1200" dirty="0"/>
            <a:t> occurs when the electromagnetic wave impinges on an object which has very large dimensions as compared to the wavelength e.g., surface of the earth, buildings wall etc.</a:t>
          </a:r>
        </a:p>
      </dsp:txBody>
      <dsp:txXfrm>
        <a:off x="1564956" y="579"/>
        <a:ext cx="7102793" cy="1354940"/>
      </dsp:txXfrm>
    </dsp:sp>
    <dsp:sp modelId="{142EC972-B9CD-4FF5-AC2A-142D869FB6CD}">
      <dsp:nvSpPr>
        <dsp:cNvPr id="0" name=""/>
        <dsp:cNvSpPr/>
      </dsp:nvSpPr>
      <dsp:spPr>
        <a:xfrm>
          <a:off x="0" y="1694254"/>
          <a:ext cx="8667750" cy="13549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5EF49-50C4-475C-9C5E-B51AE8EDED6F}">
      <dsp:nvSpPr>
        <dsp:cNvPr id="0" name=""/>
        <dsp:cNvSpPr/>
      </dsp:nvSpPr>
      <dsp:spPr>
        <a:xfrm>
          <a:off x="409869" y="1999116"/>
          <a:ext cx="745217" cy="7452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D9A12C-9A84-4BFC-9C7B-6487CE9E22B7}">
      <dsp:nvSpPr>
        <dsp:cNvPr id="0" name=""/>
        <dsp:cNvSpPr/>
      </dsp:nvSpPr>
      <dsp:spPr>
        <a:xfrm>
          <a:off x="1564956" y="1694254"/>
          <a:ext cx="7102793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Diffraction</a:t>
          </a:r>
          <a:r>
            <a:rPr lang="en-US" sz="2000" kern="1200" dirty="0"/>
            <a:t> occurs when the radio path between the transmitter and receiver is obstructed by a surface that has sharp irregularities (edges)</a:t>
          </a:r>
        </a:p>
      </dsp:txBody>
      <dsp:txXfrm>
        <a:off x="1564956" y="1694254"/>
        <a:ext cx="7102793" cy="1354940"/>
      </dsp:txXfrm>
    </dsp:sp>
    <dsp:sp modelId="{BA2CE5CE-364B-442D-9421-404F37C4228A}">
      <dsp:nvSpPr>
        <dsp:cNvPr id="0" name=""/>
        <dsp:cNvSpPr/>
      </dsp:nvSpPr>
      <dsp:spPr>
        <a:xfrm>
          <a:off x="0" y="3387930"/>
          <a:ext cx="8667750" cy="135494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5F9B1-461D-44F2-81CA-DE3770954FA2}">
      <dsp:nvSpPr>
        <dsp:cNvPr id="0" name=""/>
        <dsp:cNvSpPr/>
      </dsp:nvSpPr>
      <dsp:spPr>
        <a:xfrm>
          <a:off x="409869" y="3692792"/>
          <a:ext cx="745217" cy="7452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C7242-DAE7-4DD9-8732-8B8AC4D30766}">
      <dsp:nvSpPr>
        <dsp:cNvPr id="0" name=""/>
        <dsp:cNvSpPr/>
      </dsp:nvSpPr>
      <dsp:spPr>
        <a:xfrm>
          <a:off x="1564956" y="3387930"/>
          <a:ext cx="7102793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Scattering</a:t>
          </a:r>
          <a:r>
            <a:rPr lang="en-US" sz="2000" kern="1200" dirty="0"/>
            <a:t> occurs when the medium has objects that are smaller or comparable to the wavelength (smaller objects, rough surfaces or other irregularities on the channel)    </a:t>
          </a:r>
        </a:p>
      </dsp:txBody>
      <dsp:txXfrm>
        <a:off x="1564956" y="3387930"/>
        <a:ext cx="7102793" cy="13549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AA127-7E98-4800-9031-75C83AB9056E}">
      <dsp:nvSpPr>
        <dsp:cNvPr id="0" name=""/>
        <dsp:cNvSpPr/>
      </dsp:nvSpPr>
      <dsp:spPr>
        <a:xfrm>
          <a:off x="0" y="1185862"/>
          <a:ext cx="8667750" cy="23717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Diversity</a:t>
          </a:r>
        </a:p>
      </dsp:txBody>
      <dsp:txXfrm>
        <a:off x="69465" y="1255327"/>
        <a:ext cx="8528820" cy="2232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2E234-5261-4CAF-A0DA-98E3A4DB4893}" type="datetimeFigureOut">
              <a:rPr lang="en-GB" smtClean="0"/>
              <a:t>28/10/2023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D21EC-7166-4593-AF39-093C5F6CD7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651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A0CD5D5-0B35-430C-AAAA-352D2D2816F9}" type="datetimeFigureOut">
              <a:rPr lang="en-US"/>
              <a:pPr/>
              <a:t>10/28/2023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27E6C58-9099-45D1-9679-4E701E41A4E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853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6DE62-6E8E-4A14-BC19-43D88B41DA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1"/>
            <a:ext cx="8667750" cy="4743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DC5115-DC89-47CE-9441-2C1DE9752B06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44128" y="38100"/>
            <a:ext cx="7437946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DD9669-F224-4F0E-9A8D-98C6E22A43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304925"/>
            <a:ext cx="4152900" cy="4791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95400"/>
            <a:ext cx="4314825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E63659-6281-485A-9BF0-BE266EAAE2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23975"/>
            <a:ext cx="4040188" cy="8509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23975"/>
            <a:ext cx="4318000" cy="8509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1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22742-C875-4914-AC16-3B4F2030E6F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E6B2F-2A80-4386-9E77-22FEE5907FD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E79E70-1025-4CE2-9CBF-9F77ACC092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0124"/>
            <a:ext cx="3133725" cy="9493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225" y="273050"/>
            <a:ext cx="518159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952626"/>
            <a:ext cx="3133725" cy="4152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595D7A-A6D9-469C-AAD7-A8A961BC75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DD56A-B516-43AA-9C68-3E7E1033822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525" y="1333500"/>
            <a:ext cx="8591549" cy="47625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FCAB4-931D-4587-B70E-67ACC00640F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028700"/>
            <a:ext cx="1943100" cy="50673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028700"/>
            <a:ext cx="5676900" cy="5067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8A536C-7D0A-4DF9-B0EE-00C3930D2A1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SSC-slide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4"/>
          <p:cNvGrpSpPr/>
          <p:nvPr userDrawn="1"/>
        </p:nvGrpSpPr>
        <p:grpSpPr>
          <a:xfrm>
            <a:off x="112837" y="141015"/>
            <a:ext cx="1440160" cy="936104"/>
            <a:chOff x="112837" y="141015"/>
            <a:chExt cx="1440160" cy="936104"/>
          </a:xfrm>
        </p:grpSpPr>
        <p:sp>
          <p:nvSpPr>
            <p:cNvPr id="2" name="Rectangle 1"/>
            <p:cNvSpPr/>
            <p:nvPr userDrawn="1"/>
          </p:nvSpPr>
          <p:spPr bwMode="auto">
            <a:xfrm>
              <a:off x="112837" y="141015"/>
              <a:ext cx="1440160" cy="93610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0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6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209675" y="53752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7479102" y="5840083"/>
            <a:ext cx="1362973" cy="37093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charset="-128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424687" y="6432152"/>
            <a:ext cx="5699435" cy="330860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tIns="0" bIns="0" rtlCol="0">
            <a:spAutoFit/>
          </a:bodyPr>
          <a:lstStyle/>
          <a:p>
            <a:pPr algn="r"/>
            <a:endParaRPr lang="en-GB" sz="150" b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GB" sz="1000" b="1" dirty="0">
                <a:solidFill>
                  <a:schemeClr val="bg1">
                    <a:lumMod val="50000"/>
                  </a:schemeClr>
                </a:solidFill>
              </a:rPr>
              <a:t>School of Computing and Communications | InfoLab21</a:t>
            </a:r>
            <a:endParaRPr lang="en-GB" sz="1000" b="1" baseline="0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r>
              <a:rPr lang="en-GB" sz="1000" b="1" dirty="0">
                <a:solidFill>
                  <a:schemeClr val="bg1">
                    <a:lumMod val="50000"/>
                  </a:schemeClr>
                </a:solidFill>
              </a:rPr>
              <a:t>SCC.351 – Advanced Communication</a:t>
            </a:r>
            <a:r>
              <a:rPr lang="en-GB" sz="1000" b="1" baseline="0" dirty="0">
                <a:solidFill>
                  <a:schemeClr val="bg1">
                    <a:lumMod val="50000"/>
                  </a:schemeClr>
                </a:solidFill>
              </a:rPr>
              <a:t> Systems</a:t>
            </a:r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2371D72-1BDC-446F-8520-47E535E89CB5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14325" y="1266825"/>
            <a:ext cx="8667750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/>
          <a:ea typeface="+mj-ea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  <a:cs typeface="ヒラギノ角ゴ Pro W3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+mn-ea"/>
          <a:cs typeface="Verdana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+mn-ea"/>
          <a:cs typeface="Verdan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Verdana"/>
          <a:ea typeface="+mn-ea"/>
          <a:cs typeface="Verdan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/>
          <a:ea typeface="+mn-ea"/>
          <a:cs typeface="Verdan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/>
          <a:ea typeface="+mn-ea"/>
          <a:cs typeface="Verdan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2.wmf"/><Relationship Id="rId2" Type="http://schemas.openxmlformats.org/officeDocument/2006/relationships/image" Target="../media/image18.png"/><Relationship Id="rId16" Type="http://schemas.openxmlformats.org/officeDocument/2006/relationships/image" Target="../media/image2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3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32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1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42.wmf"/><Relationship Id="rId18" Type="http://schemas.openxmlformats.org/officeDocument/2006/relationships/oleObject" Target="../embeddings/oleObject30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22.bin"/><Relationship Id="rId16" Type="http://schemas.openxmlformats.org/officeDocument/2006/relationships/oleObject" Target="../embeddings/oleObject29.bin"/><Relationship Id="rId20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26.bin"/><Relationship Id="rId19" Type="http://schemas.openxmlformats.org/officeDocument/2006/relationships/image" Target="../media/image45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9372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Dr.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en-US" cap="small" dirty="0">
                <a:solidFill>
                  <a:schemeClr val="accent5">
                    <a:lumMod val="25000"/>
                  </a:schemeClr>
                </a:solidFill>
              </a:rPr>
              <a:t>introduction</a:t>
            </a: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65ADC-6204-D391-968C-FC6BBB5DC994}"/>
              </a:ext>
            </a:extLst>
          </p:cNvPr>
          <p:cNvSpPr/>
          <p:nvPr/>
        </p:nvSpPr>
        <p:spPr bwMode="auto">
          <a:xfrm>
            <a:off x="1691680" y="6381328"/>
            <a:ext cx="7432948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AEA35A-5984-B828-B639-84773F95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Wireless Communication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3A51F01-8E87-4EBA-51AE-1035B1EA1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75" y="2324100"/>
            <a:ext cx="4063850" cy="289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78DFBC-85C5-9636-EA3C-D30B279302F2}"/>
              </a:ext>
            </a:extLst>
          </p:cNvPr>
          <p:cNvSpPr txBox="1"/>
          <p:nvPr/>
        </p:nvSpPr>
        <p:spPr>
          <a:xfrm>
            <a:off x="348647" y="1181100"/>
            <a:ext cx="86334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kern="0" dirty="0"/>
              <a:t>Transmitting voice and data using electromagnetic waves in open space (atmosphere)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97B38-3A4F-7DFC-5B77-EB141B23A494}"/>
              </a:ext>
            </a:extLst>
          </p:cNvPr>
          <p:cNvSpPr txBox="1"/>
          <p:nvPr/>
        </p:nvSpPr>
        <p:spPr>
          <a:xfrm>
            <a:off x="6871590" y="6021288"/>
            <a:ext cx="230425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/>
              <a:t>Fig: https://www.frontiersin.org/articles/10.3389/fenrg.2022.889355/full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71C70F-2EBE-A69D-8D43-ED023F289B98}"/>
              </a:ext>
            </a:extLst>
          </p:cNvPr>
          <p:cNvSpPr/>
          <p:nvPr/>
        </p:nvSpPr>
        <p:spPr bwMode="auto">
          <a:xfrm>
            <a:off x="0" y="6381328"/>
            <a:ext cx="9124628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966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274842-40C4-9AE0-504A-8DB76E182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128" y="226193"/>
            <a:ext cx="7437946" cy="1143000"/>
          </a:xfrm>
        </p:spPr>
        <p:txBody>
          <a:bodyPr/>
          <a:lstStyle/>
          <a:p>
            <a:r>
              <a:rPr lang="en-US" altLang="en-US" sz="3200" dirty="0"/>
              <a:t>Types of Wireless Communication</a:t>
            </a:r>
            <a:endParaRPr lang="en-US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D7A0D6-2BDD-9F4D-4CAF-BD04128459E1}"/>
              </a:ext>
            </a:extLst>
          </p:cNvPr>
          <p:cNvGrpSpPr/>
          <p:nvPr/>
        </p:nvGrpSpPr>
        <p:grpSpPr>
          <a:xfrm>
            <a:off x="1187624" y="1124744"/>
            <a:ext cx="7175100" cy="4011561"/>
            <a:chOff x="1170205" y="1477246"/>
            <a:chExt cx="7175100" cy="4011561"/>
          </a:xfrm>
        </p:grpSpPr>
        <p:graphicFrame>
          <p:nvGraphicFramePr>
            <p:cNvPr id="4" name="Object 1028">
              <a:extLst>
                <a:ext uri="{FF2B5EF4-FFF2-40B4-BE49-F238E27FC236}">
                  <a16:creationId xmlns:a16="http://schemas.microsoft.com/office/drawing/2014/main" id="{9E06E72A-B9E9-54BA-BB2B-8C66BDA283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0205" y="1477246"/>
            <a:ext cx="7175100" cy="3841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439799" imgH="3448531" progId="Paint.Picture">
                    <p:embed/>
                  </p:oleObj>
                </mc:Choice>
                <mc:Fallback>
                  <p:oleObj name="Bitmap Image" r:id="rId2" imgW="6439799" imgH="3448531" progId="Paint.Picture">
                    <p:embed/>
                    <p:pic>
                      <p:nvPicPr>
                        <p:cNvPr id="4" name="Object 1028">
                          <a:extLst>
                            <a:ext uri="{FF2B5EF4-FFF2-40B4-BE49-F238E27FC236}">
                              <a16:creationId xmlns:a16="http://schemas.microsoft.com/office/drawing/2014/main" id="{9E06E72A-B9E9-54BA-BB2B-8C66BDA283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0205" y="1477246"/>
                          <a:ext cx="7175100" cy="3841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1029">
              <a:extLst>
                <a:ext uri="{FF2B5EF4-FFF2-40B4-BE49-F238E27FC236}">
                  <a16:creationId xmlns:a16="http://schemas.microsoft.com/office/drawing/2014/main" id="{D7AC5D65-63B4-F641-2747-9DF0FA1EB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8851" y="5184007"/>
              <a:ext cx="914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b="1"/>
                <a:t>celullar</a:t>
              </a:r>
            </a:p>
          </p:txBody>
        </p:sp>
        <p:sp>
          <p:nvSpPr>
            <p:cNvPr id="6" name="Text Box 1031">
              <a:extLst>
                <a:ext uri="{FF2B5EF4-FFF2-40B4-BE49-F238E27FC236}">
                  <a16:creationId xmlns:a16="http://schemas.microsoft.com/office/drawing/2014/main" id="{434E503A-037F-44DF-03DE-B851F6151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851" y="5184007"/>
              <a:ext cx="26670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b="1" dirty="0"/>
                <a:t>wireless computer network</a:t>
              </a:r>
            </a:p>
          </p:txBody>
        </p:sp>
        <p:sp>
          <p:nvSpPr>
            <p:cNvPr id="7" name="Text Box 1032">
              <a:extLst>
                <a:ext uri="{FF2B5EF4-FFF2-40B4-BE49-F238E27FC236}">
                  <a16:creationId xmlns:a16="http://schemas.microsoft.com/office/drawing/2014/main" id="{FC8708E1-725E-9C0E-2481-379D9395A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1251" y="5184007"/>
              <a:ext cx="1371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b="1"/>
                <a:t>radio service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76CC2E2-150E-8277-B7CE-35873A25FCC8}"/>
              </a:ext>
            </a:extLst>
          </p:cNvPr>
          <p:cNvSpPr/>
          <p:nvPr/>
        </p:nvSpPr>
        <p:spPr bwMode="auto">
          <a:xfrm>
            <a:off x="0" y="6381328"/>
            <a:ext cx="9124628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73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C8ADA0-0DAD-C1B9-6088-46B6CA52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Wireless?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F9F4F-A520-0130-D2E8-2AFAB4E4551C}"/>
              </a:ext>
            </a:extLst>
          </p:cNvPr>
          <p:cNvSpPr txBox="1"/>
          <p:nvPr/>
        </p:nvSpPr>
        <p:spPr>
          <a:xfrm>
            <a:off x="503548" y="1213351"/>
            <a:ext cx="8136904" cy="137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Freedom from wires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No cost of installing wires or rewiring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No bunches of wires running here and there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Instantaneous communication without physical connection setup, e.g., Bluetooth and </a:t>
            </a:r>
            <a:r>
              <a:rPr lang="en-US" altLang="en-US" sz="2000" dirty="0" err="1"/>
              <a:t>WiFi</a:t>
            </a:r>
            <a:endParaRPr lang="en-US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90A07-95E9-F1E6-C0DB-B25A3116F26B}"/>
              </a:ext>
            </a:extLst>
          </p:cNvPr>
          <p:cNvSpPr txBox="1"/>
          <p:nvPr/>
        </p:nvSpPr>
        <p:spPr>
          <a:xfrm>
            <a:off x="503548" y="2619548"/>
            <a:ext cx="8136904" cy="112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Global Coverage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Communications can reach where wiring is infeasible or costly, e.g., rural areas, old buildings, battlefields, vehicles and outer space (communication satellites)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B078A-5CBB-D08E-3072-B5F6FF46F9A2}"/>
              </a:ext>
            </a:extLst>
          </p:cNvPr>
          <p:cNvSpPr txBox="1"/>
          <p:nvPr/>
        </p:nvSpPr>
        <p:spPr>
          <a:xfrm>
            <a:off x="503548" y="3772895"/>
            <a:ext cx="8136904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Stay connected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Roaming allows flexibility to stay connected anywhere and anytime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369A1-A50B-659B-B2EC-A24E567FFB5B}"/>
              </a:ext>
            </a:extLst>
          </p:cNvPr>
          <p:cNvSpPr txBox="1"/>
          <p:nvPr/>
        </p:nvSpPr>
        <p:spPr>
          <a:xfrm>
            <a:off x="535800" y="4680021"/>
            <a:ext cx="8212664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Flexibility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Services reach you wherever you go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Connect to multiple devices simultaneously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F47A2E-70A6-99F3-D63F-0F4F4E02003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32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7E66D6-0E8E-A4EC-073B-933C148F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Challenges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7677C-16D1-171D-8061-783E2CF82495}"/>
              </a:ext>
            </a:extLst>
          </p:cNvPr>
          <p:cNvSpPr txBox="1"/>
          <p:nvPr/>
        </p:nvSpPr>
        <p:spPr>
          <a:xfrm>
            <a:off x="251520" y="1181100"/>
            <a:ext cx="5220072" cy="2419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+mj-lt"/>
              </a:rPr>
              <a:t>Network Challenges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Scarce spectrum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Demanding/diverse applications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Reliability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Ubiquitous coverage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Seamless indoor/outdoor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0B149-F681-ABC4-8BC5-67FC740BBE4C}"/>
              </a:ext>
            </a:extLst>
          </p:cNvPr>
          <p:cNvSpPr txBox="1"/>
          <p:nvPr/>
        </p:nvSpPr>
        <p:spPr>
          <a:xfrm>
            <a:off x="4067944" y="3861048"/>
            <a:ext cx="4824536" cy="208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dirty="0">
                <a:latin typeface="+mj-lt"/>
              </a:rPr>
              <a:t>Device Challenges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Size, Power, Cost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Multiple Antennas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Multi-radio Integration 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Co-existence</a:t>
            </a:r>
          </a:p>
          <a:p>
            <a:pPr lvl="2">
              <a:lnSpc>
                <a:spcPct val="90000"/>
              </a:lnSpc>
              <a:defRPr/>
            </a:pPr>
            <a:r>
              <a:rPr lang="en-US" dirty="0">
                <a:latin typeface="+mj-lt"/>
              </a:rPr>
              <a:t>Fading</a:t>
            </a:r>
          </a:p>
        </p:txBody>
      </p:sp>
      <p:pic>
        <p:nvPicPr>
          <p:cNvPr id="3074" name="Picture 2" descr="How to Deal with Major Network Challenges - Bleuwire">
            <a:extLst>
              <a:ext uri="{FF2B5EF4-FFF2-40B4-BE49-F238E27FC236}">
                <a16:creationId xmlns:a16="http://schemas.microsoft.com/office/drawing/2014/main" id="{C694621D-1B88-730D-5B85-E0BA237BD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347" y="1181100"/>
            <a:ext cx="3307423" cy="220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Are Our Wireless Devices Doing to Us?">
            <a:extLst>
              <a:ext uri="{FF2B5EF4-FFF2-40B4-BE49-F238E27FC236}">
                <a16:creationId xmlns:a16="http://schemas.microsoft.com/office/drawing/2014/main" id="{D2508F60-2ABC-445D-59FA-8B4683EC4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167795"/>
            <a:ext cx="3888849" cy="176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4D196D-F652-4918-1E0C-E174879638D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28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79FFB7-91AE-2D07-2333-3BFCF0CB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128" y="476672"/>
            <a:ext cx="7437946" cy="704428"/>
          </a:xfrm>
        </p:spPr>
        <p:txBody>
          <a:bodyPr/>
          <a:lstStyle/>
          <a:p>
            <a:r>
              <a:rPr lang="en-US" sz="2800" i="0" dirty="0">
                <a:solidFill>
                  <a:srgbClr val="282828"/>
                </a:solidFill>
                <a:effectLst/>
                <a:latin typeface="MuseoSans"/>
              </a:rPr>
              <a:t>Grand Challenges in Wireless Communications</a:t>
            </a:r>
            <a:br>
              <a:rPr lang="en-US" sz="2800" i="0" dirty="0">
                <a:solidFill>
                  <a:srgbClr val="282828"/>
                </a:solidFill>
                <a:effectLst/>
                <a:latin typeface="MuseoSans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EB985-9FB3-E979-5FD0-85FCFF223A79}"/>
              </a:ext>
            </a:extLst>
          </p:cNvPr>
          <p:cNvSpPr txBox="1"/>
          <p:nvPr/>
        </p:nvSpPr>
        <p:spPr>
          <a:xfrm>
            <a:off x="971600" y="1000233"/>
            <a:ext cx="756084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Security, secrecy, and privacy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Resource and spectrum utilizations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Communication infrastructure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Energy efficiency enhancement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Integration of wireless information and power transfer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Wireless access techniques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Dynamic architecture and network functions analysis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Coding and modulation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82828"/>
                </a:solidFill>
                <a:effectLst/>
                <a:latin typeface="MuseoSans"/>
              </a:rPr>
              <a:t>Resource and interference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7F658-6AFA-2F8E-0C48-F1AC96BE8E72}"/>
              </a:ext>
            </a:extLst>
          </p:cNvPr>
          <p:cNvSpPr txBox="1"/>
          <p:nvPr/>
        </p:nvSpPr>
        <p:spPr>
          <a:xfrm>
            <a:off x="5076056" y="5949280"/>
            <a:ext cx="39780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https://www.frontiersin.org/articles/10.3389/frcmn.2020.00001/full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E982F-93B6-E11F-FDF6-5200C4AA90D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63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4">
            <a:extLst>
              <a:ext uri="{FF2B5EF4-FFF2-40B4-BE49-F238E27FC236}">
                <a16:creationId xmlns:a16="http://schemas.microsoft.com/office/drawing/2014/main" id="{2BE4759D-A406-8576-1F51-13B5646F70ED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4585370"/>
            <a:ext cx="8489950" cy="1522413"/>
            <a:chOff x="221" y="3088"/>
            <a:chExt cx="5348" cy="959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9D735903-6DB3-1B99-05F7-5FA04D162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" y="3113"/>
              <a:ext cx="725" cy="358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</p:spPr>
          <p:txBody>
            <a:bodyPr anchor="ctr" anchorCtr="1"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User</a:t>
              </a:r>
              <a:endParaRPr lang="en-CA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B3591EEB-E4D8-CF74-4B4C-3BD8B75FF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088"/>
              <a:ext cx="811" cy="428"/>
            </a:xfrm>
            <a:prstGeom prst="rect">
              <a:avLst/>
            </a:prstGeom>
            <a:solidFill>
              <a:srgbClr val="CCFF66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66"/>
              </a:extrusionClr>
              <a:contourClr>
                <a:srgbClr val="CCFF66"/>
              </a:contourClr>
            </a:sp3d>
          </p:spPr>
          <p:txBody>
            <a:bodyPr anchor="ctr" anchorCtr="1"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Source</a:t>
              </a:r>
            </a:p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Decoder</a:t>
              </a:r>
              <a:endParaRPr lang="en-CA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23461661-C2B5-141E-5EEA-2C6634158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7" y="3088"/>
              <a:ext cx="811" cy="42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anchor="ctr" anchorCtr="1"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Channel</a:t>
              </a:r>
            </a:p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Decoder</a:t>
              </a:r>
              <a:endParaRPr lang="en-CA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9A9CCA05-87E7-D5E3-A591-3B3C7D737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4" y="3088"/>
              <a:ext cx="811" cy="428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</p:spPr>
          <p:txBody>
            <a:bodyPr anchor="ctr" anchorCtr="1"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Demod-</a:t>
              </a:r>
            </a:p>
            <a:p>
              <a:pPr algn="ctr" eaLnBrk="1" hangingPunct="1"/>
              <a:r>
                <a:rPr lang="en-US" altLang="en-US" sz="1600">
                  <a:solidFill>
                    <a:srgbClr val="000000"/>
                  </a:solidFill>
                </a:rPr>
                <a:t>ulator</a:t>
              </a:r>
              <a:endParaRPr lang="en-CA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6CC5E3C2-598B-FE1D-3DA5-76C215CEF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7" y="3302"/>
              <a:ext cx="447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3771D25B-E447-50AD-C02F-9DB07433B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1" y="3302"/>
              <a:ext cx="286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EB2574D5-6774-3F0C-8BA8-F98A782F9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" y="3302"/>
              <a:ext cx="468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Line 25">
              <a:extLst>
                <a:ext uri="{FF2B5EF4-FFF2-40B4-BE49-F238E27FC236}">
                  <a16:creationId xmlns:a16="http://schemas.microsoft.com/office/drawing/2014/main" id="{32DFEE01-78AB-A180-3BA1-112A388A1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7" y="3299"/>
              <a:ext cx="8" cy="31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56D4FA40-072F-68C3-ED2E-44691AF4E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3657"/>
              <a:ext cx="199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chemeClr val="tx2"/>
                  </a:solidFill>
                </a:rPr>
                <a:t>Estimate of</a:t>
              </a:r>
            </a:p>
            <a:p>
              <a:pPr algn="ctr" eaLnBrk="1" hangingPunct="1"/>
              <a:r>
                <a:rPr lang="en-US" altLang="en-US" sz="1600">
                  <a:solidFill>
                    <a:schemeClr val="tx2"/>
                  </a:solidFill>
                </a:rPr>
                <a:t>Message signal</a:t>
              </a:r>
              <a:endParaRPr lang="en-CA" altLang="en-US" sz="1600">
                <a:solidFill>
                  <a:schemeClr val="tx2"/>
                </a:solidFill>
              </a:endParaRPr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A27C3FC3-227F-DB3D-79E7-E78E497A8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8" y="3302"/>
              <a:ext cx="2" cy="4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C31D0F37-45F1-C684-4154-5497F8B21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1" y="3748"/>
              <a:ext cx="139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 dirty="0">
                  <a:solidFill>
                    <a:schemeClr val="tx2"/>
                  </a:solidFill>
                </a:rPr>
                <a:t>Estimate of </a:t>
              </a:r>
            </a:p>
            <a:p>
              <a:pPr algn="ctr" eaLnBrk="1" hangingPunct="1"/>
              <a:r>
                <a:rPr lang="en-US" altLang="en-US" sz="1600" dirty="0">
                  <a:solidFill>
                    <a:schemeClr val="tx2"/>
                  </a:solidFill>
                </a:rPr>
                <a:t>channel code word</a:t>
              </a:r>
              <a:endParaRPr lang="en-CA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7" name="Text Box 29">
              <a:extLst>
                <a:ext uri="{FF2B5EF4-FFF2-40B4-BE49-F238E27FC236}">
                  <a16:creationId xmlns:a16="http://schemas.microsoft.com/office/drawing/2014/main" id="{A812E926-A2C2-8F48-2221-915DABB4F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3" y="3345"/>
              <a:ext cx="71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chemeClr val="tx2"/>
                  </a:solidFill>
                </a:rPr>
                <a:t>Received</a:t>
              </a:r>
            </a:p>
            <a:p>
              <a:pPr algn="ctr" eaLnBrk="1" hangingPunct="1"/>
              <a:r>
                <a:rPr lang="en-US" altLang="en-US" sz="1600">
                  <a:solidFill>
                    <a:schemeClr val="tx2"/>
                  </a:solidFill>
                </a:rPr>
                <a:t>Signal</a:t>
              </a:r>
              <a:endParaRPr lang="en-CA" altLang="en-US" sz="160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35">
            <a:extLst>
              <a:ext uri="{FF2B5EF4-FFF2-40B4-BE49-F238E27FC236}">
                <a16:creationId xmlns:a16="http://schemas.microsoft.com/office/drawing/2014/main" id="{B41ADB5E-768F-7FD9-13A2-AC4ACD8DAEDA}"/>
              </a:ext>
            </a:extLst>
          </p:cNvPr>
          <p:cNvGrpSpPr>
            <a:grpSpLocks/>
          </p:cNvGrpSpPr>
          <p:nvPr/>
        </p:nvGrpSpPr>
        <p:grpSpPr bwMode="auto">
          <a:xfrm>
            <a:off x="284163" y="908720"/>
            <a:ext cx="8850312" cy="2179638"/>
            <a:chOff x="179" y="772"/>
            <a:chExt cx="5575" cy="1373"/>
          </a:xfrm>
        </p:grpSpPr>
        <p:sp>
          <p:nvSpPr>
            <p:cNvPr id="19" name="Text Box 24">
              <a:extLst>
                <a:ext uri="{FF2B5EF4-FFF2-40B4-BE49-F238E27FC236}">
                  <a16:creationId xmlns:a16="http://schemas.microsoft.com/office/drawing/2014/main" id="{6EA7F3AE-DD82-D037-9712-3AA02DDCA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772"/>
              <a:ext cx="1437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solidFill>
                    <a:schemeClr val="tx2"/>
                  </a:solidFill>
                </a:rPr>
                <a:t>Channel code word</a:t>
              </a:r>
              <a:endParaRPr lang="en-CA" altLang="en-US" sz="1600">
                <a:solidFill>
                  <a:schemeClr val="tx2"/>
                </a:solidFill>
              </a:endParaRPr>
            </a:p>
          </p:txBody>
        </p:sp>
        <p:grpSp>
          <p:nvGrpSpPr>
            <p:cNvPr id="20" name="Group 33">
              <a:extLst>
                <a:ext uri="{FF2B5EF4-FFF2-40B4-BE49-F238E27FC236}">
                  <a16:creationId xmlns:a16="http://schemas.microsoft.com/office/drawing/2014/main" id="{14BCAACF-EAC9-94E0-3D4E-40B1E3753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" y="994"/>
              <a:ext cx="5575" cy="1151"/>
              <a:chOff x="179" y="994"/>
              <a:chExt cx="5575" cy="1151"/>
            </a:xfrm>
          </p:grpSpPr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67417F9E-C7AC-AED2-D37B-92FC791663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" y="1444"/>
                <a:ext cx="725" cy="281"/>
              </a:xfrm>
              <a:prstGeom prst="rect">
                <a:avLst/>
              </a:prstGeom>
              <a:solidFill>
                <a:srgbClr val="FFFF99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</p:spPr>
            <p:txBody>
              <a:bodyPr anchor="ctr" anchorCtr="1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>
                    <a:solidFill>
                      <a:srgbClr val="000000"/>
                    </a:solidFill>
                  </a:rPr>
                  <a:t>Source</a:t>
                </a:r>
                <a:endParaRPr lang="en-CA" altLang="en-US"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Text Box 6">
                <a:extLst>
                  <a:ext uri="{FF2B5EF4-FFF2-40B4-BE49-F238E27FC236}">
                    <a16:creationId xmlns:a16="http://schemas.microsoft.com/office/drawing/2014/main" id="{7118A683-ABCC-A7B0-106C-2A8AD435D6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9" y="1379"/>
                <a:ext cx="811" cy="427"/>
              </a:xfrm>
              <a:prstGeom prst="rect">
                <a:avLst/>
              </a:prstGeom>
              <a:solidFill>
                <a:srgbClr val="CCFF66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CCFF66"/>
                </a:extrusionClr>
                <a:contourClr>
                  <a:srgbClr val="CCFF66"/>
                </a:contourClr>
              </a:sp3d>
            </p:spPr>
            <p:txBody>
              <a:bodyPr anchor="ctr" anchorCtr="1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rgbClr val="000000"/>
                    </a:solidFill>
                  </a:rPr>
                  <a:t>Source</a:t>
                </a:r>
              </a:p>
              <a:p>
                <a:pPr algn="ctr" eaLnBrk="1" hangingPunct="1"/>
                <a:r>
                  <a:rPr lang="en-US" altLang="en-US" sz="1600" dirty="0">
                    <a:solidFill>
                      <a:srgbClr val="000000"/>
                    </a:solidFill>
                  </a:rPr>
                  <a:t>Encoder</a:t>
                </a:r>
                <a:endParaRPr lang="en-CA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Text Box 7">
                <a:extLst>
                  <a:ext uri="{FF2B5EF4-FFF2-40B4-BE49-F238E27FC236}">
                    <a16:creationId xmlns:a16="http://schemas.microsoft.com/office/drawing/2014/main" id="{97A96467-0FEE-A9A5-3CB7-3228271A92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6" y="1379"/>
                <a:ext cx="811" cy="427"/>
              </a:xfrm>
              <a:prstGeom prst="rect">
                <a:avLst/>
              </a:prstGeom>
              <a:solidFill>
                <a:schemeClr val="bg2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chemeClr val="bg2"/>
                </a:extrusionClr>
                <a:contourClr>
                  <a:schemeClr val="bg2"/>
                </a:contourClr>
              </a:sp3d>
            </p:spPr>
            <p:txBody>
              <a:bodyPr anchor="ctr" anchorCtr="1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rgbClr val="000000"/>
                    </a:solidFill>
                  </a:rPr>
                  <a:t>Channel</a:t>
                </a:r>
              </a:p>
              <a:p>
                <a:pPr algn="ctr" eaLnBrk="1" hangingPunct="1"/>
                <a:r>
                  <a:rPr lang="en-US" altLang="en-US" sz="1600" dirty="0">
                    <a:solidFill>
                      <a:srgbClr val="000000"/>
                    </a:solidFill>
                  </a:rPr>
                  <a:t>Encoder</a:t>
                </a:r>
                <a:endParaRPr lang="en-CA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4" name="Text Box 8">
                <a:extLst>
                  <a:ext uri="{FF2B5EF4-FFF2-40B4-BE49-F238E27FC236}">
                    <a16:creationId xmlns:a16="http://schemas.microsoft.com/office/drawing/2014/main" id="{A7DFFA66-4F18-C944-4185-8F47515BB9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56" y="1379"/>
                <a:ext cx="811" cy="427"/>
              </a:xfrm>
              <a:prstGeom prst="rect">
                <a:avLst/>
              </a:prstGeom>
              <a:solidFill>
                <a:srgbClr val="FFFF99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430200" prstMaterial="legacyMatte">
                <a:bevelT w="13500" h="13500" prst="angle"/>
                <a:bevelB w="13500" h="13500" prst="angle"/>
                <a:extrusionClr>
                  <a:srgbClr val="FFFF99"/>
                </a:extrusionClr>
                <a:contourClr>
                  <a:srgbClr val="FFFF99"/>
                </a:contourClr>
              </a:sp3d>
            </p:spPr>
            <p:txBody>
              <a:bodyPr anchor="ctr" anchorCtr="1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 dirty="0">
                    <a:solidFill>
                      <a:srgbClr val="000000"/>
                    </a:solidFill>
                  </a:rPr>
                  <a:t>Modulator</a:t>
                </a:r>
                <a:endParaRPr lang="en-CA" altLang="en-US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Line 13">
                <a:extLst>
                  <a:ext uri="{FF2B5EF4-FFF2-40B4-BE49-F238E27FC236}">
                    <a16:creationId xmlns:a16="http://schemas.microsoft.com/office/drawing/2014/main" id="{3D1B85DF-50BF-E847-8070-DE7352404A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" y="1593"/>
                <a:ext cx="525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A75F183C-E1C9-4C7C-7ED6-5692F85EE9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7" y="1593"/>
                <a:ext cx="429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36E5D351-213F-A05F-9444-5315981FA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0" y="1593"/>
                <a:ext cx="286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cxnSp>
            <p:nvCxnSpPr>
              <p:cNvPr id="28" name="AutoShape 20">
                <a:extLst>
                  <a:ext uri="{FF2B5EF4-FFF2-40B4-BE49-F238E27FC236}">
                    <a16:creationId xmlns:a16="http://schemas.microsoft.com/office/drawing/2014/main" id="{4B518A20-E6CE-07F6-BF79-6B9E2AA146C3}"/>
                  </a:ext>
                </a:extLst>
              </p:cNvPr>
              <p:cNvCxnSpPr>
                <a:cxnSpLocks noChangeShapeType="1"/>
                <a:stCxn id="24" idx="3"/>
              </p:cNvCxnSpPr>
              <p:nvPr/>
            </p:nvCxnSpPr>
            <p:spPr bwMode="auto">
              <a:xfrm>
                <a:off x="4567" y="1593"/>
                <a:ext cx="459" cy="552"/>
              </a:xfrm>
              <a:prstGeom prst="bentConnector2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9" name="Line 21">
                <a:extLst>
                  <a:ext uri="{FF2B5EF4-FFF2-40B4-BE49-F238E27FC236}">
                    <a16:creationId xmlns:a16="http://schemas.microsoft.com/office/drawing/2014/main" id="{F2E82E6A-D0EB-8243-546F-BA6F5EC5F4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5" y="1321"/>
                <a:ext cx="5" cy="2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0" name="Text Box 22">
                <a:extLst>
                  <a:ext uri="{FF2B5EF4-FFF2-40B4-BE49-F238E27FC236}">
                    <a16:creationId xmlns:a16="http://schemas.microsoft.com/office/drawing/2014/main" id="{D1971BC2-B860-9553-400B-CDB50F003E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1045"/>
                <a:ext cx="1253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chemeClr val="tx2"/>
                    </a:solidFill>
                  </a:rPr>
                  <a:t>Message Signal</a:t>
                </a:r>
                <a:endParaRPr lang="en-CA" altLang="en-US" sz="16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1" name="Line 23">
                <a:extLst>
                  <a:ext uri="{FF2B5EF4-FFF2-40B4-BE49-F238E27FC236}">
                    <a16:creationId xmlns:a16="http://schemas.microsoft.com/office/drawing/2014/main" id="{08F71AFB-9290-0A5C-EC8A-F257BA362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6" y="994"/>
                <a:ext cx="0" cy="59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prstDash val="dash"/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32" name="Text Box 30">
                <a:extLst>
                  <a:ext uri="{FF2B5EF4-FFF2-40B4-BE49-F238E27FC236}">
                    <a16:creationId xmlns:a16="http://schemas.microsoft.com/office/drawing/2014/main" id="{16298125-C7E7-9061-5F62-1A3636B4CF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2" y="1340"/>
                <a:ext cx="932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sz="1600">
                    <a:solidFill>
                      <a:schemeClr val="tx2"/>
                    </a:solidFill>
                  </a:rPr>
                  <a:t>Modulated</a:t>
                </a:r>
              </a:p>
              <a:p>
                <a:pPr algn="ctr" eaLnBrk="1" hangingPunct="1"/>
                <a:r>
                  <a:rPr lang="en-US" altLang="en-US" sz="1600">
                    <a:solidFill>
                      <a:schemeClr val="tx2"/>
                    </a:solidFill>
                  </a:rPr>
                  <a:t>Transmitted Signal</a:t>
                </a:r>
                <a:endParaRPr lang="en-CA" altLang="en-US" sz="1600">
                  <a:solidFill>
                    <a:schemeClr val="tx2"/>
                  </a:solidFill>
                </a:endParaRPr>
              </a:p>
            </p:txBody>
          </p:sp>
        </p:grpSp>
      </p:grpSp>
      <p:grpSp>
        <p:nvGrpSpPr>
          <p:cNvPr id="33" name="Group 36">
            <a:extLst>
              <a:ext uri="{FF2B5EF4-FFF2-40B4-BE49-F238E27FC236}">
                <a16:creationId xmlns:a16="http://schemas.microsoft.com/office/drawing/2014/main" id="{0BE887FC-1B6A-B3F2-B6D1-DF73F9A13881}"/>
              </a:ext>
            </a:extLst>
          </p:cNvPr>
          <p:cNvGrpSpPr>
            <a:grpSpLocks/>
          </p:cNvGrpSpPr>
          <p:nvPr/>
        </p:nvGrpSpPr>
        <p:grpSpPr bwMode="auto">
          <a:xfrm>
            <a:off x="5659438" y="1669133"/>
            <a:ext cx="3284537" cy="3867150"/>
            <a:chOff x="3565" y="1251"/>
            <a:chExt cx="2069" cy="2436"/>
          </a:xfrm>
        </p:grpSpPr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AFDDF5A6-FFD3-0F03-ADAB-AD474F3EE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1251"/>
              <a:ext cx="2051" cy="2436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cxnSp>
          <p:nvCxnSpPr>
            <p:cNvPr id="35" name="AutoShape 19">
              <a:extLst>
                <a:ext uri="{FF2B5EF4-FFF2-40B4-BE49-F238E27FC236}">
                  <a16:creationId xmlns:a16="http://schemas.microsoft.com/office/drawing/2014/main" id="{390781BF-07C1-30B6-9E87-04D3B140FD0C}"/>
                </a:ext>
              </a:extLst>
            </p:cNvPr>
            <p:cNvCxnSpPr>
              <a:cxnSpLocks noChangeShapeType="1"/>
              <a:endCxn id="9" idx="3"/>
            </p:cNvCxnSpPr>
            <p:nvPr/>
          </p:nvCxnSpPr>
          <p:spPr bwMode="auto">
            <a:xfrm rot="5400000">
              <a:off x="4528" y="2606"/>
              <a:ext cx="585" cy="411"/>
            </a:xfrm>
            <a:prstGeom prst="bentConnector2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AutoShape 31">
              <a:extLst>
                <a:ext uri="{FF2B5EF4-FFF2-40B4-BE49-F238E27FC236}">
                  <a16:creationId xmlns:a16="http://schemas.microsoft.com/office/drawing/2014/main" id="{CBE2EAB4-053B-CEEE-C457-3E349C4C2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086"/>
              <a:ext cx="1244" cy="731"/>
            </a:xfrm>
            <a:prstGeom prst="cloudCallout">
              <a:avLst>
                <a:gd name="adj1" fmla="val -27250"/>
                <a:gd name="adj2" fmla="val 31120"/>
              </a:avLst>
            </a:prstGeom>
            <a:gradFill rotWithShape="0">
              <a:gsLst>
                <a:gs pos="0">
                  <a:srgbClr val="009999"/>
                </a:gs>
                <a:gs pos="50000">
                  <a:srgbClr val="CCFFCC"/>
                </a:gs>
                <a:gs pos="100000">
                  <a:srgbClr val="0099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600" b="1">
                  <a:solidFill>
                    <a:srgbClr val="000000"/>
                  </a:solidFill>
                </a:rPr>
                <a:t>Wireless Channel</a:t>
              </a:r>
              <a:endParaRPr lang="fr-CA" altLang="en-US" sz="1600" b="1">
                <a:solidFill>
                  <a:srgbClr val="000000"/>
                </a:solidFill>
              </a:endParaRPr>
            </a:p>
          </p:txBody>
        </p:sp>
      </p:grpSp>
      <p:sp>
        <p:nvSpPr>
          <p:cNvPr id="37" name="Title 2">
            <a:extLst>
              <a:ext uri="{FF2B5EF4-FFF2-40B4-BE49-F238E27FC236}">
                <a16:creationId xmlns:a16="http://schemas.microsoft.com/office/drawing/2014/main" id="{589FE609-5201-8699-EA64-03EB0701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638" y="38100"/>
            <a:ext cx="7437437" cy="1143000"/>
          </a:xfrm>
        </p:spPr>
        <p:txBody>
          <a:bodyPr/>
          <a:lstStyle/>
          <a:p>
            <a:r>
              <a:rPr lang="en-US" sz="3200" dirty="0"/>
              <a:t>Elements of wireless Communication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13BFFE-DC1F-1095-7000-F1874E001833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270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3E87AE1-EF47-A808-954A-08037D6C6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Frequency Carries/Channels</a:t>
            </a: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260426E8-E637-3FC9-D322-02449F4B0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The information from sender to receiver is carrier over a well-defined frequency band.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This is called a channel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Each channel has a fixed frequency bandwidth (in </a:t>
            </a:r>
            <a:r>
              <a:rPr lang="en-US" altLang="en-US" sz="2400" dirty="0" err="1"/>
              <a:t>KHz</a:t>
            </a:r>
            <a:r>
              <a:rPr lang="en-US" altLang="en-US" sz="2400" dirty="0"/>
              <a:t>) and Capacity (bit-rate)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Different frequency bands (channels) can be used to transmit information in parallel and independently.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7FA24-1938-388D-BF72-F8D42900D564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F871606-6CAC-4650-83EF-E1EBE40B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Wireless Channel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1475639D-FBEB-4AA8-ADA0-252F1238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7528"/>
            <a:ext cx="8229600" cy="4530725"/>
          </a:xfrm>
        </p:spPr>
        <p:txBody>
          <a:bodyPr/>
          <a:lstStyle/>
          <a:p>
            <a:r>
              <a:rPr lang="en-US" altLang="en-US" sz="2400" dirty="0"/>
              <a:t>The mobile radio channels places fundamental limitations on the performance of wireless communication systems</a:t>
            </a:r>
          </a:p>
          <a:p>
            <a:r>
              <a:rPr lang="en-US" altLang="en-US" sz="2400" dirty="0"/>
              <a:t>The wireless transmission path may be</a:t>
            </a:r>
          </a:p>
          <a:p>
            <a:pPr lvl="1"/>
            <a:r>
              <a:rPr lang="en-US" altLang="en-US" sz="2000" dirty="0"/>
              <a:t>Line of sight</a:t>
            </a:r>
          </a:p>
          <a:p>
            <a:pPr lvl="1"/>
            <a:r>
              <a:rPr lang="en-US" altLang="en-US" sz="2000" dirty="0"/>
              <a:t>Non line of sight: obstructed by buildings, mountains, foliage etc.</a:t>
            </a:r>
          </a:p>
          <a:p>
            <a:r>
              <a:rPr lang="en-US" altLang="ja-JP" sz="2400" dirty="0">
                <a:ea typeface="MS PGothic" panose="020B0600070205080204" pitchFamily="34" charset="-128"/>
              </a:rPr>
              <a:t>Characteristics of the </a:t>
            </a:r>
            <a:r>
              <a:rPr lang="en-US" altLang="ja-JP" sz="2400" u="sng" dirty="0">
                <a:ea typeface="MS PGothic" panose="020B0600070205080204" pitchFamily="34" charset="-128"/>
              </a:rPr>
              <a:t>channel appear to change randomly</a:t>
            </a:r>
            <a:r>
              <a:rPr lang="en-US" altLang="ja-JP" sz="2400" dirty="0">
                <a:ea typeface="MS PGothic" panose="020B0600070205080204" pitchFamily="34" charset="-128"/>
              </a:rPr>
              <a:t> with time, which makes it difficult to design reliable systems with guaranteed performance.</a:t>
            </a:r>
          </a:p>
          <a:p>
            <a:r>
              <a:rPr lang="en-US" altLang="en-US" sz="2400" dirty="0">
                <a:ea typeface="MS PGothic" panose="020B0600070205080204" pitchFamily="34" charset="-128"/>
              </a:rPr>
              <a:t>Modeling the radio channel have been one of the difficult parts of the mobile radio system design. </a:t>
            </a:r>
            <a:endParaRPr lang="en-US" altLang="en-US" sz="2400" dirty="0"/>
          </a:p>
          <a:p>
            <a:pPr lvl="1"/>
            <a:endParaRPr lang="en-US" altLang="en-US" dirty="0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6BE8029B-ADFD-419A-818A-B7DBD8EF5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8EEF0-35E2-EDCC-463A-B227A0750D1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961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128" y="331715"/>
            <a:ext cx="7437946" cy="1143000"/>
          </a:xfrm>
        </p:spPr>
        <p:txBody>
          <a:bodyPr/>
          <a:lstStyle/>
          <a:p>
            <a:r>
              <a:rPr lang="en-US" sz="3600" dirty="0"/>
              <a:t>Wireless Channel Impairments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4" y="1474716"/>
            <a:ext cx="8667750" cy="372243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Noise</a:t>
            </a:r>
            <a:r>
              <a:rPr lang="en-US" dirty="0"/>
              <a:t> : Thermal noise (AWGN)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Path loss </a:t>
            </a:r>
            <a:r>
              <a:rPr lang="en-US" dirty="0"/>
              <a:t>: The loss in power as the radio signal propagates.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Shadowing</a:t>
            </a:r>
            <a:r>
              <a:rPr lang="en-US" dirty="0"/>
              <a:t> : Due to the presence of fixed obstacles in the radio path.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Fading</a:t>
            </a:r>
            <a:r>
              <a:rPr lang="en-US" dirty="0"/>
              <a:t> : Combines the effect of multiple propagation path, rapid movement of mobile units and reflectors.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C5029C-C88F-4C97-FAF5-0284653B9158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0569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B654BC-B6F3-AB77-C7AA-46DDE91D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Link budget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86B7CD-B883-3B74-ED8E-7C4E6B18455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F5FEC-930F-B720-FD0B-723109BF3044}"/>
              </a:ext>
            </a:extLst>
          </p:cNvPr>
          <p:cNvSpPr txBox="1"/>
          <p:nvPr/>
        </p:nvSpPr>
        <p:spPr>
          <a:xfrm>
            <a:off x="539552" y="1351508"/>
            <a:ext cx="81369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Link budget is an important tool in the design of radio communication systems.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Accounting for all the gains and losses through the wireless channel to the receiver, it allows for predicting the received signal strength along with the required power margin.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cs typeface="Arial" panose="020B0604020202020204" pitchFamily="34" charset="0"/>
              </a:rPr>
              <a:t>Path loss and fading are the two most important factors to consider in link budget.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u="none" strike="noStrike" baseline="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45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B654BC-B6F3-AB77-C7AA-46DDE91D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Link budget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86B7CD-B883-3B74-ED8E-7C4E6B18455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8F5FEC-930F-B720-FD0B-723109BF3044}"/>
              </a:ext>
            </a:extLst>
          </p:cNvPr>
          <p:cNvSpPr txBox="1"/>
          <p:nvPr/>
        </p:nvSpPr>
        <p:spPr>
          <a:xfrm>
            <a:off x="539552" y="1351508"/>
            <a:ext cx="81369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cs typeface="Arial" panose="020B0604020202020204" pitchFamily="34" charset="0"/>
              </a:rPr>
              <a:t>The mean path loss is a deterministic factor that can be predicted with the distance between the transmitter and receiver.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Shadowing and small-scale fading are random phenomena, which means that their effects can only be predicted by their probabilistic distribution. For example, shadowing is typically modeled by a log-normal distribution.</a:t>
            </a:r>
          </a:p>
        </p:txBody>
      </p:sp>
    </p:spTree>
    <p:extLst>
      <p:ext uri="{BB962C8B-B14F-4D97-AF65-F5344CB8AC3E}">
        <p14:creationId xmlns:p14="http://schemas.microsoft.com/office/powerpoint/2010/main" val="83459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28B7FC-05A7-4600-9A00-9F7C484D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Radio Wave Propagation</a:t>
            </a: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EAB6BE-A7D9-49F1-9D31-1637351B2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" y="1015067"/>
            <a:ext cx="8994263" cy="48754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D76705-696A-4D66-7655-8673FDA9DD1E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61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F8EF70-299A-4E7C-BCC9-63077FCB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128" y="38100"/>
            <a:ext cx="7437946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 sz="3700"/>
              <a:t>Radio Propagation Mechanisms</a:t>
            </a:r>
            <a:endParaRPr lang="en-US" sz="37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22F1DC6-7575-1604-1CB1-EA35ED1326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4800" y="1352551"/>
          <a:ext cx="8667750" cy="474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A6FCB35A-94E1-FB59-E8A5-01BFA3119FB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60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7259" y="38100"/>
            <a:ext cx="7394815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Fading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304925"/>
            <a:ext cx="4152900" cy="479107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Fading is a deviation or attenuation a signal experiences over a certain propagation media.</a:t>
            </a:r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endParaRPr lang="en-US" sz="2400" dirty="0"/>
          </a:p>
          <a:p>
            <a:pPr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In wireless communication, fading may be due to multipath propagation or due to shadowing from obstacles.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1EC69B1-EBD4-23C7-8950-D0706AE14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2" y="1810941"/>
            <a:ext cx="4314825" cy="3236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4817FA-E73B-431D-69A0-B2538F8E7C3F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853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4817D7-EA08-8B86-1FD9-28997217E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227391"/>
            <a:ext cx="7437946" cy="1143000"/>
          </a:xfrm>
        </p:spPr>
        <p:txBody>
          <a:bodyPr/>
          <a:lstStyle/>
          <a:p>
            <a:r>
              <a:rPr lang="en-US" dirty="0"/>
              <a:t>Classification of Fading Channels</a:t>
            </a:r>
          </a:p>
        </p:txBody>
      </p:sp>
      <p:sp>
        <p:nvSpPr>
          <p:cNvPr id="4" name="AutoShape 2" descr="10. types of small scale fading">
            <a:extLst>
              <a:ext uri="{FF2B5EF4-FFF2-40B4-BE49-F238E27FC236}">
                <a16:creationId xmlns:a16="http://schemas.microsoft.com/office/drawing/2014/main" id="{A8979268-5625-38F1-1A72-1374256274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050F3-24AA-B29C-6130-4D8CE783C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45" y="1624794"/>
            <a:ext cx="8267509" cy="3608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58DAF54-B6A3-859E-93D2-5E8E9FE9072E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028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13487-1A88-EDA9-C275-71C03286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672" y="116632"/>
            <a:ext cx="7437946" cy="1143000"/>
          </a:xfrm>
        </p:spPr>
        <p:txBody>
          <a:bodyPr/>
          <a:lstStyle/>
          <a:p>
            <a:r>
              <a:rPr lang="en-US" sz="3200" dirty="0"/>
              <a:t>Large-scale fading vs. </a:t>
            </a:r>
            <a:br>
              <a:rPr lang="en-US" sz="3200" dirty="0"/>
            </a:br>
            <a:r>
              <a:rPr lang="en-US" sz="3200" dirty="0"/>
              <a:t>small-scale fading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FFE2C-D1FC-2135-ECEA-DFC7B3D0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5" y="1916832"/>
            <a:ext cx="7222930" cy="33214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506951-9345-A267-3DF8-961D1542A96C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448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14EA0B-62AE-D410-DBAF-2B0E18BC0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28" y="1268760"/>
            <a:ext cx="5184576" cy="1143000"/>
          </a:xfrm>
        </p:spPr>
        <p:txBody>
          <a:bodyPr/>
          <a:lstStyle/>
          <a:p>
            <a:r>
              <a:rPr lang="en-US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Large-Scale Fading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1AB0E-F835-84B0-1551-DB8D91A7511A}"/>
              </a:ext>
            </a:extLst>
          </p:cNvPr>
          <p:cNvSpPr txBox="1"/>
          <p:nvPr/>
        </p:nvSpPr>
        <p:spPr>
          <a:xfrm>
            <a:off x="2627784" y="24928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General Path Loss Model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E5102-1B3E-6F8C-3B36-72FA788A5E32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5977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2">
            <a:extLst>
              <a:ext uri="{FF2B5EF4-FFF2-40B4-BE49-F238E27FC236}">
                <a16:creationId xmlns:a16="http://schemas.microsoft.com/office/drawing/2014/main" id="{4A8B6688-0550-4668-B5CA-E2693A994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75" y="30163"/>
            <a:ext cx="7772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3200" dirty="0">
                <a:solidFill>
                  <a:schemeClr val="tx2"/>
                </a:solidFill>
                <a:ea typeface="PMingLiU" panose="02020500000000000000" pitchFamily="18" charset="-120"/>
              </a:rPr>
              <a:t> Free Space Propagation Model</a:t>
            </a:r>
            <a:endParaRPr lang="en-US" altLang="zh-TW" sz="4400" dirty="0">
              <a:solidFill>
                <a:schemeClr val="tx2"/>
              </a:solidFill>
              <a:ea typeface="PMingLiU" panose="02020500000000000000" pitchFamily="18" charset="-120"/>
            </a:endParaRPr>
          </a:p>
        </p:txBody>
      </p:sp>
      <p:sp>
        <p:nvSpPr>
          <p:cNvPr id="1035" name="Rectangle 3">
            <a:extLst>
              <a:ext uri="{FF2B5EF4-FFF2-40B4-BE49-F238E27FC236}">
                <a16:creationId xmlns:a16="http://schemas.microsoft.com/office/drawing/2014/main" id="{AD82E6B1-1C3A-4B86-B2EC-08F29F93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399" y="914400"/>
            <a:ext cx="81946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free space propagation model is used to predict received signal strength when the transmitter and receiver have a clear line-of-sight path between them.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zh-TW" sz="2000" b="0" dirty="0">
                <a:ea typeface="PMingLiU" panose="02020500000000000000" pitchFamily="18" charset="-120"/>
              </a:rPr>
              <a:t>satellite communication</a:t>
            </a:r>
          </a:p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zh-TW" sz="2000" b="0" dirty="0">
                <a:ea typeface="PMingLiU" panose="02020500000000000000" pitchFamily="18" charset="-120"/>
              </a:rPr>
              <a:t>microwave line-of-sight radio link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 err="1">
                <a:ea typeface="PMingLiU" panose="02020500000000000000" pitchFamily="18" charset="-120"/>
              </a:rPr>
              <a:t>Friis</a:t>
            </a:r>
            <a:r>
              <a:rPr lang="en-US" altLang="zh-TW" sz="2000" b="0" dirty="0">
                <a:ea typeface="PMingLiU" panose="02020500000000000000" pitchFamily="18" charset="-120"/>
              </a:rPr>
              <a:t> free space equation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: transmitted power                           : T-R separation distance (m)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: received power                                   : system loss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: transmitter antenna gain                     : wavelength in meters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: receiver antenna gain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2901BD85-4BEC-45F0-82CB-DA0D240A7C24}"/>
                  </a:ext>
                </a:extLst>
              </p:cNvPr>
              <p:cNvSpPr txBox="1"/>
              <p:nvPr/>
            </p:nvSpPr>
            <p:spPr bwMode="auto">
              <a:xfrm>
                <a:off x="3209925" y="3068960"/>
                <a:ext cx="2442195" cy="7902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(4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2901BD85-4BEC-45F0-82CB-DA0D240A7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9925" y="3068960"/>
                <a:ext cx="2442195" cy="7902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EDD0C3EE-04D8-48CA-862D-F75A0A27B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1863" y="4103688"/>
          <a:ext cx="2476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52280" imgH="228600" progId="Equation.3">
                  <p:embed/>
                </p:oleObj>
              </mc:Choice>
              <mc:Fallback>
                <p:oleObj name="方程式" r:id="rId3" imgW="152280" imgH="228600" progId="Equation.3">
                  <p:embed/>
                  <p:pic>
                    <p:nvPicPr>
                      <p:cNvPr id="1027" name="Object 3">
                        <a:extLst>
                          <a:ext uri="{FF2B5EF4-FFF2-40B4-BE49-F238E27FC236}">
                            <a16:creationId xmlns:a16="http://schemas.microsoft.com/office/drawing/2014/main" id="{EDD0C3EE-04D8-48CA-862D-F75A0A27B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4103688"/>
                        <a:ext cx="2476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>
            <a:extLst>
              <a:ext uri="{FF2B5EF4-FFF2-40B4-BE49-F238E27FC236}">
                <a16:creationId xmlns:a16="http://schemas.microsoft.com/office/drawing/2014/main" id="{91FC203A-48B8-493D-B2A8-BD95110204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4476810"/>
          <a:ext cx="6096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5" imgW="380880" imgH="215640" progId="Equation.3">
                  <p:embed/>
                </p:oleObj>
              </mc:Choice>
              <mc:Fallback>
                <p:oleObj name="方程式" r:id="rId5" imgW="380880" imgH="215640" progId="Equation.3">
                  <p:embed/>
                  <p:pic>
                    <p:nvPicPr>
                      <p:cNvPr id="1028" name="Object 4">
                        <a:extLst>
                          <a:ext uri="{FF2B5EF4-FFF2-40B4-BE49-F238E27FC236}">
                            <a16:creationId xmlns:a16="http://schemas.microsoft.com/office/drawing/2014/main" id="{91FC203A-48B8-493D-B2A8-BD95110204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4476810"/>
                        <a:ext cx="6096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>
            <a:extLst>
              <a:ext uri="{FF2B5EF4-FFF2-40B4-BE49-F238E27FC236}">
                <a16:creationId xmlns:a16="http://schemas.microsoft.com/office/drawing/2014/main" id="{034B5CA1-3D1E-4201-9F9D-4ED1E4C36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6928" y="4842729"/>
          <a:ext cx="28257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177480" imgH="228600" progId="Equation.3">
                  <p:embed/>
                </p:oleObj>
              </mc:Choice>
              <mc:Fallback>
                <p:oleObj name="方程式" r:id="rId7" imgW="177480" imgH="228600" progId="Equation.3">
                  <p:embed/>
                  <p:pic>
                    <p:nvPicPr>
                      <p:cNvPr id="1029" name="Object 5">
                        <a:extLst>
                          <a:ext uri="{FF2B5EF4-FFF2-40B4-BE49-F238E27FC236}">
                            <a16:creationId xmlns:a16="http://schemas.microsoft.com/office/drawing/2014/main" id="{034B5CA1-3D1E-4201-9F9D-4ED1E4C363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928" y="4842729"/>
                        <a:ext cx="28257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>
            <a:extLst>
              <a:ext uri="{FF2B5EF4-FFF2-40B4-BE49-F238E27FC236}">
                <a16:creationId xmlns:a16="http://schemas.microsoft.com/office/drawing/2014/main" id="{AC2DE6C5-B828-4EF7-B3BC-EB690638D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3288" y="5179619"/>
          <a:ext cx="3048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190440" imgH="215640" progId="Equation.3">
                  <p:embed/>
                </p:oleObj>
              </mc:Choice>
              <mc:Fallback>
                <p:oleObj name="方程式" r:id="rId9" imgW="190440" imgH="215640" progId="Equation.3">
                  <p:embed/>
                  <p:pic>
                    <p:nvPicPr>
                      <p:cNvPr id="1030" name="Object 6">
                        <a:extLst>
                          <a:ext uri="{FF2B5EF4-FFF2-40B4-BE49-F238E27FC236}">
                            <a16:creationId xmlns:a16="http://schemas.microsoft.com/office/drawing/2014/main" id="{AC2DE6C5-B828-4EF7-B3BC-EB690638D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5179619"/>
                        <a:ext cx="3048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>
            <a:extLst>
              <a:ext uri="{FF2B5EF4-FFF2-40B4-BE49-F238E27FC236}">
                <a16:creationId xmlns:a16="http://schemas.microsoft.com/office/drawing/2014/main" id="{E185C6F7-275E-4823-BA43-C589A5383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1900" y="4167188"/>
          <a:ext cx="2238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1" imgW="139680" imgH="177480" progId="Equation.3">
                  <p:embed/>
                </p:oleObj>
              </mc:Choice>
              <mc:Fallback>
                <p:oleObj name="方程式" r:id="rId11" imgW="139680" imgH="177480" progId="Equation.3">
                  <p:embed/>
                  <p:pic>
                    <p:nvPicPr>
                      <p:cNvPr id="1031" name="Object 7">
                        <a:extLst>
                          <a:ext uri="{FF2B5EF4-FFF2-40B4-BE49-F238E27FC236}">
                            <a16:creationId xmlns:a16="http://schemas.microsoft.com/office/drawing/2014/main" id="{E185C6F7-275E-4823-BA43-C589A53830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4167188"/>
                        <a:ext cx="2238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>
            <a:extLst>
              <a:ext uri="{FF2B5EF4-FFF2-40B4-BE49-F238E27FC236}">
                <a16:creationId xmlns:a16="http://schemas.microsoft.com/office/drawing/2014/main" id="{3C57D1A9-40F8-4F89-B1AC-D7040EEA8D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4913" y="4487863"/>
          <a:ext cx="223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3" imgW="139680" imgH="152280" progId="Equation.3">
                  <p:embed/>
                </p:oleObj>
              </mc:Choice>
              <mc:Fallback>
                <p:oleObj name="方程式" r:id="rId13" imgW="139680" imgH="152280" progId="Equation.3">
                  <p:embed/>
                  <p:pic>
                    <p:nvPicPr>
                      <p:cNvPr id="1032" name="Object 8">
                        <a:extLst>
                          <a:ext uri="{FF2B5EF4-FFF2-40B4-BE49-F238E27FC236}">
                            <a16:creationId xmlns:a16="http://schemas.microsoft.com/office/drawing/2014/main" id="{3C57D1A9-40F8-4F89-B1AC-D7040EEA8D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4487863"/>
                        <a:ext cx="223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>
            <a:extLst>
              <a:ext uri="{FF2B5EF4-FFF2-40B4-BE49-F238E27FC236}">
                <a16:creationId xmlns:a16="http://schemas.microsoft.com/office/drawing/2014/main" id="{494640F5-9DB2-483A-83A8-7EA6C1459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4913" y="4816475"/>
          <a:ext cx="22383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5" imgW="139680" imgH="177480" progId="Equation.3">
                  <p:embed/>
                </p:oleObj>
              </mc:Choice>
              <mc:Fallback>
                <p:oleObj name="方程式" r:id="rId15" imgW="139680" imgH="177480" progId="Equation.3">
                  <p:embed/>
                  <p:pic>
                    <p:nvPicPr>
                      <p:cNvPr id="1033" name="Object 9">
                        <a:extLst>
                          <a:ext uri="{FF2B5EF4-FFF2-40B4-BE49-F238E27FC236}">
                            <a16:creationId xmlns:a16="http://schemas.microsoft.com/office/drawing/2014/main" id="{494640F5-9DB2-483A-83A8-7EA6C1459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4816475"/>
                        <a:ext cx="223837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5C7E43D-11E2-4154-A058-24812FDE3C0E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3746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">
            <a:extLst>
              <a:ext uri="{FF2B5EF4-FFF2-40B4-BE49-F238E27FC236}">
                <a16:creationId xmlns:a16="http://schemas.microsoft.com/office/drawing/2014/main" id="{526C2448-3244-47EA-82A3-59B818F9B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65" y="738981"/>
            <a:ext cx="817647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gain of the antenna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  : effective aperture is related to the physical size of the antenna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wavelength      is related to the carrier frequency by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  : carrier frequency in Hertz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  : carrier frequency in radians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    : speed of light (meters/s)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losses                   are usually due to transmission line attenuation, filter losses, and antenna losses in the communication system. A value of </a:t>
            </a:r>
            <a:r>
              <a:rPr lang="en-US" altLang="zh-TW" sz="2000" b="0" i="1" dirty="0">
                <a:ea typeface="PMingLiU" panose="02020500000000000000" pitchFamily="18" charset="-120"/>
              </a:rPr>
              <a:t>L=1</a:t>
            </a:r>
            <a:r>
              <a:rPr lang="en-US" altLang="zh-TW" sz="2000" b="0" dirty="0">
                <a:ea typeface="PMingLiU" panose="02020500000000000000" pitchFamily="18" charset="-120"/>
              </a:rPr>
              <a:t> indicates no loss in the system hardware.</a:t>
            </a:r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1108D324-0DBC-427A-B279-E9D0DB0786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2955" y="1052115"/>
          <a:ext cx="10287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622080" imgH="393480" progId="Equation.3">
                  <p:embed/>
                </p:oleObj>
              </mc:Choice>
              <mc:Fallback>
                <p:oleObj name="方程式" r:id="rId2" imgW="622080" imgH="393480" progId="Equation.3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1108D324-0DBC-427A-B279-E9D0DB0786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2955" y="1052115"/>
                        <a:ext cx="10287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>
            <a:extLst>
              <a:ext uri="{FF2B5EF4-FFF2-40B4-BE49-F238E27FC236}">
                <a16:creationId xmlns:a16="http://schemas.microsoft.com/office/drawing/2014/main" id="{30F240D9-9DC2-430C-B9B8-F7B64213A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76338" y="1856185"/>
          <a:ext cx="2921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77480" imgH="228600" progId="Equation.3">
                  <p:embed/>
                </p:oleObj>
              </mc:Choice>
              <mc:Fallback>
                <p:oleObj name="方程式" r:id="rId4" imgW="177480" imgH="228600" progId="Equation.3">
                  <p:embed/>
                  <p:pic>
                    <p:nvPicPr>
                      <p:cNvPr id="2051" name="Object 3">
                        <a:extLst>
                          <a:ext uri="{FF2B5EF4-FFF2-40B4-BE49-F238E27FC236}">
                            <a16:creationId xmlns:a16="http://schemas.microsoft.com/office/drawing/2014/main" id="{30F240D9-9DC2-430C-B9B8-F7B64213A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1856185"/>
                        <a:ext cx="2921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>
            <a:extLst>
              <a:ext uri="{FF2B5EF4-FFF2-40B4-BE49-F238E27FC236}">
                <a16:creationId xmlns:a16="http://schemas.microsoft.com/office/drawing/2014/main" id="{FB8888AE-63EB-41FF-AA90-A66E98EC49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9766" y="2286000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39680" imgH="177480" progId="Equation.3">
                  <p:embed/>
                </p:oleObj>
              </mc:Choice>
              <mc:Fallback>
                <p:oleObj name="方程式" r:id="rId6" imgW="139680" imgH="177480" progId="Equation.3">
                  <p:embed/>
                  <p:pic>
                    <p:nvPicPr>
                      <p:cNvPr id="2052" name="Object 4">
                        <a:extLst>
                          <a:ext uri="{FF2B5EF4-FFF2-40B4-BE49-F238E27FC236}">
                            <a16:creationId xmlns:a16="http://schemas.microsoft.com/office/drawing/2014/main" id="{FB8888AE-63EB-41FF-AA90-A66E98EC4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9766" y="2286000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>
            <a:extLst>
              <a:ext uri="{FF2B5EF4-FFF2-40B4-BE49-F238E27FC236}">
                <a16:creationId xmlns:a16="http://schemas.microsoft.com/office/drawing/2014/main" id="{3EEC2F21-6E7A-434E-8831-25B381A50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8700" y="2640012"/>
          <a:ext cx="1381125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838080" imgH="431640" progId="Equation.3">
                  <p:embed/>
                </p:oleObj>
              </mc:Choice>
              <mc:Fallback>
                <p:oleObj name="方程式" r:id="rId8" imgW="838080" imgH="431640" progId="Equation.3">
                  <p:embed/>
                  <p:pic>
                    <p:nvPicPr>
                      <p:cNvPr id="2053" name="Object 5">
                        <a:extLst>
                          <a:ext uri="{FF2B5EF4-FFF2-40B4-BE49-F238E27FC236}">
                            <a16:creationId xmlns:a16="http://schemas.microsoft.com/office/drawing/2014/main" id="{3EEC2F21-6E7A-434E-8831-25B381A50B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2640012"/>
                        <a:ext cx="1381125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>
            <a:extLst>
              <a:ext uri="{FF2B5EF4-FFF2-40B4-BE49-F238E27FC236}">
                <a16:creationId xmlns:a16="http://schemas.microsoft.com/office/drawing/2014/main" id="{06A5151C-0AD2-4C2E-8CA7-58CCD292C1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352800"/>
          <a:ext cx="24923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52280" imgH="203040" progId="Equation.3">
                  <p:embed/>
                </p:oleObj>
              </mc:Choice>
              <mc:Fallback>
                <p:oleObj name="方程式" r:id="rId10" imgW="152280" imgH="203040" progId="Equation.3">
                  <p:embed/>
                  <p:pic>
                    <p:nvPicPr>
                      <p:cNvPr id="2054" name="Object 6">
                        <a:extLst>
                          <a:ext uri="{FF2B5EF4-FFF2-40B4-BE49-F238E27FC236}">
                            <a16:creationId xmlns:a16="http://schemas.microsoft.com/office/drawing/2014/main" id="{06A5151C-0AD2-4C2E-8CA7-58CCD292C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352800"/>
                        <a:ext cx="249238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>
            <a:extLst>
              <a:ext uri="{FF2B5EF4-FFF2-40B4-BE49-F238E27FC236}">
                <a16:creationId xmlns:a16="http://schemas.microsoft.com/office/drawing/2014/main" id="{CA6C6600-0D05-419F-89F9-03EECFA0B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657600"/>
          <a:ext cx="314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190440" imgH="228600" progId="Equation.3">
                  <p:embed/>
                </p:oleObj>
              </mc:Choice>
              <mc:Fallback>
                <p:oleObj name="方程式" r:id="rId12" imgW="190440" imgH="228600" progId="Equation.3">
                  <p:embed/>
                  <p:pic>
                    <p:nvPicPr>
                      <p:cNvPr id="2055" name="Object 7">
                        <a:extLst>
                          <a:ext uri="{FF2B5EF4-FFF2-40B4-BE49-F238E27FC236}">
                            <a16:creationId xmlns:a16="http://schemas.microsoft.com/office/drawing/2014/main" id="{CA6C6600-0D05-419F-89F9-03EECFA0BE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57600"/>
                        <a:ext cx="3143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8">
            <a:extLst>
              <a:ext uri="{FF2B5EF4-FFF2-40B4-BE49-F238E27FC236}">
                <a16:creationId xmlns:a16="http://schemas.microsoft.com/office/drawing/2014/main" id="{95241535-BB02-4DDD-A0A1-CEE6CC3DCC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700" y="4113213"/>
          <a:ext cx="187325" cy="2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114120" imgH="139680" progId="Equation.3">
                  <p:embed/>
                </p:oleObj>
              </mc:Choice>
              <mc:Fallback>
                <p:oleObj name="方程式" r:id="rId14" imgW="114120" imgH="139680" progId="Equation.3">
                  <p:embed/>
                  <p:pic>
                    <p:nvPicPr>
                      <p:cNvPr id="2056" name="Object 8">
                        <a:extLst>
                          <a:ext uri="{FF2B5EF4-FFF2-40B4-BE49-F238E27FC236}">
                            <a16:creationId xmlns:a16="http://schemas.microsoft.com/office/drawing/2014/main" id="{95241535-BB02-4DDD-A0A1-CEE6CC3DC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4113213"/>
                        <a:ext cx="187325" cy="23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>
            <a:extLst>
              <a:ext uri="{FF2B5EF4-FFF2-40B4-BE49-F238E27FC236}">
                <a16:creationId xmlns:a16="http://schemas.microsoft.com/office/drawing/2014/main" id="{B4AA5878-9305-44CD-84B2-778164F817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8737" y="4797804"/>
          <a:ext cx="231775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6" imgW="139680" imgH="152280" progId="Equation.3">
                  <p:embed/>
                </p:oleObj>
              </mc:Choice>
              <mc:Fallback>
                <p:oleObj name="方程式" r:id="rId16" imgW="139680" imgH="152280" progId="Equation.3">
                  <p:embed/>
                  <p:pic>
                    <p:nvPicPr>
                      <p:cNvPr id="2057" name="Object 9">
                        <a:extLst>
                          <a:ext uri="{FF2B5EF4-FFF2-40B4-BE49-F238E27FC236}">
                            <a16:creationId xmlns:a16="http://schemas.microsoft.com/office/drawing/2014/main" id="{B4AA5878-9305-44CD-84B2-778164F817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7" y="4797804"/>
                        <a:ext cx="231775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>
            <a:extLst>
              <a:ext uri="{FF2B5EF4-FFF2-40B4-BE49-F238E27FC236}">
                <a16:creationId xmlns:a16="http://schemas.microsoft.com/office/drawing/2014/main" id="{34862086-7ECD-430D-B777-055620EDF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3537" y="4797804"/>
          <a:ext cx="75882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8" imgW="457200" imgH="203040" progId="Equation.3">
                  <p:embed/>
                </p:oleObj>
              </mc:Choice>
              <mc:Fallback>
                <p:oleObj name="方程式" r:id="rId18" imgW="457200" imgH="203040" progId="Equation.3">
                  <p:embed/>
                  <p:pic>
                    <p:nvPicPr>
                      <p:cNvPr id="2058" name="Object 10">
                        <a:extLst>
                          <a:ext uri="{FF2B5EF4-FFF2-40B4-BE49-F238E27FC236}">
                            <a16:creationId xmlns:a16="http://schemas.microsoft.com/office/drawing/2014/main" id="{34862086-7ECD-430D-B777-055620EDF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7" y="4797804"/>
                        <a:ext cx="75882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18A8D4B-1D8D-953F-4610-CC9207A18CEE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3090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>
            <a:extLst>
              <a:ext uri="{FF2B5EF4-FFF2-40B4-BE49-F238E27FC236}">
                <a16:creationId xmlns:a16="http://schemas.microsoft.com/office/drawing/2014/main" id="{33FD34A7-D3F2-4467-8344-B65770C4C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4800"/>
            <a:ext cx="7772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solidFill>
                  <a:srgbClr val="FF0000"/>
                </a:solidFill>
                <a:ea typeface="PMingLiU" panose="02020500000000000000" pitchFamily="18" charset="-120"/>
              </a:rPr>
              <a:t>Isotropic radiator </a:t>
            </a:r>
            <a:r>
              <a:rPr lang="en-US" altLang="zh-TW" sz="2000" b="0" dirty="0">
                <a:ea typeface="PMingLiU" panose="02020500000000000000" pitchFamily="18" charset="-120"/>
              </a:rPr>
              <a:t>is an ideal antenna which radiates power with unit gain.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solidFill>
                  <a:srgbClr val="FF0000"/>
                </a:solidFill>
                <a:ea typeface="PMingLiU" panose="02020500000000000000" pitchFamily="18" charset="-120"/>
              </a:rPr>
              <a:t>Effective isotropic radiated power (EIRP) </a:t>
            </a:r>
            <a:r>
              <a:rPr lang="en-US" altLang="zh-TW" sz="2000" b="0" dirty="0">
                <a:ea typeface="PMingLiU" panose="02020500000000000000" pitchFamily="18" charset="-120"/>
              </a:rPr>
              <a:t>is defined as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and represents the maximum radiated power available from transmitter in the direction of maximum antenna gain as compared to an isotropic radiator.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Path loss for the free space model with antenna gains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When antenna gains are excluded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</a:t>
            </a:r>
            <a:r>
              <a:rPr lang="en-US" altLang="zh-TW" sz="2000" b="0" dirty="0" err="1">
                <a:ea typeface="PMingLiU" panose="02020500000000000000" pitchFamily="18" charset="-120"/>
              </a:rPr>
              <a:t>Friis</a:t>
            </a:r>
            <a:r>
              <a:rPr lang="en-US" altLang="zh-TW" sz="2000" b="0" dirty="0">
                <a:ea typeface="PMingLiU" panose="02020500000000000000" pitchFamily="18" charset="-120"/>
              </a:rPr>
              <a:t> free space model is only a valid predictor for       </a:t>
            </a:r>
            <a:r>
              <a:rPr lang="en-US" altLang="zh-TW" sz="2000" b="0" dirty="0" err="1">
                <a:ea typeface="PMingLiU" panose="02020500000000000000" pitchFamily="18" charset="-120"/>
              </a:rPr>
              <a:t>for</a:t>
            </a:r>
            <a:r>
              <a:rPr lang="en-US" altLang="zh-TW" sz="2000" b="0" dirty="0">
                <a:ea typeface="PMingLiU" panose="02020500000000000000" pitchFamily="18" charset="-120"/>
              </a:rPr>
              <a:t> values of </a:t>
            </a:r>
            <a:r>
              <a:rPr lang="en-US" altLang="zh-TW" sz="2000" b="0" i="1" dirty="0">
                <a:ea typeface="PMingLiU" panose="02020500000000000000" pitchFamily="18" charset="-120"/>
              </a:rPr>
              <a:t>d</a:t>
            </a:r>
            <a:r>
              <a:rPr lang="en-US" altLang="zh-TW" sz="2000" b="0" dirty="0">
                <a:ea typeface="PMingLiU" panose="02020500000000000000" pitchFamily="18" charset="-120"/>
              </a:rPr>
              <a:t> which is in the far-field (Fraunhofer region) of the transmission antenna. </a:t>
            </a:r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9695D78A-F9CA-480F-85C0-A2E4D4F7A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1371600"/>
          <a:ext cx="12969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787320" imgH="228600" progId="Equation.3">
                  <p:embed/>
                </p:oleObj>
              </mc:Choice>
              <mc:Fallback>
                <p:oleObj name="方程式" r:id="rId2" imgW="787320" imgH="228600" progId="Equation.3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9695D78A-F9CA-480F-85C0-A2E4D4F7A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371600"/>
                        <a:ext cx="129698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A3CB17B1-7783-4F1D-AD46-1DC4D86F0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3067050"/>
          <a:ext cx="40592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2463480" imgH="482400" progId="Equation.3">
                  <p:embed/>
                </p:oleObj>
              </mc:Choice>
              <mc:Fallback>
                <p:oleObj name="方程式" r:id="rId4" imgW="2463480" imgH="482400" progId="Equation.3">
                  <p:embed/>
                  <p:pic>
                    <p:nvPicPr>
                      <p:cNvPr id="3075" name="Object 3">
                        <a:extLst>
                          <a:ext uri="{FF2B5EF4-FFF2-40B4-BE49-F238E27FC236}">
                            <a16:creationId xmlns:a16="http://schemas.microsoft.com/office/drawing/2014/main" id="{A3CB17B1-7783-4F1D-AD46-1DC4D86F0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3067050"/>
                        <a:ext cx="40592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3C487AEA-105B-4626-9E17-D1FCEB6B2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191000"/>
          <a:ext cx="40592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463480" imgH="482400" progId="Equation.3">
                  <p:embed/>
                </p:oleObj>
              </mc:Choice>
              <mc:Fallback>
                <p:oleObj name="方程式" r:id="rId6" imgW="2463480" imgH="482400" progId="Equation.3">
                  <p:embed/>
                  <p:pic>
                    <p:nvPicPr>
                      <p:cNvPr id="3076" name="Object 4">
                        <a:extLst>
                          <a:ext uri="{FF2B5EF4-FFF2-40B4-BE49-F238E27FC236}">
                            <a16:creationId xmlns:a16="http://schemas.microsoft.com/office/drawing/2014/main" id="{3C487AEA-105B-4626-9E17-D1FCEB6B27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91000"/>
                        <a:ext cx="40592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>
            <a:extLst>
              <a:ext uri="{FF2B5EF4-FFF2-40B4-BE49-F238E27FC236}">
                <a16:creationId xmlns:a16="http://schemas.microsoft.com/office/drawing/2014/main" id="{C4B7C8EC-1A76-4C5F-A53A-13D846044D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7566" y="5257800"/>
          <a:ext cx="2698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64880" imgH="215640" progId="Equation.3">
                  <p:embed/>
                </p:oleObj>
              </mc:Choice>
              <mc:Fallback>
                <p:oleObj name="方程式" r:id="rId8" imgW="164880" imgH="215640" progId="Equation.3">
                  <p:embed/>
                  <p:pic>
                    <p:nvPicPr>
                      <p:cNvPr id="3077" name="Object 5">
                        <a:extLst>
                          <a:ext uri="{FF2B5EF4-FFF2-40B4-BE49-F238E27FC236}">
                            <a16:creationId xmlns:a16="http://schemas.microsoft.com/office/drawing/2014/main" id="{C4B7C8EC-1A76-4C5F-A53A-13D846044D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566" y="5257800"/>
                        <a:ext cx="2698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6C04035-395E-46E7-CDFC-913B4045210D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5857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Rectangle 2">
            <a:extLst>
              <a:ext uri="{FF2B5EF4-FFF2-40B4-BE49-F238E27FC236}">
                <a16:creationId xmlns:a16="http://schemas.microsoft.com/office/drawing/2014/main" id="{08367C6B-8A8B-4D11-9849-961FCB777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"/>
            <a:ext cx="77724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The far-field region of a transmitting antenna is defined as the region beyond the far-field distance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 where </a:t>
            </a:r>
            <a:r>
              <a:rPr lang="en-US" altLang="zh-TW" sz="2000" b="0" i="1" dirty="0">
                <a:ea typeface="PMingLiU" panose="02020500000000000000" pitchFamily="18" charset="-120"/>
              </a:rPr>
              <a:t>D</a:t>
            </a:r>
            <a:r>
              <a:rPr lang="en-US" altLang="zh-TW" sz="2000" b="0" dirty="0">
                <a:ea typeface="PMingLiU" panose="02020500000000000000" pitchFamily="18" charset="-120"/>
              </a:rPr>
              <a:t> is the largest physical linear dimension of the antenna.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To be in the far-filed region the following equations must be satisfied                    and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Furthermore, the following equation does not hold for </a:t>
            </a:r>
            <a:r>
              <a:rPr lang="en-US" altLang="zh-TW" sz="2000" b="0" i="1" dirty="0">
                <a:ea typeface="PMingLiU" panose="02020500000000000000" pitchFamily="18" charset="-120"/>
              </a:rPr>
              <a:t>d=0</a:t>
            </a:r>
            <a:r>
              <a:rPr lang="en-US" altLang="zh-TW" sz="2000" b="0" dirty="0">
                <a:ea typeface="PMingLiU" panose="02020500000000000000" pitchFamily="18" charset="-120"/>
              </a:rPr>
              <a:t>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TW" sz="2000" b="0" dirty="0">
                <a:ea typeface="PMingLiU" panose="02020500000000000000" pitchFamily="18" charset="-120"/>
              </a:rPr>
              <a:t>Use close-in distance        and a known received power             at that point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zh-TW" sz="2000" b="0" dirty="0">
              <a:ea typeface="PMingLiU" panose="02020500000000000000" pitchFamily="18" charset="-12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TW" sz="2000" b="0" dirty="0">
                <a:ea typeface="PMingLiU" panose="02020500000000000000" pitchFamily="18" charset="-120"/>
              </a:rPr>
              <a:t>     or</a:t>
            </a: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BBE07FAE-56AF-458A-8F56-3476FFDA0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4112" y="1034642"/>
          <a:ext cx="10826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660240" imgH="419040" progId="Equation.3">
                  <p:embed/>
                </p:oleObj>
              </mc:Choice>
              <mc:Fallback>
                <p:oleObj name="方程式" r:id="rId2" imgW="660240" imgH="419040" progId="Equation.3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BBE07FAE-56AF-458A-8F56-3476FFDA0C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4112" y="1034642"/>
                        <a:ext cx="108267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>
            <a:extLst>
              <a:ext uri="{FF2B5EF4-FFF2-40B4-BE49-F238E27FC236}">
                <a16:creationId xmlns:a16="http://schemas.microsoft.com/office/drawing/2014/main" id="{7707A299-ABC6-4E74-9445-DB83E4CFD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0" y="2575719"/>
          <a:ext cx="939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571320" imgH="241200" progId="Equation.3">
                  <p:embed/>
                </p:oleObj>
              </mc:Choice>
              <mc:Fallback>
                <p:oleObj name="方程式" r:id="rId4" imgW="571320" imgH="241200" progId="Equation.3">
                  <p:embed/>
                  <p:pic>
                    <p:nvPicPr>
                      <p:cNvPr id="4099" name="Object 3">
                        <a:extLst>
                          <a:ext uri="{FF2B5EF4-FFF2-40B4-BE49-F238E27FC236}">
                            <a16:creationId xmlns:a16="http://schemas.microsoft.com/office/drawing/2014/main" id="{7707A299-ABC6-4E74-9445-DB83E4CFD7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2575719"/>
                        <a:ext cx="9398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>
            <a:extLst>
              <a:ext uri="{FF2B5EF4-FFF2-40B4-BE49-F238E27FC236}">
                <a16:creationId xmlns:a16="http://schemas.microsoft.com/office/drawing/2014/main" id="{73B35D09-400B-4CEC-96A7-B295DB546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6563" y="2568073"/>
          <a:ext cx="8953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545760" imgH="241200" progId="Equation.3">
                  <p:embed/>
                </p:oleObj>
              </mc:Choice>
              <mc:Fallback>
                <p:oleObj name="方程式" r:id="rId6" imgW="545760" imgH="241200" progId="Equation.3">
                  <p:embed/>
                  <p:pic>
                    <p:nvPicPr>
                      <p:cNvPr id="4100" name="Object 4">
                        <a:extLst>
                          <a:ext uri="{FF2B5EF4-FFF2-40B4-BE49-F238E27FC236}">
                            <a16:creationId xmlns:a16="http://schemas.microsoft.com/office/drawing/2014/main" id="{73B35D09-400B-4CEC-96A7-B295DB546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2568073"/>
                        <a:ext cx="8953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>
            <a:extLst>
              <a:ext uri="{FF2B5EF4-FFF2-40B4-BE49-F238E27FC236}">
                <a16:creationId xmlns:a16="http://schemas.microsoft.com/office/drawing/2014/main" id="{B4C50F22-53DF-4FC0-A967-E68A5B3A65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8635" y="3262061"/>
          <a:ext cx="18954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143000" imgH="444240" progId="Equation.3">
                  <p:embed/>
                </p:oleObj>
              </mc:Choice>
              <mc:Fallback>
                <p:oleObj name="方程式" r:id="rId8" imgW="1143000" imgH="444240" progId="Equation.3">
                  <p:embed/>
                  <p:pic>
                    <p:nvPicPr>
                      <p:cNvPr id="4101" name="Object 5">
                        <a:extLst>
                          <a:ext uri="{FF2B5EF4-FFF2-40B4-BE49-F238E27FC236}">
                            <a16:creationId xmlns:a16="http://schemas.microsoft.com/office/drawing/2014/main" id="{B4C50F22-53DF-4FC0-A967-E68A5B3A65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635" y="3262061"/>
                        <a:ext cx="1895475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>
            <a:extLst>
              <a:ext uri="{FF2B5EF4-FFF2-40B4-BE49-F238E27FC236}">
                <a16:creationId xmlns:a16="http://schemas.microsoft.com/office/drawing/2014/main" id="{E8B3E141-5B84-45F4-AF05-D7D877373D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4017600"/>
          <a:ext cx="2921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177480" imgH="228600" progId="Equation.3">
                  <p:embed/>
                </p:oleObj>
              </mc:Choice>
              <mc:Fallback>
                <p:oleObj name="方程式" r:id="rId10" imgW="177480" imgH="228600" progId="Equation.3">
                  <p:embed/>
                  <p:pic>
                    <p:nvPicPr>
                      <p:cNvPr id="4102" name="Object 6">
                        <a:extLst>
                          <a:ext uri="{FF2B5EF4-FFF2-40B4-BE49-F238E27FC236}">
                            <a16:creationId xmlns:a16="http://schemas.microsoft.com/office/drawing/2014/main" id="{E8B3E141-5B84-45F4-AF05-D7D877373D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4017600"/>
                        <a:ext cx="2921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>
            <a:extLst>
              <a:ext uri="{FF2B5EF4-FFF2-40B4-BE49-F238E27FC236}">
                <a16:creationId xmlns:a16="http://schemas.microsoft.com/office/drawing/2014/main" id="{62AEEEA9-2119-4EA6-931E-23D97A580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2387" y="4035559"/>
          <a:ext cx="7096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431640" imgH="228600" progId="Equation.3">
                  <p:embed/>
                </p:oleObj>
              </mc:Choice>
              <mc:Fallback>
                <p:oleObj name="方程式" r:id="rId12" imgW="431640" imgH="228600" progId="Equation.3">
                  <p:embed/>
                  <p:pic>
                    <p:nvPicPr>
                      <p:cNvPr id="4103" name="Object 7">
                        <a:extLst>
                          <a:ext uri="{FF2B5EF4-FFF2-40B4-BE49-F238E27FC236}">
                            <a16:creationId xmlns:a16="http://schemas.microsoft.com/office/drawing/2014/main" id="{62AEEEA9-2119-4EA6-931E-23D97A580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2387" y="4035559"/>
                        <a:ext cx="70961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>
            <a:extLst>
              <a:ext uri="{FF2B5EF4-FFF2-40B4-BE49-F238E27FC236}">
                <a16:creationId xmlns:a16="http://schemas.microsoft.com/office/drawing/2014/main" id="{39F1C882-5B95-41AC-AB7E-C9FF756F6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6942" y="4473033"/>
          <a:ext cx="212725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1282680" imgH="469800" progId="Equation.3">
                  <p:embed/>
                </p:oleObj>
              </mc:Choice>
              <mc:Fallback>
                <p:oleObj name="方程式" r:id="rId14" imgW="1282680" imgH="469800" progId="Equation.3">
                  <p:embed/>
                  <p:pic>
                    <p:nvPicPr>
                      <p:cNvPr id="4104" name="Object 8">
                        <a:extLst>
                          <a:ext uri="{FF2B5EF4-FFF2-40B4-BE49-F238E27FC236}">
                            <a16:creationId xmlns:a16="http://schemas.microsoft.com/office/drawing/2014/main" id="{39F1C882-5B95-41AC-AB7E-C9FF756F65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942" y="4473033"/>
                        <a:ext cx="2127250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C4C3772E-1573-4E98-9709-A0D0A0A92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1920" y="4664326"/>
          <a:ext cx="1222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6" imgW="736560" imgH="241200" progId="Equation.3">
                  <p:embed/>
                </p:oleObj>
              </mc:Choice>
              <mc:Fallback>
                <p:oleObj name="方程式" r:id="rId16" imgW="736560" imgH="241200" progId="Equation.3">
                  <p:embed/>
                  <p:pic>
                    <p:nvPicPr>
                      <p:cNvPr id="4105" name="Object 9">
                        <a:extLst>
                          <a:ext uri="{FF2B5EF4-FFF2-40B4-BE49-F238E27FC236}">
                            <a16:creationId xmlns:a16="http://schemas.microsoft.com/office/drawing/2014/main" id="{C4C3772E-1573-4E98-9709-A0D0A0A926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1920" y="4664326"/>
                        <a:ext cx="1222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" name="Object 10">
            <a:extLst>
              <a:ext uri="{FF2B5EF4-FFF2-40B4-BE49-F238E27FC236}">
                <a16:creationId xmlns:a16="http://schemas.microsoft.com/office/drawing/2014/main" id="{419465A3-6A04-4282-B0F8-B65FC7A811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2900" y="5372060"/>
          <a:ext cx="4486275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8" imgW="2705040" imgH="431640" progId="Equation.3">
                  <p:embed/>
                </p:oleObj>
              </mc:Choice>
              <mc:Fallback>
                <p:oleObj name="方程式" r:id="rId18" imgW="2705040" imgH="431640" progId="Equation.3">
                  <p:embed/>
                  <p:pic>
                    <p:nvPicPr>
                      <p:cNvPr id="4106" name="Object 10">
                        <a:extLst>
                          <a:ext uri="{FF2B5EF4-FFF2-40B4-BE49-F238E27FC236}">
                            <a16:creationId xmlns:a16="http://schemas.microsoft.com/office/drawing/2014/main" id="{419465A3-6A04-4282-B0F8-B65FC7A811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5372060"/>
                        <a:ext cx="4486275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>
            <a:extLst>
              <a:ext uri="{FF2B5EF4-FFF2-40B4-BE49-F238E27FC236}">
                <a16:creationId xmlns:a16="http://schemas.microsoft.com/office/drawing/2014/main" id="{D0AED553-65BE-43DD-8495-AA627D4235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599" y="5458811"/>
          <a:ext cx="12223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0" imgW="736560" imgH="241200" progId="Equation.3">
                  <p:embed/>
                </p:oleObj>
              </mc:Choice>
              <mc:Fallback>
                <p:oleObj name="方程式" r:id="rId20" imgW="736560" imgH="241200" progId="Equation.3">
                  <p:embed/>
                  <p:pic>
                    <p:nvPicPr>
                      <p:cNvPr id="4107" name="Object 11">
                        <a:extLst>
                          <a:ext uri="{FF2B5EF4-FFF2-40B4-BE49-F238E27FC236}">
                            <a16:creationId xmlns:a16="http://schemas.microsoft.com/office/drawing/2014/main" id="{D0AED553-65BE-43DD-8495-AA627D423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599" y="5458811"/>
                        <a:ext cx="12223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EAA9D47-ED77-59AE-CC25-FDF24C57F04C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4697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0C598-18CA-83F2-8780-92ADB82E446D}"/>
              </a:ext>
            </a:extLst>
          </p:cNvPr>
          <p:cNvSpPr txBox="1"/>
          <p:nvPr/>
        </p:nvSpPr>
        <p:spPr>
          <a:xfrm>
            <a:off x="453751" y="920564"/>
            <a:ext cx="84249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The </a:t>
            </a:r>
            <a:r>
              <a:rPr lang="en-US" sz="1800" b="0" i="0" dirty="0" err="1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Friis</a:t>
            </a:r>
            <a:r>
              <a:rPr lang="en-US" sz="1800" b="0" i="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 equation can be modified to accommodate different environments, on the reason that the received signal decreases as the </a:t>
            </a:r>
            <a:r>
              <a:rPr lang="en-US" sz="1800" b="1" i="1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n</a:t>
            </a:r>
            <a:r>
              <a:rPr lang="en-US" sz="1800" b="1" i="1" baseline="3000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th</a:t>
            </a:r>
            <a:r>
              <a:rPr lang="en-US" sz="1800" b="0" i="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 power of distance, where the parameter </a:t>
            </a:r>
            <a:r>
              <a:rPr lang="en-US" sz="1800" b="1" i="1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n</a:t>
            </a:r>
            <a:r>
              <a:rPr lang="en-US" sz="1800" b="0" i="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 is the </a:t>
            </a:r>
            <a:r>
              <a:rPr lang="en-US" sz="1800" b="1" i="1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path-loss exponent</a:t>
            </a:r>
            <a:r>
              <a:rPr lang="en-US" sz="1800" b="0" i="1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 </a:t>
            </a:r>
            <a:r>
              <a:rPr lang="en-US" sz="1800" b="1" i="1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(PLE)</a:t>
            </a:r>
            <a:r>
              <a:rPr lang="en-US" sz="1800" b="0" i="0" dirty="0">
                <a:solidFill>
                  <a:srgbClr val="3A3A3A"/>
                </a:solidFill>
                <a:effectLst/>
                <a:cs typeface="Arial" panose="020B0604020202020204" pitchFamily="34" charset="0"/>
              </a:rPr>
              <a:t> that takes constant values depending on the environment that is modeled (see Table below} for various empirical values for PLE).</a:t>
            </a:r>
            <a:endParaRPr lang="en-US" sz="1800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F4BE7-D916-FA18-B515-CEA93C84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3" y="3428998"/>
            <a:ext cx="14" cy="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B7BD97-A06A-1E19-A575-14CECBCD5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219" y="2132856"/>
            <a:ext cx="3169920" cy="88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 descr="Table showing Friis free space transmission equation path loss exponent">
            <a:extLst>
              <a:ext uri="{FF2B5EF4-FFF2-40B4-BE49-F238E27FC236}">
                <a16:creationId xmlns:a16="http://schemas.microsoft.com/office/drawing/2014/main" id="{18DFD96C-4AC0-BF39-69C4-69DD433F1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179" y="3016777"/>
            <a:ext cx="6349550" cy="295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44C280-C865-E910-E129-CD193ACF1EB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677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85E589-1E38-1816-7BA2-CF8D7F1F4AB3}"/>
              </a:ext>
            </a:extLst>
          </p:cNvPr>
          <p:cNvSpPr txBox="1"/>
          <p:nvPr/>
        </p:nvSpPr>
        <p:spPr>
          <a:xfrm>
            <a:off x="899592" y="5301208"/>
            <a:ext cx="7488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AdvP41153C"/>
              </a:rPr>
              <a:t>free-space path loss at the carrier frequency of </a:t>
            </a:r>
            <a:r>
              <a:rPr lang="en-US" sz="2400" b="0" i="0" u="none" strike="noStrike" baseline="0" dirty="0">
                <a:latin typeface="AdvP3D1FEB"/>
              </a:rPr>
              <a:t>f</a:t>
            </a:r>
            <a:r>
              <a:rPr lang="en-US" sz="800" b="0" i="0" u="none" strike="noStrike" baseline="0" dirty="0">
                <a:latin typeface="AdvP3D1FEB"/>
              </a:rPr>
              <a:t>c </a:t>
            </a:r>
            <a:r>
              <a:rPr lang="en-US" sz="2400" b="0" i="0" u="none" strike="noStrike" baseline="0" dirty="0">
                <a:latin typeface="AdvP4C4E74"/>
              </a:rPr>
              <a:t> = </a:t>
            </a:r>
            <a:r>
              <a:rPr lang="en-US" sz="2400" b="0" i="0" u="none" strike="noStrike" baseline="0" dirty="0">
                <a:latin typeface="AdvP41153C"/>
              </a:rPr>
              <a:t>1</a:t>
            </a:r>
            <a:r>
              <a:rPr lang="en-US" dirty="0">
                <a:latin typeface="AdvP4C4E51"/>
              </a:rPr>
              <a:t>.5</a:t>
            </a:r>
            <a:r>
              <a:rPr lang="en-US" sz="2400" b="0" i="0" u="none" strike="noStrike" baseline="0" dirty="0">
                <a:latin typeface="AdvP41153C"/>
              </a:rPr>
              <a:t> GHz for different antenna gains as the distance varies.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4BE577-F5CF-47D0-5AED-FE4B6B192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044231"/>
            <a:ext cx="4998720" cy="422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66F4A6-10E3-3C02-96FF-019A98AB4166}"/>
              </a:ext>
            </a:extLst>
          </p:cNvPr>
          <p:cNvSpPr txBox="1"/>
          <p:nvPr/>
        </p:nvSpPr>
        <p:spPr>
          <a:xfrm>
            <a:off x="1907704" y="260648"/>
            <a:ext cx="6120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cs typeface="Arial" panose="020B0604020202020204" pitchFamily="34" charset="0"/>
              </a:rPr>
              <a:t>Free-space Path </a:t>
            </a:r>
            <a:r>
              <a:rPr lang="en-US" sz="3200" b="1" dirty="0">
                <a:cs typeface="Arial" panose="020B0604020202020204" pitchFamily="34" charset="0"/>
              </a:rPr>
              <a:t>L</a:t>
            </a:r>
            <a:r>
              <a:rPr lang="en-US" sz="3200" b="1" i="0" u="none" strike="noStrike" baseline="0" dirty="0">
                <a:cs typeface="Arial" panose="020B0604020202020204" pitchFamily="34" charset="0"/>
              </a:rPr>
              <a:t>oss </a:t>
            </a:r>
            <a:r>
              <a:rPr lang="en-US" sz="3200" b="1" dirty="0">
                <a:cs typeface="Arial" panose="020B0604020202020204" pitchFamily="34" charset="0"/>
              </a:rPr>
              <a:t>M</a:t>
            </a:r>
            <a:r>
              <a:rPr lang="en-US" sz="3200" b="1" i="0" u="none" strike="noStrike" baseline="0" dirty="0">
                <a:cs typeface="Arial" panose="020B0604020202020204" pitchFamily="34" charset="0"/>
              </a:rPr>
              <a:t>odel.</a:t>
            </a:r>
            <a:endParaRPr lang="en-US" sz="3200" b="1" dirty="0"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2A9588-81FD-AE2B-66CF-EA7780F2809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570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60D5C2-4D4D-4CF1-8EB6-F46E2F46B001}"/>
              </a:ext>
            </a:extLst>
          </p:cNvPr>
          <p:cNvSpPr/>
          <p:nvPr/>
        </p:nvSpPr>
        <p:spPr>
          <a:xfrm>
            <a:off x="457201" y="1166070"/>
            <a:ext cx="8107959" cy="2516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Suppose a transmitter produces 50W of power. 			 	a. 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 the transmit power in units of dBm and </a:t>
            </a:r>
            <a:r>
              <a:rPr lang="en-US" sz="18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dBW</a:t>
            </a: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2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If the transmitter’s power is applied to a unity gain antenna with a 900-MHz carrier frequency, what is the received power in dBm at a free space distance of 100 m?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2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Repeat (ii) for a distance of 10km.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0" lvl="2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Repeat (ii) (iii) under ground reflected model with the height of the transmitter and receiver being 30m and 1m respectively.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000ABF-F647-4B4E-9308-3C5F6CEF3C32}"/>
              </a:ext>
            </a:extLst>
          </p:cNvPr>
          <p:cNvSpPr txBox="1">
            <a:spLocks/>
          </p:cNvSpPr>
          <p:nvPr/>
        </p:nvSpPr>
        <p:spPr>
          <a:xfrm>
            <a:off x="1702964" y="307975"/>
            <a:ext cx="6983835" cy="1139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  <a:cs typeface="ヒラギノ角ゴ Pro W3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  <a:cs typeface="ヒラギノ角ゴ Pro W3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  <a:cs typeface="ヒラギノ角ゴ Pro W3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  <a:cs typeface="ヒラギノ角ゴ Pro W3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3600" kern="0" dirty="0"/>
              <a:t>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97B29-B725-2B0F-1D61-8B9C24944BD3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4A214-FD32-9484-520C-D319E3AB38C5}"/>
              </a:ext>
            </a:extLst>
          </p:cNvPr>
          <p:cNvSpPr txBox="1"/>
          <p:nvPr/>
        </p:nvSpPr>
        <p:spPr>
          <a:xfrm>
            <a:off x="428803" y="4077072"/>
            <a:ext cx="84576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+mj-lt"/>
              </a:rPr>
              <a:t>2. Consider an indoor wireless LAN with fc = 900 MHz, cells of radius 100 m, and 	nondirectional antennas. Under the free-space path loss model, what transmit 	power is required at the access point in order for all terminals within the cell to 	receive a minimum power of 10µW? How does this change if the system 	frequency is 5 GHz?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C9078-6AA7-8F01-FABF-D3127E1C89AD}"/>
              </a:ext>
            </a:extLst>
          </p:cNvPr>
          <p:cNvSpPr txBox="1"/>
          <p:nvPr/>
        </p:nvSpPr>
        <p:spPr>
          <a:xfrm>
            <a:off x="5295049" y="5694616"/>
            <a:ext cx="32964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>
                <a:highlight>
                  <a:srgbClr val="FFFF00"/>
                </a:highlight>
              </a:rPr>
              <a:t>P</a:t>
            </a:r>
            <a:r>
              <a:rPr lang="pl-PL" sz="2000" b="1" baseline="-25000" dirty="0">
                <a:highlight>
                  <a:srgbClr val="FFFF00"/>
                </a:highlight>
              </a:rPr>
              <a:t>t</a:t>
            </a:r>
            <a:r>
              <a:rPr lang="pl-PL" sz="2000" b="1" dirty="0">
                <a:highlight>
                  <a:srgbClr val="FFFF00"/>
                </a:highlight>
              </a:rPr>
              <a:t> = 43.9 kW = 16.42 d</a:t>
            </a:r>
            <a:r>
              <a:rPr lang="en-US" sz="2000" b="1" dirty="0">
                <a:highlight>
                  <a:srgbClr val="FFFF00"/>
                </a:highlight>
              </a:rPr>
              <a:t>BW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915C8-E8DE-0241-D13D-F188CEFE2516}"/>
              </a:ext>
            </a:extLst>
          </p:cNvPr>
          <p:cNvSpPr txBox="1"/>
          <p:nvPr/>
        </p:nvSpPr>
        <p:spPr>
          <a:xfrm>
            <a:off x="1043608" y="5663838"/>
            <a:ext cx="4576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highlight>
                  <a:srgbClr val="FFFF00"/>
                </a:highlight>
              </a:defRPr>
            </a:lvl1pPr>
          </a:lstStyle>
          <a:p>
            <a:r>
              <a:rPr lang="pl-PL" dirty="0"/>
              <a:t>Pt = 1.45 W = 1.61 dBW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6BA1429-FEB8-FE72-AD77-D4C04AB15EF1}"/>
                  </a:ext>
                </a:extLst>
              </p:cNvPr>
              <p:cNvSpPr txBox="1"/>
              <p:nvPr/>
            </p:nvSpPr>
            <p:spPr bwMode="auto">
              <a:xfrm>
                <a:off x="6876256" y="3314573"/>
                <a:ext cx="1895475" cy="735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/>
                            <m:t> 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Object 2">
                <a:extLst>
                  <a:ext uri="{FF2B5EF4-FFF2-40B4-BE49-F238E27FC236}">
                    <a16:creationId xmlns:a16="http://schemas.microsoft.com/office/drawing/2014/main" id="{A6BA1429-FEB8-FE72-AD77-D4C04AB15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6256" y="3314573"/>
                <a:ext cx="1895475" cy="735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E3C38A6-AF6E-24B6-D19B-5B7806F65179}"/>
              </a:ext>
            </a:extLst>
          </p:cNvPr>
          <p:cNvSpPr txBox="1"/>
          <p:nvPr/>
        </p:nvSpPr>
        <p:spPr>
          <a:xfrm>
            <a:off x="3972031" y="2420888"/>
            <a:ext cx="189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highlight>
                  <a:srgbClr val="FFFF00"/>
                </a:highlight>
              </a:rPr>
              <a:t>P</a:t>
            </a:r>
            <a:r>
              <a:rPr lang="en-US" sz="1800" b="1" baseline="-25000" dirty="0">
                <a:highlight>
                  <a:srgbClr val="FFFF00"/>
                </a:highlight>
              </a:rPr>
              <a:t>r</a:t>
            </a:r>
            <a:r>
              <a:rPr lang="pl-PL" sz="1800" b="1" dirty="0">
                <a:highlight>
                  <a:srgbClr val="FFFF00"/>
                </a:highlight>
              </a:rPr>
              <a:t> = </a:t>
            </a:r>
            <a:r>
              <a:rPr lang="en-US" sz="1800" b="1" dirty="0">
                <a:highlight>
                  <a:srgbClr val="FFFF00"/>
                </a:highlight>
              </a:rPr>
              <a:t>-24.62dBm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120A16-2610-043E-6FF5-DBE62E98ECA4}"/>
              </a:ext>
            </a:extLst>
          </p:cNvPr>
          <p:cNvSpPr txBox="1"/>
          <p:nvPr/>
        </p:nvSpPr>
        <p:spPr>
          <a:xfrm>
            <a:off x="5824276" y="2674427"/>
            <a:ext cx="1896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highlight>
                  <a:srgbClr val="FFFF00"/>
                </a:highlight>
              </a:rPr>
              <a:t>P</a:t>
            </a:r>
            <a:r>
              <a:rPr lang="en-US" sz="1800" b="1" baseline="-25000" dirty="0">
                <a:highlight>
                  <a:srgbClr val="FFFF00"/>
                </a:highlight>
              </a:rPr>
              <a:t>r</a:t>
            </a:r>
            <a:r>
              <a:rPr lang="pl-PL" sz="1800" b="1" dirty="0">
                <a:highlight>
                  <a:srgbClr val="FFFF00"/>
                </a:highlight>
              </a:rPr>
              <a:t> = </a:t>
            </a:r>
            <a:r>
              <a:rPr lang="en-US" sz="1800" b="1" dirty="0">
                <a:highlight>
                  <a:srgbClr val="FFFF00"/>
                </a:highlight>
              </a:rPr>
              <a:t>-64.52dBm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C579AB-A21F-89D4-C788-94A865FF83BD}"/>
              </a:ext>
            </a:extLst>
          </p:cNvPr>
          <p:cNvSpPr txBox="1"/>
          <p:nvPr/>
        </p:nvSpPr>
        <p:spPr>
          <a:xfrm>
            <a:off x="6588224" y="936876"/>
            <a:ext cx="1896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highlight>
                  <a:srgbClr val="FFFF00"/>
                </a:highlight>
              </a:rPr>
              <a:t>16.99 </a:t>
            </a:r>
            <a:r>
              <a:rPr lang="en-US" sz="1800" b="1" dirty="0" err="1">
                <a:highlight>
                  <a:srgbClr val="FFFF00"/>
                </a:highlight>
              </a:rPr>
              <a:t>dBw</a:t>
            </a:r>
            <a:r>
              <a:rPr lang="en-US" sz="1800" b="1" dirty="0">
                <a:highlight>
                  <a:srgbClr val="FFFF00"/>
                </a:highlight>
              </a:rPr>
              <a:t>, 46.99 dBm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1E6108-574D-336E-1BB3-08FEF38EB313}"/>
              </a:ext>
            </a:extLst>
          </p:cNvPr>
          <p:cNvSpPr txBox="1"/>
          <p:nvPr/>
        </p:nvSpPr>
        <p:spPr>
          <a:xfrm>
            <a:off x="3298767" y="3617148"/>
            <a:ext cx="3455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highlight>
                  <a:srgbClr val="FFFF00"/>
                </a:highlight>
              </a:rPr>
              <a:t>P</a:t>
            </a:r>
            <a:r>
              <a:rPr lang="en-US" sz="1800" b="1" baseline="-25000" dirty="0">
                <a:highlight>
                  <a:srgbClr val="FFFF00"/>
                </a:highlight>
              </a:rPr>
              <a:t>r</a:t>
            </a:r>
            <a:r>
              <a:rPr lang="pl-PL" sz="1800" b="1" dirty="0">
                <a:highlight>
                  <a:srgbClr val="FFFF00"/>
                </a:highlight>
              </a:rPr>
              <a:t> = </a:t>
            </a:r>
            <a:r>
              <a:rPr lang="en-US" sz="1800" b="1" dirty="0">
                <a:highlight>
                  <a:srgbClr val="FFFF00"/>
                </a:highlight>
              </a:rPr>
              <a:t>-33.47 </a:t>
            </a:r>
            <a:r>
              <a:rPr lang="en-US" sz="1800" b="1" dirty="0" err="1">
                <a:highlight>
                  <a:srgbClr val="FFFF00"/>
                </a:highlight>
              </a:rPr>
              <a:t>dBw</a:t>
            </a:r>
            <a:r>
              <a:rPr lang="en-US" sz="1800" b="1" dirty="0">
                <a:highlight>
                  <a:srgbClr val="FFFF00"/>
                </a:highlight>
              </a:rPr>
              <a:t>, -113.47 </a:t>
            </a:r>
            <a:r>
              <a:rPr lang="en-US" sz="1800" b="1" dirty="0" err="1">
                <a:highlight>
                  <a:srgbClr val="FFFF00"/>
                </a:highlight>
              </a:rPr>
              <a:t>dBw</a:t>
            </a:r>
            <a:endParaRPr lang="en-US" sz="1800" b="1" dirty="0">
              <a:highlight>
                <a:srgbClr val="FFFF00"/>
              </a:highlight>
            </a:endParaRPr>
          </a:p>
          <a:p>
            <a:endParaRPr lang="en-US" sz="18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6869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128" y="38100"/>
            <a:ext cx="7437946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Methods used to overcome Fading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EC917C-74FE-7CED-AEC9-1AC95466DC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221132"/>
              </p:ext>
            </p:extLst>
          </p:nvPr>
        </p:nvGraphicFramePr>
        <p:xfrm>
          <a:off x="304800" y="1352551"/>
          <a:ext cx="8667750" cy="474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F55E967-9902-CB0F-26F8-418D23DD2389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958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340" y="152400"/>
            <a:ext cx="7437946" cy="854279"/>
          </a:xfrm>
        </p:spPr>
        <p:txBody>
          <a:bodyPr/>
          <a:lstStyle/>
          <a:p>
            <a:r>
              <a:rPr lang="en-US" sz="3600"/>
              <a:t>                 Diversity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619" y="1224269"/>
            <a:ext cx="8321878" cy="3200400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Diversity is a powerful communication technique that provides wireless link improvements at relatively low cost.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It provides two or more inputs at the receiver such that fading phenomenon among these inputs are uncorrelated.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If one radio path undergoes deep fading another independent path may have a strong signal at that input.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Diversity exploits the random nature of radio propagation by finding independent signal path for communication.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These independent paths are highly uncorrelated.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57AEC-7AC4-4800-08D6-E3DA92055720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58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596" y="1314139"/>
            <a:ext cx="8715810" cy="1512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Diversity scheme is needed in wireless communication because if one path of radio signal undergoes a deep fading then another independent path may have a strong signal.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9" y="2827090"/>
            <a:ext cx="8511657" cy="29982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A88B4D-AC03-8A90-C7E1-B4586BD0232A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412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Diversity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1"/>
            <a:ext cx="8667750" cy="606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Following are the different diversity techniques: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80FEF6EF-19EA-40B6-A0B5-D86803676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3656" y="1959428"/>
            <a:ext cx="6657880" cy="37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C7EEE0-EA71-8769-87B8-64AC987F080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799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676" y="1312975"/>
            <a:ext cx="7878224" cy="384386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 space diversity, signal is propagated over various propagation paths.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It uses two or more antennas to receive the signal.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Antennas are spaced enough from each other.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 urban areas, there is no clear line-of-sight between the receiver and the transmitter, so signal is reflected along multipath. So, space diversity is used to overcome this.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It is also known as Antenna diversity.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 wired transmission, it is done by transmitting using multiple wires.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D6B21-A32C-B4F8-E717-CF8EAAB0C768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442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diversity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8" y="1427584"/>
            <a:ext cx="8237184" cy="4221045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8C7F76-5F8C-4016-053C-564F0BEE782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16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6054" y="301576"/>
            <a:ext cx="7437946" cy="1143000"/>
          </a:xfrm>
        </p:spPr>
        <p:txBody>
          <a:bodyPr/>
          <a:lstStyle/>
          <a:p>
            <a:r>
              <a:rPr lang="en-US" sz="3600" dirty="0"/>
              <a:t>Time diversity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953" y="1372163"/>
            <a:ext cx="8120542" cy="3564467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In this form, multiple version of same signal are transmitted at different time instant.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Same signal is transmitted various time.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Message is spread in different time intervals which avoids the error burst.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It repeatedly transmits information at time spacing that exceed the coherence time of channel.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The interval between the transmission of same data should be at least the coherence time.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9F8DC-105B-4120-92A3-F5E8B26BF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334" y="4267714"/>
            <a:ext cx="3426925" cy="17395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3EA14-303A-47A3-8443-0166DA152C64}"/>
              </a:ext>
            </a:extLst>
          </p:cNvPr>
          <p:cNvSpPr/>
          <p:nvPr/>
        </p:nvSpPr>
        <p:spPr>
          <a:xfrm>
            <a:off x="500644" y="446858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 Multiple repetitions of the signal will be received with independent fading conditions.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 Interleaving is used to obtain time diversity in digital communication.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11E888-1152-2D98-922E-A9DFAC420790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96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What is Interleaving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Interleaving is a way to arrange the data in non-contiguous way to increase the performance.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The function of inter-leaver is to spread the bits out in time so that if there is  a deep fade or error burst, the important bits from the block of source data are not corrupted at the same time.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420644-A95A-0002-AC1B-4CD4BB4A8455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200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673" y="1181100"/>
            <a:ext cx="7927854" cy="4184002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Frequency diversity is implemented by transmitted same information on more than </a:t>
            </a:r>
            <a:r>
              <a:rPr lang="en-US" dirty="0"/>
              <a:t>one</a:t>
            </a:r>
            <a:r>
              <a:rPr lang="en-US" sz="1800" dirty="0"/>
              <a:t> carrier frequency.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These carrier frequencies are uncorrelated to each other, so they don’t experience the same fading.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endParaRPr lang="en-US" sz="1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800" dirty="0"/>
              <a:t>To make them least correlated, these carrier frequencies are separated by more than the coherence bandwidth of the channel.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29B41-D3D6-8BD1-A6D2-4A836D82874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255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398" y="1285682"/>
            <a:ext cx="8196888" cy="4480636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Frequency Hopping Spread Spectrum (FHSS) is a special case of frequency diversity.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OFDM modulation and access technique exploit the frequency diversity.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This can be achieved by providing simultaneous modulation signals with error control coding across a large bandwidth.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If a particular frequency undergoes a fade, the composite signal will still be demodulated.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CF299A-08BA-A9B0-D1A0-97EB2AE26C1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989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Polarization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412" y="1263340"/>
            <a:ext cx="8083175" cy="3146483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Multiple versions of a signal are transmitted and received using antennas with different polarization.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Antennas can be either horizontal or Vertically polarized.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The antennas take advantage of multipath propagation characteristics to receive separate uncorrelated signals.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SNR is improved by up to 12 dB even in line-of-sight channel.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73D9C-4CCD-5E4D-EF7D-E1CD36EF0F61}"/>
              </a:ext>
            </a:extLst>
          </p:cNvPr>
          <p:cNvSpPr/>
          <p:nvPr/>
        </p:nvSpPr>
        <p:spPr bwMode="auto">
          <a:xfrm>
            <a:off x="0" y="6381328"/>
            <a:ext cx="9144000" cy="4766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>
              <a:spcBef>
                <a:spcPts val="600"/>
              </a:spcBef>
            </a:pPr>
            <a:r>
              <a:rPr lang="en-US" sz="1200" dirty="0">
                <a:latin typeface="Arial"/>
                <a:ea typeface="ヒラギノ角ゴ Pro W3"/>
                <a:cs typeface="Arial"/>
              </a:rPr>
              <a:t>CNSCC.405: Digital Signal Processing</a:t>
            </a:r>
            <a:endParaRPr lang="en-US" sz="1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451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32EE7E707BF247A672E6FA7877FDE6" ma:contentTypeVersion="12" ma:contentTypeDescription="Create a new document." ma:contentTypeScope="" ma:versionID="49f69fbffb61d28ce917559913ba420c">
  <xsd:schema xmlns:xsd="http://www.w3.org/2001/XMLSchema" xmlns:xs="http://www.w3.org/2001/XMLSchema" xmlns:p="http://schemas.microsoft.com/office/2006/metadata/properties" xmlns:ns3="ca33b8cd-7d89-4f94-a122-284669bbb18e" xmlns:ns4="475cb750-64be-4c67-841b-d172bdfdd994" targetNamespace="http://schemas.microsoft.com/office/2006/metadata/properties" ma:root="true" ma:fieldsID="b7b4f63035086376901d0b7c0688e55c" ns3:_="" ns4:_="">
    <xsd:import namespace="ca33b8cd-7d89-4f94-a122-284669bbb18e"/>
    <xsd:import namespace="475cb750-64be-4c67-841b-d172bdfdd9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33b8cd-7d89-4f94-a122-284669bbb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cb750-64be-4c67-841b-d172bdfdd9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46DC68-FEF0-48AF-9243-8E5CDDC146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33b8cd-7d89-4f94-a122-284669bbb18e"/>
    <ds:schemaRef ds:uri="475cb750-64be-4c67-841b-d172bdfdd9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B2993F-1930-429C-A6B4-E1ECF1E0C849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ca33b8cd-7d89-4f94-a122-284669bbb18e"/>
    <ds:schemaRef ds:uri="http://purl.org/dc/terms/"/>
    <ds:schemaRef ds:uri="http://schemas.openxmlformats.org/package/2006/metadata/core-properties"/>
    <ds:schemaRef ds:uri="475cb750-64be-4c67-841b-d172bdfdd99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EDD612-6BCF-42DE-80EB-8D2738942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321</TotalTime>
  <Words>2163</Words>
  <Application>Microsoft Office PowerPoint</Application>
  <PresentationFormat>On-screen Show (4:3)</PresentationFormat>
  <Paragraphs>283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4" baseType="lpstr">
      <vt:lpstr>AdvP3D1FEB</vt:lpstr>
      <vt:lpstr>AdvP41153C</vt:lpstr>
      <vt:lpstr>AdvP4C4E51</vt:lpstr>
      <vt:lpstr>AdvP4C4E74</vt:lpstr>
      <vt:lpstr>Arial</vt:lpstr>
      <vt:lpstr>Calibri</vt:lpstr>
      <vt:lpstr>Cambria</vt:lpstr>
      <vt:lpstr>Cambria Math</vt:lpstr>
      <vt:lpstr>Courier New</vt:lpstr>
      <vt:lpstr>MuseoSans</vt:lpstr>
      <vt:lpstr>Myriad Pro</vt:lpstr>
      <vt:lpstr>Tahoma</vt:lpstr>
      <vt:lpstr>Times New Roman</vt:lpstr>
      <vt:lpstr>Verdana</vt:lpstr>
      <vt:lpstr>Wingdings</vt:lpstr>
      <vt:lpstr>Blank Presentation</vt:lpstr>
      <vt:lpstr>Bitmap Image</vt:lpstr>
      <vt:lpstr>方程式</vt:lpstr>
      <vt:lpstr>introduction</vt:lpstr>
      <vt:lpstr>Wireless Communication</vt:lpstr>
      <vt:lpstr>Types of Wireless Communication</vt:lpstr>
      <vt:lpstr>Why Wireless?</vt:lpstr>
      <vt:lpstr>Challenges</vt:lpstr>
      <vt:lpstr>Grand Challenges in Wireless Communications </vt:lpstr>
      <vt:lpstr>Elements of wireless Communication</vt:lpstr>
      <vt:lpstr>Frequency Carries/Channels</vt:lpstr>
      <vt:lpstr>Wireless Channel</vt:lpstr>
      <vt:lpstr>Wireless Channel Impairments</vt:lpstr>
      <vt:lpstr>Link budget</vt:lpstr>
      <vt:lpstr>Link budget</vt:lpstr>
      <vt:lpstr>Radio Wave Propagation</vt:lpstr>
      <vt:lpstr>Radio Propagation Mechanisms</vt:lpstr>
      <vt:lpstr>What is Fading ?</vt:lpstr>
      <vt:lpstr>Classification of Fading Channels</vt:lpstr>
      <vt:lpstr>Large-scale fading vs.  small-scale fading</vt:lpstr>
      <vt:lpstr>Large-Scale Fading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 used to overcome Fading</vt:lpstr>
      <vt:lpstr>                 Diversity </vt:lpstr>
      <vt:lpstr>Need of Diversity</vt:lpstr>
      <vt:lpstr>Diversity Techniques</vt:lpstr>
      <vt:lpstr>Space diversity</vt:lpstr>
      <vt:lpstr>Space diversity</vt:lpstr>
      <vt:lpstr>Time diversity </vt:lpstr>
      <vt:lpstr>What is Interleaving ?</vt:lpstr>
      <vt:lpstr>Frequency diversity</vt:lpstr>
      <vt:lpstr>Frequency diversity</vt:lpstr>
      <vt:lpstr>Polarization diversity</vt:lpstr>
    </vt:vector>
  </TitlesOfParts>
  <Company>Cypher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1</dc:title>
  <dc:creator>Paul Curwen</dc:creator>
  <cp:lastModifiedBy>Abrar, Muhammad</cp:lastModifiedBy>
  <cp:revision>587</cp:revision>
  <dcterms:created xsi:type="dcterms:W3CDTF">2010-10-11T12:26:54Z</dcterms:created>
  <dcterms:modified xsi:type="dcterms:W3CDTF">2023-10-28T13:12:33Z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0x0101007732EE7E707BF247A672E6FA7877FDE6</vt:lpwstr>
  </property>
</Properties>
</file>