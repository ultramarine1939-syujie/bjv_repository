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9" r:id="rId5"/>
    <p:sldId id="267" r:id="rId6"/>
    <p:sldId id="295" r:id="rId7"/>
    <p:sldId id="298" r:id="rId8"/>
    <p:sldId id="271" r:id="rId9"/>
    <p:sldId id="299" r:id="rId10"/>
    <p:sldId id="300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CCFFCC"/>
    <a:srgbClr val="FFFFCC"/>
    <a:srgbClr val="FFCCCC"/>
    <a:srgbClr val="000000"/>
    <a:srgbClr val="99FFCC"/>
    <a:srgbClr val="FF9999"/>
    <a:srgbClr val="DDDDDD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5" autoAdjust="0"/>
    <p:restoredTop sz="94660" autoAdjust="0"/>
  </p:normalViewPr>
  <p:slideViewPr>
    <p:cSldViewPr>
      <p:cViewPr varScale="1">
        <p:scale>
          <a:sx n="63" d="100"/>
          <a:sy n="63" d="100"/>
        </p:scale>
        <p:origin x="166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3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2E234-5261-4CAF-A0DA-98E3A4DB4893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D21EC-7166-4593-AF39-093C5F6CD7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651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A0CD5D5-0B35-430C-AAAA-352D2D2816F9}" type="datetimeFigureOut">
              <a:rPr lang="en-US"/>
              <a:pPr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27E6C58-9099-45D1-9679-4E701E41A4E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853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7E1331-397A-4A4B-A652-1EAF84AD9D1F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C6DE62-6E8E-4A14-BC19-43D88B41DA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1"/>
            <a:ext cx="8667750" cy="4743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DC5115-DC89-47CE-9441-2C1DE9752B06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44128" y="38100"/>
            <a:ext cx="7437946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DD9669-F224-4F0E-9A8D-98C6E22A43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304925"/>
            <a:ext cx="4152900" cy="4791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95400"/>
            <a:ext cx="4314825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E63659-6281-485A-9BF0-BE266EAAE2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3975"/>
            <a:ext cx="4040188" cy="8509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23975"/>
            <a:ext cx="4318000" cy="8509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1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C22742-C875-4914-AC16-3B4F2030E6F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6E6B2F-2A80-4386-9E77-22FEE5907FD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E79E70-1025-4CE2-9CBF-9F77ACC092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00124"/>
            <a:ext cx="3133725" cy="9493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5225" y="273050"/>
            <a:ext cx="518159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952626"/>
            <a:ext cx="3133725" cy="4152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595D7A-A6D9-469C-AAD7-A8A961BC75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2DD56A-B516-43AA-9C68-3E7E103382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525" y="1333500"/>
            <a:ext cx="8591549" cy="47625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2FCAB4-931D-4587-B70E-67ACC00640F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028700"/>
            <a:ext cx="1943100" cy="50673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028700"/>
            <a:ext cx="5676900" cy="5067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8A536C-7D0A-4DF9-B0EE-00C3930D2A1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SSC-slide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 userDrawn="1"/>
        </p:nvGrpSpPr>
        <p:grpSpPr>
          <a:xfrm>
            <a:off x="112837" y="141015"/>
            <a:ext cx="1440160" cy="936104"/>
            <a:chOff x="112837" y="141015"/>
            <a:chExt cx="1440160" cy="936104"/>
          </a:xfrm>
        </p:grpSpPr>
        <p:sp>
          <p:nvSpPr>
            <p:cNvPr id="2" name="Rectangle 1"/>
            <p:cNvSpPr/>
            <p:nvPr userDrawn="1"/>
          </p:nvSpPr>
          <p:spPr bwMode="auto">
            <a:xfrm>
              <a:off x="112837" y="141015"/>
              <a:ext cx="1440160" cy="93610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charset="-128"/>
              </a:endParaRPr>
            </a:p>
          </p:txBody>
        </p:sp>
        <p:pic>
          <p:nvPicPr>
            <p:cNvPr id="10" name="Picture 2" descr="\\lancs\homes\05\chatzige\My Desktop\bg-logo.png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480" y="456159"/>
              <a:ext cx="1082502" cy="338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6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1209675" y="53752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7479102" y="5840083"/>
            <a:ext cx="1362973" cy="37093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charset="-128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424687" y="6432152"/>
            <a:ext cx="5699435" cy="33086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tIns="0" bIns="0" rtlCol="0">
            <a:spAutoFit/>
          </a:bodyPr>
          <a:lstStyle/>
          <a:p>
            <a:pPr algn="r"/>
            <a:endParaRPr lang="en-GB" sz="150" b="1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GB" sz="1000" b="1" dirty="0">
                <a:solidFill>
                  <a:schemeClr val="bg1">
                    <a:lumMod val="50000"/>
                  </a:schemeClr>
                </a:solidFill>
              </a:rPr>
              <a:t>School of Computing and Communications | InfoLab21</a:t>
            </a:r>
            <a:endParaRPr lang="en-GB" sz="1000" b="1" baseline="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GB" sz="1000" b="1" dirty="0">
                <a:solidFill>
                  <a:schemeClr val="bg1">
                    <a:lumMod val="50000"/>
                  </a:schemeClr>
                </a:solidFill>
              </a:rPr>
              <a:t>SCC.351 – Advanced Communication</a:t>
            </a:r>
            <a:r>
              <a:rPr lang="en-GB" sz="1000" b="1" baseline="0" dirty="0">
                <a:solidFill>
                  <a:schemeClr val="bg1">
                    <a:lumMod val="50000"/>
                  </a:schemeClr>
                </a:solidFill>
              </a:rPr>
              <a:t> Systems</a:t>
            </a:r>
          </a:p>
        </p:txBody>
      </p:sp>
      <p:sp>
        <p:nvSpPr>
          <p:cNvPr id="1029" name="Rectangle 5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2371D72-1BDC-446F-8520-47E535E89CB5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14325" y="1266825"/>
            <a:ext cx="8667750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/>
          <a:ea typeface="+mj-ea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  <a:cs typeface="ヒラギノ角ゴ Pro W3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  <a:cs typeface="ヒラギノ角ゴ Pro W3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  <a:cs typeface="ヒラギノ角ゴ Pro W3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  <a:cs typeface="ヒラギノ角ゴ Pro W3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Verdana"/>
          <a:ea typeface="+mn-ea"/>
          <a:cs typeface="Verdana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+mn-ea"/>
          <a:cs typeface="Verdan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Verdana"/>
          <a:ea typeface="+mn-ea"/>
          <a:cs typeface="Verdan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+mn-ea"/>
          <a:cs typeface="Verdan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/>
          <a:ea typeface="+mn-ea"/>
          <a:cs typeface="Verdan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i.chatzigeorgiou@lancaster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SSC-slide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821912" y="4403909"/>
            <a:ext cx="469732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US" dirty="0">
                <a:latin typeface="Arial"/>
                <a:ea typeface="ヒラギノ角ゴ Pro W3"/>
                <a:cs typeface="Arial"/>
              </a:rPr>
              <a:t>Dr. Muhammad Abrar (Dr. MAB)</a:t>
            </a:r>
            <a:endParaRPr lang="en-US" dirty="0"/>
          </a:p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/>
              </a:rPr>
              <a:t>abrar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@lancaster.ac.uk</a:t>
            </a:r>
            <a:endParaRPr lang="en-US" sz="1800" dirty="0">
              <a:latin typeface="Arial"/>
              <a:ea typeface="ヒラギノ角ゴ Pro W3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908175" y="1893316"/>
            <a:ext cx="5976194" cy="1967732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cap="small" dirty="0">
                <a:solidFill>
                  <a:schemeClr val="accent5">
                    <a:lumMod val="25000"/>
                  </a:schemeClr>
                </a:solidFill>
              </a:rPr>
              <a:t>Module Details</a:t>
            </a:r>
            <a:endParaRPr lang="en-US" sz="3600" b="1" dirty="0">
              <a:solidFill>
                <a:schemeClr val="accent5">
                  <a:lumMod val="25000"/>
                </a:schemeClr>
              </a:solidFill>
              <a:latin typeface="Myriad Pro" charset="0"/>
            </a:endParaRPr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1908175" y="549275"/>
            <a:ext cx="4163319" cy="103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CNSCC.405</a:t>
            </a:r>
            <a:endParaRPr lang="en-US" dirty="0"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Digital Signal Processing</a:t>
            </a:r>
            <a:endParaRPr lang="en-US" dirty="0">
              <a:cs typeface="Arial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03200" y="194733"/>
            <a:ext cx="1312334" cy="821267"/>
            <a:chOff x="203200" y="194733"/>
            <a:chExt cx="1312334" cy="821267"/>
          </a:xfrm>
        </p:grpSpPr>
        <p:sp>
          <p:nvSpPr>
            <p:cNvPr id="16" name="Rectangle 15"/>
            <p:cNvSpPr/>
            <p:nvPr userDrawn="1"/>
          </p:nvSpPr>
          <p:spPr bwMode="auto">
            <a:xfrm>
              <a:off x="203200" y="194733"/>
              <a:ext cx="1312334" cy="82126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charset="-128"/>
              </a:endParaRPr>
            </a:p>
          </p:txBody>
        </p:sp>
        <p:pic>
          <p:nvPicPr>
            <p:cNvPr id="17" name="Picture 2" descr="\\lancs\homes\05\chatzige\My Desktop\bg-logo.png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480" y="456159"/>
              <a:ext cx="1082502" cy="338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BFDD58D-0943-C260-331B-AC1F5C7B2DCB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28"/>
    </mc:Choice>
    <mc:Fallback xmlns="">
      <p:transition spd="slow" advTm="359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Structure</a:t>
            </a:r>
          </a:p>
        </p:txBody>
      </p:sp>
      <p:sp>
        <p:nvSpPr>
          <p:cNvPr id="31" name="Content Placeholder 30"/>
          <p:cNvSpPr>
            <a:spLocks noGrp="1"/>
          </p:cNvSpPr>
          <p:nvPr>
            <p:ph idx="1"/>
          </p:nvPr>
        </p:nvSpPr>
        <p:spPr>
          <a:xfrm>
            <a:off x="304800" y="1352551"/>
            <a:ext cx="8371656" cy="4743450"/>
          </a:xfrm>
        </p:spPr>
        <p:txBody>
          <a:bodyPr/>
          <a:lstStyle/>
          <a:p>
            <a:pPr marL="355600" indent="-355600">
              <a:buNone/>
            </a:pPr>
            <a:endParaRPr lang="en-GB" sz="1400" dirty="0"/>
          </a:p>
          <a:p>
            <a:pPr marL="355600" indent="-355600"/>
            <a:r>
              <a:rPr lang="en-GB" b="1" dirty="0"/>
              <a:t>Weekly Lecture </a:t>
            </a:r>
            <a:r>
              <a:rPr lang="en-GB" dirty="0"/>
              <a:t>(Week 6-13)</a:t>
            </a:r>
            <a:endParaRPr lang="en-GB" dirty="0">
              <a:ea typeface="Verdana"/>
            </a:endParaRPr>
          </a:p>
          <a:p>
            <a:pPr marL="355600" indent="0">
              <a:buNone/>
            </a:pPr>
            <a:r>
              <a:rPr lang="en-GB" dirty="0"/>
              <a:t> Day: Monday (10:10-12:00)</a:t>
            </a:r>
          </a:p>
          <a:p>
            <a:pPr marL="355600" indent="0">
              <a:buNone/>
            </a:pPr>
            <a:endParaRPr lang="en-GB" dirty="0">
              <a:ea typeface="Verdana"/>
            </a:endParaRPr>
          </a:p>
          <a:p>
            <a:pPr marL="355600" indent="-355600"/>
            <a:r>
              <a:rPr lang="en-GB" b="1" dirty="0">
                <a:ea typeface="Verdana"/>
              </a:rPr>
              <a:t>Weekly Tutorial </a:t>
            </a:r>
            <a:r>
              <a:rPr lang="en-GB" dirty="0"/>
              <a:t>(Week 6-13)</a:t>
            </a:r>
            <a:endParaRPr lang="en-GB" dirty="0">
              <a:ea typeface="Verdana"/>
            </a:endParaRPr>
          </a:p>
          <a:p>
            <a:pPr marL="355600" indent="0">
              <a:buNone/>
            </a:pPr>
            <a:r>
              <a:rPr lang="en-GB" dirty="0">
                <a:ea typeface="Verdana"/>
              </a:rPr>
              <a:t> Day: Wednesday (14:10-16:00)</a:t>
            </a:r>
            <a:endParaRPr lang="en-US" dirty="0">
              <a:ea typeface="Verdana"/>
            </a:endParaRPr>
          </a:p>
          <a:p>
            <a:pPr marL="355600" indent="0">
              <a:buNone/>
            </a:pPr>
            <a:endParaRPr lang="en-GB" dirty="0">
              <a:ea typeface="Verdana"/>
            </a:endParaRPr>
          </a:p>
          <a:p>
            <a:pPr marL="355600" indent="-355600"/>
            <a:r>
              <a:rPr lang="en-GB" b="1" dirty="0">
                <a:solidFill>
                  <a:srgbClr val="000000"/>
                </a:solidFill>
              </a:rPr>
              <a:t>Weekly Labs </a:t>
            </a:r>
            <a:r>
              <a:rPr lang="en-GB" dirty="0">
                <a:solidFill>
                  <a:srgbClr val="000000"/>
                </a:solidFill>
              </a:rPr>
              <a:t>(Week  6-13)</a:t>
            </a:r>
            <a:endParaRPr lang="en-GB" dirty="0">
              <a:solidFill>
                <a:srgbClr val="000000"/>
              </a:solidFill>
              <a:ea typeface="Verdana"/>
            </a:endParaRPr>
          </a:p>
          <a:p>
            <a:pPr>
              <a:buNone/>
            </a:pPr>
            <a:r>
              <a:rPr lang="en-GB" dirty="0"/>
              <a:t>     Day: Monday (14:10-16:00)</a:t>
            </a:r>
            <a:endParaRPr lang="en-GB" dirty="0">
              <a:ea typeface="Verdana"/>
            </a:endParaRPr>
          </a:p>
          <a:p>
            <a:pPr marL="355600" lvl="0" indent="0">
              <a:buNone/>
            </a:pPr>
            <a:endParaRPr lang="en-GB" dirty="0">
              <a:solidFill>
                <a:srgbClr val="000000"/>
              </a:solidFill>
              <a:ea typeface="Verdana"/>
            </a:endParaRPr>
          </a:p>
          <a:p>
            <a:pPr marL="355600" indent="0">
              <a:buNone/>
            </a:pPr>
            <a:endParaRPr lang="en-GB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422F0C-B531-0A31-AA90-BB48C2610329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189"/>
    </mc:Choice>
    <mc:Fallback xmlns="">
      <p:transition spd="slow" advTm="201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Structure</a:t>
            </a:r>
          </a:p>
        </p:txBody>
      </p:sp>
      <p:sp>
        <p:nvSpPr>
          <p:cNvPr id="31" name="Content Placeholder 30"/>
          <p:cNvSpPr>
            <a:spLocks noGrp="1"/>
          </p:cNvSpPr>
          <p:nvPr>
            <p:ph idx="1"/>
          </p:nvPr>
        </p:nvSpPr>
        <p:spPr>
          <a:xfrm>
            <a:off x="107504" y="980728"/>
            <a:ext cx="9036496" cy="4743450"/>
          </a:xfrm>
        </p:spPr>
        <p:txBody>
          <a:bodyPr/>
          <a:lstStyle/>
          <a:p>
            <a:pPr marL="400050" lvl="1" indent="0">
              <a:buNone/>
            </a:pPr>
            <a:endParaRPr lang="en-GB" dirty="0">
              <a:ea typeface="Verdana"/>
            </a:endParaRPr>
          </a:p>
          <a:p>
            <a:pPr marL="400050" lvl="1" indent="0">
              <a:buNone/>
            </a:pPr>
            <a:r>
              <a:rPr lang="en-GB" b="1" dirty="0"/>
              <a:t>    Coursework (40% of Total Weightage) </a:t>
            </a:r>
            <a:endParaRPr lang="en-GB" b="1" dirty="0">
              <a:ea typeface="Verdana"/>
            </a:endParaRPr>
          </a:p>
          <a:p>
            <a:pPr marL="400050" lvl="1" indent="0">
              <a:buNone/>
            </a:pPr>
            <a:endParaRPr lang="en-GB" dirty="0">
              <a:ea typeface="Verdana"/>
            </a:endParaRPr>
          </a:p>
          <a:p>
            <a:pPr marL="1155700" lvl="2" indent="-355600"/>
            <a:r>
              <a:rPr lang="en-GB" dirty="0">
                <a:ea typeface="Verdana"/>
              </a:rPr>
              <a:t>Coursework 1 (30%) - Test</a:t>
            </a:r>
          </a:p>
          <a:p>
            <a:pPr marL="1155700" lvl="2" indent="-355600"/>
            <a:endParaRPr lang="en-GB" dirty="0"/>
          </a:p>
          <a:p>
            <a:pPr marL="1155700" lvl="2" indent="-355600"/>
            <a:r>
              <a:rPr lang="en-GB" dirty="0"/>
              <a:t>Coursework 2 (40%)- Lab Report</a:t>
            </a:r>
          </a:p>
          <a:p>
            <a:pPr marL="1155700" lvl="2" indent="-355600"/>
            <a:endParaRPr lang="en-GB" dirty="0">
              <a:ea typeface="Verdana"/>
            </a:endParaRPr>
          </a:p>
          <a:p>
            <a:pPr marL="1155700" lvl="2" indent="-355600"/>
            <a:r>
              <a:rPr lang="en-GB" dirty="0">
                <a:ea typeface="Verdana"/>
              </a:rPr>
              <a:t>Coursework 3 (30%) - Research Report </a:t>
            </a:r>
          </a:p>
          <a:p>
            <a:pPr marL="800100" lvl="2" indent="0">
              <a:buNone/>
            </a:pPr>
            <a:r>
              <a:rPr lang="en-GB" dirty="0">
                <a:latin typeface="Verdana"/>
                <a:ea typeface="Verdana"/>
              </a:rPr>
              <a:t>			             - Presentation</a:t>
            </a:r>
          </a:p>
          <a:p>
            <a:pPr marL="800100" lvl="2" indent="0">
              <a:buNone/>
            </a:pPr>
            <a:endParaRPr lang="en-GB" dirty="0">
              <a:latin typeface="Verdana"/>
              <a:ea typeface="Verdana"/>
            </a:endParaRPr>
          </a:p>
          <a:p>
            <a:pPr marL="914400" lvl="2" indent="0">
              <a:buNone/>
            </a:pPr>
            <a:endParaRPr lang="en-GB" dirty="0">
              <a:ea typeface="Verdana"/>
            </a:endParaRPr>
          </a:p>
          <a:p>
            <a:pPr marL="914400" lvl="2" indent="0">
              <a:buNone/>
            </a:pPr>
            <a:r>
              <a:rPr lang="en-GB" b="1" dirty="0">
                <a:ea typeface="Verdana"/>
              </a:rPr>
              <a:t>Final Exam (60% of Total Weightage) </a:t>
            </a:r>
          </a:p>
          <a:p>
            <a:pPr marL="800100" lvl="2" indent="0">
              <a:buNone/>
            </a:pPr>
            <a:endParaRPr lang="en-GB" dirty="0">
              <a:ea typeface="Verdan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52337E-E625-4F7B-C642-B38B15ACA87B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913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056"/>
    </mc:Choice>
    <mc:Fallback xmlns="">
      <p:transition spd="slow" advTm="87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Exam</a:t>
            </a:r>
          </a:p>
        </p:txBody>
      </p:sp>
      <p:sp>
        <p:nvSpPr>
          <p:cNvPr id="31" name="Content Placeholder 30"/>
          <p:cNvSpPr>
            <a:spLocks noGrp="1"/>
          </p:cNvSpPr>
          <p:nvPr>
            <p:ph idx="1"/>
          </p:nvPr>
        </p:nvSpPr>
        <p:spPr>
          <a:xfrm>
            <a:off x="304800" y="1352551"/>
            <a:ext cx="8371656" cy="4743450"/>
          </a:xfrm>
        </p:spPr>
        <p:txBody>
          <a:bodyPr/>
          <a:lstStyle/>
          <a:p>
            <a:pPr marL="755650" lvl="1" indent="-355600"/>
            <a:r>
              <a:rPr lang="en-GB" dirty="0"/>
              <a:t>60% Weightage</a:t>
            </a:r>
          </a:p>
          <a:p>
            <a:pPr marL="1155700" lvl="2" indent="-355600"/>
            <a:r>
              <a:rPr lang="en-GB" dirty="0"/>
              <a:t>4 Questions</a:t>
            </a:r>
          </a:p>
          <a:p>
            <a:pPr marL="1612900" lvl="3" indent="-355600"/>
            <a:r>
              <a:rPr lang="en-GB" dirty="0"/>
              <a:t>20 marks each</a:t>
            </a:r>
            <a:endParaRPr lang="en-GB" dirty="0">
              <a:ea typeface="Verdana"/>
            </a:endParaRPr>
          </a:p>
          <a:p>
            <a:pPr marL="1155700" lvl="2" indent="-355600"/>
            <a:r>
              <a:rPr lang="en-GB" dirty="0"/>
              <a:t>Attempt any 3 out of 4 questions</a:t>
            </a:r>
          </a:p>
          <a:p>
            <a:pPr marL="1612900" lvl="3" indent="-355600"/>
            <a:r>
              <a:rPr lang="en-GB" dirty="0"/>
              <a:t>Please remember to write your name, student ID and Question Number on your answer sheets.</a:t>
            </a:r>
          </a:p>
          <a:p>
            <a:pPr marL="1155700" lvl="2" indent="-355600"/>
            <a:r>
              <a:rPr lang="en-GB" dirty="0"/>
              <a:t>Total duration of exam will be 2-2.5 hours</a:t>
            </a:r>
          </a:p>
          <a:p>
            <a:pPr marL="800100" lvl="2" indent="0">
              <a:buNone/>
            </a:pPr>
            <a:endParaRPr lang="en-GB" dirty="0"/>
          </a:p>
          <a:p>
            <a:pPr marL="800100" lvl="2" indent="0">
              <a:buNone/>
            </a:pPr>
            <a:endParaRPr lang="en-GB" dirty="0"/>
          </a:p>
          <a:p>
            <a:pPr marL="755650" lvl="1" indent="-355600"/>
            <a:endParaRPr lang="en-GB" dirty="0"/>
          </a:p>
          <a:p>
            <a:pPr marL="355600" indent="-355600">
              <a:buNone/>
            </a:pPr>
            <a:endParaRPr lang="en-GB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D8F487-86B5-FC36-EAFF-B7A84421E47E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656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51"/>
    </mc:Choice>
    <mc:Fallback xmlns="">
      <p:transition spd="slow" advTm="627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Expectations</a:t>
            </a:r>
          </a:p>
        </p:txBody>
      </p:sp>
      <p:sp>
        <p:nvSpPr>
          <p:cNvPr id="31" name="Content Placeholder 30"/>
          <p:cNvSpPr>
            <a:spLocks noGrp="1"/>
          </p:cNvSpPr>
          <p:nvPr>
            <p:ph idx="1"/>
          </p:nvPr>
        </p:nvSpPr>
        <p:spPr>
          <a:xfrm>
            <a:off x="304800" y="1352551"/>
            <a:ext cx="8371656" cy="4743450"/>
          </a:xfrm>
        </p:spPr>
        <p:txBody>
          <a:bodyPr/>
          <a:lstStyle/>
          <a:p>
            <a:pPr>
              <a:spcAft>
                <a:spcPts val="900"/>
              </a:spcAft>
            </a:pPr>
            <a:r>
              <a:rPr lang="en-GB" sz="2400" b="1" dirty="0"/>
              <a:t>Always </a:t>
            </a:r>
            <a:r>
              <a:rPr lang="en-GB" sz="2400" dirty="0"/>
              <a:t>bring a notepad and a few pens.</a:t>
            </a:r>
          </a:p>
          <a:p>
            <a:pPr>
              <a:spcAft>
                <a:spcPts val="900"/>
              </a:spcAft>
            </a:pPr>
            <a:r>
              <a:rPr lang="en-GB" sz="2400" dirty="0"/>
              <a:t>Lecture slides are intentionally </a:t>
            </a:r>
            <a:r>
              <a:rPr lang="en-GB" sz="2400" b="1" u="sng" dirty="0"/>
              <a:t>incomplete</a:t>
            </a:r>
            <a:r>
              <a:rPr lang="en-GB" sz="2400" dirty="0"/>
              <a:t>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You will be required to: </a:t>
            </a:r>
          </a:p>
          <a:p>
            <a:pPr marL="714375" lvl="1" indent="-352425">
              <a:spcAft>
                <a:spcPts val="600"/>
              </a:spcAft>
              <a:buFont typeface="Wingdings" pitchFamily="2" charset="2"/>
              <a:buChar char="Ø"/>
            </a:pPr>
            <a:r>
              <a:rPr lang="en-GB" sz="2400" dirty="0"/>
              <a:t>fill in blank gaps in the notes</a:t>
            </a:r>
          </a:p>
          <a:p>
            <a:pPr marL="714375" lvl="1" indent="-352425">
              <a:spcAft>
                <a:spcPts val="2400"/>
              </a:spcAft>
              <a:buFont typeface="Wingdings" pitchFamily="2" charset="2"/>
              <a:buChar char="Ø"/>
            </a:pPr>
            <a:r>
              <a:rPr lang="en-GB" sz="2400" dirty="0"/>
              <a:t>take notes to understand leaps in reasoning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4E0084-AC94-4C2B-968A-60D27BACFD68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629"/>
    </mc:Choice>
    <mc:Fallback xmlns="">
      <p:transition spd="slow" advTm="6562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44E64A-5FB9-80CC-F54F-9FFCDD6F4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52551"/>
            <a:ext cx="8437712" cy="4743450"/>
          </a:xfrm>
        </p:spPr>
        <p:txBody>
          <a:bodyPr/>
          <a:lstStyle/>
          <a:p>
            <a:r>
              <a:rPr lang="en-US" sz="2400" dirty="0">
                <a:ea typeface="Verdana"/>
              </a:rPr>
              <a:t>Multipath Propagation Models </a:t>
            </a:r>
            <a:endParaRPr lang="en-US" sz="2400">
              <a:ea typeface="Verdana"/>
            </a:endParaRPr>
          </a:p>
          <a:p>
            <a:r>
              <a:rPr lang="en-US" sz="2400" dirty="0">
                <a:ea typeface="Verdana"/>
              </a:rPr>
              <a:t>Modelling Methods for Multipath Channels </a:t>
            </a:r>
          </a:p>
          <a:p>
            <a:r>
              <a:rPr lang="en-US" sz="2400" dirty="0">
                <a:ea typeface="Verdana"/>
              </a:rPr>
              <a:t>Detection and Estimation Theories </a:t>
            </a:r>
          </a:p>
          <a:p>
            <a:r>
              <a:rPr lang="en-US" sz="2400" dirty="0">
                <a:ea typeface="Verdana"/>
              </a:rPr>
              <a:t>Orthogonal Frequency Division Multiplexing (OFDM)-Theory and Architecture </a:t>
            </a:r>
          </a:p>
          <a:p>
            <a:r>
              <a:rPr lang="en-US" sz="2400" dirty="0">
                <a:ea typeface="Verdana"/>
              </a:rPr>
              <a:t>Multiple Input Multiple Output (MIMO) - Theory and Architecture </a:t>
            </a:r>
          </a:p>
          <a:p>
            <a:r>
              <a:rPr lang="en-US" sz="2400" dirty="0">
                <a:ea typeface="Verdana"/>
              </a:rPr>
              <a:t>Introduction to Advanced Channel Coding Technologies</a:t>
            </a:r>
            <a:endParaRPr lang="en-US" sz="2400">
              <a:ea typeface="Verdan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0BA03D-EED4-834C-3AC7-A7276B80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EDCFA-A8F5-DE60-CE54-FA7A0CDD8C26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6219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022912-73A9-5E6C-D687-3DB42E418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913" y="1251909"/>
            <a:ext cx="8667750" cy="4743450"/>
          </a:xfrm>
        </p:spPr>
        <p:txBody>
          <a:bodyPr/>
          <a:lstStyle/>
          <a:p>
            <a:r>
              <a:rPr lang="en-US" dirty="0">
                <a:ea typeface="Verdana"/>
              </a:rPr>
              <a:t>MIMO-OFDM wireless communications with MATLAB. Cho, Y. S., Kim, J., Yang, W. Y., &amp; Kang, C. G. John Wiley &amp; Sons, 2010. </a:t>
            </a:r>
          </a:p>
          <a:p>
            <a:endParaRPr lang="en-US" dirty="0">
              <a:ea typeface="Verdana"/>
            </a:endParaRPr>
          </a:p>
          <a:p>
            <a:r>
              <a:rPr lang="en-US" dirty="0">
                <a:ea typeface="Verdana"/>
              </a:rPr>
              <a:t> Digital Signal Processing in Modern Communication Systems, Andreas O. </a:t>
            </a:r>
            <a:r>
              <a:rPr lang="en-US" dirty="0" err="1">
                <a:ea typeface="Verdana"/>
              </a:rPr>
              <a:t>Schwarzinger</a:t>
            </a:r>
            <a:r>
              <a:rPr lang="en-US" dirty="0">
                <a:ea typeface="Verdana"/>
              </a:rPr>
              <a:t>, Amazon Digital Services LLC, 2022.</a:t>
            </a:r>
          </a:p>
          <a:p>
            <a:endParaRPr lang="en-US" dirty="0">
              <a:ea typeface="Verdana"/>
            </a:endParaRPr>
          </a:p>
          <a:p>
            <a:r>
              <a:rPr lang="en-US" dirty="0">
                <a:ea typeface="Verdana"/>
              </a:rPr>
              <a:t> Signal Processing, Channel Estimation and Link Adaptation in MIMO-OFDM Systems. Ran, J. Cuvillier Verlag.2008. </a:t>
            </a:r>
          </a:p>
          <a:p>
            <a:endParaRPr lang="en-US" dirty="0">
              <a:ea typeface="Verdana"/>
            </a:endParaRPr>
          </a:p>
          <a:p>
            <a:r>
              <a:rPr lang="en-US" dirty="0">
                <a:ea typeface="Verdana"/>
              </a:rPr>
              <a:t> Propagation Modeling for Wireless Communications. Dey, I. CRC Press, 2022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E0AD2B-72A0-A342-9076-99EFD5018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8EBEA1-ABC7-623C-BE6E-3FA83764A82F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1263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8.7|30.1|29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8.2|4.4|1.9|4.8|15.6|6.9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32EE7E707BF247A672E6FA7877FDE6" ma:contentTypeVersion="12" ma:contentTypeDescription="Create a new document." ma:contentTypeScope="" ma:versionID="49f69fbffb61d28ce917559913ba420c">
  <xsd:schema xmlns:xsd="http://www.w3.org/2001/XMLSchema" xmlns:xs="http://www.w3.org/2001/XMLSchema" xmlns:p="http://schemas.microsoft.com/office/2006/metadata/properties" xmlns:ns3="ca33b8cd-7d89-4f94-a122-284669bbb18e" xmlns:ns4="475cb750-64be-4c67-841b-d172bdfdd994" targetNamespace="http://schemas.microsoft.com/office/2006/metadata/properties" ma:root="true" ma:fieldsID="b7b4f63035086376901d0b7c0688e55c" ns3:_="" ns4:_="">
    <xsd:import namespace="ca33b8cd-7d89-4f94-a122-284669bbb18e"/>
    <xsd:import namespace="475cb750-64be-4c67-841b-d172bdfdd9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33b8cd-7d89-4f94-a122-284669bbb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cb750-64be-4c67-841b-d172bdfdd99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46DC68-FEF0-48AF-9243-8E5CDDC146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33b8cd-7d89-4f94-a122-284669bbb18e"/>
    <ds:schemaRef ds:uri="475cb750-64be-4c67-841b-d172bdfdd9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EDD612-6BCF-42DE-80EB-8D27389420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B2993F-1930-429C-A6B4-E1ECF1E0C849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ca33b8cd-7d89-4f94-a122-284669bbb18e"/>
    <ds:schemaRef ds:uri="http://purl.org/dc/terms/"/>
    <ds:schemaRef ds:uri="http://schemas.openxmlformats.org/package/2006/metadata/core-properties"/>
    <ds:schemaRef ds:uri="475cb750-64be-4c67-841b-d172bdfdd994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379</Words>
  <Application>Microsoft Office PowerPoint</Application>
  <PresentationFormat>On-screen Show (4:3)</PresentationFormat>
  <Paragraphs>66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Cambria</vt:lpstr>
      <vt:lpstr>Myriad Pro</vt:lpstr>
      <vt:lpstr>Verdana</vt:lpstr>
      <vt:lpstr>Wingdings</vt:lpstr>
      <vt:lpstr>Blank Presentation</vt:lpstr>
      <vt:lpstr>Module Details</vt:lpstr>
      <vt:lpstr>Course Structure</vt:lpstr>
      <vt:lpstr>Course Structure</vt:lpstr>
      <vt:lpstr>Final Exam</vt:lpstr>
      <vt:lpstr>Expectations</vt:lpstr>
      <vt:lpstr>Course Outline</vt:lpstr>
      <vt:lpstr>Books</vt:lpstr>
    </vt:vector>
  </TitlesOfParts>
  <Company>Cypher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1</dc:title>
  <dc:creator>Paul Curwen</dc:creator>
  <cp:lastModifiedBy>Abrar, Muhammad</cp:lastModifiedBy>
  <cp:revision>576</cp:revision>
  <dcterms:created xsi:type="dcterms:W3CDTF">2010-10-11T12:26:54Z</dcterms:created>
  <dcterms:modified xsi:type="dcterms:W3CDTF">2025-10-19T12:53:44Z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0x0101007732EE7E707BF247A672E6FA7877FDE6</vt:lpwstr>
  </property>
</Properties>
</file>