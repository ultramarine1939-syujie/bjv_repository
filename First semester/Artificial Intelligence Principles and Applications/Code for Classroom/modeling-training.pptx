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0" r:id="rId3"/>
    <p:sldId id="361" r:id="rId4"/>
    <p:sldId id="362" r:id="rId5"/>
    <p:sldId id="363" r:id="rId6"/>
    <p:sldId id="368" r:id="rId7"/>
    <p:sldId id="371" r:id="rId8"/>
    <p:sldId id="372" r:id="rId9"/>
    <p:sldId id="374" r:id="rId10"/>
    <p:sldId id="375" r:id="rId11"/>
    <p:sldId id="376" r:id="rId12"/>
    <p:sldId id="377" r:id="rId13"/>
    <p:sldId id="378" r:id="rId14"/>
    <p:sldId id="467" r:id="rId15"/>
    <p:sldId id="385" r:id="rId16"/>
    <p:sldId id="387" r:id="rId17"/>
    <p:sldId id="38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6" autoAdjust="0"/>
    <p:restoredTop sz="94660"/>
  </p:normalViewPr>
  <p:slideViewPr>
    <p:cSldViewPr snapToGrid="0" showGuides="1">
      <p:cViewPr varScale="1">
        <p:scale>
          <a:sx n="74" d="100"/>
          <a:sy n="74" d="100"/>
        </p:scale>
        <p:origin x="213"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3238A-BD34-4258-AB25-4631CF1472D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983BC05-382F-401E-ABD6-1B9356489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BFE6497-6FE0-4F99-82E7-12D2A60CAF4D}"/>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A305B9DD-053D-47D3-B72A-CEEB151B5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3BDCC9-F9AF-4E39-9A88-BC84AD125C7F}"/>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414820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A8B3A1-D319-443A-9C11-F8947A606C8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1B7506-2359-4CF8-B19A-8DB859B46B5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1CB5F80-45E1-4FFC-9B3F-FE245865E37F}"/>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52D41C93-6993-4A60-90AD-4B58C9C3B7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D01A83-EB5E-43B9-8637-23AE4D41955B}"/>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308521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7C41F6-79F7-4D5A-A1CF-C7AB621CF7D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A22340B-D969-41A5-8D1C-D704C886CD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6F98167D-C736-4754-B742-2F51E671AF7A}"/>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8B1A94F5-863C-4E3A-AE2D-0BDA6C2164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2421E6-D5A3-47FF-B97B-99C7D85A8446}"/>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200176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EA41FF-2A6C-44A0-8832-E1A494A44C4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B502451-4150-4671-97D4-C2212984095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E68C5A2-E7DC-412C-880D-65C82E71F4E6}"/>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4010BF0-4F79-49A1-BEBF-1A503026C077}"/>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6" name="页脚占位符 5">
            <a:extLst>
              <a:ext uri="{FF2B5EF4-FFF2-40B4-BE49-F238E27FC236}">
                <a16:creationId xmlns:a16="http://schemas.microsoft.com/office/drawing/2014/main" id="{98E6674A-4E7E-48ED-938D-1856337AC73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008C1C1-A17C-4BF3-9941-B7D0A3C2DEB8}"/>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1396411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3F8E2-82EB-4C19-A9B2-9C28A395043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D873174-7E49-430F-81BD-ACDEAF759A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CFDF775D-373F-45B5-B202-F60A20C38DD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1E48D6F-8271-420D-A6B9-83B052190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7391C69-AB4A-41B2-B248-476073313B2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ED7D2E4-C46C-4F1A-8CDB-AA56BD8CE726}"/>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8" name="页脚占位符 7">
            <a:extLst>
              <a:ext uri="{FF2B5EF4-FFF2-40B4-BE49-F238E27FC236}">
                <a16:creationId xmlns:a16="http://schemas.microsoft.com/office/drawing/2014/main" id="{1AC65F14-6F42-429A-863E-CCFEC1BB97C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8B23D44-A89B-41E2-83CD-685D79AA8CC9}"/>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334396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73A3D0-D47A-48E8-9672-0B1474FE462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681740E-41A8-4E61-93C5-9C913ABC8DD5}"/>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4" name="页脚占位符 3">
            <a:extLst>
              <a:ext uri="{FF2B5EF4-FFF2-40B4-BE49-F238E27FC236}">
                <a16:creationId xmlns:a16="http://schemas.microsoft.com/office/drawing/2014/main" id="{F5766008-30E9-4E3C-A35F-D9FEECC423F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35FC95E-4B20-4756-9E16-C2C8059FD18D}"/>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323157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28609A9-EFDD-4AFD-85E8-2A27B570C262}"/>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3" name="页脚占位符 2">
            <a:extLst>
              <a:ext uri="{FF2B5EF4-FFF2-40B4-BE49-F238E27FC236}">
                <a16:creationId xmlns:a16="http://schemas.microsoft.com/office/drawing/2014/main" id="{10B49DDF-3104-41F5-A7F4-25481518315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FE1F573-698B-4C31-BAB0-B068F580F34F}"/>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170852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1582FF-BA99-41D8-84A0-DA512D0E0C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8276FD-2B51-43BE-8ABE-4DB4C492A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E13A962-6CD5-4A46-BFC3-F03DB6C186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BCAE717-5522-4F53-A211-9495696D1CCD}"/>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6" name="页脚占位符 5">
            <a:extLst>
              <a:ext uri="{FF2B5EF4-FFF2-40B4-BE49-F238E27FC236}">
                <a16:creationId xmlns:a16="http://schemas.microsoft.com/office/drawing/2014/main" id="{C940078F-E428-4D8E-B9B7-7E81432806B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278F8B-BF92-47B6-8C0C-9F95FE94A85B}"/>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2769803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71445C-1A10-4042-8E42-D560B693A82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F43288-AFEA-454C-8E20-F847BAEBF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96705C9-C54D-40F2-92F0-EC1D93DF2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CE5FF75-4DC1-42B1-816A-9F311E166D07}"/>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6" name="页脚占位符 5">
            <a:extLst>
              <a:ext uri="{FF2B5EF4-FFF2-40B4-BE49-F238E27FC236}">
                <a16:creationId xmlns:a16="http://schemas.microsoft.com/office/drawing/2014/main" id="{D9FF4904-F522-4E73-AA12-29D90AD57E1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39EB64-92EC-4A68-BE51-4F1500F349D1}"/>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74627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7F1440-8C94-47D0-AE2C-CEBAE02D0F8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675F533-F5A8-4C9C-B5EE-7348811C77D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B1B2E8A-58CC-43FA-A56F-EB67FF993431}"/>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F392D1DA-B00A-4F87-93C4-57236AF3F2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826C83-0013-4807-B811-6F1A3ABBD1BA}"/>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797113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C2B21B4-1E7B-4D6A-AA85-0F5208ABA3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982BAD6-8638-499E-A78C-555E2433103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52A17F6-738C-443C-807B-0BD3F8E1B4AD}"/>
              </a:ext>
            </a:extLst>
          </p:cNvPr>
          <p:cNvSpPr>
            <a:spLocks noGrp="1"/>
          </p:cNvSpPr>
          <p:nvPr>
            <p:ph type="dt" sz="half" idx="10"/>
          </p:nvPr>
        </p:nvSpPr>
        <p:spPr/>
        <p:txBody>
          <a:body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0BD1BA93-0720-490C-80D1-A38A93A56D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D1D392-4F04-4E22-8AAD-E1A5D4905802}"/>
              </a:ext>
            </a:extLst>
          </p:cNvPr>
          <p:cNvSpPr>
            <a:spLocks noGrp="1"/>
          </p:cNvSpPr>
          <p:nvPr>
            <p:ph type="sldNum" sz="quarter" idx="12"/>
          </p:nvPr>
        </p:nvSpPr>
        <p:spPr/>
        <p:txBody>
          <a:body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383473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EDE5BE0-CD46-4C61-A232-FF54E03D21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21BAEF3-CD3D-4B5D-98CA-866B2AFEB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AEF6EAA-A735-442B-9F5A-F1A26C8A71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643A64-6840-4C09-9A6D-518EE48D88DE}" type="datetimeFigureOut">
              <a:rPr lang="zh-CN" altLang="en-US" smtClean="0"/>
              <a:t>2025/10/10</a:t>
            </a:fld>
            <a:endParaRPr lang="zh-CN" altLang="en-US"/>
          </a:p>
        </p:txBody>
      </p:sp>
      <p:sp>
        <p:nvSpPr>
          <p:cNvPr id="5" name="页脚占位符 4">
            <a:extLst>
              <a:ext uri="{FF2B5EF4-FFF2-40B4-BE49-F238E27FC236}">
                <a16:creationId xmlns:a16="http://schemas.microsoft.com/office/drawing/2014/main" id="{04E26353-FEF9-48ED-8445-D175B8E2FF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E56EEA5-205A-439D-A5B3-86C53C5D13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4A54EA-2214-4F36-8004-97FEBD3AC93D}" type="slidenum">
              <a:rPr lang="zh-CN" altLang="en-US" smtClean="0"/>
              <a:t>‹#›</a:t>
            </a:fld>
            <a:endParaRPr lang="zh-CN" altLang="en-US"/>
          </a:p>
        </p:txBody>
      </p:sp>
    </p:spTree>
    <p:extLst>
      <p:ext uri="{BB962C8B-B14F-4D97-AF65-F5344CB8AC3E}">
        <p14:creationId xmlns:p14="http://schemas.microsoft.com/office/powerpoint/2010/main" val="4192759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96F30-6079-4507-8D86-39D31E39E23D}"/>
              </a:ext>
            </a:extLst>
          </p:cNvPr>
          <p:cNvSpPr>
            <a:spLocks noGrp="1"/>
          </p:cNvSpPr>
          <p:nvPr>
            <p:ph type="ctrTitle"/>
          </p:nvPr>
        </p:nvSpPr>
        <p:spPr/>
        <p:txBody>
          <a:bodyPr/>
          <a:lstStyle/>
          <a:p>
            <a:r>
              <a:rPr lang="en-US" altLang="zh-CN" dirty="0"/>
              <a:t>Training model</a:t>
            </a:r>
            <a:endParaRPr lang="zh-CN" altLang="en-US" dirty="0"/>
          </a:p>
        </p:txBody>
      </p:sp>
      <p:sp>
        <p:nvSpPr>
          <p:cNvPr id="3" name="副标题 2">
            <a:extLst>
              <a:ext uri="{FF2B5EF4-FFF2-40B4-BE49-F238E27FC236}">
                <a16:creationId xmlns:a16="http://schemas.microsoft.com/office/drawing/2014/main" id="{5B15D2AA-EB39-4456-BB45-8380047148C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08320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57DDDA-5671-4622-A512-2ED57107639C}"/>
              </a:ext>
            </a:extLst>
          </p:cNvPr>
          <p:cNvSpPr>
            <a:spLocks noGrp="1"/>
          </p:cNvSpPr>
          <p:nvPr>
            <p:ph type="title"/>
          </p:nvPr>
        </p:nvSpPr>
        <p:spPr/>
        <p:txBody>
          <a:bodyPr/>
          <a:lstStyle/>
          <a:p>
            <a:r>
              <a:rPr lang="en-US" altLang="zh-CN" dirty="0"/>
              <a:t>Learning rate</a:t>
            </a:r>
            <a:endParaRPr lang="zh-CN" altLang="en-US" dirty="0"/>
          </a:p>
        </p:txBody>
      </p:sp>
      <p:pic>
        <p:nvPicPr>
          <p:cNvPr id="6" name="图片 5">
            <a:extLst>
              <a:ext uri="{FF2B5EF4-FFF2-40B4-BE49-F238E27FC236}">
                <a16:creationId xmlns:a16="http://schemas.microsoft.com/office/drawing/2014/main" id="{4DF6BC9F-9446-4135-A04B-67FFC6E735C3}"/>
              </a:ext>
            </a:extLst>
          </p:cNvPr>
          <p:cNvPicPr>
            <a:picLocks noChangeAspect="1"/>
          </p:cNvPicPr>
          <p:nvPr/>
        </p:nvPicPr>
        <p:blipFill>
          <a:blip r:embed="rId2"/>
          <a:stretch>
            <a:fillRect/>
          </a:stretch>
        </p:blipFill>
        <p:spPr>
          <a:xfrm>
            <a:off x="838198" y="1605538"/>
            <a:ext cx="5265907" cy="3091968"/>
          </a:xfrm>
          <a:prstGeom prst="rect">
            <a:avLst/>
          </a:prstGeom>
        </p:spPr>
      </p:pic>
      <p:sp>
        <p:nvSpPr>
          <p:cNvPr id="8" name="文本框 7">
            <a:extLst>
              <a:ext uri="{FF2B5EF4-FFF2-40B4-BE49-F238E27FC236}">
                <a16:creationId xmlns:a16="http://schemas.microsoft.com/office/drawing/2014/main" id="{5A0F0C85-2E38-4B40-B75E-14ED40CABDB6}"/>
              </a:ext>
            </a:extLst>
          </p:cNvPr>
          <p:cNvSpPr txBox="1"/>
          <p:nvPr/>
        </p:nvSpPr>
        <p:spPr>
          <a:xfrm>
            <a:off x="838198" y="4912659"/>
            <a:ext cx="5257802" cy="1200329"/>
          </a:xfrm>
          <a:prstGeom prst="rect">
            <a:avLst/>
          </a:prstGeom>
          <a:noFill/>
        </p:spPr>
        <p:txBody>
          <a:bodyPr wrap="square" rtlCol="0">
            <a:spAutoFit/>
          </a:bodyPr>
          <a:lstStyle/>
          <a:p>
            <a:r>
              <a:rPr lang="en-US" altLang="zh-CN" dirty="0"/>
              <a:t>model parameters are initialized randomly and; the learning step size is proportional to the slope of the cost function, so the steps gradually get smaller as the parameters approach the minimum</a:t>
            </a:r>
            <a:endParaRPr lang="zh-CN" altLang="en-US" dirty="0"/>
          </a:p>
        </p:txBody>
      </p:sp>
      <p:pic>
        <p:nvPicPr>
          <p:cNvPr id="10" name="图片 9">
            <a:extLst>
              <a:ext uri="{FF2B5EF4-FFF2-40B4-BE49-F238E27FC236}">
                <a16:creationId xmlns:a16="http://schemas.microsoft.com/office/drawing/2014/main" id="{CAE7E6B9-9037-40FE-85E7-6D82ECCCD716}"/>
              </a:ext>
            </a:extLst>
          </p:cNvPr>
          <p:cNvPicPr>
            <a:picLocks noChangeAspect="1"/>
          </p:cNvPicPr>
          <p:nvPr/>
        </p:nvPicPr>
        <p:blipFill>
          <a:blip r:embed="rId3"/>
          <a:stretch>
            <a:fillRect/>
          </a:stretch>
        </p:blipFill>
        <p:spPr>
          <a:xfrm>
            <a:off x="6212396" y="1515890"/>
            <a:ext cx="5511918" cy="3002321"/>
          </a:xfrm>
          <a:prstGeom prst="rect">
            <a:avLst/>
          </a:prstGeom>
        </p:spPr>
      </p:pic>
      <p:sp>
        <p:nvSpPr>
          <p:cNvPr id="11" name="文本框 10">
            <a:extLst>
              <a:ext uri="{FF2B5EF4-FFF2-40B4-BE49-F238E27FC236}">
                <a16:creationId xmlns:a16="http://schemas.microsoft.com/office/drawing/2014/main" id="{465C1887-6131-4476-B46B-E4B8C001E64F}"/>
              </a:ext>
            </a:extLst>
          </p:cNvPr>
          <p:cNvSpPr txBox="1"/>
          <p:nvPr/>
        </p:nvSpPr>
        <p:spPr>
          <a:xfrm>
            <a:off x="6660776" y="4912659"/>
            <a:ext cx="5351930" cy="923330"/>
          </a:xfrm>
          <a:prstGeom prst="rect">
            <a:avLst/>
          </a:prstGeom>
          <a:noFill/>
        </p:spPr>
        <p:txBody>
          <a:bodyPr wrap="square" rtlCol="0">
            <a:spAutoFit/>
          </a:bodyPr>
          <a:lstStyle/>
          <a:p>
            <a:r>
              <a:rPr lang="en-US" altLang="zh-CN" dirty="0"/>
              <a:t>learning rate is too small, then the algorithm will have to go through many iterations to converge, which will take a long time </a:t>
            </a:r>
            <a:endParaRPr lang="zh-CN" altLang="en-US" dirty="0"/>
          </a:p>
        </p:txBody>
      </p:sp>
    </p:spTree>
    <p:extLst>
      <p:ext uri="{BB962C8B-B14F-4D97-AF65-F5344CB8AC3E}">
        <p14:creationId xmlns:p14="http://schemas.microsoft.com/office/powerpoint/2010/main" val="2912140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8964AA-787B-4A2F-AB1E-4CCDFC404F92}"/>
              </a:ext>
            </a:extLst>
          </p:cNvPr>
          <p:cNvSpPr>
            <a:spLocks noGrp="1"/>
          </p:cNvSpPr>
          <p:nvPr>
            <p:ph type="title"/>
          </p:nvPr>
        </p:nvSpPr>
        <p:spPr/>
        <p:txBody>
          <a:bodyPr/>
          <a:lstStyle/>
          <a:p>
            <a:r>
              <a:rPr lang="en-US" altLang="zh-CN" dirty="0"/>
              <a:t>Learning rate</a:t>
            </a:r>
            <a:endParaRPr lang="zh-CN" altLang="en-US" dirty="0"/>
          </a:p>
        </p:txBody>
      </p:sp>
      <p:pic>
        <p:nvPicPr>
          <p:cNvPr id="5" name="图片 4">
            <a:extLst>
              <a:ext uri="{FF2B5EF4-FFF2-40B4-BE49-F238E27FC236}">
                <a16:creationId xmlns:a16="http://schemas.microsoft.com/office/drawing/2014/main" id="{BAF446B4-7990-4592-BC33-9D4416A73BCB}"/>
              </a:ext>
            </a:extLst>
          </p:cNvPr>
          <p:cNvPicPr>
            <a:picLocks noChangeAspect="1"/>
          </p:cNvPicPr>
          <p:nvPr/>
        </p:nvPicPr>
        <p:blipFill>
          <a:blip r:embed="rId2"/>
          <a:stretch>
            <a:fillRect/>
          </a:stretch>
        </p:blipFill>
        <p:spPr>
          <a:xfrm>
            <a:off x="573741" y="1456926"/>
            <a:ext cx="5522259" cy="3000230"/>
          </a:xfrm>
          <a:prstGeom prst="rect">
            <a:avLst/>
          </a:prstGeom>
        </p:spPr>
      </p:pic>
      <p:sp>
        <p:nvSpPr>
          <p:cNvPr id="6" name="文本框 5">
            <a:extLst>
              <a:ext uri="{FF2B5EF4-FFF2-40B4-BE49-F238E27FC236}">
                <a16:creationId xmlns:a16="http://schemas.microsoft.com/office/drawing/2014/main" id="{746FA9AF-9D66-4F72-A93B-7D9518A0E107}"/>
              </a:ext>
            </a:extLst>
          </p:cNvPr>
          <p:cNvSpPr txBox="1"/>
          <p:nvPr/>
        </p:nvSpPr>
        <p:spPr>
          <a:xfrm>
            <a:off x="905435" y="4643360"/>
            <a:ext cx="4957482" cy="923330"/>
          </a:xfrm>
          <a:prstGeom prst="rect">
            <a:avLst/>
          </a:prstGeom>
          <a:noFill/>
        </p:spPr>
        <p:txBody>
          <a:bodyPr wrap="square" rtlCol="0">
            <a:spAutoFit/>
          </a:bodyPr>
          <a:lstStyle/>
          <a:p>
            <a:r>
              <a:rPr lang="en-US" altLang="zh-CN" dirty="0"/>
              <a:t>if the learning rate is too high, you might jump across the valley and end up on the other side, possibly even higher up than you were before</a:t>
            </a:r>
            <a:endParaRPr lang="zh-CN" altLang="en-US" dirty="0"/>
          </a:p>
        </p:txBody>
      </p:sp>
      <p:pic>
        <p:nvPicPr>
          <p:cNvPr id="8" name="图片 7">
            <a:extLst>
              <a:ext uri="{FF2B5EF4-FFF2-40B4-BE49-F238E27FC236}">
                <a16:creationId xmlns:a16="http://schemas.microsoft.com/office/drawing/2014/main" id="{7883219C-A15C-4DB5-8013-8FEC81B40FA5}"/>
              </a:ext>
            </a:extLst>
          </p:cNvPr>
          <p:cNvPicPr>
            <a:picLocks noChangeAspect="1"/>
          </p:cNvPicPr>
          <p:nvPr/>
        </p:nvPicPr>
        <p:blipFill>
          <a:blip r:embed="rId3"/>
          <a:stretch>
            <a:fillRect/>
          </a:stretch>
        </p:blipFill>
        <p:spPr>
          <a:xfrm>
            <a:off x="6203575" y="1456926"/>
            <a:ext cx="5768229" cy="3253172"/>
          </a:xfrm>
          <a:prstGeom prst="rect">
            <a:avLst/>
          </a:prstGeom>
        </p:spPr>
      </p:pic>
      <p:sp>
        <p:nvSpPr>
          <p:cNvPr id="9" name="文本框 8">
            <a:extLst>
              <a:ext uri="{FF2B5EF4-FFF2-40B4-BE49-F238E27FC236}">
                <a16:creationId xmlns:a16="http://schemas.microsoft.com/office/drawing/2014/main" id="{F48EA977-301E-4A42-8B29-10C2D23A1427}"/>
              </a:ext>
            </a:extLst>
          </p:cNvPr>
          <p:cNvSpPr txBox="1"/>
          <p:nvPr/>
        </p:nvSpPr>
        <p:spPr>
          <a:xfrm>
            <a:off x="6472517" y="4800909"/>
            <a:ext cx="5199529" cy="1200329"/>
          </a:xfrm>
          <a:prstGeom prst="rect">
            <a:avLst/>
          </a:prstGeom>
          <a:noFill/>
        </p:spPr>
        <p:txBody>
          <a:bodyPr wrap="square" rtlCol="0">
            <a:spAutoFit/>
          </a:bodyPr>
          <a:lstStyle/>
          <a:p>
            <a:r>
              <a:rPr lang="en-US" altLang="zh-CN" dirty="0"/>
              <a:t>If the random initialization starts the algorithm on the left, then it will converge to a local minimum.</a:t>
            </a:r>
          </a:p>
          <a:p>
            <a:r>
              <a:rPr lang="en-US" altLang="zh-CN" dirty="0"/>
              <a:t> If it starts on the right, then it will take a very long time to cross the plateau</a:t>
            </a:r>
            <a:endParaRPr lang="zh-CN" altLang="en-US" dirty="0"/>
          </a:p>
        </p:txBody>
      </p:sp>
    </p:spTree>
    <p:extLst>
      <p:ext uri="{BB962C8B-B14F-4D97-AF65-F5344CB8AC3E}">
        <p14:creationId xmlns:p14="http://schemas.microsoft.com/office/powerpoint/2010/main" val="2239101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652D36-1F60-4E11-A4A5-49047DC8697F}"/>
              </a:ext>
            </a:extLst>
          </p:cNvPr>
          <p:cNvSpPr>
            <a:spLocks noGrp="1"/>
          </p:cNvSpPr>
          <p:nvPr>
            <p:ph type="title"/>
          </p:nvPr>
        </p:nvSpPr>
        <p:spPr/>
        <p:txBody>
          <a:bodyPr/>
          <a:lstStyle/>
          <a:p>
            <a:r>
              <a:rPr lang="en-US" altLang="zh-CN" dirty="0"/>
              <a:t>Gradient Descent in a Linear Regression model </a:t>
            </a:r>
            <a:endParaRPr lang="zh-CN" altLang="en-US" dirty="0"/>
          </a:p>
        </p:txBody>
      </p:sp>
      <p:sp>
        <p:nvSpPr>
          <p:cNvPr id="3" name="内容占位符 2">
            <a:extLst>
              <a:ext uri="{FF2B5EF4-FFF2-40B4-BE49-F238E27FC236}">
                <a16:creationId xmlns:a16="http://schemas.microsoft.com/office/drawing/2014/main" id="{43FB20F3-5C74-4EBE-805C-8D590227B4AD}"/>
              </a:ext>
            </a:extLst>
          </p:cNvPr>
          <p:cNvSpPr>
            <a:spLocks noGrp="1"/>
          </p:cNvSpPr>
          <p:nvPr>
            <p:ph idx="1"/>
          </p:nvPr>
        </p:nvSpPr>
        <p:spPr>
          <a:xfrm>
            <a:off x="838200" y="1825625"/>
            <a:ext cx="6270812" cy="4351338"/>
          </a:xfrm>
        </p:spPr>
        <p:txBody>
          <a:bodyPr>
            <a:normAutofit fontScale="92500" lnSpcReduction="10000"/>
          </a:bodyPr>
          <a:lstStyle/>
          <a:p>
            <a:r>
              <a:rPr lang="en-US" altLang="zh-CN" dirty="0">
                <a:solidFill>
                  <a:srgbClr val="FF0000"/>
                </a:solidFill>
              </a:rPr>
              <a:t>the MSE cost function for a Linear Regression model happens to be a convex function</a:t>
            </a:r>
          </a:p>
          <a:p>
            <a:r>
              <a:rPr lang="en-US" altLang="zh-CN" dirty="0"/>
              <a:t>This implies that there are no local minima, just one global minimum</a:t>
            </a:r>
          </a:p>
          <a:p>
            <a:r>
              <a:rPr lang="en-US" altLang="zh-CN" dirty="0"/>
              <a:t>It is also a continuous function with a slope that never changes abruptly</a:t>
            </a:r>
          </a:p>
          <a:p>
            <a:r>
              <a:rPr lang="en-US" altLang="zh-CN" dirty="0"/>
              <a:t>These two facts have a great consequence: </a:t>
            </a:r>
          </a:p>
          <a:p>
            <a:pPr lvl="1"/>
            <a:r>
              <a:rPr lang="en-US" altLang="zh-CN" dirty="0"/>
              <a:t>Gradient Descent is guaranteed to approach arbitrarily close the global minimum if the learning rate is not too high</a:t>
            </a:r>
            <a:endParaRPr lang="zh-CN" altLang="en-US" dirty="0"/>
          </a:p>
        </p:txBody>
      </p:sp>
      <p:grpSp>
        <p:nvGrpSpPr>
          <p:cNvPr id="9" name="组合 8">
            <a:extLst>
              <a:ext uri="{FF2B5EF4-FFF2-40B4-BE49-F238E27FC236}">
                <a16:creationId xmlns:a16="http://schemas.microsoft.com/office/drawing/2014/main" id="{06CB8817-785A-405B-86BC-F85EF2091535}"/>
              </a:ext>
            </a:extLst>
          </p:cNvPr>
          <p:cNvGrpSpPr/>
          <p:nvPr/>
        </p:nvGrpSpPr>
        <p:grpSpPr>
          <a:xfrm>
            <a:off x="7225552" y="2022537"/>
            <a:ext cx="4354923" cy="2560533"/>
            <a:chOff x="7288305" y="2820396"/>
            <a:chExt cx="4354923" cy="2560533"/>
          </a:xfrm>
        </p:grpSpPr>
        <p:pic>
          <p:nvPicPr>
            <p:cNvPr id="6" name="图片 5">
              <a:extLst>
                <a:ext uri="{FF2B5EF4-FFF2-40B4-BE49-F238E27FC236}">
                  <a16:creationId xmlns:a16="http://schemas.microsoft.com/office/drawing/2014/main" id="{B027E632-54DA-415A-9371-A15456389A23}"/>
                </a:ext>
              </a:extLst>
            </p:cNvPr>
            <p:cNvPicPr>
              <a:picLocks noChangeAspect="1"/>
            </p:cNvPicPr>
            <p:nvPr/>
          </p:nvPicPr>
          <p:blipFill>
            <a:blip r:embed="rId2"/>
            <a:stretch>
              <a:fillRect/>
            </a:stretch>
          </p:blipFill>
          <p:spPr>
            <a:xfrm>
              <a:off x="7288305" y="2820396"/>
              <a:ext cx="4354923" cy="2560533"/>
            </a:xfrm>
            <a:prstGeom prst="rect">
              <a:avLst/>
            </a:prstGeom>
          </p:spPr>
        </p:pic>
        <p:cxnSp>
          <p:nvCxnSpPr>
            <p:cNvPr id="8" name="直接连接符 7">
              <a:extLst>
                <a:ext uri="{FF2B5EF4-FFF2-40B4-BE49-F238E27FC236}">
                  <a16:creationId xmlns:a16="http://schemas.microsoft.com/office/drawing/2014/main" id="{E55FA093-093A-4B46-AB18-2A6E9DE93864}"/>
                </a:ext>
              </a:extLst>
            </p:cNvPr>
            <p:cNvCxnSpPr/>
            <p:nvPr/>
          </p:nvCxnSpPr>
          <p:spPr>
            <a:xfrm>
              <a:off x="7512424" y="3594847"/>
              <a:ext cx="3218329" cy="905435"/>
            </a:xfrm>
            <a:prstGeom prst="line">
              <a:avLst/>
            </a:prstGeom>
            <a:ln w="571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7528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13E9C-B99A-4789-B8DD-0F76DF8A537E}"/>
              </a:ext>
            </a:extLst>
          </p:cNvPr>
          <p:cNvSpPr>
            <a:spLocks noGrp="1"/>
          </p:cNvSpPr>
          <p:nvPr>
            <p:ph type="title"/>
          </p:nvPr>
        </p:nvSpPr>
        <p:spPr/>
        <p:txBody>
          <a:bodyPr/>
          <a:lstStyle/>
          <a:p>
            <a:r>
              <a:rPr lang="en-US" altLang="zh-CN" dirty="0"/>
              <a:t>Necessary of scales</a:t>
            </a:r>
            <a:endParaRPr lang="zh-CN" altLang="en-US" dirty="0"/>
          </a:p>
        </p:txBody>
      </p:sp>
      <p:sp>
        <p:nvSpPr>
          <p:cNvPr id="3" name="内容占位符 2">
            <a:extLst>
              <a:ext uri="{FF2B5EF4-FFF2-40B4-BE49-F238E27FC236}">
                <a16:creationId xmlns:a16="http://schemas.microsoft.com/office/drawing/2014/main" id="{73A9009D-9332-4AFB-9FB4-C844A3B9344A}"/>
              </a:ext>
            </a:extLst>
          </p:cNvPr>
          <p:cNvSpPr>
            <a:spLocks noGrp="1"/>
          </p:cNvSpPr>
          <p:nvPr>
            <p:ph idx="1"/>
          </p:nvPr>
        </p:nvSpPr>
        <p:spPr/>
        <p:txBody>
          <a:bodyPr/>
          <a:lstStyle/>
          <a:p>
            <a:r>
              <a:rPr lang="en-US" altLang="zh-CN" dirty="0"/>
              <a:t>In fact, the cost function has the shape of a bowl</a:t>
            </a:r>
            <a:r>
              <a:rPr lang="en-US" altLang="zh-CN" dirty="0">
                <a:solidFill>
                  <a:srgbClr val="FF0000"/>
                </a:solidFill>
              </a:rPr>
              <a:t>, but it can be an elongated bowl if the features have very different scales</a:t>
            </a:r>
            <a:endParaRPr lang="zh-CN" altLang="en-US" dirty="0">
              <a:solidFill>
                <a:srgbClr val="FF0000"/>
              </a:solidFill>
            </a:endParaRPr>
          </a:p>
        </p:txBody>
      </p:sp>
      <p:pic>
        <p:nvPicPr>
          <p:cNvPr id="5" name="图片 4">
            <a:extLst>
              <a:ext uri="{FF2B5EF4-FFF2-40B4-BE49-F238E27FC236}">
                <a16:creationId xmlns:a16="http://schemas.microsoft.com/office/drawing/2014/main" id="{8205BCA5-422E-424D-925C-CC8B9FBA6694}"/>
              </a:ext>
            </a:extLst>
          </p:cNvPr>
          <p:cNvPicPr>
            <a:picLocks noChangeAspect="1"/>
          </p:cNvPicPr>
          <p:nvPr/>
        </p:nvPicPr>
        <p:blipFill>
          <a:blip r:embed="rId2"/>
          <a:stretch>
            <a:fillRect/>
          </a:stretch>
        </p:blipFill>
        <p:spPr>
          <a:xfrm>
            <a:off x="2097741" y="2762613"/>
            <a:ext cx="7788949" cy="2863978"/>
          </a:xfrm>
          <a:prstGeom prst="rect">
            <a:avLst/>
          </a:prstGeom>
        </p:spPr>
      </p:pic>
      <p:sp>
        <p:nvSpPr>
          <p:cNvPr id="6" name="文本框 5">
            <a:extLst>
              <a:ext uri="{FF2B5EF4-FFF2-40B4-BE49-F238E27FC236}">
                <a16:creationId xmlns:a16="http://schemas.microsoft.com/office/drawing/2014/main" id="{7313D243-542D-4221-98EC-6B5F2C129759}"/>
              </a:ext>
            </a:extLst>
          </p:cNvPr>
          <p:cNvSpPr txBox="1"/>
          <p:nvPr/>
        </p:nvSpPr>
        <p:spPr>
          <a:xfrm>
            <a:off x="226359" y="3252601"/>
            <a:ext cx="1963271" cy="1754326"/>
          </a:xfrm>
          <a:prstGeom prst="rect">
            <a:avLst/>
          </a:prstGeom>
          <a:noFill/>
        </p:spPr>
        <p:txBody>
          <a:bodyPr wrap="square" rtlCol="0">
            <a:spAutoFit/>
          </a:bodyPr>
          <a:lstStyle/>
          <a:p>
            <a:r>
              <a:rPr lang="en-US" altLang="zh-CN" dirty="0"/>
              <a:t>Gradient Descent algorithm goes straight toward the minimum, thereby reaching it quickly</a:t>
            </a:r>
            <a:endParaRPr lang="zh-CN" altLang="en-US" dirty="0"/>
          </a:p>
        </p:txBody>
      </p:sp>
      <p:cxnSp>
        <p:nvCxnSpPr>
          <p:cNvPr id="8" name="直接箭头连接符 7">
            <a:extLst>
              <a:ext uri="{FF2B5EF4-FFF2-40B4-BE49-F238E27FC236}">
                <a16:creationId xmlns:a16="http://schemas.microsoft.com/office/drawing/2014/main" id="{70955C91-49CD-4B0C-BCDC-CC9BE41ACAF0}"/>
              </a:ext>
            </a:extLst>
          </p:cNvPr>
          <p:cNvCxnSpPr/>
          <p:nvPr/>
        </p:nvCxnSpPr>
        <p:spPr>
          <a:xfrm flipV="1">
            <a:off x="1837765" y="4001294"/>
            <a:ext cx="1317811" cy="2569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F0FCE794-46B2-4B10-907F-50D56297FCAF}"/>
              </a:ext>
            </a:extLst>
          </p:cNvPr>
          <p:cNvSpPr txBox="1"/>
          <p:nvPr/>
        </p:nvSpPr>
        <p:spPr>
          <a:xfrm>
            <a:off x="9417422" y="3252601"/>
            <a:ext cx="2263589" cy="1477328"/>
          </a:xfrm>
          <a:prstGeom prst="rect">
            <a:avLst/>
          </a:prstGeom>
          <a:noFill/>
        </p:spPr>
        <p:txBody>
          <a:bodyPr wrap="square" rtlCol="0">
            <a:spAutoFit/>
          </a:bodyPr>
          <a:lstStyle/>
          <a:p>
            <a:r>
              <a:rPr lang="en-US" altLang="zh-CN" dirty="0"/>
              <a:t>Gradient Descent algorithm goes indirectly to the minimum, thereby taking long time</a:t>
            </a:r>
            <a:endParaRPr lang="zh-CN" altLang="en-US" dirty="0"/>
          </a:p>
        </p:txBody>
      </p:sp>
      <p:sp>
        <p:nvSpPr>
          <p:cNvPr id="11" name="文本框 10">
            <a:extLst>
              <a:ext uri="{FF2B5EF4-FFF2-40B4-BE49-F238E27FC236}">
                <a16:creationId xmlns:a16="http://schemas.microsoft.com/office/drawing/2014/main" id="{8CCEB977-0785-4E23-9E32-8D1D80A44658}"/>
              </a:ext>
            </a:extLst>
          </p:cNvPr>
          <p:cNvSpPr txBox="1"/>
          <p:nvPr/>
        </p:nvSpPr>
        <p:spPr>
          <a:xfrm>
            <a:off x="1999130" y="5626591"/>
            <a:ext cx="9127622" cy="923330"/>
          </a:xfrm>
          <a:prstGeom prst="rect">
            <a:avLst/>
          </a:prstGeom>
          <a:noFill/>
        </p:spPr>
        <p:txBody>
          <a:bodyPr wrap="square">
            <a:spAutoFit/>
          </a:bodyPr>
          <a:lstStyle/>
          <a:p>
            <a:r>
              <a:rPr lang="en-US" altLang="zh-CN" b="1" dirty="0"/>
              <a:t>When using Gradient Descent, you should ensure that all features have a similar scale (e.g., using Scikit-</a:t>
            </a:r>
            <a:r>
              <a:rPr lang="en-US" altLang="zh-CN" b="1" dirty="0" err="1"/>
              <a:t>Learn’s</a:t>
            </a:r>
            <a:r>
              <a:rPr lang="en-US" altLang="zh-CN" b="1" dirty="0"/>
              <a:t> </a:t>
            </a:r>
            <a:r>
              <a:rPr lang="en-US" altLang="zh-CN" b="1" dirty="0" err="1"/>
              <a:t>StandardScaler</a:t>
            </a:r>
            <a:r>
              <a:rPr lang="en-US" altLang="zh-CN" b="1" dirty="0"/>
              <a:t> class), or else it will take much longer to converge.</a:t>
            </a:r>
            <a:endParaRPr lang="zh-CN" altLang="en-US" b="1" dirty="0"/>
          </a:p>
        </p:txBody>
      </p:sp>
    </p:spTree>
    <p:extLst>
      <p:ext uri="{BB962C8B-B14F-4D97-AF65-F5344CB8AC3E}">
        <p14:creationId xmlns:p14="http://schemas.microsoft.com/office/powerpoint/2010/main" val="371347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64388-E1A5-421F-BDFC-8290203DF12D}"/>
              </a:ext>
            </a:extLst>
          </p:cNvPr>
          <p:cNvSpPr>
            <a:spLocks noGrp="1"/>
          </p:cNvSpPr>
          <p:nvPr>
            <p:ph type="title"/>
          </p:nvPr>
        </p:nvSpPr>
        <p:spPr/>
        <p:txBody>
          <a:bodyPr/>
          <a:lstStyle/>
          <a:p>
            <a:r>
              <a:rPr lang="en-US" altLang="zh-CN" dirty="0"/>
              <a:t>Gradient descent</a:t>
            </a:r>
            <a:endParaRPr lang="zh-CN" altLang="en-US" dirty="0"/>
          </a:p>
        </p:txBody>
      </p:sp>
      <p:sp>
        <p:nvSpPr>
          <p:cNvPr id="3" name="内容占位符 2">
            <a:extLst>
              <a:ext uri="{FF2B5EF4-FFF2-40B4-BE49-F238E27FC236}">
                <a16:creationId xmlns:a16="http://schemas.microsoft.com/office/drawing/2014/main" id="{777C5064-4F8D-48AF-9270-85A5D0A19CF2}"/>
              </a:ext>
            </a:extLst>
          </p:cNvPr>
          <p:cNvSpPr>
            <a:spLocks noGrp="1"/>
          </p:cNvSpPr>
          <p:nvPr>
            <p:ph idx="1"/>
          </p:nvPr>
        </p:nvSpPr>
        <p:spPr/>
        <p:txBody>
          <a:bodyPr/>
          <a:lstStyle/>
          <a:p>
            <a:r>
              <a:rPr lang="en-US" altLang="zh-CN" dirty="0"/>
              <a:t>Once you have the gradient vector, which points uphill, just go in the opposite direction to go downhill.</a:t>
            </a:r>
          </a:p>
          <a:p>
            <a:endParaRPr lang="en-US" altLang="zh-CN" dirty="0"/>
          </a:p>
          <a:p>
            <a:endParaRPr lang="en-US" altLang="zh-CN" dirty="0"/>
          </a:p>
          <a:p>
            <a:r>
              <a:rPr lang="en-US" altLang="zh-CN" dirty="0"/>
              <a:t>η determine the size of the downhill step</a:t>
            </a:r>
          </a:p>
          <a:p>
            <a:endParaRPr lang="zh-CN" altLang="en-US" dirty="0"/>
          </a:p>
        </p:txBody>
      </p:sp>
      <p:pic>
        <p:nvPicPr>
          <p:cNvPr id="5" name="图片 4">
            <a:extLst>
              <a:ext uri="{FF2B5EF4-FFF2-40B4-BE49-F238E27FC236}">
                <a16:creationId xmlns:a16="http://schemas.microsoft.com/office/drawing/2014/main" id="{EC5767BE-B3E3-43F6-8D84-AABF8034D8AE}"/>
              </a:ext>
            </a:extLst>
          </p:cNvPr>
          <p:cNvPicPr>
            <a:picLocks noChangeAspect="1"/>
          </p:cNvPicPr>
          <p:nvPr/>
        </p:nvPicPr>
        <p:blipFill>
          <a:blip r:embed="rId2"/>
          <a:stretch>
            <a:fillRect/>
          </a:stretch>
        </p:blipFill>
        <p:spPr>
          <a:xfrm>
            <a:off x="1731056" y="2786275"/>
            <a:ext cx="7026592" cy="943043"/>
          </a:xfrm>
          <a:prstGeom prst="rect">
            <a:avLst/>
          </a:prstGeom>
        </p:spPr>
      </p:pic>
    </p:spTree>
    <p:extLst>
      <p:ext uri="{BB962C8B-B14F-4D97-AF65-F5344CB8AC3E}">
        <p14:creationId xmlns:p14="http://schemas.microsoft.com/office/powerpoint/2010/main" val="2065831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170C5-D44F-46B8-A26A-9210FB86DBA9}"/>
              </a:ext>
            </a:extLst>
          </p:cNvPr>
          <p:cNvSpPr>
            <a:spLocks noGrp="1"/>
          </p:cNvSpPr>
          <p:nvPr>
            <p:ph type="title"/>
          </p:nvPr>
        </p:nvSpPr>
        <p:spPr/>
        <p:txBody>
          <a:bodyPr/>
          <a:lstStyle/>
          <a:p>
            <a:r>
              <a:rPr lang="en-US" altLang="zh-CN" dirty="0"/>
              <a:t>Two Parameter setting</a:t>
            </a:r>
            <a:endParaRPr lang="zh-CN" altLang="en-US" dirty="0"/>
          </a:p>
        </p:txBody>
      </p:sp>
      <p:sp>
        <p:nvSpPr>
          <p:cNvPr id="3" name="内容占位符 2">
            <a:extLst>
              <a:ext uri="{FF2B5EF4-FFF2-40B4-BE49-F238E27FC236}">
                <a16:creationId xmlns:a16="http://schemas.microsoft.com/office/drawing/2014/main" id="{54BEA0C3-E220-4D1A-B08B-394AE5059320}"/>
              </a:ext>
            </a:extLst>
          </p:cNvPr>
          <p:cNvSpPr>
            <a:spLocks noGrp="1"/>
          </p:cNvSpPr>
          <p:nvPr>
            <p:ph idx="1"/>
          </p:nvPr>
        </p:nvSpPr>
        <p:spPr/>
        <p:txBody>
          <a:bodyPr>
            <a:normAutofit/>
          </a:bodyPr>
          <a:lstStyle/>
          <a:p>
            <a:r>
              <a:rPr lang="en-US" altLang="zh-CN" dirty="0">
                <a:solidFill>
                  <a:srgbClr val="FF0000"/>
                </a:solidFill>
              </a:rPr>
              <a:t>learning rate, </a:t>
            </a:r>
            <a:r>
              <a:rPr lang="en-US" altLang="zh-CN" dirty="0"/>
              <a:t>you can use grid search</a:t>
            </a:r>
          </a:p>
          <a:p>
            <a:pPr lvl="1"/>
            <a:r>
              <a:rPr lang="en-US" altLang="zh-CN" dirty="0"/>
              <a:t>However, you may want to limit the number of iterations so that grid search can eliminate models that take too long to converge</a:t>
            </a:r>
          </a:p>
          <a:p>
            <a:r>
              <a:rPr lang="en-US" altLang="zh-CN" dirty="0">
                <a:solidFill>
                  <a:srgbClr val="FF0000"/>
                </a:solidFill>
              </a:rPr>
              <a:t>number of iterations</a:t>
            </a:r>
          </a:p>
          <a:p>
            <a:pPr lvl="1"/>
            <a:r>
              <a:rPr lang="en-US" altLang="zh-CN" dirty="0"/>
              <a:t>If it is too low, you will still be far away from the optimal solution when the algorithm stops;</a:t>
            </a:r>
          </a:p>
          <a:p>
            <a:pPr lvl="1"/>
            <a:r>
              <a:rPr lang="en-US" altLang="zh-CN" dirty="0"/>
              <a:t>but if it is too high, you will waste time while the model parameters do not change anymore. </a:t>
            </a:r>
          </a:p>
          <a:p>
            <a:pPr lvl="1"/>
            <a:r>
              <a:rPr lang="en-US" altLang="zh-CN" dirty="0"/>
              <a:t>A simple solution is to </a:t>
            </a:r>
            <a:r>
              <a:rPr lang="en-US" altLang="zh-CN" dirty="0">
                <a:solidFill>
                  <a:srgbClr val="FF0000"/>
                </a:solidFill>
              </a:rPr>
              <a:t>set a very large number of iterations but to interrupt the algorithm when the gradient vector becomes tiny</a:t>
            </a:r>
          </a:p>
          <a:p>
            <a:pPr lvl="1"/>
            <a:r>
              <a:rPr lang="en-US" altLang="zh-CN" dirty="0"/>
              <a:t>when its norm becomes smaller than a tiny number ϵ(called the tolerance)</a:t>
            </a:r>
            <a:endParaRPr lang="zh-CN" altLang="en-US" dirty="0"/>
          </a:p>
        </p:txBody>
      </p:sp>
    </p:spTree>
    <p:extLst>
      <p:ext uri="{BB962C8B-B14F-4D97-AF65-F5344CB8AC3E}">
        <p14:creationId xmlns:p14="http://schemas.microsoft.com/office/powerpoint/2010/main" val="2396682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89DA08-60A1-4751-890B-817D360CB5CD}"/>
              </a:ext>
            </a:extLst>
          </p:cNvPr>
          <p:cNvSpPr>
            <a:spLocks noGrp="1"/>
          </p:cNvSpPr>
          <p:nvPr>
            <p:ph type="title"/>
          </p:nvPr>
        </p:nvSpPr>
        <p:spPr/>
        <p:txBody>
          <a:bodyPr/>
          <a:lstStyle/>
          <a:p>
            <a:r>
              <a:rPr lang="en-US" altLang="zh-CN" dirty="0"/>
              <a:t>Content</a:t>
            </a:r>
            <a:endParaRPr lang="zh-CN" altLang="en-US" dirty="0"/>
          </a:p>
        </p:txBody>
      </p:sp>
      <p:sp>
        <p:nvSpPr>
          <p:cNvPr id="3" name="内容占位符 2">
            <a:extLst>
              <a:ext uri="{FF2B5EF4-FFF2-40B4-BE49-F238E27FC236}">
                <a16:creationId xmlns:a16="http://schemas.microsoft.com/office/drawing/2014/main" id="{D26E4CF2-60DE-4DDC-99F8-C3AFA5E1B66C}"/>
              </a:ext>
            </a:extLst>
          </p:cNvPr>
          <p:cNvSpPr>
            <a:spLocks noGrp="1"/>
          </p:cNvSpPr>
          <p:nvPr>
            <p:ph idx="1"/>
          </p:nvPr>
        </p:nvSpPr>
        <p:spPr/>
        <p:txBody>
          <a:bodyPr/>
          <a:lstStyle/>
          <a:p>
            <a:r>
              <a:rPr lang="en-US" altLang="zh-CN" dirty="0"/>
              <a:t>Linear Regression</a:t>
            </a:r>
          </a:p>
          <a:p>
            <a:r>
              <a:rPr lang="en-US" altLang="zh-CN" dirty="0"/>
              <a:t>Gradient Descent</a:t>
            </a:r>
          </a:p>
          <a:p>
            <a:pPr lvl="1"/>
            <a:r>
              <a:rPr lang="en-US" altLang="zh-CN" dirty="0"/>
              <a:t>Batch Gradient Descent </a:t>
            </a:r>
          </a:p>
          <a:p>
            <a:pPr lvl="1"/>
            <a:r>
              <a:rPr lang="en-US" altLang="zh-CN" dirty="0">
                <a:solidFill>
                  <a:srgbClr val="FF0000"/>
                </a:solidFill>
              </a:rPr>
              <a:t>Stochastic Gradient Descent</a:t>
            </a:r>
          </a:p>
          <a:p>
            <a:pPr lvl="1"/>
            <a:r>
              <a:rPr lang="en-US" altLang="zh-CN" dirty="0"/>
              <a:t>Mini-batch Gradient Descent </a:t>
            </a:r>
            <a:endParaRPr lang="en-US" altLang="zh-CN" dirty="0">
              <a:solidFill>
                <a:srgbClr val="FF0000"/>
              </a:solidFill>
            </a:endParaRPr>
          </a:p>
          <a:p>
            <a:r>
              <a:rPr lang="en-US" altLang="zh-CN" dirty="0"/>
              <a:t>Polynomial Regression</a:t>
            </a:r>
          </a:p>
          <a:p>
            <a:r>
              <a:rPr lang="en-US" altLang="zh-CN" dirty="0"/>
              <a:t>Learning Curves</a:t>
            </a:r>
          </a:p>
          <a:p>
            <a:r>
              <a:rPr lang="en-US" altLang="zh-CN" dirty="0"/>
              <a:t>Regularized Linear Models</a:t>
            </a:r>
          </a:p>
          <a:p>
            <a:r>
              <a:rPr lang="en-US" altLang="zh-CN" dirty="0"/>
              <a:t>Logistic Regression</a:t>
            </a:r>
            <a:endParaRPr lang="zh-CN" altLang="en-US" dirty="0"/>
          </a:p>
        </p:txBody>
      </p:sp>
    </p:spTree>
    <p:extLst>
      <p:ext uri="{BB962C8B-B14F-4D97-AF65-F5344CB8AC3E}">
        <p14:creationId xmlns:p14="http://schemas.microsoft.com/office/powerpoint/2010/main" val="384153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F88AB-010C-471B-AF37-B9F9D2F46F27}"/>
              </a:ext>
            </a:extLst>
          </p:cNvPr>
          <p:cNvSpPr>
            <a:spLocks noGrp="1"/>
          </p:cNvSpPr>
          <p:nvPr>
            <p:ph type="title"/>
          </p:nvPr>
        </p:nvSpPr>
        <p:spPr>
          <a:xfrm>
            <a:off x="838200" y="365125"/>
            <a:ext cx="10515600" cy="1325563"/>
          </a:xfrm>
        </p:spPr>
        <p:txBody>
          <a:bodyPr/>
          <a:lstStyle/>
          <a:p>
            <a:r>
              <a:rPr lang="en-US" altLang="zh-CN" dirty="0"/>
              <a:t>Necessary of Stochastic Gradient Descent</a:t>
            </a:r>
            <a:br>
              <a:rPr lang="en-US" altLang="zh-CN" dirty="0">
                <a:solidFill>
                  <a:srgbClr val="FF0000"/>
                </a:solidFill>
              </a:rPr>
            </a:br>
            <a:endParaRPr lang="zh-CN" altLang="en-US" dirty="0"/>
          </a:p>
        </p:txBody>
      </p:sp>
      <p:sp>
        <p:nvSpPr>
          <p:cNvPr id="3" name="内容占位符 2">
            <a:extLst>
              <a:ext uri="{FF2B5EF4-FFF2-40B4-BE49-F238E27FC236}">
                <a16:creationId xmlns:a16="http://schemas.microsoft.com/office/drawing/2014/main" id="{693B698F-4D31-411A-8A07-6843BB0A4347}"/>
              </a:ext>
            </a:extLst>
          </p:cNvPr>
          <p:cNvSpPr>
            <a:spLocks noGrp="1"/>
          </p:cNvSpPr>
          <p:nvPr>
            <p:ph idx="1"/>
          </p:nvPr>
        </p:nvSpPr>
        <p:spPr/>
        <p:txBody>
          <a:bodyPr/>
          <a:lstStyle/>
          <a:p>
            <a:r>
              <a:rPr lang="en-US" altLang="zh-CN" dirty="0"/>
              <a:t>The main problem with Batch Gradient Descent is the fact that it </a:t>
            </a:r>
            <a:r>
              <a:rPr lang="en-US" altLang="zh-CN" dirty="0">
                <a:solidFill>
                  <a:srgbClr val="FF0000"/>
                </a:solidFill>
              </a:rPr>
              <a:t>uses the whole training set to compute the gradients at every step</a:t>
            </a:r>
            <a:r>
              <a:rPr lang="en-US" altLang="zh-CN" dirty="0"/>
              <a:t>, which makes it very slow when the training set is large</a:t>
            </a:r>
          </a:p>
          <a:p>
            <a:r>
              <a:rPr lang="en-US" altLang="zh-CN" dirty="0"/>
              <a:t>At the opposite extreme, Stochastic Gradient Descent picks a random instance in the training set at every step </a:t>
            </a:r>
            <a:r>
              <a:rPr lang="en-US" altLang="zh-CN" dirty="0">
                <a:solidFill>
                  <a:srgbClr val="FF0000"/>
                </a:solidFill>
              </a:rPr>
              <a:t>and computes the gradients based only on that single instance</a:t>
            </a:r>
          </a:p>
          <a:p>
            <a:pPr lvl="1"/>
            <a:r>
              <a:rPr lang="en-US" altLang="zh-CN" dirty="0"/>
              <a:t>Obviously, working on a single instance at a time makes the algorithm much faster because it has very little data to manipulate at every iteration</a:t>
            </a:r>
          </a:p>
          <a:p>
            <a:pPr lvl="1"/>
            <a:r>
              <a:rPr lang="en-US" altLang="zh-CN" dirty="0"/>
              <a:t>It also makes </a:t>
            </a:r>
            <a:r>
              <a:rPr lang="en-US" altLang="zh-CN" dirty="0">
                <a:solidFill>
                  <a:srgbClr val="FF0000"/>
                </a:solidFill>
              </a:rPr>
              <a:t>it possible to train on huge training sets</a:t>
            </a:r>
            <a:r>
              <a:rPr lang="en-US" altLang="zh-CN" dirty="0"/>
              <a:t>, since only one instance needs to be in memory at each iteration</a:t>
            </a:r>
            <a:endParaRPr lang="zh-CN" altLang="en-US" dirty="0"/>
          </a:p>
        </p:txBody>
      </p:sp>
    </p:spTree>
    <p:extLst>
      <p:ext uri="{BB962C8B-B14F-4D97-AF65-F5344CB8AC3E}">
        <p14:creationId xmlns:p14="http://schemas.microsoft.com/office/powerpoint/2010/main" val="1926940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EE257-1B85-483A-B1C8-B7DD29BC9C51}"/>
              </a:ext>
            </a:extLst>
          </p:cNvPr>
          <p:cNvSpPr>
            <a:spLocks noGrp="1"/>
          </p:cNvSpPr>
          <p:nvPr>
            <p:ph type="title"/>
          </p:nvPr>
        </p:nvSpPr>
        <p:spPr/>
        <p:txBody>
          <a:bodyPr/>
          <a:lstStyle/>
          <a:p>
            <a:r>
              <a:rPr lang="en-US" altLang="zh-CN" dirty="0"/>
              <a:t>Shortcoming of Stochastic Gradient Descent</a:t>
            </a:r>
            <a:endParaRPr lang="zh-CN" altLang="en-US" dirty="0"/>
          </a:p>
        </p:txBody>
      </p:sp>
      <p:sp>
        <p:nvSpPr>
          <p:cNvPr id="3" name="内容占位符 2">
            <a:extLst>
              <a:ext uri="{FF2B5EF4-FFF2-40B4-BE49-F238E27FC236}">
                <a16:creationId xmlns:a16="http://schemas.microsoft.com/office/drawing/2014/main" id="{F9AD7AB3-9466-498C-8D25-7B4B83F5F87F}"/>
              </a:ext>
            </a:extLst>
          </p:cNvPr>
          <p:cNvSpPr>
            <a:spLocks noGrp="1"/>
          </p:cNvSpPr>
          <p:nvPr>
            <p:ph idx="1"/>
          </p:nvPr>
        </p:nvSpPr>
        <p:spPr>
          <a:xfrm>
            <a:off x="838201" y="1825625"/>
            <a:ext cx="5481918" cy="4019363"/>
          </a:xfrm>
        </p:spPr>
        <p:txBody>
          <a:bodyPr>
            <a:normAutofit lnSpcReduction="10000"/>
          </a:bodyPr>
          <a:lstStyle/>
          <a:p>
            <a:r>
              <a:rPr lang="en-US" altLang="zh-CN" dirty="0"/>
              <a:t>Due to its stochastic (i.e., random) nature, this algorithm is much less regular than Batch Gradient Descent: </a:t>
            </a:r>
          </a:p>
          <a:p>
            <a:pPr lvl="1"/>
            <a:r>
              <a:rPr lang="en-US" altLang="zh-CN" dirty="0"/>
              <a:t>instead of gently decreasing until it reaches the minimum, </a:t>
            </a:r>
            <a:r>
              <a:rPr lang="en-US" altLang="zh-CN" dirty="0">
                <a:solidFill>
                  <a:srgbClr val="FF0000"/>
                </a:solidFill>
              </a:rPr>
              <a:t>the cost function will bounce up and down, decreasing only on average.</a:t>
            </a:r>
          </a:p>
          <a:p>
            <a:pPr lvl="1"/>
            <a:r>
              <a:rPr lang="en-US" altLang="zh-CN" dirty="0"/>
              <a:t>Over time it will end up very close to the minimum, but once it gets there it will continue to bounce around, never settling down</a:t>
            </a:r>
            <a:endParaRPr lang="zh-CN" altLang="en-US" dirty="0"/>
          </a:p>
        </p:txBody>
      </p:sp>
      <p:pic>
        <p:nvPicPr>
          <p:cNvPr id="5" name="图片 4">
            <a:extLst>
              <a:ext uri="{FF2B5EF4-FFF2-40B4-BE49-F238E27FC236}">
                <a16:creationId xmlns:a16="http://schemas.microsoft.com/office/drawing/2014/main" id="{315D5D94-4B3E-4608-88ED-8232298F8274}"/>
              </a:ext>
            </a:extLst>
          </p:cNvPr>
          <p:cNvPicPr>
            <a:picLocks noChangeAspect="1"/>
          </p:cNvPicPr>
          <p:nvPr/>
        </p:nvPicPr>
        <p:blipFill>
          <a:blip r:embed="rId2"/>
          <a:stretch>
            <a:fillRect/>
          </a:stretch>
        </p:blipFill>
        <p:spPr>
          <a:xfrm>
            <a:off x="7076952" y="2097741"/>
            <a:ext cx="4593693" cy="3397476"/>
          </a:xfrm>
          <a:prstGeom prst="rect">
            <a:avLst/>
          </a:prstGeom>
        </p:spPr>
      </p:pic>
    </p:spTree>
    <p:extLst>
      <p:ext uri="{BB962C8B-B14F-4D97-AF65-F5344CB8AC3E}">
        <p14:creationId xmlns:p14="http://schemas.microsoft.com/office/powerpoint/2010/main" val="2251348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7852C-F683-4D5D-AED4-56972FB2892E}"/>
              </a:ext>
            </a:extLst>
          </p:cNvPr>
          <p:cNvSpPr>
            <a:spLocks noGrp="1"/>
          </p:cNvSpPr>
          <p:nvPr>
            <p:ph type="title"/>
          </p:nvPr>
        </p:nvSpPr>
        <p:spPr/>
        <p:txBody>
          <a:bodyPr/>
          <a:lstStyle/>
          <a:p>
            <a:r>
              <a:rPr lang="en-US" altLang="zh-CN" dirty="0"/>
              <a:t>Randomness’ help </a:t>
            </a:r>
            <a:endParaRPr lang="zh-CN" altLang="en-US" dirty="0"/>
          </a:p>
        </p:txBody>
      </p:sp>
      <p:sp>
        <p:nvSpPr>
          <p:cNvPr id="3" name="内容占位符 2">
            <a:extLst>
              <a:ext uri="{FF2B5EF4-FFF2-40B4-BE49-F238E27FC236}">
                <a16:creationId xmlns:a16="http://schemas.microsoft.com/office/drawing/2014/main" id="{49E71CEC-9803-42B8-B06D-CB445F3180BB}"/>
              </a:ext>
            </a:extLst>
          </p:cNvPr>
          <p:cNvSpPr>
            <a:spLocks noGrp="1"/>
          </p:cNvSpPr>
          <p:nvPr>
            <p:ph idx="1"/>
          </p:nvPr>
        </p:nvSpPr>
        <p:spPr>
          <a:xfrm>
            <a:off x="838200" y="1825625"/>
            <a:ext cx="5159191" cy="4351338"/>
          </a:xfrm>
        </p:spPr>
        <p:txBody>
          <a:bodyPr/>
          <a:lstStyle/>
          <a:p>
            <a:r>
              <a:rPr lang="en-US" altLang="zh-CN" dirty="0"/>
              <a:t>When the cost function is very irregular, </a:t>
            </a:r>
            <a:r>
              <a:rPr lang="en-US" altLang="zh-CN" dirty="0">
                <a:solidFill>
                  <a:srgbClr val="FF0000"/>
                </a:solidFill>
              </a:rPr>
              <a:t>this can actually help the algorithm jump out of local minima</a:t>
            </a:r>
          </a:p>
          <a:p>
            <a:r>
              <a:rPr lang="en-US" altLang="zh-CN" dirty="0"/>
              <a:t>so Stochastic Gradient Descent has a better chance of finding the global minimum than Batch Gradient Descent does</a:t>
            </a:r>
            <a:endParaRPr lang="zh-CN" altLang="en-US" dirty="0"/>
          </a:p>
        </p:txBody>
      </p:sp>
      <p:pic>
        <p:nvPicPr>
          <p:cNvPr id="4" name="图片 3">
            <a:extLst>
              <a:ext uri="{FF2B5EF4-FFF2-40B4-BE49-F238E27FC236}">
                <a16:creationId xmlns:a16="http://schemas.microsoft.com/office/drawing/2014/main" id="{FA9D96F5-E70E-437A-924C-D0AC72102A33}"/>
              </a:ext>
            </a:extLst>
          </p:cNvPr>
          <p:cNvPicPr>
            <a:picLocks noChangeAspect="1"/>
          </p:cNvPicPr>
          <p:nvPr/>
        </p:nvPicPr>
        <p:blipFill>
          <a:blip r:embed="rId2"/>
          <a:stretch>
            <a:fillRect/>
          </a:stretch>
        </p:blipFill>
        <p:spPr>
          <a:xfrm>
            <a:off x="6302187" y="1825625"/>
            <a:ext cx="5768229" cy="3253172"/>
          </a:xfrm>
          <a:prstGeom prst="rect">
            <a:avLst/>
          </a:prstGeom>
        </p:spPr>
      </p:pic>
    </p:spTree>
    <p:extLst>
      <p:ext uri="{BB962C8B-B14F-4D97-AF65-F5344CB8AC3E}">
        <p14:creationId xmlns:p14="http://schemas.microsoft.com/office/powerpoint/2010/main" val="3138346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C376A-4D12-430C-A8BA-FE5901F924A3}"/>
              </a:ext>
            </a:extLst>
          </p:cNvPr>
          <p:cNvSpPr>
            <a:spLocks noGrp="1"/>
          </p:cNvSpPr>
          <p:nvPr>
            <p:ph type="title"/>
          </p:nvPr>
        </p:nvSpPr>
        <p:spPr/>
        <p:txBody>
          <a:bodyPr/>
          <a:lstStyle/>
          <a:p>
            <a:r>
              <a:rPr lang="en-US" altLang="zh-CN" dirty="0"/>
              <a:t>Simulated annealing in SGD </a:t>
            </a:r>
            <a:endParaRPr lang="zh-CN" altLang="en-US" dirty="0"/>
          </a:p>
        </p:txBody>
      </p:sp>
      <p:sp>
        <p:nvSpPr>
          <p:cNvPr id="3" name="内容占位符 2">
            <a:extLst>
              <a:ext uri="{FF2B5EF4-FFF2-40B4-BE49-F238E27FC236}">
                <a16:creationId xmlns:a16="http://schemas.microsoft.com/office/drawing/2014/main" id="{DE120C04-7339-4B31-ACC4-854CEB439509}"/>
              </a:ext>
            </a:extLst>
          </p:cNvPr>
          <p:cNvSpPr>
            <a:spLocks noGrp="1"/>
          </p:cNvSpPr>
          <p:nvPr>
            <p:ph idx="1"/>
          </p:nvPr>
        </p:nvSpPr>
        <p:spPr/>
        <p:txBody>
          <a:bodyPr>
            <a:normAutofit/>
          </a:bodyPr>
          <a:lstStyle/>
          <a:p>
            <a:r>
              <a:rPr lang="en-US" altLang="zh-CN" dirty="0"/>
              <a:t>Therefore, randomness is good to escape from local optima, but bad because it means that the algorithm can never settle at the minimum</a:t>
            </a:r>
          </a:p>
          <a:p>
            <a:r>
              <a:rPr lang="en-US" altLang="zh-CN" dirty="0"/>
              <a:t>One solution to this dilemma is to gradually reduce the learning rate</a:t>
            </a:r>
          </a:p>
          <a:p>
            <a:pPr lvl="1"/>
            <a:r>
              <a:rPr lang="en-US" altLang="zh-CN" dirty="0">
                <a:solidFill>
                  <a:srgbClr val="FF0000"/>
                </a:solidFill>
              </a:rPr>
              <a:t>The steps start out large (which helps make quick progress and escape local minima), then get smaller </a:t>
            </a:r>
            <a:r>
              <a:rPr lang="en-US" altLang="zh-CN" dirty="0"/>
              <a:t>and smaller, allowing the algorithm to settle at the global minimum</a:t>
            </a:r>
          </a:p>
          <a:p>
            <a:pPr lvl="1"/>
            <a:r>
              <a:rPr lang="en-US" altLang="zh-CN" dirty="0"/>
              <a:t>This process is akin to simulated annealing. I</a:t>
            </a:r>
          </a:p>
          <a:p>
            <a:endParaRPr lang="zh-CN" altLang="en-US" dirty="0"/>
          </a:p>
        </p:txBody>
      </p:sp>
    </p:spTree>
    <p:extLst>
      <p:ext uri="{BB962C8B-B14F-4D97-AF65-F5344CB8AC3E}">
        <p14:creationId xmlns:p14="http://schemas.microsoft.com/office/powerpoint/2010/main" val="46544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7AEDFF-229F-45D6-8C9B-B5053BF7BF64}"/>
              </a:ext>
            </a:extLst>
          </p:cNvPr>
          <p:cNvSpPr>
            <a:spLocks noGrp="1"/>
          </p:cNvSpPr>
          <p:nvPr>
            <p:ph type="title"/>
          </p:nvPr>
        </p:nvSpPr>
        <p:spPr/>
        <p:txBody>
          <a:bodyPr/>
          <a:lstStyle/>
          <a:p>
            <a:r>
              <a:rPr lang="en-US" altLang="zh-CN" dirty="0"/>
              <a:t>learning schedule</a:t>
            </a:r>
            <a:endParaRPr lang="zh-CN" altLang="en-US" dirty="0"/>
          </a:p>
        </p:txBody>
      </p:sp>
      <p:sp>
        <p:nvSpPr>
          <p:cNvPr id="3" name="内容占位符 2">
            <a:extLst>
              <a:ext uri="{FF2B5EF4-FFF2-40B4-BE49-F238E27FC236}">
                <a16:creationId xmlns:a16="http://schemas.microsoft.com/office/drawing/2014/main" id="{BDD1A111-633C-47B0-8A37-F473BBF4EE60}"/>
              </a:ext>
            </a:extLst>
          </p:cNvPr>
          <p:cNvSpPr>
            <a:spLocks noGrp="1"/>
          </p:cNvSpPr>
          <p:nvPr>
            <p:ph idx="1"/>
          </p:nvPr>
        </p:nvSpPr>
        <p:spPr/>
        <p:txBody>
          <a:bodyPr/>
          <a:lstStyle/>
          <a:p>
            <a:r>
              <a:rPr lang="en-US" altLang="zh-CN" dirty="0"/>
              <a:t>The function that determines the learning rate at each iteration is called the learning schedule</a:t>
            </a:r>
          </a:p>
          <a:p>
            <a:pPr lvl="1"/>
            <a:r>
              <a:rPr lang="en-US" altLang="zh-CN" dirty="0"/>
              <a:t>If the learning rate is reduced too quickly, you may get stuck in a local minimum, or even end up frozen halfway to the minimum. </a:t>
            </a:r>
          </a:p>
          <a:p>
            <a:pPr lvl="1"/>
            <a:r>
              <a:rPr lang="en-US" altLang="zh-CN" dirty="0"/>
              <a:t>If the learning rate is reduced too slowly, you may jump around the minimum for a long time and end up with a suboptimal solution if you halt training too early</a:t>
            </a:r>
            <a:endParaRPr lang="zh-CN" altLang="en-US" dirty="0"/>
          </a:p>
        </p:txBody>
      </p:sp>
    </p:spTree>
    <p:extLst>
      <p:ext uri="{BB962C8B-B14F-4D97-AF65-F5344CB8AC3E}">
        <p14:creationId xmlns:p14="http://schemas.microsoft.com/office/powerpoint/2010/main" val="2351418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21B72E-0AE3-4F63-A017-34D61A798ADC}"/>
              </a:ext>
            </a:extLst>
          </p:cNvPr>
          <p:cNvSpPr>
            <a:spLocks noGrp="1"/>
          </p:cNvSpPr>
          <p:nvPr>
            <p:ph type="title"/>
          </p:nvPr>
        </p:nvSpPr>
        <p:spPr/>
        <p:txBody>
          <a:bodyPr/>
          <a:lstStyle/>
          <a:p>
            <a:r>
              <a:rPr lang="en-US" altLang="zh-CN" dirty="0"/>
              <a:t>IID assumption</a:t>
            </a:r>
            <a:endParaRPr lang="zh-CN" altLang="en-US" dirty="0"/>
          </a:p>
        </p:txBody>
      </p:sp>
      <p:sp>
        <p:nvSpPr>
          <p:cNvPr id="3" name="内容占位符 2">
            <a:extLst>
              <a:ext uri="{FF2B5EF4-FFF2-40B4-BE49-F238E27FC236}">
                <a16:creationId xmlns:a16="http://schemas.microsoft.com/office/drawing/2014/main" id="{FE1235E8-BD51-428D-9A79-587EEEE3A428}"/>
              </a:ext>
            </a:extLst>
          </p:cNvPr>
          <p:cNvSpPr>
            <a:spLocks noGrp="1"/>
          </p:cNvSpPr>
          <p:nvPr>
            <p:ph idx="1"/>
          </p:nvPr>
        </p:nvSpPr>
        <p:spPr/>
        <p:txBody>
          <a:bodyPr/>
          <a:lstStyle/>
          <a:p>
            <a:r>
              <a:rPr lang="en-US" altLang="zh-CN" dirty="0"/>
              <a:t>When using stochastic gradient descent, the training instances must be independent and identically distributed (IID) to ensure that the parameters get pulled toward the global optimum, on average</a:t>
            </a:r>
          </a:p>
          <a:p>
            <a:r>
              <a:rPr lang="en-US" altLang="zh-CN" dirty="0"/>
              <a:t>A simple way to ensure this is to shuffle the instances during training</a:t>
            </a:r>
          </a:p>
          <a:p>
            <a:r>
              <a:rPr lang="en-US" altLang="zh-CN" dirty="0"/>
              <a:t>if the instances are sorted by label— then SGD will start by optimizing for one label, then the next, and so on, and it will not settle close to the global minimum</a:t>
            </a:r>
            <a:endParaRPr lang="zh-CN" altLang="en-US" dirty="0"/>
          </a:p>
        </p:txBody>
      </p:sp>
    </p:spTree>
    <p:extLst>
      <p:ext uri="{BB962C8B-B14F-4D97-AF65-F5344CB8AC3E}">
        <p14:creationId xmlns:p14="http://schemas.microsoft.com/office/powerpoint/2010/main" val="1829467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2381F0-B688-474F-9D23-A7DA6CA48CA4}"/>
              </a:ext>
            </a:extLst>
          </p:cNvPr>
          <p:cNvSpPr>
            <a:spLocks noGrp="1"/>
          </p:cNvSpPr>
          <p:nvPr>
            <p:ph type="title"/>
          </p:nvPr>
        </p:nvSpPr>
        <p:spPr/>
        <p:txBody>
          <a:bodyPr/>
          <a:lstStyle/>
          <a:p>
            <a:r>
              <a:rPr lang="en-US" altLang="zh-CN" dirty="0"/>
              <a:t>Mini-batch GD</a:t>
            </a:r>
            <a:endParaRPr lang="zh-CN" altLang="en-US" dirty="0"/>
          </a:p>
        </p:txBody>
      </p:sp>
      <p:sp>
        <p:nvSpPr>
          <p:cNvPr id="3" name="内容占位符 2">
            <a:extLst>
              <a:ext uri="{FF2B5EF4-FFF2-40B4-BE49-F238E27FC236}">
                <a16:creationId xmlns:a16="http://schemas.microsoft.com/office/drawing/2014/main" id="{A36F9694-1F28-4737-A75A-A39A87B3D588}"/>
              </a:ext>
            </a:extLst>
          </p:cNvPr>
          <p:cNvSpPr>
            <a:spLocks noGrp="1"/>
          </p:cNvSpPr>
          <p:nvPr>
            <p:ph idx="1"/>
          </p:nvPr>
        </p:nvSpPr>
        <p:spPr/>
        <p:txBody>
          <a:bodyPr/>
          <a:lstStyle/>
          <a:p>
            <a:r>
              <a:rPr lang="en-US" altLang="zh-CN" dirty="0"/>
              <a:t>at each step, Mini-batch GD </a:t>
            </a:r>
            <a:r>
              <a:rPr lang="en-US" altLang="zh-CN" dirty="0">
                <a:solidFill>
                  <a:srgbClr val="FF0000"/>
                </a:solidFill>
              </a:rPr>
              <a:t>computes the gradients on small random sets of instances called mini-batches</a:t>
            </a:r>
            <a:r>
              <a:rPr lang="en-US" altLang="zh-CN" dirty="0"/>
              <a:t>, instead of computing the gradients </a:t>
            </a:r>
          </a:p>
          <a:p>
            <a:pPr lvl="1"/>
            <a:r>
              <a:rPr lang="en-US" altLang="zh-CN" dirty="0"/>
              <a:t>based on the full training set (as in Batch GD) </a:t>
            </a:r>
          </a:p>
          <a:p>
            <a:pPr lvl="1"/>
            <a:r>
              <a:rPr lang="en-US" altLang="zh-CN" dirty="0"/>
              <a:t>based on just one instance (as in Stochastic GD)</a:t>
            </a:r>
          </a:p>
          <a:p>
            <a:r>
              <a:rPr lang="en-US" altLang="zh-CN" dirty="0"/>
              <a:t>The main advantage of Minibatch GD over Stochastic GD is that </a:t>
            </a:r>
            <a:r>
              <a:rPr lang="en-US" altLang="zh-CN" dirty="0">
                <a:solidFill>
                  <a:srgbClr val="FF0000"/>
                </a:solidFill>
              </a:rPr>
              <a:t>you can get a performance boost from hardware optimization of matrix operations, especially when using GPUs</a:t>
            </a:r>
            <a:endParaRPr lang="zh-CN" altLang="en-US" dirty="0">
              <a:solidFill>
                <a:srgbClr val="FF0000"/>
              </a:solidFill>
            </a:endParaRPr>
          </a:p>
        </p:txBody>
      </p:sp>
    </p:spTree>
    <p:extLst>
      <p:ext uri="{BB962C8B-B14F-4D97-AF65-F5344CB8AC3E}">
        <p14:creationId xmlns:p14="http://schemas.microsoft.com/office/powerpoint/2010/main" val="3137786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6C875-0EC4-4682-998C-584793BFDBCA}"/>
              </a:ext>
            </a:extLst>
          </p:cNvPr>
          <p:cNvSpPr>
            <a:spLocks noGrp="1"/>
          </p:cNvSpPr>
          <p:nvPr>
            <p:ph type="title"/>
          </p:nvPr>
        </p:nvSpPr>
        <p:spPr/>
        <p:txBody>
          <a:bodyPr/>
          <a:lstStyle/>
          <a:p>
            <a:r>
              <a:rPr lang="en-US" altLang="zh-CN" dirty="0"/>
              <a:t>Progress in parameter space</a:t>
            </a:r>
            <a:endParaRPr lang="zh-CN" altLang="en-US" dirty="0"/>
          </a:p>
        </p:txBody>
      </p:sp>
      <p:sp>
        <p:nvSpPr>
          <p:cNvPr id="3" name="内容占位符 2">
            <a:extLst>
              <a:ext uri="{FF2B5EF4-FFF2-40B4-BE49-F238E27FC236}">
                <a16:creationId xmlns:a16="http://schemas.microsoft.com/office/drawing/2014/main" id="{02C803CA-FA4B-49E4-B079-1A1FDEE22147}"/>
              </a:ext>
            </a:extLst>
          </p:cNvPr>
          <p:cNvSpPr>
            <a:spLocks noGrp="1"/>
          </p:cNvSpPr>
          <p:nvPr>
            <p:ph idx="1"/>
          </p:nvPr>
        </p:nvSpPr>
        <p:spPr>
          <a:xfrm>
            <a:off x="277906" y="1825625"/>
            <a:ext cx="3856222" cy="4351338"/>
          </a:xfrm>
        </p:spPr>
        <p:txBody>
          <a:bodyPr>
            <a:normAutofit fontScale="85000" lnSpcReduction="20000"/>
          </a:bodyPr>
          <a:lstStyle/>
          <a:p>
            <a:r>
              <a:rPr lang="en-US" altLang="zh-CN" dirty="0"/>
              <a:t>They all end up near the minimum, but Batch GD’s path actually stops at the minimum, while both Stochastic GD and Mini-batch GD continue to walk around</a:t>
            </a:r>
          </a:p>
          <a:p>
            <a:r>
              <a:rPr lang="en-US" altLang="zh-CN" dirty="0"/>
              <a:t>However, don’t forget </a:t>
            </a:r>
            <a:r>
              <a:rPr lang="en-US" altLang="zh-CN" dirty="0">
                <a:solidFill>
                  <a:srgbClr val="FF0000"/>
                </a:solidFill>
              </a:rPr>
              <a:t>that Batch GD takes a lot of time to take each step, and Stochastic </a:t>
            </a:r>
            <a:r>
              <a:rPr lang="en-US" altLang="zh-CN" dirty="0"/>
              <a:t>GD and Mini-batch GD would also reach the minimum if you used a good learning schedule</a:t>
            </a:r>
            <a:endParaRPr lang="zh-CN" altLang="en-US" dirty="0"/>
          </a:p>
        </p:txBody>
      </p:sp>
      <p:pic>
        <p:nvPicPr>
          <p:cNvPr id="5" name="图片 4">
            <a:extLst>
              <a:ext uri="{FF2B5EF4-FFF2-40B4-BE49-F238E27FC236}">
                <a16:creationId xmlns:a16="http://schemas.microsoft.com/office/drawing/2014/main" id="{7154CF90-3941-4801-900A-637013D41D27}"/>
              </a:ext>
            </a:extLst>
          </p:cNvPr>
          <p:cNvPicPr>
            <a:picLocks noChangeAspect="1"/>
          </p:cNvPicPr>
          <p:nvPr/>
        </p:nvPicPr>
        <p:blipFill>
          <a:blip r:embed="rId2"/>
          <a:stretch>
            <a:fillRect/>
          </a:stretch>
        </p:blipFill>
        <p:spPr>
          <a:xfrm>
            <a:off x="4134127" y="1825625"/>
            <a:ext cx="7843648" cy="4351338"/>
          </a:xfrm>
          <a:prstGeom prst="rect">
            <a:avLst/>
          </a:prstGeom>
        </p:spPr>
      </p:pic>
    </p:spTree>
    <p:extLst>
      <p:ext uri="{BB962C8B-B14F-4D97-AF65-F5344CB8AC3E}">
        <p14:creationId xmlns:p14="http://schemas.microsoft.com/office/powerpoint/2010/main" val="4112764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6C875-0EC4-4682-998C-584793BFDBCA}"/>
              </a:ext>
            </a:extLst>
          </p:cNvPr>
          <p:cNvSpPr>
            <a:spLocks noGrp="1"/>
          </p:cNvSpPr>
          <p:nvPr>
            <p:ph type="title"/>
          </p:nvPr>
        </p:nvSpPr>
        <p:spPr/>
        <p:txBody>
          <a:bodyPr/>
          <a:lstStyle/>
          <a:p>
            <a:r>
              <a:rPr lang="en-US" altLang="zh-CN" dirty="0"/>
              <a:t>Progress in parameter space</a:t>
            </a:r>
            <a:endParaRPr lang="zh-CN" altLang="en-US" dirty="0"/>
          </a:p>
        </p:txBody>
      </p:sp>
      <p:sp>
        <p:nvSpPr>
          <p:cNvPr id="3" name="内容占位符 2">
            <a:extLst>
              <a:ext uri="{FF2B5EF4-FFF2-40B4-BE49-F238E27FC236}">
                <a16:creationId xmlns:a16="http://schemas.microsoft.com/office/drawing/2014/main" id="{02C803CA-FA4B-49E4-B079-1A1FDEE22147}"/>
              </a:ext>
            </a:extLst>
          </p:cNvPr>
          <p:cNvSpPr>
            <a:spLocks noGrp="1"/>
          </p:cNvSpPr>
          <p:nvPr>
            <p:ph idx="1"/>
          </p:nvPr>
        </p:nvSpPr>
        <p:spPr>
          <a:xfrm>
            <a:off x="286872" y="1825625"/>
            <a:ext cx="3847256" cy="4351338"/>
          </a:xfrm>
        </p:spPr>
        <p:txBody>
          <a:bodyPr>
            <a:normAutofit fontScale="92500" lnSpcReduction="10000"/>
          </a:bodyPr>
          <a:lstStyle/>
          <a:p>
            <a:r>
              <a:rPr lang="en-US" altLang="zh-CN" dirty="0"/>
              <a:t>Mini-batch GD’s progress in parameter space is less erratic than with Stochastic GD</a:t>
            </a:r>
          </a:p>
          <a:p>
            <a:r>
              <a:rPr lang="en-US" altLang="zh-CN" dirty="0"/>
              <a:t>As a result, Minibatch GD will end up walking around a bit closer to the minimum than Stochastic GD—but it may be harder for it to escape from local minima</a:t>
            </a:r>
            <a:endParaRPr lang="zh-CN" altLang="en-US" dirty="0"/>
          </a:p>
        </p:txBody>
      </p:sp>
      <p:pic>
        <p:nvPicPr>
          <p:cNvPr id="5" name="图片 4">
            <a:extLst>
              <a:ext uri="{FF2B5EF4-FFF2-40B4-BE49-F238E27FC236}">
                <a16:creationId xmlns:a16="http://schemas.microsoft.com/office/drawing/2014/main" id="{7154CF90-3941-4801-900A-637013D41D27}"/>
              </a:ext>
            </a:extLst>
          </p:cNvPr>
          <p:cNvPicPr>
            <a:picLocks noChangeAspect="1"/>
          </p:cNvPicPr>
          <p:nvPr/>
        </p:nvPicPr>
        <p:blipFill>
          <a:blip r:embed="rId2"/>
          <a:stretch>
            <a:fillRect/>
          </a:stretch>
        </p:blipFill>
        <p:spPr>
          <a:xfrm>
            <a:off x="4134127" y="1825625"/>
            <a:ext cx="7843648" cy="4351338"/>
          </a:xfrm>
          <a:prstGeom prst="rect">
            <a:avLst/>
          </a:prstGeom>
        </p:spPr>
      </p:pic>
    </p:spTree>
    <p:extLst>
      <p:ext uri="{BB962C8B-B14F-4D97-AF65-F5344CB8AC3E}">
        <p14:creationId xmlns:p14="http://schemas.microsoft.com/office/powerpoint/2010/main" val="6781366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5128</TotalTime>
  <Words>1147</Words>
  <Application>Microsoft Office PowerPoint</Application>
  <PresentationFormat>宽屏</PresentationFormat>
  <Paragraphs>78</Paragraphs>
  <Slides>17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Training model</vt:lpstr>
      <vt:lpstr>Learning rate</vt:lpstr>
      <vt:lpstr>Learning rate</vt:lpstr>
      <vt:lpstr>Gradient Descent in a Linear Regression model </vt:lpstr>
      <vt:lpstr>Necessary of scales</vt:lpstr>
      <vt:lpstr>Gradient descent</vt:lpstr>
      <vt:lpstr>Two Parameter setting</vt:lpstr>
      <vt:lpstr>Content</vt:lpstr>
      <vt:lpstr>Necessary of Stochastic Gradient Descent </vt:lpstr>
      <vt:lpstr>Shortcoming of Stochastic Gradient Descent</vt:lpstr>
      <vt:lpstr>Randomness’ help </vt:lpstr>
      <vt:lpstr>Simulated annealing in SGD </vt:lpstr>
      <vt:lpstr>learning schedule</vt:lpstr>
      <vt:lpstr>IID assumption</vt:lpstr>
      <vt:lpstr>Mini-batch GD</vt:lpstr>
      <vt:lpstr>Progress in parameter space</vt:lpstr>
      <vt:lpstr>Progress in parameter space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 model</dc:title>
  <dc:creator>zhao yongxiang</dc:creator>
  <cp:lastModifiedBy>yongxiang zhao</cp:lastModifiedBy>
  <cp:revision>145</cp:revision>
  <dcterms:created xsi:type="dcterms:W3CDTF">2022-09-07T01:53:53Z</dcterms:created>
  <dcterms:modified xsi:type="dcterms:W3CDTF">2025-10-10T03:56:53Z</dcterms:modified>
</cp:coreProperties>
</file>