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C47D6-1A8B-6574-2685-08AC1E37A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0D3F36-BB5E-045D-43BB-C505542E9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12144-2534-40E5-9527-62E269AA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A2A18-D619-5BC9-05F6-DD9EA0B1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D5222A-18C3-D80F-C350-39756D769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11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00BBB-5FFE-17D2-30AB-AC68B997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08BAB5-2805-6C5C-154D-0D03E858B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155C93-5432-DBD8-0C6E-ECDEFA12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4FCD9B-9685-79DF-A10F-69CCF163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078DED-2855-2B16-D954-826F65202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45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D5DEB-E382-27F9-39C7-80C79C4D0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4C9057-3B3C-A8B1-DDAA-4DC3372C2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7DE02C-4AF9-5AEB-2E3D-E66EC4BB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CEB8A8-C32F-9E93-8D94-1D2F45CA9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7D314F-9CF1-A4B6-448B-6813286C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416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8F55B-FDDA-350A-08EB-EA7CA9AB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63CEC-85A8-5B26-1E39-0B1F3112E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14B5D7-45D9-D505-6237-8BEC3AC9C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F38780-06FC-7B86-E640-F13ACA92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096A7B-934E-C38C-C1EA-BFB7A5210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99FD7E-3088-4FEB-F410-89A1D4CB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04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FD925-7A5E-A352-1BB9-173C07A6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1C81F2-43A3-7177-3361-111FAB595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04E6F7-7832-5FE7-F260-C7E5121B7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A2142B-934E-603A-C0CB-A5788B976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AE101C-D9B8-8DAE-799C-C7FB53600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452AEA-34D3-0C98-6DE0-1A9DBEFE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3A35C6-9D5D-7015-336C-025BFB02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92D6F9-AA5C-12ED-1B42-1FF412E1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39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AF1B7-7FB7-0083-3CA4-8AEF2337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6D9B1A-85A6-BCFE-42C6-D175FD057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1679FE-3435-76C6-4DE9-4AA4A1FF1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6F26D-2484-572B-5F16-6C0E1BD1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92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B9981D-26C9-D980-9ECC-5C6E2E65E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CB43DC-67B1-634A-BEF6-77960D001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C6C932-B31B-2221-8512-E9A94F8C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69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4470B-5EFA-A5DB-E34E-AC745E90E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D4C64-3D4E-71FD-2B34-71140E0A7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86E923-18D9-C85E-79CA-409FA122F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74C7C1-7ED7-112E-3EFB-17EC1321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DA7F62-BC3D-7C2A-3D28-A22F9237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31E4D3-008B-031C-57F8-74D6D970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42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09141-4A34-A72C-9DA0-149D5D3B2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35487A-9F6F-2654-7E20-D537096C1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C9622-82C6-06A5-CCD4-857208C02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727950-992A-ABA0-8938-196069AA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AD359D-5A7A-52D7-B552-E36A5C3F0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8ED000-E033-A1CA-5640-B1AA33AF5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46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02554-C757-FCE0-37CF-EDF2D74B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C5362B-6C47-9DD7-CC64-6CB68F33F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D7EBD7-7DEE-5295-E45D-868BE8E6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10EEBD-A764-777F-D955-AF118041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657EB3-6FB6-2CC4-07FD-A3A1FC9A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04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016377-6F06-3CC0-7EDF-225ED4C53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0A5FC2-C6F0-6A5F-4246-38B444424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1339CA-9345-3FFD-C7EA-CDBDE0D5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A9CAF0-E671-D4AE-EC8C-B3A5D472E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751286-3687-2ABD-38EF-7DEEC326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713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40C9B6-DC32-3A39-6569-B8422FE8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B613FB-50F8-1FEF-1945-9D65BD9FF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D79994-F125-86C1-EEEE-891BE2069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FFFEC-8361-4694-B674-85C833625D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2B0FD8-B528-1516-0D6C-CC7DCF88A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46574-38E9-A1B1-4919-EB342AB70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80B1CA-D4B5-4760-9ED0-50A467DB1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191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AAB0-6560-305C-8B92-0EECE3F70C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Metric of time series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8CD750-4B3F-D02C-8C82-46A3D4B709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03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BE74E-9C78-77F1-418D-626EABF0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20F0502020204030204" pitchFamily="2" charset="0"/>
              </a:rPr>
              <a:t>A forecast “error”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AF4859-71C4-E80F-0673-2311C7ACC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20F0502020204030204" pitchFamily="2" charset="0"/>
              </a:rPr>
              <a:t>A forecast “error” is the difference between an observed value and its forecast</a:t>
            </a:r>
          </a:p>
          <a:p>
            <a:endParaRPr lang="en-US" altLang="zh-CN" dirty="0">
              <a:solidFill>
                <a:srgbClr val="333333"/>
              </a:solidFill>
              <a:latin typeface="Merriweather" panose="020F0502020204030204" pitchFamily="2" charset="0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Merriweather" panose="020F0502020204030204" pitchFamily="2" charset="0"/>
            </a:endParaRPr>
          </a:p>
          <a:p>
            <a:endParaRPr lang="en-US" altLang="zh-CN" dirty="0">
              <a:solidFill>
                <a:srgbClr val="333333"/>
              </a:solidFill>
              <a:latin typeface="Merriweather" panose="020F0502020204030204" pitchFamily="2" charset="0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Merriweather" panose="020F0502020204030204" pitchFamily="2" charset="0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forecast errors are different from residuals in two ways. </a:t>
            </a: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First, residuals are calculated on the 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training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set while forecast errors are calculated on the 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test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set. </a:t>
            </a: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Second, residuals are based on 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one-step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forecasts while forecast errors can involve 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multi-step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forecasts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20F0502020204030204" pitchFamily="2" charset="0"/>
              </a:rPr>
              <a:t>. 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D60E32-4D08-EB98-0942-75A03DCDA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0443"/>
            <a:ext cx="11174569" cy="112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4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0C0BC1-5D57-D9DD-EBC3-F9699D0D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scale-dependent measures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ADD94C-86F8-6DC9-08B9-CD43F966C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The forecast errors are on the same scale as the data. Accuracy measures that are based only on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JXc-TeX-math-I"/>
              </a:rPr>
              <a:t>e</a:t>
            </a:r>
            <a:r>
              <a:rPr lang="en-US" altLang="zh-CN" b="0" i="0" baseline="-25000" dirty="0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are therefore scale-dependent and cannot be used to make comparisons between series that involve different units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82917A-017E-321E-096B-8E0774864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92" y="3602205"/>
            <a:ext cx="10079147" cy="190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3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E3950-8D5A-B476-1A6F-59291265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6E3232"/>
                </a:solidFill>
                <a:effectLst/>
                <a:latin typeface="Fira Sans" panose="020F0502020204030204" pitchFamily="34" charset="0"/>
              </a:rPr>
              <a:t>Percentage errors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8B2F4A-344B-C6CB-ABDB-78C4AF0E4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The percentage error is given by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erriweather" panose="00000500000000000000" pitchFamily="2" charset="0"/>
              </a:rPr>
              <a:t> 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JXc-TeX-math-I"/>
              </a:rPr>
              <a:t>p</a:t>
            </a:r>
            <a:r>
              <a:rPr lang="en-US" altLang="zh-CN" b="0" i="0" baseline="-25000" dirty="0">
                <a:solidFill>
                  <a:srgbClr val="FF0000"/>
                </a:solidFill>
                <a:effectLst/>
                <a:latin typeface="MJXc-TeX-math-I"/>
              </a:rPr>
              <a:t>t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JXc-TeX-main-R"/>
              </a:rPr>
              <a:t>=100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JXc-TeX-math-I"/>
              </a:rPr>
              <a:t>e</a:t>
            </a:r>
            <a:r>
              <a:rPr lang="en-US" altLang="zh-CN" b="0" i="0" baseline="-25000" dirty="0">
                <a:solidFill>
                  <a:srgbClr val="FF0000"/>
                </a:solidFill>
                <a:effectLst/>
                <a:latin typeface="MJXc-TeX-math-I"/>
              </a:rPr>
              <a:t>t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JXc-TeX-main-R"/>
              </a:rPr>
              <a:t>/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MJXc-TeX-math-I"/>
              </a:rPr>
              <a:t>y</a:t>
            </a:r>
            <a:r>
              <a:rPr lang="en-US" altLang="zh-CN" b="0" i="0" baseline="-25000" dirty="0" err="1">
                <a:solidFill>
                  <a:srgbClr val="FF0000"/>
                </a:solidFill>
                <a:effectLst/>
                <a:latin typeface="MJXc-TeX-math-I"/>
              </a:rPr>
              <a:t>t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erriweather" panose="00000500000000000000" pitchFamily="2" charset="0"/>
              </a:rPr>
              <a:t>.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Percentage errors have the advantage of being unit-free, and so are frequently used to compare forecast performances between data sets</a:t>
            </a:r>
          </a:p>
          <a:p>
            <a:endParaRPr lang="en-US" altLang="zh-CN" dirty="0">
              <a:solidFill>
                <a:srgbClr val="333333"/>
              </a:solidFill>
              <a:latin typeface="Merriweather" panose="00000500000000000000" pitchFamily="2" charset="0"/>
            </a:endParaRPr>
          </a:p>
          <a:p>
            <a:endParaRPr lang="en-US" altLang="zh-CN" dirty="0">
              <a:solidFill>
                <a:srgbClr val="333333"/>
              </a:solidFill>
              <a:latin typeface="Merriweather" panose="00000500000000000000" pitchFamily="2" charset="0"/>
            </a:endParaRPr>
          </a:p>
          <a:p>
            <a:endParaRPr lang="en-US" altLang="zh-CN" dirty="0">
              <a:solidFill>
                <a:srgbClr val="333333"/>
              </a:solidFill>
              <a:latin typeface="Merriweather" panose="00000500000000000000" pitchFamily="2" charset="0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disadvantage: being infinite or undefined if 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JXc-TeX-main-R"/>
              </a:rPr>
              <a:t>=0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for any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</a:t>
            </a: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They also have the disadvantage that they put a heavier penalty on negative errors than on positive errors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BCD368-F477-8394-2F3E-AD331173B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01" y="3831534"/>
            <a:ext cx="9192908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8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14F58-9AE0-8741-8A60-455958D3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“symmetric” MAPE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EA602-7A88-0229-95D0-3F2A2C0B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04951"/>
            <a:ext cx="10515600" cy="197201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However, if 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is close to zero,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JXc-TeX-main-R"/>
              </a:rPr>
              <a:t>^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is also likely to be close to zero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B36F01-6D04-A6BE-E5E7-3B3E7F1CA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236" y="1946372"/>
            <a:ext cx="9029449" cy="148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19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5381C-3B36-12D8-3292-07EF0289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6E3232"/>
                </a:solidFill>
                <a:effectLst/>
                <a:latin typeface="Fira Sans" panose="020B0503050000020004" pitchFamily="34" charset="0"/>
              </a:rPr>
              <a:t>Scaled errors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23784F-50B2-C987-BA75-CA7497C86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3741"/>
            <a:ext cx="10515600" cy="2573610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Because the numerator and denominator both involve values on the scale of the original data, 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MJXc-TeX-math-I"/>
              </a:rPr>
              <a:t>qj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 is independent of the scale of the data.</a:t>
            </a: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 A scaled error is less than one if it arises from a better forecast than the average one-step naïve forecast computed on the training data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FD25B4-D463-0042-E329-41373C2C9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861" y="2266528"/>
            <a:ext cx="5887272" cy="20672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9A3658C-E97A-6FA0-B542-A4118724FF9A}"/>
              </a:ext>
            </a:extLst>
          </p:cNvPr>
          <p:cNvSpPr txBox="1"/>
          <p:nvPr/>
        </p:nvSpPr>
        <p:spPr>
          <a:xfrm>
            <a:off x="1783724" y="1564783"/>
            <a:ext cx="8480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For a non-seasonal time series, a useful way to define a scaled error uses naïve forecasts: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483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C379D-C1B9-5D3A-95F9-DD0FDE6F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6E3232"/>
                </a:solidFill>
                <a:effectLst/>
                <a:latin typeface="Fira Sans" panose="020B0503050000020004" pitchFamily="34" charset="0"/>
              </a:rPr>
              <a:t>Scaled errors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A8153A-274E-9675-DC45-9D1787C05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erriweather" panose="00000500000000000000" pitchFamily="2" charset="0"/>
              </a:rPr>
              <a:t>For seasonal time series, a scaled error can be defined using seasonal naïve forecasts: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E1F9B2-C3B9-367E-76D3-7B14E759A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692" y="3089707"/>
            <a:ext cx="5706271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8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D2FC4-66F8-1583-07E0-20CB735DB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6E3232"/>
                </a:solidFill>
                <a:effectLst/>
                <a:latin typeface="Fira Sans" panose="020B0503050000020004" pitchFamily="34" charset="0"/>
              </a:rPr>
              <a:t>Scaled errors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99070C-C7AC-4F1A-64B9-E9153526A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D96F87-1A32-0226-B4EC-AC581DAC5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80" y="1928622"/>
            <a:ext cx="10250330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41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宽屏</PresentationFormat>
  <Paragraphs>29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MJXc-TeX-main-R</vt:lpstr>
      <vt:lpstr>MJXc-TeX-math-I</vt:lpstr>
      <vt:lpstr>等线</vt:lpstr>
      <vt:lpstr>等线 Light</vt:lpstr>
      <vt:lpstr>Arial</vt:lpstr>
      <vt:lpstr>Fira Sans</vt:lpstr>
      <vt:lpstr>Merriweather</vt:lpstr>
      <vt:lpstr>Office 主题​​</vt:lpstr>
      <vt:lpstr>Metric of time series</vt:lpstr>
      <vt:lpstr>A forecast “error”</vt:lpstr>
      <vt:lpstr> scale-dependent measures</vt:lpstr>
      <vt:lpstr>Percentage errors</vt:lpstr>
      <vt:lpstr> “symmetric” MAPE</vt:lpstr>
      <vt:lpstr>Scaled errors</vt:lpstr>
      <vt:lpstr>Scaled errors</vt:lpstr>
      <vt:lpstr>Scaled errors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yongxiang zhao</dc:creator>
  <cp:lastModifiedBy>yongxiang zhao</cp:lastModifiedBy>
  <cp:revision>1</cp:revision>
  <dcterms:created xsi:type="dcterms:W3CDTF">2025-10-20T02:06:36Z</dcterms:created>
  <dcterms:modified xsi:type="dcterms:W3CDTF">2025-10-20T02:06:41Z</dcterms:modified>
</cp:coreProperties>
</file>