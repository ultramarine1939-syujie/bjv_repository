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58" r:id="rId4"/>
    <p:sldId id="262" r:id="rId5"/>
    <p:sldId id="257" r:id="rId6"/>
    <p:sldId id="260" r:id="rId7"/>
    <p:sldId id="263" r:id="rId8"/>
    <p:sldId id="264" r:id="rId9"/>
    <p:sldId id="265" r:id="rId10"/>
    <p:sldId id="261" r:id="rId11"/>
  </p:sldIdLst>
  <p:sldSz cx="9144000" cy="6858000" type="screen4x3"/>
  <p:notesSz cx="9144000" cy="6858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4AC3E5-96A1-47B0-917D-4F3764914972}" v="4" dt="2023-09-27T15:30:42.854"/>
    <p1510:client id="{4330A6AD-9665-E208-15E8-A51778DFDAE7}" v="183" dt="2023-09-28T01:21:27.76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276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6" name="Holder 6"/>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6" name="Holder 6"/>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17" name="bk object 17"/>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18" name="bk object 18"/>
          <p:cNvSpPr/>
          <p:nvPr/>
        </p:nvSpPr>
        <p:spPr>
          <a:xfrm>
            <a:off x="6271259" y="763837"/>
            <a:ext cx="2103493" cy="66119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sz="half" idx="2"/>
          </p:nvPr>
        </p:nvSpPr>
        <p:spPr>
          <a:xfrm>
            <a:off x="510282" y="2277180"/>
            <a:ext cx="3161665" cy="3967479"/>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7" name="Holder 7"/>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rgbClr val="B5121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5" name="Holder 5"/>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17" name="bk object 17"/>
          <p:cNvSpPr/>
          <p:nvPr/>
        </p:nvSpPr>
        <p:spPr>
          <a:xfrm>
            <a:off x="633734" y="1860560"/>
            <a:ext cx="1582420" cy="0"/>
          </a:xfrm>
          <a:custGeom>
            <a:avLst/>
            <a:gdLst/>
            <a:ahLst/>
            <a:cxnLst/>
            <a:rect l="l" t="t" r="r" b="b"/>
            <a:pathLst>
              <a:path w="1582420">
                <a:moveTo>
                  <a:pt x="0" y="0"/>
                </a:moveTo>
                <a:lnTo>
                  <a:pt x="1581817" y="0"/>
                </a:lnTo>
              </a:path>
            </a:pathLst>
          </a:custGeom>
          <a:ln w="17779">
            <a:solidFill>
              <a:srgbClr val="A5ACB0"/>
            </a:solidFill>
          </a:ln>
        </p:spPr>
        <p:txBody>
          <a:bodyPr wrap="square" lIns="0" tIns="0" rIns="0" bIns="0" rtlCol="0"/>
          <a:lstStyle/>
          <a:p>
            <a:endParaRPr/>
          </a:p>
        </p:txBody>
      </p:sp>
      <p:sp>
        <p:nvSpPr>
          <p:cNvPr id="18" name="bk object 18"/>
          <p:cNvSpPr/>
          <p:nvPr/>
        </p:nvSpPr>
        <p:spPr>
          <a:xfrm>
            <a:off x="6271259" y="763837"/>
            <a:ext cx="2103493" cy="66119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4" name="Holder 4"/>
          <p:cNvSpPr>
            <a:spLocks noGrp="1"/>
          </p:cNvSpPr>
          <p:nvPr>
            <p:ph type="sldNum" sz="quarter" idx="7"/>
          </p:nvPr>
        </p:nvSpPr>
        <p:spPr/>
        <p:txBody>
          <a:bodyPr lIns="0" tIns="0" rIns="0" bIns="0"/>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93975" y="96528"/>
            <a:ext cx="8963660" cy="6664959"/>
          </a:xfrm>
          <a:custGeom>
            <a:avLst/>
            <a:gdLst/>
            <a:ahLst/>
            <a:cxnLst/>
            <a:rect l="l" t="t" r="r" b="b"/>
            <a:pathLst>
              <a:path w="8963660" h="6664959">
                <a:moveTo>
                  <a:pt x="0" y="6664756"/>
                </a:moveTo>
                <a:lnTo>
                  <a:pt x="8963466" y="6664756"/>
                </a:lnTo>
                <a:lnTo>
                  <a:pt x="8963466" y="0"/>
                </a:lnTo>
                <a:lnTo>
                  <a:pt x="0" y="0"/>
                </a:lnTo>
                <a:lnTo>
                  <a:pt x="0" y="6664756"/>
                </a:lnTo>
                <a:close/>
              </a:path>
            </a:pathLst>
          </a:custGeom>
          <a:ln w="193039">
            <a:solidFill>
              <a:srgbClr val="E9ECED"/>
            </a:solidFill>
          </a:ln>
        </p:spPr>
        <p:txBody>
          <a:bodyPr wrap="square" lIns="0" tIns="0" rIns="0" bIns="0" rtlCol="0"/>
          <a:lstStyle/>
          <a:p>
            <a:endParaRPr/>
          </a:p>
        </p:txBody>
      </p:sp>
      <p:sp>
        <p:nvSpPr>
          <p:cNvPr id="2" name="Holder 2"/>
          <p:cNvSpPr>
            <a:spLocks noGrp="1"/>
          </p:cNvSpPr>
          <p:nvPr>
            <p:ph type="title"/>
          </p:nvPr>
        </p:nvSpPr>
        <p:spPr>
          <a:xfrm>
            <a:off x="687567" y="728416"/>
            <a:ext cx="7768865" cy="915035"/>
          </a:xfrm>
          <a:prstGeom prst="rect">
            <a:avLst/>
          </a:prstGeom>
        </p:spPr>
        <p:txBody>
          <a:bodyPr wrap="square" lIns="0" tIns="0" rIns="0" bIns="0">
            <a:spAutoFit/>
          </a:bodyPr>
          <a:lstStyle>
            <a:lvl1pPr>
              <a:defRPr sz="3400" b="0" i="0">
                <a:solidFill>
                  <a:srgbClr val="B5121B"/>
                </a:solidFill>
                <a:latin typeface="Calibri"/>
                <a:cs typeface="Calibri"/>
              </a:defRPr>
            </a:lvl1pPr>
          </a:lstStyle>
          <a:p>
            <a:endParaRPr/>
          </a:p>
        </p:txBody>
      </p:sp>
      <p:sp>
        <p:nvSpPr>
          <p:cNvPr id="3" name="Holder 3"/>
          <p:cNvSpPr>
            <a:spLocks noGrp="1"/>
          </p:cNvSpPr>
          <p:nvPr>
            <p:ph type="body" idx="1"/>
          </p:nvPr>
        </p:nvSpPr>
        <p:spPr>
          <a:xfrm>
            <a:off x="497546" y="2096258"/>
            <a:ext cx="8148907" cy="2896235"/>
          </a:xfrm>
          <a:prstGeom prst="rect">
            <a:avLst/>
          </a:prstGeom>
        </p:spPr>
        <p:txBody>
          <a:bodyPr wrap="square" lIns="0" tIns="0" rIns="0" bIns="0">
            <a:spAutoFit/>
          </a:bodyPr>
          <a:lstStyle>
            <a:lvl1pPr>
              <a:defRPr sz="2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79"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9/28/2023</a:t>
            </a:fld>
            <a:endParaRPr lang="en-US"/>
          </a:p>
        </p:txBody>
      </p:sp>
      <p:sp>
        <p:nvSpPr>
          <p:cNvPr id="6" name="Holder 6"/>
          <p:cNvSpPr>
            <a:spLocks noGrp="1"/>
          </p:cNvSpPr>
          <p:nvPr>
            <p:ph type="sldNum" sz="quarter" idx="7"/>
          </p:nvPr>
        </p:nvSpPr>
        <p:spPr>
          <a:xfrm>
            <a:off x="8342001" y="6190289"/>
            <a:ext cx="285115" cy="254000"/>
          </a:xfrm>
          <a:prstGeom prst="rect">
            <a:avLst/>
          </a:prstGeom>
        </p:spPr>
        <p:txBody>
          <a:bodyPr wrap="square" lIns="0" tIns="0" rIns="0" bIns="0">
            <a:spAutoFit/>
          </a:bodyPr>
          <a:lstStyle>
            <a:lvl1pPr>
              <a:defRPr sz="1800" b="0" i="0">
                <a:solidFill>
                  <a:srgbClr val="403F42"/>
                </a:solidFill>
                <a:latin typeface="Calibri"/>
                <a:cs typeface="Calibri"/>
              </a:defRPr>
            </a:lvl1pPr>
          </a:lstStyle>
          <a:p>
            <a:pPr marL="142240">
              <a:lnSpc>
                <a:spcPct val="100000"/>
              </a:lnSpc>
            </a:pPr>
            <a:fld id="{81D60167-4931-47E6-BA6A-407CBD079E47}" type="slidenum">
              <a:rPr spc="-10" dirty="0">
                <a:latin typeface="Calibri"/>
                <a:cs typeface="Calibri"/>
              </a:rPr>
              <a:t>‹#›</a:t>
            </a:fld>
            <a:endParaRPr spc="-10" dirty="0">
              <a:latin typeface="Calibri"/>
              <a:cs typeface="Calibri"/>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4234" y="3780800"/>
            <a:ext cx="1592580" cy="0"/>
          </a:xfrm>
          <a:custGeom>
            <a:avLst/>
            <a:gdLst/>
            <a:ahLst/>
            <a:cxnLst/>
            <a:rect l="l" t="t" r="r" b="b"/>
            <a:pathLst>
              <a:path w="1592580">
                <a:moveTo>
                  <a:pt x="0" y="0"/>
                </a:moveTo>
                <a:lnTo>
                  <a:pt x="1592317" y="0"/>
                </a:lnTo>
              </a:path>
            </a:pathLst>
          </a:custGeom>
          <a:ln w="17779">
            <a:solidFill>
              <a:srgbClr val="A5ACB0"/>
            </a:solidFill>
          </a:ln>
        </p:spPr>
        <p:txBody>
          <a:bodyPr wrap="square" lIns="0" tIns="0" rIns="0" bIns="0" rtlCol="0"/>
          <a:lstStyle/>
          <a:p>
            <a:endParaRPr/>
          </a:p>
        </p:txBody>
      </p:sp>
      <p:sp>
        <p:nvSpPr>
          <p:cNvPr id="3" name="object 3"/>
          <p:cNvSpPr/>
          <p:nvPr/>
        </p:nvSpPr>
        <p:spPr>
          <a:xfrm>
            <a:off x="5806439" y="764242"/>
            <a:ext cx="2568823" cy="808129"/>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764540" y="2377588"/>
            <a:ext cx="4873625" cy="1243930"/>
          </a:xfrm>
          <a:prstGeom prst="rect">
            <a:avLst/>
          </a:prstGeom>
        </p:spPr>
        <p:txBody>
          <a:bodyPr vert="horz" wrap="square" lIns="0" tIns="0" rIns="0" bIns="0" rtlCol="0">
            <a:spAutoFit/>
          </a:bodyPr>
          <a:lstStyle/>
          <a:p>
            <a:pPr marL="12700">
              <a:lnSpc>
                <a:spcPts val="5350"/>
              </a:lnSpc>
            </a:pPr>
            <a:r>
              <a:rPr lang="en-NZ" sz="4500" dirty="0">
                <a:solidFill>
                  <a:srgbClr val="B5121B"/>
                </a:solidFill>
                <a:latin typeface="Calibri"/>
                <a:cs typeface="Calibri"/>
              </a:rPr>
              <a:t>CN</a:t>
            </a:r>
            <a:r>
              <a:rPr sz="4500" dirty="0">
                <a:solidFill>
                  <a:srgbClr val="B5121B"/>
                </a:solidFill>
                <a:latin typeface="Calibri"/>
                <a:cs typeface="Calibri"/>
              </a:rPr>
              <a:t>E</a:t>
            </a:r>
            <a:r>
              <a:rPr sz="4500" spc="-35" dirty="0">
                <a:solidFill>
                  <a:srgbClr val="B5121B"/>
                </a:solidFill>
                <a:latin typeface="Calibri"/>
                <a:cs typeface="Calibri"/>
              </a:rPr>
              <a:t>N</a:t>
            </a:r>
            <a:r>
              <a:rPr sz="4500" spc="-30" dirty="0">
                <a:solidFill>
                  <a:srgbClr val="B5121B"/>
                </a:solidFill>
                <a:latin typeface="Calibri"/>
                <a:cs typeface="Calibri"/>
              </a:rPr>
              <a:t>GR</a:t>
            </a:r>
            <a:r>
              <a:rPr sz="4500" spc="-25" dirty="0">
                <a:solidFill>
                  <a:srgbClr val="B5121B"/>
                </a:solidFill>
                <a:latin typeface="Calibri"/>
                <a:cs typeface="Calibri"/>
              </a:rPr>
              <a:t>506</a:t>
            </a:r>
            <a:endParaRPr sz="4500" dirty="0">
              <a:latin typeface="Calibri"/>
              <a:cs typeface="Calibri"/>
            </a:endParaRPr>
          </a:p>
          <a:p>
            <a:pPr marL="12700">
              <a:lnSpc>
                <a:spcPts val="4270"/>
              </a:lnSpc>
            </a:pPr>
            <a:r>
              <a:rPr sz="3600" spc="-10" dirty="0">
                <a:solidFill>
                  <a:srgbClr val="B5121B"/>
                </a:solidFill>
                <a:latin typeface="Calibri"/>
                <a:cs typeface="Calibri"/>
              </a:rPr>
              <a:t>I</a:t>
            </a:r>
            <a:r>
              <a:rPr sz="3600" spc="-35" dirty="0">
                <a:solidFill>
                  <a:srgbClr val="B5121B"/>
                </a:solidFill>
                <a:latin typeface="Calibri"/>
                <a:cs typeface="Calibri"/>
              </a:rPr>
              <a:t>n</a:t>
            </a:r>
            <a:r>
              <a:rPr sz="3600" spc="-65" dirty="0">
                <a:solidFill>
                  <a:srgbClr val="B5121B"/>
                </a:solidFill>
                <a:latin typeface="Calibri"/>
                <a:cs typeface="Calibri"/>
              </a:rPr>
              <a:t>t</a:t>
            </a:r>
            <a:r>
              <a:rPr sz="3600" spc="-15" dirty="0">
                <a:solidFill>
                  <a:srgbClr val="B5121B"/>
                </a:solidFill>
                <a:latin typeface="Calibri"/>
                <a:cs typeface="Calibri"/>
              </a:rPr>
              <a:t>e</a:t>
            </a:r>
            <a:r>
              <a:rPr sz="3600" spc="-10" dirty="0">
                <a:solidFill>
                  <a:srgbClr val="B5121B"/>
                </a:solidFill>
                <a:latin typeface="Calibri"/>
                <a:cs typeface="Calibri"/>
              </a:rPr>
              <a:t>lli</a:t>
            </a:r>
            <a:r>
              <a:rPr sz="3600" spc="-55" dirty="0">
                <a:solidFill>
                  <a:srgbClr val="B5121B"/>
                </a:solidFill>
                <a:latin typeface="Calibri"/>
                <a:cs typeface="Calibri"/>
              </a:rPr>
              <a:t>g</a:t>
            </a:r>
            <a:r>
              <a:rPr sz="3600" spc="-15" dirty="0">
                <a:solidFill>
                  <a:srgbClr val="B5121B"/>
                </a:solidFill>
                <a:latin typeface="Calibri"/>
                <a:cs typeface="Calibri"/>
              </a:rPr>
              <a:t>e</a:t>
            </a:r>
            <a:r>
              <a:rPr sz="3600" spc="-35" dirty="0">
                <a:solidFill>
                  <a:srgbClr val="B5121B"/>
                </a:solidFill>
                <a:latin typeface="Calibri"/>
                <a:cs typeface="Calibri"/>
              </a:rPr>
              <a:t>n</a:t>
            </a:r>
            <a:r>
              <a:rPr sz="3600" spc="-15" dirty="0">
                <a:solidFill>
                  <a:srgbClr val="B5121B"/>
                </a:solidFill>
                <a:latin typeface="Calibri"/>
                <a:cs typeface="Calibri"/>
              </a:rPr>
              <a:t>t</a:t>
            </a:r>
            <a:r>
              <a:rPr sz="3600" spc="-90" dirty="0">
                <a:solidFill>
                  <a:srgbClr val="B5121B"/>
                </a:solidFill>
                <a:latin typeface="Times New Roman"/>
                <a:cs typeface="Times New Roman"/>
              </a:rPr>
              <a:t> </a:t>
            </a:r>
            <a:r>
              <a:rPr sz="3600" spc="-35" dirty="0">
                <a:solidFill>
                  <a:srgbClr val="B5121B"/>
                </a:solidFill>
                <a:latin typeface="Calibri"/>
                <a:cs typeface="Calibri"/>
              </a:rPr>
              <a:t>S</a:t>
            </a:r>
            <a:r>
              <a:rPr sz="3600" spc="-70" dirty="0">
                <a:solidFill>
                  <a:srgbClr val="B5121B"/>
                </a:solidFill>
                <a:latin typeface="Calibri"/>
                <a:cs typeface="Calibri"/>
              </a:rPr>
              <a:t>y</a:t>
            </a:r>
            <a:r>
              <a:rPr sz="3600" spc="-50" dirty="0">
                <a:solidFill>
                  <a:srgbClr val="B5121B"/>
                </a:solidFill>
                <a:latin typeface="Calibri"/>
                <a:cs typeface="Calibri"/>
              </a:rPr>
              <a:t>s</a:t>
            </a:r>
            <a:r>
              <a:rPr sz="3600" spc="-65" dirty="0">
                <a:solidFill>
                  <a:srgbClr val="B5121B"/>
                </a:solidFill>
                <a:latin typeface="Calibri"/>
                <a:cs typeface="Calibri"/>
              </a:rPr>
              <a:t>t</a:t>
            </a:r>
            <a:r>
              <a:rPr sz="3600" spc="-15" dirty="0">
                <a:solidFill>
                  <a:srgbClr val="B5121B"/>
                </a:solidFill>
                <a:latin typeface="Calibri"/>
                <a:cs typeface="Calibri"/>
              </a:rPr>
              <a:t>e</a:t>
            </a:r>
            <a:r>
              <a:rPr sz="3600" spc="-30" dirty="0">
                <a:solidFill>
                  <a:srgbClr val="B5121B"/>
                </a:solidFill>
                <a:latin typeface="Calibri"/>
                <a:cs typeface="Calibri"/>
              </a:rPr>
              <a:t>m</a:t>
            </a:r>
            <a:r>
              <a:rPr sz="3600" spc="-100" dirty="0">
                <a:solidFill>
                  <a:srgbClr val="B5121B"/>
                </a:solidFill>
                <a:latin typeface="Times New Roman"/>
                <a:cs typeface="Times New Roman"/>
              </a:rPr>
              <a:t> </a:t>
            </a:r>
            <a:r>
              <a:rPr sz="3600" dirty="0">
                <a:solidFill>
                  <a:srgbClr val="B5121B"/>
                </a:solidFill>
                <a:latin typeface="Calibri"/>
                <a:cs typeface="Calibri"/>
              </a:rPr>
              <a:t>Co</a:t>
            </a:r>
            <a:r>
              <a:rPr sz="3600" spc="-35" dirty="0">
                <a:solidFill>
                  <a:srgbClr val="B5121B"/>
                </a:solidFill>
                <a:latin typeface="Calibri"/>
                <a:cs typeface="Calibri"/>
              </a:rPr>
              <a:t>n</a:t>
            </a:r>
            <a:r>
              <a:rPr sz="3600" spc="-25" dirty="0">
                <a:solidFill>
                  <a:srgbClr val="B5121B"/>
                </a:solidFill>
                <a:latin typeface="Calibri"/>
                <a:cs typeface="Calibri"/>
              </a:rPr>
              <a:t>t</a:t>
            </a:r>
            <a:r>
              <a:rPr lang="en-US" sz="3600" spc="-75" dirty="0">
                <a:solidFill>
                  <a:srgbClr val="B5121B"/>
                </a:solidFill>
                <a:latin typeface="Calibri"/>
                <a:cs typeface="Calibri"/>
              </a:rPr>
              <a:t>r</a:t>
            </a:r>
            <a:r>
              <a:rPr sz="3600" dirty="0">
                <a:solidFill>
                  <a:srgbClr val="B5121B"/>
                </a:solidFill>
                <a:latin typeface="Calibri"/>
                <a:cs typeface="Calibri"/>
              </a:rPr>
              <a:t>ol</a:t>
            </a:r>
            <a:endParaRPr sz="36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BD8F31-A6B3-B32C-606F-6A033571EA64}"/>
              </a:ext>
            </a:extLst>
          </p:cNvPr>
          <p:cNvSpPr>
            <a:spLocks noGrp="1"/>
          </p:cNvSpPr>
          <p:nvPr>
            <p:ph type="body" idx="1"/>
          </p:nvPr>
        </p:nvSpPr>
        <p:spPr>
          <a:xfrm>
            <a:off x="497546" y="1371600"/>
            <a:ext cx="8148907" cy="4616648"/>
          </a:xfrm>
        </p:spPr>
        <p:txBody>
          <a:bodyPr/>
          <a:lstStyle/>
          <a:p>
            <a:pPr marL="342900" marR="0" lvl="0" indent="-342900">
              <a:lnSpc>
                <a:spcPct val="150000"/>
              </a:lnSpc>
              <a:spcBef>
                <a:spcPts val="0"/>
              </a:spcBef>
              <a:spcAft>
                <a:spcPts val="800"/>
              </a:spcAft>
              <a:buFont typeface="+mj-lt"/>
              <a:buAutoNum type="alphaLcPeriod"/>
            </a:pPr>
            <a:r>
              <a:rPr lang="en-US" sz="2000" dirty="0">
                <a:effectLst/>
                <a:latin typeface="Calibri" panose="020F0502020204030204" pitchFamily="34" charset="0"/>
                <a:ea typeface="Calibri" panose="020F0502020204030204" pitchFamily="34" charset="0"/>
                <a:cs typeface="Times-Roman"/>
              </a:rPr>
              <a:t>Identify four standard objectives of closed loop control system. </a:t>
            </a:r>
          </a:p>
          <a:p>
            <a:pPr marL="342900" marR="0" lvl="0" indent="-342900">
              <a:lnSpc>
                <a:spcPct val="150000"/>
              </a:lnSpc>
              <a:spcBef>
                <a:spcPts val="0"/>
              </a:spcBef>
              <a:spcAft>
                <a:spcPts val="800"/>
              </a:spcAft>
              <a:buFont typeface="+mj-lt"/>
              <a:buAutoNum type="alphaLcPeriod"/>
            </a:pPr>
            <a:r>
              <a:rPr lang="en-US" sz="2000" dirty="0">
                <a:effectLst/>
                <a:latin typeface="Calibri" panose="020F0502020204030204" pitchFamily="34" charset="0"/>
                <a:ea typeface="Calibri" panose="020F0502020204030204" pitchFamily="34" charset="0"/>
                <a:cs typeface="Times-Roman"/>
              </a:rPr>
              <a:t>What are the effects of negative feedback in control system?</a:t>
            </a:r>
          </a:p>
          <a:p>
            <a:pPr marL="342900" marR="0" lvl="0" indent="-342900">
              <a:lnSpc>
                <a:spcPct val="150000"/>
              </a:lnSpc>
              <a:spcBef>
                <a:spcPts val="0"/>
              </a:spcBef>
              <a:spcAft>
                <a:spcPts val="800"/>
              </a:spcAft>
              <a:buFont typeface="+mj-lt"/>
              <a:buAutoNum type="alphaLcPeriod"/>
            </a:pPr>
            <a:r>
              <a:rPr lang="en-US" sz="2000" dirty="0">
                <a:effectLst/>
                <a:latin typeface="Calibri" panose="020F0502020204030204" pitchFamily="34" charset="0"/>
                <a:ea typeface="Calibri" panose="020F0502020204030204" pitchFamily="34" charset="0"/>
                <a:cs typeface="Times-Roman"/>
              </a:rPr>
              <a:t>  </a:t>
            </a:r>
            <a:r>
              <a:rPr lang="en-US" sz="2000" dirty="0">
                <a:latin typeface="Calibri" panose="020F0502020204030204" pitchFamily="34" charset="0"/>
              </a:rPr>
              <a:t>How does feedback improve the performance of a control system?</a:t>
            </a:r>
          </a:p>
          <a:p>
            <a:pPr marL="342900" marR="0" lvl="0" indent="-342900">
              <a:lnSpc>
                <a:spcPct val="150000"/>
              </a:lnSpc>
              <a:spcBef>
                <a:spcPts val="0"/>
              </a:spcBef>
              <a:spcAft>
                <a:spcPts val="800"/>
              </a:spcAft>
              <a:buFont typeface="+mj-lt"/>
              <a:buAutoNum type="alphaLcPeriod"/>
            </a:pPr>
            <a:r>
              <a:rPr lang="en-US" sz="2000" dirty="0">
                <a:latin typeface="Calibri" panose="020F0502020204030204" pitchFamily="34" charset="0"/>
              </a:rPr>
              <a:t>In a transfer function, what does the numerator represent, and what does the denominator represent?</a:t>
            </a:r>
          </a:p>
          <a:p>
            <a:pPr marL="342900" marR="0" lvl="0" indent="-342900">
              <a:lnSpc>
                <a:spcPct val="150000"/>
              </a:lnSpc>
              <a:spcBef>
                <a:spcPts val="0"/>
              </a:spcBef>
              <a:spcAft>
                <a:spcPts val="800"/>
              </a:spcAft>
              <a:buFont typeface="+mj-lt"/>
              <a:buAutoNum type="alphaLcPeriod"/>
            </a:pPr>
            <a:r>
              <a:rPr lang="en-US" sz="2000" dirty="0">
                <a:latin typeface="Calibri" panose="020F0502020204030204" pitchFamily="34" charset="0"/>
              </a:rPr>
              <a:t>In terms of stability, what is the significance of poles in a transfer function?</a:t>
            </a:r>
          </a:p>
          <a:p>
            <a:pPr marL="342900" marR="0" lvl="0" indent="-342900">
              <a:lnSpc>
                <a:spcPct val="150000"/>
              </a:lnSpc>
              <a:spcBef>
                <a:spcPts val="0"/>
              </a:spcBef>
              <a:spcAft>
                <a:spcPts val="800"/>
              </a:spcAft>
              <a:buFont typeface="+mj-lt"/>
              <a:buAutoNum type="alphaLcPeriod"/>
            </a:pPr>
            <a:r>
              <a:rPr lang="en-US" sz="2000" dirty="0">
                <a:latin typeface="Calibri" panose="020F0502020204030204" pitchFamily="34" charset="0"/>
              </a:rPr>
              <a:t>How can you analyze the stability of a closed-loop control system using the transfer function?</a:t>
            </a:r>
          </a:p>
          <a:p>
            <a:endParaRPr lang="en-US" sz="2000" dirty="0"/>
          </a:p>
        </p:txBody>
      </p:sp>
      <p:sp>
        <p:nvSpPr>
          <p:cNvPr id="4" name="Title 1">
            <a:extLst>
              <a:ext uri="{FF2B5EF4-FFF2-40B4-BE49-F238E27FC236}">
                <a16:creationId xmlns:a16="http://schemas.microsoft.com/office/drawing/2014/main" id="{DBFCD2E8-4620-67A0-F8CA-66D8720B94DF}"/>
              </a:ext>
            </a:extLst>
          </p:cNvPr>
          <p:cNvSpPr>
            <a:spLocks noGrp="1"/>
          </p:cNvSpPr>
          <p:nvPr>
            <p:ph type="title"/>
          </p:nvPr>
        </p:nvSpPr>
        <p:spPr>
          <a:xfrm>
            <a:off x="687388" y="728663"/>
            <a:ext cx="7769225" cy="430887"/>
          </a:xfrm>
        </p:spPr>
        <p:txBody>
          <a:bodyPr wrap="square" lIns="0" tIns="0" rIns="0" bIns="0" anchor="t">
            <a:spAutoFit/>
          </a:bodyPr>
          <a:lstStyle/>
          <a:p>
            <a:r>
              <a:rPr lang="en-NZ" sz="2800" b="1" dirty="0">
                <a:effectLst/>
                <a:ea typeface="Calibri"/>
                <a:cs typeface="Times New Roman"/>
              </a:rPr>
              <a:t>Question No 1:</a:t>
            </a:r>
            <a:endParaRPr lang="en-US" sz="2800" dirty="0">
              <a:ea typeface="Calibri"/>
              <a:cs typeface="Times New Roman"/>
            </a:endParaRPr>
          </a:p>
        </p:txBody>
      </p:sp>
    </p:spTree>
    <p:extLst>
      <p:ext uri="{BB962C8B-B14F-4D97-AF65-F5344CB8AC3E}">
        <p14:creationId xmlns:p14="http://schemas.microsoft.com/office/powerpoint/2010/main" val="38808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670FA08-CF64-C152-32F4-1DC11E80CE6E}"/>
                  </a:ext>
                </a:extLst>
              </p:cNvPr>
              <p:cNvSpPr>
                <a:spLocks noGrp="1"/>
              </p:cNvSpPr>
              <p:nvPr>
                <p:ph type="body" idx="1"/>
              </p:nvPr>
            </p:nvSpPr>
            <p:spPr>
              <a:xfrm>
                <a:off x="497546" y="990600"/>
                <a:ext cx="8148907" cy="3644844"/>
              </a:xfrm>
            </p:spPr>
            <p:txBody>
              <a:bodyPr/>
              <a:lstStyle/>
              <a:p>
                <a:pPr marL="342900" marR="0" lvl="0" indent="-342900">
                  <a:lnSpc>
                    <a:spcPct val="150000"/>
                  </a:lnSpc>
                  <a:spcBef>
                    <a:spcPts val="0"/>
                  </a:spcBef>
                  <a:spcAft>
                    <a:spcPts val="0"/>
                  </a:spcAft>
                  <a:buFont typeface="+mj-lt"/>
                  <a:buAutoNum type="alphaLcPeriod"/>
                </a:pPr>
                <a:r>
                  <a:rPr lang="en-US" sz="1800" dirty="0">
                    <a:effectLst/>
                    <a:latin typeface="Calibri" panose="020F0502020204030204" pitchFamily="34" charset="0"/>
                    <a:ea typeface="Calibri" panose="020F0502020204030204" pitchFamily="34" charset="0"/>
                    <a:cs typeface="Times-Roman"/>
                  </a:rPr>
                  <a:t>Consider the system represented by the following difference equation: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d>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where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-0.5,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0.7,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=0.8,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Calculate the equivalent transfer function</a:t>
                </a:r>
                <a:r>
                  <a:rPr lang="en-US" sz="2000" dirty="0">
                    <a:effectLst/>
                    <a:latin typeface="Calibri" panose="020F0502020204030204" pitchFamily="34" charset="0"/>
                    <a:ea typeface="Calibri" panose="020F0502020204030204" pitchFamily="34" charset="0"/>
                    <a:cs typeface="Times-Roman"/>
                  </a:rPr>
                  <a:t>.  </a:t>
                </a:r>
              </a:p>
              <a:p>
                <a:pPr marL="342900" marR="0" lvl="0" indent="-342900">
                  <a:lnSpc>
                    <a:spcPct val="150000"/>
                  </a:lnSpc>
                  <a:spcBef>
                    <a:spcPts val="0"/>
                  </a:spcBef>
                  <a:spcAft>
                    <a:spcPts val="0"/>
                  </a:spcAft>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What is the order of the model? 				</a:t>
                </a:r>
              </a:p>
              <a:p>
                <a:pPr marL="342900" marR="0" lvl="0" indent="-342900">
                  <a:lnSpc>
                    <a:spcPct val="150000"/>
                  </a:lnSpc>
                  <a:spcBef>
                    <a:spcPts val="0"/>
                  </a:spcBef>
                  <a:spcAft>
                    <a:spcPts val="0"/>
                  </a:spcAft>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Determine the steady state gain.</a:t>
                </a:r>
                <a:r>
                  <a:rPr lang="en-US" sz="20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Is this system stable? Support your answer with the argument. 	</a:t>
                </a:r>
              </a:p>
              <a:p>
                <a:pPr marL="342900" marR="0" lvl="0" indent="-342900">
                  <a:lnSpc>
                    <a:spcPct val="150000"/>
                  </a:lnSpc>
                  <a:spcBef>
                    <a:spcPts val="0"/>
                  </a:spcBef>
                  <a:spcAft>
                    <a:spcPts val="0"/>
                  </a:spcAft>
                  <a:buFont typeface="+mj-lt"/>
                  <a:buAutoNum type="romanLcPeriod"/>
                </a:pPr>
                <a:r>
                  <a:rPr lang="en-US" sz="2000" dirty="0">
                    <a:effectLst/>
                    <a:latin typeface="Calibri" panose="020F0502020204030204" pitchFamily="34" charset="0"/>
                    <a:ea typeface="Calibri" panose="020F0502020204030204" pitchFamily="34" charset="0"/>
                    <a:cs typeface="Times New Roman" panose="02020603050405020304" pitchFamily="18" charset="0"/>
                  </a:rPr>
                  <a:t>Now assuming</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-0.2, </a:t>
                </a:r>
                <a14:m>
                  <m:oMath xmlns:m="http://schemas.openxmlformats.org/officeDocument/2006/math">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0.3, comment on behavior of the system.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3670FA08-CF64-C152-32F4-1DC11E80CE6E}"/>
                  </a:ext>
                </a:extLst>
              </p:cNvPr>
              <p:cNvSpPr>
                <a:spLocks noGrp="1" noRot="1" noChangeAspect="1" noMove="1" noResize="1" noEditPoints="1" noAdjustHandles="1" noChangeArrowheads="1" noChangeShapeType="1" noTextEdit="1"/>
              </p:cNvSpPr>
              <p:nvPr>
                <p:ph type="body" idx="1"/>
              </p:nvPr>
            </p:nvSpPr>
            <p:spPr>
              <a:xfrm>
                <a:off x="497546" y="990600"/>
                <a:ext cx="8148907" cy="3644844"/>
              </a:xfrm>
              <a:blipFill>
                <a:blip r:embed="rId2"/>
                <a:stretch>
                  <a:fillRect l="-1946" b="-2345"/>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1E78691E-FF76-4AF4-CBBE-A9FCC9FCAFF2}"/>
              </a:ext>
            </a:extLst>
          </p:cNvPr>
          <p:cNvSpPr>
            <a:spLocks noGrp="1"/>
          </p:cNvSpPr>
          <p:nvPr>
            <p:ph type="title"/>
          </p:nvPr>
        </p:nvSpPr>
        <p:spPr>
          <a:xfrm>
            <a:off x="687388" y="304800"/>
            <a:ext cx="7769225" cy="430887"/>
          </a:xfrm>
        </p:spPr>
        <p:txBody>
          <a:bodyPr wrap="square" lIns="0" tIns="0" rIns="0" bIns="0" anchor="t">
            <a:spAutoFit/>
          </a:bodyPr>
          <a:lstStyle/>
          <a:p>
            <a:r>
              <a:rPr lang="en-NZ" sz="2800" b="1" dirty="0">
                <a:effectLst/>
                <a:ea typeface="Calibri"/>
                <a:cs typeface="Times New Roman"/>
              </a:rPr>
              <a:t>Question No 2:</a:t>
            </a:r>
            <a:endParaRPr lang="en-US" sz="2800" dirty="0">
              <a:ea typeface="Calibri"/>
              <a:cs typeface="Times New Roman"/>
            </a:endParaRPr>
          </a:p>
        </p:txBody>
      </p:sp>
    </p:spTree>
    <p:extLst>
      <p:ext uri="{BB962C8B-B14F-4D97-AF65-F5344CB8AC3E}">
        <p14:creationId xmlns:p14="http://schemas.microsoft.com/office/powerpoint/2010/main" val="188741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6700C-F8A7-65E6-7BEA-C149A4A49C10}"/>
              </a:ext>
            </a:extLst>
          </p:cNvPr>
          <p:cNvSpPr>
            <a:spLocks noGrp="1"/>
          </p:cNvSpPr>
          <p:nvPr>
            <p:ph type="title"/>
          </p:nvPr>
        </p:nvSpPr>
        <p:spPr>
          <a:xfrm>
            <a:off x="581856" y="292358"/>
            <a:ext cx="7768865" cy="430887"/>
          </a:xfrm>
        </p:spPr>
        <p:txBody>
          <a:bodyPr wrap="square" lIns="0" tIns="0" rIns="0" bIns="0" anchor="t">
            <a:spAutoFit/>
          </a:bodyPr>
          <a:lstStyle/>
          <a:p>
            <a:r>
              <a:rPr lang="en-US" sz="2800" dirty="0">
                <a:ea typeface="Calibri"/>
              </a:rPr>
              <a:t>Solution</a:t>
            </a:r>
            <a:endParaRPr lang="en-US" sz="2800" dirty="0"/>
          </a:p>
        </p:txBody>
      </p:sp>
      <p:pic>
        <p:nvPicPr>
          <p:cNvPr id="4" name="Picture 3">
            <a:extLst>
              <a:ext uri="{FF2B5EF4-FFF2-40B4-BE49-F238E27FC236}">
                <a16:creationId xmlns:a16="http://schemas.microsoft.com/office/drawing/2014/main" id="{BEA15396-DD65-5838-4E89-2DAE2F66EAF4}"/>
              </a:ext>
            </a:extLst>
          </p:cNvPr>
          <p:cNvPicPr>
            <a:picLocks noChangeAspect="1"/>
          </p:cNvPicPr>
          <p:nvPr/>
        </p:nvPicPr>
        <p:blipFill>
          <a:blip r:embed="rId2"/>
          <a:stretch>
            <a:fillRect/>
          </a:stretch>
        </p:blipFill>
        <p:spPr>
          <a:xfrm>
            <a:off x="3565121" y="225256"/>
            <a:ext cx="4632784" cy="1844776"/>
          </a:xfrm>
          <a:prstGeom prst="rect">
            <a:avLst/>
          </a:prstGeom>
        </p:spPr>
      </p:pic>
      <p:pic>
        <p:nvPicPr>
          <p:cNvPr id="8" name="Picture 7">
            <a:extLst>
              <a:ext uri="{FF2B5EF4-FFF2-40B4-BE49-F238E27FC236}">
                <a16:creationId xmlns:a16="http://schemas.microsoft.com/office/drawing/2014/main" id="{76618F2B-5C62-147C-F7B4-B239EEF046DB}"/>
              </a:ext>
            </a:extLst>
          </p:cNvPr>
          <p:cNvPicPr>
            <a:picLocks noChangeAspect="1"/>
          </p:cNvPicPr>
          <p:nvPr/>
        </p:nvPicPr>
        <p:blipFill>
          <a:blip r:embed="rId3"/>
          <a:stretch>
            <a:fillRect/>
          </a:stretch>
        </p:blipFill>
        <p:spPr>
          <a:xfrm>
            <a:off x="363212" y="1146802"/>
            <a:ext cx="3932448" cy="344797"/>
          </a:xfrm>
          <a:prstGeom prst="rect">
            <a:avLst/>
          </a:prstGeom>
        </p:spPr>
      </p:pic>
      <p:pic>
        <p:nvPicPr>
          <p:cNvPr id="9" name="Picture 8" descr="A black numbers and a line&#10;&#10;Description automatically generated">
            <a:extLst>
              <a:ext uri="{FF2B5EF4-FFF2-40B4-BE49-F238E27FC236}">
                <a16:creationId xmlns:a16="http://schemas.microsoft.com/office/drawing/2014/main" id="{BE00A67B-92C5-98E8-8941-C867A6E8C976}"/>
              </a:ext>
            </a:extLst>
          </p:cNvPr>
          <p:cNvPicPr>
            <a:picLocks noChangeAspect="1"/>
          </p:cNvPicPr>
          <p:nvPr/>
        </p:nvPicPr>
        <p:blipFill>
          <a:blip r:embed="rId4"/>
          <a:stretch>
            <a:fillRect/>
          </a:stretch>
        </p:blipFill>
        <p:spPr>
          <a:xfrm>
            <a:off x="359242" y="1619113"/>
            <a:ext cx="2419350" cy="819150"/>
          </a:xfrm>
          <a:prstGeom prst="rect">
            <a:avLst/>
          </a:prstGeom>
        </p:spPr>
      </p:pic>
      <p:pic>
        <p:nvPicPr>
          <p:cNvPr id="10" name="Picture 9" descr="A math equations with numbers&#10;&#10;Description automatically generated">
            <a:extLst>
              <a:ext uri="{FF2B5EF4-FFF2-40B4-BE49-F238E27FC236}">
                <a16:creationId xmlns:a16="http://schemas.microsoft.com/office/drawing/2014/main" id="{36CB05FF-7606-75E7-F244-9F4B81225CAE}"/>
              </a:ext>
            </a:extLst>
          </p:cNvPr>
          <p:cNvPicPr>
            <a:picLocks noChangeAspect="1"/>
          </p:cNvPicPr>
          <p:nvPr/>
        </p:nvPicPr>
        <p:blipFill>
          <a:blip r:embed="rId5"/>
          <a:stretch>
            <a:fillRect/>
          </a:stretch>
        </p:blipFill>
        <p:spPr>
          <a:xfrm>
            <a:off x="680175" y="2771888"/>
            <a:ext cx="2562225" cy="1457325"/>
          </a:xfrm>
          <a:prstGeom prst="rect">
            <a:avLst/>
          </a:prstGeom>
        </p:spPr>
      </p:pic>
      <p:pic>
        <p:nvPicPr>
          <p:cNvPr id="12" name="Picture 11">
            <a:extLst>
              <a:ext uri="{FF2B5EF4-FFF2-40B4-BE49-F238E27FC236}">
                <a16:creationId xmlns:a16="http://schemas.microsoft.com/office/drawing/2014/main" id="{5B0CAE70-F960-F258-E85C-184B0D79175D}"/>
              </a:ext>
            </a:extLst>
          </p:cNvPr>
          <p:cNvPicPr>
            <a:picLocks noChangeAspect="1"/>
          </p:cNvPicPr>
          <p:nvPr/>
        </p:nvPicPr>
        <p:blipFill>
          <a:blip r:embed="rId6"/>
          <a:stretch>
            <a:fillRect/>
          </a:stretch>
        </p:blipFill>
        <p:spPr>
          <a:xfrm>
            <a:off x="3908572" y="2939391"/>
            <a:ext cx="4719953" cy="977886"/>
          </a:xfrm>
          <a:prstGeom prst="rect">
            <a:avLst/>
          </a:prstGeom>
        </p:spPr>
      </p:pic>
      <p:sp>
        <p:nvSpPr>
          <p:cNvPr id="14" name="TextBox 13">
            <a:extLst>
              <a:ext uri="{FF2B5EF4-FFF2-40B4-BE49-F238E27FC236}">
                <a16:creationId xmlns:a16="http://schemas.microsoft.com/office/drawing/2014/main" id="{AC980FF8-2947-BA2C-4B5C-17A3225CBFB3}"/>
              </a:ext>
            </a:extLst>
          </p:cNvPr>
          <p:cNvSpPr txBox="1"/>
          <p:nvPr/>
        </p:nvSpPr>
        <p:spPr>
          <a:xfrm>
            <a:off x="3856074" y="4033284"/>
            <a:ext cx="506464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The stability and steady-state gain are unchanged. However, the new numerator </a:t>
            </a:r>
            <a:r>
              <a:rPr lang="en-US" i="1"/>
              <a:t>B</a:t>
            </a:r>
            <a:r>
              <a:rPr lang="en-US"/>
              <a:t>(</a:t>
            </a:r>
            <a:r>
              <a:rPr lang="en-US" i="1"/>
              <a:t>z</a:t>
            </a:r>
            <a:r>
              <a:rPr lang="en-US"/>
              <a:t>) = −0</a:t>
            </a:r>
            <a:r>
              <a:rPr lang="en-US" i="1"/>
              <a:t>.</a:t>
            </a:r>
            <a:r>
              <a:rPr lang="en-US"/>
              <a:t>2</a:t>
            </a:r>
            <a:r>
              <a:rPr lang="en-US" i="1"/>
              <a:t>z </a:t>
            </a:r>
            <a:r>
              <a:rPr lang="en-US"/>
              <a:t>+ 0</a:t>
            </a:r>
            <a:r>
              <a:rPr lang="en-US" i="1"/>
              <a:t>.</a:t>
            </a:r>
            <a:r>
              <a:rPr lang="en-US"/>
              <a:t>3 = 0 has one zero, which lies outside the unit circle, i.e., a value of 0</a:t>
            </a:r>
            <a:r>
              <a:rPr lang="en-US" i="1"/>
              <a:t>.</a:t>
            </a:r>
            <a:r>
              <a:rPr lang="en-US"/>
              <a:t>3</a:t>
            </a:r>
            <a:r>
              <a:rPr lang="en-US" i="1"/>
              <a:t>/</a:t>
            </a:r>
            <a:r>
              <a:rPr lang="en-US"/>
              <a:t>0</a:t>
            </a:r>
            <a:r>
              <a:rPr lang="en-US" i="1"/>
              <a:t>.</a:t>
            </a:r>
            <a:r>
              <a:rPr lang="en-US"/>
              <a:t>2 = 1</a:t>
            </a:r>
            <a:r>
              <a:rPr lang="en-US" i="1"/>
              <a:t>.</a:t>
            </a:r>
            <a:r>
              <a:rPr lang="en-US"/>
              <a:t>5 on the real axis. Consequently, the system is said to be </a:t>
            </a:r>
            <a:r>
              <a:rPr lang="en-US" i="1"/>
              <a:t>non-minimum phase </a:t>
            </a:r>
            <a:r>
              <a:rPr lang="en-US"/>
              <a:t>this yields an initial negative response to the positive step input</a:t>
            </a:r>
          </a:p>
        </p:txBody>
      </p:sp>
      <p:sp>
        <p:nvSpPr>
          <p:cNvPr id="15" name="TextBox 14">
            <a:extLst>
              <a:ext uri="{FF2B5EF4-FFF2-40B4-BE49-F238E27FC236}">
                <a16:creationId xmlns:a16="http://schemas.microsoft.com/office/drawing/2014/main" id="{947E5514-1A23-A826-696D-0880903C87E5}"/>
              </a:ext>
            </a:extLst>
          </p:cNvPr>
          <p:cNvSpPr txBox="1"/>
          <p:nvPr/>
        </p:nvSpPr>
        <p:spPr>
          <a:xfrm>
            <a:off x="887819" y="4299098"/>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Roman"/>
              </a:rPr>
              <a:t>Hence, the system is defined by two poles, i.e., </a:t>
            </a:r>
            <a:r>
              <a:rPr lang="en-US" i="1" dirty="0">
                <a:latin typeface="Times-Italic"/>
              </a:rPr>
              <a:t>p</a:t>
            </a:r>
            <a:r>
              <a:rPr lang="en-US" dirty="0">
                <a:latin typeface="Times-Roman"/>
              </a:rPr>
              <a:t>1 </a:t>
            </a:r>
            <a:r>
              <a:rPr lang="en-US" dirty="0">
                <a:latin typeface="MTSY"/>
              </a:rPr>
              <a:t>= </a:t>
            </a:r>
            <a:r>
              <a:rPr lang="en-US" dirty="0">
                <a:latin typeface="Times-Roman"/>
              </a:rPr>
              <a:t>0</a:t>
            </a:r>
            <a:r>
              <a:rPr lang="en-US" i="1" dirty="0">
                <a:latin typeface="RMTMI"/>
              </a:rPr>
              <a:t>.</a:t>
            </a:r>
            <a:r>
              <a:rPr lang="en-US" dirty="0">
                <a:latin typeface="Times-Roman"/>
              </a:rPr>
              <a:t>4 and </a:t>
            </a:r>
            <a:r>
              <a:rPr lang="en-US" i="1" dirty="0">
                <a:latin typeface="Times-Italic"/>
              </a:rPr>
              <a:t>p</a:t>
            </a:r>
            <a:r>
              <a:rPr lang="en-US" dirty="0">
                <a:latin typeface="Times-Roman"/>
              </a:rPr>
              <a:t>2 </a:t>
            </a:r>
            <a:r>
              <a:rPr lang="en-US" dirty="0">
                <a:latin typeface="MTSY"/>
              </a:rPr>
              <a:t>= </a:t>
            </a:r>
            <a:r>
              <a:rPr lang="en-US" dirty="0">
                <a:latin typeface="Times-Roman"/>
              </a:rPr>
              <a:t>0</a:t>
            </a:r>
            <a:r>
              <a:rPr lang="en-US" i="1" dirty="0">
                <a:latin typeface="RMTMI"/>
              </a:rPr>
              <a:t>.</a:t>
            </a:r>
            <a:r>
              <a:rPr lang="en-US" dirty="0">
                <a:latin typeface="Times-Roman"/>
              </a:rPr>
              <a:t>2, both lying on the real axis of the complex </a:t>
            </a:r>
            <a:r>
              <a:rPr lang="en-US" i="1" dirty="0">
                <a:latin typeface="Times-Italic"/>
              </a:rPr>
              <a:t>z</a:t>
            </a:r>
            <a:r>
              <a:rPr lang="en-US" dirty="0">
                <a:latin typeface="Times-Roman"/>
              </a:rPr>
              <a:t>-plane. In this case, </a:t>
            </a:r>
            <a:r>
              <a:rPr lang="en-US" dirty="0">
                <a:latin typeface="MTSY"/>
              </a:rPr>
              <a:t>|</a:t>
            </a:r>
            <a:r>
              <a:rPr lang="en-US" i="1" dirty="0">
                <a:latin typeface="Times-Italic"/>
              </a:rPr>
              <a:t>pi </a:t>
            </a:r>
            <a:r>
              <a:rPr lang="en-US" dirty="0">
                <a:latin typeface="MTSY"/>
              </a:rPr>
              <a:t>| </a:t>
            </a:r>
            <a:r>
              <a:rPr lang="en-US" i="1" dirty="0">
                <a:latin typeface="RMTMI"/>
              </a:rPr>
              <a:t>&lt; </a:t>
            </a:r>
            <a:r>
              <a:rPr lang="en-US" dirty="0">
                <a:latin typeface="Times-Roman"/>
              </a:rPr>
              <a:t>1 (</a:t>
            </a:r>
            <a:r>
              <a:rPr lang="en-US" i="1" dirty="0" err="1">
                <a:latin typeface="Times-Italic"/>
              </a:rPr>
              <a:t>i</a:t>
            </a:r>
            <a:r>
              <a:rPr lang="en-US" i="1" dirty="0">
                <a:latin typeface="Times-Italic"/>
              </a:rPr>
              <a:t> </a:t>
            </a:r>
            <a:r>
              <a:rPr lang="en-US" dirty="0">
                <a:latin typeface="MTSY"/>
              </a:rPr>
              <a:t>= </a:t>
            </a:r>
            <a:r>
              <a:rPr lang="en-US" dirty="0">
                <a:latin typeface="Times-Roman"/>
              </a:rPr>
              <a:t>1</a:t>
            </a:r>
            <a:r>
              <a:rPr lang="en-US" i="1" dirty="0">
                <a:latin typeface="RMTMI"/>
              </a:rPr>
              <a:t>, </a:t>
            </a:r>
            <a:r>
              <a:rPr lang="en-US" dirty="0">
                <a:latin typeface="Times-Roman"/>
              </a:rPr>
              <a:t>2) and the system is stable.</a:t>
            </a:r>
          </a:p>
        </p:txBody>
      </p:sp>
    </p:spTree>
    <p:extLst>
      <p:ext uri="{BB962C8B-B14F-4D97-AF65-F5344CB8AC3E}">
        <p14:creationId xmlns:p14="http://schemas.microsoft.com/office/powerpoint/2010/main" val="140862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B4D3-672D-A764-FC68-6F2FB6ED18B0}"/>
              </a:ext>
            </a:extLst>
          </p:cNvPr>
          <p:cNvSpPr>
            <a:spLocks noGrp="1"/>
          </p:cNvSpPr>
          <p:nvPr>
            <p:ph type="title"/>
          </p:nvPr>
        </p:nvSpPr>
        <p:spPr>
          <a:xfrm>
            <a:off x="533400" y="304800"/>
            <a:ext cx="7768865" cy="430887"/>
          </a:xfrm>
        </p:spPr>
        <p:txBody>
          <a:bodyPr wrap="square" lIns="0" tIns="0" rIns="0" bIns="0" anchor="t">
            <a:spAutoFit/>
          </a:bodyPr>
          <a:lstStyle/>
          <a:p>
            <a:r>
              <a:rPr lang="en-NZ" sz="2800" b="1" dirty="0">
                <a:effectLst/>
                <a:ea typeface="Calibri"/>
                <a:cs typeface="Times New Roman"/>
              </a:rPr>
              <a:t>Question No 3:</a:t>
            </a:r>
            <a:endParaRPr lang="en-US" sz="2800" dirty="0">
              <a:ea typeface="Calibri"/>
              <a:cs typeface="Times New Roman"/>
            </a:endParaRPr>
          </a:p>
        </p:txBody>
      </p:sp>
      <p:pic>
        <p:nvPicPr>
          <p:cNvPr id="8" name="Picture 7" descr="A math equation with black text&#10;&#10;Description automatically generated">
            <a:extLst>
              <a:ext uri="{FF2B5EF4-FFF2-40B4-BE49-F238E27FC236}">
                <a16:creationId xmlns:a16="http://schemas.microsoft.com/office/drawing/2014/main" id="{7B76F86B-352E-D0CD-9686-F30BBB2997C5}"/>
              </a:ext>
            </a:extLst>
          </p:cNvPr>
          <p:cNvPicPr>
            <a:picLocks noChangeAspect="1"/>
          </p:cNvPicPr>
          <p:nvPr/>
        </p:nvPicPr>
        <p:blipFill>
          <a:blip r:embed="rId2"/>
          <a:stretch>
            <a:fillRect/>
          </a:stretch>
        </p:blipFill>
        <p:spPr>
          <a:xfrm>
            <a:off x="799214" y="1173071"/>
            <a:ext cx="7040526" cy="1534741"/>
          </a:xfrm>
          <a:prstGeom prst="rect">
            <a:avLst/>
          </a:prstGeom>
        </p:spPr>
      </p:pic>
      <p:pic>
        <p:nvPicPr>
          <p:cNvPr id="9" name="Picture 8" descr="A math equations on a white background&#10;&#10;Description automatically generated">
            <a:extLst>
              <a:ext uri="{FF2B5EF4-FFF2-40B4-BE49-F238E27FC236}">
                <a16:creationId xmlns:a16="http://schemas.microsoft.com/office/drawing/2014/main" id="{6B3B5B61-4621-3EF3-DABA-E0ACBFEC114D}"/>
              </a:ext>
            </a:extLst>
          </p:cNvPr>
          <p:cNvPicPr>
            <a:picLocks noChangeAspect="1"/>
          </p:cNvPicPr>
          <p:nvPr/>
        </p:nvPicPr>
        <p:blipFill>
          <a:blip r:embed="rId3"/>
          <a:stretch>
            <a:fillRect/>
          </a:stretch>
        </p:blipFill>
        <p:spPr>
          <a:xfrm>
            <a:off x="799214" y="2711087"/>
            <a:ext cx="7111408" cy="1648476"/>
          </a:xfrm>
          <a:prstGeom prst="rect">
            <a:avLst/>
          </a:prstGeom>
        </p:spPr>
      </p:pic>
      <p:pic>
        <p:nvPicPr>
          <p:cNvPr id="10" name="Picture 9" descr="A black text on a white background&#10;&#10;Description automatically generated">
            <a:extLst>
              <a:ext uri="{FF2B5EF4-FFF2-40B4-BE49-F238E27FC236}">
                <a16:creationId xmlns:a16="http://schemas.microsoft.com/office/drawing/2014/main" id="{345E7D53-CFEF-622A-7B1E-AA78973D9D67}"/>
              </a:ext>
            </a:extLst>
          </p:cNvPr>
          <p:cNvPicPr>
            <a:picLocks noChangeAspect="1"/>
          </p:cNvPicPr>
          <p:nvPr/>
        </p:nvPicPr>
        <p:blipFill>
          <a:blip r:embed="rId4"/>
          <a:stretch>
            <a:fillRect/>
          </a:stretch>
        </p:blipFill>
        <p:spPr>
          <a:xfrm>
            <a:off x="887819" y="4570536"/>
            <a:ext cx="6951920" cy="809230"/>
          </a:xfrm>
          <a:prstGeom prst="rect">
            <a:avLst/>
          </a:prstGeom>
        </p:spPr>
      </p:pic>
      <p:sp>
        <p:nvSpPr>
          <p:cNvPr id="11" name="TextBox 10">
            <a:extLst>
              <a:ext uri="{FF2B5EF4-FFF2-40B4-BE49-F238E27FC236}">
                <a16:creationId xmlns:a16="http://schemas.microsoft.com/office/drawing/2014/main" id="{CE99E29F-D541-2D25-DC38-F72D7BCE4ADF}"/>
              </a:ext>
            </a:extLst>
          </p:cNvPr>
          <p:cNvSpPr txBox="1"/>
          <p:nvPr/>
        </p:nvSpPr>
        <p:spPr>
          <a:xfrm>
            <a:off x="1543493" y="5592726"/>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imes New Roman"/>
                <a:cs typeface="Times New Roman"/>
              </a:rPr>
              <a:t>G = 6.4286 </a:t>
            </a:r>
            <a:endParaRPr lang="en-US"/>
          </a:p>
        </p:txBody>
      </p:sp>
      <p:sp>
        <p:nvSpPr>
          <p:cNvPr id="12" name="TextBox 11">
            <a:extLst>
              <a:ext uri="{FF2B5EF4-FFF2-40B4-BE49-F238E27FC236}">
                <a16:creationId xmlns:a16="http://schemas.microsoft.com/office/drawing/2014/main" id="{436F1466-6C3C-95D1-3159-9E81AA4CBA8D}"/>
              </a:ext>
            </a:extLst>
          </p:cNvPr>
          <p:cNvSpPr txBox="1"/>
          <p:nvPr/>
        </p:nvSpPr>
        <p:spPr>
          <a:xfrm>
            <a:off x="1578935" y="6000307"/>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imes New Roman"/>
                <a:cs typeface="Times New Roman"/>
              </a:rPr>
              <a:t>0, 0, 0.6750, 1.2083, 1.6295</a:t>
            </a:r>
            <a:endParaRPr lang="en-US"/>
          </a:p>
        </p:txBody>
      </p:sp>
    </p:spTree>
    <p:extLst>
      <p:ext uri="{BB962C8B-B14F-4D97-AF65-F5344CB8AC3E}">
        <p14:creationId xmlns:p14="http://schemas.microsoft.com/office/powerpoint/2010/main" val="296841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F591F2D-0F95-0D7D-5A8F-282DF71E4AAC}"/>
                  </a:ext>
                </a:extLst>
              </p:cNvPr>
              <p:cNvSpPr>
                <a:spLocks noGrp="1"/>
              </p:cNvSpPr>
              <p:nvPr>
                <p:ph type="body" idx="1"/>
              </p:nvPr>
            </p:nvSpPr>
            <p:spPr>
              <a:xfrm>
                <a:off x="497546" y="1600200"/>
                <a:ext cx="8148907" cy="4161652"/>
              </a:xfrm>
            </p:spPr>
            <p:txBody>
              <a:bodyPr/>
              <a:lstStyle/>
              <a:p>
                <a:pPr marL="342900" marR="0" lvl="0" indent="-342900">
                  <a:lnSpc>
                    <a:spcPct val="107000"/>
                  </a:lnSpc>
                  <a:spcBef>
                    <a:spcPts val="0"/>
                  </a:spcBef>
                  <a:spcAft>
                    <a:spcPts val="800"/>
                  </a:spcAft>
                  <a:buFont typeface="+mj-lt"/>
                  <a:buAutoNum type="alphaLcPeriod"/>
                  <a:tabLst>
                    <a:tab pos="457200" algn="l"/>
                  </a:tabLs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difference equation for the model is given 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−3</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−4)</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romanL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Write down the Transfer Function form of the model, which has a sampling rate of 10s.							</a:t>
                </a:r>
              </a:p>
              <a:p>
                <a:pPr marL="342900" marR="0" lvl="0" indent="-342900">
                  <a:lnSpc>
                    <a:spcPct val="107000"/>
                  </a:lnSpc>
                  <a:spcBef>
                    <a:spcPts val="0"/>
                  </a:spcBef>
                  <a:spcAft>
                    <a:spcPts val="0"/>
                  </a:spcAft>
                  <a:buFont typeface="+mj-lt"/>
                  <a:buAutoNum type="romanL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What is the order of the model? And the time delay in seconds? 		</a:t>
                </a:r>
              </a:p>
              <a:p>
                <a:pPr marL="342900" marR="0" lvl="0" indent="-342900">
                  <a:lnSpc>
                    <a:spcPct val="107000"/>
                  </a:lnSpc>
                  <a:spcBef>
                    <a:spcPts val="0"/>
                  </a:spcBef>
                  <a:spcAft>
                    <a:spcPts val="0"/>
                  </a:spcAft>
                  <a:buFont typeface="+mj-lt"/>
                  <a:buAutoNum type="romanLcPeriod"/>
                </a:pPr>
                <a:r>
                  <a:rPr lang="en-US" sz="1800" dirty="0">
                    <a:effectLst/>
                    <a:latin typeface="Calibri" panose="020F0502020204030204" pitchFamily="34" charset="0"/>
                    <a:ea typeface="Calibri" panose="020F0502020204030204" pitchFamily="34" charset="0"/>
                    <a:cs typeface="Times New Roman" panose="02020603050405020304" pitchFamily="18" charset="0"/>
                  </a:rPr>
                  <a:t>Assuming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5</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=-6,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9, what is the </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stability condition of the system? </a:t>
                </a:r>
              </a:p>
              <a:p>
                <a:pPr marL="342900" marR="0" lvl="0" indent="-342900">
                  <a:lnSpc>
                    <a:spcPct val="107000"/>
                  </a:lnSpc>
                  <a:spcBef>
                    <a:spcPts val="0"/>
                  </a:spcBef>
                  <a:spcAft>
                    <a:spcPts val="0"/>
                  </a:spcAft>
                  <a:buFont typeface="+mj-lt"/>
                  <a:buAutoNum type="romanLcPeriod"/>
                </a:pPr>
                <a:r>
                  <a:rPr lang="en-US" sz="1800" dirty="0">
                    <a:latin typeface="Calibri" panose="020F0502020204030204" pitchFamily="34" charset="0"/>
                    <a:cs typeface="Times New Roman" panose="02020603050405020304" pitchFamily="18" charset="0"/>
                  </a:rPr>
                  <a:t>For the Transfer function calculated in 1(</a:t>
                </a:r>
                <a:r>
                  <a:rPr lang="en-US" sz="1800" dirty="0" err="1">
                    <a:latin typeface="Calibri" panose="020F0502020204030204" pitchFamily="34" charset="0"/>
                    <a:cs typeface="Times New Roman" panose="02020603050405020304" pitchFamily="18" charset="0"/>
                  </a:rPr>
                  <a:t>i</a:t>
                </a:r>
                <a:r>
                  <a:rPr lang="en-US" sz="1800" dirty="0">
                    <a:latin typeface="Calibri" panose="020F0502020204030204" pitchFamily="34" charset="0"/>
                    <a:cs typeface="Times New Roman" panose="02020603050405020304" pitchFamily="18" charset="0"/>
                  </a:rPr>
                  <a:t>), assume the sampling rate = 5sec 𝑏3=0.5,𝑏4 = 0.2, 𝑎1 = −0.9, 𝑎2 = 0.6 A. Determine the unit step response for k=1 to k=10, when the step occurs at k=3, and the initial conditions are zero</a:t>
                </a:r>
              </a:p>
              <a:p>
                <a:pPr marL="342900" marR="0" lvl="0" indent="-342900">
                  <a:lnSpc>
                    <a:spcPct val="107000"/>
                  </a:lnSpc>
                  <a:spcBef>
                    <a:spcPts val="0"/>
                  </a:spcBef>
                  <a:spcAft>
                    <a:spcPts val="0"/>
                  </a:spcAft>
                  <a:buFont typeface="+mj-lt"/>
                  <a:buAutoNum type="romanLcPeriod"/>
                </a:pPr>
                <a:r>
                  <a:rPr lang="en-US" sz="1800" dirty="0">
                    <a:latin typeface="Calibri" panose="020F0502020204030204" pitchFamily="34" charset="0"/>
                    <a:cs typeface="Times New Roman" panose="02020603050405020304" pitchFamily="18" charset="0"/>
                  </a:rPr>
                  <a:t>Determine the steady state gain, time constant and time delay of the system.</a:t>
                </a:r>
              </a:p>
              <a:p>
                <a:pPr marL="342900" marR="0" lvl="0" indent="-342900">
                  <a:lnSpc>
                    <a:spcPct val="107000"/>
                  </a:lnSpc>
                  <a:spcBef>
                    <a:spcPts val="0"/>
                  </a:spcBef>
                  <a:spcAft>
                    <a:spcPts val="0"/>
                  </a:spcAft>
                  <a:buFont typeface="+mj-lt"/>
                  <a:buAutoNum type="romanLcPeriod"/>
                </a:pPr>
                <a:r>
                  <a:rPr lang="en-US" sz="1800" dirty="0">
                    <a:latin typeface="Calibri" panose="020F0502020204030204" pitchFamily="34" charset="0"/>
                    <a:cs typeface="Times New Roman" panose="02020603050405020304" pitchFamily="18" charset="0"/>
                  </a:rPr>
                  <a:t>What are zeros in the transfer function and what information do zeros give? Now assuming 𝑏3=-0.3, 𝑏4 = 0.5, in 1(iv), comment on behavior of the system 	</a:t>
                </a:r>
              </a:p>
              <a:p>
                <a:endParaRPr lang="en-US" dirty="0"/>
              </a:p>
            </p:txBody>
          </p:sp>
        </mc:Choice>
        <mc:Fallback>
          <p:sp>
            <p:nvSpPr>
              <p:cNvPr id="3" name="Text Placeholder 2">
                <a:extLst>
                  <a:ext uri="{FF2B5EF4-FFF2-40B4-BE49-F238E27FC236}">
                    <a16:creationId xmlns:a16="http://schemas.microsoft.com/office/drawing/2014/main" id="{2F591F2D-0F95-0D7D-5A8F-282DF71E4AAC}"/>
                  </a:ext>
                </a:extLst>
              </p:cNvPr>
              <p:cNvSpPr>
                <a:spLocks noGrp="1" noRot="1" noChangeAspect="1" noMove="1" noResize="1" noEditPoints="1" noAdjustHandles="1" noChangeArrowheads="1" noChangeShapeType="1" noTextEdit="1"/>
              </p:cNvSpPr>
              <p:nvPr>
                <p:ph type="body" idx="1"/>
              </p:nvPr>
            </p:nvSpPr>
            <p:spPr>
              <a:xfrm>
                <a:off x="497546" y="1600200"/>
                <a:ext cx="8148907" cy="4161652"/>
              </a:xfrm>
              <a:blipFill>
                <a:blip r:embed="rId2"/>
                <a:stretch>
                  <a:fillRect l="-1796" t="-1760" r="-749"/>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4EC64E81-8D44-18D3-95DC-A0F1E61F71B6}"/>
              </a:ext>
            </a:extLst>
          </p:cNvPr>
          <p:cNvSpPr>
            <a:spLocks noGrp="1"/>
          </p:cNvSpPr>
          <p:nvPr>
            <p:ph type="title"/>
          </p:nvPr>
        </p:nvSpPr>
        <p:spPr>
          <a:xfrm>
            <a:off x="687388" y="728663"/>
            <a:ext cx="7769225" cy="430887"/>
          </a:xfrm>
        </p:spPr>
        <p:txBody>
          <a:bodyPr wrap="square" lIns="0" tIns="0" rIns="0" bIns="0" anchor="t">
            <a:spAutoFit/>
          </a:bodyPr>
          <a:lstStyle/>
          <a:p>
            <a:r>
              <a:rPr lang="en-NZ" sz="2800" b="1" dirty="0">
                <a:effectLst/>
                <a:ea typeface="Calibri"/>
                <a:cs typeface="Times New Roman"/>
              </a:rPr>
              <a:t>Question No </a:t>
            </a:r>
            <a:r>
              <a:rPr lang="en-NZ" sz="2800" b="1" dirty="0">
                <a:ea typeface="Calibri"/>
                <a:cs typeface="Times New Roman"/>
              </a:rPr>
              <a:t>4</a:t>
            </a:r>
            <a:r>
              <a:rPr lang="en-NZ" sz="2800" b="1" dirty="0">
                <a:effectLst/>
                <a:ea typeface="Calibri"/>
                <a:cs typeface="Times New Roman"/>
              </a:rPr>
              <a:t>:</a:t>
            </a:r>
            <a:endParaRPr lang="en-US" sz="2800" dirty="0">
              <a:ea typeface="Calibri"/>
              <a:cs typeface="Times New Roman"/>
            </a:endParaRPr>
          </a:p>
        </p:txBody>
      </p:sp>
    </p:spTree>
    <p:extLst>
      <p:ext uri="{BB962C8B-B14F-4D97-AF65-F5344CB8AC3E}">
        <p14:creationId xmlns:p14="http://schemas.microsoft.com/office/powerpoint/2010/main" val="1077284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80BB-F5CE-7841-5779-3F77AA314C66}"/>
              </a:ext>
            </a:extLst>
          </p:cNvPr>
          <p:cNvSpPr>
            <a:spLocks noGrp="1"/>
          </p:cNvSpPr>
          <p:nvPr>
            <p:ph type="title"/>
          </p:nvPr>
        </p:nvSpPr>
        <p:spPr>
          <a:xfrm>
            <a:off x="687567" y="341706"/>
            <a:ext cx="7768865" cy="523220"/>
          </a:xfrm>
        </p:spPr>
        <p:txBody>
          <a:bodyPr/>
          <a:lstStyle/>
          <a:p>
            <a:r>
              <a:rPr lang="en-US" dirty="0"/>
              <a:t>Solution-4</a:t>
            </a:r>
          </a:p>
        </p:txBody>
      </p:sp>
      <p:pic>
        <p:nvPicPr>
          <p:cNvPr id="5" name="Picture 4">
            <a:extLst>
              <a:ext uri="{FF2B5EF4-FFF2-40B4-BE49-F238E27FC236}">
                <a16:creationId xmlns:a16="http://schemas.microsoft.com/office/drawing/2014/main" id="{A390703E-6489-2C23-F538-B1F2D66AF5C7}"/>
              </a:ext>
            </a:extLst>
          </p:cNvPr>
          <p:cNvPicPr>
            <a:picLocks noChangeAspect="1"/>
          </p:cNvPicPr>
          <p:nvPr/>
        </p:nvPicPr>
        <p:blipFill>
          <a:blip r:embed="rId2"/>
          <a:stretch>
            <a:fillRect/>
          </a:stretch>
        </p:blipFill>
        <p:spPr>
          <a:xfrm>
            <a:off x="1757362" y="1135926"/>
            <a:ext cx="5095875" cy="1304925"/>
          </a:xfrm>
          <a:prstGeom prst="rect">
            <a:avLst/>
          </a:prstGeom>
        </p:spPr>
      </p:pic>
      <p:pic>
        <p:nvPicPr>
          <p:cNvPr id="7" name="Picture 6">
            <a:extLst>
              <a:ext uri="{FF2B5EF4-FFF2-40B4-BE49-F238E27FC236}">
                <a16:creationId xmlns:a16="http://schemas.microsoft.com/office/drawing/2014/main" id="{6975159B-E9D6-C65C-7ACC-FD5E975AECD3}"/>
              </a:ext>
            </a:extLst>
          </p:cNvPr>
          <p:cNvPicPr>
            <a:picLocks noChangeAspect="1"/>
          </p:cNvPicPr>
          <p:nvPr/>
        </p:nvPicPr>
        <p:blipFill>
          <a:blip r:embed="rId3"/>
          <a:stretch>
            <a:fillRect/>
          </a:stretch>
        </p:blipFill>
        <p:spPr>
          <a:xfrm>
            <a:off x="1600200" y="2784463"/>
            <a:ext cx="5791200" cy="676275"/>
          </a:xfrm>
          <a:prstGeom prst="rect">
            <a:avLst/>
          </a:prstGeom>
        </p:spPr>
      </p:pic>
      <p:pic>
        <p:nvPicPr>
          <p:cNvPr id="9" name="Picture 8">
            <a:extLst>
              <a:ext uri="{FF2B5EF4-FFF2-40B4-BE49-F238E27FC236}">
                <a16:creationId xmlns:a16="http://schemas.microsoft.com/office/drawing/2014/main" id="{BA79194D-855D-312A-9B89-CF0A6992D89C}"/>
              </a:ext>
            </a:extLst>
          </p:cNvPr>
          <p:cNvPicPr>
            <a:picLocks noChangeAspect="1"/>
          </p:cNvPicPr>
          <p:nvPr/>
        </p:nvPicPr>
        <p:blipFill>
          <a:blip r:embed="rId4"/>
          <a:stretch>
            <a:fillRect/>
          </a:stretch>
        </p:blipFill>
        <p:spPr>
          <a:xfrm>
            <a:off x="1757362" y="3805449"/>
            <a:ext cx="5276850" cy="1533525"/>
          </a:xfrm>
          <a:prstGeom prst="rect">
            <a:avLst/>
          </a:prstGeom>
        </p:spPr>
      </p:pic>
      <p:sp>
        <p:nvSpPr>
          <p:cNvPr id="11" name="TextBox 10">
            <a:extLst>
              <a:ext uri="{FF2B5EF4-FFF2-40B4-BE49-F238E27FC236}">
                <a16:creationId xmlns:a16="http://schemas.microsoft.com/office/drawing/2014/main" id="{7A4C39FE-F223-A030-52CA-92C5FFCF8954}"/>
              </a:ext>
            </a:extLst>
          </p:cNvPr>
          <p:cNvSpPr txBox="1"/>
          <p:nvPr/>
        </p:nvSpPr>
        <p:spPr>
          <a:xfrm>
            <a:off x="1181100" y="5486400"/>
            <a:ext cx="6629400" cy="923330"/>
          </a:xfrm>
          <a:prstGeom prst="rect">
            <a:avLst/>
          </a:prstGeom>
          <a:noFill/>
        </p:spPr>
        <p:txBody>
          <a:bodyPr wrap="square">
            <a:spAutoFit/>
          </a:bodyPr>
          <a:lstStyle/>
          <a:p>
            <a:r>
              <a:rPr lang="en-US" dirty="0"/>
              <a:t>Both poles are 3. At least one pole is greater than unity (in fact, both are) and hence the system is unstable. The poles lie on the real axis of the complex plane, hence the response will exponential</a:t>
            </a:r>
          </a:p>
        </p:txBody>
      </p:sp>
    </p:spTree>
    <p:extLst>
      <p:ext uri="{BB962C8B-B14F-4D97-AF65-F5344CB8AC3E}">
        <p14:creationId xmlns:p14="http://schemas.microsoft.com/office/powerpoint/2010/main" val="427179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9F19F5-039C-86D7-0C17-13A31303109A}"/>
              </a:ext>
            </a:extLst>
          </p:cNvPr>
          <p:cNvPicPr>
            <a:picLocks noChangeAspect="1"/>
          </p:cNvPicPr>
          <p:nvPr/>
        </p:nvPicPr>
        <p:blipFill>
          <a:blip r:embed="rId2"/>
          <a:stretch>
            <a:fillRect/>
          </a:stretch>
        </p:blipFill>
        <p:spPr>
          <a:xfrm>
            <a:off x="928687" y="609600"/>
            <a:ext cx="7286625" cy="3562350"/>
          </a:xfrm>
          <a:prstGeom prst="rect">
            <a:avLst/>
          </a:prstGeom>
        </p:spPr>
      </p:pic>
      <p:pic>
        <p:nvPicPr>
          <p:cNvPr id="7" name="Picture 6">
            <a:extLst>
              <a:ext uri="{FF2B5EF4-FFF2-40B4-BE49-F238E27FC236}">
                <a16:creationId xmlns:a16="http://schemas.microsoft.com/office/drawing/2014/main" id="{55493514-E2AA-442F-FF7B-A74424DE79E6}"/>
              </a:ext>
            </a:extLst>
          </p:cNvPr>
          <p:cNvPicPr>
            <a:picLocks noChangeAspect="1"/>
          </p:cNvPicPr>
          <p:nvPr/>
        </p:nvPicPr>
        <p:blipFill>
          <a:blip r:embed="rId3"/>
          <a:stretch>
            <a:fillRect/>
          </a:stretch>
        </p:blipFill>
        <p:spPr>
          <a:xfrm>
            <a:off x="2971800" y="4343400"/>
            <a:ext cx="4303059" cy="1524000"/>
          </a:xfrm>
          <a:prstGeom prst="rect">
            <a:avLst/>
          </a:prstGeom>
        </p:spPr>
      </p:pic>
    </p:spTree>
    <p:extLst>
      <p:ext uri="{BB962C8B-B14F-4D97-AF65-F5344CB8AC3E}">
        <p14:creationId xmlns:p14="http://schemas.microsoft.com/office/powerpoint/2010/main" val="3553538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A1493-4DAA-F7EA-6127-90B81ECAF2A4}"/>
              </a:ext>
            </a:extLst>
          </p:cNvPr>
          <p:cNvSpPr>
            <a:spLocks noGrp="1"/>
          </p:cNvSpPr>
          <p:nvPr>
            <p:ph type="title"/>
          </p:nvPr>
        </p:nvSpPr>
        <p:spPr>
          <a:xfrm>
            <a:off x="687567" y="728416"/>
            <a:ext cx="7768865" cy="923330"/>
          </a:xfrm>
        </p:spPr>
        <p:txBody>
          <a:bodyPr/>
          <a:lstStyle/>
          <a:p>
            <a:r>
              <a:rPr lang="en-US" sz="2000" dirty="0"/>
              <a:t>What are zeros in the transfer function and what information do zeros give? Now assuming 𝑏3=-0.3, 𝑏4 = 0.5, in 1(iv), comment on behavior of the system</a:t>
            </a:r>
          </a:p>
        </p:txBody>
      </p:sp>
      <p:pic>
        <p:nvPicPr>
          <p:cNvPr id="5" name="Picture 4">
            <a:extLst>
              <a:ext uri="{FF2B5EF4-FFF2-40B4-BE49-F238E27FC236}">
                <a16:creationId xmlns:a16="http://schemas.microsoft.com/office/drawing/2014/main" id="{07815C0B-0AEC-C5C7-7435-727DD27F4CE8}"/>
              </a:ext>
            </a:extLst>
          </p:cNvPr>
          <p:cNvPicPr>
            <a:picLocks noChangeAspect="1"/>
          </p:cNvPicPr>
          <p:nvPr/>
        </p:nvPicPr>
        <p:blipFill>
          <a:blip r:embed="rId2"/>
          <a:stretch>
            <a:fillRect/>
          </a:stretch>
        </p:blipFill>
        <p:spPr>
          <a:xfrm>
            <a:off x="514130" y="2252662"/>
            <a:ext cx="8115740" cy="2352675"/>
          </a:xfrm>
          <a:prstGeom prst="rect">
            <a:avLst/>
          </a:prstGeom>
        </p:spPr>
      </p:pic>
    </p:spTree>
    <p:extLst>
      <p:ext uri="{BB962C8B-B14F-4D97-AF65-F5344CB8AC3E}">
        <p14:creationId xmlns:p14="http://schemas.microsoft.com/office/powerpoint/2010/main" val="3837167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5BE908D-A88B-6D01-7475-DA02B040D51A}"/>
                  </a:ext>
                </a:extLst>
              </p:cNvPr>
              <p:cNvSpPr>
                <a:spLocks noGrp="1"/>
              </p:cNvSpPr>
              <p:nvPr>
                <p:ph type="body" idx="1"/>
              </p:nvPr>
            </p:nvSpPr>
            <p:spPr>
              <a:xfrm>
                <a:off x="665617" y="1524000"/>
                <a:ext cx="8148907" cy="4223529"/>
              </a:xfrm>
            </p:spPr>
            <p:txBody>
              <a:bodyPr/>
              <a:lstStyle/>
              <a:p>
                <a:pPr marL="342900" marR="0" lvl="0" indent="-342900">
                  <a:lnSpc>
                    <a:spcPct val="107000"/>
                  </a:lnSpc>
                  <a:spcBef>
                    <a:spcPts val="0"/>
                  </a:spcBef>
                  <a:spcAft>
                    <a:spcPts val="800"/>
                  </a:spcAft>
                  <a:buFont typeface="+mj-lt"/>
                  <a:buAutoNum type="alphaLcPeriod"/>
                  <a:tabLst>
                    <a:tab pos="4572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Control model for temperature in a greenhouse is given as </a:t>
                </a:r>
              </a:p>
              <a:p>
                <a:pPr marL="0" marR="0">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d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d>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𝑍</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𝑢</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where the input is the position of a hot water heating valve (0 to 1), the temperature is degrees Celsius above the baseline and the sampling rate = 5 minutes and coefficient</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=0.65, </a:t>
                </a:r>
                <a14:m>
                  <m:oMath xmlns:m="http://schemas.openxmlformats.org/officeDocument/2006/math">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-0.91.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romanLcPeriod"/>
                  <a:tabLst>
                    <a:tab pos="9144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Determine the unit step response for k=1 to k=10, when the step occurs at k=3, and the initial conditions are zero.	</a:t>
                </a:r>
              </a:p>
              <a:p>
                <a:pPr marL="342900" marR="0" lvl="0" indent="-342900">
                  <a:lnSpc>
                    <a:spcPct val="107000"/>
                  </a:lnSpc>
                  <a:spcBef>
                    <a:spcPts val="0"/>
                  </a:spcBef>
                  <a:spcAft>
                    <a:spcPts val="800"/>
                  </a:spcAft>
                  <a:buFont typeface="+mj-lt"/>
                  <a:buAutoNum type="romanLcPeriod"/>
                  <a:tabLst>
                    <a:tab pos="914400" algn="l"/>
                  </a:tabLst>
                </a:pPr>
                <a:r>
                  <a:rPr lang="en-US" sz="1800" dirty="0">
                    <a:effectLst/>
                    <a:latin typeface="Calibri" panose="020F0502020204030204" pitchFamily="34" charset="0"/>
                    <a:ea typeface="Calibri" panose="020F0502020204030204" pitchFamily="34" charset="0"/>
                    <a:cs typeface="Times New Roman" panose="02020603050405020304" pitchFamily="18" charset="0"/>
                  </a:rPr>
                  <a:t>Determine the steady state gain, time constant and time delay of the system, relate these to the step response found above and check everything makes physical sense.		</a:t>
                </a:r>
              </a:p>
              <a:p>
                <a:endParaRPr lang="en-US" dirty="0"/>
              </a:p>
            </p:txBody>
          </p:sp>
        </mc:Choice>
        <mc:Fallback xmlns="">
          <p:sp>
            <p:nvSpPr>
              <p:cNvPr id="3" name="Text Placeholder 2">
                <a:extLst>
                  <a:ext uri="{FF2B5EF4-FFF2-40B4-BE49-F238E27FC236}">
                    <a16:creationId xmlns:a16="http://schemas.microsoft.com/office/drawing/2014/main" id="{55BE908D-A88B-6D01-7475-DA02B040D51A}"/>
                  </a:ext>
                </a:extLst>
              </p:cNvPr>
              <p:cNvSpPr>
                <a:spLocks noGrp="1" noRot="1" noChangeAspect="1" noMove="1" noResize="1" noEditPoints="1" noAdjustHandles="1" noChangeArrowheads="1" noChangeShapeType="1" noTextEdit="1"/>
              </p:cNvSpPr>
              <p:nvPr>
                <p:ph type="body" idx="1"/>
              </p:nvPr>
            </p:nvSpPr>
            <p:spPr>
              <a:xfrm>
                <a:off x="665617" y="1524000"/>
                <a:ext cx="8148907" cy="4223529"/>
              </a:xfrm>
              <a:blipFill>
                <a:blip r:embed="rId2"/>
                <a:stretch>
                  <a:fillRect l="-1720" t="-1732" r="-2094"/>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2E581CA0-B376-3311-1C5C-C608F03089D1}"/>
              </a:ext>
            </a:extLst>
          </p:cNvPr>
          <p:cNvSpPr>
            <a:spLocks noGrp="1"/>
          </p:cNvSpPr>
          <p:nvPr>
            <p:ph type="title"/>
          </p:nvPr>
        </p:nvSpPr>
        <p:spPr>
          <a:xfrm>
            <a:off x="687388" y="728663"/>
            <a:ext cx="7769225" cy="430887"/>
          </a:xfrm>
        </p:spPr>
        <p:txBody>
          <a:bodyPr/>
          <a:lstStyle/>
          <a:p>
            <a:r>
              <a:rPr lang="en-NZ" sz="2800" b="1" dirty="0">
                <a:effectLst/>
                <a:latin typeface="Calibri" panose="020F0502020204030204" pitchFamily="34" charset="0"/>
                <a:ea typeface="Calibri" panose="020F0502020204030204" pitchFamily="34" charset="0"/>
                <a:cs typeface="Times New Roman" panose="02020603050405020304" pitchFamily="18" charset="0"/>
              </a:rPr>
              <a:t>Question No 5: (homework)</a:t>
            </a:r>
            <a:endParaRPr lang="en-US" sz="2800" dirty="0"/>
          </a:p>
        </p:txBody>
      </p:sp>
    </p:spTree>
    <p:extLst>
      <p:ext uri="{BB962C8B-B14F-4D97-AF65-F5344CB8AC3E}">
        <p14:creationId xmlns:p14="http://schemas.microsoft.com/office/powerpoint/2010/main" val="3479539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244</TotalTime>
  <Words>773</Words>
  <Application>Microsoft Office PowerPoint</Application>
  <PresentationFormat>On-screen Show (4:3)</PresentationFormat>
  <Paragraphs>42</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Calibri</vt:lpstr>
      <vt:lpstr>Cambria Math</vt:lpstr>
      <vt:lpstr>MTSY</vt:lpstr>
      <vt:lpstr>RMTMI</vt:lpstr>
      <vt:lpstr>Times New Roman</vt:lpstr>
      <vt:lpstr>Times-Italic</vt:lpstr>
      <vt:lpstr>Times-Roman</vt:lpstr>
      <vt:lpstr>Office Theme</vt:lpstr>
      <vt:lpstr>PowerPoint Presentation</vt:lpstr>
      <vt:lpstr>Question No 1:</vt:lpstr>
      <vt:lpstr>Question No 2:</vt:lpstr>
      <vt:lpstr>Solution</vt:lpstr>
      <vt:lpstr>Question No 3:</vt:lpstr>
      <vt:lpstr>Question No 4:</vt:lpstr>
      <vt:lpstr>Solution-4</vt:lpstr>
      <vt:lpstr>PowerPoint Presentation</vt:lpstr>
      <vt:lpstr>What are zeros in the transfer function and what information do zeros give? Now assuming 𝑏3=-0.3, 𝑏4 = 0.5, in 1(iv), comment on behavior of the system</vt:lpstr>
      <vt:lpstr>Question No 5: (homework)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Online2PDF.com</dc:creator>
  <cp:lastModifiedBy>Abrar, Muhammad</cp:lastModifiedBy>
  <cp:revision>90</cp:revision>
  <dcterms:created xsi:type="dcterms:W3CDTF">2022-07-22T03:45:45Z</dcterms:created>
  <dcterms:modified xsi:type="dcterms:W3CDTF">2023-09-28T01:51:07Z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2022-07-22T00:00:00Z</vt:filetime>
  </property>
  <property fmtid="{D5CDD505-2E9C-101B-9397-08002B2CF9AE}" pid="3" name="LastSaved">
    <vt:filetime>2022-07-22T00:00:00Z</vt:filetime>
  </property>
</Properties>
</file>