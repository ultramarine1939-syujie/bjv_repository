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949F-2D65-6172-1AC3-C41CE7300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B7E24-234E-94A0-140C-BDFA7C144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9B25D-1422-5A20-A214-8A45ECDC9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D5E54-B218-68DD-5FCA-5548B536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9AA73-65C3-7C9B-7577-4C5C64B2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68C4-A963-D4E6-D24C-C95A1510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CCD7-8537-C6D9-885C-87A301537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575B0-8F04-B5CE-5164-F2D0A5FA9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13A61-06CB-2EAE-8600-18EE2EE1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983D1-300C-B2E5-2E26-B2849B99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40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55B8B-784B-7F09-BD3F-AAF230D4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91733-E032-ADC3-20FB-7EA744B83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53C4-7041-6C34-1E19-68A2B6C1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7167B-D5DF-4DC0-B318-ACA15C51B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66ECD-A562-0614-EB6D-CBFF7EC8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1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5A8F-011A-2BAF-35DE-BD45C52CE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09DC5-3CAA-B0DB-1AF6-663741512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7C815-FA49-AB95-9ED6-CE5E9E127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E44C2-267D-E1F3-BA7E-C96FA733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06AB6-CDFA-E4D5-F33B-CBD77704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F44C0-6AE4-CDC5-BDE3-CA99EF9B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0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C0B7-DF8C-1E47-672B-502CB656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55D60-3324-B4AE-2F27-D494D0038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64C92-F765-3A7D-6FEE-F015A31F3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043E2-6EFD-4DCF-0420-293BA2F64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B1FFC-4B63-D6BD-D6B7-0105489C0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2D2CF-9289-B074-CC51-059B3F88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A7728-DDDA-587F-435E-8AA56FC80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3EECE4-AE11-1B6C-7654-3C91809B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1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5E06-6FBB-21CE-2F93-7477B29A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04D68-E3BD-AE2C-34A6-4EBDFFBF4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F6BCD-2B9A-4783-90EB-217226583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207CE-1FE0-C432-2A2E-7A9B9A2C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CD0AE7-3103-677A-5C23-1B0C7EA8B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9B24B-1A31-C5E3-49BE-32AA426E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EE94C-6666-9C34-C3B7-B67A83FF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8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2F34-CD9D-D527-D6A1-ECB12AF9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A117-0133-3AE2-6CDB-BD16E1B1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C1A68-63FA-FB45-2E6E-51FF081B6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7328E-B9CA-D65B-0CE1-8DB337991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3493F-4FEB-B222-C2FD-14874C534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AE596-7CE8-2C32-D537-0E7ECF9C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3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8626-D9B6-41F1-A8E5-DA847AB1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BC994B-0C0A-9B31-C372-0D4F0DB2D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B29A4-B882-5F1C-9481-09F0E8155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2D195-BA38-3178-69C5-85F76193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E5C6-04C3-D482-8D20-0F9010FDC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40CBE-B871-6E14-C78E-30A1AF01E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20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DCE0C-81DF-0B58-B4A7-26E8AFB70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E0C85A-61E5-08E8-6D96-82F100624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84DF5-22D7-5B9B-813C-A4B668760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2B435-704C-6A52-D78B-4EF618A6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19F9A-9076-9807-44DF-4E3F6989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60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AEDFD-CE25-BA22-F793-2229BA75C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C1BF6-892D-1008-B020-31B1B9B01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8C542-C80C-DD35-E691-C7D49A104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CD2F9-03EF-0B5D-82EF-5A8FF6FE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58860-9B99-21E8-4ABE-94FBEA1D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4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AF8A52-BDF4-62F3-2467-1505FF7C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29ED5-F586-C10C-54E4-14084D771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6C0DA-1FF6-CBC7-1F66-D6BA9E495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62B63-B3BF-4CAF-99B3-3B7128B6CB1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D161D-3D91-5B4A-6A58-B3D6A1E52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3F63B-34D9-5014-97D8-3F6D8FF8C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6756B-2350-40F3-B45C-664E47442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7C31E8-A98F-E51A-CEF9-DEBB2B2FE4FF}"/>
                  </a:ext>
                </a:extLst>
              </p:cNvPr>
              <p:cNvSpPr txBox="1"/>
              <p:nvPr/>
            </p:nvSpPr>
            <p:spPr>
              <a:xfrm>
                <a:off x="783772" y="1379761"/>
                <a:ext cx="10961913" cy="3688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smart greenhouse uses an electric heater to regulate the internal air temperature. The control input is the heater command </a:t>
                </a:r>
                <a14:m>
                  <m:oMath xmlns:m="http://schemas.openxmlformats.org/officeDocument/2006/math"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and the measured output is the air temperature </a:t>
                </a:r>
                <a14:m>
                  <m:oMath xmlns:m="http://schemas.openxmlformats.org/officeDocument/2006/math"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b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discrete-time model of the system, identified from step-test data, is: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US" sz="24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𝐺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0.65</m:t>
                          </m:r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1−0.35</m:t>
                          </m:r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br>
                  <a:rPr lang="en-US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7C31E8-A98F-E51A-CEF9-DEBB2B2FE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72" y="1379761"/>
                <a:ext cx="10961913" cy="3688895"/>
              </a:xfrm>
              <a:prstGeom prst="rect">
                <a:avLst/>
              </a:prstGeom>
              <a:blipFill>
                <a:blip r:embed="rId2"/>
                <a:stretch>
                  <a:fillRect l="-890" t="-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5883856-8C5A-9ACE-1E9C-2B7E5B2A9BFB}"/>
              </a:ext>
            </a:extLst>
          </p:cNvPr>
          <p:cNvSpPr txBox="1"/>
          <p:nvPr/>
        </p:nvSpPr>
        <p:spPr>
          <a:xfrm>
            <a:off x="696685" y="597071"/>
            <a:ext cx="6096000" cy="67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3980068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F759FC-528C-6EE5-CB5E-D36CB2FFD5FD}"/>
                  </a:ext>
                </a:extLst>
              </p:cNvPr>
              <p:cNvSpPr txBox="1"/>
              <p:nvPr/>
            </p:nvSpPr>
            <p:spPr>
              <a:xfrm>
                <a:off x="435429" y="127267"/>
                <a:ext cx="11321142" cy="6652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indent="-457200">
                  <a:lnSpc>
                    <a:spcPct val="115000"/>
                  </a:lnSpc>
                  <a:spcAft>
                    <a:spcPts val="800"/>
                  </a:spcAft>
                  <a:buAutoNum type="alphaLcPeriod"/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model of the greenhouse is given as a discrete-time transfer function </a:t>
                </a:r>
                <a14:m>
                  <m:oMath xmlns:m="http://schemas.openxmlformats.org/officeDocument/2006/math"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sz="2400" b="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  <a:b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State two key pieces of information that this transfer function provides about the dynamic behavior of the greenhouse temperature system. </a:t>
                </a:r>
                <a:r>
                  <a:rPr lang="en-US" sz="2400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(2 marks)</a:t>
                </a:r>
              </a:p>
              <a:p>
                <a:pPr marL="457200" indent="-457200">
                  <a:lnSpc>
                    <a:spcPct val="115000"/>
                  </a:lnSpc>
                  <a:spcAft>
                    <a:spcPts val="800"/>
                  </a:spcAft>
                  <a:buFontTx/>
                  <a:buAutoNum type="alphaLcPeriod"/>
                </a:pPr>
                <a:r>
                  <a:rPr lang="en-US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Convert the model into a difference equation and compute the steady-state output for a constant input </a:t>
                </a:r>
                <a14:m>
                  <m:oMath xmlns:m="http://schemas.openxmlformats.org/officeDocument/2006/math"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sz="2400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)=3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Then, calculate the poles and briefly comment on the system’s stability.  </a:t>
                </a:r>
                <a:r>
                  <a:rPr lang="en-US" sz="2400" b="1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(4 marks)</a:t>
                </a:r>
              </a:p>
              <a:p>
                <a:pPr marL="457200" indent="-457200">
                  <a:lnSpc>
                    <a:spcPct val="115000"/>
                  </a:lnSpc>
                  <a:spcAft>
                    <a:spcPts val="800"/>
                  </a:spcAft>
                  <a:buFontTx/>
                  <a:buAutoNum type="alphaL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greenhouse model was obtained using the Least Squares system identification technique. Discuss one key benefit and one potential drawback of using this method for modeling practical greenhouse systems.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 marks)</a:t>
                </a:r>
              </a:p>
              <a:p>
                <a:pPr marL="457200" indent="-457200">
                  <a:lnSpc>
                    <a:spcPct val="115000"/>
                  </a:lnSpc>
                  <a:spcAft>
                    <a:spcPts val="800"/>
                  </a:spcAft>
                  <a:buFontTx/>
                  <a:buAutoNum type="alphaLcPeriod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PI controller is proposed in discrete-time as: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−1)+</m:t>
                      </m:r>
                      <m:sSub>
                        <m:sSubPr>
                          <m:ctrlPr>
                            <a:rPr lang="en-US" sz="2400" i="1"/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sz="2400" i="1"/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−1)]</m:t>
                      </m:r>
                    </m:oMath>
                  </m:oMathPara>
                </a14:m>
                <a:b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Using pole placement,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/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/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both closed-loop poles are placed 	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(8 marks)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 Explain why integral action is essential in maintaining the desired temperature within a   greenhouse, despite its tendency to reduce response speed. </a:t>
                </a:r>
                <a:r>
                  <a:rPr lang="en-US" sz="2400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(2 marks)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F759FC-528C-6EE5-CB5E-D36CB2FFD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29" y="127267"/>
                <a:ext cx="11321142" cy="6652077"/>
              </a:xfrm>
              <a:prstGeom prst="rect">
                <a:avLst/>
              </a:prstGeom>
              <a:blipFill>
                <a:blip r:embed="rId2"/>
                <a:stretch>
                  <a:fillRect l="-807" t="-367" r="-1399" b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176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DC0871-34A7-D910-CF36-3416BDF3C104}"/>
              </a:ext>
            </a:extLst>
          </p:cNvPr>
          <p:cNvSpPr txBox="1"/>
          <p:nvPr/>
        </p:nvSpPr>
        <p:spPr>
          <a:xfrm>
            <a:off x="1230084" y="481208"/>
            <a:ext cx="10341429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Consider the application of a PI controller with unity time delay as shown below.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A7EA1-39C5-C492-B1D4-2C6F19E7F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084" y="1567544"/>
            <a:ext cx="8562531" cy="28998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EF998B-E5ED-36E9-3388-40B085425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174026"/>
              </p:ext>
            </p:extLst>
          </p:nvPr>
        </p:nvGraphicFramePr>
        <p:xfrm>
          <a:off x="1110344" y="4601482"/>
          <a:ext cx="10461170" cy="48291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298818">
                  <a:extLst>
                    <a:ext uri="{9D8B030D-6E8A-4147-A177-3AD203B41FA5}">
                      <a16:colId xmlns:a16="http://schemas.microsoft.com/office/drawing/2014/main" val="4041661641"/>
                    </a:ext>
                  </a:extLst>
                </a:gridCol>
                <a:gridCol w="1162352">
                  <a:extLst>
                    <a:ext uri="{9D8B030D-6E8A-4147-A177-3AD203B41FA5}">
                      <a16:colId xmlns:a16="http://schemas.microsoft.com/office/drawing/2014/main" val="1217640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 Find the closed-loop transfer function relating to y(k) and y</a:t>
                      </a:r>
                      <a:r>
                        <a:rPr lang="en-US" sz="24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(k). 	 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44144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A4031F0-0830-B590-E20B-425F0E0A168F}"/>
              </a:ext>
            </a:extLst>
          </p:cNvPr>
          <p:cNvSpPr txBox="1"/>
          <p:nvPr/>
        </p:nvSpPr>
        <p:spPr>
          <a:xfrm>
            <a:off x="1110344" y="5290456"/>
            <a:ext cx="92746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Find the steady state gain of the closed-loop system and comment on its significance.   4</a:t>
            </a:r>
          </a:p>
        </p:txBody>
      </p:sp>
    </p:spTree>
    <p:extLst>
      <p:ext uri="{BB962C8B-B14F-4D97-AF65-F5344CB8AC3E}">
        <p14:creationId xmlns:p14="http://schemas.microsoft.com/office/powerpoint/2010/main" val="423275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8B6B3F-9E0E-A446-69EC-DE0FA078E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3239"/>
              </p:ext>
            </p:extLst>
          </p:nvPr>
        </p:nvGraphicFramePr>
        <p:xfrm>
          <a:off x="555171" y="0"/>
          <a:ext cx="11081657" cy="652399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850362">
                  <a:extLst>
                    <a:ext uri="{9D8B030D-6E8A-4147-A177-3AD203B41FA5}">
                      <a16:colId xmlns:a16="http://schemas.microsoft.com/office/drawing/2014/main" val="647807493"/>
                    </a:ext>
                  </a:extLst>
                </a:gridCol>
                <a:gridCol w="1231295">
                  <a:extLst>
                    <a:ext uri="{9D8B030D-6E8A-4147-A177-3AD203B41FA5}">
                      <a16:colId xmlns:a16="http://schemas.microsoft.com/office/drawing/2014/main" val="1983384143"/>
                    </a:ext>
                  </a:extLst>
                </a:gridCol>
              </a:tblGrid>
              <a:tr h="4479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5956518"/>
                  </a:ext>
                </a:extLst>
              </a:tr>
              <a:tr h="206912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Given the parameters of the model, i.e., a= -0.6 and b=3, Calculate the proportional and integral gains that yield closed-loop poles at 0.3 and 0.4 on the complex z-plane. 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049888"/>
                  </a:ext>
                </a:extLst>
              </a:tr>
              <a:tr h="156016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Using examples from real-world applications, explain why closed-loop systems are often preferred for systems that require precise and stable outputs.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4747980"/>
                  </a:ext>
                </a:extLst>
              </a:tr>
              <a:tr h="19748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e. Explain the key differences between minimal and non-minimal state-space representations in control systems. Provide a specific real-world example where a non-minimal state-space model is preferred and justify the choice of this representation in that scenario..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0799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847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430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Abrar, Muhammad</dc:creator>
  <cp:lastModifiedBy>Abrar, Muhammad</cp:lastModifiedBy>
  <cp:revision>1</cp:revision>
  <dcterms:created xsi:type="dcterms:W3CDTF">2025-11-12T11:45:50Z</dcterms:created>
  <dcterms:modified xsi:type="dcterms:W3CDTF">2025-11-12T13:09:51Z</dcterms:modified>
</cp:coreProperties>
</file>