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278516-05C4-4B39-A64C-FC446CA492FE}" v="77" dt="2025-11-10T15:36:18.2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74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663136-25C0-4930-A797-CBA2974C293C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6108628-82B2-43DB-B942-62C241EF6983}">
      <dgm:prSet/>
      <dgm:spPr/>
      <dgm:t>
        <a:bodyPr/>
        <a:lstStyle/>
        <a:p>
          <a:r>
            <a:rPr lang="en-US" b="1"/>
            <a:t>PI control removes steady-state error.</a:t>
          </a:r>
          <a:endParaRPr lang="en-US"/>
        </a:p>
      </dgm:t>
    </dgm:pt>
    <dgm:pt modelId="{C764F190-E6A0-4EF8-B39D-982F626AB414}" type="parTrans" cxnId="{385AB439-A010-4184-9FF0-326BBC6BEF44}">
      <dgm:prSet/>
      <dgm:spPr/>
      <dgm:t>
        <a:bodyPr/>
        <a:lstStyle/>
        <a:p>
          <a:endParaRPr lang="en-US"/>
        </a:p>
      </dgm:t>
    </dgm:pt>
    <dgm:pt modelId="{CA44DA94-81F2-401C-918E-DD3D0DA5C4DC}" type="sibTrans" cxnId="{385AB439-A010-4184-9FF0-326BBC6BEF44}">
      <dgm:prSet/>
      <dgm:spPr/>
      <dgm:t>
        <a:bodyPr/>
        <a:lstStyle/>
        <a:p>
          <a:endParaRPr lang="en-US"/>
        </a:p>
      </dgm:t>
    </dgm:pt>
    <dgm:pt modelId="{CE253208-7AC8-4F56-A94F-8C53DB2AF651}">
      <dgm:prSet/>
      <dgm:spPr/>
      <dgm:t>
        <a:bodyPr/>
        <a:lstStyle/>
        <a:p>
          <a:r>
            <a:rPr lang="en-US" b="1"/>
            <a:t>PIP extends PI by adding lagged variable feedback.</a:t>
          </a:r>
          <a:endParaRPr lang="en-US"/>
        </a:p>
      </dgm:t>
    </dgm:pt>
    <dgm:pt modelId="{2C6842F8-9904-400D-975F-A0F54B69892C}" type="parTrans" cxnId="{15A3B434-03F7-476D-8618-001F6837B66C}">
      <dgm:prSet/>
      <dgm:spPr/>
      <dgm:t>
        <a:bodyPr/>
        <a:lstStyle/>
        <a:p>
          <a:endParaRPr lang="en-US"/>
        </a:p>
      </dgm:t>
    </dgm:pt>
    <dgm:pt modelId="{A6C4DDD4-E223-4D7A-B066-D11B5E8532EE}" type="sibTrans" cxnId="{15A3B434-03F7-476D-8618-001F6837B66C}">
      <dgm:prSet/>
      <dgm:spPr/>
      <dgm:t>
        <a:bodyPr/>
        <a:lstStyle/>
        <a:p>
          <a:endParaRPr lang="en-US"/>
        </a:p>
      </dgm:t>
    </dgm:pt>
    <dgm:pt modelId="{454A235F-935B-4668-A108-9AF8657FFA2F}">
      <dgm:prSet/>
      <dgm:spPr/>
      <dgm:t>
        <a:bodyPr/>
        <a:lstStyle/>
        <a:p>
          <a:r>
            <a:rPr lang="en-US" b="1"/>
            <a:t>NMSS allows simple digital implementation of control laws.</a:t>
          </a:r>
          <a:endParaRPr lang="en-US"/>
        </a:p>
      </dgm:t>
    </dgm:pt>
    <dgm:pt modelId="{FF48191F-6F81-456C-829C-5FA241E970C8}" type="parTrans" cxnId="{07599DB2-E93C-425C-B229-8956F929473B}">
      <dgm:prSet/>
      <dgm:spPr/>
      <dgm:t>
        <a:bodyPr/>
        <a:lstStyle/>
        <a:p>
          <a:endParaRPr lang="en-US"/>
        </a:p>
      </dgm:t>
    </dgm:pt>
    <dgm:pt modelId="{874A0B0B-0066-4B84-BD7A-92CCA1838C21}" type="sibTrans" cxnId="{07599DB2-E93C-425C-B229-8956F929473B}">
      <dgm:prSet/>
      <dgm:spPr/>
      <dgm:t>
        <a:bodyPr/>
        <a:lstStyle/>
        <a:p>
          <a:endParaRPr lang="en-US"/>
        </a:p>
      </dgm:t>
    </dgm:pt>
    <dgm:pt modelId="{A2723CFD-76A1-4BEC-AEBF-9B7A758109F7}">
      <dgm:prSet/>
      <dgm:spPr/>
      <dgm:t>
        <a:bodyPr/>
        <a:lstStyle/>
        <a:p>
          <a:r>
            <a:rPr lang="en-US" b="1"/>
            <a:t>Pole placement gives direct control over system speed.</a:t>
          </a:r>
          <a:endParaRPr lang="en-US"/>
        </a:p>
      </dgm:t>
    </dgm:pt>
    <dgm:pt modelId="{2EA3630C-C634-4810-B0DE-107C7E75F10E}" type="parTrans" cxnId="{46C9851B-32E5-4051-93FA-672702B141EE}">
      <dgm:prSet/>
      <dgm:spPr/>
      <dgm:t>
        <a:bodyPr/>
        <a:lstStyle/>
        <a:p>
          <a:endParaRPr lang="en-US"/>
        </a:p>
      </dgm:t>
    </dgm:pt>
    <dgm:pt modelId="{F7C731EB-FC1B-4F21-ABBF-4989D51BA887}" type="sibTrans" cxnId="{46C9851B-32E5-4051-93FA-672702B141EE}">
      <dgm:prSet/>
      <dgm:spPr/>
      <dgm:t>
        <a:bodyPr/>
        <a:lstStyle/>
        <a:p>
          <a:endParaRPr lang="en-US"/>
        </a:p>
      </dgm:t>
    </dgm:pt>
    <dgm:pt modelId="{48560FBF-8324-4936-8FA5-EDF03AAC46A8}">
      <dgm:prSet/>
      <dgm:spPr/>
      <dgm:t>
        <a:bodyPr/>
        <a:lstStyle/>
        <a:p>
          <a:r>
            <a:rPr lang="en-US" b="1"/>
            <a:t>Balance performance and robustness for real-world success.</a:t>
          </a:r>
          <a:endParaRPr lang="en-US"/>
        </a:p>
      </dgm:t>
    </dgm:pt>
    <dgm:pt modelId="{BB3BDB2C-CDD3-42B0-BE41-FECB585C3A93}" type="parTrans" cxnId="{05A83E8D-D9CB-4422-BF74-58D35C9DE68D}">
      <dgm:prSet/>
      <dgm:spPr/>
      <dgm:t>
        <a:bodyPr/>
        <a:lstStyle/>
        <a:p>
          <a:endParaRPr lang="en-US"/>
        </a:p>
      </dgm:t>
    </dgm:pt>
    <dgm:pt modelId="{50A89628-D9C7-4873-9E1D-9EF30655A41F}" type="sibTrans" cxnId="{05A83E8D-D9CB-4422-BF74-58D35C9DE68D}">
      <dgm:prSet/>
      <dgm:spPr/>
      <dgm:t>
        <a:bodyPr/>
        <a:lstStyle/>
        <a:p>
          <a:endParaRPr lang="en-US"/>
        </a:p>
      </dgm:t>
    </dgm:pt>
    <dgm:pt modelId="{09520565-09AD-4E58-A73E-B5E59C1B8EAB}" type="pres">
      <dgm:prSet presAssocID="{1B663136-25C0-4930-A797-CBA2974C293C}" presName="vert0" presStyleCnt="0">
        <dgm:presLayoutVars>
          <dgm:dir/>
          <dgm:animOne val="branch"/>
          <dgm:animLvl val="lvl"/>
        </dgm:presLayoutVars>
      </dgm:prSet>
      <dgm:spPr/>
    </dgm:pt>
    <dgm:pt modelId="{E3DD0072-5E3D-4F40-A1DD-42C579E70800}" type="pres">
      <dgm:prSet presAssocID="{26108628-82B2-43DB-B942-62C241EF6983}" presName="thickLine" presStyleLbl="alignNode1" presStyleIdx="0" presStyleCnt="5"/>
      <dgm:spPr/>
    </dgm:pt>
    <dgm:pt modelId="{5073B113-1A37-4C55-AF0A-8536793FDBD8}" type="pres">
      <dgm:prSet presAssocID="{26108628-82B2-43DB-B942-62C241EF6983}" presName="horz1" presStyleCnt="0"/>
      <dgm:spPr/>
    </dgm:pt>
    <dgm:pt modelId="{9786E0B5-1738-4313-B4D2-EC19196CE297}" type="pres">
      <dgm:prSet presAssocID="{26108628-82B2-43DB-B942-62C241EF6983}" presName="tx1" presStyleLbl="revTx" presStyleIdx="0" presStyleCnt="5"/>
      <dgm:spPr/>
    </dgm:pt>
    <dgm:pt modelId="{9A40D955-F109-43AE-A625-1F2FA1EECB66}" type="pres">
      <dgm:prSet presAssocID="{26108628-82B2-43DB-B942-62C241EF6983}" presName="vert1" presStyleCnt="0"/>
      <dgm:spPr/>
    </dgm:pt>
    <dgm:pt modelId="{24A751C1-B022-4855-9048-E1A92AEB6A0A}" type="pres">
      <dgm:prSet presAssocID="{CE253208-7AC8-4F56-A94F-8C53DB2AF651}" presName="thickLine" presStyleLbl="alignNode1" presStyleIdx="1" presStyleCnt="5"/>
      <dgm:spPr/>
    </dgm:pt>
    <dgm:pt modelId="{E347C8DD-117C-4729-877C-C0ACBEF282E4}" type="pres">
      <dgm:prSet presAssocID="{CE253208-7AC8-4F56-A94F-8C53DB2AF651}" presName="horz1" presStyleCnt="0"/>
      <dgm:spPr/>
    </dgm:pt>
    <dgm:pt modelId="{4D6301B7-DAD3-4E1B-BA43-331B293108E8}" type="pres">
      <dgm:prSet presAssocID="{CE253208-7AC8-4F56-A94F-8C53DB2AF651}" presName="tx1" presStyleLbl="revTx" presStyleIdx="1" presStyleCnt="5"/>
      <dgm:spPr/>
    </dgm:pt>
    <dgm:pt modelId="{69EAF7B6-1938-4DEC-8A9F-B0785FB3BE35}" type="pres">
      <dgm:prSet presAssocID="{CE253208-7AC8-4F56-A94F-8C53DB2AF651}" presName="vert1" presStyleCnt="0"/>
      <dgm:spPr/>
    </dgm:pt>
    <dgm:pt modelId="{594387B2-0A47-47B9-B9EB-F96F75DBA603}" type="pres">
      <dgm:prSet presAssocID="{454A235F-935B-4668-A108-9AF8657FFA2F}" presName="thickLine" presStyleLbl="alignNode1" presStyleIdx="2" presStyleCnt="5"/>
      <dgm:spPr/>
    </dgm:pt>
    <dgm:pt modelId="{5C8D510C-60F7-47FB-9D0B-7083DE5900A8}" type="pres">
      <dgm:prSet presAssocID="{454A235F-935B-4668-A108-9AF8657FFA2F}" presName="horz1" presStyleCnt="0"/>
      <dgm:spPr/>
    </dgm:pt>
    <dgm:pt modelId="{FFCD6659-6277-421B-8889-038E043B3ED7}" type="pres">
      <dgm:prSet presAssocID="{454A235F-935B-4668-A108-9AF8657FFA2F}" presName="tx1" presStyleLbl="revTx" presStyleIdx="2" presStyleCnt="5"/>
      <dgm:spPr/>
    </dgm:pt>
    <dgm:pt modelId="{434DB18E-EA31-4567-A5E9-CC0867234726}" type="pres">
      <dgm:prSet presAssocID="{454A235F-935B-4668-A108-9AF8657FFA2F}" presName="vert1" presStyleCnt="0"/>
      <dgm:spPr/>
    </dgm:pt>
    <dgm:pt modelId="{3A0CF9B7-7007-48FE-AE5C-D5203DC07FFF}" type="pres">
      <dgm:prSet presAssocID="{A2723CFD-76A1-4BEC-AEBF-9B7A758109F7}" presName="thickLine" presStyleLbl="alignNode1" presStyleIdx="3" presStyleCnt="5"/>
      <dgm:spPr/>
    </dgm:pt>
    <dgm:pt modelId="{94FF0FEC-13CC-49FE-8EDE-0AB60519678C}" type="pres">
      <dgm:prSet presAssocID="{A2723CFD-76A1-4BEC-AEBF-9B7A758109F7}" presName="horz1" presStyleCnt="0"/>
      <dgm:spPr/>
    </dgm:pt>
    <dgm:pt modelId="{4CD32599-A460-41D0-B116-67C683748305}" type="pres">
      <dgm:prSet presAssocID="{A2723CFD-76A1-4BEC-AEBF-9B7A758109F7}" presName="tx1" presStyleLbl="revTx" presStyleIdx="3" presStyleCnt="5"/>
      <dgm:spPr/>
    </dgm:pt>
    <dgm:pt modelId="{10412B2F-CD66-4E06-B9F5-A302CDD8CBD1}" type="pres">
      <dgm:prSet presAssocID="{A2723CFD-76A1-4BEC-AEBF-9B7A758109F7}" presName="vert1" presStyleCnt="0"/>
      <dgm:spPr/>
    </dgm:pt>
    <dgm:pt modelId="{8FB10FF1-C842-4536-84F5-81EC0B26103C}" type="pres">
      <dgm:prSet presAssocID="{48560FBF-8324-4936-8FA5-EDF03AAC46A8}" presName="thickLine" presStyleLbl="alignNode1" presStyleIdx="4" presStyleCnt="5"/>
      <dgm:spPr/>
    </dgm:pt>
    <dgm:pt modelId="{9310C1D4-E360-46F9-97F1-3F59413153BF}" type="pres">
      <dgm:prSet presAssocID="{48560FBF-8324-4936-8FA5-EDF03AAC46A8}" presName="horz1" presStyleCnt="0"/>
      <dgm:spPr/>
    </dgm:pt>
    <dgm:pt modelId="{C7E96611-46DD-45EE-8CC2-E55D9F84882F}" type="pres">
      <dgm:prSet presAssocID="{48560FBF-8324-4936-8FA5-EDF03AAC46A8}" presName="tx1" presStyleLbl="revTx" presStyleIdx="4" presStyleCnt="5"/>
      <dgm:spPr/>
    </dgm:pt>
    <dgm:pt modelId="{7BF5A930-6FDB-426A-B5FF-26DA776FE7C1}" type="pres">
      <dgm:prSet presAssocID="{48560FBF-8324-4936-8FA5-EDF03AAC46A8}" presName="vert1" presStyleCnt="0"/>
      <dgm:spPr/>
    </dgm:pt>
  </dgm:ptLst>
  <dgm:cxnLst>
    <dgm:cxn modelId="{D057660C-9939-4293-BBA6-ECE55914CE54}" type="presOf" srcId="{1B663136-25C0-4930-A797-CBA2974C293C}" destId="{09520565-09AD-4E58-A73E-B5E59C1B8EAB}" srcOrd="0" destOrd="0" presId="urn:microsoft.com/office/officeart/2008/layout/LinedList"/>
    <dgm:cxn modelId="{46C9851B-32E5-4051-93FA-672702B141EE}" srcId="{1B663136-25C0-4930-A797-CBA2974C293C}" destId="{A2723CFD-76A1-4BEC-AEBF-9B7A758109F7}" srcOrd="3" destOrd="0" parTransId="{2EA3630C-C634-4810-B0DE-107C7E75F10E}" sibTransId="{F7C731EB-FC1B-4F21-ABBF-4989D51BA887}"/>
    <dgm:cxn modelId="{58575B1E-3BF4-42B5-9AAC-AE18760A5A0E}" type="presOf" srcId="{CE253208-7AC8-4F56-A94F-8C53DB2AF651}" destId="{4D6301B7-DAD3-4E1B-BA43-331B293108E8}" srcOrd="0" destOrd="0" presId="urn:microsoft.com/office/officeart/2008/layout/LinedList"/>
    <dgm:cxn modelId="{15A3B434-03F7-476D-8618-001F6837B66C}" srcId="{1B663136-25C0-4930-A797-CBA2974C293C}" destId="{CE253208-7AC8-4F56-A94F-8C53DB2AF651}" srcOrd="1" destOrd="0" parTransId="{2C6842F8-9904-400D-975F-A0F54B69892C}" sibTransId="{A6C4DDD4-E223-4D7A-B066-D11B5E8532EE}"/>
    <dgm:cxn modelId="{385AB439-A010-4184-9FF0-326BBC6BEF44}" srcId="{1B663136-25C0-4930-A797-CBA2974C293C}" destId="{26108628-82B2-43DB-B942-62C241EF6983}" srcOrd="0" destOrd="0" parTransId="{C764F190-E6A0-4EF8-B39D-982F626AB414}" sibTransId="{CA44DA94-81F2-401C-918E-DD3D0DA5C4DC}"/>
    <dgm:cxn modelId="{53897F58-3D6B-4EE0-94B3-D2750D0B4092}" type="presOf" srcId="{26108628-82B2-43DB-B942-62C241EF6983}" destId="{9786E0B5-1738-4313-B4D2-EC19196CE297}" srcOrd="0" destOrd="0" presId="urn:microsoft.com/office/officeart/2008/layout/LinedList"/>
    <dgm:cxn modelId="{05A83E8D-D9CB-4422-BF74-58D35C9DE68D}" srcId="{1B663136-25C0-4930-A797-CBA2974C293C}" destId="{48560FBF-8324-4936-8FA5-EDF03AAC46A8}" srcOrd="4" destOrd="0" parTransId="{BB3BDB2C-CDD3-42B0-BE41-FECB585C3A93}" sibTransId="{50A89628-D9C7-4873-9E1D-9EF30655A41F}"/>
    <dgm:cxn modelId="{933A6C8E-FC5A-4B5F-BBEA-C5F6C8874CDB}" type="presOf" srcId="{454A235F-935B-4668-A108-9AF8657FFA2F}" destId="{FFCD6659-6277-421B-8889-038E043B3ED7}" srcOrd="0" destOrd="0" presId="urn:microsoft.com/office/officeart/2008/layout/LinedList"/>
    <dgm:cxn modelId="{AB079B97-B389-4E64-90BF-82EC9295C68C}" type="presOf" srcId="{48560FBF-8324-4936-8FA5-EDF03AAC46A8}" destId="{C7E96611-46DD-45EE-8CC2-E55D9F84882F}" srcOrd="0" destOrd="0" presId="urn:microsoft.com/office/officeart/2008/layout/LinedList"/>
    <dgm:cxn modelId="{07599DB2-E93C-425C-B229-8956F929473B}" srcId="{1B663136-25C0-4930-A797-CBA2974C293C}" destId="{454A235F-935B-4668-A108-9AF8657FFA2F}" srcOrd="2" destOrd="0" parTransId="{FF48191F-6F81-456C-829C-5FA241E970C8}" sibTransId="{874A0B0B-0066-4B84-BD7A-92CCA1838C21}"/>
    <dgm:cxn modelId="{DCB36CBD-12ED-447C-916F-F2D95C74A840}" type="presOf" srcId="{A2723CFD-76A1-4BEC-AEBF-9B7A758109F7}" destId="{4CD32599-A460-41D0-B116-67C683748305}" srcOrd="0" destOrd="0" presId="urn:microsoft.com/office/officeart/2008/layout/LinedList"/>
    <dgm:cxn modelId="{BD571F12-F34C-4EED-98CB-99A01B48DB54}" type="presParOf" srcId="{09520565-09AD-4E58-A73E-B5E59C1B8EAB}" destId="{E3DD0072-5E3D-4F40-A1DD-42C579E70800}" srcOrd="0" destOrd="0" presId="urn:microsoft.com/office/officeart/2008/layout/LinedList"/>
    <dgm:cxn modelId="{62806962-30F4-459E-8180-292A2F80F017}" type="presParOf" srcId="{09520565-09AD-4E58-A73E-B5E59C1B8EAB}" destId="{5073B113-1A37-4C55-AF0A-8536793FDBD8}" srcOrd="1" destOrd="0" presId="urn:microsoft.com/office/officeart/2008/layout/LinedList"/>
    <dgm:cxn modelId="{9D5229D1-0DF6-4A9E-B690-AC66E7481F15}" type="presParOf" srcId="{5073B113-1A37-4C55-AF0A-8536793FDBD8}" destId="{9786E0B5-1738-4313-B4D2-EC19196CE297}" srcOrd="0" destOrd="0" presId="urn:microsoft.com/office/officeart/2008/layout/LinedList"/>
    <dgm:cxn modelId="{7DE874D3-D5E4-46BC-B7BB-6B319B90CEFF}" type="presParOf" srcId="{5073B113-1A37-4C55-AF0A-8536793FDBD8}" destId="{9A40D955-F109-43AE-A625-1F2FA1EECB66}" srcOrd="1" destOrd="0" presId="urn:microsoft.com/office/officeart/2008/layout/LinedList"/>
    <dgm:cxn modelId="{2181BCCB-B73C-49C6-A51C-9FA501BBDB86}" type="presParOf" srcId="{09520565-09AD-4E58-A73E-B5E59C1B8EAB}" destId="{24A751C1-B022-4855-9048-E1A92AEB6A0A}" srcOrd="2" destOrd="0" presId="urn:microsoft.com/office/officeart/2008/layout/LinedList"/>
    <dgm:cxn modelId="{B8644BE1-0AEE-47DD-B71B-45A51EE1363A}" type="presParOf" srcId="{09520565-09AD-4E58-A73E-B5E59C1B8EAB}" destId="{E347C8DD-117C-4729-877C-C0ACBEF282E4}" srcOrd="3" destOrd="0" presId="urn:microsoft.com/office/officeart/2008/layout/LinedList"/>
    <dgm:cxn modelId="{EC97DEF4-E4FD-4884-9040-BC4401CF9345}" type="presParOf" srcId="{E347C8DD-117C-4729-877C-C0ACBEF282E4}" destId="{4D6301B7-DAD3-4E1B-BA43-331B293108E8}" srcOrd="0" destOrd="0" presId="urn:microsoft.com/office/officeart/2008/layout/LinedList"/>
    <dgm:cxn modelId="{50121A8A-E2D4-4828-9F74-ADA316F44C33}" type="presParOf" srcId="{E347C8DD-117C-4729-877C-C0ACBEF282E4}" destId="{69EAF7B6-1938-4DEC-8A9F-B0785FB3BE35}" srcOrd="1" destOrd="0" presId="urn:microsoft.com/office/officeart/2008/layout/LinedList"/>
    <dgm:cxn modelId="{510F1455-3307-4984-B353-FAA41C586ABE}" type="presParOf" srcId="{09520565-09AD-4E58-A73E-B5E59C1B8EAB}" destId="{594387B2-0A47-47B9-B9EB-F96F75DBA603}" srcOrd="4" destOrd="0" presId="urn:microsoft.com/office/officeart/2008/layout/LinedList"/>
    <dgm:cxn modelId="{5D0A4690-2754-4FF7-8195-3B2CA6761D7C}" type="presParOf" srcId="{09520565-09AD-4E58-A73E-B5E59C1B8EAB}" destId="{5C8D510C-60F7-47FB-9D0B-7083DE5900A8}" srcOrd="5" destOrd="0" presId="urn:microsoft.com/office/officeart/2008/layout/LinedList"/>
    <dgm:cxn modelId="{A2CAC68F-E153-4785-817E-6018BC10C097}" type="presParOf" srcId="{5C8D510C-60F7-47FB-9D0B-7083DE5900A8}" destId="{FFCD6659-6277-421B-8889-038E043B3ED7}" srcOrd="0" destOrd="0" presId="urn:microsoft.com/office/officeart/2008/layout/LinedList"/>
    <dgm:cxn modelId="{CC857D7F-901F-4E80-A2F3-3799C91ECD66}" type="presParOf" srcId="{5C8D510C-60F7-47FB-9D0B-7083DE5900A8}" destId="{434DB18E-EA31-4567-A5E9-CC0867234726}" srcOrd="1" destOrd="0" presId="urn:microsoft.com/office/officeart/2008/layout/LinedList"/>
    <dgm:cxn modelId="{7A1784A5-E620-43F4-A5D9-9A73548DFDA1}" type="presParOf" srcId="{09520565-09AD-4E58-A73E-B5E59C1B8EAB}" destId="{3A0CF9B7-7007-48FE-AE5C-D5203DC07FFF}" srcOrd="6" destOrd="0" presId="urn:microsoft.com/office/officeart/2008/layout/LinedList"/>
    <dgm:cxn modelId="{1BF31B32-2D26-487F-83F8-A6D6A9F9DD27}" type="presParOf" srcId="{09520565-09AD-4E58-A73E-B5E59C1B8EAB}" destId="{94FF0FEC-13CC-49FE-8EDE-0AB60519678C}" srcOrd="7" destOrd="0" presId="urn:microsoft.com/office/officeart/2008/layout/LinedList"/>
    <dgm:cxn modelId="{655A8623-2352-4769-BA94-83A8819187BE}" type="presParOf" srcId="{94FF0FEC-13CC-49FE-8EDE-0AB60519678C}" destId="{4CD32599-A460-41D0-B116-67C683748305}" srcOrd="0" destOrd="0" presId="urn:microsoft.com/office/officeart/2008/layout/LinedList"/>
    <dgm:cxn modelId="{BE244A05-ECC6-40A4-B06E-740E7FF1EB96}" type="presParOf" srcId="{94FF0FEC-13CC-49FE-8EDE-0AB60519678C}" destId="{10412B2F-CD66-4E06-B9F5-A302CDD8CBD1}" srcOrd="1" destOrd="0" presId="urn:microsoft.com/office/officeart/2008/layout/LinedList"/>
    <dgm:cxn modelId="{64FC3C1E-9CC6-453A-9076-197CC95F6154}" type="presParOf" srcId="{09520565-09AD-4E58-A73E-B5E59C1B8EAB}" destId="{8FB10FF1-C842-4536-84F5-81EC0B26103C}" srcOrd="8" destOrd="0" presId="urn:microsoft.com/office/officeart/2008/layout/LinedList"/>
    <dgm:cxn modelId="{3BB0BCEC-054D-42AF-9624-B4F0837C13E7}" type="presParOf" srcId="{09520565-09AD-4E58-A73E-B5E59C1B8EAB}" destId="{9310C1D4-E360-46F9-97F1-3F59413153BF}" srcOrd="9" destOrd="0" presId="urn:microsoft.com/office/officeart/2008/layout/LinedList"/>
    <dgm:cxn modelId="{952C8810-AF6A-4F65-8DB0-CAC2D330ABE4}" type="presParOf" srcId="{9310C1D4-E360-46F9-97F1-3F59413153BF}" destId="{C7E96611-46DD-45EE-8CC2-E55D9F84882F}" srcOrd="0" destOrd="0" presId="urn:microsoft.com/office/officeart/2008/layout/LinedList"/>
    <dgm:cxn modelId="{FF7BBF2C-A65C-4F96-ABEB-56B536A2CD70}" type="presParOf" srcId="{9310C1D4-E360-46F9-97F1-3F59413153BF}" destId="{7BF5A930-6FDB-426A-B5FF-26DA776FE7C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DD0072-5E3D-4F40-A1DD-42C579E70800}">
      <dsp:nvSpPr>
        <dsp:cNvPr id="0" name=""/>
        <dsp:cNvSpPr/>
      </dsp:nvSpPr>
      <dsp:spPr>
        <a:xfrm>
          <a:off x="0" y="675"/>
          <a:ext cx="517538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86E0B5-1738-4313-B4D2-EC19196CE297}">
      <dsp:nvSpPr>
        <dsp:cNvPr id="0" name=""/>
        <dsp:cNvSpPr/>
      </dsp:nvSpPr>
      <dsp:spPr>
        <a:xfrm>
          <a:off x="0" y="675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PI control removes steady-state error.</a:t>
          </a:r>
          <a:endParaRPr lang="en-US" sz="2400" kern="1200"/>
        </a:p>
      </dsp:txBody>
      <dsp:txXfrm>
        <a:off x="0" y="675"/>
        <a:ext cx="5175384" cy="1106957"/>
      </dsp:txXfrm>
    </dsp:sp>
    <dsp:sp modelId="{24A751C1-B022-4855-9048-E1A92AEB6A0A}">
      <dsp:nvSpPr>
        <dsp:cNvPr id="0" name=""/>
        <dsp:cNvSpPr/>
      </dsp:nvSpPr>
      <dsp:spPr>
        <a:xfrm>
          <a:off x="0" y="1107633"/>
          <a:ext cx="5175384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6301B7-DAD3-4E1B-BA43-331B293108E8}">
      <dsp:nvSpPr>
        <dsp:cNvPr id="0" name=""/>
        <dsp:cNvSpPr/>
      </dsp:nvSpPr>
      <dsp:spPr>
        <a:xfrm>
          <a:off x="0" y="1107633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PIP extends PI by adding lagged variable feedback.</a:t>
          </a:r>
          <a:endParaRPr lang="en-US" sz="2400" kern="1200"/>
        </a:p>
      </dsp:txBody>
      <dsp:txXfrm>
        <a:off x="0" y="1107633"/>
        <a:ext cx="5175384" cy="1106957"/>
      </dsp:txXfrm>
    </dsp:sp>
    <dsp:sp modelId="{594387B2-0A47-47B9-B9EB-F96F75DBA603}">
      <dsp:nvSpPr>
        <dsp:cNvPr id="0" name=""/>
        <dsp:cNvSpPr/>
      </dsp:nvSpPr>
      <dsp:spPr>
        <a:xfrm>
          <a:off x="0" y="221459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CD6659-6277-421B-8889-038E043B3ED7}">
      <dsp:nvSpPr>
        <dsp:cNvPr id="0" name=""/>
        <dsp:cNvSpPr/>
      </dsp:nvSpPr>
      <dsp:spPr>
        <a:xfrm>
          <a:off x="0" y="2214591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NMSS allows simple digital implementation of control laws.</a:t>
          </a:r>
          <a:endParaRPr lang="en-US" sz="2400" kern="1200"/>
        </a:p>
      </dsp:txBody>
      <dsp:txXfrm>
        <a:off x="0" y="2214591"/>
        <a:ext cx="5175384" cy="1106957"/>
      </dsp:txXfrm>
    </dsp:sp>
    <dsp:sp modelId="{3A0CF9B7-7007-48FE-AE5C-D5203DC07FFF}">
      <dsp:nvSpPr>
        <dsp:cNvPr id="0" name=""/>
        <dsp:cNvSpPr/>
      </dsp:nvSpPr>
      <dsp:spPr>
        <a:xfrm>
          <a:off x="0" y="3321549"/>
          <a:ext cx="5175384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D32599-A460-41D0-B116-67C683748305}">
      <dsp:nvSpPr>
        <dsp:cNvPr id="0" name=""/>
        <dsp:cNvSpPr/>
      </dsp:nvSpPr>
      <dsp:spPr>
        <a:xfrm>
          <a:off x="0" y="3321549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Pole placement gives direct control over system speed.</a:t>
          </a:r>
          <a:endParaRPr lang="en-US" sz="2400" kern="1200"/>
        </a:p>
      </dsp:txBody>
      <dsp:txXfrm>
        <a:off x="0" y="3321549"/>
        <a:ext cx="5175384" cy="1106957"/>
      </dsp:txXfrm>
    </dsp:sp>
    <dsp:sp modelId="{8FB10FF1-C842-4536-84F5-81EC0B26103C}">
      <dsp:nvSpPr>
        <dsp:cNvPr id="0" name=""/>
        <dsp:cNvSpPr/>
      </dsp:nvSpPr>
      <dsp:spPr>
        <a:xfrm>
          <a:off x="0" y="4428507"/>
          <a:ext cx="517538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E96611-46DD-45EE-8CC2-E55D9F84882F}">
      <dsp:nvSpPr>
        <dsp:cNvPr id="0" name=""/>
        <dsp:cNvSpPr/>
      </dsp:nvSpPr>
      <dsp:spPr>
        <a:xfrm>
          <a:off x="0" y="4428507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Balance performance and robustness for real-world success.</a:t>
          </a:r>
          <a:endParaRPr lang="en-US" sz="2400" kern="1200"/>
        </a:p>
      </dsp:txBody>
      <dsp:txXfrm>
        <a:off x="0" y="4428507"/>
        <a:ext cx="5175384" cy="11069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CB182-9FAC-48E9-9ACE-499DF546205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C651B-EF6F-4015-9A61-68B1A0067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725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CB182-9FAC-48E9-9ACE-499DF546205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C651B-EF6F-4015-9A61-68B1A0067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441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CB182-9FAC-48E9-9ACE-499DF546205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C651B-EF6F-4015-9A61-68B1A0067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04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CB182-9FAC-48E9-9ACE-499DF546205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C651B-EF6F-4015-9A61-68B1A0067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106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CB182-9FAC-48E9-9ACE-499DF546205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C651B-EF6F-4015-9A61-68B1A0067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535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CB182-9FAC-48E9-9ACE-499DF546205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C651B-EF6F-4015-9A61-68B1A0067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460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CB182-9FAC-48E9-9ACE-499DF546205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C651B-EF6F-4015-9A61-68B1A0067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52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CB182-9FAC-48E9-9ACE-499DF546205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C651B-EF6F-4015-9A61-68B1A0067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860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CB182-9FAC-48E9-9ACE-499DF546205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C651B-EF6F-4015-9A61-68B1A0067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852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CB182-9FAC-48E9-9ACE-499DF546205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C651B-EF6F-4015-9A61-68B1A0067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890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CB182-9FAC-48E9-9ACE-499DF546205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C651B-EF6F-4015-9A61-68B1A0067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444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ECB182-9FAC-48E9-9ACE-499DF546205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1C651B-EF6F-4015-9A61-68B1A0067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85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82111C-96F0-01C5-5911-C10A89BF2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BE21C-7DF6-6E39-1A9B-A168FA6CAB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146" y="309296"/>
            <a:ext cx="5605629" cy="9941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85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Lecture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5AA5826-8C04-D9EA-48C4-7AEC8A0EF45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48721" y="1542754"/>
            <a:ext cx="5864167" cy="378822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34290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</a:rPr>
              <a:t>Review discrete-time modeling, feedback, and control.</a:t>
            </a:r>
          </a:p>
          <a:p>
            <a:pPr marL="34290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</a:rPr>
              <a:t>Practice translating between transfer functions, difference equations, and state-space models.</a:t>
            </a:r>
          </a:p>
          <a:p>
            <a:pPr marL="34290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</a:rPr>
              <a:t>Revise PI and PIP controller design and their effects on system dynamics.</a:t>
            </a:r>
          </a:p>
          <a:p>
            <a:pPr marL="34290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</a:rPr>
              <a:t>Understand how integral action ensures zero steady-state error.</a:t>
            </a:r>
          </a:p>
          <a:p>
            <a:pPr marL="34290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</a:rPr>
              <a:t>Discuss pole placement, controllability, and robustness in digital control.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8" name="Graphic 7" descr="Teacher">
            <a:extLst>
              <a:ext uri="{FF2B5EF4-FFF2-40B4-BE49-F238E27FC236}">
                <a16:creationId xmlns:a16="http://schemas.microsoft.com/office/drawing/2014/main" id="{4BBF0EBD-2FD4-15BA-BE9A-BE4F813355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527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A4348-CD44-DE2F-A654-B0A65FA235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07961"/>
            <a:ext cx="7772400" cy="880608"/>
          </a:xfrm>
        </p:spPr>
        <p:txBody>
          <a:bodyPr>
            <a:normAutofit/>
          </a:bodyPr>
          <a:lstStyle/>
          <a:p>
            <a:r>
              <a:rPr lang="en-US" sz="3600" dirty="0"/>
              <a:t>Discrete-Time Systems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2686E28-E29A-90FA-06A3-67BE8E44B328}"/>
                  </a:ext>
                </a:extLst>
              </p:cNvPr>
              <p:cNvSpPr txBox="1"/>
              <p:nvPr/>
            </p:nvSpPr>
            <p:spPr>
              <a:xfrm>
                <a:off x="685801" y="1209376"/>
                <a:ext cx="8109856" cy="45901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Systems are sampled → represented using the z-transform.</a:t>
                </a:r>
              </a:p>
              <a:p>
                <a:r>
                  <a:rPr lang="en-US" sz="2400" dirty="0"/>
                  <a:t>Typical model form: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ar-SA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SA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ctrlPr>
                                <a:rPr lang="ar-SA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ar-SA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SA" sz="24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ar-SA" sz="2400" b="0" i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SA" sz="2400" b="0" i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ar-SA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d>
                            <m:dPr>
                              <m:ctrlPr>
                                <a:rPr lang="ar-SA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ar-SA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SA" sz="24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ar-SA" sz="2400" b="0" i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SA" sz="2400" b="0" i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r>
                        <a:rPr lang="ar-SA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SA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SA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ar-SA" sz="2400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ar-SA" sz="24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SA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SA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ar-SA" sz="24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ar-SA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SA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ar-SA" sz="2400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SA" sz="24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ar-SA" sz="2400" b="0" i="0" smtClean="0">
                              <a:latin typeface="Cambria Math" panose="02040503050406030204" pitchFamily="18" charset="0"/>
                            </a:rPr>
                            <m:t>+⋯+</m:t>
                          </m:r>
                          <m:sSub>
                            <m:sSubPr>
                              <m:ctrlPr>
                                <a:rPr lang="ar-SA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SA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ar-SA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p>
                            <m:sSupPr>
                              <m:ctrlPr>
                                <a:rPr lang="ar-SA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SA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ar-SA" sz="2400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SA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</m:num>
                        <m:den>
                          <m:r>
                            <a:rPr lang="ar-SA" sz="24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SA" sz="24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SA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SA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ar-SA" sz="24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ar-SA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SA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ar-SA" sz="2400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SA" sz="24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ar-SA" sz="2400" b="0" i="0" smtClean="0">
                              <a:latin typeface="Cambria Math" panose="02040503050406030204" pitchFamily="18" charset="0"/>
                            </a:rPr>
                            <m:t>+⋯+</m:t>
                          </m:r>
                          <m:sSub>
                            <m:sSubPr>
                              <m:ctrlPr>
                                <a:rPr lang="ar-SA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SA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ar-SA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ar-SA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SA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ar-SA" sz="2400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SA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ar-SA" sz="2400" dirty="0"/>
              </a:p>
              <a:p>
                <a:r>
                  <a:rPr lang="en-US" sz="2400" dirty="0"/>
                  <a:t>Example: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ar-SA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SA" sz="24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SA" sz="2400" b="0" i="0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SA" sz="2400" b="0" i="0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sSup>
                            <m:sSupPr>
                              <m:ctrlPr>
                                <a:rPr lang="ar-SA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SA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ar-SA" sz="2400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SA" sz="24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num>
                        <m:den>
                          <m:r>
                            <a:rPr lang="ar-SA" sz="24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SA" sz="24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SA" sz="24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SA" sz="2400" b="0" i="0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SA" sz="24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ar-SA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SA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ar-SA" sz="2400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SA" sz="24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ar-SA" sz="2400" dirty="0"/>
              </a:p>
              <a:p>
                <a:r>
                  <a:rPr lang="ar-SA" sz="2400" dirty="0"/>
                  <a:t>→ </a:t>
                </a:r>
                <a:r>
                  <a:rPr lang="en-US" sz="2400" dirty="0"/>
                  <a:t>Difference equation:</a:t>
                </a:r>
              </a:p>
              <a:p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SA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SA" sz="2400" b="0" i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SA" sz="2400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SA" sz="2400" b="0" i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ar-SA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SA" sz="24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SA" sz="24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SA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SA" sz="2400" b="0" i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SA" sz="2400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SA" sz="2400" b="0" i="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ar-SA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SA" sz="24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SA" sz="24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ar-SA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2686E28-E29A-90FA-06A3-67BE8E44B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1" y="1209376"/>
                <a:ext cx="8109856" cy="4590103"/>
              </a:xfrm>
              <a:prstGeom prst="rect">
                <a:avLst/>
              </a:prstGeom>
              <a:blipFill>
                <a:blip r:embed="rId2"/>
                <a:stretch>
                  <a:fillRect l="-1278" t="-10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93E8893-5E2D-4D32-2944-252B1BFBB9BA}"/>
              </a:ext>
            </a:extLst>
          </p:cNvPr>
          <p:cNvSpPr txBox="1"/>
          <p:nvPr/>
        </p:nvSpPr>
        <p:spPr>
          <a:xfrm>
            <a:off x="859972" y="5799479"/>
            <a:ext cx="79465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What is the order of this system? What happens if the pole moves closer to 1?”</a:t>
            </a:r>
          </a:p>
        </p:txBody>
      </p:sp>
    </p:spTree>
    <p:extLst>
      <p:ext uri="{BB962C8B-B14F-4D97-AF65-F5344CB8AC3E}">
        <p14:creationId xmlns:p14="http://schemas.microsoft.com/office/powerpoint/2010/main" val="2663378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0F5A1-E8A6-45B3-1BEC-773937A39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46D9D-248A-9AEA-EA83-4C83262AB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546"/>
            <a:ext cx="7772400" cy="880608"/>
          </a:xfrm>
        </p:spPr>
        <p:txBody>
          <a:bodyPr>
            <a:normAutofit/>
          </a:bodyPr>
          <a:lstStyle/>
          <a:p>
            <a:r>
              <a:rPr lang="en-US" sz="3600" b="1" dirty="0"/>
              <a:t>Difference Equations &amp; System Order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2E456D1-8A73-9BC3-DD22-D938209646C0}"/>
                  </a:ext>
                </a:extLst>
              </p:cNvPr>
              <p:cNvSpPr txBox="1"/>
              <p:nvPr/>
            </p:nvSpPr>
            <p:spPr>
              <a:xfrm>
                <a:off x="685800" y="1447800"/>
                <a:ext cx="7968343" cy="37856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How to find system order: </a:t>
                </a:r>
                <a:r>
                  <a:rPr lang="en-US" sz="2400" dirty="0"/>
                  <a:t>The highest delay in the output determines the system’s order.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SA" sz="2400" b="0" i="0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ar-SA" sz="2400" b="0" i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SA" sz="2400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SA" sz="2400" b="0" i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SA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SA" sz="24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SA" sz="24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SA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SA" sz="2400" b="0" i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SA" sz="2400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SA" sz="2400" b="0" i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ar-SA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SA" sz="24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SA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ar-SA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SA" sz="2400" b="0" i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SA" sz="2400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SA" sz="2400" b="0" i="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ar-SA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SA" sz="24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SA" sz="24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  <a:p>
                <a:endParaRPr lang="ar-SA" sz="2400" dirty="0"/>
              </a:p>
              <a:p>
                <a:pPr algn="ctr"/>
                <a:r>
                  <a:rPr lang="en-US" sz="2400" dirty="0"/>
                  <a:t>2nd-order system due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ar-SA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SA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SA" sz="24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SA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ar-SA" sz="2400" dirty="0"/>
              </a:p>
              <a:p>
                <a:br>
                  <a:rPr lang="en-US" sz="2400" dirty="0"/>
                </a:br>
                <a:r>
                  <a:rPr lang="en-US" sz="2400" dirty="0"/>
                  <a:t>Convert the following to a transfer function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SA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SA" sz="2400" b="0" i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SA" sz="2400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SA" sz="2400" b="0" i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ar-SA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SA" sz="24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SA" sz="24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SA" sz="24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SA" sz="2400" b="0" i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SA" sz="2400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SA" sz="2400" b="0" i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SA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SA" sz="24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SA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ar-SA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SA" sz="2400" b="0" i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SA" sz="2400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SA" sz="2400" b="0" i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ar-SA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SA" sz="24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SA" sz="24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ar-SA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2E456D1-8A73-9BC3-DD22-D938209646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447800"/>
                <a:ext cx="7968343" cy="3785652"/>
              </a:xfrm>
              <a:prstGeom prst="rect">
                <a:avLst/>
              </a:prstGeom>
              <a:blipFill>
                <a:blip r:embed="rId2"/>
                <a:stretch>
                  <a:fillRect l="-1224" t="-1288" b="-6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8092AC0-191C-416F-052F-52D034406ADA}"/>
              </a:ext>
            </a:extLst>
          </p:cNvPr>
          <p:cNvSpPr txBox="1"/>
          <p:nvPr/>
        </p:nvSpPr>
        <p:spPr>
          <a:xfrm>
            <a:off x="968828" y="5562600"/>
            <a:ext cx="84146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How do the coefficients affect response speed and damping?</a:t>
            </a:r>
          </a:p>
        </p:txBody>
      </p:sp>
    </p:spTree>
    <p:extLst>
      <p:ext uri="{BB962C8B-B14F-4D97-AF65-F5344CB8AC3E}">
        <p14:creationId xmlns:p14="http://schemas.microsoft.com/office/powerpoint/2010/main" val="2431234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6AA04-B568-6A8A-2A97-4410CBBCF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743E5-2D2A-0A1A-7554-D6FDC7BA00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425677"/>
            <a:ext cx="7772400" cy="880608"/>
          </a:xfrm>
        </p:spPr>
        <p:txBody>
          <a:bodyPr>
            <a:normAutofit/>
          </a:bodyPr>
          <a:lstStyle/>
          <a:p>
            <a:r>
              <a:rPr lang="en-US" sz="3600" b="1" dirty="0"/>
              <a:t>Feedback Control Concept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907B9B2-0235-8E33-A853-DB0C4AA93052}"/>
                  </a:ext>
                </a:extLst>
              </p:cNvPr>
              <p:cNvSpPr txBox="1"/>
              <p:nvPr/>
            </p:nvSpPr>
            <p:spPr>
              <a:xfrm>
                <a:off x="838200" y="1582341"/>
                <a:ext cx="7620000" cy="4524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Why use feedback?</a:t>
                </a:r>
                <a:endParaRPr lang="en-US" sz="24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Reduces sensitivity to disturbances.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Compensates for modeling uncertainty.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Enables automatic correction toward the setpoint.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r>
                  <a:rPr lang="en-US" sz="2400" b="1" dirty="0"/>
                  <a:t>Example Scenario:</a:t>
                </a:r>
                <a:endParaRPr lang="en-US" sz="2400" dirty="0"/>
              </a:p>
              <a:p>
                <a:r>
                  <a:rPr lang="en-US" sz="2400" dirty="0"/>
                  <a:t>A room heating system measures temperature and adjusts heater power to maintain 22°C.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The error signal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ar-SA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SA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ar-SA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SA" sz="2400" i="1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ar-SA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SA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ar-SA" sz="24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SA" sz="24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ar-SA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SA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sz="2400" dirty="0"/>
                  <a:t> drives the control action.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907B9B2-0235-8E33-A853-DB0C4AA93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582341"/>
                <a:ext cx="7620000" cy="4524315"/>
              </a:xfrm>
              <a:prstGeom prst="rect">
                <a:avLst/>
              </a:prstGeom>
              <a:blipFill>
                <a:blip r:embed="rId2"/>
                <a:stretch>
                  <a:fillRect l="-1280" t="-1078" r="-4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CCCE5A6-0BAD-2213-D159-26061F38F1FD}"/>
              </a:ext>
            </a:extLst>
          </p:cNvPr>
          <p:cNvSpPr txBox="1"/>
          <p:nvPr/>
        </p:nvSpPr>
        <p:spPr>
          <a:xfrm>
            <a:off x="1719943" y="5782548"/>
            <a:ext cx="61613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What happens if feedback is removed?</a:t>
            </a:r>
          </a:p>
        </p:txBody>
      </p:sp>
    </p:spTree>
    <p:extLst>
      <p:ext uri="{BB962C8B-B14F-4D97-AF65-F5344CB8AC3E}">
        <p14:creationId xmlns:p14="http://schemas.microsoft.com/office/powerpoint/2010/main" val="3375915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5255A-EF41-A74E-18F4-95DFAB41F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624C6-044E-48F3-CB44-BDDDDF8CE2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425677"/>
            <a:ext cx="7772400" cy="880608"/>
          </a:xfrm>
        </p:spPr>
        <p:txBody>
          <a:bodyPr>
            <a:normAutofit/>
          </a:bodyPr>
          <a:lstStyle/>
          <a:p>
            <a:r>
              <a:rPr lang="en-US" sz="3600" b="1" dirty="0"/>
              <a:t>Proportional (P) Control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E7E161B-6313-1052-0027-49579599A268}"/>
                  </a:ext>
                </a:extLst>
              </p:cNvPr>
              <p:cNvSpPr txBox="1"/>
              <p:nvPr/>
            </p:nvSpPr>
            <p:spPr>
              <a:xfrm>
                <a:off x="1020933" y="1955007"/>
                <a:ext cx="7510508" cy="23939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Equation:</a:t>
                </a:r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SA" sz="24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ar-SA" sz="2400" i="1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ar-SA" sz="2400" dirty="0"/>
              </a:p>
              <a:p>
                <a:r>
                  <a:rPr lang="en-US" sz="2400" b="1" dirty="0"/>
                  <a:t>Effect:</a:t>
                </a:r>
                <a:endParaRPr lang="en-US" sz="24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Faster response with larger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A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sz="24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ar-SA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ar-SA" sz="2400" dirty="0"/>
                  <a:t>.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But steady-state error remains.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Too large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A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sz="24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ar-SA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ar-SA" sz="2400" dirty="0"/>
                  <a:t>→ </a:t>
                </a:r>
                <a:r>
                  <a:rPr lang="en-US" sz="2400" dirty="0"/>
                  <a:t>oscillation or instability.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E7E161B-6313-1052-0027-49579599A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933" y="1955007"/>
                <a:ext cx="7510508" cy="2393925"/>
              </a:xfrm>
              <a:prstGeom prst="rect">
                <a:avLst/>
              </a:prstGeom>
              <a:blipFill>
                <a:blip r:embed="rId2"/>
                <a:stretch>
                  <a:fillRect l="-1217" t="-2041" b="-4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1415F2B-4434-E498-BD38-1AD2F58B6215}"/>
                  </a:ext>
                </a:extLst>
              </p:cNvPr>
              <p:cNvSpPr txBox="1"/>
              <p:nvPr/>
            </p:nvSpPr>
            <p:spPr>
              <a:xfrm>
                <a:off x="2090375" y="5704148"/>
                <a:ext cx="5410200" cy="8640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br>
                  <a:rPr lang="ar-SA" sz="2400" b="1" dirty="0">
                    <a:solidFill>
                      <a:srgbClr val="FF0000"/>
                    </a:solidFill>
                  </a:rPr>
                </a:br>
                <a:r>
                  <a:rPr lang="en-US" sz="2400" b="1" dirty="0">
                    <a:solidFill>
                      <a:srgbClr val="FF0000"/>
                    </a:solidFill>
                  </a:rPr>
                  <a:t>What happens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A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ar-SA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doubles?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1415F2B-4434-E498-BD38-1AD2F58B6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0375" y="5704148"/>
                <a:ext cx="5410200" cy="864083"/>
              </a:xfrm>
              <a:prstGeom prst="rect">
                <a:avLst/>
              </a:prstGeom>
              <a:blipFill>
                <a:blip r:embed="rId3"/>
                <a:stretch>
                  <a:fillRect l="-1804" b="-13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0603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1B91B-55C0-C28C-4CDF-F4B6433AC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1F262-3415-F0BF-DBCB-0620861351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425677"/>
            <a:ext cx="7772400" cy="880608"/>
          </a:xfrm>
        </p:spPr>
        <p:txBody>
          <a:bodyPr>
            <a:normAutofit/>
          </a:bodyPr>
          <a:lstStyle/>
          <a:p>
            <a:r>
              <a:rPr lang="en-US" sz="3600" b="1" dirty="0"/>
              <a:t>Proportional-Integral (PI) Control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1CBDBA-93A2-A8F7-F2D3-9C5D123F6DCD}"/>
                  </a:ext>
                </a:extLst>
              </p:cNvPr>
              <p:cNvSpPr txBox="1"/>
              <p:nvPr/>
            </p:nvSpPr>
            <p:spPr>
              <a:xfrm>
                <a:off x="2286000" y="1470034"/>
                <a:ext cx="4572000" cy="30869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/>
                  <a:t>Equation (time domain):</a:t>
                </a:r>
                <a:endParaRPr lang="en-US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SA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ar-SA" i="1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SA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nary>
                        <m:naryPr>
                          <m:chr m:val="∑"/>
                          <m:grow m:val="on"/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ar-SA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SA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nary>
                      <m:d>
                        <m:dPr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ar-SA" dirty="0"/>
              </a:p>
              <a:p>
                <a:pPr>
                  <a:buNone/>
                </a:pPr>
                <a:r>
                  <a:rPr lang="en-US" b="1" dirty="0"/>
                  <a:t>In backshift operator form:</a:t>
                </a:r>
                <a:endParaRPr lang="en-US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ar-SA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ar-SA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S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ar-SA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SA" i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ar-SA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ar-SA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SA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ar-SA" dirty="0"/>
              </a:p>
              <a:p>
                <a:pPr>
                  <a:buNone/>
                </a:pPr>
                <a:r>
                  <a:rPr lang="en-US" b="1" dirty="0"/>
                  <a:t>Purpose:</a:t>
                </a:r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Integral term eliminates steady-state error.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PI improves accuracy for constant references.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1CBDBA-93A2-A8F7-F2D3-9C5D123F6D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470034"/>
                <a:ext cx="4572000" cy="3086935"/>
              </a:xfrm>
              <a:prstGeom prst="rect">
                <a:avLst/>
              </a:prstGeom>
              <a:blipFill>
                <a:blip r:embed="rId2"/>
                <a:stretch>
                  <a:fillRect l="-1067" t="-789" b="-21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26343CB-02A4-3DB0-7A97-F9564B6A60D4}"/>
              </a:ext>
            </a:extLst>
          </p:cNvPr>
          <p:cNvSpPr txBox="1"/>
          <p:nvPr/>
        </p:nvSpPr>
        <p:spPr>
          <a:xfrm>
            <a:off x="936171" y="5064800"/>
            <a:ext cx="73369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0000"/>
                </a:solidFill>
              </a:rPr>
              <a:t>Why does the integral term reduce steady-state error to zero?</a:t>
            </a:r>
          </a:p>
        </p:txBody>
      </p:sp>
    </p:spTree>
    <p:extLst>
      <p:ext uri="{BB962C8B-B14F-4D97-AF65-F5344CB8AC3E}">
        <p14:creationId xmlns:p14="http://schemas.microsoft.com/office/powerpoint/2010/main" val="2281044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544AF-3C2F-2327-98FE-5FC10D517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93613-B1EE-AE0D-9606-5F7D8122B8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87088"/>
            <a:ext cx="7772400" cy="880608"/>
          </a:xfrm>
        </p:spPr>
        <p:txBody>
          <a:bodyPr>
            <a:normAutofit/>
          </a:bodyPr>
          <a:lstStyle/>
          <a:p>
            <a:r>
              <a:rPr lang="en-US" sz="3600" b="1" dirty="0"/>
              <a:t>Practice Example: PI Control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80C967A-454A-1F0F-BBBF-D03D219B89A3}"/>
                  </a:ext>
                </a:extLst>
              </p:cNvPr>
              <p:cNvSpPr txBox="1"/>
              <p:nvPr/>
            </p:nvSpPr>
            <p:spPr>
              <a:xfrm>
                <a:off x="925285" y="1070005"/>
                <a:ext cx="7870371" cy="5787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dirty="0"/>
                  <a:t>A first-order discrete-time plant:</a:t>
                </a:r>
              </a:p>
              <a:p>
                <a:pPr>
                  <a:buNone/>
                </a:pPr>
                <a:endParaRPr lang="en-US" sz="24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SA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SA" sz="24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SA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SA" sz="2400" i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ar-SA" sz="2400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SA" sz="24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SA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SA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SA" sz="24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SA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SA" sz="2400" i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SA" sz="2400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SA" sz="24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SA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  <a:p>
                <a:pPr>
                  <a:buNone/>
                </a:pPr>
                <a:endParaRPr lang="ar-SA" sz="2400" dirty="0"/>
              </a:p>
              <a:p>
                <a:pPr>
                  <a:buNone/>
                </a:pPr>
                <a:r>
                  <a:rPr lang="en-US" sz="2400" dirty="0"/>
                  <a:t>Controller: </a:t>
                </a: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SA" sz="24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ar-SA" sz="2400" i="1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SA" sz="24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nary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  <a:p>
                <a:pPr>
                  <a:buNone/>
                </a:pPr>
                <a:endParaRPr lang="ar-SA" sz="2400" dirty="0"/>
              </a:p>
              <a:p>
                <a:pPr>
                  <a:buFont typeface="+mj-lt"/>
                  <a:buAutoNum type="arabicPeriod"/>
                </a:pPr>
                <a:r>
                  <a:rPr lang="en-US" sz="2400" dirty="0"/>
                  <a:t>Write the closed-loop transfer function symbolically.</a:t>
                </a:r>
              </a:p>
              <a:p>
                <a:pPr>
                  <a:buFont typeface="+mj-lt"/>
                  <a:buAutoNum type="arabicPeriod"/>
                </a:pPr>
                <a:endParaRPr lang="en-US" sz="2400" dirty="0"/>
              </a:p>
              <a:p>
                <a:pPr>
                  <a:buFont typeface="+mj-lt"/>
                  <a:buAutoNum type="arabicPeriod"/>
                </a:pPr>
                <a:r>
                  <a:rPr lang="en-US" sz="2400" dirty="0"/>
                  <a:t>What happens to the closed-loop pole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A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sz="24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ar-SA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increases?</a:t>
                </a:r>
              </a:p>
              <a:p>
                <a:pPr>
                  <a:buFont typeface="+mj-lt"/>
                  <a:buAutoNum type="arabicPeriod"/>
                </a:pPr>
                <a:endParaRPr lang="en-US" sz="2400" dirty="0"/>
              </a:p>
              <a:p>
                <a:pPr>
                  <a:buFont typeface="+mj-lt"/>
                  <a:buAutoNum type="arabicPeriod"/>
                </a:pPr>
                <a:r>
                  <a:rPr lang="en-US" sz="2400" dirty="0"/>
                  <a:t>What physical effect would that have on a motor or temperature system?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80C967A-454A-1F0F-BBBF-D03D219B89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285" y="1070005"/>
                <a:ext cx="7870371" cy="5787995"/>
              </a:xfrm>
              <a:prstGeom prst="rect">
                <a:avLst/>
              </a:prstGeom>
              <a:blipFill>
                <a:blip r:embed="rId2"/>
                <a:stretch>
                  <a:fillRect l="-1239" t="-843" b="-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3311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84230-3DC9-D840-4D1E-3AB08162E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76A7F-1121-75DF-E7DA-CCF69A31D6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425677"/>
            <a:ext cx="7772400" cy="880608"/>
          </a:xfrm>
        </p:spPr>
        <p:txBody>
          <a:bodyPr>
            <a:normAutofit/>
          </a:bodyPr>
          <a:lstStyle/>
          <a:p>
            <a:r>
              <a:rPr lang="en-US" sz="3600" b="1" dirty="0"/>
              <a:t>PI Tuning and Pole Placement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90C5E50-E812-8D3E-7C2E-0809EB24F320}"/>
                  </a:ext>
                </a:extLst>
              </p:cNvPr>
              <p:cNvSpPr txBox="1"/>
              <p:nvPr/>
            </p:nvSpPr>
            <p:spPr>
              <a:xfrm>
                <a:off x="1186543" y="1433133"/>
                <a:ext cx="7271657" cy="41835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A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sz="24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ar-SA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ar-SA" sz="2400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SA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sz="24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ar-SA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so that the closed-loop system has desired poles (e.g. at 0.4 and 0.5).</a:t>
                </a:r>
              </a:p>
              <a:p>
                <a:endParaRPr lang="en-US" sz="2400" dirty="0"/>
              </a:p>
              <a:p>
                <a:r>
                  <a:rPr lang="en-US" sz="2400" b="1" dirty="0"/>
                  <a:t>Steps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Write the open-loop transfer function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ar-SA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SA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ar-SA" sz="24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Multiply numerator and denominator → find the closed-loop denominator.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Match the coefficients with the desired polynomial.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90C5E50-E812-8D3E-7C2E-0809EB24F3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543" y="1433133"/>
                <a:ext cx="7271657" cy="4183518"/>
              </a:xfrm>
              <a:prstGeom prst="rect">
                <a:avLst/>
              </a:prstGeom>
              <a:blipFill>
                <a:blip r:embed="rId2"/>
                <a:stretch>
                  <a:fillRect l="-1341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E3A2316-7E27-D136-A1B0-DA81B213EFE4}"/>
                  </a:ext>
                </a:extLst>
              </p:cNvPr>
              <p:cNvSpPr txBox="1"/>
              <p:nvPr/>
            </p:nvSpPr>
            <p:spPr>
              <a:xfrm>
                <a:off x="898071" y="5601326"/>
                <a:ext cx="7848600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Desired poles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A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ar-SA" sz="24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ar-SA" sz="24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SA" sz="24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ar-SA" sz="24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SA" sz="24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ar-SA" sz="24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SA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ar-SA" sz="24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ar-SA" sz="24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SA" sz="24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ar-SA" sz="24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SA" sz="24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ar-SA" sz="2400" b="1" dirty="0">
                    <a:solidFill>
                      <a:srgbClr val="FF0000"/>
                    </a:solidFill>
                  </a:rPr>
                  <a:t>.</a:t>
                </a:r>
              </a:p>
              <a:p>
                <a:r>
                  <a:rPr lang="en-US" sz="2400" b="1" dirty="0">
                    <a:solidFill>
                      <a:srgbClr val="FF0000"/>
                    </a:solidFill>
                  </a:rPr>
                  <a:t>What kind of response is expected (speed, damping)?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E3A2316-7E27-D136-A1B0-DA81B213E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071" y="5601326"/>
                <a:ext cx="7848600" cy="830997"/>
              </a:xfrm>
              <a:prstGeom prst="rect">
                <a:avLst/>
              </a:prstGeom>
              <a:blipFill>
                <a:blip r:embed="rId3"/>
                <a:stretch>
                  <a:fillRect l="-1165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0439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A06C0-5D41-A143-879A-0A95DD6BF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A95AE-AC25-E5BF-BDCD-9B6DB0F1B9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42648"/>
            <a:ext cx="7772400" cy="880608"/>
          </a:xfrm>
        </p:spPr>
        <p:txBody>
          <a:bodyPr>
            <a:normAutofit/>
          </a:bodyPr>
          <a:lstStyle/>
          <a:p>
            <a:r>
              <a:rPr lang="en-US" sz="3600" b="1" dirty="0"/>
              <a:t>NMSS (Non-Minimal State-Space)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7A58479-88AE-93FD-7DBF-B2553866578C}"/>
                  </a:ext>
                </a:extLst>
              </p:cNvPr>
              <p:cNvSpPr txBox="1"/>
              <p:nvPr/>
            </p:nvSpPr>
            <p:spPr>
              <a:xfrm>
                <a:off x="598714" y="1422778"/>
                <a:ext cx="7935686" cy="45889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Why non-minimal?</a:t>
                </a:r>
                <a:endParaRPr lang="en-US" sz="2400" dirty="0"/>
              </a:p>
              <a:p>
                <a:r>
                  <a:rPr lang="en-US" sz="2400" dirty="0"/>
                  <a:t>To include past inputs and outputs directly in the state vector.</a:t>
                </a:r>
              </a:p>
              <a:p>
                <a:r>
                  <a:rPr lang="en-US" sz="2400" dirty="0"/>
                  <a:t>Simplifies digital control and observer design.</a:t>
                </a:r>
              </a:p>
              <a:p>
                <a:endParaRPr lang="en-US" sz="2400" dirty="0"/>
              </a:p>
              <a:p>
                <a:r>
                  <a:rPr lang="en-US" sz="2400" b="1" dirty="0"/>
                  <a:t>General form:</a:t>
                </a:r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SA" sz="24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SA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SA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SA" sz="2400" i="1">
                          <a:latin typeface="Cambria Math" panose="02040503050406030204" pitchFamily="18" charset="0"/>
                        </a:rPr>
                        <m:t>𝐴𝑥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SA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SA" sz="2400" i="1">
                          <a:latin typeface="Cambria Math" panose="02040503050406030204" pitchFamily="18" charset="0"/>
                        </a:rPr>
                        <m:t>𝐵𝑢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SA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SA" sz="2400" i="1">
                          <a:latin typeface="Cambria Math" panose="02040503050406030204" pitchFamily="18" charset="0"/>
                        </a:rPr>
                        <m:t>𝐸𝑟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  <a:p>
                <a:endParaRPr lang="ar-SA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SA" sz="2400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SA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SA" sz="2400" i="1">
                          <a:latin typeface="Cambria Math" panose="02040503050406030204" pitchFamily="18" charset="0"/>
                        </a:rPr>
                        <m:t>𝐶𝑥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ar-SA" sz="2400" dirty="0"/>
              </a:p>
              <a:p>
                <a:r>
                  <a:rPr lang="en-US" sz="2400" b="1" dirty="0"/>
                  <a:t>Typical State Vector:</a:t>
                </a:r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SA" sz="24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,"/>
                          <m:sepChr m:val=","/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ar-SA" sz="2400" b="0" i="1">
                              <a:latin typeface="Cambria Math" panose="02040503050406030204" pitchFamily="18" charset="0"/>
                            </a:rPr>
                            <m:t> </m:t>
                          </m:r>
                        </m:e>
                        <m:e>
                          <m:r>
                            <a:rPr lang="ar-SA" sz="2400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d>
                            <m:dPr>
                              <m:ctrlPr>
                                <a:rPr lang="ar-SA" sz="24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SA" sz="2400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ar-SA" sz="2400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SA" sz="24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e>
                          <m:r>
                            <a:rPr lang="ar-SA" sz="2400" b="0" i="1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ar-SA" sz="24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SA" sz="2400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ar-SA" sz="2400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SA" sz="24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ar-SA" sz="2400" b="0" i="1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ar-SA" sz="24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SA" sz="2400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ar-SA" sz="2400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SA" sz="24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ar-SA" sz="2400" b="0" i="1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ar-SA" sz="24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SA" sz="2400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ar-SA" sz="2400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SA" sz="24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ar-SA" sz="2400" b="0" i="1">
                              <a:latin typeface="Cambria Math" panose="02040503050406030204" pitchFamily="18" charset="0"/>
                            </a:rPr>
                            <m:t>𝑧</m:t>
                          </m:r>
                          <m:d>
                            <m:dPr>
                              <m:ctrlPr>
                                <a:rPr lang="ar-SA" sz="24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SA" sz="2400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ar-SA" sz="2400" b="0" i="1">
                              <a:latin typeface="Cambria Math" panose="02040503050406030204" pitchFamily="18" charset="0"/>
                            </a:rPr>
                            <m:t> </m:t>
                          </m:r>
                          <m:sSup>
                            <m:sSupPr>
                              <m:ctrlPr>
                                <a:rPr lang="ar-SA"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ar-SA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SA" sz="2400" b="0" i="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d>
                            </m:e>
                            <m:sup>
                              <m:r>
                                <a:rPr lang="ar-SA" sz="2400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SA" sz="2400" b="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7A58479-88AE-93FD-7DBF-B255386657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714" y="1422778"/>
                <a:ext cx="7935686" cy="4588949"/>
              </a:xfrm>
              <a:prstGeom prst="rect">
                <a:avLst/>
              </a:prstGeom>
              <a:blipFill>
                <a:blip r:embed="rId2"/>
                <a:stretch>
                  <a:fillRect l="-1152" t="-10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6F61922-A1C4-6679-E842-820DFC7FB26A}"/>
                  </a:ext>
                </a:extLst>
              </p:cNvPr>
              <p:cNvSpPr txBox="1"/>
              <p:nvPr/>
            </p:nvSpPr>
            <p:spPr>
              <a:xfrm>
                <a:off x="511629" y="5916566"/>
                <a:ext cx="8131627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What advantage does including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𝒛</m:t>
                    </m:r>
                    <m:d>
                      <m:dPr>
                        <m:ctrlPr>
                          <a:rPr lang="ar-SA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SA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</m:oMath>
                </a14:m>
                <a:r>
                  <a:rPr lang="ar-SA" sz="2400" b="1" dirty="0">
                    <a:solidFill>
                      <a:srgbClr val="FF0000"/>
                    </a:solidFill>
                  </a:rPr>
                  <a:t>(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integral-of-error) provide?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6F61922-A1C4-6679-E842-820DFC7FB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629" y="5916566"/>
                <a:ext cx="8131627" cy="830997"/>
              </a:xfrm>
              <a:prstGeom prst="rect">
                <a:avLst/>
              </a:prstGeom>
              <a:blipFill>
                <a:blip r:embed="rId3"/>
                <a:stretch>
                  <a:fillRect l="-1199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8207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023CA-82C7-DC39-F340-CBE0B00BB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73538-CDE8-D319-CE5D-B922842B19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213" y="0"/>
            <a:ext cx="7772400" cy="880608"/>
          </a:xfrm>
        </p:spPr>
        <p:txBody>
          <a:bodyPr>
            <a:normAutofit/>
          </a:bodyPr>
          <a:lstStyle/>
          <a:p>
            <a:r>
              <a:rPr lang="en-US" sz="3600" b="1" dirty="0"/>
              <a:t>Example- NMSS Construction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092D5D6-46D9-8E31-3497-F2BCB29CCBC3}"/>
                  </a:ext>
                </a:extLst>
              </p:cNvPr>
              <p:cNvSpPr txBox="1"/>
              <p:nvPr/>
            </p:nvSpPr>
            <p:spPr>
              <a:xfrm>
                <a:off x="315684" y="986841"/>
                <a:ext cx="8719457" cy="56819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dirty="0"/>
                  <a:t>Given a model:</a:t>
                </a:r>
              </a:p>
              <a:p>
                <a:pPr>
                  <a:buNone/>
                </a:pPr>
                <a:endParaRPr lang="en-US" sz="24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SA" sz="2400" i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SA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SA" sz="2400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SA" sz="24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SA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SA" sz="2400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SA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SA" sz="2400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SA" sz="24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SA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ar-SA" sz="24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ar-SA" sz="24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SA" sz="2400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SA" sz="24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SA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SA" sz="24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ar-SA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SA" sz="2400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SA" sz="24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SA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  <a:p>
                <a:pPr>
                  <a:buNone/>
                </a:pPr>
                <a:endParaRPr lang="ar-SA" sz="2400" dirty="0"/>
              </a:p>
              <a:p>
                <a:pPr>
                  <a:buNone/>
                </a:pPr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𝑧</m:t>
                    </m:r>
                    <m:d>
                      <m:dPr>
                        <m:ctrlPr>
                          <a:rPr lang="ar-SA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SA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ar-SA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SA" sz="2400" i="1">
                        <a:latin typeface="Cambria Math" panose="02040503050406030204" pitchFamily="18" charset="0"/>
                      </a:rPr>
                      <m:t>𝑧</m:t>
                    </m:r>
                    <m:d>
                      <m:dPr>
                        <m:ctrlPr>
                          <a:rPr lang="ar-SA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SA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SA" sz="24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SA" sz="24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SA" sz="24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SA" sz="2400" i="1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ar-SA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SA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ar-SA" sz="24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SA" sz="24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ar-SA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SA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ar-SA" sz="2400" dirty="0"/>
                  <a:t>.</a:t>
                </a:r>
                <a:endParaRPr lang="en-US" sz="2400" dirty="0"/>
              </a:p>
              <a:p>
                <a:pPr>
                  <a:buNone/>
                </a:pPr>
                <a:endParaRPr lang="ar-SA" sz="2400" dirty="0"/>
              </a:p>
              <a:p>
                <a:pPr>
                  <a:buNone/>
                </a:pPr>
                <a:r>
                  <a:rPr lang="en-US" sz="2400" b="1" dirty="0"/>
                  <a:t>State vector:</a:t>
                </a:r>
                <a:endParaRPr lang="en-US" sz="24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SA" sz="24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,"/>
                          <m:sepChr m:val=","/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d>
                            <m:dPr>
                              <m:ctrlPr>
                                <a:rPr lang="ar-SA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SA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ar-SA" sz="240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SA" sz="240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d>
                            <m:dPr>
                              <m:ctrlPr>
                                <a:rPr lang="ar-SA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SA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ar-SA" sz="2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SA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ar-SA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SA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ar-SA" sz="2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SA" sz="2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ar-SA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SA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ar-SA" sz="2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SA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  <m:d>
                            <m:dPr>
                              <m:ctrlPr>
                                <a:rPr lang="ar-SA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SA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sSup>
                            <m:sSupPr>
                              <m:ctrlPr>
                                <a:rPr lang="ar-SA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ar-SA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SA" sz="2400" i="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d>
                            </m:e>
                            <m:sup/>
                          </m:sSup>
                        </m:e>
                      </m:d>
                    </m:oMath>
                  </m:oMathPara>
                </a14:m>
                <a:endParaRPr lang="en-US" sz="2400" dirty="0"/>
              </a:p>
              <a:p>
                <a:pPr>
                  <a:buNone/>
                </a:pPr>
                <a:endParaRPr lang="ar-SA" sz="2400" dirty="0"/>
              </a:p>
              <a:p>
                <a:pPr>
                  <a:buNone/>
                </a:pPr>
                <a:r>
                  <a:rPr lang="en-US" sz="2400" b="1" dirty="0"/>
                  <a:t>Symbolic NMSS:</a:t>
                </a:r>
                <a:endParaRPr lang="en-US" sz="24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SA" sz="24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SA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SA" sz="24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ar-SA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SA" sz="240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ar-SA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SA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ar-SA" sz="240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ar-SA" sz="240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ar-SA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SA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ar-SA" sz="240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ar-SA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SA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ar-SA" sz="2400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ar-SA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SA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ar-SA" sz="240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ar-SA" sz="24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SA" sz="240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SA" sz="24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SA" sz="24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SA" sz="24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SA" sz="24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SA" sz="24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SA" sz="24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SA" sz="24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SA" sz="24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SA" sz="24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SA" sz="24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SA" sz="24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SA" sz="240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SA" sz="24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SA" sz="24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SA" sz="240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SA" sz="240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SA" sz="24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SA" sz="24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SA" sz="24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SA" sz="240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ar-SA" sz="24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SA" sz="2400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SA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SA" sz="24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SA" sz="24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SA" sz="240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ar-SA" sz="24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SA" sz="240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ar-SA" sz="2400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SA" sz="2400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SA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SA" sz="24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SA" sz="24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SA" sz="24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SA" sz="24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SA" sz="240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ar-SA" sz="2400" i="1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ar-SA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092D5D6-46D9-8E31-3497-F2BCB29CC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84" y="986841"/>
                <a:ext cx="8719457" cy="5681940"/>
              </a:xfrm>
              <a:prstGeom prst="rect">
                <a:avLst/>
              </a:prstGeom>
              <a:blipFill>
                <a:blip r:embed="rId2"/>
                <a:stretch>
                  <a:fillRect l="-1119" t="-8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1464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C72C6-960C-DD5A-CEE9-D42615E86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4E8CA-9980-9057-7FFA-B5B1EFE902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2886" y="120877"/>
            <a:ext cx="7772400" cy="880608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PIP (Proportional–Integral–Plus) Control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6CD23F-E106-C288-8AEE-40256ED6DCD8}"/>
                  </a:ext>
                </a:extLst>
              </p:cNvPr>
              <p:cNvSpPr txBox="1"/>
              <p:nvPr/>
            </p:nvSpPr>
            <p:spPr>
              <a:xfrm>
                <a:off x="990601" y="1548160"/>
                <a:ext cx="7663542" cy="45072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Concept:</a:t>
                </a:r>
                <a:endParaRPr lang="en-US" sz="2400" dirty="0"/>
              </a:p>
              <a:p>
                <a:r>
                  <a:rPr lang="en-US" sz="2400" dirty="0"/>
                  <a:t>PIP extends PI by feeding back </a:t>
                </a:r>
                <a:r>
                  <a:rPr lang="en-US" sz="2400" b="1" dirty="0"/>
                  <a:t>lagged inputs and/or outputs</a:t>
                </a:r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Offers more flexibility in shaping the closed-loop poles.</a:t>
                </a:r>
              </a:p>
              <a:p>
                <a:r>
                  <a:rPr lang="en-US" sz="2400" b="1" dirty="0"/>
                  <a:t>General PIP form:</a:t>
                </a:r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SA" sz="2400" i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ar-SA" sz="24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SA" sz="2400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SA" sz="2400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ar-SA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SA" sz="2400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SA" sz="24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SA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SA" sz="2400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ar-SA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SA" sz="2400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SA" sz="24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SA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ar-SA" sz="2400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ar-SA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SA" sz="2400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SA" sz="24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SA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SA" sz="2400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ar-SA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SA" sz="2400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SA" sz="24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SA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ar-SA" sz="24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SA" sz="2400" i="1">
                          <a:latin typeface="Cambria Math" panose="02040503050406030204" pitchFamily="18" charset="0"/>
                        </a:rPr>
                        <m:t>𝑧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ar-SA" sz="2400" dirty="0"/>
              </a:p>
              <a:p>
                <a:r>
                  <a:rPr lang="en-US" sz="2400" b="1" dirty="0"/>
                  <a:t>Integral term:</a:t>
                </a:r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𝑧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SA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SA" sz="2400" i="1">
                          <a:latin typeface="Cambria Math" panose="02040503050406030204" pitchFamily="18" charset="0"/>
                        </a:rPr>
                        <m:t>𝑧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SA" sz="24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SA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SA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SA" sz="2400" i="1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SA" sz="24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SA" sz="2400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ar-SA" sz="2400" dirty="0"/>
              </a:p>
              <a:p>
                <a:br>
                  <a:rPr lang="en-US" sz="2400" dirty="0"/>
                </a:br>
                <a:endParaRPr lang="ar-SA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6CD23F-E106-C288-8AEE-40256ED6D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1" y="1548160"/>
                <a:ext cx="7663542" cy="4507260"/>
              </a:xfrm>
              <a:prstGeom prst="rect">
                <a:avLst/>
              </a:prstGeom>
              <a:blipFill>
                <a:blip r:embed="rId2"/>
                <a:stretch>
                  <a:fillRect l="-1273" t="-1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094D85-B74F-F318-1DE5-5AC460F63849}"/>
                  </a:ext>
                </a:extLst>
              </p:cNvPr>
              <p:cNvSpPr txBox="1"/>
              <p:nvPr/>
            </p:nvSpPr>
            <p:spPr>
              <a:xfrm>
                <a:off x="2209800" y="5732254"/>
                <a:ext cx="4572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solidFill>
                      <a:srgbClr val="FF0000"/>
                    </a:solidFill>
                  </a:rPr>
                  <a:t>Why might we include past control signals 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lang="ar-SA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SA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ar-SA" sz="20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SA" sz="20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ar-SA" sz="20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ar-SA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lang="ar-SA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SA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ar-SA" sz="20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SA" sz="20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ar-SA" sz="2000" b="1" dirty="0">
                    <a:solidFill>
                      <a:srgbClr val="FF0000"/>
                    </a:solidFill>
                  </a:rPr>
                  <a:t>)?</a:t>
                </a:r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094D85-B74F-F318-1DE5-5AC460F63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5732254"/>
                <a:ext cx="4572000" cy="707886"/>
              </a:xfrm>
              <a:prstGeom prst="rect">
                <a:avLst/>
              </a:prstGeom>
              <a:blipFill>
                <a:blip r:embed="rId3"/>
                <a:stretch>
                  <a:fillRect l="-1467" t="-4310" b="-1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7888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C4B99-C53D-548C-6A11-7BDE0323D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DBA23-D17D-0144-9CA4-AC1AF36112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84162"/>
            <a:ext cx="7772400" cy="880608"/>
          </a:xfrm>
        </p:spPr>
        <p:txBody>
          <a:bodyPr>
            <a:normAutofit/>
          </a:bodyPr>
          <a:lstStyle/>
          <a:p>
            <a:r>
              <a:rPr lang="en-US" sz="3600" b="1" dirty="0"/>
              <a:t>PIP Controller Practice Example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EFF1390-77EB-8BE4-8197-D16FD4B3D7EE}"/>
                  </a:ext>
                </a:extLst>
              </p:cNvPr>
              <p:cNvSpPr txBox="1"/>
              <p:nvPr/>
            </p:nvSpPr>
            <p:spPr>
              <a:xfrm>
                <a:off x="772887" y="1408488"/>
                <a:ext cx="7957456" cy="37856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Given a second-order plant and a PIP controller </a:t>
                </a:r>
                <a:r>
                  <a:rPr lang="en-US" sz="2400" dirty="0" err="1"/>
                  <a:t>structur</a:t>
                </a:r>
                <a:endParaRPr lang="en-US" sz="2400" dirty="0"/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SA" sz="2400" i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ar-SA" sz="24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SA" sz="2400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SA" sz="2400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ar-SA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SA" sz="2400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SA" sz="24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SA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SA" sz="2400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ar-SA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SA" sz="2400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SA" sz="24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SA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SA" sz="24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SA" sz="2400" i="1">
                          <a:latin typeface="Cambria Math" panose="02040503050406030204" pitchFamily="18" charset="0"/>
                        </a:rPr>
                        <m:t>𝑧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Substitute </a:t>
                </a:r>
              </a:p>
              <a:p>
                <a:endParaRPr lang="en-US" sz="24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𝑧</m:t>
                    </m:r>
                    <m:d>
                      <m:dPr>
                        <m:ctrlPr>
                          <a:rPr lang="ar-SA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SA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ar-SA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SA" sz="2400" i="1">
                        <a:latin typeface="Cambria Math" panose="02040503050406030204" pitchFamily="18" charset="0"/>
                      </a:rPr>
                      <m:t>𝑧</m:t>
                    </m:r>
                    <m:d>
                      <m:dPr>
                        <m:ctrlPr>
                          <a:rPr lang="ar-SA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SA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SA" sz="24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SA" sz="24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SA" sz="24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SA" sz="2400" i="1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ar-SA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SA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ar-SA" sz="24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SA" sz="24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ar-SA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SA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ar-SA" sz="2400" dirty="0"/>
                  <a:t>.</a:t>
                </a:r>
                <a:endParaRPr lang="en-US" sz="2400" dirty="0"/>
              </a:p>
              <a:p>
                <a:endParaRPr lang="ar-SA" sz="2400" dirty="0"/>
              </a:p>
              <a:p>
                <a:r>
                  <a:rPr lang="en-US" sz="2400" dirty="0"/>
                  <a:t>Express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ar-SA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SA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sz="2400" dirty="0"/>
                  <a:t> in difference form.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EFF1390-77EB-8BE4-8197-D16FD4B3D7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887" y="1408488"/>
                <a:ext cx="7957456" cy="3785652"/>
              </a:xfrm>
              <a:prstGeom prst="rect">
                <a:avLst/>
              </a:prstGeom>
              <a:blipFill>
                <a:blip r:embed="rId2"/>
                <a:stretch>
                  <a:fillRect l="-1226" t="-12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8ADE18-DCBE-29B0-65EA-4A7F4D04D4B1}"/>
                  </a:ext>
                </a:extLst>
              </p:cNvPr>
              <p:cNvSpPr txBox="1"/>
              <p:nvPr/>
            </p:nvSpPr>
            <p:spPr>
              <a:xfrm>
                <a:off x="990600" y="5566007"/>
                <a:ext cx="74676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Discuss how increasing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A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ar-SA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 affects steady-state error.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8ADE18-DCBE-29B0-65EA-4A7F4D04D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5566007"/>
                <a:ext cx="7467600" cy="461665"/>
              </a:xfrm>
              <a:prstGeom prst="rect">
                <a:avLst/>
              </a:prstGeom>
              <a:blipFill>
                <a:blip r:embed="rId3"/>
                <a:stretch>
                  <a:fillRect l="-1306" t="-10526" r="-490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1644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5A33C-6F77-2548-27C7-702B2E7BA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75D27-0637-9189-C9B5-7FE76256E2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425677"/>
            <a:ext cx="7772400" cy="880608"/>
          </a:xfrm>
        </p:spPr>
        <p:txBody>
          <a:bodyPr>
            <a:normAutofit/>
          </a:bodyPr>
          <a:lstStyle/>
          <a:p>
            <a:r>
              <a:rPr lang="en-US" sz="3600" b="1" dirty="0"/>
              <a:t>Pole Placement in PIP Control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F53352-92AB-7FA0-8368-948B8EEF8F07}"/>
              </a:ext>
            </a:extLst>
          </p:cNvPr>
          <p:cNvSpPr txBox="1"/>
          <p:nvPr/>
        </p:nvSpPr>
        <p:spPr>
          <a:xfrm>
            <a:off x="849087" y="1720840"/>
            <a:ext cx="787037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PI</a:t>
            </a:r>
            <a:r>
              <a:rPr lang="en-US" sz="2400" dirty="0"/>
              <a:t> → can place </a:t>
            </a:r>
            <a:r>
              <a:rPr lang="en-US" sz="2400" b="1" dirty="0"/>
              <a:t>one</a:t>
            </a:r>
            <a:r>
              <a:rPr lang="en-US" sz="2400" dirty="0"/>
              <a:t> closed-loop pole (for first-order systems).</a:t>
            </a:r>
          </a:p>
          <a:p>
            <a:endParaRPr lang="en-US" sz="2400" dirty="0"/>
          </a:p>
          <a:p>
            <a:r>
              <a:rPr lang="en-US" sz="2400" b="1" dirty="0"/>
              <a:t>PIP</a:t>
            </a:r>
            <a:r>
              <a:rPr lang="en-US" sz="2400" dirty="0"/>
              <a:t> → can place </a:t>
            </a:r>
            <a:r>
              <a:rPr lang="en-US" sz="2400" b="1" dirty="0"/>
              <a:t>multiple</a:t>
            </a:r>
            <a:r>
              <a:rPr lang="en-US" sz="2400" dirty="0"/>
              <a:t> closed-loop poles (for higher-order systems).</a:t>
            </a:r>
          </a:p>
          <a:p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E02D10-0029-18A2-D439-C8387A076510}"/>
              </a:ext>
            </a:extLst>
          </p:cNvPr>
          <p:cNvSpPr txBox="1"/>
          <p:nvPr/>
        </p:nvSpPr>
        <p:spPr>
          <a:xfrm>
            <a:off x="685800" y="4341950"/>
            <a:ext cx="7924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What additional degree of freedom does PIP introduce compared to PI?</a:t>
            </a:r>
          </a:p>
          <a:p>
            <a:br>
              <a:rPr lang="en-US" sz="2400" b="1" dirty="0">
                <a:solidFill>
                  <a:srgbClr val="FF0000"/>
                </a:solidFill>
              </a:rPr>
            </a:br>
            <a:r>
              <a:rPr lang="en-US" sz="2400" b="1" dirty="0">
                <a:solidFill>
                  <a:srgbClr val="FF0000"/>
                </a:solidFill>
              </a:rPr>
              <a:t>How can we exploit this to improve damping and transient performance?</a:t>
            </a:r>
          </a:p>
        </p:txBody>
      </p:sp>
    </p:spTree>
    <p:extLst>
      <p:ext uri="{BB962C8B-B14F-4D97-AF65-F5344CB8AC3E}">
        <p14:creationId xmlns:p14="http://schemas.microsoft.com/office/powerpoint/2010/main" val="354898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BA19C-B84F-E56C-0060-C0DF0F51E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0BA3F-4DEC-B683-3355-B69435F807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399" y="120877"/>
            <a:ext cx="7772400" cy="641123"/>
          </a:xfrm>
        </p:spPr>
        <p:txBody>
          <a:bodyPr>
            <a:normAutofit/>
          </a:bodyPr>
          <a:lstStyle/>
          <a:p>
            <a:r>
              <a:rPr lang="en-US" sz="3600" b="1" dirty="0"/>
              <a:t>Controllability &amp; Observability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047809-CD57-541B-07DA-11A803D21E92}"/>
                  </a:ext>
                </a:extLst>
              </p:cNvPr>
              <p:cNvSpPr txBox="1"/>
              <p:nvPr/>
            </p:nvSpPr>
            <p:spPr>
              <a:xfrm>
                <a:off x="642257" y="762000"/>
                <a:ext cx="8229599" cy="59202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Controllability:</a:t>
                </a:r>
                <a:r>
                  <a:rPr lang="en-US" sz="2400" dirty="0"/>
                  <a:t> Can all states be driven to any desired value by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ar-SA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SA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ar-SA" sz="2400" dirty="0"/>
                  <a:t>?</a:t>
                </a:r>
                <a:endParaRPr lang="en-US" sz="2400" dirty="0"/>
              </a:p>
              <a:p>
                <a:endParaRPr lang="ar-SA" sz="2400" dirty="0"/>
              </a:p>
              <a:p>
                <a:r>
                  <a:rPr lang="en-US" sz="2400" b="1" dirty="0"/>
                  <a:t>Observability:</a:t>
                </a:r>
                <a:r>
                  <a:rPr lang="en-US" sz="2400" dirty="0"/>
                  <a:t> Can all states be reconstructed from measurements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ar-SA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SA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ar-SA" sz="2400" dirty="0"/>
                  <a:t>?</a:t>
                </a:r>
                <a:endParaRPr lang="en-US" sz="2400" dirty="0"/>
              </a:p>
              <a:p>
                <a:endParaRPr lang="ar-SA" sz="2400" dirty="0"/>
              </a:p>
              <a:p>
                <a:r>
                  <a:rPr lang="en-US" sz="2400" b="1" dirty="0"/>
                  <a:t>Why important?</a:t>
                </a:r>
                <a:endParaRPr lang="en-US" sz="2400" dirty="0"/>
              </a:p>
              <a:p>
                <a:r>
                  <a:rPr lang="en-US" sz="2400" dirty="0"/>
                  <a:t>Without controllability → can’t stabilize all states.</a:t>
                </a:r>
              </a:p>
              <a:p>
                <a:r>
                  <a:rPr lang="en-US" sz="2400" dirty="0"/>
                  <a:t>Without observability → can’t design reliable feedback.</a:t>
                </a:r>
              </a:p>
              <a:p>
                <a:endParaRPr lang="en-US" sz="2400" dirty="0"/>
              </a:p>
              <a:p>
                <a:r>
                  <a:rPr lang="en-US" sz="2400" b="1" dirty="0"/>
                  <a:t>Example:</a:t>
                </a:r>
                <a:br>
                  <a:rPr lang="en-US" sz="2400" dirty="0"/>
                </a:br>
                <a:r>
                  <a:rPr lang="en-US" sz="2400" dirty="0"/>
                  <a:t>simple 2-state system: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SA" sz="24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SA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SA" sz="24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SA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SA" sz="240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SA" sz="24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SA" sz="24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SA" sz="24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SA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ar-SA" sz="2400" i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  <m:r>
                        <a:rPr lang="ar-SA" sz="24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SA" sz="2400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SA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SA" sz="240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ar-SA" sz="24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ar-SA" sz="2400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  <a:p>
                <a:endParaRPr lang="ar-SA" sz="2400" dirty="0"/>
              </a:p>
              <a:p>
                <a:r>
                  <a:rPr lang="en-US" sz="2400" dirty="0"/>
                  <a:t>Which state is uncontrollable? Why?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047809-CD57-541B-07DA-11A803D21E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257" y="762000"/>
                <a:ext cx="8229599" cy="5920275"/>
              </a:xfrm>
              <a:prstGeom prst="rect">
                <a:avLst/>
              </a:prstGeom>
              <a:blipFill>
                <a:blip r:embed="rId2"/>
                <a:stretch>
                  <a:fillRect l="-1111" t="-824" b="-1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90452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41B0-884F-6E0C-CC2F-E2C939DA6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BD162-3A14-BA4D-838C-4186D7B714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425677"/>
            <a:ext cx="7772400" cy="880608"/>
          </a:xfrm>
        </p:spPr>
        <p:txBody>
          <a:bodyPr>
            <a:normAutofit/>
          </a:bodyPr>
          <a:lstStyle/>
          <a:p>
            <a:r>
              <a:rPr lang="en-US" sz="3600" b="1" dirty="0"/>
              <a:t>Performance vs. Robustness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143337-DEEB-F7F5-0888-9C75AC63EF22}"/>
              </a:ext>
            </a:extLst>
          </p:cNvPr>
          <p:cNvSpPr txBox="1"/>
          <p:nvPr/>
        </p:nvSpPr>
        <p:spPr>
          <a:xfrm>
            <a:off x="1186543" y="1987131"/>
            <a:ext cx="727165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Key Trade-off:</a:t>
            </a:r>
            <a:endParaRPr lang="en-US" sz="2400" dirty="0"/>
          </a:p>
          <a:p>
            <a:r>
              <a:rPr lang="en-US" sz="2400" dirty="0"/>
              <a:t>Faster → more sensitive to noise and model error.</a:t>
            </a:r>
          </a:p>
          <a:p>
            <a:r>
              <a:rPr lang="en-US" sz="2400" dirty="0"/>
              <a:t>Slower → more stable and robust.</a:t>
            </a:r>
          </a:p>
          <a:p>
            <a:endParaRPr lang="en-US" sz="2400" dirty="0"/>
          </a:p>
          <a:p>
            <a:r>
              <a:rPr lang="en-US" sz="2400" b="1" dirty="0"/>
              <a:t>Example:</a:t>
            </a:r>
            <a:endParaRPr lang="en-US" sz="2400" dirty="0"/>
          </a:p>
          <a:p>
            <a:r>
              <a:rPr lang="en-US" sz="2400" dirty="0"/>
              <a:t>Drone altitude controller (fast, risky).</a:t>
            </a:r>
          </a:p>
          <a:p>
            <a:r>
              <a:rPr lang="en-US" sz="2400" dirty="0"/>
              <a:t>Temperature controller (slow, robust).</a:t>
            </a:r>
          </a:p>
          <a:p>
            <a:endParaRPr lang="ar-SA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B7C2E93-9214-9DFF-67AC-2C2751292DB9}"/>
                  </a:ext>
                </a:extLst>
              </p:cNvPr>
              <p:cNvSpPr txBox="1"/>
              <p:nvPr/>
            </p:nvSpPr>
            <p:spPr>
              <a:xfrm>
                <a:off x="1186543" y="5467589"/>
                <a:ext cx="7456714" cy="4947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What might happen if you double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A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ar-SA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or halve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A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ar-SA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B7C2E93-9214-9DFF-67AC-2C2751292D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543" y="5467589"/>
                <a:ext cx="7456714" cy="494751"/>
              </a:xfrm>
              <a:prstGeom prst="rect">
                <a:avLst/>
              </a:prstGeom>
              <a:blipFill>
                <a:blip r:embed="rId2"/>
                <a:stretch>
                  <a:fillRect l="-1308" t="-7407" b="-234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4620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360E64-A637-FBF8-64EC-643B35D5B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2A3E3E-9053-4D6A-33C3-51A8A815FB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6250" y="640823"/>
            <a:ext cx="2563994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3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Summary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A5C3EAD3-C3B2-0E8D-65FB-7E4074FC70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3830988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50224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</TotalTime>
  <Words>1001</Words>
  <Application>Microsoft Office PowerPoint</Application>
  <PresentationFormat>On-screen Show (4:3)</PresentationFormat>
  <Paragraphs>156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Cambria Math</vt:lpstr>
      <vt:lpstr>Times New Roman</vt:lpstr>
      <vt:lpstr>Office Theme</vt:lpstr>
      <vt:lpstr>Lecture Overview</vt:lpstr>
      <vt:lpstr>Discrete-Time Systems</vt:lpstr>
      <vt:lpstr>Difference Equations &amp; System Order</vt:lpstr>
      <vt:lpstr>Feedback Control Concept</vt:lpstr>
      <vt:lpstr>Proportional (P) Control</vt:lpstr>
      <vt:lpstr>Proportional-Integral (PI) Control</vt:lpstr>
      <vt:lpstr>Practice Example: PI Control</vt:lpstr>
      <vt:lpstr>PI Tuning and Pole Placement</vt:lpstr>
      <vt:lpstr>NMSS (Non-Minimal State-Space)</vt:lpstr>
      <vt:lpstr>Example- NMSS Construction</vt:lpstr>
      <vt:lpstr>PIP (Proportional–Integral–Plus) Control</vt:lpstr>
      <vt:lpstr>PIP Controller Practice Example</vt:lpstr>
      <vt:lpstr>Pole Placement in PIP Control</vt:lpstr>
      <vt:lpstr>Controllability &amp; Observability</vt:lpstr>
      <vt:lpstr>Performance vs. Robustness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Overview</dc:title>
  <dc:creator>Abrar, Muhammad</dc:creator>
  <cp:lastModifiedBy>Abrar, Muhammad</cp:lastModifiedBy>
  <cp:revision>15</cp:revision>
  <dcterms:created xsi:type="dcterms:W3CDTF">2025-11-10T14:02:08Z</dcterms:created>
  <dcterms:modified xsi:type="dcterms:W3CDTF">2025-11-11T01:23:47Z</dcterms:modified>
</cp:coreProperties>
</file>