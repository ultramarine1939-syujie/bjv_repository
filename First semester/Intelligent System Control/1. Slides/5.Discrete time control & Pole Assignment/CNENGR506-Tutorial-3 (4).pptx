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2" r:id="rId5"/>
    <p:sldId id="259" r:id="rId6"/>
    <p:sldId id="260" r:id="rId7"/>
  </p:sldIdLst>
  <p:sldSz cx="9144000" cy="6858000" type="screen4x3"/>
  <p:notesSz cx="9144000" cy="6858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5535" autoAdjust="0"/>
  </p:normalViewPr>
  <p:slideViewPr>
    <p:cSldViewPr>
      <p:cViewPr varScale="1">
        <p:scale>
          <a:sx n="109" d="100"/>
          <a:sy n="109" d="100"/>
        </p:scale>
        <p:origin x="2364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2276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799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B5121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975" y="96528"/>
            <a:ext cx="8963660" cy="6664959"/>
          </a:xfrm>
          <a:custGeom>
            <a:avLst/>
            <a:gdLst/>
            <a:ahLst/>
            <a:cxnLst/>
            <a:rect l="l" t="t" r="r" b="b"/>
            <a:pathLst>
              <a:path w="8963660" h="6664959">
                <a:moveTo>
                  <a:pt x="0" y="6664756"/>
                </a:moveTo>
                <a:lnTo>
                  <a:pt x="8963466" y="6664756"/>
                </a:lnTo>
                <a:lnTo>
                  <a:pt x="8963466" y="0"/>
                </a:lnTo>
                <a:lnTo>
                  <a:pt x="0" y="0"/>
                </a:lnTo>
                <a:lnTo>
                  <a:pt x="0" y="6664756"/>
                </a:lnTo>
                <a:close/>
              </a:path>
            </a:pathLst>
          </a:custGeom>
          <a:ln w="193039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B5121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10282" y="2277180"/>
            <a:ext cx="3161665" cy="3967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59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B5121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975" y="96528"/>
            <a:ext cx="8963660" cy="6664959"/>
          </a:xfrm>
          <a:custGeom>
            <a:avLst/>
            <a:gdLst/>
            <a:ahLst/>
            <a:cxnLst/>
            <a:rect l="l" t="t" r="r" b="b"/>
            <a:pathLst>
              <a:path w="8963660" h="6664959">
                <a:moveTo>
                  <a:pt x="0" y="6664756"/>
                </a:moveTo>
                <a:lnTo>
                  <a:pt x="8963466" y="6664756"/>
                </a:lnTo>
                <a:lnTo>
                  <a:pt x="8963466" y="0"/>
                </a:lnTo>
                <a:lnTo>
                  <a:pt x="0" y="0"/>
                </a:lnTo>
                <a:lnTo>
                  <a:pt x="0" y="6664756"/>
                </a:lnTo>
                <a:close/>
              </a:path>
            </a:pathLst>
          </a:custGeom>
          <a:ln w="193039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633734" y="1860560"/>
            <a:ext cx="1582420" cy="0"/>
          </a:xfrm>
          <a:custGeom>
            <a:avLst/>
            <a:gdLst/>
            <a:ahLst/>
            <a:cxnLst/>
            <a:rect l="l" t="t" r="r" b="b"/>
            <a:pathLst>
              <a:path w="1582420">
                <a:moveTo>
                  <a:pt x="0" y="0"/>
                </a:moveTo>
                <a:lnTo>
                  <a:pt x="15818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6271259" y="763837"/>
            <a:ext cx="2103493" cy="6611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975" y="96528"/>
            <a:ext cx="8963660" cy="6664959"/>
          </a:xfrm>
          <a:custGeom>
            <a:avLst/>
            <a:gdLst/>
            <a:ahLst/>
            <a:cxnLst/>
            <a:rect l="l" t="t" r="r" b="b"/>
            <a:pathLst>
              <a:path w="8963660" h="6664959">
                <a:moveTo>
                  <a:pt x="0" y="6664756"/>
                </a:moveTo>
                <a:lnTo>
                  <a:pt x="8963466" y="6664756"/>
                </a:lnTo>
                <a:lnTo>
                  <a:pt x="8963466" y="0"/>
                </a:lnTo>
                <a:lnTo>
                  <a:pt x="0" y="0"/>
                </a:lnTo>
                <a:lnTo>
                  <a:pt x="0" y="6664756"/>
                </a:lnTo>
                <a:close/>
              </a:path>
            </a:pathLst>
          </a:custGeom>
          <a:ln w="193039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7567" y="728416"/>
            <a:ext cx="7768865" cy="915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B5121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7546" y="2096258"/>
            <a:ext cx="8148907" cy="2896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7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42001" y="6190289"/>
            <a:ext cx="28511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03F42"/>
                </a:solidFill>
                <a:latin typeface="Calibri"/>
                <a:cs typeface="Calibri"/>
              </a:defRPr>
            </a:lvl1pPr>
          </a:lstStyle>
          <a:p>
            <a:pPr marL="142240">
              <a:lnSpc>
                <a:spcPct val="100000"/>
              </a:lnSpc>
            </a:pPr>
            <a:fld id="{81D60167-4931-47E6-BA6A-407CBD079E47}" type="slidenum">
              <a:rPr spc="-10" dirty="0">
                <a:latin typeface="Calibri"/>
                <a:cs typeface="Calibri"/>
              </a:rPr>
              <a:t>‹#›</a:t>
            </a:fld>
            <a:endParaRPr spc="-10" dirty="0">
              <a:latin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4234" y="3780800"/>
            <a:ext cx="1592580" cy="0"/>
          </a:xfrm>
          <a:custGeom>
            <a:avLst/>
            <a:gdLst/>
            <a:ahLst/>
            <a:cxnLst/>
            <a:rect l="l" t="t" r="r" b="b"/>
            <a:pathLst>
              <a:path w="1592580">
                <a:moveTo>
                  <a:pt x="0" y="0"/>
                </a:moveTo>
                <a:lnTo>
                  <a:pt x="1592317" y="0"/>
                </a:lnTo>
              </a:path>
            </a:pathLst>
          </a:custGeom>
          <a:ln w="17779">
            <a:solidFill>
              <a:srgbClr val="A5AC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806439" y="764242"/>
            <a:ext cx="2568823" cy="8081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4540" y="2377588"/>
            <a:ext cx="4873625" cy="1243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350"/>
              </a:lnSpc>
            </a:pPr>
            <a:r>
              <a:rPr lang="en-NZ" sz="4500" dirty="0">
                <a:solidFill>
                  <a:srgbClr val="B5121B"/>
                </a:solidFill>
                <a:latin typeface="Calibri"/>
                <a:cs typeface="Calibri"/>
              </a:rPr>
              <a:t>CN</a:t>
            </a:r>
            <a:r>
              <a:rPr sz="4500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4500" spc="-3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4500" spc="-30" dirty="0">
                <a:solidFill>
                  <a:srgbClr val="B5121B"/>
                </a:solidFill>
                <a:latin typeface="Calibri"/>
                <a:cs typeface="Calibri"/>
              </a:rPr>
              <a:t>GR</a:t>
            </a:r>
            <a:r>
              <a:rPr sz="4500" spc="-25" dirty="0">
                <a:solidFill>
                  <a:srgbClr val="B5121B"/>
                </a:solidFill>
                <a:latin typeface="Calibri"/>
                <a:cs typeface="Calibri"/>
              </a:rPr>
              <a:t>506</a:t>
            </a:r>
            <a:endParaRPr sz="4500" dirty="0">
              <a:latin typeface="Calibri"/>
              <a:cs typeface="Calibri"/>
            </a:endParaRPr>
          </a:p>
          <a:p>
            <a:pPr marL="12700">
              <a:lnSpc>
                <a:spcPts val="4270"/>
              </a:lnSpc>
            </a:pPr>
            <a:r>
              <a:rPr sz="3600" spc="-10" dirty="0">
                <a:solidFill>
                  <a:srgbClr val="B5121B"/>
                </a:solidFill>
                <a:latin typeface="Calibri"/>
                <a:cs typeface="Calibri"/>
              </a:rPr>
              <a:t>I</a:t>
            </a:r>
            <a:r>
              <a:rPr sz="3600" spc="-3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600" spc="-6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6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600" spc="-10" dirty="0">
                <a:solidFill>
                  <a:srgbClr val="B5121B"/>
                </a:solidFill>
                <a:latin typeface="Calibri"/>
                <a:cs typeface="Calibri"/>
              </a:rPr>
              <a:t>lli</a:t>
            </a:r>
            <a:r>
              <a:rPr sz="3600" spc="-55" dirty="0">
                <a:solidFill>
                  <a:srgbClr val="B5121B"/>
                </a:solidFill>
                <a:latin typeface="Calibri"/>
                <a:cs typeface="Calibri"/>
              </a:rPr>
              <a:t>g</a:t>
            </a:r>
            <a:r>
              <a:rPr sz="36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600" spc="-3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600" spc="-1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600" spc="-9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600" spc="-35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600" spc="-70" dirty="0">
                <a:solidFill>
                  <a:srgbClr val="B5121B"/>
                </a:solidFill>
                <a:latin typeface="Calibri"/>
                <a:cs typeface="Calibri"/>
              </a:rPr>
              <a:t>y</a:t>
            </a:r>
            <a:r>
              <a:rPr sz="3600" spc="-50" dirty="0">
                <a:solidFill>
                  <a:srgbClr val="B5121B"/>
                </a:solidFill>
                <a:latin typeface="Calibri"/>
                <a:cs typeface="Calibri"/>
              </a:rPr>
              <a:t>s</a:t>
            </a:r>
            <a:r>
              <a:rPr sz="3600" spc="-6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sz="3600" spc="-15" dirty="0">
                <a:solidFill>
                  <a:srgbClr val="B5121B"/>
                </a:solidFill>
                <a:latin typeface="Calibri"/>
                <a:cs typeface="Calibri"/>
              </a:rPr>
              <a:t>e</a:t>
            </a:r>
            <a:r>
              <a:rPr sz="3600" spc="-30" dirty="0">
                <a:solidFill>
                  <a:srgbClr val="B5121B"/>
                </a:solidFill>
                <a:latin typeface="Calibri"/>
                <a:cs typeface="Calibri"/>
              </a:rPr>
              <a:t>m</a:t>
            </a:r>
            <a:r>
              <a:rPr sz="3600" spc="-100" dirty="0">
                <a:solidFill>
                  <a:srgbClr val="B5121B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B5121B"/>
                </a:solidFill>
                <a:latin typeface="Calibri"/>
                <a:cs typeface="Calibri"/>
              </a:rPr>
              <a:t>Co</a:t>
            </a:r>
            <a:r>
              <a:rPr sz="3600" spc="-35" dirty="0">
                <a:solidFill>
                  <a:srgbClr val="B5121B"/>
                </a:solidFill>
                <a:latin typeface="Calibri"/>
                <a:cs typeface="Calibri"/>
              </a:rPr>
              <a:t>n</a:t>
            </a:r>
            <a:r>
              <a:rPr sz="3600" spc="-25" dirty="0">
                <a:solidFill>
                  <a:srgbClr val="B5121B"/>
                </a:solidFill>
                <a:latin typeface="Calibri"/>
                <a:cs typeface="Calibri"/>
              </a:rPr>
              <a:t>t</a:t>
            </a:r>
            <a:r>
              <a:rPr lang="en-US" sz="3600" spc="-75" dirty="0">
                <a:solidFill>
                  <a:srgbClr val="B5121B"/>
                </a:solidFill>
                <a:latin typeface="Calibri"/>
                <a:cs typeface="Calibri"/>
              </a:rPr>
              <a:t>r</a:t>
            </a:r>
            <a:r>
              <a:rPr sz="3600" dirty="0">
                <a:solidFill>
                  <a:srgbClr val="B5121B"/>
                </a:solidFill>
                <a:latin typeface="Calibri"/>
                <a:cs typeface="Calibri"/>
              </a:rPr>
              <a:t>ol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6528" y="1674877"/>
            <a:ext cx="1945639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00" spc="-120" dirty="0">
                <a:latin typeface="Calibri"/>
                <a:cs typeface="Calibri"/>
              </a:rPr>
              <a:t>W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l</a:t>
            </a:r>
            <a:r>
              <a:rPr sz="2600" spc="-35" dirty="0">
                <a:latin typeface="Calibri"/>
                <a:cs typeface="Calibri"/>
              </a:rPr>
              <a:t>c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me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Calibri"/>
                <a:cs typeface="Calibri"/>
              </a:rPr>
              <a:t>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4097F-AFA1-9410-CEBB-47596DD8E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81000"/>
            <a:ext cx="7768865" cy="523220"/>
          </a:xfrm>
        </p:spPr>
        <p:txBody>
          <a:bodyPr/>
          <a:lstStyle/>
          <a:p>
            <a:r>
              <a:rPr lang="en-US" dirty="0"/>
              <a:t>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395403-E5F0-FEC2-F024-970832BAD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569299"/>
            <a:ext cx="5360672" cy="181546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CEB000-7C2D-DD9C-6B53-6532261BF9B3}"/>
              </a:ext>
            </a:extLst>
          </p:cNvPr>
          <p:cNvSpPr txBox="1"/>
          <p:nvPr/>
        </p:nvSpPr>
        <p:spPr>
          <a:xfrm>
            <a:off x="547907" y="2612229"/>
            <a:ext cx="6331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Find the closed-loop transfer function relating </a:t>
            </a:r>
            <a:r>
              <a:rPr lang="en-US" sz="18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(k) and </a:t>
            </a:r>
            <a:r>
              <a:rPr lang="en-US" sz="18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US" sz="1800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(k).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EEFC85-2002-E5CC-DA30-C2279E042270}"/>
              </a:ext>
            </a:extLst>
          </p:cNvPr>
          <p:cNvSpPr txBox="1"/>
          <p:nvPr/>
        </p:nvSpPr>
        <p:spPr>
          <a:xfrm>
            <a:off x="547907" y="3209026"/>
            <a:ext cx="792480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50"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Find the steady state gain of the closed-loop system and comment on its significance.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C1E58E-C0B7-7F23-5F3B-97E0EBC25631}"/>
              </a:ext>
            </a:extLst>
          </p:cNvPr>
          <p:cNvSpPr txBox="1"/>
          <p:nvPr/>
        </p:nvSpPr>
        <p:spPr>
          <a:xfrm>
            <a:off x="527191" y="4218349"/>
            <a:ext cx="80771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Given the parameters of the ventilation model, i.e., </a:t>
            </a:r>
            <a:r>
              <a:rPr lang="en-US" sz="18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-0.6 and </a:t>
            </a:r>
            <a:r>
              <a:rPr lang="en-US" sz="18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=3, Calculate the proportional and integral gains that yield closed-loop poles at 0.3 and 0.4 on the complex </a:t>
            </a:r>
            <a:r>
              <a:rPr lang="en-US" sz="18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-plane. 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37E352-C1A9-95E0-9C5D-D74603C54B1B}"/>
              </a:ext>
            </a:extLst>
          </p:cNvPr>
          <p:cNvSpPr txBox="1"/>
          <p:nvPr/>
        </p:nvSpPr>
        <p:spPr>
          <a:xfrm>
            <a:off x="547907" y="5243429"/>
            <a:ext cx="80771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Given the parameters of the reservoir model now, i.e., </a:t>
            </a:r>
            <a:r>
              <a:rPr lang="en-US" sz="18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-0.8 and </a:t>
            </a:r>
            <a:r>
              <a:rPr lang="en-US" sz="18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=0.2, calculate the control gains. 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67AE59-D348-5FC3-82B7-FF65B7B1C201}"/>
              </a:ext>
            </a:extLst>
          </p:cNvPr>
          <p:cNvSpPr txBox="1"/>
          <p:nvPr/>
        </p:nvSpPr>
        <p:spPr>
          <a:xfrm>
            <a:off x="547907" y="5929330"/>
            <a:ext cx="812840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50"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What are the limitations of PI controller? How these limitations can be address?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061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6DDF8-718B-2FA4-0A18-21F15ED87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7768865" cy="523220"/>
          </a:xfrm>
        </p:spPr>
        <p:txBody>
          <a:bodyPr/>
          <a:lstStyle/>
          <a:p>
            <a:r>
              <a:rPr lang="en-US" dirty="0"/>
              <a:t>Solutions: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A203C6-130C-1B60-4B4F-BBB7937A2998}"/>
                  </a:ext>
                </a:extLst>
              </p:cNvPr>
              <p:cNvSpPr txBox="1"/>
              <p:nvPr/>
            </p:nvSpPr>
            <p:spPr>
              <a:xfrm>
                <a:off x="1255081" y="1343070"/>
                <a:ext cx="6176638" cy="7466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1+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−1+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3A203C6-130C-1B60-4B4F-BBB7937A2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081" y="1343070"/>
                <a:ext cx="6176638" cy="7466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84DA0B0-2474-D4DC-8511-C56203C94D8B}"/>
              </a:ext>
            </a:extLst>
          </p:cNvPr>
          <p:cNvSpPr txBox="1"/>
          <p:nvPr/>
        </p:nvSpPr>
        <p:spPr>
          <a:xfrm>
            <a:off x="688019" y="2553328"/>
            <a:ext cx="6858000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SSG = 1 hence there is steady state tracking of the set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C29003-9587-DBC6-A1D7-2F2D20E5C01D}"/>
                  </a:ext>
                </a:extLst>
              </p:cNvPr>
              <p:cNvSpPr txBox="1"/>
              <p:nvPr/>
            </p:nvSpPr>
            <p:spPr>
              <a:xfrm>
                <a:off x="-290003" y="3449054"/>
                <a:ext cx="4576438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=0.16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C29003-9587-DBC6-A1D7-2F2D20E5C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90003" y="3449054"/>
                <a:ext cx="4576438" cy="390748"/>
              </a:xfrm>
              <a:prstGeom prst="rect">
                <a:avLst/>
              </a:prstGeom>
              <a:blipFill>
                <a:blip r:embed="rId3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4B1077-D0C0-1D99-9C4D-20B697C1544D}"/>
                  </a:ext>
                </a:extLst>
              </p:cNvPr>
              <p:cNvSpPr txBox="1"/>
              <p:nvPr/>
            </p:nvSpPr>
            <p:spPr>
              <a:xfrm>
                <a:off x="-290003" y="4042252"/>
                <a:ext cx="45764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=0.14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4B1077-D0C0-1D99-9C4D-20B697C15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90003" y="4042252"/>
                <a:ext cx="457643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A2C1EB-9860-7482-F8DD-771CF1FA99BE}"/>
                  </a:ext>
                </a:extLst>
              </p:cNvPr>
              <p:cNvSpPr txBox="1"/>
              <p:nvPr/>
            </p:nvSpPr>
            <p:spPr>
              <a:xfrm>
                <a:off x="4038600" y="3466191"/>
                <a:ext cx="4576438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=3.4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A2C1EB-9860-7482-F8DD-771CF1FA9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3466191"/>
                <a:ext cx="4576438" cy="390748"/>
              </a:xfrm>
              <a:prstGeom prst="rect">
                <a:avLst/>
              </a:prstGeom>
              <a:blipFill>
                <a:blip r:embed="rId5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93FECB9-5636-7F0B-377F-337D1A50A0F0}"/>
                  </a:ext>
                </a:extLst>
              </p:cNvPr>
              <p:cNvSpPr txBox="1"/>
              <p:nvPr/>
            </p:nvSpPr>
            <p:spPr>
              <a:xfrm>
                <a:off x="3962400" y="4042252"/>
                <a:ext cx="45764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=2.1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93FECB9-5636-7F0B-377F-337D1A50A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4042252"/>
                <a:ext cx="457643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6381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E8ABF-8B58-5550-A05E-6ADDB72F4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331" y="656610"/>
            <a:ext cx="7905337" cy="523220"/>
          </a:xfrm>
        </p:spPr>
        <p:txBody>
          <a:bodyPr/>
          <a:lstStyle/>
          <a:p>
            <a:r>
              <a:rPr lang="en-US" dirty="0"/>
              <a:t>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4713AB-7BC6-5589-3EDD-2DE5E57EF00E}"/>
                  </a:ext>
                </a:extLst>
              </p:cNvPr>
              <p:cNvSpPr txBox="1"/>
              <p:nvPr/>
            </p:nvSpPr>
            <p:spPr>
              <a:xfrm>
                <a:off x="597560" y="1331383"/>
                <a:ext cx="8228033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F0F0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</a:rPr>
                  <a:t>Determine the gains for the Proportional-Integral (PI) controller using the pole assignment method to achieve deadbeat control for the system given in block diagram with following parameters: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F0F0F"/>
                            </a:solidFill>
                            <a:effectLst/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F0F0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rgbClr val="0F0F0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0F0F0F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m:t>= −0.</m:t>
                    </m:r>
                    <m:r>
                      <a:rPr lang="en-US" sz="2000" b="0" i="1" smtClean="0">
                        <a:solidFill>
                          <a:srgbClr val="0F0F0F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m:t>5</m:t>
                    </m:r>
                    <m:r>
                      <a:rPr lang="en-US" sz="2000" i="1">
                        <a:solidFill>
                          <a:srgbClr val="0F0F0F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F0F0F"/>
                            </a:solidFill>
                            <a:effectLst/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F0F0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solidFill>
                              <a:srgbClr val="0F0F0F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0F0F0F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m:t>=0.0</m:t>
                    </m:r>
                    <m:r>
                      <a:rPr lang="en-US" sz="2000" b="0" i="1" smtClean="0">
                        <a:solidFill>
                          <a:srgbClr val="0F0F0F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m:t>5</m:t>
                    </m:r>
                  </m:oMath>
                </a14:m>
                <a:r>
                  <a:rPr lang="en-US" sz="2000" dirty="0">
                    <a:solidFill>
                      <a:srgbClr val="0F0F0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</a:rPr>
                  <a:t>  	</a:t>
                </a:r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4713AB-7BC6-5589-3EDD-2DE5E57EF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560" y="1331383"/>
                <a:ext cx="8228033" cy="1323439"/>
              </a:xfrm>
              <a:prstGeom prst="rect">
                <a:avLst/>
              </a:prstGeom>
              <a:blipFill>
                <a:blip r:embed="rId2"/>
                <a:stretch>
                  <a:fillRect l="-667" t="-18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4D1F053-4AEE-DBAE-F8FD-06603E817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8533" y="2438400"/>
            <a:ext cx="4967907" cy="244471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CC266F-121A-4CA5-2142-42F45F9BAC02}"/>
              </a:ext>
            </a:extLst>
          </p:cNvPr>
          <p:cNvSpPr txBox="1"/>
          <p:nvPr/>
        </p:nvSpPr>
        <p:spPr>
          <a:xfrm>
            <a:off x="641103" y="5000872"/>
            <a:ext cx="7905337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0F0F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Discuss the disadvantages associated with deadbeat control.	</a:t>
            </a:r>
            <a:endParaRPr lang="en-US" sz="20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0F0F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What are the limitations of PI controller?</a:t>
            </a:r>
            <a:r>
              <a:rPr lang="en-US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0F0F0F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How these limitations can be addressed?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-Roman"/>
              </a:rPr>
              <a:t>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78646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804B7-CF2D-FFD6-ADBB-4F4B8A082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0"/>
            <a:ext cx="7768865" cy="523220"/>
          </a:xfrm>
        </p:spPr>
        <p:txBody>
          <a:bodyPr/>
          <a:lstStyle/>
          <a:p>
            <a:r>
              <a:rPr lang="en-US" dirty="0"/>
              <a:t>Example-2 (Homework)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2824F5-987B-26B5-37C5-9AF08124E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458200" cy="20198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375381-9D3E-8D05-697D-75CA21E56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2725567"/>
            <a:ext cx="8827732" cy="15282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452748-E393-A880-3BD6-91B28E7292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9" y="4114800"/>
            <a:ext cx="8942033" cy="17230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88DDCD7-F484-7053-72AA-BB09272B2F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015" y="5837830"/>
            <a:ext cx="7734300" cy="103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120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28D8F-942F-E9A5-1523-27B4DDA90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567" y="728416"/>
            <a:ext cx="7768865" cy="523220"/>
          </a:xfrm>
        </p:spPr>
        <p:txBody>
          <a:bodyPr/>
          <a:lstStyle/>
          <a:p>
            <a:r>
              <a:rPr lang="en-US" dirty="0"/>
              <a:t>Example-2 (Cond…)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8E4952-26A6-D549-684C-58C230F30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66472"/>
            <a:ext cx="8305800" cy="31250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33398F-0674-B081-C32F-0A1786E0936B}"/>
              </a:ext>
            </a:extLst>
          </p:cNvPr>
          <p:cNvSpPr txBox="1"/>
          <p:nvPr/>
        </p:nvSpPr>
        <p:spPr>
          <a:xfrm>
            <a:off x="2057400" y="5606364"/>
            <a:ext cx="525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This work will be checked in the Lab on 27-10-2025</a:t>
            </a:r>
          </a:p>
        </p:txBody>
      </p:sp>
    </p:spTree>
    <p:extLst>
      <p:ext uri="{BB962C8B-B14F-4D97-AF65-F5344CB8AC3E}">
        <p14:creationId xmlns:p14="http://schemas.microsoft.com/office/powerpoint/2010/main" val="3782725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234</TotalTime>
  <Words>249</Words>
  <Application>Microsoft Office PowerPoint</Application>
  <PresentationFormat>On-screen Show (4:3)</PresentationFormat>
  <Paragraphs>23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 Math</vt:lpstr>
      <vt:lpstr>Segoe UI</vt:lpstr>
      <vt:lpstr>Times New Roman</vt:lpstr>
      <vt:lpstr>Office Theme</vt:lpstr>
      <vt:lpstr>PowerPoint Presentation</vt:lpstr>
      <vt:lpstr>Example:</vt:lpstr>
      <vt:lpstr>Solutions:</vt:lpstr>
      <vt:lpstr>Question</vt:lpstr>
      <vt:lpstr>Example-2 (Homework)</vt:lpstr>
      <vt:lpstr>Example-2 (Cond…)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Abrar, Muhammad</cp:lastModifiedBy>
  <cp:revision>15</cp:revision>
  <dcterms:created xsi:type="dcterms:W3CDTF">2022-07-22T03:45:45Z</dcterms:created>
  <dcterms:modified xsi:type="dcterms:W3CDTF">2025-10-23T01:58:18Z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2022-07-22T00:00:00Z</vt:filetime>
  </property>
  <property fmtid="{D5CDD505-2E9C-101B-9397-08002B2CF9AE}" pid="3" name="LastSaved">
    <vt:filetime>2022-07-22T00:00:00Z</vt:filetime>
  </property>
</Properties>
</file>